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2.xml" ContentType="application/inkml+xml"/>
  <Override PartName="/ppt/ink/ink3.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3" r:id="rId5"/>
    <p:sldId id="257" r:id="rId6"/>
    <p:sldId id="268" r:id="rId7"/>
    <p:sldId id="271" r:id="rId8"/>
    <p:sldId id="272" r:id="rId9"/>
    <p:sldId id="273" r:id="rId10"/>
    <p:sldId id="274" r:id="rId11"/>
    <p:sldId id="275" r:id="rId12"/>
    <p:sldId id="276" r:id="rId13"/>
    <p:sldId id="277" r:id="rId14"/>
    <p:sldId id="278" r:id="rId15"/>
    <p:sldId id="279" r:id="rId16"/>
    <p:sldId id="281" r:id="rId17"/>
    <p:sldId id="282" r:id="rId18"/>
    <p:sldId id="283" r:id="rId19"/>
    <p:sldId id="284" r:id="rId20"/>
    <p:sldId id="285" r:id="rId21"/>
    <p:sldId id="286" r:id="rId22"/>
    <p:sldId id="287" r:id="rId23"/>
    <p:sldId id="288" r:id="rId24"/>
    <p:sldId id="289" r:id="rId25"/>
    <p:sldId id="290" r:id="rId26"/>
    <p:sldId id="291" r:id="rId27"/>
    <p:sldId id="293" r:id="rId28"/>
    <p:sldId id="292" r:id="rId29"/>
    <p:sldId id="294" r:id="rId30"/>
    <p:sldId id="295" r:id="rId31"/>
    <p:sldId id="296" r:id="rId32"/>
    <p:sldId id="297" r:id="rId33"/>
    <p:sldId id="298" r:id="rId34"/>
    <p:sldId id="299" r:id="rId35"/>
    <p:sldId id="301" r:id="rId36"/>
    <p:sldId id="302" r:id="rId37"/>
    <p:sldId id="303" r:id="rId38"/>
    <p:sldId id="304" r:id="rId39"/>
    <p:sldId id="305" r:id="rId40"/>
    <p:sldId id="313" r:id="rId41"/>
    <p:sldId id="314" r:id="rId42"/>
    <p:sldId id="315" r:id="rId43"/>
    <p:sldId id="316" r:id="rId44"/>
    <p:sldId id="317" r:id="rId45"/>
    <p:sldId id="319" r:id="rId46"/>
    <p:sldId id="320" r:id="rId47"/>
    <p:sldId id="321" r:id="rId48"/>
    <p:sldId id="322" r:id="rId49"/>
    <p:sldId id="323" r:id="rId50"/>
    <p:sldId id="324" r:id="rId51"/>
    <p:sldId id="325" r:id="rId52"/>
    <p:sldId id="326" r:id="rId53"/>
    <p:sldId id="327" r:id="rId54"/>
    <p:sldId id="329" r:id="rId55"/>
    <p:sldId id="328" r:id="rId56"/>
    <p:sldId id="330" r:id="rId57"/>
    <p:sldId id="331" r:id="rId58"/>
    <p:sldId id="332" r:id="rId59"/>
    <p:sldId id="333" r:id="rId60"/>
    <p:sldId id="334" r:id="rId61"/>
    <p:sldId id="336" r:id="rId62"/>
    <p:sldId id="337" r:id="rId63"/>
    <p:sldId id="339" r:id="rId64"/>
    <p:sldId id="340" r:id="rId65"/>
    <p:sldId id="341" r:id="rId66"/>
    <p:sldId id="342" r:id="rId67"/>
    <p:sldId id="343" r:id="rId68"/>
    <p:sldId id="344" r:id="rId69"/>
    <p:sldId id="345" r:id="rId70"/>
    <p:sldId id="346" r:id="rId71"/>
    <p:sldId id="347" r:id="rId72"/>
    <p:sldId id="348" r:id="rId73"/>
    <p:sldId id="349" r:id="rId74"/>
    <p:sldId id="350" r:id="rId75"/>
    <p:sldId id="351" r:id="rId76"/>
    <p:sldId id="352" r:id="rId77"/>
    <p:sldId id="354" r:id="rId78"/>
    <p:sldId id="353" r:id="rId79"/>
    <p:sldId id="355" r:id="rId80"/>
    <p:sldId id="356" r:id="rId81"/>
    <p:sldId id="357" r:id="rId82"/>
    <p:sldId id="358" r:id="rId83"/>
    <p:sldId id="359" r:id="rId84"/>
    <p:sldId id="360" r:id="rId85"/>
    <p:sldId id="362" r:id="rId86"/>
    <p:sldId id="365" r:id="rId87"/>
    <p:sldId id="366" r:id="rId88"/>
    <p:sldId id="367" r:id="rId89"/>
    <p:sldId id="363" r:id="rId90"/>
    <p:sldId id="364" r:id="rId91"/>
    <p:sldId id="368" r:id="rId92"/>
    <p:sldId id="370" r:id="rId93"/>
    <p:sldId id="371" r:id="rId94"/>
    <p:sldId id="372" r:id="rId95"/>
    <p:sldId id="373" r:id="rId96"/>
    <p:sldId id="374" r:id="rId97"/>
    <p:sldId id="375" r:id="rId98"/>
    <p:sldId id="376" r:id="rId99"/>
    <p:sldId id="377" r:id="rId100"/>
    <p:sldId id="378" r:id="rId101"/>
    <p:sldId id="379" r:id="rId102"/>
    <p:sldId id="382" r:id="rId103"/>
    <p:sldId id="383" r:id="rId104"/>
    <p:sldId id="384" r:id="rId105"/>
    <p:sldId id="385" r:id="rId106"/>
    <p:sldId id="386" r:id="rId107"/>
    <p:sldId id="387" r:id="rId108"/>
    <p:sldId id="388" r:id="rId109"/>
    <p:sldId id="389" r:id="rId110"/>
    <p:sldId id="391" r:id="rId111"/>
    <p:sldId id="392" r:id="rId112"/>
    <p:sldId id="393" r:id="rId113"/>
    <p:sldId id="394" r:id="rId114"/>
    <p:sldId id="395" r:id="rId115"/>
    <p:sldId id="396" r:id="rId116"/>
    <p:sldId id="397" r:id="rId117"/>
    <p:sldId id="398" r:id="rId118"/>
    <p:sldId id="399" r:id="rId119"/>
    <p:sldId id="400" r:id="rId120"/>
    <p:sldId id="401" r:id="rId121"/>
    <p:sldId id="402" r:id="rId122"/>
    <p:sldId id="403" r:id="rId123"/>
    <p:sldId id="404" r:id="rId1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FFFF66"/>
    <a:srgbClr val="EE843C"/>
    <a:srgbClr val="F4B0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81" autoAdjust="0"/>
    <p:restoredTop sz="95270" autoAdjust="0"/>
  </p:normalViewPr>
  <p:slideViewPr>
    <p:cSldViewPr snapToGrid="0">
      <p:cViewPr varScale="1">
        <p:scale>
          <a:sx n="151" d="100"/>
          <a:sy n="151" d="100"/>
        </p:scale>
        <p:origin x="462" y="144"/>
      </p:cViewPr>
      <p:guideLst/>
    </p:cSldViewPr>
  </p:slideViewPr>
  <p:outlineViewPr>
    <p:cViewPr>
      <p:scale>
        <a:sx n="50" d="100"/>
        <a:sy n="50" d="100"/>
      </p:scale>
      <p:origin x="0" y="-22590"/>
    </p:cViewPr>
  </p:outlineViewPr>
  <p:notesTextViewPr>
    <p:cViewPr>
      <p:scale>
        <a:sx n="150" d="100"/>
        <a:sy n="15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7" Type="http://schemas.openxmlformats.org/officeDocument/2006/relationships/tableStyles" Target="tableStyles.xml"/><Relationship Id="rId126" Type="http://schemas.openxmlformats.org/officeDocument/2006/relationships/viewProps" Target="viewProps.xml"/><Relationship Id="rId125" Type="http://schemas.openxmlformats.org/officeDocument/2006/relationships/presProps" Target="presProps.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5-05-22T20:26:34"/>
    </inkml:context>
    <inkml:brush xml:id="br0">
      <inkml:brushProperty name="width" value="0.03528" units="cm"/>
      <inkml:brushProperty name="height" value="0.03528" units="cm"/>
      <inkml:brushProperty name="color" value="#000000"/>
      <inkml:brushProperty name="fitToCurve" value="1"/>
    </inkml:brush>
  </inkml:definitions>
  <inkml:trace contextRef="#ctx0" brushRef="#br0">0.000 0.000,'0.000'0.000,"0.000"0.000,0.000 0.000,0.000 0.000,0.000 0.000,0.000 0.000,0.000 0.000,0.000 0.000,0.000 0.000,0.000 0.000,0.000 0.000,0.000 0.000,0.000 0.000,0.000 0.000,0.000 0.000,0.000 0.000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5-05-22T20:26:34"/>
    </inkml:context>
    <inkml:brush xml:id="br0">
      <inkml:brushProperty name="width" value="0.03528" units="cm"/>
      <inkml:brushProperty name="height" value="0.03528" units="cm"/>
      <inkml:brushProperty name="color" value="#000000"/>
      <inkml:brushProperty name="fitToCurve" value="1"/>
    </inkml:brush>
  </inkml:definitions>
  <inkml:trace contextRef="#ctx0" brushRef="#br0">0.000 0.000,'0.000'0.000,"0.000"0.000,0.000 0.000,0.000 0.000,0.000 0.000,0.000 0.000,0.000 0.000,0.000 0.000,0.000 0.000,0.000 0.000,0.000 0.000,0.000 0.000,0.000 0.000,0.000 0.000,0.000 0.000,0.000 0.000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5-05-22T21:01:25"/>
    </inkml:context>
    <inkml:brush xml:id="br0">
      <inkml:brushProperty name="width" value="0.03528" units="cm"/>
      <inkml:brushProperty name="height" value="0.03528" units="cm"/>
      <inkml:brushProperty name="color" value="#000000"/>
      <inkml:brushProperty name="fitToCurve" value="1"/>
    </inkml:brush>
  </inkml:definitions>
  <inkml:trace contextRef="#ctx0" brushRef="#br0">0.000 0.000,'0.000'0.000,"0.000"0.000,0.000 0.000,0.000 0.000,0.000 0.000,0.000 0.000,0.000 0.000,0.000 0.000,0.000 0.000,0.000 0.000,0.000 0.000,0.000 0.000,0.000 0.000,0.000 0.000,0.000 0.000,0.000 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50B64F-FD8B-3F4E-B770-881CBF8AF59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5B2D4-4121-E746-8724-2F5AD4F820A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b="1" i="0" kern="1200" dirty="0">
              <a:solidFill>
                <a:schemeClr val="tx1"/>
              </a:solidFill>
              <a:latin typeface="微软雅黑" panose="020B0503020204020204" pitchFamily="34" charset="-122"/>
              <a:ea typeface="微软雅黑" panose="020B0503020204020204" pitchFamily="34" charset="-122"/>
              <a:cs typeface="+mn-cs"/>
            </a:endParaRPr>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页">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6000">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i="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4" name="日期占位符 3"/>
          <p:cNvSpPr>
            <a:spLocks noGrp="1"/>
          </p:cNvSpPr>
          <p:nvPr>
            <p:ph type="dt" sz="half" idx="10"/>
          </p:nvPr>
        </p:nvSpPr>
        <p:spPr/>
        <p:txBody>
          <a:bodyPr/>
          <a:lstStyle>
            <a:lvl1pPr>
              <a:defRPr>
                <a:latin typeface="黑体" panose="02010609060101010101" pitchFamily="49" charset="-122"/>
                <a:ea typeface="黑体" panose="02010609060101010101" pitchFamily="49" charset="-122"/>
              </a:defRPr>
            </a:lvl1pPr>
          </a:lstStyle>
          <a:p>
            <a:fld id="{7B2AEECA-C3C8-1244-98CC-025D6DAAF97C}"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目录">
    <p:spTree>
      <p:nvGrpSpPr>
        <p:cNvPr id="1" name=""/>
        <p:cNvGrpSpPr/>
        <p:nvPr/>
      </p:nvGrpSpPr>
      <p:grpSpPr>
        <a:xfrm>
          <a:off x="0" y="0"/>
          <a:ext cx="0" cy="0"/>
          <a:chOff x="0" y="0"/>
          <a:chExt cx="0" cy="0"/>
        </a:xfrm>
      </p:grpSpPr>
      <p:sp>
        <p:nvSpPr>
          <p:cNvPr id="2" name="标题 1"/>
          <p:cNvSpPr>
            <a:spLocks noGrp="1"/>
          </p:cNvSpPr>
          <p:nvPr>
            <p:ph type="title"/>
          </p:nvPr>
        </p:nvSpPr>
        <p:spPr>
          <a:xfrm>
            <a:off x="487172" y="179243"/>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1995959" y="1219202"/>
            <a:ext cx="8200082" cy="4957760"/>
          </a:xfrm>
        </p:spPr>
        <p:txBody>
          <a:bodyPr>
            <a:normAutofit/>
          </a:bodyPr>
          <a:lstStyle>
            <a:lvl1pPr marL="0" indent="0">
              <a:lnSpc>
                <a:spcPct val="200000"/>
              </a:lnSpc>
              <a:buFont typeface="Wingdings" panose="05000000000000000000" pitchFamily="2" charset="2"/>
              <a:buNone/>
              <a:defRPr sz="2800" b="0"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en-US" altLang="zh-CN" dirty="0"/>
              <a:t>1.1</a:t>
            </a:r>
            <a:r>
              <a:rPr lang="zh-CN" altLang="en-US" dirty="0"/>
              <a:t> 目录</a:t>
            </a:r>
            <a:r>
              <a:rPr lang="en-US" altLang="zh-CN" dirty="0"/>
              <a:t>1</a:t>
            </a:r>
            <a:endParaRPr lang="en-US" altLang="zh-CN" dirty="0"/>
          </a:p>
          <a:p>
            <a:pPr lvl="0"/>
            <a:r>
              <a:rPr lang="en-US" altLang="zh-CN" dirty="0"/>
              <a:t>1.2</a:t>
            </a:r>
            <a:r>
              <a:rPr lang="zh-CN" altLang="en-US" dirty="0"/>
              <a:t> 目录</a:t>
            </a:r>
            <a:r>
              <a:rPr lang="en-US" altLang="zh-CN" dirty="0"/>
              <a:t>2</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07AFB82E-7069-BD4E-96F2-53BDFC0AAE44}"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_单栏">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7163" y="1219203"/>
            <a:ext cx="11453091" cy="4957760"/>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8118BE18-7306-3643-B1E0-A687D3D01200}"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487172" y="179243"/>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_双栏">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367147"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11" name="页脚占位符 4"/>
          <p:cNvSpPr>
            <a:spLocks noGrp="1"/>
          </p:cNvSpPr>
          <p:nvPr>
            <p:ph type="ftr" sz="quarter" idx="11"/>
          </p:nvPr>
        </p:nvSpPr>
        <p:spPr>
          <a:xfrm>
            <a:off x="4038600" y="6356350"/>
            <a:ext cx="4114800" cy="365125"/>
          </a:xfrm>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12"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6"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487172" y="179243"/>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8" name="内容占位符 2"/>
          <p:cNvSpPr>
            <a:spLocks noGrp="1"/>
          </p:cNvSpPr>
          <p:nvPr>
            <p:ph sz="half" idx="13" hasCustomPrompt="1"/>
          </p:nvPr>
        </p:nvSpPr>
        <p:spPr>
          <a:xfrm>
            <a:off x="6262255"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2564091" y="2309567"/>
            <a:ext cx="7239785" cy="35514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3" name="标题 1"/>
          <p:cNvSpPr>
            <a:spLocks noGrp="1"/>
          </p:cNvSpPr>
          <p:nvPr>
            <p:ph type="title"/>
          </p:nvPr>
        </p:nvSpPr>
        <p:spPr>
          <a:xfrm>
            <a:off x="487172" y="179243"/>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4" name="文本占位符 3"/>
          <p:cNvSpPr>
            <a:spLocks noGrp="1"/>
          </p:cNvSpPr>
          <p:nvPr>
            <p:ph type="body" sz="quarter" idx="14" hasCustomPrompt="1"/>
          </p:nvPr>
        </p:nvSpPr>
        <p:spPr>
          <a:xfrm>
            <a:off x="5232448" y="5899150"/>
            <a:ext cx="1177779" cy="365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0" i="0">
                <a:latin typeface="微软雅黑" panose="020B0503020204020204" pitchFamily="34" charset="-122"/>
                <a:ea typeface="微软雅黑" panose="020B0503020204020204" pitchFamily="34" charset="-122"/>
              </a:defRPr>
            </a:lvl1pPr>
          </a:lstStyle>
          <a:p>
            <a:pPr lvl="0"/>
            <a:r>
              <a:rPr kumimoji="1" lang="zh-CN" altLang="en-US" dirty="0"/>
              <a:t>图</a:t>
            </a:r>
            <a:r>
              <a:rPr kumimoji="1" lang="en-GB" altLang="zh-CN" dirty="0" err="1"/>
              <a:t>x.x</a:t>
            </a:r>
            <a:r>
              <a:rPr kumimoji="1" lang="en-GB" altLang="zh-CN" dirty="0"/>
              <a:t> </a:t>
            </a:r>
            <a:endParaRPr kumimoji="1" lang="en-GB" altLang="zh-CN" dirty="0"/>
          </a:p>
          <a:p>
            <a:pPr lvl="0"/>
            <a:endParaRPr kumimoji="1" lang="zh-CN" altLang="en-US" dirty="0"/>
          </a:p>
        </p:txBody>
      </p:sp>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8"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格">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2" name="文本框 11"/>
          <p:cNvSpPr txBox="1"/>
          <p:nvPr userDrawn="1"/>
        </p:nvSpPr>
        <p:spPr>
          <a:xfrm>
            <a:off x="5676654" y="5192412"/>
            <a:ext cx="838691" cy="400110"/>
          </a:xfrm>
          <a:prstGeom prst="rect">
            <a:avLst/>
          </a:prstGeom>
          <a:noFill/>
        </p:spPr>
        <p:txBody>
          <a:bodyPr wrap="none" rtlCol="0">
            <a:spAutoFit/>
          </a:bodyPr>
          <a:lstStyle/>
          <a:p>
            <a:r>
              <a:rPr kumimoji="1" lang="zh-CN" altLang="en-US" sz="2000" b="0" i="0" dirty="0">
                <a:latin typeface="微软雅黑" panose="020B0503020204020204" pitchFamily="34" charset="-122"/>
                <a:ea typeface="微软雅黑" panose="020B0503020204020204" pitchFamily="34" charset="-122"/>
              </a:rPr>
              <a:t>表</a:t>
            </a:r>
            <a:r>
              <a:rPr kumimoji="1" lang="en-US" altLang="zh-CN" sz="2000" b="0" i="0" dirty="0" err="1">
                <a:latin typeface="微软雅黑" panose="020B0503020204020204" pitchFamily="34" charset="-122"/>
                <a:ea typeface="微软雅黑" panose="020B0503020204020204" pitchFamily="34" charset="-122"/>
              </a:rPr>
              <a:t>x.x</a:t>
            </a:r>
            <a:r>
              <a:rPr kumimoji="1" lang="en-US" altLang="zh-CN" sz="2000" b="0" i="0" dirty="0">
                <a:latin typeface="微软雅黑" panose="020B0503020204020204" pitchFamily="34" charset="-122"/>
                <a:ea typeface="微软雅黑" panose="020B0503020204020204" pitchFamily="34" charset="-122"/>
              </a:rPr>
              <a:t> </a:t>
            </a:r>
            <a:endParaRPr kumimoji="1" lang="zh-CN" altLang="en-US" sz="2000" b="0" i="0" dirty="0">
              <a:latin typeface="微软雅黑" panose="020B0503020204020204" pitchFamily="34" charset="-122"/>
              <a:ea typeface="微软雅黑" panose="020B0503020204020204" pitchFamily="34" charset="-122"/>
            </a:endParaRPr>
          </a:p>
        </p:txBody>
      </p:sp>
      <p:sp>
        <p:nvSpPr>
          <p:cNvPr id="13" name="标题 1"/>
          <p:cNvSpPr>
            <a:spLocks noGrp="1"/>
          </p:cNvSpPr>
          <p:nvPr>
            <p:ph type="title"/>
          </p:nvPr>
        </p:nvSpPr>
        <p:spPr>
          <a:xfrm>
            <a:off x="487172" y="179243"/>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graphicFrame>
        <p:nvGraphicFramePr>
          <p:cNvPr id="14" name="表格 13"/>
          <p:cNvGraphicFramePr>
            <a:graphicFrameLocks noGrp="1"/>
          </p:cNvGraphicFramePr>
          <p:nvPr userDrawn="1"/>
        </p:nvGraphicFramePr>
        <p:xfrm>
          <a:off x="2209800" y="3473310"/>
          <a:ext cx="8128000" cy="1584960"/>
        </p:xfrm>
        <a:graphic>
          <a:graphicData uri="http://schemas.openxmlformats.org/drawingml/2006/table">
            <a:tbl>
              <a:tblPr firstRow="1" bandRow="1">
                <a:tableStyleId>{5A111915-BE36-4E01-A7E5-04B1672EAD32}</a:tableStyleId>
              </a:tblPr>
              <a:tblGrid>
                <a:gridCol w="1625600"/>
                <a:gridCol w="1625600"/>
                <a:gridCol w="1625600"/>
                <a:gridCol w="1625600"/>
                <a:gridCol w="1625600"/>
              </a:tblGrid>
              <a:tr h="370840">
                <a:tc>
                  <a:txBody>
                    <a:bodyPr/>
                    <a:lstStyle/>
                    <a:p>
                      <a:pPr algn="ctr"/>
                      <a:r>
                        <a:rPr lang="zh-CN" altLang="en-US" sz="2000" b="0" i="0" dirty="0">
                          <a:solidFill>
                            <a:schemeClr val="tx1"/>
                          </a:solidFill>
                          <a:latin typeface="微软雅黑" panose="020B0503020204020204" pitchFamily="34" charset="-122"/>
                          <a:ea typeface="微软雅黑" panose="020B0503020204020204" pitchFamily="34" charset="-122"/>
                        </a:rPr>
                        <a:t>表格</a:t>
                      </a:r>
                      <a:endParaRPr lang="zh-CN" altLang="en-US" sz="2000" b="0" i="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3"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A0ED15-8309-5642-9A4C-6A300295067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91F7F-8655-44AE-A6FF-53AD9F2B6B8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3.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3.xml"/><Relationship Id="rId7" Type="http://schemas.openxmlformats.org/officeDocument/2006/relationships/image" Target="../media/image6.png"/><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0" Type="http://schemas.openxmlformats.org/officeDocument/2006/relationships/notesSlide" Target="../notesSlides/notesSlide8.xml"/><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3.xml"/><Relationship Id="rId2" Type="http://schemas.openxmlformats.org/officeDocument/2006/relationships/themeOverride" Target="../theme/themeOverride1.xml"/><Relationship Id="rId1" Type="http://schemas.openxmlformats.org/officeDocument/2006/relationships/image" Target="../media/image7.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7.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7.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3.xml"/><Relationship Id="rId4" Type="http://schemas.openxmlformats.org/officeDocument/2006/relationships/customXml" Target="../ink/ink2.xml"/><Relationship Id="rId3" Type="http://schemas.openxmlformats.org/officeDocument/2006/relationships/image" Target="../media/image11.png"/><Relationship Id="rId2" Type="http://schemas.openxmlformats.org/officeDocument/2006/relationships/customXml" Target="../ink/ink1.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3.xml"/><Relationship Id="rId4" Type="http://schemas.openxmlformats.org/officeDocument/2006/relationships/image" Target="../media/image11.png"/><Relationship Id="rId3" Type="http://schemas.openxmlformats.org/officeDocument/2006/relationships/customXml" Target="../ink/ink3.xml"/><Relationship Id="rId2" Type="http://schemas.openxmlformats.org/officeDocument/2006/relationships/image" Target="../media/image13.png"/><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3.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3.xml"/><Relationship Id="rId2" Type="http://schemas.openxmlformats.org/officeDocument/2006/relationships/image" Target="../media/image26.png"/><Relationship Id="rId1" Type="http://schemas.openxmlformats.org/officeDocument/2006/relationships/image" Target="../media/image25.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3.xml"/><Relationship Id="rId2" Type="http://schemas.openxmlformats.org/officeDocument/2006/relationships/image" Target="../media/image26.png"/><Relationship Id="rId1" Type="http://schemas.openxmlformats.org/officeDocument/2006/relationships/image" Target="../media/image25.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3.xml"/><Relationship Id="rId2" Type="http://schemas.openxmlformats.org/officeDocument/2006/relationships/image" Target="../media/image25.png"/><Relationship Id="rId1" Type="http://schemas.openxmlformats.org/officeDocument/2006/relationships/image" Target="../media/image2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3.xml"/><Relationship Id="rId2" Type="http://schemas.openxmlformats.org/officeDocument/2006/relationships/image" Target="../media/image29.png"/><Relationship Id="rId1" Type="http://schemas.openxmlformats.org/officeDocument/2006/relationships/image" Target="../media/image28.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3.xml"/><Relationship Id="rId2" Type="http://schemas.openxmlformats.org/officeDocument/2006/relationships/image" Target="../media/image31.png"/><Relationship Id="rId1" Type="http://schemas.openxmlformats.org/officeDocument/2006/relationships/image" Target="../media/image30.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3.xml"/><Relationship Id="rId1" Type="http://schemas.openxmlformats.org/officeDocument/2006/relationships/image" Target="../media/image32.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3.xml"/><Relationship Id="rId1" Type="http://schemas.openxmlformats.org/officeDocument/2006/relationships/image" Target="../media/image33.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3.xml"/><Relationship Id="rId1" Type="http://schemas.openxmlformats.org/officeDocument/2006/relationships/image" Target="../media/image34.png"/></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slideLayout" Target="../slideLayouts/slideLayout3.xml"/><Relationship Id="rId3"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image" Target="../media/image32.png"/></Relationships>
</file>

<file path=ppt/slides/_rels/slide54.xml.rels><?xml version="1.0" encoding="UTF-8" standalone="yes"?>
<Relationships xmlns="http://schemas.openxmlformats.org/package/2006/relationships"><Relationship Id="rId8" Type="http://schemas.openxmlformats.org/officeDocument/2006/relationships/notesSlide" Target="../notesSlides/notesSlide54.xml"/><Relationship Id="rId7"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3.xml"/><Relationship Id="rId1" Type="http://schemas.openxmlformats.org/officeDocument/2006/relationships/image" Target="../media/image34.png"/></Relationships>
</file>

<file path=ppt/slides/_rels/slide56.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42.png"/><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0" Type="http://schemas.openxmlformats.org/officeDocument/2006/relationships/notesSlide" Target="../notesSlides/notesSlide56.xml"/><Relationship Id="rId1" Type="http://schemas.openxmlformats.org/officeDocument/2006/relationships/image" Target="../media/image35.png"/></Relationships>
</file>

<file path=ppt/slides/_rels/slide57.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50.png"/><Relationship Id="rId7" Type="http://schemas.openxmlformats.org/officeDocument/2006/relationships/image" Target="../media/image49.png"/><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4" Type="http://schemas.openxmlformats.org/officeDocument/2006/relationships/notesSlide" Target="../notesSlides/notesSlide57.xml"/><Relationship Id="rId13" Type="http://schemas.openxmlformats.org/officeDocument/2006/relationships/slideLayout" Target="../slideLayouts/slideLayout3.xml"/><Relationship Id="rId12" Type="http://schemas.openxmlformats.org/officeDocument/2006/relationships/image" Target="../media/image38.png"/><Relationship Id="rId11" Type="http://schemas.openxmlformats.org/officeDocument/2006/relationships/image" Target="../media/image37.png"/><Relationship Id="rId10" Type="http://schemas.openxmlformats.org/officeDocument/2006/relationships/image" Target="../media/image36.png"/><Relationship Id="rId1" Type="http://schemas.openxmlformats.org/officeDocument/2006/relationships/image" Target="../media/image43.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59.xml"/><Relationship Id="rId5" Type="http://schemas.openxmlformats.org/officeDocument/2006/relationships/slideLayout" Target="../slideLayouts/slideLayout3.xml"/><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3.xml"/><Relationship Id="rId1" Type="http://schemas.openxmlformats.org/officeDocument/2006/relationships/image" Target="../media/image55.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3.xml"/><Relationship Id="rId1" Type="http://schemas.openxmlformats.org/officeDocument/2006/relationships/image" Target="../media/image56.png"/></Relationships>
</file>

<file path=ppt/slides/_rels/slide62.xml.rels><?xml version="1.0" encoding="UTF-8" standalone="yes"?>
<Relationships xmlns="http://schemas.openxmlformats.org/package/2006/relationships"><Relationship Id="rId6" Type="http://schemas.openxmlformats.org/officeDocument/2006/relationships/notesSlide" Target="../notesSlides/notesSlide62.xml"/><Relationship Id="rId5" Type="http://schemas.openxmlformats.org/officeDocument/2006/relationships/slideLayout" Target="../slideLayouts/slideLayout3.xml"/><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63.xml"/><Relationship Id="rId4" Type="http://schemas.openxmlformats.org/officeDocument/2006/relationships/slideLayout" Target="../slideLayouts/slideLayout3.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61.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3.xml"/><Relationship Id="rId2" Type="http://schemas.openxmlformats.org/officeDocument/2006/relationships/image" Target="../media/image63.png"/><Relationship Id="rId1" Type="http://schemas.openxmlformats.org/officeDocument/2006/relationships/image" Target="../media/image62.png"/></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74.xml"/><Relationship Id="rId4" Type="http://schemas.openxmlformats.org/officeDocument/2006/relationships/slideLayout" Target="../slideLayouts/slideLayout3.xml"/><Relationship Id="rId3" Type="http://schemas.openxmlformats.org/officeDocument/2006/relationships/image" Target="../media/image66.jpeg"/><Relationship Id="rId2" Type="http://schemas.openxmlformats.org/officeDocument/2006/relationships/image" Target="../media/image65.png"/><Relationship Id="rId1" Type="http://schemas.openxmlformats.org/officeDocument/2006/relationships/image" Target="../media/image64.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3.xml"/><Relationship Id="rId1" Type="http://schemas.openxmlformats.org/officeDocument/2006/relationships/image" Target="../media/image65.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3.xml"/><Relationship Id="rId1" Type="http://schemas.openxmlformats.org/officeDocument/2006/relationships/image" Target="../media/image66.jpe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3.xml"/><Relationship Id="rId1" Type="http://schemas.openxmlformats.org/officeDocument/2006/relationships/image" Target="../media/image67.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3.xml"/><Relationship Id="rId1" Type="http://schemas.openxmlformats.org/officeDocument/2006/relationships/image" Target="../media/image68.png"/></Relationships>
</file>

<file path=ppt/slides/_rels/slide108.xml.rels><?xml version="1.0" encoding="UTF-8" standalone="yes"?>
<Relationships xmlns="http://schemas.openxmlformats.org/package/2006/relationships"><Relationship Id="rId5" Type="http://schemas.openxmlformats.org/officeDocument/2006/relationships/notesSlide" Target="../notesSlides/notesSlide107.xml"/><Relationship Id="rId4" Type="http://schemas.openxmlformats.org/officeDocument/2006/relationships/slideLayout" Target="../slideLayouts/slideLayout3.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108.xml"/><Relationship Id="rId3" Type="http://schemas.openxmlformats.org/officeDocument/2006/relationships/slideLayout" Target="../slideLayouts/slideLayout3.xml"/><Relationship Id="rId2" Type="http://schemas.openxmlformats.org/officeDocument/2006/relationships/image" Target="../media/image72.png"/><Relationship Id="rId1" Type="http://schemas.openxmlformats.org/officeDocument/2006/relationships/image" Target="../media/image70.png"/></Relationships>
</file>

<file path=ppt/slides/_rels/slide110.xml.rels><?xml version="1.0" encoding="UTF-8" standalone="yes"?>
<Relationships xmlns="http://schemas.openxmlformats.org/package/2006/relationships"><Relationship Id="rId4" Type="http://schemas.openxmlformats.org/officeDocument/2006/relationships/notesSlide" Target="../notesSlides/notesSlide109.xml"/><Relationship Id="rId3" Type="http://schemas.openxmlformats.org/officeDocument/2006/relationships/slideLayout" Target="../slideLayouts/slideLayout3.xml"/><Relationship Id="rId2" Type="http://schemas.openxmlformats.org/officeDocument/2006/relationships/image" Target="../media/image74.png"/><Relationship Id="rId1" Type="http://schemas.openxmlformats.org/officeDocument/2006/relationships/image" Target="../media/image73.png"/></Relationships>
</file>

<file path=ppt/slides/_rels/slide111.xml.rels><?xml version="1.0" encoding="UTF-8" standalone="yes"?>
<Relationships xmlns="http://schemas.openxmlformats.org/package/2006/relationships"><Relationship Id="rId4" Type="http://schemas.openxmlformats.org/officeDocument/2006/relationships/notesSlide" Target="../notesSlides/notesSlide110.xml"/><Relationship Id="rId3" Type="http://schemas.openxmlformats.org/officeDocument/2006/relationships/slideLayout" Target="../slideLayouts/slideLayout3.xml"/><Relationship Id="rId2" Type="http://schemas.openxmlformats.org/officeDocument/2006/relationships/image" Target="../media/image75.png"/><Relationship Id="rId1" Type="http://schemas.openxmlformats.org/officeDocument/2006/relationships/image" Target="../media/image73.png"/></Relationships>
</file>

<file path=ppt/slides/_rels/slide112.xml.rels><?xml version="1.0" encoding="UTF-8" standalone="yes"?>
<Relationships xmlns="http://schemas.openxmlformats.org/package/2006/relationships"><Relationship Id="rId4" Type="http://schemas.openxmlformats.org/officeDocument/2006/relationships/notesSlide" Target="../notesSlides/notesSlide111.xml"/><Relationship Id="rId3" Type="http://schemas.openxmlformats.org/officeDocument/2006/relationships/slideLayout" Target="../slideLayouts/slideLayout3.xml"/><Relationship Id="rId2" Type="http://schemas.openxmlformats.org/officeDocument/2006/relationships/image" Target="../media/image77.png"/><Relationship Id="rId1" Type="http://schemas.openxmlformats.org/officeDocument/2006/relationships/image" Target="../media/image76.png"/></Relationships>
</file>

<file path=ppt/slides/_rels/slide113.xml.rels><?xml version="1.0" encoding="UTF-8" standalone="yes"?>
<Relationships xmlns="http://schemas.openxmlformats.org/package/2006/relationships"><Relationship Id="rId4" Type="http://schemas.openxmlformats.org/officeDocument/2006/relationships/notesSlide" Target="../notesSlides/notesSlide112.xml"/><Relationship Id="rId3" Type="http://schemas.openxmlformats.org/officeDocument/2006/relationships/slideLayout" Target="../slideLayouts/slideLayout3.xml"/><Relationship Id="rId2" Type="http://schemas.openxmlformats.org/officeDocument/2006/relationships/image" Target="../media/image77.png"/><Relationship Id="rId1" Type="http://schemas.openxmlformats.org/officeDocument/2006/relationships/image" Target="../media/image76.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4" Type="http://schemas.openxmlformats.org/officeDocument/2006/relationships/notesSlide" Target="../notesSlides/notesSlide114.xml"/><Relationship Id="rId3" Type="http://schemas.openxmlformats.org/officeDocument/2006/relationships/slideLayout" Target="../slideLayouts/slideLayout3.xml"/><Relationship Id="rId2" Type="http://schemas.openxmlformats.org/officeDocument/2006/relationships/image" Target="../media/image79.png"/><Relationship Id="rId1" Type="http://schemas.openxmlformats.org/officeDocument/2006/relationships/image" Target="../media/image78.png"/></Relationships>
</file>

<file path=ppt/slides/_rels/slide116.xml.rels><?xml version="1.0" encoding="UTF-8" standalone="yes"?>
<Relationships xmlns="http://schemas.openxmlformats.org/package/2006/relationships"><Relationship Id="rId5" Type="http://schemas.openxmlformats.org/officeDocument/2006/relationships/notesSlide" Target="../notesSlides/notesSlide115.xml"/><Relationship Id="rId4" Type="http://schemas.openxmlformats.org/officeDocument/2006/relationships/slideLayout" Target="../slideLayouts/slideLayout3.xml"/><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79.png"/></Relationships>
</file>

<file path=ppt/slides/_rels/slide117.xml.rels><?xml version="1.0" encoding="UTF-8" standalone="yes"?>
<Relationships xmlns="http://schemas.openxmlformats.org/package/2006/relationships"><Relationship Id="rId5" Type="http://schemas.openxmlformats.org/officeDocument/2006/relationships/notesSlide" Target="../notesSlides/notesSlide116.xml"/><Relationship Id="rId4" Type="http://schemas.openxmlformats.org/officeDocument/2006/relationships/slideLayout" Target="../slideLayouts/slideLayout3.xml"/><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118.xml.rels><?xml version="1.0" encoding="UTF-8" standalone="yes"?>
<Relationships xmlns="http://schemas.openxmlformats.org/package/2006/relationships"><Relationship Id="rId5" Type="http://schemas.openxmlformats.org/officeDocument/2006/relationships/notesSlide" Target="../notesSlides/notesSlide117.xml"/><Relationship Id="rId4" Type="http://schemas.openxmlformats.org/officeDocument/2006/relationships/slideLayout" Target="../slideLayouts/slideLayout3.xml"/><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83.png"/></Relationships>
</file>

<file path=ppt/slides/_rels/slide119.xml.rels><?xml version="1.0" encoding="UTF-8" standalone="yes"?>
<Relationships xmlns="http://schemas.openxmlformats.org/package/2006/relationships"><Relationship Id="rId5" Type="http://schemas.openxmlformats.org/officeDocument/2006/relationships/notesSlide" Target="../notesSlides/notesSlide118.xml"/><Relationship Id="rId4" Type="http://schemas.openxmlformats.org/officeDocument/2006/relationships/slideLayout" Target="../slideLayouts/slideLayout3.xml"/><Relationship Id="rId3" Type="http://schemas.openxmlformats.org/officeDocument/2006/relationships/image" Target="../media/image85.png"/><Relationship Id="rId2" Type="http://schemas.openxmlformats.org/officeDocument/2006/relationships/image" Target="../media/image88.png"/><Relationship Id="rId1" Type="http://schemas.openxmlformats.org/officeDocument/2006/relationships/image" Target="../media/image87.png"/></Relationships>
</file>

<file path=ppt/slides/_rels/slide120.xml.rels><?xml version="1.0" encoding="UTF-8" standalone="yes"?>
<Relationships xmlns="http://schemas.openxmlformats.org/package/2006/relationships"><Relationship Id="rId9" Type="http://schemas.openxmlformats.org/officeDocument/2006/relationships/notesSlide" Target="../notesSlides/notesSlide119.xml"/><Relationship Id="rId8" Type="http://schemas.openxmlformats.org/officeDocument/2006/relationships/slideLayout" Target="../slideLayouts/slideLayout3.xml"/><Relationship Id="rId7" Type="http://schemas.openxmlformats.org/officeDocument/2006/relationships/image" Target="../media/image95.png"/><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image" Target="../media/image89.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t>第</a:t>
            </a:r>
            <a:r>
              <a:rPr lang="en-US" altLang="zh-CN" dirty="0"/>
              <a:t>6</a:t>
            </a:r>
            <a:r>
              <a:rPr lang="zh-CN" altLang="en-US" dirty="0"/>
              <a:t>章 </a:t>
            </a:r>
            <a:r>
              <a:rPr lang="zh-CN" altLang="zh-CN" dirty="0">
                <a:sym typeface="+mn-ea"/>
              </a:rPr>
              <a:t>数据库物理存储</a:t>
            </a:r>
            <a:endParaRPr lang="zh-CN" altLang="en-US" dirty="0">
              <a:highlight>
                <a:srgbClr val="FFFF00"/>
              </a:highlight>
            </a:endParaRPr>
          </a:p>
        </p:txBody>
      </p:sp>
      <p:sp>
        <p:nvSpPr>
          <p:cNvPr id="3" name="副标题 2"/>
          <p:cNvSpPr>
            <a:spLocks noGrp="1"/>
          </p:cNvSpPr>
          <p:nvPr>
            <p:ph type="subTitle" idx="1"/>
          </p:nvPr>
        </p:nvSpPr>
        <p:spPr>
          <a:xfrm>
            <a:off x="1524000" y="4079875"/>
            <a:ext cx="9144000" cy="1655762"/>
          </a:xfrm>
        </p:spPr>
        <p:txBody>
          <a:bodyPr/>
          <a:lstStyle/>
          <a:p>
            <a:pPr>
              <a:lnSpc>
                <a:spcPct val="150000"/>
              </a:lnSpc>
            </a:pPr>
            <a:r>
              <a:rPr lang="zh-CN" altLang="en-US" dirty="0"/>
              <a:t>西安交通大学计算机科学与技术学院</a:t>
            </a:r>
            <a:r>
              <a:rPr lang="en-US" altLang="zh-CN" dirty="0"/>
              <a:t>	</a:t>
            </a:r>
            <a:r>
              <a:rPr lang="zh-CN" altLang="en-US" dirty="0"/>
              <a:t>任雪斌</a:t>
            </a:r>
            <a:endParaRPr lang="en-US" altLang="zh-CN" dirty="0"/>
          </a:p>
          <a:p>
            <a:pPr>
              <a:lnSpc>
                <a:spcPct val="150000"/>
              </a:lnSpc>
            </a:pPr>
            <a:r>
              <a:rPr lang="en-US" altLang="zh-CN" dirty="0" err="1"/>
              <a:t>xuebinren@mail.xjtu.edu.cn</a:t>
            </a:r>
            <a:endParaRPr lang="en-US" altLang="zh-CN" dirty="0"/>
          </a:p>
          <a:p>
            <a:endParaRPr lang="zh-CN" altLang="en-US"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第</a:t>
            </a:r>
            <a:r>
              <a:rPr kumimoji="1" lang="en-US" altLang="zh-CN" dirty="0"/>
              <a:t>6</a:t>
            </a:r>
            <a:r>
              <a:rPr kumimoji="1" lang="zh-CN" altLang="en-US" dirty="0"/>
              <a:t>章 数据库物理存储 </a:t>
            </a:r>
            <a:endParaRPr kumimoji="1" lang="zh-CN" altLang="en-US" dirty="0"/>
          </a:p>
        </p:txBody>
      </p:sp>
      <p:sp>
        <p:nvSpPr>
          <p:cNvPr id="3" name="内容占位符 2"/>
          <p:cNvSpPr>
            <a:spLocks noGrp="1"/>
          </p:cNvSpPr>
          <p:nvPr>
            <p:ph idx="1"/>
          </p:nvPr>
        </p:nvSpPr>
        <p:spPr/>
        <p:txBody>
          <a:bodyPr/>
          <a:lstStyle/>
          <a:p>
            <a:pPr>
              <a:lnSpc>
                <a:spcPct val="180000"/>
              </a:lnSpc>
            </a:pPr>
            <a:r>
              <a:rPr kumimoji="1" lang="en-US" altLang="zh-CN" sz="2600" dirty="0"/>
              <a:t>6.1</a:t>
            </a:r>
            <a:r>
              <a:rPr kumimoji="1" lang="zh-CN" altLang="en-US" sz="2600" dirty="0"/>
              <a:t> 物理存储与文件</a:t>
            </a:r>
            <a:endParaRPr kumimoji="1" lang="en-US" altLang="zh-CN" sz="2600" dirty="0"/>
          </a:p>
          <a:p>
            <a:pPr>
              <a:lnSpc>
                <a:spcPct val="180000"/>
              </a:lnSpc>
            </a:pPr>
            <a:r>
              <a:rPr kumimoji="1" lang="en-US" altLang="zh-CN" sz="2600" dirty="0"/>
              <a:t>6.2</a:t>
            </a:r>
            <a:r>
              <a:rPr kumimoji="1" lang="zh-CN" altLang="en-US" sz="2600" dirty="0"/>
              <a:t> </a:t>
            </a:r>
            <a:r>
              <a:rPr kumimoji="1" lang="zh-CN" altLang="zh-CN" sz="2600" dirty="0"/>
              <a:t>数据库</a:t>
            </a:r>
            <a:r>
              <a:rPr kumimoji="1" lang="zh-CN" altLang="en-US" sz="2600" dirty="0"/>
              <a:t>索引</a:t>
            </a:r>
            <a:endParaRPr kumimoji="1" lang="en-US" altLang="zh-CN" sz="2600"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92500" lnSpcReduction="10000"/>
          </a:bodyPr>
          <a:lstStyle/>
          <a:p>
            <a:pPr algn="just">
              <a:lnSpc>
                <a:spcPct val="130000"/>
              </a:lnSpc>
            </a:pPr>
            <a:r>
              <a:rPr lang="zh-CN" altLang="en-US" sz="3000" dirty="0">
                <a:latin typeface="微软雅黑" panose="020B0503020204020204" pitchFamily="34" charset="-122"/>
                <a:ea typeface="微软雅黑" panose="020B0503020204020204" pitchFamily="34" charset="-122"/>
              </a:rPr>
              <a:t>基本内容</a:t>
            </a:r>
            <a:endParaRPr lang="zh-CN" altLang="en-US" sz="3000" dirty="0">
              <a:latin typeface="微软雅黑" panose="020B0503020204020204" pitchFamily="34" charset="-122"/>
              <a:ea typeface="微软雅黑" panose="020B0503020204020204" pitchFamily="34" charset="-122"/>
            </a:endParaRPr>
          </a:p>
          <a:p>
            <a:pPr marL="0" indent="0">
              <a:lnSpc>
                <a:spcPct val="150000"/>
              </a:lnSpc>
              <a:buNone/>
            </a:pPr>
            <a:r>
              <a:rPr kumimoji="1" lang="en-US" altLang="zh-CN" b="0" dirty="0">
                <a:latin typeface="微软雅黑" panose="020B0503020204020204" pitchFamily="34" charset="-122"/>
                <a:ea typeface="微软雅黑" panose="020B0503020204020204" pitchFamily="34" charset="-122"/>
              </a:rPr>
              <a:t>1. </a:t>
            </a:r>
            <a:r>
              <a:rPr kumimoji="1" lang="zh-CN" altLang="en-US" b="0" dirty="0">
                <a:latin typeface="微软雅黑" panose="020B0503020204020204" pitchFamily="34" charset="-122"/>
                <a:ea typeface="微软雅黑" panose="020B0503020204020204" pitchFamily="34" charset="-122"/>
              </a:rPr>
              <a:t>基础回顾</a:t>
            </a:r>
            <a:r>
              <a:rPr kumimoji="1" lang="en-US" altLang="zh-CN" b="0" dirty="0">
                <a:latin typeface="微软雅黑" panose="020B0503020204020204" pitchFamily="34" charset="-122"/>
                <a:ea typeface="微软雅黑" panose="020B0503020204020204" pitchFamily="34" charset="-122"/>
              </a:rPr>
              <a:t>-</a:t>
            </a:r>
            <a:r>
              <a:rPr kumimoji="1" lang="zh-CN" altLang="en-US" b="0" dirty="0">
                <a:latin typeface="微软雅黑" panose="020B0503020204020204" pitchFamily="34" charset="-122"/>
                <a:ea typeface="微软雅黑" panose="020B0503020204020204" pitchFamily="34" charset="-122"/>
              </a:rPr>
              <a:t>计算机系统的存储体系</a:t>
            </a:r>
            <a:endParaRPr kumimoji="1" lang="zh-CN" altLang="en-US" b="0" dirty="0">
              <a:latin typeface="微软雅黑" panose="020B0503020204020204" pitchFamily="34" charset="-122"/>
              <a:ea typeface="微软雅黑" panose="020B0503020204020204" pitchFamily="34" charset="-122"/>
            </a:endParaRPr>
          </a:p>
          <a:p>
            <a:pPr marL="0" indent="0">
              <a:lnSpc>
                <a:spcPct val="150000"/>
              </a:lnSpc>
              <a:buNone/>
            </a:pPr>
            <a:r>
              <a:rPr kumimoji="1" lang="en-US" altLang="zh-CN" b="0" dirty="0">
                <a:latin typeface="微软雅黑" panose="020B0503020204020204" pitchFamily="34" charset="-122"/>
                <a:ea typeface="微软雅黑" panose="020B0503020204020204" pitchFamily="34" charset="-122"/>
              </a:rPr>
              <a:t>2. </a:t>
            </a:r>
            <a:r>
              <a:rPr kumimoji="1" lang="zh-CN" altLang="en-US" b="0" dirty="0">
                <a:latin typeface="微软雅黑" panose="020B0503020204020204" pitchFamily="34" charset="-122"/>
                <a:ea typeface="微软雅黑" panose="020B0503020204020204" pitchFamily="34" charset="-122"/>
              </a:rPr>
              <a:t>磁盘的结构与特性</a:t>
            </a:r>
            <a:endParaRPr kumimoji="1" lang="zh-CN" altLang="en-US" b="0" dirty="0">
              <a:latin typeface="微软雅黑" panose="020B0503020204020204" pitchFamily="34" charset="-122"/>
              <a:ea typeface="微软雅黑" panose="020B0503020204020204" pitchFamily="34" charset="-122"/>
            </a:endParaRPr>
          </a:p>
          <a:p>
            <a:pPr marL="0" indent="0">
              <a:lnSpc>
                <a:spcPct val="150000"/>
              </a:lnSpc>
              <a:buNone/>
            </a:pPr>
            <a:r>
              <a:rPr kumimoji="1" lang="en-US" altLang="zh-CN" b="0" dirty="0">
                <a:latin typeface="微软雅黑" panose="020B0503020204020204" pitchFamily="34" charset="-122"/>
                <a:ea typeface="微软雅黑" panose="020B0503020204020204" pitchFamily="34" charset="-122"/>
              </a:rPr>
              <a:t>3. DBMS</a:t>
            </a:r>
            <a:r>
              <a:rPr kumimoji="1" lang="zh-CN" altLang="en-US" b="0" dirty="0">
                <a:latin typeface="微软雅黑" panose="020B0503020204020204" pitchFamily="34" charset="-122"/>
                <a:ea typeface="微软雅黑" panose="020B0503020204020204" pitchFamily="34" charset="-122"/>
              </a:rPr>
              <a:t>数据存储与查询实现的基本思想</a:t>
            </a:r>
            <a:endParaRPr kumimoji="1" lang="zh-CN" altLang="en-US" b="0" dirty="0">
              <a:latin typeface="微软雅黑" panose="020B0503020204020204" pitchFamily="34" charset="-122"/>
              <a:ea typeface="微软雅黑" panose="020B0503020204020204" pitchFamily="34" charset="-122"/>
            </a:endParaRPr>
          </a:p>
          <a:p>
            <a:pPr marL="0" indent="0">
              <a:lnSpc>
                <a:spcPct val="150000"/>
              </a:lnSpc>
              <a:buNone/>
            </a:pPr>
            <a:r>
              <a:rPr kumimoji="1" lang="en-US" altLang="zh-CN" b="0" dirty="0">
                <a:latin typeface="微软雅黑" panose="020B0503020204020204" pitchFamily="34" charset="-122"/>
                <a:ea typeface="微软雅黑" panose="020B0503020204020204" pitchFamily="34" charset="-122"/>
              </a:rPr>
              <a:t>4. </a:t>
            </a:r>
            <a:r>
              <a:rPr kumimoji="1" lang="zh-CN" altLang="en-US" b="0" dirty="0">
                <a:latin typeface="微软雅黑" panose="020B0503020204020204" pitchFamily="34" charset="-122"/>
                <a:ea typeface="微软雅黑" panose="020B0503020204020204" pitchFamily="34" charset="-122"/>
              </a:rPr>
              <a:t>数据库之表和记录与磁盘块的映射</a:t>
            </a:r>
            <a:endParaRPr kumimoji="1" lang="zh-CN" altLang="en-US" b="0" dirty="0">
              <a:latin typeface="微软雅黑" panose="020B0503020204020204" pitchFamily="34" charset="-122"/>
              <a:ea typeface="微软雅黑" panose="020B0503020204020204" pitchFamily="34" charset="-122"/>
            </a:endParaRPr>
          </a:p>
          <a:p>
            <a:pPr marL="0" indent="0">
              <a:lnSpc>
                <a:spcPct val="150000"/>
              </a:lnSpc>
              <a:buNone/>
            </a:pPr>
            <a:r>
              <a:rPr kumimoji="1" lang="en-US" altLang="zh-CN" b="0" dirty="0">
                <a:latin typeface="微软雅黑" panose="020B0503020204020204" pitchFamily="34" charset="-122"/>
                <a:ea typeface="微软雅黑" panose="020B0503020204020204" pitchFamily="34" charset="-122"/>
              </a:rPr>
              <a:t>5. </a:t>
            </a:r>
            <a:r>
              <a:rPr kumimoji="1" lang="zh-CN" altLang="en-US" b="0" dirty="0">
                <a:latin typeface="微软雅黑" panose="020B0503020204020204" pitchFamily="34" charset="-122"/>
                <a:ea typeface="微软雅黑" panose="020B0503020204020204" pitchFamily="34" charset="-122"/>
              </a:rPr>
              <a:t>数据库之文件组织方法</a:t>
            </a:r>
            <a:endParaRPr kumimoji="1" lang="en-US" altLang="zh-CN" b="0" dirty="0">
              <a:latin typeface="微软雅黑" panose="020B0503020204020204" pitchFamily="34" charset="-122"/>
              <a:ea typeface="微软雅黑" panose="020B0503020204020204" pitchFamily="34" charset="-122"/>
            </a:endParaRPr>
          </a:p>
          <a:p>
            <a:pPr marL="0" indent="0">
              <a:lnSpc>
                <a:spcPct val="150000"/>
              </a:lnSpc>
              <a:buNone/>
            </a:pPr>
            <a:r>
              <a:rPr kumimoji="1" lang="en-US" altLang="zh-CN" b="0" dirty="0">
                <a:latin typeface="微软雅黑" panose="020B0503020204020204" pitchFamily="34" charset="-122"/>
                <a:ea typeface="微软雅黑" panose="020B0503020204020204" pitchFamily="34" charset="-122"/>
              </a:rPr>
              <a:t>6. </a:t>
            </a:r>
            <a:r>
              <a:rPr kumimoji="1" lang="en-US" altLang="zh-CN" b="0" dirty="0" err="1">
                <a:latin typeface="微软雅黑" panose="020B0503020204020204" pitchFamily="34" charset="-122"/>
                <a:ea typeface="微软雅黑" panose="020B0503020204020204" pitchFamily="34" charset="-122"/>
              </a:rPr>
              <a:t>openGauss</a:t>
            </a:r>
            <a:r>
              <a:rPr kumimoji="1" lang="zh-CN" altLang="zh-CN" b="0" dirty="0">
                <a:latin typeface="微软雅黑" panose="020B0503020204020204" pitchFamily="34" charset="-122"/>
                <a:ea typeface="微软雅黑" panose="020B0503020204020204" pitchFamily="34" charset="-122"/>
              </a:rPr>
              <a:t>物理存储简介</a:t>
            </a:r>
            <a:endParaRPr kumimoji="1" lang="zh-CN" altLang="en-US" b="0" dirty="0">
              <a:latin typeface="微软雅黑" panose="020B0503020204020204" pitchFamily="34" charset="-122"/>
              <a:ea typeface="微软雅黑" panose="020B0503020204020204" pitchFamily="34" charset="-122"/>
            </a:endParaRPr>
          </a:p>
          <a:p>
            <a:endParaRPr lang="zh-CN" altLang="en-US" dirty="0"/>
          </a:p>
        </p:txBody>
      </p:sp>
      <p:sp>
        <p:nvSpPr>
          <p:cNvPr id="5" name="标题 4"/>
          <p:cNvSpPr>
            <a:spLocks noGrp="1"/>
          </p:cNvSpPr>
          <p:nvPr>
            <p:ph type="title"/>
          </p:nvPr>
        </p:nvSpPr>
        <p:spPr>
          <a:xfrm>
            <a:off x="487172" y="179243"/>
            <a:ext cx="10697497" cy="590931"/>
          </a:xfrm>
        </p:spPr>
        <p:txBody>
          <a:bodyPr/>
          <a:lstStyle/>
          <a:p>
            <a:r>
              <a:rPr lang="en-US" altLang="zh-CN" dirty="0"/>
              <a:t>6.1 </a:t>
            </a:r>
            <a:r>
              <a:rPr lang="zh-CN" altLang="zh-CN" dirty="0">
                <a:sym typeface="+mn-ea"/>
              </a:rPr>
              <a:t>物理存储与文件</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7164" y="1219203"/>
            <a:ext cx="5403344" cy="700339"/>
          </a:xfrm>
        </p:spPr>
        <p:txBody>
          <a:bodyPr>
            <a:normAutofit/>
          </a:bodyPr>
          <a:lstStyle/>
          <a:p>
            <a:pPr algn="just"/>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数据库的存储与检索问题</a:t>
            </a:r>
            <a:endParaRPr lang="zh-CN" altLang="en-US"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基础回顾-计算机系统的存储体系</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2" name="Oval 40"/>
          <p:cNvSpPr/>
          <p:nvPr/>
        </p:nvSpPr>
        <p:spPr>
          <a:xfrm>
            <a:off x="1425224" y="3391418"/>
            <a:ext cx="2764686" cy="2399946"/>
          </a:xfrm>
          <a:prstGeom prst="can">
            <a:avLst>
              <a:gd name="adj" fmla="val 11542"/>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sz="3200" dirty="0">
              <a:solidFill>
                <a:srgbClr val="33CC33"/>
              </a:solidFill>
              <a:latin typeface="宋体" panose="02010600030101010101" pitchFamily="2" charset="-122"/>
              <a:ea typeface="宋体" panose="02010600030101010101" pitchFamily="2" charset="-122"/>
            </a:endParaRPr>
          </a:p>
        </p:txBody>
      </p:sp>
      <p:sp>
        <p:nvSpPr>
          <p:cNvPr id="4" name="Text Box 84"/>
          <p:cNvSpPr/>
          <p:nvPr/>
        </p:nvSpPr>
        <p:spPr>
          <a:xfrm>
            <a:off x="2052288" y="3667643"/>
            <a:ext cx="1338262" cy="547688"/>
          </a:xfrm>
          <a:prstGeom prst="can">
            <a:avLst>
              <a:gd name="adj" fmla="val 13269"/>
            </a:avLst>
          </a:prstGeom>
          <a:noFill/>
          <a:ln w="9525">
            <a:noFill/>
          </a:ln>
        </p:spPr>
        <p:txBody>
          <a:bodyPr anchor="t">
            <a:spAutoFit/>
          </a:bodyPr>
          <a:lstStyle/>
          <a:p>
            <a:pPr algn="ctr"/>
            <a:r>
              <a:rPr lang="zh-CN" altLang="en-US" sz="2400" dirty="0">
                <a:solidFill>
                  <a:srgbClr val="FFFFFF"/>
                </a:solidFill>
                <a:latin typeface="Arial" panose="020B0604020202020204" pitchFamily="34" charset="0"/>
                <a:ea typeface="微软雅黑" panose="020B0503020204020204" pitchFamily="34" charset="-122"/>
              </a:rPr>
              <a:t>数据库</a:t>
            </a:r>
            <a:endParaRPr lang="zh-CN" altLang="en-US" sz="2400" dirty="0">
              <a:solidFill>
                <a:srgbClr val="FFFFFF"/>
              </a:solidFill>
              <a:latin typeface="Arial" panose="020B0604020202020204" pitchFamily="34" charset="0"/>
              <a:ea typeface="微软雅黑" panose="020B0503020204020204" pitchFamily="34" charset="-122"/>
            </a:endParaRPr>
          </a:p>
        </p:txBody>
      </p:sp>
      <p:sp>
        <p:nvSpPr>
          <p:cNvPr id="8" name="Oval 40"/>
          <p:cNvSpPr/>
          <p:nvPr/>
        </p:nvSpPr>
        <p:spPr>
          <a:xfrm>
            <a:off x="4625989" y="2519531"/>
            <a:ext cx="2850415" cy="3290772"/>
          </a:xfrm>
          <a:prstGeom prst="can">
            <a:avLst>
              <a:gd name="adj" fmla="val 9690"/>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sz="3200" dirty="0">
              <a:solidFill>
                <a:srgbClr val="33CC33"/>
              </a:solidFill>
              <a:latin typeface="宋体" panose="02010600030101010101" pitchFamily="2" charset="-122"/>
              <a:ea typeface="宋体" panose="02010600030101010101" pitchFamily="2" charset="-122"/>
            </a:endParaRPr>
          </a:p>
        </p:txBody>
      </p:sp>
      <p:sp>
        <p:nvSpPr>
          <p:cNvPr id="9" name="Text Box 84"/>
          <p:cNvSpPr/>
          <p:nvPr/>
        </p:nvSpPr>
        <p:spPr>
          <a:xfrm>
            <a:off x="5218126" y="2594644"/>
            <a:ext cx="1679509" cy="929759"/>
          </a:xfrm>
          <a:prstGeom prst="can">
            <a:avLst>
              <a:gd name="adj" fmla="val 25000"/>
            </a:avLst>
          </a:prstGeom>
          <a:noFill/>
          <a:ln w="9525">
            <a:noFill/>
          </a:ln>
        </p:spPr>
        <p:txBody>
          <a:bodyPr wrap="square" anchor="t">
            <a:spAutoFit/>
          </a:bodyPr>
          <a:lstStyle/>
          <a:p>
            <a:pPr algn="ctr"/>
            <a:r>
              <a:rPr lang="zh-CN" altLang="en-US" sz="3200" dirty="0">
                <a:solidFill>
                  <a:srgbClr val="FFFFFF"/>
                </a:solidFill>
                <a:latin typeface="Arial" panose="020B0604020202020204" pitchFamily="34" charset="0"/>
                <a:ea typeface="微软雅黑" panose="020B0503020204020204" pitchFamily="34" charset="-122"/>
              </a:rPr>
              <a:t>大数据</a:t>
            </a:r>
            <a:endParaRPr lang="zh-CN" altLang="en-US" sz="3200" dirty="0">
              <a:solidFill>
                <a:srgbClr val="FFFFFF"/>
              </a:solidFill>
              <a:latin typeface="Arial" panose="020B0604020202020204" pitchFamily="34" charset="0"/>
              <a:ea typeface="微软雅黑" panose="020B0503020204020204" pitchFamily="34" charset="-122"/>
            </a:endParaRPr>
          </a:p>
        </p:txBody>
      </p:sp>
      <p:sp>
        <p:nvSpPr>
          <p:cNvPr id="10" name="AutoShape 26"/>
          <p:cNvSpPr/>
          <p:nvPr/>
        </p:nvSpPr>
        <p:spPr>
          <a:xfrm>
            <a:off x="959279" y="4687950"/>
            <a:ext cx="422163" cy="255587"/>
          </a:xfrm>
          <a:prstGeom prst="rightArrow">
            <a:avLst>
              <a:gd name="adj1" fmla="val 50000"/>
              <a:gd name="adj2" fmla="val 77766"/>
            </a:avLst>
          </a:prstGeom>
          <a:solidFill>
            <a:schemeClr val="tx1"/>
          </a:solidFill>
          <a:ln w="9525" cap="flat" cmpd="sng">
            <a:solidFill>
              <a:schemeClr val="tx1"/>
            </a:solidFill>
            <a:prstDash val="solid"/>
            <a:miter/>
            <a:headEnd type="none" w="med" len="med"/>
            <a:tailEnd type="none" w="med" len="med"/>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11" name="AutoShape 28"/>
          <p:cNvSpPr/>
          <p:nvPr/>
        </p:nvSpPr>
        <p:spPr>
          <a:xfrm>
            <a:off x="4184968" y="4456453"/>
            <a:ext cx="454389" cy="269875"/>
          </a:xfrm>
          <a:prstGeom prst="rightArrow">
            <a:avLst>
              <a:gd name="adj1" fmla="val 50000"/>
              <a:gd name="adj2" fmla="val 65563"/>
            </a:avLst>
          </a:prstGeom>
          <a:solidFill>
            <a:schemeClr val="tx1"/>
          </a:solidFill>
          <a:ln w="9525" cap="flat" cmpd="sng">
            <a:solidFill>
              <a:schemeClr val="tx1"/>
            </a:solidFill>
            <a:prstDash val="solid"/>
            <a:miter/>
            <a:headEnd type="none" w="med" len="med"/>
            <a:tailEnd type="none" w="med" len="med"/>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12" name="AutoShape 30"/>
          <p:cNvSpPr/>
          <p:nvPr/>
        </p:nvSpPr>
        <p:spPr>
          <a:xfrm flipH="1">
            <a:off x="916090" y="4292662"/>
            <a:ext cx="465352" cy="255588"/>
          </a:xfrm>
          <a:prstGeom prst="rightArrow">
            <a:avLst>
              <a:gd name="adj1" fmla="val 50000"/>
              <a:gd name="adj2" fmla="val 77766"/>
            </a:avLst>
          </a:prstGeom>
          <a:solidFill>
            <a:schemeClr val="tx1"/>
          </a:solidFill>
          <a:ln w="9525" cap="flat" cmpd="sng">
            <a:solidFill>
              <a:schemeClr val="tx1"/>
            </a:solidFill>
            <a:prstDash val="solid"/>
            <a:miter/>
            <a:headEnd type="none" w="med" len="med"/>
            <a:tailEnd type="none" w="med" len="med"/>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13" name="AutoShape 35"/>
          <p:cNvSpPr/>
          <p:nvPr/>
        </p:nvSpPr>
        <p:spPr>
          <a:xfrm flipH="1">
            <a:off x="924025" y="2768662"/>
            <a:ext cx="3662508" cy="320594"/>
          </a:xfrm>
          <a:prstGeom prst="rightArrow">
            <a:avLst>
              <a:gd name="adj1" fmla="val 51324"/>
              <a:gd name="adj2" fmla="val 88159"/>
            </a:avLst>
          </a:prstGeom>
          <a:solidFill>
            <a:schemeClr val="tx1"/>
          </a:solidFill>
          <a:ln w="9525" cap="flat" cmpd="sng">
            <a:solidFill>
              <a:schemeClr val="tx1"/>
            </a:solidFill>
            <a:prstDash val="solid"/>
            <a:miter/>
            <a:headEnd type="none" w="med" len="med"/>
            <a:tailEnd type="none" w="med" len="med"/>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14" name="Rectangle 36"/>
          <p:cNvSpPr/>
          <p:nvPr/>
        </p:nvSpPr>
        <p:spPr>
          <a:xfrm>
            <a:off x="4689489" y="3423319"/>
            <a:ext cx="2786915" cy="2215478"/>
          </a:xfrm>
          <a:prstGeom prst="rect">
            <a:avLst/>
          </a:prstGeom>
          <a:noFill/>
          <a:ln w="76200">
            <a:noFill/>
          </a:ln>
        </p:spPr>
        <p:txBody>
          <a:bodyPr wrap="square" anchor="t">
            <a:spAutoFit/>
          </a:bodyPr>
          <a:lstStyle/>
          <a:p>
            <a:pPr>
              <a:lnSpc>
                <a:spcPct val="130000"/>
              </a:lnSpc>
              <a:buClr>
                <a:srgbClr val="FF0000"/>
              </a:buClr>
              <a:buFont typeface="Wingdings" panose="05000000000000000000" pitchFamily="2" charset="2"/>
              <a:buNone/>
            </a:pPr>
            <a:r>
              <a:rPr lang="en-US" altLang="zh-CN" dirty="0">
                <a:solidFill>
                  <a:schemeClr val="bg1"/>
                </a:solidFill>
                <a:latin typeface="Arial" panose="020B0604020202020204" pitchFamily="34" charset="0"/>
                <a:ea typeface="宋体" panose="02010600030101010101" pitchFamily="2" charset="-122"/>
              </a:rPr>
              <a:t>1TB(Trillionbyte)= 2</a:t>
            </a:r>
            <a:r>
              <a:rPr lang="en-US" altLang="zh-CN" baseline="30000" dirty="0">
                <a:solidFill>
                  <a:schemeClr val="bg1"/>
                </a:solidFill>
                <a:latin typeface="Arial" panose="020B0604020202020204" pitchFamily="34" charset="0"/>
                <a:ea typeface="宋体" panose="02010600030101010101" pitchFamily="2" charset="-122"/>
              </a:rPr>
              <a:t>20</a:t>
            </a:r>
            <a:r>
              <a:rPr lang="en-US" altLang="zh-CN" dirty="0">
                <a:solidFill>
                  <a:schemeClr val="bg1"/>
                </a:solidFill>
                <a:latin typeface="Arial" panose="020B0604020202020204" pitchFamily="34" charset="0"/>
                <a:ea typeface="宋体" panose="02010600030101010101" pitchFamily="2" charset="-122"/>
              </a:rPr>
              <a:t>MB</a:t>
            </a:r>
            <a:endParaRPr lang="en-US" altLang="zh-CN" dirty="0">
              <a:solidFill>
                <a:schemeClr val="bg1"/>
              </a:solidFill>
              <a:latin typeface="Arial" panose="020B0604020202020204" pitchFamily="34" charset="0"/>
              <a:ea typeface="宋体" panose="02010600030101010101" pitchFamily="2" charset="-122"/>
            </a:endParaRPr>
          </a:p>
          <a:p>
            <a:pPr>
              <a:lnSpc>
                <a:spcPct val="130000"/>
              </a:lnSpc>
              <a:buClr>
                <a:srgbClr val="FF0000"/>
              </a:buClr>
              <a:buFont typeface="Wingdings" panose="05000000000000000000" pitchFamily="2" charset="2"/>
              <a:buNone/>
            </a:pPr>
            <a:r>
              <a:rPr lang="en-US" altLang="zh-CN" dirty="0">
                <a:solidFill>
                  <a:schemeClr val="bg1"/>
                </a:solidFill>
                <a:latin typeface="Arial" panose="020B0604020202020204" pitchFamily="34" charset="0"/>
                <a:ea typeface="宋体" panose="02010600030101010101" pitchFamily="2" charset="-122"/>
              </a:rPr>
              <a:t>1PB(Petabyte) = 2</a:t>
            </a:r>
            <a:r>
              <a:rPr lang="en-US" altLang="zh-CN" baseline="30000" dirty="0">
                <a:solidFill>
                  <a:schemeClr val="bg1"/>
                </a:solidFill>
                <a:latin typeface="Arial" panose="020B0604020202020204" pitchFamily="34" charset="0"/>
                <a:ea typeface="宋体" panose="02010600030101010101" pitchFamily="2" charset="-122"/>
              </a:rPr>
              <a:t>30</a:t>
            </a:r>
            <a:r>
              <a:rPr lang="en-US" altLang="zh-CN" dirty="0">
                <a:solidFill>
                  <a:schemeClr val="bg1"/>
                </a:solidFill>
                <a:latin typeface="Arial" panose="020B0604020202020204" pitchFamily="34" charset="0"/>
                <a:ea typeface="宋体" panose="02010600030101010101" pitchFamily="2" charset="-122"/>
              </a:rPr>
              <a:t>MB</a:t>
            </a:r>
            <a:endParaRPr lang="en-US" altLang="zh-CN" dirty="0">
              <a:solidFill>
                <a:schemeClr val="bg1"/>
              </a:solidFill>
              <a:latin typeface="Arial" panose="020B0604020202020204" pitchFamily="34" charset="0"/>
              <a:ea typeface="宋体" panose="02010600030101010101" pitchFamily="2" charset="-122"/>
            </a:endParaRPr>
          </a:p>
          <a:p>
            <a:pPr>
              <a:lnSpc>
                <a:spcPct val="130000"/>
              </a:lnSpc>
              <a:buClr>
                <a:srgbClr val="FF0000"/>
              </a:buClr>
              <a:buFont typeface="Wingdings" panose="05000000000000000000" pitchFamily="2" charset="2"/>
              <a:buNone/>
            </a:pPr>
            <a:r>
              <a:rPr lang="en-US" altLang="zh-CN" dirty="0">
                <a:solidFill>
                  <a:schemeClr val="bg1"/>
                </a:solidFill>
                <a:latin typeface="Arial" panose="020B0604020202020204" pitchFamily="34" charset="0"/>
                <a:ea typeface="宋体" panose="02010600030101010101" pitchFamily="2" charset="-122"/>
              </a:rPr>
              <a:t>1EB(Exabyte)  = 2</a:t>
            </a:r>
            <a:r>
              <a:rPr lang="en-US" altLang="zh-CN" baseline="30000" dirty="0">
                <a:solidFill>
                  <a:schemeClr val="bg1"/>
                </a:solidFill>
                <a:latin typeface="Arial" panose="020B0604020202020204" pitchFamily="34" charset="0"/>
                <a:ea typeface="宋体" panose="02010600030101010101" pitchFamily="2" charset="-122"/>
              </a:rPr>
              <a:t>40</a:t>
            </a:r>
            <a:r>
              <a:rPr lang="en-US" altLang="zh-CN" dirty="0">
                <a:solidFill>
                  <a:schemeClr val="bg1"/>
                </a:solidFill>
                <a:latin typeface="Arial" panose="020B0604020202020204" pitchFamily="34" charset="0"/>
                <a:ea typeface="宋体" panose="02010600030101010101" pitchFamily="2" charset="-122"/>
              </a:rPr>
              <a:t>MB</a:t>
            </a:r>
            <a:endParaRPr lang="en-US" altLang="zh-CN" dirty="0">
              <a:solidFill>
                <a:schemeClr val="bg1"/>
              </a:solidFill>
              <a:latin typeface="Arial" panose="020B0604020202020204" pitchFamily="34" charset="0"/>
              <a:ea typeface="宋体" panose="02010600030101010101" pitchFamily="2" charset="-122"/>
            </a:endParaRPr>
          </a:p>
          <a:p>
            <a:pPr>
              <a:lnSpc>
                <a:spcPct val="130000"/>
              </a:lnSpc>
              <a:buClr>
                <a:srgbClr val="FF0000"/>
              </a:buClr>
              <a:buFont typeface="Wingdings" panose="05000000000000000000" pitchFamily="2" charset="2"/>
              <a:buNone/>
            </a:pPr>
            <a:r>
              <a:rPr lang="en-US" altLang="zh-CN" dirty="0">
                <a:solidFill>
                  <a:schemeClr val="bg1"/>
                </a:solidFill>
                <a:latin typeface="Arial" panose="020B0604020202020204" pitchFamily="34" charset="0"/>
                <a:ea typeface="宋体" panose="02010600030101010101" pitchFamily="2" charset="-122"/>
              </a:rPr>
              <a:t>1ZB(Zettabyte) = 2</a:t>
            </a:r>
            <a:r>
              <a:rPr lang="en-US" altLang="zh-CN" baseline="30000" dirty="0">
                <a:solidFill>
                  <a:schemeClr val="bg1"/>
                </a:solidFill>
                <a:latin typeface="Arial" panose="020B0604020202020204" pitchFamily="34" charset="0"/>
                <a:ea typeface="宋体" panose="02010600030101010101" pitchFamily="2" charset="-122"/>
              </a:rPr>
              <a:t>50</a:t>
            </a:r>
            <a:r>
              <a:rPr lang="en-US" altLang="zh-CN" dirty="0">
                <a:solidFill>
                  <a:schemeClr val="bg1"/>
                </a:solidFill>
                <a:latin typeface="Arial" panose="020B0604020202020204" pitchFamily="34" charset="0"/>
                <a:ea typeface="宋体" panose="02010600030101010101" pitchFamily="2" charset="-122"/>
              </a:rPr>
              <a:t>MB</a:t>
            </a:r>
            <a:endParaRPr lang="en-US" altLang="zh-CN" dirty="0">
              <a:solidFill>
                <a:schemeClr val="bg1"/>
              </a:solidFill>
              <a:latin typeface="Arial" panose="020B0604020202020204" pitchFamily="34" charset="0"/>
              <a:ea typeface="宋体" panose="02010600030101010101" pitchFamily="2" charset="-122"/>
            </a:endParaRPr>
          </a:p>
          <a:p>
            <a:pPr>
              <a:lnSpc>
                <a:spcPct val="130000"/>
              </a:lnSpc>
              <a:buClr>
                <a:srgbClr val="FF0000"/>
              </a:buClr>
              <a:buFont typeface="Wingdings" panose="05000000000000000000" pitchFamily="2" charset="2"/>
              <a:buNone/>
            </a:pPr>
            <a:r>
              <a:rPr lang="en-US" altLang="zh-CN" dirty="0">
                <a:solidFill>
                  <a:schemeClr val="bg1"/>
                </a:solidFill>
                <a:latin typeface="Arial" panose="020B0604020202020204" pitchFamily="34" charset="0"/>
                <a:ea typeface="宋体" panose="02010600030101010101" pitchFamily="2" charset="-122"/>
              </a:rPr>
              <a:t>1YB(Yottabyte) = 2</a:t>
            </a:r>
            <a:r>
              <a:rPr lang="en-US" altLang="zh-CN" baseline="30000" dirty="0">
                <a:solidFill>
                  <a:schemeClr val="bg1"/>
                </a:solidFill>
                <a:latin typeface="Arial" panose="020B0604020202020204" pitchFamily="34" charset="0"/>
                <a:ea typeface="宋体" panose="02010600030101010101" pitchFamily="2" charset="-122"/>
              </a:rPr>
              <a:t>60</a:t>
            </a:r>
            <a:r>
              <a:rPr lang="en-US" altLang="zh-CN" dirty="0">
                <a:solidFill>
                  <a:schemeClr val="bg1"/>
                </a:solidFill>
                <a:latin typeface="Arial" panose="020B0604020202020204" pitchFamily="34" charset="0"/>
                <a:ea typeface="宋体" panose="02010600030101010101" pitchFamily="2" charset="-122"/>
              </a:rPr>
              <a:t>MB</a:t>
            </a:r>
            <a:endParaRPr lang="en-US" altLang="zh-CN" dirty="0">
              <a:solidFill>
                <a:schemeClr val="bg1"/>
              </a:solidFill>
              <a:latin typeface="Arial" panose="020B0604020202020204" pitchFamily="34" charset="0"/>
              <a:ea typeface="宋体" panose="02010600030101010101" pitchFamily="2" charset="-122"/>
            </a:endParaRPr>
          </a:p>
          <a:p>
            <a:pPr>
              <a:lnSpc>
                <a:spcPct val="130000"/>
              </a:lnSpc>
              <a:buClr>
                <a:srgbClr val="FF0000"/>
              </a:buClr>
              <a:buFont typeface="Wingdings" panose="05000000000000000000" pitchFamily="2" charset="2"/>
              <a:buNone/>
            </a:pPr>
            <a:r>
              <a:rPr lang="en-US" altLang="zh-CN" dirty="0">
                <a:solidFill>
                  <a:schemeClr val="bg1"/>
                </a:solidFill>
                <a:latin typeface="Arial" panose="020B0604020202020204" pitchFamily="34" charset="0"/>
                <a:ea typeface="宋体" panose="02010600030101010101" pitchFamily="2" charset="-122"/>
              </a:rPr>
              <a:t>1BB(Brontobyte) = 2</a:t>
            </a:r>
            <a:r>
              <a:rPr lang="en-US" altLang="zh-CN" baseline="30000" dirty="0">
                <a:solidFill>
                  <a:schemeClr val="bg1"/>
                </a:solidFill>
                <a:latin typeface="Arial" panose="020B0604020202020204" pitchFamily="34" charset="0"/>
                <a:ea typeface="宋体" panose="02010600030101010101" pitchFamily="2" charset="-122"/>
              </a:rPr>
              <a:t>70</a:t>
            </a:r>
            <a:r>
              <a:rPr lang="en-US" altLang="zh-CN" dirty="0">
                <a:solidFill>
                  <a:schemeClr val="bg1"/>
                </a:solidFill>
                <a:latin typeface="Arial" panose="020B0604020202020204" pitchFamily="34" charset="0"/>
                <a:ea typeface="宋体" panose="02010600030101010101" pitchFamily="2" charset="-122"/>
              </a:rPr>
              <a:t>MB</a:t>
            </a:r>
            <a:endParaRPr lang="en-US" altLang="zh-CN" dirty="0">
              <a:solidFill>
                <a:schemeClr val="bg1"/>
              </a:solidFill>
              <a:latin typeface="Arial" panose="020B0604020202020204" pitchFamily="34" charset="0"/>
              <a:ea typeface="宋体" panose="02010600030101010101" pitchFamily="2" charset="-122"/>
            </a:endParaRPr>
          </a:p>
        </p:txBody>
      </p:sp>
      <p:sp>
        <p:nvSpPr>
          <p:cNvPr id="15" name="Rectangle 38"/>
          <p:cNvSpPr/>
          <p:nvPr/>
        </p:nvSpPr>
        <p:spPr>
          <a:xfrm>
            <a:off x="1431574" y="4134368"/>
            <a:ext cx="2841625" cy="1554163"/>
          </a:xfrm>
          <a:prstGeom prst="rect">
            <a:avLst/>
          </a:prstGeom>
          <a:noFill/>
          <a:ln w="9525">
            <a:noFill/>
          </a:ln>
        </p:spPr>
        <p:txBody>
          <a:bodyPr wrap="square" anchor="t">
            <a:spAutoFit/>
          </a:bodyPr>
          <a:lstStyle/>
          <a:p>
            <a:pPr>
              <a:lnSpc>
                <a:spcPct val="130000"/>
              </a:lnSpc>
              <a:buClr>
                <a:srgbClr val="FF0000"/>
              </a:buClr>
              <a:buFont typeface="Wingdings" panose="05000000000000000000" pitchFamily="2" charset="2"/>
              <a:buNone/>
            </a:pPr>
            <a:r>
              <a:rPr lang="en-US" altLang="zh-CN" dirty="0">
                <a:solidFill>
                  <a:schemeClr val="bg1"/>
                </a:solidFill>
                <a:latin typeface="Arial" panose="020B0604020202020204" pitchFamily="34" charset="0"/>
                <a:ea typeface="宋体" panose="02010600030101010101" pitchFamily="2" charset="-122"/>
              </a:rPr>
              <a:t>bit &amp; Byte, 1KB</a:t>
            </a:r>
            <a:endParaRPr lang="zh-CN" altLang="zh-CN" dirty="0">
              <a:solidFill>
                <a:schemeClr val="bg1"/>
              </a:solidFill>
              <a:latin typeface="Arial" panose="020B0604020202020204" pitchFamily="34" charset="0"/>
              <a:ea typeface="宋体" panose="02010600030101010101" pitchFamily="2" charset="-122"/>
            </a:endParaRPr>
          </a:p>
          <a:p>
            <a:pPr>
              <a:lnSpc>
                <a:spcPct val="130000"/>
              </a:lnSpc>
              <a:buClr>
                <a:srgbClr val="FF0000"/>
              </a:buClr>
              <a:buFont typeface="Wingdings" panose="05000000000000000000" pitchFamily="2" charset="2"/>
              <a:buNone/>
            </a:pPr>
            <a:r>
              <a:rPr lang="zh-CN" altLang="zh-CN" dirty="0">
                <a:solidFill>
                  <a:schemeClr val="bg1"/>
                </a:solidFill>
                <a:latin typeface="Arial" panose="020B0604020202020204" pitchFamily="34" charset="0"/>
                <a:ea typeface="宋体" panose="02010600030101010101" pitchFamily="2" charset="-122"/>
              </a:rPr>
              <a:t>1</a:t>
            </a:r>
            <a:r>
              <a:rPr lang="en-US" altLang="zh-CN" dirty="0">
                <a:solidFill>
                  <a:schemeClr val="bg1"/>
                </a:solidFill>
                <a:latin typeface="Arial" panose="020B0604020202020204" pitchFamily="34" charset="0"/>
                <a:ea typeface="宋体" panose="02010600030101010101" pitchFamily="2" charset="-122"/>
              </a:rPr>
              <a:t>MB(Megabyte) = 2</a:t>
            </a:r>
            <a:r>
              <a:rPr lang="en-US" altLang="zh-CN" baseline="40000" dirty="0">
                <a:solidFill>
                  <a:schemeClr val="bg1"/>
                </a:solidFill>
                <a:latin typeface="Arial" panose="020B0604020202020204" pitchFamily="34" charset="0"/>
                <a:ea typeface="宋体" panose="02010600030101010101" pitchFamily="2" charset="-122"/>
              </a:rPr>
              <a:t>10</a:t>
            </a:r>
            <a:r>
              <a:rPr lang="en-US" altLang="zh-CN" dirty="0">
                <a:solidFill>
                  <a:schemeClr val="bg1"/>
                </a:solidFill>
                <a:latin typeface="Arial" panose="020B0604020202020204" pitchFamily="34" charset="0"/>
                <a:ea typeface="宋体" panose="02010600030101010101" pitchFamily="2" charset="-122"/>
              </a:rPr>
              <a:t>KB</a:t>
            </a:r>
            <a:endParaRPr lang="en-US" altLang="zh-CN" dirty="0">
              <a:solidFill>
                <a:schemeClr val="bg1"/>
              </a:solidFill>
              <a:latin typeface="Arial" panose="020B0604020202020204" pitchFamily="34" charset="0"/>
              <a:ea typeface="宋体" panose="02010600030101010101" pitchFamily="2" charset="-122"/>
            </a:endParaRPr>
          </a:p>
          <a:p>
            <a:pPr>
              <a:lnSpc>
                <a:spcPct val="130000"/>
              </a:lnSpc>
              <a:buClr>
                <a:srgbClr val="FF0000"/>
              </a:buClr>
              <a:buFont typeface="Wingdings" panose="05000000000000000000" pitchFamily="2" charset="2"/>
              <a:buNone/>
            </a:pPr>
            <a:r>
              <a:rPr lang="en-US" altLang="zh-CN" dirty="0">
                <a:solidFill>
                  <a:schemeClr val="bg1"/>
                </a:solidFill>
                <a:latin typeface="Arial" panose="020B0604020202020204" pitchFamily="34" charset="0"/>
                <a:ea typeface="宋体" panose="02010600030101010101" pitchFamily="2" charset="-122"/>
              </a:rPr>
              <a:t>1GB(Gigabyte)  = 2</a:t>
            </a:r>
            <a:r>
              <a:rPr lang="en-US" altLang="zh-CN" baseline="40000" dirty="0">
                <a:solidFill>
                  <a:schemeClr val="bg1"/>
                </a:solidFill>
                <a:latin typeface="Arial" panose="020B0604020202020204" pitchFamily="34" charset="0"/>
                <a:ea typeface="宋体" panose="02010600030101010101" pitchFamily="2" charset="-122"/>
              </a:rPr>
              <a:t>10</a:t>
            </a:r>
            <a:r>
              <a:rPr lang="en-US" altLang="zh-CN" dirty="0">
                <a:solidFill>
                  <a:schemeClr val="bg1"/>
                </a:solidFill>
                <a:latin typeface="Arial" panose="020B0604020202020204" pitchFamily="34" charset="0"/>
                <a:ea typeface="宋体" panose="02010600030101010101" pitchFamily="2" charset="-122"/>
              </a:rPr>
              <a:t>MB</a:t>
            </a:r>
            <a:endParaRPr lang="en-US" altLang="zh-CN" dirty="0">
              <a:solidFill>
                <a:schemeClr val="bg1"/>
              </a:solidFill>
              <a:latin typeface="Arial" panose="020B0604020202020204" pitchFamily="34" charset="0"/>
              <a:ea typeface="宋体" panose="02010600030101010101" pitchFamily="2" charset="-122"/>
            </a:endParaRPr>
          </a:p>
          <a:p>
            <a:pPr>
              <a:lnSpc>
                <a:spcPct val="130000"/>
              </a:lnSpc>
              <a:buClr>
                <a:srgbClr val="FF0000"/>
              </a:buClr>
              <a:buFont typeface="Wingdings" panose="05000000000000000000" pitchFamily="2" charset="2"/>
              <a:buNone/>
            </a:pPr>
            <a:r>
              <a:rPr lang="en-US" altLang="zh-CN" dirty="0">
                <a:solidFill>
                  <a:schemeClr val="bg1"/>
                </a:solidFill>
                <a:latin typeface="Arial" panose="020B0604020202020204" pitchFamily="34" charset="0"/>
                <a:ea typeface="宋体" panose="02010600030101010101" pitchFamily="2" charset="-122"/>
              </a:rPr>
              <a:t>1TB(Trillionbyte) = 2</a:t>
            </a:r>
            <a:r>
              <a:rPr lang="en-US" altLang="zh-CN" baseline="30000" dirty="0">
                <a:solidFill>
                  <a:schemeClr val="bg1"/>
                </a:solidFill>
                <a:latin typeface="Arial" panose="020B0604020202020204" pitchFamily="34" charset="0"/>
                <a:ea typeface="宋体" panose="02010600030101010101" pitchFamily="2" charset="-122"/>
              </a:rPr>
              <a:t>20</a:t>
            </a:r>
            <a:r>
              <a:rPr lang="en-US" altLang="zh-CN" dirty="0">
                <a:solidFill>
                  <a:schemeClr val="bg1"/>
                </a:solidFill>
                <a:latin typeface="Arial" panose="020B0604020202020204" pitchFamily="34" charset="0"/>
                <a:ea typeface="宋体" panose="02010600030101010101" pitchFamily="2" charset="-122"/>
              </a:rPr>
              <a:t>MB</a:t>
            </a:r>
            <a:endParaRPr lang="en-US" altLang="zh-CN" dirty="0">
              <a:solidFill>
                <a:schemeClr val="bg1"/>
              </a:solidFill>
              <a:latin typeface="Arial" panose="020B0604020202020204" pitchFamily="34" charset="0"/>
              <a:ea typeface="宋体" panose="02010600030101010101" pitchFamily="2" charset="-122"/>
            </a:endParaRPr>
          </a:p>
        </p:txBody>
      </p:sp>
      <p:sp>
        <p:nvSpPr>
          <p:cNvPr id="16" name="Text Box 39"/>
          <p:cNvSpPr txBox="1"/>
          <p:nvPr/>
        </p:nvSpPr>
        <p:spPr>
          <a:xfrm>
            <a:off x="7476404" y="4358784"/>
            <a:ext cx="4836585" cy="1653594"/>
          </a:xfrm>
          <a:prstGeom prst="rect">
            <a:avLst/>
          </a:prstGeom>
          <a:noFill/>
          <a:ln w="9525">
            <a:noFill/>
          </a:ln>
        </p:spPr>
        <p:txBody>
          <a:bodyPr wrap="square" anchor="t">
            <a:spAutoFit/>
          </a:bodyPr>
          <a:lstStyle/>
          <a:p>
            <a:pPr>
              <a:lnSpc>
                <a:spcPct val="130000"/>
              </a:lnSpc>
            </a:pPr>
            <a:r>
              <a:rPr lang="zh-CN" altLang="en-US" sz="2000" dirty="0">
                <a:solidFill>
                  <a:schemeClr val="accent2"/>
                </a:solidFill>
                <a:latin typeface="Times New Roman" panose="02020603050405020304" pitchFamily="18" charset="0"/>
                <a:ea typeface="微软雅黑" panose="020B0503020204020204" pitchFamily="34" charset="-122"/>
              </a:rPr>
              <a:t>两个基本问题如何解决？</a:t>
            </a:r>
            <a:endParaRPr lang="zh-CN" altLang="en-US" sz="2000" dirty="0">
              <a:solidFill>
                <a:schemeClr val="accent2"/>
              </a:solidFill>
              <a:latin typeface="Times New Roman" panose="02020603050405020304" pitchFamily="18" charset="0"/>
              <a:ea typeface="微软雅黑" panose="020B0503020204020204" pitchFamily="34" charset="-122"/>
            </a:endParaRPr>
          </a:p>
          <a:p>
            <a:pPr>
              <a:lnSpc>
                <a:spcPct val="130000"/>
              </a:lnSpc>
              <a:buChar char="•"/>
            </a:pPr>
            <a:r>
              <a:rPr lang="zh-CN" altLang="en-US" sz="2000" dirty="0">
                <a:latin typeface="Times New Roman" panose="02020603050405020304" pitchFamily="18" charset="0"/>
                <a:ea typeface="微软雅黑" panose="020B0503020204020204" pitchFamily="34" charset="-122"/>
              </a:rPr>
              <a:t>如何高效率的存储？</a:t>
            </a:r>
            <a:r>
              <a:rPr lang="en-US" altLang="zh-CN" sz="2000" dirty="0">
                <a:latin typeface="Times New Roman" panose="02020603050405020304" pitchFamily="18" charset="0"/>
                <a:ea typeface="微软雅黑" panose="020B0503020204020204" pitchFamily="34" charset="-122"/>
              </a:rPr>
              <a:t>--</a:t>
            </a:r>
            <a:r>
              <a:rPr lang="zh-CN" altLang="en-US" sz="2000" dirty="0">
                <a:latin typeface="Times New Roman" panose="02020603050405020304" pitchFamily="18" charset="0"/>
                <a:ea typeface="微软雅黑" panose="020B0503020204020204" pitchFamily="34" charset="-122"/>
              </a:rPr>
              <a:t>数据组织与索引</a:t>
            </a:r>
            <a:endParaRPr lang="zh-CN" altLang="en-US" sz="2000" dirty="0">
              <a:latin typeface="Times New Roman" panose="02020603050405020304" pitchFamily="18" charset="0"/>
              <a:ea typeface="微软雅黑" panose="020B0503020204020204" pitchFamily="34" charset="-122"/>
            </a:endParaRPr>
          </a:p>
          <a:p>
            <a:pPr>
              <a:lnSpc>
                <a:spcPct val="130000"/>
              </a:lnSpc>
              <a:buChar char="•"/>
            </a:pPr>
            <a:r>
              <a:rPr lang="zh-CN" altLang="en-US" sz="2000" dirty="0">
                <a:latin typeface="Times New Roman" panose="02020603050405020304" pitchFamily="18" charset="0"/>
                <a:ea typeface="微软雅黑" panose="020B0503020204020204" pitchFamily="34" charset="-122"/>
              </a:rPr>
              <a:t>如何快速的检索？</a:t>
            </a:r>
            <a:r>
              <a:rPr lang="en-US" altLang="zh-CN" sz="2000" dirty="0">
                <a:latin typeface="Times New Roman" panose="02020603050405020304" pitchFamily="18" charset="0"/>
                <a:ea typeface="微软雅黑" panose="020B0503020204020204" pitchFamily="34" charset="-122"/>
              </a:rPr>
              <a:t>--</a:t>
            </a:r>
            <a:r>
              <a:rPr lang="zh-CN" altLang="en-US" sz="2000" dirty="0">
                <a:latin typeface="Times New Roman" panose="02020603050405020304" pitchFamily="18" charset="0"/>
                <a:ea typeface="微软雅黑" panose="020B0503020204020204" pitchFamily="34" charset="-122"/>
              </a:rPr>
              <a:t>查询实现与查询优化</a:t>
            </a:r>
            <a:endParaRPr lang="zh-CN" altLang="en-US" sz="2000" dirty="0">
              <a:latin typeface="Times New Roman" panose="02020603050405020304" pitchFamily="18" charset="0"/>
              <a:ea typeface="微软雅黑" panose="020B0503020204020204" pitchFamily="34" charset="-122"/>
            </a:endParaRPr>
          </a:p>
          <a:p>
            <a:pPr>
              <a:lnSpc>
                <a:spcPct val="130000"/>
              </a:lnSpc>
            </a:pPr>
            <a:r>
              <a:rPr lang="zh-CN" altLang="en-US" sz="2000" dirty="0">
                <a:solidFill>
                  <a:schemeClr val="accent2"/>
                </a:solidFill>
                <a:latin typeface="Times New Roman" panose="02020603050405020304" pitchFamily="18" charset="0"/>
                <a:ea typeface="微软雅黑" panose="020B0503020204020204" pitchFamily="34" charset="-122"/>
              </a:rPr>
              <a:t>面向大规模用户</a:t>
            </a:r>
            <a:r>
              <a:rPr lang="en-US" altLang="zh-CN" sz="2000" dirty="0">
                <a:solidFill>
                  <a:schemeClr val="accent2"/>
                </a:solidFill>
                <a:latin typeface="Times New Roman" panose="02020603050405020304" pitchFamily="18" charset="0"/>
                <a:ea typeface="微软雅黑" panose="020B0503020204020204" pitchFamily="34" charset="-122"/>
              </a:rPr>
              <a:t>, </a:t>
            </a:r>
            <a:r>
              <a:rPr lang="zh-CN" altLang="en-US" sz="2000" dirty="0">
                <a:solidFill>
                  <a:schemeClr val="accent2"/>
                </a:solidFill>
                <a:latin typeface="Times New Roman" panose="02020603050405020304" pitchFamily="18" charset="0"/>
                <a:ea typeface="微软雅黑" panose="020B0503020204020204" pitchFamily="34" charset="-122"/>
              </a:rPr>
              <a:t>又如何解决？</a:t>
            </a:r>
            <a:endParaRPr lang="zh-CN" altLang="en-US" sz="2000" dirty="0">
              <a:solidFill>
                <a:schemeClr val="accent2"/>
              </a:solidFill>
              <a:latin typeface="Times New Roman" panose="02020603050405020304" pitchFamily="18" charset="0"/>
              <a:ea typeface="微软雅黑" panose="020B0503020204020204" pitchFamily="34" charset="-122"/>
            </a:endParaRPr>
          </a:p>
        </p:txBody>
      </p:sp>
      <p:sp>
        <p:nvSpPr>
          <p:cNvPr id="17" name="Rectangle 40"/>
          <p:cNvSpPr/>
          <p:nvPr/>
        </p:nvSpPr>
        <p:spPr>
          <a:xfrm>
            <a:off x="105362" y="4321237"/>
            <a:ext cx="895350" cy="519113"/>
          </a:xfrm>
          <a:prstGeom prst="rect">
            <a:avLst/>
          </a:prstGeom>
          <a:noFill/>
          <a:ln w="9525">
            <a:noFill/>
          </a:ln>
        </p:spPr>
        <p:txBody>
          <a:bodyPr wrap="none" anchor="t">
            <a:spAutoFit/>
          </a:bodyPr>
          <a:lstStyle/>
          <a:p>
            <a:pPr algn="ctr"/>
            <a:r>
              <a:rPr lang="zh-CN" altLang="en-US" sz="2800" dirty="0">
                <a:latin typeface="Times New Roman" panose="02020603050405020304" pitchFamily="18" charset="0"/>
                <a:ea typeface="微软雅黑" panose="020B0503020204020204" pitchFamily="34" charset="-122"/>
              </a:rPr>
              <a:t>数据</a:t>
            </a:r>
            <a:endParaRPr lang="zh-CN" altLang="en-US" sz="2800" dirty="0">
              <a:latin typeface="Times New Roman" panose="02020603050405020304" pitchFamily="18" charset="0"/>
              <a:ea typeface="微软雅黑" panose="020B0503020204020204" pitchFamily="34" charset="-122"/>
            </a:endParaRPr>
          </a:p>
        </p:txBody>
      </p:sp>
      <p:sp>
        <p:nvSpPr>
          <p:cNvPr id="18" name="Rectangle 41"/>
          <p:cNvSpPr/>
          <p:nvPr/>
        </p:nvSpPr>
        <p:spPr>
          <a:xfrm>
            <a:off x="99012" y="2657537"/>
            <a:ext cx="895350" cy="519113"/>
          </a:xfrm>
          <a:prstGeom prst="rect">
            <a:avLst/>
          </a:prstGeom>
          <a:noFill/>
          <a:ln w="9525">
            <a:noFill/>
          </a:ln>
        </p:spPr>
        <p:txBody>
          <a:bodyPr wrap="none" anchor="t">
            <a:spAutoFit/>
          </a:bodyPr>
          <a:lstStyle/>
          <a:p>
            <a:pPr algn="ctr"/>
            <a:r>
              <a:rPr lang="zh-CN" altLang="en-US" sz="2800" dirty="0">
                <a:latin typeface="Times New Roman" panose="02020603050405020304" pitchFamily="18" charset="0"/>
                <a:ea typeface="微软雅黑" panose="020B0503020204020204" pitchFamily="34" charset="-122"/>
              </a:rPr>
              <a:t>数据</a:t>
            </a:r>
            <a:endParaRPr lang="zh-CN" altLang="en-US" sz="2800" dirty="0">
              <a:latin typeface="Times New Roman" panose="02020603050405020304" pitchFamily="18" charset="0"/>
              <a:ea typeface="微软雅黑" panose="020B0503020204020204" pitchFamily="34" charset="-122"/>
            </a:endParaRPr>
          </a:p>
        </p:txBody>
      </p:sp>
      <p:grpSp>
        <p:nvGrpSpPr>
          <p:cNvPr id="19" name="Group 58"/>
          <p:cNvGrpSpPr/>
          <p:nvPr/>
        </p:nvGrpSpPr>
        <p:grpSpPr>
          <a:xfrm>
            <a:off x="8443833" y="2102239"/>
            <a:ext cx="2596221" cy="1422164"/>
            <a:chOff x="310" y="3053"/>
            <a:chExt cx="1316" cy="983"/>
          </a:xfrm>
        </p:grpSpPr>
        <p:sp>
          <p:nvSpPr>
            <p:cNvPr id="20" name="AutoShape 39"/>
            <p:cNvSpPr/>
            <p:nvPr/>
          </p:nvSpPr>
          <p:spPr>
            <a:xfrm>
              <a:off x="310" y="3053"/>
              <a:ext cx="1316" cy="983"/>
            </a:xfrm>
            <a:prstGeom prst="roundRect">
              <a:avLst>
                <a:gd name="adj" fmla="val 16667"/>
              </a:avLst>
            </a:prstGeom>
            <a:solidFill>
              <a:srgbClr val="B90000"/>
            </a:solidFill>
            <a:ln w="9525">
              <a:noFill/>
            </a:ln>
          </p:spPr>
          <p:txBody>
            <a:bodyPr wrap="none" anchor="ctr"/>
            <a:lstStyle/>
            <a:p>
              <a:pPr algn="ctr"/>
              <a:endParaRPr lang="zh-CN" altLang="zh-CN" dirty="0">
                <a:solidFill>
                  <a:schemeClr val="accent2"/>
                </a:solidFill>
                <a:latin typeface="Arial" panose="020B0604020202020204" pitchFamily="34" charset="0"/>
                <a:ea typeface="宋体" panose="02010600030101010101" pitchFamily="2" charset="-122"/>
              </a:endParaRPr>
            </a:p>
          </p:txBody>
        </p:sp>
        <p:sp>
          <p:nvSpPr>
            <p:cNvPr id="21" name="Oval 40"/>
            <p:cNvSpPr/>
            <p:nvPr/>
          </p:nvSpPr>
          <p:spPr>
            <a:xfrm>
              <a:off x="370" y="3099"/>
              <a:ext cx="1206" cy="881"/>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chemeClr val="accent2"/>
                </a:solidFill>
                <a:latin typeface="Arial" panose="020B0604020202020204" pitchFamily="34" charset="0"/>
                <a:ea typeface="宋体" panose="02010600030101010101" pitchFamily="2" charset="-122"/>
              </a:endParaRPr>
            </a:p>
          </p:txBody>
        </p:sp>
        <p:sp>
          <p:nvSpPr>
            <p:cNvPr id="22" name="Text Box 84"/>
            <p:cNvSpPr/>
            <p:nvPr/>
          </p:nvSpPr>
          <p:spPr>
            <a:xfrm>
              <a:off x="337" y="3090"/>
              <a:ext cx="1269" cy="911"/>
            </a:xfrm>
            <a:prstGeom prst="roundRect">
              <a:avLst>
                <a:gd name="adj" fmla="val 16667"/>
              </a:avLst>
            </a:prstGeom>
            <a:noFill/>
            <a:ln w="9525">
              <a:noFill/>
            </a:ln>
          </p:spPr>
          <p:txBody>
            <a:bodyPr anchor="t">
              <a:spAutoFit/>
            </a:bodyPr>
            <a:lstStyle/>
            <a:p>
              <a:pPr algn="ctr"/>
              <a:r>
                <a:rPr lang="zh-CN" altLang="zh-CN" dirty="0">
                  <a:solidFill>
                    <a:schemeClr val="accent2"/>
                  </a:solidFill>
                  <a:latin typeface="Arial" panose="020B0604020202020204" pitchFamily="34" charset="0"/>
                  <a:ea typeface="微软雅黑" panose="020B0503020204020204" pitchFamily="34" charset="-122"/>
                </a:rPr>
                <a:t>既是DBA的职责</a:t>
              </a:r>
              <a:r>
                <a:rPr lang="zh-CN" altLang="zh-CN" dirty="0">
                  <a:solidFill>
                    <a:schemeClr val="accent2"/>
                  </a:solidFill>
                  <a:latin typeface="微软雅黑" panose="020B0503020204020204" pitchFamily="34" charset="-122"/>
                  <a:ea typeface="微软雅黑" panose="020B0503020204020204" pitchFamily="34" charset="-122"/>
                </a:rPr>
                <a:t>—</a:t>
              </a:r>
              <a:r>
                <a:rPr lang="zh-CN" altLang="zh-CN" dirty="0">
                  <a:solidFill>
                    <a:schemeClr val="accent2"/>
                  </a:solidFill>
                  <a:latin typeface="Arial" panose="020B0604020202020204" pitchFamily="34" charset="0"/>
                  <a:ea typeface="微软雅黑" panose="020B0503020204020204" pitchFamily="34" charset="-122"/>
                </a:rPr>
                <a:t>借助于软件管理与维护，又是计算机科学家需要研究和解决的问题</a:t>
              </a:r>
              <a:endParaRPr lang="zh-CN" altLang="zh-CN" dirty="0">
                <a:solidFill>
                  <a:schemeClr val="accent2"/>
                </a:solidFill>
                <a:latin typeface="Arial" panose="020B0604020202020204" pitchFamily="34" charset="0"/>
                <a:ea typeface="微软雅黑" panose="020B0503020204020204" pitchFamily="34" charset="-122"/>
              </a:endParaRPr>
            </a:p>
          </p:txBody>
        </p:sp>
      </p:grpSp>
      <p:grpSp>
        <p:nvGrpSpPr>
          <p:cNvPr id="23" name="Group 59"/>
          <p:cNvGrpSpPr/>
          <p:nvPr/>
        </p:nvGrpSpPr>
        <p:grpSpPr>
          <a:xfrm>
            <a:off x="7507499" y="1474894"/>
            <a:ext cx="1347564" cy="907687"/>
            <a:chOff x="3368" y="3555"/>
            <a:chExt cx="836" cy="705"/>
          </a:xfrm>
        </p:grpSpPr>
        <p:sp>
          <p:nvSpPr>
            <p:cNvPr id="24"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6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5" name="Oval 40"/>
            <p:cNvSpPr/>
            <p:nvPr/>
          </p:nvSpPr>
          <p:spPr>
            <a:xfrm>
              <a:off x="3437" y="3613"/>
              <a:ext cx="698" cy="588"/>
            </a:xfrm>
            <a:prstGeom prst="ellipse">
              <a:avLst/>
            </a:prstGeom>
            <a:solidFill>
              <a:srgbClr val="0066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微软雅黑" panose="020B0503020204020204" pitchFamily="34" charset="-122"/>
                <a:ea typeface="微软雅黑" panose="020B0503020204020204" pitchFamily="34" charset="-122"/>
              </a:endParaRPr>
            </a:p>
          </p:txBody>
        </p:sp>
        <p:sp>
          <p:nvSpPr>
            <p:cNvPr id="26" name="Text Box 84"/>
            <p:cNvSpPr txBox="1"/>
            <p:nvPr/>
          </p:nvSpPr>
          <p:spPr>
            <a:xfrm>
              <a:off x="3440" y="3685"/>
              <a:ext cx="690" cy="465"/>
            </a:xfrm>
            <a:prstGeom prst="rect">
              <a:avLst/>
            </a:prstGeom>
            <a:noFill/>
            <a:ln w="9525">
              <a:noFill/>
            </a:ln>
          </p:spPr>
          <p:txBody>
            <a:bodyPr anchor="t">
              <a:spAutoFit/>
            </a:bodyPr>
            <a:lstStyle/>
            <a:p>
              <a:pPr algn="ctr">
                <a:spcBef>
                  <a:spcPct val="35000"/>
                </a:spcBef>
              </a:pPr>
              <a:r>
                <a:rPr lang="zh-CN" altLang="en-US" dirty="0">
                  <a:solidFill>
                    <a:srgbClr val="FFFFFF"/>
                  </a:solidFill>
                  <a:latin typeface="微软雅黑" panose="020B0503020204020204" pitchFamily="34" charset="-122"/>
                  <a:ea typeface="微软雅黑" panose="020B0503020204020204" pitchFamily="34" charset="-122"/>
                </a:rPr>
                <a:t>性能评估与改进</a:t>
              </a:r>
              <a:endParaRPr lang="zh-CN" altLang="en-US" dirty="0">
                <a:solidFill>
                  <a:srgbClr val="FFFFFF"/>
                </a:solidFill>
                <a:latin typeface="微软雅黑" panose="020B0503020204020204" pitchFamily="34" charset="-122"/>
                <a:ea typeface="微软雅黑" panose="020B0503020204020204" pitchFamily="34" charset="-122"/>
              </a:endParaRPr>
            </a:p>
          </p:txBody>
        </p:sp>
      </p:grpSp>
      <p:grpSp>
        <p:nvGrpSpPr>
          <p:cNvPr id="27" name="Group 63"/>
          <p:cNvGrpSpPr/>
          <p:nvPr/>
        </p:nvGrpSpPr>
        <p:grpSpPr>
          <a:xfrm>
            <a:off x="10493453" y="3270648"/>
            <a:ext cx="1393733" cy="961572"/>
            <a:chOff x="3368" y="3555"/>
            <a:chExt cx="836" cy="705"/>
          </a:xfrm>
        </p:grpSpPr>
        <p:sp>
          <p:nvSpPr>
            <p:cNvPr id="28"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6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9" name="Oval 40"/>
            <p:cNvSpPr/>
            <p:nvPr/>
          </p:nvSpPr>
          <p:spPr>
            <a:xfrm>
              <a:off x="3437" y="3613"/>
              <a:ext cx="698" cy="588"/>
            </a:xfrm>
            <a:prstGeom prst="ellipse">
              <a:avLst/>
            </a:prstGeom>
            <a:solidFill>
              <a:srgbClr val="0066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微软雅黑" panose="020B0503020204020204" pitchFamily="34" charset="-122"/>
                <a:ea typeface="微软雅黑" panose="020B0503020204020204" pitchFamily="34" charset="-122"/>
              </a:endParaRPr>
            </a:p>
          </p:txBody>
        </p:sp>
        <p:sp>
          <p:nvSpPr>
            <p:cNvPr id="30" name="Text Box 84"/>
            <p:cNvSpPr txBox="1"/>
            <p:nvPr/>
          </p:nvSpPr>
          <p:spPr>
            <a:xfrm>
              <a:off x="3440" y="3685"/>
              <a:ext cx="690" cy="465"/>
            </a:xfrm>
            <a:prstGeom prst="rect">
              <a:avLst/>
            </a:prstGeom>
            <a:noFill/>
            <a:ln w="9525">
              <a:noFill/>
            </a:ln>
          </p:spPr>
          <p:txBody>
            <a:bodyPr anchor="t">
              <a:spAutoFit/>
            </a:bodyPr>
            <a:lstStyle/>
            <a:p>
              <a:pPr algn="ctr">
                <a:spcBef>
                  <a:spcPct val="35000"/>
                </a:spcBef>
              </a:pPr>
              <a:r>
                <a:rPr lang="zh-CN" altLang="en-US" dirty="0">
                  <a:solidFill>
                    <a:srgbClr val="FFFFFF"/>
                  </a:solidFill>
                  <a:latin typeface="微软雅黑" panose="020B0503020204020204" pitchFamily="34" charset="-122"/>
                  <a:ea typeface="微软雅黑" panose="020B0503020204020204" pitchFamily="34" charset="-122"/>
                </a:rPr>
                <a:t>算法设计与实现</a:t>
              </a:r>
              <a:endParaRPr lang="zh-CN" altLang="en-US" dirty="0">
                <a:solidFill>
                  <a:srgbClr val="FFFFFF"/>
                </a:solidFill>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fill="hold"/>
                                        <p:tgtEl>
                                          <p:spTgt spid="27"/>
                                        </p:tgtEl>
                                        <p:attrNameLst>
                                          <p:attrName>ppt_x</p:attrName>
                                        </p:attrNameLst>
                                      </p:cBhvr>
                                      <p:tavLst>
                                        <p:tav tm="0">
                                          <p:val>
                                            <p:strVal val="#ppt_x"/>
                                          </p:val>
                                        </p:tav>
                                        <p:tav tm="100000">
                                          <p:val>
                                            <p:strVal val="#ppt_x"/>
                                          </p:val>
                                        </p:tav>
                                      </p:tavLst>
                                    </p:anim>
                                    <p:anim calcmode="lin" valueType="num">
                                      <p:cBhvr additive="base">
                                        <p:cTn id="2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基础回顾-计算机系统的存储体系</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35" name="内容占位符 34"/>
          <p:cNvSpPr>
            <a:spLocks noGrp="1"/>
          </p:cNvSpPr>
          <p:nvPr>
            <p:ph idx="1"/>
          </p:nvPr>
        </p:nvSpPr>
        <p:spPr/>
        <p:txBody>
          <a:bodyPr/>
          <a:lstStyle/>
          <a:p>
            <a:pPr algn="just"/>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什么是存储体系</a:t>
            </a:r>
            <a:endParaRPr lang="en-US" altLang="zh-CN" dirty="0">
              <a:latin typeface="微软雅黑" panose="020B0503020204020204" pitchFamily="34" charset="-122"/>
              <a:ea typeface="微软雅黑" panose="020B0503020204020204" pitchFamily="34" charset="-122"/>
            </a:endParaRPr>
          </a:p>
          <a:p>
            <a:pPr marL="0" indent="0">
              <a:lnSpc>
                <a:spcPct val="130000"/>
              </a:lnSpc>
              <a:buNone/>
            </a:pPr>
            <a:r>
              <a:rPr lang="zh-CN" altLang="en-US" sz="2000" b="0" dirty="0">
                <a:latin typeface="微软雅黑" panose="020B0503020204020204" pitchFamily="34" charset="-122"/>
                <a:ea typeface="微软雅黑" panose="020B0503020204020204" pitchFamily="34" charset="-122"/>
              </a:rPr>
              <a:t>数据组织的基础</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存储体系：将不同性价比的存储器组织在一起，满足高速度、大容量、低价格需求。</a:t>
            </a:r>
            <a:endParaRPr lang="en-US" altLang="zh-CN" sz="2000" b="0" dirty="0">
              <a:latin typeface="微软雅黑" panose="020B0503020204020204" pitchFamily="34" charset="-122"/>
              <a:ea typeface="微软雅黑" panose="020B0503020204020204" pitchFamily="34" charset="-122"/>
            </a:endParaRPr>
          </a:p>
          <a:p>
            <a:pPr>
              <a:lnSpc>
                <a:spcPct val="130000"/>
              </a:lnSpc>
              <a:buFont typeface="Wingdings" panose="05000000000000000000" pitchFamily="2" charset="2"/>
              <a:buChar char="l"/>
            </a:pPr>
            <a:r>
              <a:rPr lang="zh-CN" altLang="en-US" sz="2000" b="0" dirty="0">
                <a:latin typeface="微软雅黑" panose="020B0503020204020204" pitchFamily="34" charset="-122"/>
                <a:ea typeface="微软雅黑" panose="020B0503020204020204" pitchFamily="34" charset="-122"/>
              </a:rPr>
              <a:t> </a:t>
            </a:r>
            <a:r>
              <a:rPr lang="en-US" altLang="zh-CN" sz="2000" b="0" dirty="0">
                <a:latin typeface="微软雅黑" panose="020B0503020204020204" pitchFamily="34" charset="-122"/>
                <a:ea typeface="微软雅黑" panose="020B0503020204020204" pitchFamily="34" charset="-122"/>
              </a:rPr>
              <a:t>CPU</a:t>
            </a:r>
            <a:r>
              <a:rPr lang="zh-CN" altLang="en-US" sz="2000" b="0" dirty="0">
                <a:latin typeface="微软雅黑" panose="020B0503020204020204" pitchFamily="34" charset="-122"/>
                <a:ea typeface="微软雅黑" panose="020B0503020204020204" pitchFamily="34" charset="-122"/>
              </a:rPr>
              <a:t>与内存直接交换信息，按存储单元</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存储字</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进行访问</a:t>
            </a:r>
            <a:endParaRPr lang="zh-CN" altLang="en-US" sz="2000" b="0" dirty="0">
              <a:latin typeface="微软雅黑" panose="020B0503020204020204" pitchFamily="34" charset="-122"/>
              <a:ea typeface="微软雅黑" panose="020B0503020204020204" pitchFamily="34" charset="-122"/>
            </a:endParaRPr>
          </a:p>
          <a:p>
            <a:pPr>
              <a:lnSpc>
                <a:spcPct val="130000"/>
              </a:lnSpc>
              <a:buFont typeface="Wingdings" panose="05000000000000000000" pitchFamily="2" charset="2"/>
              <a:buChar char="l"/>
            </a:pPr>
            <a:r>
              <a:rPr lang="zh-CN" altLang="en-US" sz="2000" b="0" dirty="0">
                <a:latin typeface="微软雅黑" panose="020B0503020204020204" pitchFamily="34" charset="-122"/>
                <a:ea typeface="微软雅黑" panose="020B0503020204020204" pitchFamily="34" charset="-122"/>
              </a:rPr>
              <a:t> 外存按存储块进行访问，其信息需先装入内存，才能被</a:t>
            </a:r>
            <a:r>
              <a:rPr lang="en-US" altLang="zh-CN" sz="2000" b="0" dirty="0">
                <a:latin typeface="微软雅黑" panose="020B0503020204020204" pitchFamily="34" charset="-122"/>
                <a:ea typeface="微软雅黑" panose="020B0503020204020204" pitchFamily="34" charset="-122"/>
              </a:rPr>
              <a:t>CPU</a:t>
            </a:r>
            <a:r>
              <a:rPr lang="zh-CN" altLang="en-US" sz="2000" b="0" dirty="0">
                <a:latin typeface="微软雅黑" panose="020B0503020204020204" pitchFamily="34" charset="-122"/>
                <a:ea typeface="微软雅黑" panose="020B0503020204020204" pitchFamily="34" charset="-122"/>
              </a:rPr>
              <a:t>处理 </a:t>
            </a:r>
            <a:endParaRPr lang="zh-CN" altLang="en-US" sz="2000" b="0" dirty="0">
              <a:latin typeface="微软雅黑" panose="020B0503020204020204" pitchFamily="34" charset="-122"/>
              <a:ea typeface="微软雅黑" panose="020B0503020204020204" pitchFamily="34" charset="-122"/>
            </a:endParaRPr>
          </a:p>
          <a:p>
            <a:pPr marL="0" indent="0">
              <a:lnSpc>
                <a:spcPct val="130000"/>
              </a:lnSpc>
              <a:buNone/>
            </a:pP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pic>
        <p:nvPicPr>
          <p:cNvPr id="38" name="Picture 17"/>
          <p:cNvPicPr>
            <a:picLocks noChangeAspect="1"/>
          </p:cNvPicPr>
          <p:nvPr/>
        </p:nvPicPr>
        <p:blipFill>
          <a:blip r:embed="rId1">
            <a:clrChange>
              <a:clrFrom>
                <a:srgbClr val="FFFFFF"/>
              </a:clrFrom>
              <a:clrTo>
                <a:srgbClr val="FFFFFF">
                  <a:alpha val="0"/>
                </a:srgbClr>
              </a:clrTo>
            </a:clrChange>
          </a:blip>
          <a:stretch>
            <a:fillRect/>
          </a:stretch>
        </p:blipFill>
        <p:spPr>
          <a:xfrm>
            <a:off x="3484563" y="3500287"/>
            <a:ext cx="7812087" cy="2992437"/>
          </a:xfrm>
          <a:prstGeom prst="rect">
            <a:avLst/>
          </a:prstGeom>
          <a:noFill/>
          <a:ln w="9525">
            <a:noFill/>
          </a:ln>
        </p:spPr>
      </p:pic>
      <p:grpSp>
        <p:nvGrpSpPr>
          <p:cNvPr id="39" name="Group 12"/>
          <p:cNvGrpSpPr/>
          <p:nvPr/>
        </p:nvGrpSpPr>
        <p:grpSpPr>
          <a:xfrm>
            <a:off x="595747" y="4107505"/>
            <a:ext cx="2571750" cy="1778000"/>
            <a:chOff x="310" y="3053"/>
            <a:chExt cx="1316" cy="983"/>
          </a:xfrm>
        </p:grpSpPr>
        <p:sp>
          <p:nvSpPr>
            <p:cNvPr id="40" name="AutoShape 39"/>
            <p:cNvSpPr/>
            <p:nvPr/>
          </p:nvSpPr>
          <p:spPr>
            <a:xfrm>
              <a:off x="310" y="3053"/>
              <a:ext cx="1316" cy="983"/>
            </a:xfrm>
            <a:prstGeom prst="roundRect">
              <a:avLst>
                <a:gd name="adj" fmla="val 16667"/>
              </a:avLst>
            </a:prstGeom>
            <a:solidFill>
              <a:srgbClr val="B90000"/>
            </a:solidFill>
            <a:ln w="9525">
              <a:noFill/>
            </a:ln>
          </p:spPr>
          <p:txBody>
            <a:bodyPr wrap="none" anchor="ctr"/>
            <a:lstStyle/>
            <a:p>
              <a:pPr algn="ctr"/>
              <a:endParaRPr lang="zh-CN" altLang="zh-CN" dirty="0">
                <a:solidFill>
                  <a:schemeClr val="accent2"/>
                </a:solidFill>
                <a:latin typeface="Arial" panose="020B0604020202020204" pitchFamily="34" charset="0"/>
                <a:ea typeface="微软雅黑" panose="020B0503020204020204" pitchFamily="34" charset="-122"/>
              </a:endParaRPr>
            </a:p>
          </p:txBody>
        </p:sp>
        <p:sp>
          <p:nvSpPr>
            <p:cNvPr id="41" name="Oval 40"/>
            <p:cNvSpPr/>
            <p:nvPr/>
          </p:nvSpPr>
          <p:spPr>
            <a:xfrm>
              <a:off x="370" y="3099"/>
              <a:ext cx="1206" cy="881"/>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chemeClr val="accent2"/>
                </a:solidFill>
                <a:latin typeface="Arial" panose="020B0604020202020204" pitchFamily="34" charset="0"/>
                <a:ea typeface="微软雅黑" panose="020B0503020204020204" pitchFamily="34" charset="-122"/>
              </a:endParaRPr>
            </a:p>
          </p:txBody>
        </p:sp>
        <p:sp>
          <p:nvSpPr>
            <p:cNvPr id="42" name="Text Box 84"/>
            <p:cNvSpPr/>
            <p:nvPr/>
          </p:nvSpPr>
          <p:spPr>
            <a:xfrm>
              <a:off x="336" y="3092"/>
              <a:ext cx="1274" cy="918"/>
            </a:xfrm>
            <a:prstGeom prst="roundRect">
              <a:avLst>
                <a:gd name="adj" fmla="val 16667"/>
              </a:avLst>
            </a:prstGeom>
            <a:noFill/>
            <a:ln w="9525">
              <a:noFill/>
            </a:ln>
          </p:spPr>
          <p:txBody>
            <a:bodyPr anchor="t">
              <a:spAutoFit/>
            </a:bodyPr>
            <a:lstStyle/>
            <a:p>
              <a:pPr algn="ctr">
                <a:buChar char="•"/>
              </a:pPr>
              <a:r>
                <a:rPr lang="zh-CN" altLang="zh-CN" dirty="0">
                  <a:solidFill>
                    <a:schemeClr val="accent2"/>
                  </a:solidFill>
                  <a:latin typeface="Arial" panose="020B0604020202020204" pitchFamily="34" charset="0"/>
                  <a:ea typeface="微软雅黑" panose="020B0503020204020204" pitchFamily="34" charset="-122"/>
                </a:rPr>
                <a:t>磁带-数据库</a:t>
              </a:r>
              <a:endParaRPr lang="zh-CN" altLang="en-US" dirty="0">
                <a:solidFill>
                  <a:schemeClr val="accent2"/>
                </a:solidFill>
                <a:latin typeface="Arial" panose="020B0604020202020204" pitchFamily="34" charset="0"/>
                <a:ea typeface="微软雅黑" panose="020B0503020204020204" pitchFamily="34" charset="-122"/>
              </a:endParaRPr>
            </a:p>
            <a:p>
              <a:pPr algn="ctr">
                <a:buChar char="•"/>
              </a:pPr>
              <a:r>
                <a:rPr lang="zh-CN" altLang="zh-CN" dirty="0">
                  <a:solidFill>
                    <a:schemeClr val="accent2"/>
                  </a:solidFill>
                  <a:latin typeface="Arial" panose="020B0604020202020204" pitchFamily="34" charset="0"/>
                  <a:ea typeface="微软雅黑" panose="020B0503020204020204" pitchFamily="34" charset="-122"/>
                </a:rPr>
                <a:t>磁盘-数据库</a:t>
              </a:r>
              <a:endParaRPr lang="zh-CN" altLang="en-US" dirty="0">
                <a:solidFill>
                  <a:schemeClr val="accent2"/>
                </a:solidFill>
                <a:latin typeface="Arial" panose="020B0604020202020204" pitchFamily="34" charset="0"/>
                <a:ea typeface="微软雅黑" panose="020B0503020204020204" pitchFamily="34" charset="-122"/>
              </a:endParaRPr>
            </a:p>
            <a:p>
              <a:pPr algn="ctr">
                <a:buChar char="•"/>
              </a:pPr>
              <a:r>
                <a:rPr lang="zh-CN" altLang="en-US" dirty="0">
                  <a:solidFill>
                    <a:schemeClr val="accent2"/>
                  </a:solidFill>
                  <a:latin typeface="Arial" panose="020B0604020202020204" pitchFamily="34" charset="0"/>
                  <a:ea typeface="微软雅黑" panose="020B0503020204020204" pitchFamily="34" charset="-122"/>
                </a:rPr>
                <a:t>内存</a:t>
              </a:r>
              <a:r>
                <a:rPr lang="en-US" altLang="zh-CN" dirty="0">
                  <a:solidFill>
                    <a:schemeClr val="accent2"/>
                  </a:solidFill>
                  <a:latin typeface="Arial" panose="020B0604020202020204" pitchFamily="34" charset="0"/>
                  <a:ea typeface="微软雅黑" panose="020B0503020204020204" pitchFamily="34" charset="-122"/>
                </a:rPr>
                <a:t>-</a:t>
              </a:r>
              <a:r>
                <a:rPr lang="zh-CN" altLang="en-US" dirty="0">
                  <a:solidFill>
                    <a:schemeClr val="accent2"/>
                  </a:solidFill>
                  <a:latin typeface="Arial" panose="020B0604020202020204" pitchFamily="34" charset="0"/>
                  <a:ea typeface="微软雅黑" panose="020B0503020204020204" pitchFamily="34" charset="-122"/>
                </a:rPr>
                <a:t>数据库</a:t>
              </a:r>
              <a:endParaRPr lang="zh-CN" altLang="en-US" dirty="0">
                <a:solidFill>
                  <a:schemeClr val="accent2"/>
                </a:solidFill>
                <a:latin typeface="Arial" panose="020B0604020202020204" pitchFamily="34" charset="0"/>
                <a:ea typeface="微软雅黑" panose="020B0503020204020204" pitchFamily="34" charset="-122"/>
              </a:endParaRPr>
            </a:p>
            <a:p>
              <a:pPr algn="ctr"/>
              <a:r>
                <a:rPr lang="zh-CN" altLang="en-US" dirty="0">
                  <a:solidFill>
                    <a:schemeClr val="accent2"/>
                  </a:solidFill>
                  <a:latin typeface="Arial" panose="020B0604020202020204" pitchFamily="34" charset="0"/>
                  <a:ea typeface="微软雅黑" panose="020B0503020204020204" pitchFamily="34" charset="-122"/>
                </a:rPr>
                <a:t>在数据组织和实现查询方面有什么差别吗</a:t>
              </a:r>
              <a:r>
                <a:rPr lang="en-US" altLang="zh-CN" dirty="0">
                  <a:solidFill>
                    <a:schemeClr val="accent2"/>
                  </a:solidFill>
                  <a:latin typeface="Arial" panose="020B0604020202020204" pitchFamily="34" charset="0"/>
                  <a:ea typeface="微软雅黑" panose="020B0503020204020204" pitchFamily="34" charset="-122"/>
                </a:rPr>
                <a:t>?</a:t>
              </a:r>
              <a:endParaRPr lang="en-US" altLang="zh-CN" dirty="0">
                <a:solidFill>
                  <a:schemeClr val="accent2"/>
                </a:solidFill>
                <a:latin typeface="Arial" panose="020B0604020202020204" pitchFamily="34" charset="0"/>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基础回顾-计算机系统的存储体系</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35" name="内容占位符 34"/>
          <p:cNvSpPr>
            <a:spLocks noGrp="1"/>
          </p:cNvSpPr>
          <p:nvPr>
            <p:ph idx="1"/>
          </p:nvPr>
        </p:nvSpPr>
        <p:spPr/>
        <p:txBody>
          <a:bodyPr>
            <a:normAutofit lnSpcReduction="10000"/>
          </a:bodyPr>
          <a:lstStyle/>
          <a:p>
            <a:pPr algn="just">
              <a:lnSpc>
                <a:spcPct val="130000"/>
              </a:lnSpc>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 不同层次存储的访问时间上的差异</a:t>
            </a:r>
            <a:endParaRPr lang="en-US" altLang="zh-CN" dirty="0">
              <a:latin typeface="微软雅黑" panose="020B0503020204020204" pitchFamily="34" charset="-122"/>
              <a:ea typeface="微软雅黑" panose="020B0503020204020204" pitchFamily="34" charset="-122"/>
            </a:endParaRPr>
          </a:p>
          <a:p>
            <a:pPr marL="0" indent="0">
              <a:lnSpc>
                <a:spcPct val="130000"/>
              </a:lnSpc>
              <a:buNone/>
            </a:pPr>
            <a:r>
              <a:rPr lang="zh-CN" altLang="en-US" sz="2000" b="0" dirty="0">
                <a:latin typeface="微软雅黑" panose="020B0503020204020204" pitchFamily="34" charset="-122"/>
                <a:ea typeface="微软雅黑" panose="020B0503020204020204" pitchFamily="34" charset="-122"/>
              </a:rPr>
              <a:t>数据组织的基础</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存储体系：</a:t>
            </a:r>
            <a:endParaRPr lang="en-US" altLang="zh-CN" sz="2000" b="0" dirty="0">
              <a:latin typeface="微软雅黑" panose="020B0503020204020204" pitchFamily="34" charset="-122"/>
              <a:ea typeface="微软雅黑" panose="020B0503020204020204" pitchFamily="34" charset="-122"/>
            </a:endParaRPr>
          </a:p>
          <a:p>
            <a:r>
              <a:rPr lang="zh-CN" altLang="en-US" sz="1800" b="0" kern="0" dirty="0">
                <a:solidFill>
                  <a:srgbClr val="701988"/>
                </a:solidFill>
                <a:latin typeface="微软雅黑" panose="020B0503020204020204" pitchFamily="82" charset="2"/>
                <a:ea typeface="微软雅黑" panose="020B0503020204020204" pitchFamily="82" charset="2"/>
              </a:rPr>
              <a:t>高速缓冲存储器</a:t>
            </a:r>
            <a:endParaRPr lang="zh-CN" altLang="en-US" sz="1800" b="0" kern="0" dirty="0">
              <a:solidFill>
                <a:srgbClr val="701988"/>
              </a:solidFill>
              <a:latin typeface="微软雅黑" panose="020B0503020204020204" pitchFamily="82" charset="2"/>
              <a:ea typeface="微软雅黑" panose="020B0503020204020204" pitchFamily="82" charset="2"/>
            </a:endParaRPr>
          </a:p>
          <a:p>
            <a:pPr marL="457200" lvl="1" indent="0">
              <a:buNone/>
            </a:pPr>
            <a:r>
              <a:rPr lang="zh-CN" altLang="zh-CN" sz="1350" kern="0" dirty="0">
                <a:latin typeface="微软雅黑" panose="020B0503020204020204" pitchFamily="82" charset="2"/>
                <a:ea typeface="微软雅黑" panose="020B0503020204020204" pitchFamily="82" charset="2"/>
              </a:rPr>
              <a:t>存取速度最快的存储介质，而单位价格却比较昂贵 </a:t>
            </a:r>
            <a:endParaRPr lang="en-US" altLang="zh-CN" sz="1350" kern="0" dirty="0">
              <a:latin typeface="微软雅黑" panose="020B0503020204020204" pitchFamily="82" charset="2"/>
              <a:ea typeface="微软雅黑" panose="020B0503020204020204" pitchFamily="82" charset="2"/>
            </a:endParaRPr>
          </a:p>
          <a:p>
            <a:r>
              <a:rPr lang="en-GB" altLang="zh-CN" sz="1800" b="0" kern="0" dirty="0">
                <a:solidFill>
                  <a:srgbClr val="701988"/>
                </a:solidFill>
                <a:latin typeface="微软雅黑" panose="020B0503020204020204" pitchFamily="82" charset="2"/>
                <a:ea typeface="微软雅黑" panose="020B0503020204020204" pitchFamily="82" charset="2"/>
              </a:rPr>
              <a:t>DRAM</a:t>
            </a:r>
            <a:r>
              <a:rPr lang="zh-CN" altLang="en-US" sz="1800" b="0" kern="0" dirty="0">
                <a:solidFill>
                  <a:srgbClr val="701988"/>
                </a:solidFill>
                <a:latin typeface="微软雅黑" panose="020B0503020204020204" pitchFamily="82" charset="2"/>
                <a:ea typeface="微软雅黑" panose="020B0503020204020204" pitchFamily="82" charset="2"/>
              </a:rPr>
              <a:t>主存</a:t>
            </a:r>
            <a:r>
              <a:rPr lang="en-US" altLang="zh-CN" sz="1800" b="0" kern="0" dirty="0">
                <a:solidFill>
                  <a:srgbClr val="701988"/>
                </a:solidFill>
                <a:latin typeface="微软雅黑" panose="020B0503020204020204" pitchFamily="82" charset="2"/>
                <a:ea typeface="微软雅黑" panose="020B0503020204020204" pitchFamily="82" charset="2"/>
              </a:rPr>
              <a:t>(</a:t>
            </a:r>
            <a:r>
              <a:rPr lang="zh-CN" altLang="en-US" sz="1800" b="0" kern="0" dirty="0">
                <a:solidFill>
                  <a:srgbClr val="701988"/>
                </a:solidFill>
                <a:latin typeface="微软雅黑" panose="020B0503020204020204" pitchFamily="82" charset="2"/>
                <a:ea typeface="微软雅黑" panose="020B0503020204020204" pitchFamily="82" charset="2"/>
              </a:rPr>
              <a:t>内存</a:t>
            </a:r>
            <a:r>
              <a:rPr lang="en-US" altLang="zh-CN" sz="1800" b="0" kern="0" dirty="0">
                <a:solidFill>
                  <a:srgbClr val="701988"/>
                </a:solidFill>
                <a:latin typeface="微软雅黑" panose="020B0503020204020204" pitchFamily="82" charset="2"/>
                <a:ea typeface="微软雅黑" panose="020B0503020204020204" pitchFamily="82" charset="2"/>
              </a:rPr>
              <a:t>)</a:t>
            </a:r>
            <a:endParaRPr lang="zh-CN" altLang="en-US" sz="1800" b="0" kern="0" dirty="0">
              <a:solidFill>
                <a:srgbClr val="701988"/>
              </a:solidFill>
              <a:latin typeface="微软雅黑" panose="020B0503020204020204" pitchFamily="82" charset="2"/>
              <a:ea typeface="微软雅黑" panose="020B0503020204020204" pitchFamily="82" charset="2"/>
            </a:endParaRPr>
          </a:p>
          <a:p>
            <a:pPr lvl="1"/>
            <a:r>
              <a:rPr lang="zh-CN" altLang="en-US" sz="1350" kern="0" dirty="0">
                <a:latin typeface="微软雅黑" panose="020B0503020204020204" pitchFamily="82" charset="2"/>
                <a:ea typeface="微软雅黑" panose="020B0503020204020204" pitchFamily="82" charset="2"/>
              </a:rPr>
              <a:t>主要用于存放程序和其处理的数据。一般为</a:t>
            </a:r>
            <a:r>
              <a:rPr lang="en-US" altLang="zh-CN" sz="1350" kern="0" dirty="0">
                <a:latin typeface="微软雅黑" panose="020B0503020204020204" pitchFamily="82" charset="2"/>
                <a:ea typeface="微软雅黑" panose="020B0503020204020204" pitchFamily="82" charset="2"/>
              </a:rPr>
              <a:t>4</a:t>
            </a:r>
            <a:r>
              <a:rPr lang="en-GB" altLang="zh-CN" sz="1350" kern="0" dirty="0">
                <a:latin typeface="微软雅黑" panose="020B0503020204020204" pitchFamily="82" charset="2"/>
                <a:ea typeface="微软雅黑" panose="020B0503020204020204" pitchFamily="82" charset="2"/>
              </a:rPr>
              <a:t>GB</a:t>
            </a:r>
            <a:r>
              <a:rPr lang="zh-CN" altLang="en-GB" sz="1350" kern="0" dirty="0">
                <a:latin typeface="微软雅黑" panose="020B0503020204020204" pitchFamily="82" charset="2"/>
                <a:ea typeface="微软雅黑" panose="020B0503020204020204" pitchFamily="82" charset="2"/>
              </a:rPr>
              <a:t>～</a:t>
            </a:r>
            <a:r>
              <a:rPr lang="en-GB" altLang="zh-CN" sz="1350" kern="0" dirty="0">
                <a:latin typeface="微软雅黑" panose="020B0503020204020204" pitchFamily="82" charset="2"/>
                <a:ea typeface="微软雅黑" panose="020B0503020204020204" pitchFamily="82" charset="2"/>
              </a:rPr>
              <a:t>32GB</a:t>
            </a:r>
            <a:r>
              <a:rPr lang="zh-CN" altLang="en-US" sz="1350" kern="0" dirty="0">
                <a:latin typeface="微软雅黑" panose="020B0503020204020204" pitchFamily="82" charset="2"/>
                <a:ea typeface="微软雅黑" panose="020B0503020204020204" pitchFamily="82" charset="2"/>
              </a:rPr>
              <a:t>（</a:t>
            </a:r>
            <a:r>
              <a:rPr lang="en-US" altLang="zh-CN" sz="1350" kern="0" dirty="0">
                <a:latin typeface="微软雅黑" panose="020B0503020204020204" pitchFamily="82" charset="2"/>
                <a:ea typeface="微软雅黑" panose="020B0503020204020204" pitchFamily="82" charset="2"/>
              </a:rPr>
              <a:t>2022</a:t>
            </a:r>
            <a:r>
              <a:rPr lang="zh-CN" altLang="en-US" sz="1350" kern="0" dirty="0">
                <a:latin typeface="微软雅黑" panose="020B0503020204020204" pitchFamily="82" charset="2"/>
                <a:ea typeface="微软雅黑" panose="020B0503020204020204" pitchFamily="82" charset="2"/>
              </a:rPr>
              <a:t>年）</a:t>
            </a:r>
            <a:endParaRPr lang="en-US" altLang="zh-CN" sz="1350" kern="0" dirty="0">
              <a:latin typeface="微软雅黑" panose="020B0503020204020204" pitchFamily="82" charset="2"/>
              <a:ea typeface="微软雅黑" panose="020B0503020204020204" pitchFamily="82" charset="2"/>
            </a:endParaRPr>
          </a:p>
          <a:p>
            <a:r>
              <a:rPr lang="zh-CN" altLang="en-US" sz="1800" b="0" kern="0" dirty="0">
                <a:solidFill>
                  <a:srgbClr val="701988"/>
                </a:solidFill>
                <a:latin typeface="微软雅黑" panose="020B0503020204020204" pitchFamily="82" charset="2"/>
                <a:ea typeface="微软雅黑" panose="020B0503020204020204" pitchFamily="82" charset="2"/>
              </a:rPr>
              <a:t>磁盘</a:t>
            </a:r>
            <a:endParaRPr lang="zh-CN" altLang="en-US" sz="1800" b="0" kern="0" dirty="0">
              <a:solidFill>
                <a:srgbClr val="701988"/>
              </a:solidFill>
              <a:latin typeface="微软雅黑" panose="020B0503020204020204" pitchFamily="82" charset="2"/>
              <a:ea typeface="微软雅黑" panose="020B0503020204020204" pitchFamily="82" charset="2"/>
            </a:endParaRPr>
          </a:p>
          <a:p>
            <a:pPr lvl="1"/>
            <a:r>
              <a:rPr lang="zh-CN" altLang="en-US" sz="1350" kern="0" dirty="0">
                <a:latin typeface="微软雅黑" panose="020B0503020204020204" pitchFamily="82" charset="2"/>
                <a:ea typeface="微软雅黑" panose="020B0503020204020204" pitchFamily="82" charset="2"/>
              </a:rPr>
              <a:t>容量大、数据持久性好，存储长期数据。一般为</a:t>
            </a:r>
            <a:r>
              <a:rPr lang="en-US" altLang="zh-CN" sz="1350" kern="0" dirty="0">
                <a:latin typeface="微软雅黑" panose="020B0503020204020204" pitchFamily="82" charset="2"/>
                <a:ea typeface="微软雅黑" panose="020B0503020204020204" pitchFamily="82" charset="2"/>
              </a:rPr>
              <a:t>256GB</a:t>
            </a:r>
            <a:r>
              <a:rPr lang="zh-CN" altLang="zh-CN" sz="1350" kern="0" dirty="0">
                <a:latin typeface="微软雅黑" panose="020B0503020204020204" pitchFamily="82" charset="2"/>
                <a:ea typeface="微软雅黑" panose="020B0503020204020204" pitchFamily="82" charset="2"/>
              </a:rPr>
              <a:t>～</a:t>
            </a:r>
            <a:r>
              <a:rPr lang="en-US" altLang="zh-CN" sz="1350" kern="0" dirty="0">
                <a:latin typeface="微软雅黑" panose="020B0503020204020204" pitchFamily="82" charset="2"/>
                <a:ea typeface="微软雅黑" panose="020B0503020204020204" pitchFamily="82" charset="2"/>
              </a:rPr>
              <a:t>10TB</a:t>
            </a:r>
            <a:r>
              <a:rPr lang="zh-CN" altLang="en-US" sz="1350" kern="0" dirty="0">
                <a:latin typeface="微软雅黑" panose="020B0503020204020204" pitchFamily="82" charset="2"/>
                <a:ea typeface="微软雅黑" panose="020B0503020204020204" pitchFamily="82" charset="2"/>
              </a:rPr>
              <a:t>（</a:t>
            </a:r>
            <a:r>
              <a:rPr lang="en-US" altLang="zh-CN" sz="1350" kern="0" dirty="0">
                <a:latin typeface="微软雅黑" panose="020B0503020204020204" pitchFamily="82" charset="2"/>
                <a:ea typeface="微软雅黑" panose="020B0503020204020204" pitchFamily="82" charset="2"/>
              </a:rPr>
              <a:t>2022</a:t>
            </a:r>
            <a:r>
              <a:rPr lang="zh-CN" altLang="en-US" sz="1350" kern="0" dirty="0">
                <a:latin typeface="微软雅黑" panose="020B0503020204020204" pitchFamily="82" charset="2"/>
                <a:ea typeface="微软雅黑" panose="020B0503020204020204" pitchFamily="82" charset="2"/>
              </a:rPr>
              <a:t>年）</a:t>
            </a:r>
            <a:endParaRPr lang="en-US" altLang="zh-CN" sz="1350" kern="0" dirty="0">
              <a:latin typeface="微软雅黑" panose="020B0503020204020204" pitchFamily="82" charset="2"/>
              <a:ea typeface="微软雅黑" panose="020B0503020204020204" pitchFamily="82" charset="2"/>
            </a:endParaRPr>
          </a:p>
          <a:p>
            <a:r>
              <a:rPr lang="zh-CN" altLang="en-US" sz="1800" b="0" kern="0" dirty="0">
                <a:solidFill>
                  <a:srgbClr val="701988"/>
                </a:solidFill>
                <a:latin typeface="微软雅黑" panose="020B0503020204020204" pitchFamily="82" charset="2"/>
                <a:ea typeface="微软雅黑" panose="020B0503020204020204" pitchFamily="82" charset="2"/>
              </a:rPr>
              <a:t>闪存</a:t>
            </a:r>
            <a:endParaRPr lang="zh-CN" altLang="en-US" sz="1800" b="0" kern="0" dirty="0">
              <a:solidFill>
                <a:srgbClr val="701988"/>
              </a:solidFill>
              <a:latin typeface="微软雅黑" panose="020B0503020204020204" pitchFamily="82" charset="2"/>
              <a:ea typeface="微软雅黑" panose="020B0503020204020204" pitchFamily="82" charset="2"/>
            </a:endParaRPr>
          </a:p>
          <a:p>
            <a:pPr lvl="1"/>
            <a:r>
              <a:rPr lang="zh-CN" altLang="en-US" sz="1350" kern="0" dirty="0">
                <a:latin typeface="微软雅黑" panose="020B0503020204020204" pitchFamily="82" charset="2"/>
                <a:ea typeface="微软雅黑" panose="020B0503020204020204" pitchFamily="82" charset="2"/>
              </a:rPr>
              <a:t>又叫固态硬盘，个人计算机闪存大小一般为</a:t>
            </a:r>
            <a:r>
              <a:rPr lang="en-US" altLang="zh-CN" sz="1350" kern="0" dirty="0">
                <a:latin typeface="微软雅黑" panose="020B0503020204020204" pitchFamily="82" charset="2"/>
                <a:ea typeface="微软雅黑" panose="020B0503020204020204" pitchFamily="82" charset="2"/>
              </a:rPr>
              <a:t>128GB</a:t>
            </a:r>
            <a:r>
              <a:rPr lang="zh-CN" altLang="zh-CN" sz="1350" kern="0" dirty="0">
                <a:latin typeface="微软雅黑" panose="020B0503020204020204" pitchFamily="82" charset="2"/>
                <a:ea typeface="微软雅黑" panose="020B0503020204020204" pitchFamily="82" charset="2"/>
              </a:rPr>
              <a:t>～</a:t>
            </a:r>
            <a:r>
              <a:rPr lang="en-US" altLang="zh-CN" sz="1350" kern="0" dirty="0">
                <a:latin typeface="微软雅黑" panose="020B0503020204020204" pitchFamily="82" charset="2"/>
                <a:ea typeface="微软雅黑" panose="020B0503020204020204" pitchFamily="82" charset="2"/>
              </a:rPr>
              <a:t>1TB</a:t>
            </a:r>
            <a:r>
              <a:rPr lang="zh-CN" altLang="en-US" sz="1350" kern="0" dirty="0">
                <a:latin typeface="微软雅黑" panose="020B0503020204020204" pitchFamily="82" charset="2"/>
                <a:ea typeface="微软雅黑" panose="020B0503020204020204" pitchFamily="82" charset="2"/>
              </a:rPr>
              <a:t>（</a:t>
            </a:r>
            <a:r>
              <a:rPr lang="en-US" altLang="zh-CN" sz="1350" kern="0" dirty="0">
                <a:latin typeface="微软雅黑" panose="020B0503020204020204" pitchFamily="82" charset="2"/>
                <a:ea typeface="微软雅黑" panose="020B0503020204020204" pitchFamily="82" charset="2"/>
              </a:rPr>
              <a:t>2022</a:t>
            </a:r>
            <a:r>
              <a:rPr lang="zh-CN" altLang="en-US" sz="1350" kern="0" dirty="0">
                <a:latin typeface="微软雅黑" panose="020B0503020204020204" pitchFamily="82" charset="2"/>
                <a:ea typeface="微软雅黑" panose="020B0503020204020204" pitchFamily="82" charset="2"/>
              </a:rPr>
              <a:t>年）</a:t>
            </a:r>
            <a:endParaRPr lang="en-US" altLang="zh-CN" sz="1350" kern="0" dirty="0">
              <a:latin typeface="微软雅黑" panose="020B0503020204020204" pitchFamily="82" charset="2"/>
              <a:ea typeface="微软雅黑" panose="020B0503020204020204" pitchFamily="82" charset="2"/>
            </a:endParaRPr>
          </a:p>
          <a:p>
            <a:r>
              <a:rPr lang="zh-CN" altLang="en-US" sz="1800" b="0" kern="0" dirty="0">
                <a:solidFill>
                  <a:srgbClr val="701988"/>
                </a:solidFill>
                <a:latin typeface="微软雅黑" panose="020B0503020204020204" pitchFamily="82" charset="2"/>
                <a:ea typeface="微软雅黑" panose="020B0503020204020204" pitchFamily="82" charset="2"/>
              </a:rPr>
              <a:t>非易失性主存</a:t>
            </a:r>
            <a:endParaRPr lang="en-US" altLang="zh-CN" sz="1800" b="0" kern="0" dirty="0">
              <a:solidFill>
                <a:srgbClr val="701988"/>
              </a:solidFill>
              <a:latin typeface="微软雅黑" panose="020B0503020204020204" pitchFamily="82" charset="2"/>
              <a:ea typeface="微软雅黑" panose="020B0503020204020204" pitchFamily="82" charset="2"/>
            </a:endParaRPr>
          </a:p>
          <a:p>
            <a:pPr lvl="1"/>
            <a:r>
              <a:rPr lang="zh-CN" altLang="zh-CN" sz="1350" kern="0" dirty="0">
                <a:latin typeface="微软雅黑" panose="020B0503020204020204" pitchFamily="82" charset="2"/>
                <a:ea typeface="微软雅黑" panose="020B0503020204020204" pitchFamily="82" charset="2"/>
              </a:rPr>
              <a:t>速度能</a:t>
            </a:r>
            <a:r>
              <a:rPr lang="en-US" altLang="zh-CN" sz="1350" kern="0" dirty="0">
                <a:latin typeface="微软雅黑" panose="020B0503020204020204" pitchFamily="82" charset="2"/>
                <a:ea typeface="微软雅黑" panose="020B0503020204020204" pitchFamily="82" charset="2"/>
              </a:rPr>
              <a:t>DRAM</a:t>
            </a:r>
            <a:r>
              <a:rPr lang="zh-CN" altLang="zh-CN" sz="1350" kern="0" dirty="0">
                <a:latin typeface="微软雅黑" panose="020B0503020204020204" pitchFamily="82" charset="2"/>
                <a:ea typeface="微软雅黑" panose="020B0503020204020204" pitchFamily="82" charset="2"/>
              </a:rPr>
              <a:t>相媲美，</a:t>
            </a:r>
            <a:r>
              <a:rPr lang="zh-CN" altLang="en-US" sz="1350" kern="0" dirty="0">
                <a:latin typeface="微软雅黑" panose="020B0503020204020204" pitchFamily="82" charset="2"/>
                <a:ea typeface="微软雅黑" panose="020B0503020204020204" pitchFamily="82" charset="2"/>
              </a:rPr>
              <a:t>字节级寻址，</a:t>
            </a:r>
            <a:r>
              <a:rPr lang="zh-CN" altLang="zh-CN" sz="1350" kern="0" dirty="0">
                <a:latin typeface="微软雅黑" panose="020B0503020204020204" pitchFamily="82" charset="2"/>
                <a:ea typeface="微软雅黑" panose="020B0503020204020204" pitchFamily="82" charset="2"/>
              </a:rPr>
              <a:t>在断电时不会丢失数据</a:t>
            </a: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
        <p:nvSpPr>
          <p:cNvPr id="2" name="Shape6"/>
          <p:cNvSpPr/>
          <p:nvPr/>
        </p:nvSpPr>
        <p:spPr>
          <a:xfrm>
            <a:off x="6400800" y="1908632"/>
            <a:ext cx="5679782" cy="4200068"/>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solidFill>
                <a:srgbClr val="6F1787"/>
              </a:solidFill>
              <a:latin typeface="微软雅黑" panose="020B0503020204020204" pitchFamily="82" charset="2"/>
              <a:ea typeface="OPPOSans M" panose="00020600040101010101" pitchFamily="18" charset="-122"/>
            </a:endParaRPr>
          </a:p>
        </p:txBody>
      </p:sp>
      <p:sp>
        <p:nvSpPr>
          <p:cNvPr id="3" name="Shape6"/>
          <p:cNvSpPr/>
          <p:nvPr/>
        </p:nvSpPr>
        <p:spPr>
          <a:xfrm>
            <a:off x="6756400" y="1981200"/>
            <a:ext cx="5324181" cy="3986570"/>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solidFill>
                <a:srgbClr val="6F1787"/>
              </a:solidFill>
              <a:latin typeface="微软雅黑" panose="020B0503020204020204" pitchFamily="82" charset="2"/>
              <a:ea typeface="OPPOSans M" panose="00020600040101010101" pitchFamily="18" charset="-122"/>
            </a:endParaRPr>
          </a:p>
        </p:txBody>
      </p:sp>
      <p:grpSp>
        <p:nvGrpSpPr>
          <p:cNvPr id="4" name="组合 3"/>
          <p:cNvGrpSpPr/>
          <p:nvPr/>
        </p:nvGrpSpPr>
        <p:grpSpPr>
          <a:xfrm>
            <a:off x="7103654" y="2083263"/>
            <a:ext cx="3955592" cy="3769692"/>
            <a:chOff x="3159455" y="884663"/>
            <a:chExt cx="5888852" cy="5612096"/>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159455" y="1001870"/>
              <a:ext cx="5888852" cy="5494889"/>
            </a:xfrm>
            <a:prstGeom prst="rect">
              <a:avLst/>
            </a:prstGeom>
          </p:spPr>
        </p:pic>
        <p:sp>
          <p:nvSpPr>
            <p:cNvPr id="8" name="矩形 7"/>
            <p:cNvSpPr/>
            <p:nvPr/>
          </p:nvSpPr>
          <p:spPr bwMode="auto">
            <a:xfrm>
              <a:off x="4423317" y="884663"/>
              <a:ext cx="3520112" cy="652935"/>
            </a:xfrm>
            <a:prstGeom prst="rect">
              <a:avLst/>
            </a:prstGeom>
            <a:solidFill>
              <a:srgbClr val="7030A0">
                <a:alpha val="23000"/>
              </a:srgbClr>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fontAlgn="base">
                <a:spcBef>
                  <a:spcPct val="50000"/>
                </a:spcBef>
                <a:spcAft>
                  <a:spcPct val="0"/>
                </a:spcAft>
              </a:pPr>
              <a:endParaRPr kumimoji="1" lang="zh-CN" altLang="en-US" sz="2400">
                <a:latin typeface="Times New Roman" panose="02020603050405020304" pitchFamily="18" charset="0"/>
                <a:ea typeface="华文楷体" panose="02010600040101010101" pitchFamily="2" charset="-122"/>
              </a:endParaRPr>
            </a:p>
          </p:txBody>
        </p:sp>
        <p:sp>
          <p:nvSpPr>
            <p:cNvPr id="9" name="矩形 8"/>
            <p:cNvSpPr/>
            <p:nvPr/>
          </p:nvSpPr>
          <p:spPr bwMode="auto">
            <a:xfrm>
              <a:off x="4423316" y="4198099"/>
              <a:ext cx="3520113" cy="652935"/>
            </a:xfrm>
            <a:prstGeom prst="rect">
              <a:avLst/>
            </a:prstGeom>
            <a:solidFill>
              <a:srgbClr val="92D050">
                <a:alpha val="23000"/>
              </a:srgbClr>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fontAlgn="base">
                <a:spcBef>
                  <a:spcPct val="50000"/>
                </a:spcBef>
                <a:spcAft>
                  <a:spcPct val="0"/>
                </a:spcAft>
              </a:pPr>
              <a:endParaRPr kumimoji="1" lang="zh-CN" altLang="en-US" sz="2400">
                <a:latin typeface="Times New Roman" panose="02020603050405020304" pitchFamily="18" charset="0"/>
                <a:ea typeface="华文楷体" panose="02010600040101010101" pitchFamily="2"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基础回顾-计算机系统的存储体系</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 不同层次存储的访问时间上的差异</a:t>
            </a:r>
            <a:endParaRPr lang="en-US" altLang="zh-CN" dirty="0">
              <a:latin typeface="微软雅黑" panose="020B0503020204020204" pitchFamily="34" charset="-122"/>
              <a:ea typeface="微软雅黑" panose="020B0503020204020204" pitchFamily="34" charset="-122"/>
            </a:endParaRPr>
          </a:p>
          <a:p>
            <a:pPr marL="0" indent="0">
              <a:lnSpc>
                <a:spcPct val="130000"/>
              </a:lnSpc>
              <a:buNone/>
            </a:pPr>
            <a:r>
              <a:rPr lang="zh-CN" altLang="en-US" sz="2000" b="0" dirty="0">
                <a:latin typeface="微软雅黑" panose="020B0503020204020204" pitchFamily="34" charset="-122"/>
                <a:ea typeface="微软雅黑" panose="020B0503020204020204" pitchFamily="34" charset="-122"/>
              </a:rPr>
              <a:t>数据组织的基础</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存储体系：</a:t>
            </a:r>
            <a:endParaRPr lang="en-US" altLang="zh-CN" sz="2000" b="0" dirty="0">
              <a:latin typeface="微软雅黑" panose="020B0503020204020204" pitchFamily="34" charset="-122"/>
              <a:ea typeface="微软雅黑" panose="020B0503020204020204" pitchFamily="34" charset="-122"/>
            </a:endParaRPr>
          </a:p>
          <a:p>
            <a:endParaRPr lang="zh-CN" altLang="en-US" dirty="0"/>
          </a:p>
        </p:txBody>
      </p:sp>
      <p:graphicFrame>
        <p:nvGraphicFramePr>
          <p:cNvPr id="10" name="内容占位符 7"/>
          <p:cNvGraphicFramePr/>
          <p:nvPr/>
        </p:nvGraphicFramePr>
        <p:xfrm>
          <a:off x="2155751" y="2669158"/>
          <a:ext cx="7935914" cy="3134741"/>
        </p:xfrm>
        <a:graphic>
          <a:graphicData uri="http://schemas.openxmlformats.org/drawingml/2006/table">
            <a:tbl>
              <a:tblPr firstRow="1" firstCol="1" bandRow="1">
                <a:tableStyleId>{21E4AEA4-8DFA-4A89-87EB-49C32662AFE0}</a:tableStyleId>
              </a:tblPr>
              <a:tblGrid>
                <a:gridCol w="2149620"/>
                <a:gridCol w="1411201"/>
                <a:gridCol w="1487777"/>
                <a:gridCol w="1300133"/>
                <a:gridCol w="1587183"/>
              </a:tblGrid>
              <a:tr h="603736">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存储介质</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访问速度</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存储空间</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单位价格</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数据持久性</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r>
              <a:tr h="506201">
                <a:tc>
                  <a:txBody>
                    <a:bodyPr/>
                    <a:lstStyle/>
                    <a:p>
                      <a:pPr indent="127000" algn="ctr">
                        <a:lnSpc>
                          <a:spcPct val="100000"/>
                        </a:lnSpc>
                      </a:pPr>
                      <a:r>
                        <a:rPr lang="zh-CN" altLang="en-US" sz="1800" kern="100" dirty="0">
                          <a:effectLst/>
                          <a:latin typeface="微软雅黑" panose="020B0503020204020204" pitchFamily="82" charset="2"/>
                          <a:ea typeface="微软雅黑" panose="020B0503020204020204" pitchFamily="82" charset="2"/>
                        </a:rPr>
                        <a:t>高速</a:t>
                      </a:r>
                      <a:r>
                        <a:rPr lang="zh-CN" sz="1800" kern="100" dirty="0">
                          <a:effectLst/>
                          <a:latin typeface="微软雅黑" panose="020B0503020204020204" pitchFamily="82" charset="2"/>
                          <a:ea typeface="微软雅黑" panose="020B0503020204020204" pitchFamily="82" charset="2"/>
                        </a:rPr>
                        <a:t>缓存</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快</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indent="127000" algn="ctr">
                        <a:lnSpc>
                          <a:spcPct val="100000"/>
                        </a:lnSpc>
                      </a:pPr>
                      <a:r>
                        <a:rPr lang="zh-CN" sz="1800" kern="100">
                          <a:effectLst/>
                          <a:latin typeface="微软雅黑" panose="020B0503020204020204" pitchFamily="82" charset="2"/>
                          <a:ea typeface="微软雅黑" panose="020B0503020204020204" pitchFamily="82" charset="2"/>
                        </a:rPr>
                        <a:t>小</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indent="127000" algn="ctr">
                        <a:lnSpc>
                          <a:spcPct val="100000"/>
                        </a:lnSpc>
                      </a:pPr>
                      <a:r>
                        <a:rPr lang="zh-CN" sz="1800" kern="100">
                          <a:effectLst/>
                          <a:latin typeface="微软雅黑" panose="020B0503020204020204" pitchFamily="82" charset="2"/>
                          <a:ea typeface="微软雅黑" panose="020B0503020204020204" pitchFamily="82" charset="2"/>
                        </a:rPr>
                        <a:t>高</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易失</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20000"/>
                        <a:lumOff val="80000"/>
                      </a:schemeClr>
                    </a:solidFill>
                  </a:tcPr>
                </a:tc>
              </a:tr>
              <a:tr h="506201">
                <a:tc>
                  <a:txBody>
                    <a:bodyPr/>
                    <a:lstStyle/>
                    <a:p>
                      <a:pPr indent="127000" algn="ctr">
                        <a:lnSpc>
                          <a:spcPct val="100000"/>
                        </a:lnSpc>
                      </a:pPr>
                      <a:r>
                        <a:rPr lang="en-US" sz="1800" kern="100" dirty="0">
                          <a:effectLst/>
                          <a:latin typeface="微软雅黑" panose="020B0503020204020204" pitchFamily="82" charset="2"/>
                          <a:ea typeface="微软雅黑" panose="020B0503020204020204" pitchFamily="82" charset="2"/>
                        </a:rPr>
                        <a:t>DRAM</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较快</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indent="127000" algn="ctr">
                        <a:lnSpc>
                          <a:spcPct val="100000"/>
                        </a:lnSpc>
                      </a:pPr>
                      <a:r>
                        <a:rPr lang="zh-CN" sz="1800" kern="100">
                          <a:effectLst/>
                          <a:latin typeface="微软雅黑" panose="020B0503020204020204" pitchFamily="82" charset="2"/>
                          <a:ea typeface="微软雅黑" panose="020B0503020204020204" pitchFamily="82" charset="2"/>
                        </a:rPr>
                        <a:t>中等</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indent="127000" algn="ctr">
                        <a:lnSpc>
                          <a:spcPct val="100000"/>
                        </a:lnSpc>
                      </a:pPr>
                      <a:r>
                        <a:rPr lang="zh-CN" sz="1800" kern="100">
                          <a:effectLst/>
                          <a:latin typeface="微软雅黑" panose="020B0503020204020204" pitchFamily="82" charset="2"/>
                          <a:ea typeface="微软雅黑" panose="020B0503020204020204" pitchFamily="82" charset="2"/>
                        </a:rPr>
                        <a:t>中等</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indent="127000" algn="ctr">
                        <a:lnSpc>
                          <a:spcPct val="100000"/>
                        </a:lnSpc>
                      </a:pPr>
                      <a:r>
                        <a:rPr lang="zh-CN" sz="1800" kern="100">
                          <a:effectLst/>
                          <a:latin typeface="微软雅黑" panose="020B0503020204020204" pitchFamily="82" charset="2"/>
                          <a:ea typeface="微软雅黑" panose="020B0503020204020204" pitchFamily="82" charset="2"/>
                        </a:rPr>
                        <a:t>易失</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r>
              <a:tr h="506201">
                <a:tc>
                  <a:txBody>
                    <a:bodyPr/>
                    <a:lstStyle/>
                    <a:p>
                      <a:pPr indent="127000" algn="ctr">
                        <a:lnSpc>
                          <a:spcPct val="100000"/>
                        </a:lnSpc>
                      </a:pPr>
                      <a:r>
                        <a:rPr lang="zh-CN" sz="1800" kern="100">
                          <a:effectLst/>
                          <a:latin typeface="微软雅黑" panose="020B0503020204020204" pitchFamily="82" charset="2"/>
                          <a:ea typeface="微软雅黑" panose="020B0503020204020204" pitchFamily="82" charset="2"/>
                        </a:rPr>
                        <a:t>非易失性主存</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中等</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中等</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较高</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非易失</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20000"/>
                        <a:lumOff val="80000"/>
                      </a:schemeClr>
                    </a:solidFill>
                  </a:tcPr>
                </a:tc>
              </a:tr>
              <a:tr h="506201">
                <a:tc>
                  <a:txBody>
                    <a:bodyPr/>
                    <a:lstStyle/>
                    <a:p>
                      <a:pPr indent="127000" algn="ctr">
                        <a:lnSpc>
                          <a:spcPct val="100000"/>
                        </a:lnSpc>
                      </a:pPr>
                      <a:r>
                        <a:rPr lang="zh-CN" sz="1800" kern="100">
                          <a:effectLst/>
                          <a:latin typeface="微软雅黑" panose="020B0503020204020204" pitchFamily="82" charset="2"/>
                          <a:ea typeface="微软雅黑" panose="020B0503020204020204" pitchFamily="82" charset="2"/>
                        </a:rPr>
                        <a:t>闪存</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c>
                  <a:txBody>
                    <a:bodyPr/>
                    <a:lstStyle/>
                    <a:p>
                      <a:pPr indent="127000" algn="ctr">
                        <a:lnSpc>
                          <a:spcPct val="100000"/>
                        </a:lnSpc>
                      </a:pPr>
                      <a:r>
                        <a:rPr lang="zh-CN" sz="1800" kern="100">
                          <a:effectLst/>
                          <a:latin typeface="微软雅黑" panose="020B0503020204020204" pitchFamily="82" charset="2"/>
                          <a:ea typeface="微软雅黑" panose="020B0503020204020204" pitchFamily="82" charset="2"/>
                        </a:rPr>
                        <a:t>较慢</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indent="127000" algn="ctr">
                        <a:lnSpc>
                          <a:spcPct val="100000"/>
                        </a:lnSpc>
                      </a:pPr>
                      <a:r>
                        <a:rPr lang="zh-CN" sz="1800" kern="100">
                          <a:effectLst/>
                          <a:latin typeface="微软雅黑" panose="020B0503020204020204" pitchFamily="82" charset="2"/>
                          <a:ea typeface="微软雅黑" panose="020B0503020204020204" pitchFamily="82" charset="2"/>
                        </a:rPr>
                        <a:t>较大</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indent="127000" algn="ctr">
                        <a:lnSpc>
                          <a:spcPct val="100000"/>
                        </a:lnSpc>
                      </a:pPr>
                      <a:r>
                        <a:rPr lang="zh-CN" sz="1800" kern="100">
                          <a:effectLst/>
                          <a:latin typeface="微软雅黑" panose="020B0503020204020204" pitchFamily="82" charset="2"/>
                          <a:ea typeface="微软雅黑" panose="020B0503020204020204" pitchFamily="82" charset="2"/>
                        </a:rPr>
                        <a:t>较低</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非易失</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r>
              <a:tr h="506201">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磁盘</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慢</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大</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低</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indent="127000" algn="ctr">
                        <a:lnSpc>
                          <a:spcPct val="100000"/>
                        </a:lnSpc>
                      </a:pPr>
                      <a:r>
                        <a:rPr lang="zh-CN" sz="1800" kern="100" dirty="0">
                          <a:effectLst/>
                          <a:latin typeface="微软雅黑" panose="020B0503020204020204" pitchFamily="82" charset="2"/>
                          <a:ea typeface="微软雅黑" panose="020B0503020204020204" pitchFamily="82" charset="2"/>
                        </a:rPr>
                        <a:t>非易失</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48820" marR="4882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20000"/>
                        <a:lumOff val="80000"/>
                      </a:schemeClr>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基础回顾-计算机系统的存储体系</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操作系统如何管理磁盘和数据</a:t>
            </a:r>
            <a:endParaRPr lang="en-US" altLang="zh-CN" dirty="0">
              <a:latin typeface="微软雅黑" panose="020B0503020204020204" pitchFamily="34" charset="-122"/>
              <a:ea typeface="微软雅黑" panose="020B0503020204020204" pitchFamily="34" charset="-122"/>
            </a:endParaRPr>
          </a:p>
          <a:p>
            <a:pPr marL="0" indent="0">
              <a:lnSpc>
                <a:spcPct val="130000"/>
              </a:lnSpc>
              <a:buNone/>
            </a:pPr>
            <a:r>
              <a:rPr lang="zh-CN" altLang="en-US" sz="2000" b="0" dirty="0">
                <a:latin typeface="微软雅黑" panose="020B0503020204020204" pitchFamily="34" charset="-122"/>
                <a:ea typeface="微软雅黑" panose="020B0503020204020204" pitchFamily="34" charset="-122"/>
              </a:rPr>
              <a:t>操作系统对数据的组织：</a:t>
            </a:r>
            <a:r>
              <a:rPr lang="en-US" altLang="zh-CN" sz="2000" b="0" dirty="0">
                <a:latin typeface="微软雅黑" panose="020B0503020204020204" pitchFamily="34" charset="-122"/>
                <a:ea typeface="微软雅黑" panose="020B0503020204020204" pitchFamily="34" charset="-122"/>
              </a:rPr>
              <a:t>FAT (</a:t>
            </a:r>
            <a:r>
              <a:rPr lang="zh-CN" altLang="en-US" sz="2000" b="0" dirty="0">
                <a:latin typeface="微软雅黑" panose="020B0503020204020204" pitchFamily="34" charset="-122"/>
                <a:ea typeface="微软雅黑" panose="020B0503020204020204" pitchFamily="34" charset="-122"/>
              </a:rPr>
              <a:t>文件分配表</a:t>
            </a:r>
            <a:r>
              <a:rPr lang="en-US" altLang="zh-CN" sz="2000" b="0" dirty="0">
                <a:latin typeface="微软雅黑" panose="020B0503020204020204" pitchFamily="34" charset="-122"/>
                <a:ea typeface="微软雅黑" panose="020B0503020204020204" pitchFamily="34" charset="-122"/>
              </a:rPr>
              <a:t>-File Allocation Table) -</a:t>
            </a:r>
            <a:r>
              <a:rPr lang="zh-CN" altLang="en-US" sz="2000" b="0" dirty="0">
                <a:latin typeface="微软雅黑" panose="020B0503020204020204" pitchFamily="34" charset="-122"/>
                <a:ea typeface="微软雅黑" panose="020B0503020204020204" pitchFamily="34" charset="-122"/>
              </a:rPr>
              <a:t>目录</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文件夹</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磁盘块</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簇</a:t>
            </a:r>
            <a:endParaRPr lang="en-US" altLang="zh-CN" sz="2000" b="0" dirty="0">
              <a:latin typeface="微软雅黑" panose="020B0503020204020204" pitchFamily="34" charset="-122"/>
              <a:ea typeface="微软雅黑" panose="020B0503020204020204" pitchFamily="34" charset="-122"/>
            </a:endParaRPr>
          </a:p>
        </p:txBody>
      </p:sp>
      <p:sp>
        <p:nvSpPr>
          <p:cNvPr id="3" name="AutoShape 10"/>
          <p:cNvSpPr/>
          <p:nvPr/>
        </p:nvSpPr>
        <p:spPr>
          <a:xfrm>
            <a:off x="2366690" y="4705566"/>
            <a:ext cx="1288476" cy="1552704"/>
          </a:xfrm>
          <a:prstGeom prst="can">
            <a:avLst>
              <a:gd name="adj" fmla="val 16454"/>
            </a:avLst>
          </a:prstGeom>
          <a:solidFill>
            <a:schemeClr val="bg1"/>
          </a:solidFill>
          <a:ln w="9525" cap="flat" cmpd="sng">
            <a:solidFill>
              <a:srgbClr val="000000"/>
            </a:solidFill>
            <a:prstDash val="solid"/>
            <a:round/>
            <a:headEnd type="none" w="med" len="med"/>
            <a:tailEnd type="non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4" name="Group 11"/>
          <p:cNvGrpSpPr/>
          <p:nvPr/>
        </p:nvGrpSpPr>
        <p:grpSpPr>
          <a:xfrm>
            <a:off x="2046014" y="3738779"/>
            <a:ext cx="1835150" cy="617537"/>
            <a:chOff x="1824" y="2352"/>
            <a:chExt cx="1392" cy="432"/>
          </a:xfrm>
        </p:grpSpPr>
        <p:sp>
          <p:nvSpPr>
            <p:cNvPr id="6" name="AutoShape 12"/>
            <p:cNvSpPr/>
            <p:nvPr/>
          </p:nvSpPr>
          <p:spPr>
            <a:xfrm>
              <a:off x="1824" y="2352"/>
              <a:ext cx="1392" cy="432"/>
            </a:xfrm>
            <a:prstGeom prst="cube">
              <a:avLst>
                <a:gd name="adj" fmla="val 25000"/>
              </a:avLst>
            </a:prstGeom>
            <a:solidFill>
              <a:srgbClr val="DDDDDD"/>
            </a:solidFill>
            <a:ln w="9525" cap="flat" cmpd="sng">
              <a:solidFill>
                <a:srgbClr val="000000"/>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8" name="Text Box 13"/>
            <p:cNvSpPr txBox="1"/>
            <p:nvPr/>
          </p:nvSpPr>
          <p:spPr>
            <a:xfrm>
              <a:off x="2038" y="2454"/>
              <a:ext cx="938" cy="278"/>
            </a:xfrm>
            <a:prstGeom prst="rect">
              <a:avLst/>
            </a:prstGeom>
            <a:noFill/>
            <a:ln w="9525">
              <a:noFill/>
            </a:ln>
          </p:spPr>
          <p:txBody>
            <a:bodyPr anchor="ctr">
              <a:spAutoFit/>
            </a:bodyPr>
            <a:lstStyle/>
            <a:p>
              <a:pPr algn="ctr"/>
              <a:r>
                <a:rPr lang="zh-CN" altLang="en-US" sz="2000" dirty="0">
                  <a:latin typeface="微软雅黑" panose="020B0503020204020204" pitchFamily="34" charset="-122"/>
                  <a:ea typeface="微软雅黑" panose="020B0503020204020204" pitchFamily="34" charset="-122"/>
                </a:rPr>
                <a:t>操作系统</a:t>
              </a:r>
              <a:endParaRPr lang="zh-CN" altLang="en-US" sz="2000" dirty="0">
                <a:latin typeface="微软雅黑" panose="020B0503020204020204" pitchFamily="34" charset="-122"/>
                <a:ea typeface="微软雅黑" panose="020B0503020204020204" pitchFamily="34" charset="-122"/>
              </a:endParaRPr>
            </a:p>
          </p:txBody>
        </p:sp>
      </p:grpSp>
      <p:sp>
        <p:nvSpPr>
          <p:cNvPr id="9" name="Line 14"/>
          <p:cNvSpPr/>
          <p:nvPr/>
        </p:nvSpPr>
        <p:spPr>
          <a:xfrm>
            <a:off x="3009626" y="4349966"/>
            <a:ext cx="0" cy="527050"/>
          </a:xfrm>
          <a:prstGeom prst="line">
            <a:avLst/>
          </a:prstGeom>
          <a:ln w="76200" cap="flat" cmpd="sng">
            <a:solidFill>
              <a:srgbClr val="808080"/>
            </a:solidFill>
            <a:prstDash val="solid"/>
            <a:round/>
            <a:headEnd type="triangle" w="med" len="med"/>
            <a:tailEnd type="triangle" w="med" len="med"/>
          </a:ln>
        </p:spPr>
      </p:sp>
      <p:graphicFrame>
        <p:nvGraphicFramePr>
          <p:cNvPr id="11" name="Object 15"/>
          <p:cNvGraphicFramePr/>
          <p:nvPr/>
        </p:nvGraphicFramePr>
        <p:xfrm>
          <a:off x="2260326" y="2575141"/>
          <a:ext cx="1558925" cy="849313"/>
        </p:xfrm>
        <a:graphic>
          <a:graphicData uri="http://schemas.openxmlformats.org/presentationml/2006/ole">
            <mc:AlternateContent xmlns:mc="http://schemas.openxmlformats.org/markup-compatibility/2006">
              <mc:Choice xmlns:v="urn:schemas-microsoft-com:vml" Requires="v">
                <p:oleObj spid="_x0000_s2" name="" r:id="rId1" imgW="1036320" imgH="504825" progId="MS_ClipArt_Gallery.2">
                  <p:embed/>
                </p:oleObj>
              </mc:Choice>
              <mc:Fallback>
                <p:oleObj name="" r:id="rId1" imgW="1036320" imgH="504825" progId="MS_ClipArt_Gallery.2">
                  <p:embed/>
                  <p:pic>
                    <p:nvPicPr>
                      <p:cNvPr id="0" name="Object 15"/>
                      <p:cNvPicPr/>
                      <p:nvPr/>
                    </p:nvPicPr>
                    <p:blipFill>
                      <a:blip r:embed="rId2"/>
                      <a:stretch>
                        <a:fillRect/>
                      </a:stretch>
                    </p:blipFill>
                    <p:spPr>
                      <a:xfrm>
                        <a:off x="2260326" y="2575141"/>
                        <a:ext cx="1558925" cy="849313"/>
                      </a:xfrm>
                      <a:prstGeom prst="rect">
                        <a:avLst/>
                      </a:prstGeom>
                      <a:noFill/>
                      <a:ln w="38100">
                        <a:noFill/>
                        <a:miter/>
                      </a:ln>
                    </p:spPr>
                  </p:pic>
                </p:oleObj>
              </mc:Fallback>
            </mc:AlternateContent>
          </a:graphicData>
        </a:graphic>
      </p:graphicFrame>
      <p:sp>
        <p:nvSpPr>
          <p:cNvPr id="12" name="Line 16"/>
          <p:cNvSpPr/>
          <p:nvPr/>
        </p:nvSpPr>
        <p:spPr>
          <a:xfrm>
            <a:off x="3009626" y="3273641"/>
            <a:ext cx="0" cy="550863"/>
          </a:xfrm>
          <a:prstGeom prst="line">
            <a:avLst/>
          </a:prstGeom>
          <a:ln w="76200" cap="flat" cmpd="sng">
            <a:solidFill>
              <a:srgbClr val="808080"/>
            </a:solidFill>
            <a:prstDash val="solid"/>
            <a:round/>
            <a:headEnd type="triangle" w="med" len="med"/>
            <a:tailEnd type="triangle" w="med" len="med"/>
          </a:ln>
        </p:spPr>
      </p:sp>
      <p:sp>
        <p:nvSpPr>
          <p:cNvPr id="13" name="Line 17"/>
          <p:cNvSpPr/>
          <p:nvPr/>
        </p:nvSpPr>
        <p:spPr>
          <a:xfrm>
            <a:off x="1899964" y="2978366"/>
            <a:ext cx="741362" cy="0"/>
          </a:xfrm>
          <a:prstGeom prst="line">
            <a:avLst/>
          </a:prstGeom>
          <a:ln w="57150" cap="flat" cmpd="sng">
            <a:solidFill>
              <a:srgbClr val="3333CC"/>
            </a:solidFill>
            <a:prstDash val="solid"/>
            <a:round/>
            <a:headEnd type="triangle" w="med" len="med"/>
            <a:tailEnd type="triangle" w="med" len="med"/>
          </a:ln>
        </p:spPr>
      </p:sp>
      <p:sp>
        <p:nvSpPr>
          <p:cNvPr id="14" name="Text Box 18"/>
          <p:cNvSpPr txBox="1"/>
          <p:nvPr/>
        </p:nvSpPr>
        <p:spPr>
          <a:xfrm>
            <a:off x="1431651" y="2816441"/>
            <a:ext cx="539750" cy="304800"/>
          </a:xfrm>
          <a:prstGeom prst="rect">
            <a:avLst/>
          </a:prstGeom>
          <a:noFill/>
          <a:ln w="9525">
            <a:noFill/>
          </a:ln>
        </p:spPr>
        <p:txBody>
          <a:bodyPr wrap="none" anchor="ctr">
            <a:spAutoFit/>
          </a:bodyPr>
          <a:lstStyle/>
          <a:p>
            <a:pPr algn="ctr"/>
            <a:r>
              <a:rPr lang="zh-CN" altLang="en-US" sz="1400" dirty="0">
                <a:latin typeface="微软雅黑" panose="020B0503020204020204" pitchFamily="34" charset="-122"/>
                <a:ea typeface="微软雅黑" panose="020B0503020204020204" pitchFamily="34" charset="-122"/>
              </a:rPr>
              <a:t>用户</a:t>
            </a:r>
            <a:endParaRPr lang="zh-CN" altLang="en-US" sz="1400" dirty="0">
              <a:latin typeface="微软雅黑" panose="020B0503020204020204" pitchFamily="34" charset="-122"/>
              <a:ea typeface="微软雅黑" panose="020B0503020204020204" pitchFamily="34" charset="-122"/>
            </a:endParaRPr>
          </a:p>
        </p:txBody>
      </p:sp>
      <p:sp>
        <p:nvSpPr>
          <p:cNvPr id="15" name="Text Box 19"/>
          <p:cNvSpPr txBox="1"/>
          <p:nvPr/>
        </p:nvSpPr>
        <p:spPr>
          <a:xfrm>
            <a:off x="2568301" y="2781516"/>
            <a:ext cx="979488" cy="304800"/>
          </a:xfrm>
          <a:prstGeom prst="rect">
            <a:avLst/>
          </a:prstGeom>
          <a:noFill/>
          <a:ln w="9525">
            <a:noFill/>
          </a:ln>
        </p:spPr>
        <p:txBody>
          <a:bodyPr wrap="none" anchor="ctr">
            <a:spAutoFit/>
          </a:bodyPr>
          <a:lstStyle/>
          <a:p>
            <a:pPr algn="ctr"/>
            <a:r>
              <a:rPr lang="zh-CN" altLang="en-US" sz="1400" dirty="0">
                <a:latin typeface="微软雅黑" panose="020B0503020204020204" pitchFamily="34" charset="-122"/>
                <a:ea typeface="微软雅黑" panose="020B0503020204020204" pitchFamily="34" charset="-122"/>
              </a:rPr>
              <a:t>信息</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程序</a:t>
            </a:r>
            <a:endParaRPr lang="zh-CN" altLang="en-US" sz="1400" dirty="0">
              <a:latin typeface="微软雅黑" panose="020B0503020204020204" pitchFamily="34" charset="-122"/>
              <a:ea typeface="微软雅黑" panose="020B0503020204020204" pitchFamily="34" charset="-122"/>
            </a:endParaRPr>
          </a:p>
        </p:txBody>
      </p:sp>
      <p:sp>
        <p:nvSpPr>
          <p:cNvPr id="16" name="Text Box 20"/>
          <p:cNvSpPr txBox="1"/>
          <p:nvPr/>
        </p:nvSpPr>
        <p:spPr>
          <a:xfrm>
            <a:off x="3052489" y="2394166"/>
            <a:ext cx="673100" cy="304800"/>
          </a:xfrm>
          <a:prstGeom prst="rect">
            <a:avLst/>
          </a:prstGeom>
          <a:noFill/>
          <a:ln w="9525">
            <a:noFill/>
          </a:ln>
        </p:spPr>
        <p:txBody>
          <a:bodyPr wrap="none" anchor="t">
            <a:spAutoFit/>
          </a:bodyPr>
          <a:lstStyle/>
          <a:p>
            <a:r>
              <a:rPr lang="zh-CN" altLang="en-US" sz="1400" dirty="0">
                <a:latin typeface="微软雅黑" panose="020B0503020204020204" pitchFamily="34" charset="-122"/>
                <a:ea typeface="微软雅黑" panose="020B0503020204020204" pitchFamily="34" charset="-122"/>
              </a:rPr>
              <a:t>文件</a:t>
            </a:r>
            <a:r>
              <a:rPr lang="en-US" altLang="zh-CN" sz="1400" dirty="0">
                <a:latin typeface="微软雅黑" panose="020B0503020204020204" pitchFamily="34" charset="-122"/>
                <a:ea typeface="微软雅黑" panose="020B0503020204020204" pitchFamily="34" charset="-122"/>
              </a:rPr>
              <a:t>A</a:t>
            </a:r>
            <a:endParaRPr lang="en-US" altLang="zh-CN" sz="1400" dirty="0">
              <a:latin typeface="微软雅黑" panose="020B0503020204020204" pitchFamily="34" charset="-122"/>
              <a:ea typeface="微软雅黑" panose="020B0503020204020204" pitchFamily="34" charset="-122"/>
            </a:endParaRPr>
          </a:p>
        </p:txBody>
      </p:sp>
      <p:grpSp>
        <p:nvGrpSpPr>
          <p:cNvPr id="17" name="Group 21"/>
          <p:cNvGrpSpPr/>
          <p:nvPr/>
        </p:nvGrpSpPr>
        <p:grpSpPr>
          <a:xfrm>
            <a:off x="2464607" y="4920452"/>
            <a:ext cx="1068235" cy="503014"/>
            <a:chOff x="1111" y="799"/>
            <a:chExt cx="635" cy="363"/>
          </a:xfrm>
        </p:grpSpPr>
        <p:graphicFrame>
          <p:nvGraphicFramePr>
            <p:cNvPr id="18" name="Object 22"/>
            <p:cNvGraphicFramePr/>
            <p:nvPr/>
          </p:nvGraphicFramePr>
          <p:xfrm>
            <a:off x="1111" y="799"/>
            <a:ext cx="635" cy="363"/>
          </p:xfrm>
          <a:graphic>
            <a:graphicData uri="http://schemas.openxmlformats.org/presentationml/2006/ole">
              <mc:AlternateContent xmlns:mc="http://schemas.openxmlformats.org/markup-compatibility/2006">
                <mc:Choice xmlns:v="urn:schemas-microsoft-com:vml" Requires="v">
                  <p:oleObj spid="_x0000_s10" name="" r:id="rId3" imgW="750570" imgH="534670" progId="MS_ClipArt_Gallery.2">
                    <p:embed/>
                  </p:oleObj>
                </mc:Choice>
                <mc:Fallback>
                  <p:oleObj name="" r:id="rId3" imgW="750570" imgH="534670" progId="MS_ClipArt_Gallery.2">
                    <p:embed/>
                    <p:pic>
                      <p:nvPicPr>
                        <p:cNvPr id="0" name="Object 22"/>
                        <p:cNvPicPr/>
                        <p:nvPr/>
                      </p:nvPicPr>
                      <p:blipFill>
                        <a:blip r:embed="rId4"/>
                        <a:stretch>
                          <a:fillRect/>
                        </a:stretch>
                      </p:blipFill>
                      <p:spPr>
                        <a:xfrm>
                          <a:off x="1111" y="799"/>
                          <a:ext cx="635" cy="363"/>
                        </a:xfrm>
                        <a:prstGeom prst="rect">
                          <a:avLst/>
                        </a:prstGeom>
                        <a:noFill/>
                        <a:ln w="38100">
                          <a:noFill/>
                          <a:miter/>
                        </a:ln>
                      </p:spPr>
                    </p:pic>
                  </p:oleObj>
                </mc:Fallback>
              </mc:AlternateContent>
            </a:graphicData>
          </a:graphic>
        </p:graphicFrame>
        <p:sp>
          <p:nvSpPr>
            <p:cNvPr id="19" name="Text Box 23"/>
            <p:cNvSpPr txBox="1"/>
            <p:nvPr/>
          </p:nvSpPr>
          <p:spPr>
            <a:xfrm>
              <a:off x="1218" y="836"/>
              <a:ext cx="424" cy="192"/>
            </a:xfrm>
            <a:prstGeom prst="rect">
              <a:avLst/>
            </a:prstGeom>
            <a:noFill/>
            <a:ln w="9525">
              <a:noFill/>
            </a:ln>
          </p:spPr>
          <p:txBody>
            <a:bodyPr wrap="none" anchor="t">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文件</a:t>
              </a:r>
              <a:r>
                <a:rPr lang="en-US" altLang="zh-CN" sz="1400" dirty="0">
                  <a:solidFill>
                    <a:schemeClr val="bg1"/>
                  </a:solidFill>
                  <a:latin typeface="微软雅黑" panose="020B0503020204020204" pitchFamily="34" charset="-122"/>
                  <a:ea typeface="微软雅黑" panose="020B0503020204020204" pitchFamily="34" charset="-122"/>
                </a:rPr>
                <a:t>A</a:t>
              </a:r>
              <a:endParaRPr lang="en-US" altLang="zh-CN" sz="1400" dirty="0">
                <a:solidFill>
                  <a:schemeClr val="bg1"/>
                </a:solidFill>
                <a:latin typeface="微软雅黑" panose="020B0503020204020204" pitchFamily="34" charset="-122"/>
                <a:ea typeface="微软雅黑" panose="020B0503020204020204" pitchFamily="34" charset="-122"/>
              </a:endParaRPr>
            </a:p>
          </p:txBody>
        </p:sp>
      </p:grpSp>
      <p:grpSp>
        <p:nvGrpSpPr>
          <p:cNvPr id="20" name="Group 24"/>
          <p:cNvGrpSpPr/>
          <p:nvPr/>
        </p:nvGrpSpPr>
        <p:grpSpPr>
          <a:xfrm>
            <a:off x="2464607" y="5280815"/>
            <a:ext cx="1068235" cy="503013"/>
            <a:chOff x="1111" y="799"/>
            <a:chExt cx="635" cy="363"/>
          </a:xfrm>
        </p:grpSpPr>
        <p:graphicFrame>
          <p:nvGraphicFramePr>
            <p:cNvPr id="21" name="Object 25"/>
            <p:cNvGraphicFramePr/>
            <p:nvPr/>
          </p:nvGraphicFramePr>
          <p:xfrm>
            <a:off x="1111" y="799"/>
            <a:ext cx="635" cy="363"/>
          </p:xfrm>
          <a:graphic>
            <a:graphicData uri="http://schemas.openxmlformats.org/presentationml/2006/ole">
              <mc:AlternateContent xmlns:mc="http://schemas.openxmlformats.org/markup-compatibility/2006">
                <mc:Choice xmlns:v="urn:schemas-microsoft-com:vml" Requires="v">
                  <p:oleObj spid="_x0000_s22" name="" r:id="rId5" imgW="750570" imgH="534670" progId="MS_ClipArt_Gallery.2">
                    <p:embed/>
                  </p:oleObj>
                </mc:Choice>
                <mc:Fallback>
                  <p:oleObj name="" r:id="rId5" imgW="750570" imgH="534670" progId="MS_ClipArt_Gallery.2">
                    <p:embed/>
                    <p:pic>
                      <p:nvPicPr>
                        <p:cNvPr id="0" name="Object 25"/>
                        <p:cNvPicPr/>
                        <p:nvPr/>
                      </p:nvPicPr>
                      <p:blipFill>
                        <a:blip r:embed="rId4"/>
                        <a:stretch>
                          <a:fillRect/>
                        </a:stretch>
                      </p:blipFill>
                      <p:spPr>
                        <a:xfrm>
                          <a:off x="1111" y="799"/>
                          <a:ext cx="635" cy="363"/>
                        </a:xfrm>
                        <a:prstGeom prst="rect">
                          <a:avLst/>
                        </a:prstGeom>
                        <a:noFill/>
                        <a:ln w="38100">
                          <a:noFill/>
                          <a:miter/>
                        </a:ln>
                      </p:spPr>
                    </p:pic>
                  </p:oleObj>
                </mc:Fallback>
              </mc:AlternateContent>
            </a:graphicData>
          </a:graphic>
        </p:graphicFrame>
        <p:sp>
          <p:nvSpPr>
            <p:cNvPr id="23" name="Text Box 26"/>
            <p:cNvSpPr txBox="1"/>
            <p:nvPr/>
          </p:nvSpPr>
          <p:spPr>
            <a:xfrm>
              <a:off x="1218" y="836"/>
              <a:ext cx="417" cy="192"/>
            </a:xfrm>
            <a:prstGeom prst="rect">
              <a:avLst/>
            </a:prstGeom>
            <a:noFill/>
            <a:ln w="9525">
              <a:noFill/>
            </a:ln>
          </p:spPr>
          <p:txBody>
            <a:bodyPr wrap="none" anchor="t">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文件</a:t>
              </a:r>
              <a:r>
                <a:rPr lang="en-US" altLang="zh-CN" sz="1400" dirty="0">
                  <a:solidFill>
                    <a:schemeClr val="bg1"/>
                  </a:solidFill>
                  <a:latin typeface="微软雅黑" panose="020B0503020204020204" pitchFamily="34" charset="-122"/>
                  <a:ea typeface="微软雅黑" panose="020B0503020204020204" pitchFamily="34" charset="-122"/>
                </a:rPr>
                <a:t>B</a:t>
              </a:r>
              <a:endParaRPr lang="en-US" altLang="zh-CN" sz="1400" dirty="0">
                <a:solidFill>
                  <a:schemeClr val="bg1"/>
                </a:solidFill>
                <a:latin typeface="微软雅黑" panose="020B0503020204020204" pitchFamily="34" charset="-122"/>
                <a:ea typeface="微软雅黑" panose="020B0503020204020204" pitchFamily="34" charset="-122"/>
              </a:endParaRPr>
            </a:p>
          </p:txBody>
        </p:sp>
      </p:grpSp>
      <p:grpSp>
        <p:nvGrpSpPr>
          <p:cNvPr id="24" name="Group 27"/>
          <p:cNvGrpSpPr/>
          <p:nvPr/>
        </p:nvGrpSpPr>
        <p:grpSpPr>
          <a:xfrm>
            <a:off x="2464607" y="5712615"/>
            <a:ext cx="1068235" cy="503013"/>
            <a:chOff x="1111" y="799"/>
            <a:chExt cx="635" cy="363"/>
          </a:xfrm>
        </p:grpSpPr>
        <p:graphicFrame>
          <p:nvGraphicFramePr>
            <p:cNvPr id="25" name="Object 28"/>
            <p:cNvGraphicFramePr/>
            <p:nvPr/>
          </p:nvGraphicFramePr>
          <p:xfrm>
            <a:off x="1111" y="799"/>
            <a:ext cx="635" cy="363"/>
          </p:xfrm>
          <a:graphic>
            <a:graphicData uri="http://schemas.openxmlformats.org/presentationml/2006/ole">
              <mc:AlternateContent xmlns:mc="http://schemas.openxmlformats.org/markup-compatibility/2006">
                <mc:Choice xmlns:v="urn:schemas-microsoft-com:vml" Requires="v">
                  <p:oleObj spid="_x0000_s26" name="" r:id="rId6" imgW="750570" imgH="534670" progId="MS_ClipArt_Gallery.2">
                    <p:embed/>
                  </p:oleObj>
                </mc:Choice>
                <mc:Fallback>
                  <p:oleObj name="" r:id="rId6" imgW="750570" imgH="534670" progId="MS_ClipArt_Gallery.2">
                    <p:embed/>
                    <p:pic>
                      <p:nvPicPr>
                        <p:cNvPr id="0" name="Object 28"/>
                        <p:cNvPicPr/>
                        <p:nvPr/>
                      </p:nvPicPr>
                      <p:blipFill>
                        <a:blip r:embed="rId4"/>
                        <a:stretch>
                          <a:fillRect/>
                        </a:stretch>
                      </p:blipFill>
                      <p:spPr>
                        <a:xfrm>
                          <a:off x="1111" y="799"/>
                          <a:ext cx="635" cy="363"/>
                        </a:xfrm>
                        <a:prstGeom prst="rect">
                          <a:avLst/>
                        </a:prstGeom>
                        <a:noFill/>
                        <a:ln w="38100">
                          <a:noFill/>
                          <a:miter/>
                        </a:ln>
                      </p:spPr>
                    </p:pic>
                  </p:oleObj>
                </mc:Fallback>
              </mc:AlternateContent>
            </a:graphicData>
          </a:graphic>
        </p:graphicFrame>
        <p:sp>
          <p:nvSpPr>
            <p:cNvPr id="27" name="Text Box 29"/>
            <p:cNvSpPr txBox="1"/>
            <p:nvPr/>
          </p:nvSpPr>
          <p:spPr>
            <a:xfrm>
              <a:off x="1218" y="836"/>
              <a:ext cx="415" cy="192"/>
            </a:xfrm>
            <a:prstGeom prst="rect">
              <a:avLst/>
            </a:prstGeom>
            <a:noFill/>
            <a:ln w="9525">
              <a:noFill/>
            </a:ln>
          </p:spPr>
          <p:txBody>
            <a:bodyPr wrap="none" anchor="t">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文件</a:t>
              </a:r>
              <a:r>
                <a:rPr lang="en-US" altLang="zh-CN" sz="1400" dirty="0">
                  <a:solidFill>
                    <a:schemeClr val="bg1"/>
                  </a:solidFill>
                  <a:latin typeface="微软雅黑" panose="020B0503020204020204" pitchFamily="34" charset="-122"/>
                  <a:ea typeface="微软雅黑" panose="020B0503020204020204" pitchFamily="34" charset="-122"/>
                </a:rPr>
                <a:t>C</a:t>
              </a:r>
              <a:endParaRPr lang="en-US" altLang="zh-CN" sz="1400" dirty="0">
                <a:solidFill>
                  <a:schemeClr val="bg1"/>
                </a:solidFill>
                <a:latin typeface="微软雅黑" panose="020B0503020204020204" pitchFamily="34" charset="-122"/>
                <a:ea typeface="微软雅黑" panose="020B0503020204020204" pitchFamily="34" charset="-122"/>
              </a:endParaRPr>
            </a:p>
          </p:txBody>
        </p:sp>
      </p:grpSp>
      <p:sp>
        <p:nvSpPr>
          <p:cNvPr id="28" name="Text Box 30"/>
          <p:cNvSpPr txBox="1"/>
          <p:nvPr/>
        </p:nvSpPr>
        <p:spPr>
          <a:xfrm>
            <a:off x="1847439" y="6256660"/>
            <a:ext cx="2324374" cy="369332"/>
          </a:xfrm>
          <a:prstGeom prst="rect">
            <a:avLst/>
          </a:prstGeom>
          <a:noFill/>
          <a:ln w="9525">
            <a:noFill/>
          </a:ln>
        </p:spPr>
        <p:txBody>
          <a:bodyPr wrap="square" anchor="t">
            <a:spAutoFit/>
          </a:bodyPr>
          <a:lstStyle/>
          <a:p>
            <a:pPr algn="ctr"/>
            <a:r>
              <a:rPr lang="zh-CN" altLang="en-US" dirty="0">
                <a:latin typeface="微软雅黑" panose="020B0503020204020204" pitchFamily="34" charset="-122"/>
                <a:ea typeface="微软雅黑" panose="020B0503020204020204" pitchFamily="34" charset="-122"/>
              </a:rPr>
              <a:t>外存</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硬盘</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软盘</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光盘</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pic>
        <p:nvPicPr>
          <p:cNvPr id="29" name="Picture 31"/>
          <p:cNvPicPr>
            <a:picLocks noChangeAspect="1"/>
          </p:cNvPicPr>
          <p:nvPr/>
        </p:nvPicPr>
        <p:blipFill>
          <a:blip r:embed="rId7">
            <a:clrChange>
              <a:clrFrom>
                <a:srgbClr val="FFFFFF"/>
              </a:clrFrom>
              <a:clrTo>
                <a:srgbClr val="FFFFFF">
                  <a:alpha val="0"/>
                </a:srgbClr>
              </a:clrTo>
            </a:clrChange>
          </a:blip>
          <a:stretch>
            <a:fillRect/>
          </a:stretch>
        </p:blipFill>
        <p:spPr>
          <a:xfrm>
            <a:off x="4496454" y="2475488"/>
            <a:ext cx="5313703" cy="4150504"/>
          </a:xfrm>
          <a:prstGeom prst="rect">
            <a:avLst/>
          </a:prstGeom>
          <a:noFill/>
          <a:ln w="9525" cap="flat" cmpd="sng">
            <a:solidFill>
              <a:schemeClr val="bg2"/>
            </a:solidFill>
            <a:prstDash val="solid"/>
            <a:miter/>
            <a:headEnd type="none" w="med" len="med"/>
            <a:tailEnd type="none" w="med" len="me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基础回顾-计算机系统的存储体系</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(5) </a:t>
            </a:r>
            <a:r>
              <a:rPr lang="zh-CN" altLang="en-US" dirty="0">
                <a:latin typeface="微软雅黑" panose="020B0503020204020204" pitchFamily="34" charset="-122"/>
                <a:ea typeface="微软雅黑" panose="020B0503020204020204" pitchFamily="34" charset="-122"/>
              </a:rPr>
              <a:t>操作系统对内存</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缓冲区的管理</a:t>
            </a:r>
            <a:endParaRPr lang="en-US" altLang="zh-CN" dirty="0">
              <a:latin typeface="微软雅黑" panose="020B0503020204020204" pitchFamily="34" charset="-122"/>
              <a:ea typeface="微软雅黑" panose="020B0503020204020204" pitchFamily="34" charset="-122"/>
            </a:endParaRPr>
          </a:p>
          <a:p>
            <a:pPr>
              <a:lnSpc>
                <a:spcPct val="130000"/>
              </a:lnSpc>
              <a:buFont typeface="Wingdings" panose="05000000000000000000" pitchFamily="2" charset="2"/>
              <a:buNone/>
            </a:pPr>
            <a:r>
              <a:rPr lang="zh-CN" altLang="en-US" sz="2400" b="0" dirty="0">
                <a:latin typeface="微软雅黑" panose="020B0503020204020204" pitchFamily="34" charset="-122"/>
                <a:ea typeface="微软雅黑" panose="020B0503020204020204" pitchFamily="34" charset="-122"/>
              </a:rPr>
              <a:t>内存管理 </a:t>
            </a:r>
            <a:endParaRPr lang="zh-CN" altLang="en-US" sz="2400" b="0" dirty="0">
              <a:latin typeface="微软雅黑" panose="020B0503020204020204" pitchFamily="34" charset="-122"/>
              <a:ea typeface="微软雅黑" panose="020B0503020204020204" pitchFamily="34" charset="-122"/>
            </a:endParaRPr>
          </a:p>
          <a:p>
            <a:pPr>
              <a:lnSpc>
                <a:spcPct val="130000"/>
              </a:lnSpc>
            </a:pPr>
            <a:r>
              <a:rPr lang="zh-CN" altLang="en-US" sz="2000" b="0" dirty="0">
                <a:latin typeface="微软雅黑" panose="020B0503020204020204" pitchFamily="34" charset="-122"/>
                <a:ea typeface="微软雅黑" panose="020B0503020204020204" pitchFamily="34" charset="-122"/>
              </a:rPr>
              <a:t>一条记录的地址</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存储单元的地址</a:t>
            </a:r>
            <a:r>
              <a:rPr lang="en-US" altLang="zh-CN" sz="2000" b="0" dirty="0">
                <a:latin typeface="微软雅黑" panose="020B0503020204020204" pitchFamily="34" charset="-122"/>
                <a:ea typeface="微软雅黑" panose="020B0503020204020204" pitchFamily="34" charset="-122"/>
              </a:rPr>
              <a:t>=</a:t>
            </a:r>
            <a:endParaRPr lang="en-US" altLang="zh-CN" sz="2000" b="0" dirty="0">
              <a:latin typeface="微软雅黑" panose="020B0503020204020204" pitchFamily="34" charset="-122"/>
              <a:ea typeface="微软雅黑" panose="020B0503020204020204" pitchFamily="34" charset="-122"/>
            </a:endParaRPr>
          </a:p>
          <a:p>
            <a:pPr marL="0" indent="0">
              <a:lnSpc>
                <a:spcPct val="130000"/>
              </a:lnSpc>
              <a:buNone/>
            </a:pPr>
            <a:r>
              <a:rPr lang="zh-CN" altLang="en-US" sz="2000" b="0" dirty="0">
                <a:latin typeface="微软雅黑" panose="020B0503020204020204" pitchFamily="34" charset="-122"/>
                <a:ea typeface="微软雅黑" panose="020B0503020204020204" pitchFamily="34" charset="-122"/>
              </a:rPr>
              <a:t>内存地址</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页面：页内偏移量</a:t>
            </a:r>
            <a:endParaRPr lang="zh-CN" altLang="en-US" sz="2000" b="0" dirty="0">
              <a:latin typeface="微软雅黑" panose="020B0503020204020204" pitchFamily="34" charset="-122"/>
              <a:ea typeface="微软雅黑" panose="020B0503020204020204" pitchFamily="34" charset="-122"/>
            </a:endParaRPr>
          </a:p>
          <a:p>
            <a:pPr>
              <a:lnSpc>
                <a:spcPct val="130000"/>
              </a:lnSpc>
            </a:pPr>
            <a:r>
              <a:rPr lang="zh-CN" altLang="en-US" sz="2000" b="0" dirty="0">
                <a:latin typeface="微软雅黑" panose="020B0503020204020204" pitchFamily="34" charset="-122"/>
                <a:ea typeface="微软雅黑" panose="020B0503020204020204" pitchFamily="34" charset="-122"/>
              </a:rPr>
              <a:t>页面</a:t>
            </a:r>
            <a:r>
              <a:rPr lang="en-US" altLang="zh-CN" sz="2000" b="0" dirty="0">
                <a:latin typeface="微软雅黑" panose="020B0503020204020204" pitchFamily="34" charset="-122"/>
                <a:ea typeface="微软雅黑" panose="020B0503020204020204" pitchFamily="34" charset="-122"/>
              </a:rPr>
              <a:t>(Page) = </a:t>
            </a:r>
            <a:r>
              <a:rPr lang="zh-CN" altLang="en-US" sz="2000" b="0" dirty="0">
                <a:latin typeface="微软雅黑" panose="020B0503020204020204" pitchFamily="34" charset="-122"/>
                <a:ea typeface="微软雅黑" panose="020B0503020204020204" pitchFamily="34" charset="-122"/>
              </a:rPr>
              <a:t>块</a:t>
            </a:r>
            <a:r>
              <a:rPr lang="en-US" altLang="zh-CN" sz="2000" b="0" dirty="0">
                <a:latin typeface="微软雅黑" panose="020B0503020204020204" pitchFamily="34" charset="-122"/>
                <a:ea typeface="微软雅黑" panose="020B0503020204020204" pitchFamily="34" charset="-122"/>
              </a:rPr>
              <a:t>(Block) </a:t>
            </a:r>
            <a:endParaRPr lang="en-US" altLang="zh-CN" sz="2000" b="0" dirty="0">
              <a:latin typeface="微软雅黑" panose="020B0503020204020204" pitchFamily="34" charset="-122"/>
              <a:ea typeface="微软雅黑" panose="020B0503020204020204" pitchFamily="34" charset="-122"/>
            </a:endParaRPr>
          </a:p>
          <a:p>
            <a:pPr>
              <a:lnSpc>
                <a:spcPct val="130000"/>
              </a:lnSpc>
            </a:pPr>
            <a:r>
              <a:rPr lang="zh-CN" altLang="en-US" sz="2000" b="0" dirty="0">
                <a:latin typeface="微软雅黑" panose="020B0503020204020204" pitchFamily="34" charset="-122"/>
                <a:ea typeface="微软雅黑" panose="020B0503020204020204" pitchFamily="34" charset="-122"/>
              </a:rPr>
              <a:t>内存页面的分配</a:t>
            </a:r>
            <a:endParaRPr lang="zh-CN" altLang="en-US" sz="2000" b="0" dirty="0">
              <a:latin typeface="微软雅黑" panose="020B0503020204020204" pitchFamily="34" charset="-122"/>
              <a:ea typeface="微软雅黑" panose="020B0503020204020204" pitchFamily="34" charset="-122"/>
            </a:endParaRPr>
          </a:p>
          <a:p>
            <a:pPr>
              <a:lnSpc>
                <a:spcPct val="130000"/>
              </a:lnSpc>
            </a:pPr>
            <a:r>
              <a:rPr lang="zh-CN" altLang="en-US" sz="2000" b="0" dirty="0">
                <a:latin typeface="微软雅黑" panose="020B0503020204020204" pitchFamily="34" charset="-122"/>
                <a:ea typeface="微软雅黑" panose="020B0503020204020204" pitchFamily="34" charset="-122"/>
              </a:rPr>
              <a:t>内存页面的置换 </a:t>
            </a:r>
            <a:endParaRPr lang="zh-CN" altLang="en-US" sz="2000" b="0" dirty="0">
              <a:latin typeface="微软雅黑" panose="020B0503020204020204" pitchFamily="34" charset="-122"/>
              <a:ea typeface="微软雅黑" panose="020B0503020204020204" pitchFamily="34" charset="-122"/>
            </a:endParaRPr>
          </a:p>
          <a:p>
            <a:pPr marL="0" indent="0">
              <a:lnSpc>
                <a:spcPct val="130000"/>
              </a:lnSpc>
              <a:buNone/>
            </a:pPr>
            <a:endParaRPr lang="en-US" altLang="zh-CN" sz="2000" dirty="0">
              <a:latin typeface="微软雅黑" panose="020B0503020204020204" pitchFamily="34" charset="-122"/>
              <a:ea typeface="微软雅黑" panose="020B0503020204020204" pitchFamily="34" charset="-122"/>
            </a:endParaRPr>
          </a:p>
        </p:txBody>
      </p:sp>
      <p:grpSp>
        <p:nvGrpSpPr>
          <p:cNvPr id="2" name="Group 5"/>
          <p:cNvGrpSpPr/>
          <p:nvPr/>
        </p:nvGrpSpPr>
        <p:grpSpPr>
          <a:xfrm>
            <a:off x="6213187" y="3103563"/>
            <a:ext cx="4230687" cy="1720850"/>
            <a:chOff x="1598" y="1518"/>
            <a:chExt cx="2665" cy="1084"/>
          </a:xfrm>
        </p:grpSpPr>
        <p:sp>
          <p:nvSpPr>
            <p:cNvPr id="10" name="Rectangle 6"/>
            <p:cNvSpPr/>
            <p:nvPr/>
          </p:nvSpPr>
          <p:spPr>
            <a:xfrm>
              <a:off x="1606" y="1526"/>
              <a:ext cx="2649" cy="1068"/>
            </a:xfrm>
            <a:prstGeom prst="rect">
              <a:avLst/>
            </a:prstGeom>
            <a:noFill/>
            <a:ln w="25400" cap="flat" cmpd="sng">
              <a:solidFill>
                <a:srgbClr val="000000"/>
              </a:solidFill>
              <a:prstDash val="solid"/>
              <a:miter/>
              <a:headEnd type="none" w="med" len="med"/>
              <a:tailEnd type="none" w="med" len="med"/>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28" name="Rectangle 7"/>
            <p:cNvSpPr/>
            <p:nvPr/>
          </p:nvSpPr>
          <p:spPr>
            <a:xfrm>
              <a:off x="1602" y="1522"/>
              <a:ext cx="428" cy="1076"/>
            </a:xfrm>
            <a:prstGeom prst="rect">
              <a:avLst/>
            </a:prstGeom>
            <a:noFill/>
            <a:ln w="12700" cap="flat" cmpd="sng">
              <a:solidFill>
                <a:srgbClr val="000000"/>
              </a:solidFill>
              <a:prstDash val="solid"/>
              <a:miter/>
              <a:headEnd type="none" w="med" len="med"/>
              <a:tailEnd type="none" w="med" len="med"/>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29" name="Rectangle 8"/>
            <p:cNvSpPr/>
            <p:nvPr/>
          </p:nvSpPr>
          <p:spPr>
            <a:xfrm>
              <a:off x="2038" y="1522"/>
              <a:ext cx="430" cy="1076"/>
            </a:xfrm>
            <a:prstGeom prst="rect">
              <a:avLst/>
            </a:prstGeom>
            <a:noFill/>
            <a:ln w="12700" cap="flat" cmpd="sng">
              <a:solidFill>
                <a:srgbClr val="000000"/>
              </a:solidFill>
              <a:prstDash val="solid"/>
              <a:miter/>
              <a:headEnd type="none" w="med" len="med"/>
              <a:tailEnd type="none" w="med" len="med"/>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30" name="Rectangle 9"/>
            <p:cNvSpPr/>
            <p:nvPr/>
          </p:nvSpPr>
          <p:spPr>
            <a:xfrm>
              <a:off x="2476" y="1522"/>
              <a:ext cx="429" cy="1076"/>
            </a:xfrm>
            <a:prstGeom prst="rect">
              <a:avLst/>
            </a:prstGeom>
            <a:noFill/>
            <a:ln w="12700" cap="flat" cmpd="sng">
              <a:solidFill>
                <a:srgbClr val="000000"/>
              </a:solidFill>
              <a:prstDash val="solid"/>
              <a:miter/>
              <a:headEnd type="none" w="med" len="med"/>
              <a:tailEnd type="none" w="med" len="med"/>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31" name="Rectangle 10"/>
            <p:cNvSpPr/>
            <p:nvPr/>
          </p:nvSpPr>
          <p:spPr>
            <a:xfrm>
              <a:off x="2913" y="1522"/>
              <a:ext cx="428" cy="1076"/>
            </a:xfrm>
            <a:prstGeom prst="rect">
              <a:avLst/>
            </a:prstGeom>
            <a:noFill/>
            <a:ln w="12700" cap="flat" cmpd="sng">
              <a:solidFill>
                <a:srgbClr val="000000"/>
              </a:solidFill>
              <a:prstDash val="solid"/>
              <a:miter/>
              <a:headEnd type="none" w="med" len="med"/>
              <a:tailEnd type="none" w="med" len="med"/>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32" name="Rectangle 11"/>
            <p:cNvSpPr/>
            <p:nvPr/>
          </p:nvSpPr>
          <p:spPr>
            <a:xfrm>
              <a:off x="3349" y="1522"/>
              <a:ext cx="429" cy="1076"/>
            </a:xfrm>
            <a:prstGeom prst="rect">
              <a:avLst/>
            </a:prstGeom>
            <a:noFill/>
            <a:ln w="12700" cap="flat" cmpd="sng">
              <a:solidFill>
                <a:srgbClr val="000000"/>
              </a:solidFill>
              <a:prstDash val="solid"/>
              <a:miter/>
              <a:headEnd type="none" w="med" len="med"/>
              <a:tailEnd type="none" w="med" len="med"/>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33" name="Line 12"/>
            <p:cNvSpPr/>
            <p:nvPr/>
          </p:nvSpPr>
          <p:spPr>
            <a:xfrm>
              <a:off x="1598" y="1865"/>
              <a:ext cx="2665" cy="0"/>
            </a:xfrm>
            <a:prstGeom prst="line">
              <a:avLst/>
            </a:prstGeom>
            <a:ln w="12700" cap="flat" cmpd="sng">
              <a:solidFill>
                <a:srgbClr val="000000"/>
              </a:solidFill>
              <a:prstDash val="solid"/>
              <a:round/>
              <a:headEnd type="none" w="sm" len="sm"/>
              <a:tailEnd type="none" w="sm" len="sm"/>
            </a:ln>
          </p:spPr>
        </p:sp>
        <p:sp>
          <p:nvSpPr>
            <p:cNvPr id="34" name="Line 13"/>
            <p:cNvSpPr/>
            <p:nvPr/>
          </p:nvSpPr>
          <p:spPr>
            <a:xfrm>
              <a:off x="1598" y="2255"/>
              <a:ext cx="2665" cy="0"/>
            </a:xfrm>
            <a:prstGeom prst="line">
              <a:avLst/>
            </a:prstGeom>
            <a:ln w="12700" cap="flat" cmpd="sng">
              <a:solidFill>
                <a:srgbClr val="000000"/>
              </a:solidFill>
              <a:prstDash val="solid"/>
              <a:round/>
              <a:headEnd type="none" w="sm" len="sm"/>
              <a:tailEnd type="none" w="sm" len="sm"/>
            </a:ln>
          </p:spPr>
        </p:sp>
        <p:sp>
          <p:nvSpPr>
            <p:cNvPr id="36" name="Rectangle 14"/>
            <p:cNvSpPr/>
            <p:nvPr/>
          </p:nvSpPr>
          <p:spPr>
            <a:xfrm>
              <a:off x="1598" y="1518"/>
              <a:ext cx="436" cy="347"/>
            </a:xfrm>
            <a:prstGeom prst="rect">
              <a:avLst/>
            </a:prstGeom>
            <a:solidFill>
              <a:srgbClr val="000000"/>
            </a:solidFill>
            <a:ln w="9525">
              <a:noFill/>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37" name="Rectangle 15"/>
            <p:cNvSpPr/>
            <p:nvPr/>
          </p:nvSpPr>
          <p:spPr>
            <a:xfrm>
              <a:off x="2472" y="1518"/>
              <a:ext cx="437" cy="347"/>
            </a:xfrm>
            <a:prstGeom prst="rect">
              <a:avLst/>
            </a:prstGeom>
            <a:solidFill>
              <a:srgbClr val="000000"/>
            </a:solidFill>
            <a:ln w="9525">
              <a:noFill/>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38" name="Rectangle 16"/>
            <p:cNvSpPr/>
            <p:nvPr/>
          </p:nvSpPr>
          <p:spPr>
            <a:xfrm>
              <a:off x="2909" y="2255"/>
              <a:ext cx="436" cy="347"/>
            </a:xfrm>
            <a:prstGeom prst="rect">
              <a:avLst/>
            </a:prstGeom>
            <a:solidFill>
              <a:srgbClr val="000000"/>
            </a:solidFill>
            <a:ln w="9525">
              <a:noFill/>
            </a:ln>
          </p:spPr>
          <p:txBody>
            <a:bodyPr wrap="none" anchor="ctr"/>
            <a:lstStyle/>
            <a:p>
              <a:pPr algn="ctr"/>
              <a:endParaRPr lang="zh-CN" altLang="en-US" dirty="0">
                <a:latin typeface="Times New Roman" panose="02020603050405020304" pitchFamily="18" charset="0"/>
                <a:ea typeface="楷体_GB2312" pitchFamily="49" charset="-122"/>
              </a:endParaRPr>
            </a:p>
          </p:txBody>
        </p:sp>
      </p:grpSp>
      <p:grpSp>
        <p:nvGrpSpPr>
          <p:cNvPr id="39" name="Group 17"/>
          <p:cNvGrpSpPr/>
          <p:nvPr/>
        </p:nvGrpSpPr>
        <p:grpSpPr>
          <a:xfrm>
            <a:off x="7600662" y="5402263"/>
            <a:ext cx="1317625" cy="688975"/>
            <a:chOff x="2472" y="2966"/>
            <a:chExt cx="830" cy="434"/>
          </a:xfrm>
        </p:grpSpPr>
        <p:grpSp>
          <p:nvGrpSpPr>
            <p:cNvPr id="40" name="Group 18"/>
            <p:cNvGrpSpPr/>
            <p:nvPr/>
          </p:nvGrpSpPr>
          <p:grpSpPr>
            <a:xfrm>
              <a:off x="2472" y="2966"/>
              <a:ext cx="830" cy="434"/>
              <a:chOff x="2472" y="2966"/>
              <a:chExt cx="830" cy="434"/>
            </a:xfrm>
          </p:grpSpPr>
          <p:sp>
            <p:nvSpPr>
              <p:cNvPr id="42" name="Oval 19"/>
              <p:cNvSpPr/>
              <p:nvPr/>
            </p:nvSpPr>
            <p:spPr>
              <a:xfrm>
                <a:off x="2480" y="2966"/>
                <a:ext cx="814" cy="97"/>
              </a:xfrm>
              <a:prstGeom prst="ellipse">
                <a:avLst/>
              </a:prstGeom>
              <a:noFill/>
              <a:ln w="25400" cap="flat" cmpd="sng">
                <a:solidFill>
                  <a:srgbClr val="000000"/>
                </a:solidFill>
                <a:prstDash val="solid"/>
                <a:round/>
                <a:headEnd type="none" w="med" len="med"/>
                <a:tailEnd type="none" w="med" len="med"/>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44" name="Oval 20"/>
              <p:cNvSpPr/>
              <p:nvPr/>
            </p:nvSpPr>
            <p:spPr>
              <a:xfrm>
                <a:off x="2480" y="3303"/>
                <a:ext cx="814" cy="97"/>
              </a:xfrm>
              <a:prstGeom prst="ellipse">
                <a:avLst/>
              </a:prstGeom>
              <a:noFill/>
              <a:ln w="25400" cap="flat" cmpd="sng">
                <a:solidFill>
                  <a:srgbClr val="000000"/>
                </a:solidFill>
                <a:prstDash val="solid"/>
                <a:round/>
                <a:headEnd type="none" w="med" len="med"/>
                <a:tailEnd type="none" w="med" len="med"/>
              </a:ln>
            </p:spPr>
            <p:txBody>
              <a:bodyPr wrap="none" anchor="ctr"/>
              <a:lstStyle/>
              <a:p>
                <a:pPr algn="ctr"/>
                <a:endParaRPr lang="zh-CN" altLang="en-US" dirty="0">
                  <a:latin typeface="Times New Roman" panose="02020603050405020304" pitchFamily="18" charset="0"/>
                  <a:ea typeface="楷体_GB2312" pitchFamily="49" charset="-122"/>
                </a:endParaRPr>
              </a:p>
            </p:txBody>
          </p:sp>
          <p:sp>
            <p:nvSpPr>
              <p:cNvPr id="45" name="Line 21"/>
              <p:cNvSpPr/>
              <p:nvPr/>
            </p:nvSpPr>
            <p:spPr>
              <a:xfrm>
                <a:off x="2472" y="3015"/>
                <a:ext cx="0" cy="337"/>
              </a:xfrm>
              <a:prstGeom prst="line">
                <a:avLst/>
              </a:prstGeom>
              <a:ln w="25400" cap="flat" cmpd="sng">
                <a:solidFill>
                  <a:srgbClr val="000000"/>
                </a:solidFill>
                <a:prstDash val="solid"/>
                <a:round/>
                <a:headEnd type="none" w="sm" len="sm"/>
                <a:tailEnd type="none" w="sm" len="sm"/>
              </a:ln>
            </p:spPr>
          </p:sp>
          <p:sp>
            <p:nvSpPr>
              <p:cNvPr id="46" name="Line 22"/>
              <p:cNvSpPr/>
              <p:nvPr/>
            </p:nvSpPr>
            <p:spPr>
              <a:xfrm>
                <a:off x="3302" y="3015"/>
                <a:ext cx="0" cy="337"/>
              </a:xfrm>
              <a:prstGeom prst="line">
                <a:avLst/>
              </a:prstGeom>
              <a:ln w="25400" cap="flat" cmpd="sng">
                <a:solidFill>
                  <a:srgbClr val="000000"/>
                </a:solidFill>
                <a:prstDash val="solid"/>
                <a:round/>
                <a:headEnd type="none" w="sm" len="sm"/>
                <a:tailEnd type="none" w="sm" len="sm"/>
              </a:ln>
            </p:spPr>
          </p:sp>
        </p:grpSp>
        <p:sp>
          <p:nvSpPr>
            <p:cNvPr id="41" name="Rectangle 23"/>
            <p:cNvSpPr/>
            <p:nvPr/>
          </p:nvSpPr>
          <p:spPr>
            <a:xfrm>
              <a:off x="2671" y="3033"/>
              <a:ext cx="401" cy="288"/>
            </a:xfrm>
            <a:prstGeom prst="rect">
              <a:avLst/>
            </a:prstGeom>
            <a:noFill/>
            <a:ln w="9525">
              <a:noFill/>
            </a:ln>
          </p:spPr>
          <p:txBody>
            <a:bodyPr lIns="92075" tIns="46038" rIns="92075" bIns="46038" anchor="t">
              <a:spAutoFit/>
            </a:bodyPr>
            <a:lstStyle/>
            <a:p>
              <a:pPr eaLnBrk="0" hangingPunct="0"/>
              <a:r>
                <a:rPr lang="en-US" altLang="zh-CN" sz="2400" b="0" dirty="0">
                  <a:solidFill>
                    <a:srgbClr val="000000"/>
                  </a:solidFill>
                  <a:latin typeface="Arial" panose="020B0604020202020204" pitchFamily="34" charset="0"/>
                  <a:ea typeface="宋体" panose="02010600030101010101" pitchFamily="2" charset="-122"/>
                </a:rPr>
                <a:t>DB</a:t>
              </a:r>
              <a:endParaRPr lang="en-US" altLang="zh-CN" sz="2400" b="0" dirty="0">
                <a:solidFill>
                  <a:srgbClr val="000000"/>
                </a:solidFill>
                <a:latin typeface="Arial" panose="020B0604020202020204" pitchFamily="34" charset="0"/>
                <a:ea typeface="宋体" panose="02010600030101010101" pitchFamily="2" charset="-122"/>
              </a:endParaRPr>
            </a:p>
          </p:txBody>
        </p:sp>
      </p:grpSp>
      <p:sp>
        <p:nvSpPr>
          <p:cNvPr id="47" name="Line 24"/>
          <p:cNvSpPr/>
          <p:nvPr/>
        </p:nvSpPr>
        <p:spPr>
          <a:xfrm>
            <a:off x="5141624" y="5191125"/>
            <a:ext cx="2981325" cy="0"/>
          </a:xfrm>
          <a:prstGeom prst="line">
            <a:avLst/>
          </a:prstGeom>
          <a:ln w="12700" cap="flat" cmpd="sng">
            <a:solidFill>
              <a:srgbClr val="B760F9"/>
            </a:solidFill>
            <a:prstDash val="solid"/>
            <a:round/>
            <a:headEnd type="none" w="sm" len="sm"/>
            <a:tailEnd type="none" w="sm" len="sm"/>
          </a:ln>
        </p:spPr>
      </p:sp>
      <p:sp>
        <p:nvSpPr>
          <p:cNvPr id="48" name="Rectangle 25"/>
          <p:cNvSpPr/>
          <p:nvPr/>
        </p:nvSpPr>
        <p:spPr>
          <a:xfrm>
            <a:off x="4774912" y="4799013"/>
            <a:ext cx="1847850" cy="366712"/>
          </a:xfrm>
          <a:prstGeom prst="rect">
            <a:avLst/>
          </a:prstGeom>
          <a:noFill/>
          <a:ln w="9525">
            <a:noFill/>
          </a:ln>
        </p:spPr>
        <p:txBody>
          <a:bodyPr wrap="none" lIns="92075" tIns="46038" rIns="92075" bIns="46038" anchor="t">
            <a:spAutoFit/>
          </a:bodyPr>
          <a:lstStyle/>
          <a:p>
            <a:pPr eaLnBrk="0" hangingPunct="0"/>
            <a:r>
              <a:rPr lang="en-US" altLang="zh-CN" sz="1800" b="0" dirty="0">
                <a:solidFill>
                  <a:srgbClr val="B760F9"/>
                </a:solidFill>
                <a:latin typeface="Arial" panose="020B0604020202020204" pitchFamily="34" charset="0"/>
                <a:ea typeface="宋体" panose="02010600030101010101" pitchFamily="2" charset="-122"/>
              </a:rPr>
              <a:t>MAIN MEMORY</a:t>
            </a:r>
            <a:endParaRPr lang="en-US" altLang="zh-CN" sz="1800" b="0" dirty="0">
              <a:solidFill>
                <a:srgbClr val="B760F9"/>
              </a:solidFill>
              <a:latin typeface="Arial" panose="020B0604020202020204" pitchFamily="34" charset="0"/>
              <a:ea typeface="宋体" panose="02010600030101010101" pitchFamily="2" charset="-122"/>
            </a:endParaRPr>
          </a:p>
        </p:txBody>
      </p:sp>
      <p:sp>
        <p:nvSpPr>
          <p:cNvPr id="49" name="Rectangle 26"/>
          <p:cNvSpPr/>
          <p:nvPr/>
        </p:nvSpPr>
        <p:spPr>
          <a:xfrm>
            <a:off x="4776499" y="5297488"/>
            <a:ext cx="717550" cy="366712"/>
          </a:xfrm>
          <a:prstGeom prst="rect">
            <a:avLst/>
          </a:prstGeom>
          <a:noFill/>
          <a:ln w="9525">
            <a:noFill/>
          </a:ln>
        </p:spPr>
        <p:txBody>
          <a:bodyPr wrap="none" lIns="92075" tIns="46038" rIns="92075" bIns="46038" anchor="t">
            <a:spAutoFit/>
          </a:bodyPr>
          <a:lstStyle/>
          <a:p>
            <a:pPr eaLnBrk="0" hangingPunct="0"/>
            <a:r>
              <a:rPr lang="en-US" altLang="zh-CN" sz="1800" b="0" dirty="0">
                <a:solidFill>
                  <a:srgbClr val="B760F9"/>
                </a:solidFill>
                <a:latin typeface="Arial" panose="020B0604020202020204" pitchFamily="34" charset="0"/>
                <a:ea typeface="宋体" panose="02010600030101010101" pitchFamily="2" charset="-122"/>
              </a:rPr>
              <a:t>DISK</a:t>
            </a:r>
            <a:endParaRPr lang="en-US" altLang="zh-CN" sz="1800" b="0" dirty="0">
              <a:solidFill>
                <a:srgbClr val="B760F9"/>
              </a:solidFill>
              <a:latin typeface="Arial" panose="020B0604020202020204" pitchFamily="34" charset="0"/>
              <a:ea typeface="宋体" panose="02010600030101010101" pitchFamily="2" charset="-122"/>
            </a:endParaRPr>
          </a:p>
        </p:txBody>
      </p:sp>
      <p:sp>
        <p:nvSpPr>
          <p:cNvPr id="50" name="Freeform 27"/>
          <p:cNvSpPr/>
          <p:nvPr/>
        </p:nvSpPr>
        <p:spPr>
          <a:xfrm>
            <a:off x="5138449" y="3278188"/>
            <a:ext cx="1041400" cy="301625"/>
          </a:xfrm>
          <a:custGeom>
            <a:avLst/>
            <a:gdLst/>
            <a:ahLst/>
            <a:cxnLst>
              <a:cxn ang="0">
                <a:pos x="0" y="189"/>
              </a:cxn>
              <a:cxn ang="0">
                <a:pos x="3" y="155"/>
              </a:cxn>
              <a:cxn ang="0">
                <a:pos x="16" y="135"/>
              </a:cxn>
              <a:cxn ang="0">
                <a:pos x="23" y="114"/>
              </a:cxn>
              <a:cxn ang="0">
                <a:pos x="50" y="81"/>
              </a:cxn>
              <a:cxn ang="0">
                <a:pos x="71" y="54"/>
              </a:cxn>
              <a:cxn ang="0">
                <a:pos x="98" y="33"/>
              </a:cxn>
              <a:cxn ang="0">
                <a:pos x="126" y="6"/>
              </a:cxn>
              <a:cxn ang="0">
                <a:pos x="146" y="0"/>
              </a:cxn>
              <a:cxn ang="0">
                <a:pos x="166" y="0"/>
              </a:cxn>
              <a:cxn ang="0">
                <a:pos x="186" y="6"/>
              </a:cxn>
              <a:cxn ang="0">
                <a:pos x="207" y="20"/>
              </a:cxn>
              <a:cxn ang="0">
                <a:pos x="227" y="33"/>
              </a:cxn>
              <a:cxn ang="0">
                <a:pos x="248" y="54"/>
              </a:cxn>
              <a:cxn ang="0">
                <a:pos x="268" y="68"/>
              </a:cxn>
              <a:cxn ang="0">
                <a:pos x="289" y="87"/>
              </a:cxn>
              <a:cxn ang="0">
                <a:pos x="317" y="101"/>
              </a:cxn>
              <a:cxn ang="0">
                <a:pos x="344" y="114"/>
              </a:cxn>
              <a:cxn ang="0">
                <a:pos x="364" y="114"/>
              </a:cxn>
              <a:cxn ang="0">
                <a:pos x="391" y="114"/>
              </a:cxn>
              <a:cxn ang="0">
                <a:pos x="412" y="114"/>
              </a:cxn>
              <a:cxn ang="0">
                <a:pos x="439" y="114"/>
              </a:cxn>
              <a:cxn ang="0">
                <a:pos x="467" y="114"/>
              </a:cxn>
              <a:cxn ang="0">
                <a:pos x="494" y="108"/>
              </a:cxn>
              <a:cxn ang="0">
                <a:pos x="514" y="101"/>
              </a:cxn>
              <a:cxn ang="0">
                <a:pos x="549" y="95"/>
              </a:cxn>
              <a:cxn ang="0">
                <a:pos x="576" y="81"/>
              </a:cxn>
              <a:cxn ang="0">
                <a:pos x="596" y="68"/>
              </a:cxn>
              <a:cxn ang="0">
                <a:pos x="617" y="54"/>
              </a:cxn>
              <a:cxn ang="0">
                <a:pos x="637" y="41"/>
              </a:cxn>
              <a:cxn ang="0">
                <a:pos x="655" y="16"/>
              </a:cxn>
            </a:cxnLst>
            <a:rect l="0" t="0" r="0" b="0"/>
            <a:pathLst>
              <a:path w="656" h="190">
                <a:moveTo>
                  <a:pt x="0" y="189"/>
                </a:moveTo>
                <a:lnTo>
                  <a:pt x="3" y="155"/>
                </a:lnTo>
                <a:lnTo>
                  <a:pt x="16" y="135"/>
                </a:lnTo>
                <a:lnTo>
                  <a:pt x="23" y="114"/>
                </a:lnTo>
                <a:lnTo>
                  <a:pt x="50" y="81"/>
                </a:lnTo>
                <a:lnTo>
                  <a:pt x="71" y="54"/>
                </a:lnTo>
                <a:lnTo>
                  <a:pt x="98" y="33"/>
                </a:lnTo>
                <a:lnTo>
                  <a:pt x="126" y="6"/>
                </a:lnTo>
                <a:lnTo>
                  <a:pt x="146" y="0"/>
                </a:lnTo>
                <a:lnTo>
                  <a:pt x="166" y="0"/>
                </a:lnTo>
                <a:lnTo>
                  <a:pt x="186" y="6"/>
                </a:lnTo>
                <a:lnTo>
                  <a:pt x="207" y="20"/>
                </a:lnTo>
                <a:lnTo>
                  <a:pt x="227" y="33"/>
                </a:lnTo>
                <a:lnTo>
                  <a:pt x="248" y="54"/>
                </a:lnTo>
                <a:lnTo>
                  <a:pt x="268" y="68"/>
                </a:lnTo>
                <a:lnTo>
                  <a:pt x="289" y="87"/>
                </a:lnTo>
                <a:lnTo>
                  <a:pt x="317" y="101"/>
                </a:lnTo>
                <a:lnTo>
                  <a:pt x="344" y="114"/>
                </a:lnTo>
                <a:lnTo>
                  <a:pt x="364" y="114"/>
                </a:lnTo>
                <a:lnTo>
                  <a:pt x="391" y="114"/>
                </a:lnTo>
                <a:lnTo>
                  <a:pt x="412" y="114"/>
                </a:lnTo>
                <a:lnTo>
                  <a:pt x="439" y="114"/>
                </a:lnTo>
                <a:lnTo>
                  <a:pt x="467" y="114"/>
                </a:lnTo>
                <a:lnTo>
                  <a:pt x="494" y="108"/>
                </a:lnTo>
                <a:lnTo>
                  <a:pt x="514" y="101"/>
                </a:lnTo>
                <a:lnTo>
                  <a:pt x="549" y="95"/>
                </a:lnTo>
                <a:lnTo>
                  <a:pt x="576" y="81"/>
                </a:lnTo>
                <a:lnTo>
                  <a:pt x="596" y="68"/>
                </a:lnTo>
                <a:lnTo>
                  <a:pt x="617" y="54"/>
                </a:lnTo>
                <a:lnTo>
                  <a:pt x="637" y="41"/>
                </a:lnTo>
                <a:lnTo>
                  <a:pt x="655" y="16"/>
                </a:lnTo>
              </a:path>
            </a:pathLst>
          </a:custGeom>
          <a:noFill/>
          <a:ln w="12700" cap="rnd" cmpd="sng">
            <a:solidFill>
              <a:srgbClr val="000000"/>
            </a:solidFill>
            <a:prstDash val="solid"/>
            <a:round/>
            <a:headEnd type="none" w="sm" len="sm"/>
            <a:tailEnd type="stealth" w="med" len="lg"/>
          </a:ln>
        </p:spPr>
        <p:txBody>
          <a:bodyPr/>
          <a:lstStyle/>
          <a:p>
            <a:endParaRPr lang="zh-CN" altLang="en-US"/>
          </a:p>
        </p:txBody>
      </p:sp>
      <p:sp>
        <p:nvSpPr>
          <p:cNvPr id="51" name="Rectangle 28"/>
          <p:cNvSpPr/>
          <p:nvPr/>
        </p:nvSpPr>
        <p:spPr>
          <a:xfrm>
            <a:off x="4870162" y="3556000"/>
            <a:ext cx="1160462" cy="366713"/>
          </a:xfrm>
          <a:prstGeom prst="rect">
            <a:avLst/>
          </a:prstGeom>
          <a:noFill/>
          <a:ln w="9525">
            <a:noFill/>
          </a:ln>
        </p:spPr>
        <p:txBody>
          <a:bodyPr wrap="none" lIns="92075" tIns="46038" rIns="92075" bIns="46038" anchor="t">
            <a:spAutoFit/>
          </a:bodyPr>
          <a:lstStyle/>
          <a:p>
            <a:pPr eaLnBrk="0" hangingPunct="0"/>
            <a:r>
              <a:rPr lang="en-US" altLang="zh-CN" sz="1800" b="0" dirty="0">
                <a:solidFill>
                  <a:srgbClr val="000000"/>
                </a:solidFill>
                <a:latin typeface="Arial" panose="020B0604020202020204" pitchFamily="34" charset="0"/>
                <a:ea typeface="宋体" panose="02010600030101010101" pitchFamily="2" charset="-122"/>
              </a:rPr>
              <a:t>disk page</a:t>
            </a:r>
            <a:endParaRPr lang="en-US" altLang="zh-CN" sz="1800" b="0" dirty="0">
              <a:solidFill>
                <a:srgbClr val="000000"/>
              </a:solidFill>
              <a:latin typeface="Arial" panose="020B0604020202020204" pitchFamily="34" charset="0"/>
              <a:ea typeface="宋体" panose="02010600030101010101" pitchFamily="2" charset="-122"/>
            </a:endParaRPr>
          </a:p>
        </p:txBody>
      </p:sp>
      <p:sp>
        <p:nvSpPr>
          <p:cNvPr id="52" name="Freeform 29"/>
          <p:cNvSpPr/>
          <p:nvPr/>
        </p:nvSpPr>
        <p:spPr>
          <a:xfrm>
            <a:off x="5381337" y="3975100"/>
            <a:ext cx="1039812" cy="300038"/>
          </a:xfrm>
          <a:custGeom>
            <a:avLst/>
            <a:gdLst/>
            <a:ahLst/>
            <a:cxnLst>
              <a:cxn ang="0">
                <a:pos x="0" y="188"/>
              </a:cxn>
              <a:cxn ang="0">
                <a:pos x="3" y="154"/>
              </a:cxn>
              <a:cxn ang="0">
                <a:pos x="16" y="134"/>
              </a:cxn>
              <a:cxn ang="0">
                <a:pos x="23" y="114"/>
              </a:cxn>
              <a:cxn ang="0">
                <a:pos x="50" y="81"/>
              </a:cxn>
              <a:cxn ang="0">
                <a:pos x="71" y="54"/>
              </a:cxn>
              <a:cxn ang="0">
                <a:pos x="98" y="33"/>
              </a:cxn>
              <a:cxn ang="0">
                <a:pos x="125" y="6"/>
              </a:cxn>
              <a:cxn ang="0">
                <a:pos x="145" y="0"/>
              </a:cxn>
              <a:cxn ang="0">
                <a:pos x="166" y="0"/>
              </a:cxn>
              <a:cxn ang="0">
                <a:pos x="186" y="6"/>
              </a:cxn>
              <a:cxn ang="0">
                <a:pos x="207" y="20"/>
              </a:cxn>
              <a:cxn ang="0">
                <a:pos x="227" y="33"/>
              </a:cxn>
              <a:cxn ang="0">
                <a:pos x="248" y="54"/>
              </a:cxn>
              <a:cxn ang="0">
                <a:pos x="268" y="67"/>
              </a:cxn>
              <a:cxn ang="0">
                <a:pos x="289" y="87"/>
              </a:cxn>
              <a:cxn ang="0">
                <a:pos x="316" y="100"/>
              </a:cxn>
              <a:cxn ang="0">
                <a:pos x="343" y="114"/>
              </a:cxn>
              <a:cxn ang="0">
                <a:pos x="363" y="114"/>
              </a:cxn>
              <a:cxn ang="0">
                <a:pos x="391" y="114"/>
              </a:cxn>
              <a:cxn ang="0">
                <a:pos x="411" y="114"/>
              </a:cxn>
              <a:cxn ang="0">
                <a:pos x="439" y="114"/>
              </a:cxn>
              <a:cxn ang="0">
                <a:pos x="466" y="114"/>
              </a:cxn>
              <a:cxn ang="0">
                <a:pos x="493" y="107"/>
              </a:cxn>
              <a:cxn ang="0">
                <a:pos x="513" y="100"/>
              </a:cxn>
              <a:cxn ang="0">
                <a:pos x="548" y="94"/>
              </a:cxn>
              <a:cxn ang="0">
                <a:pos x="575" y="81"/>
              </a:cxn>
              <a:cxn ang="0">
                <a:pos x="595" y="67"/>
              </a:cxn>
              <a:cxn ang="0">
                <a:pos x="616" y="54"/>
              </a:cxn>
              <a:cxn ang="0">
                <a:pos x="636" y="40"/>
              </a:cxn>
              <a:cxn ang="0">
                <a:pos x="654" y="16"/>
              </a:cxn>
            </a:cxnLst>
            <a:rect l="0" t="0" r="0" b="0"/>
            <a:pathLst>
              <a:path w="655" h="189">
                <a:moveTo>
                  <a:pt x="0" y="188"/>
                </a:moveTo>
                <a:lnTo>
                  <a:pt x="3" y="154"/>
                </a:lnTo>
                <a:lnTo>
                  <a:pt x="16" y="134"/>
                </a:lnTo>
                <a:lnTo>
                  <a:pt x="23" y="114"/>
                </a:lnTo>
                <a:lnTo>
                  <a:pt x="50" y="81"/>
                </a:lnTo>
                <a:lnTo>
                  <a:pt x="71" y="54"/>
                </a:lnTo>
                <a:lnTo>
                  <a:pt x="98" y="33"/>
                </a:lnTo>
                <a:lnTo>
                  <a:pt x="125" y="6"/>
                </a:lnTo>
                <a:lnTo>
                  <a:pt x="145" y="0"/>
                </a:lnTo>
                <a:lnTo>
                  <a:pt x="166" y="0"/>
                </a:lnTo>
                <a:lnTo>
                  <a:pt x="186" y="6"/>
                </a:lnTo>
                <a:lnTo>
                  <a:pt x="207" y="20"/>
                </a:lnTo>
                <a:lnTo>
                  <a:pt x="227" y="33"/>
                </a:lnTo>
                <a:lnTo>
                  <a:pt x="248" y="54"/>
                </a:lnTo>
                <a:lnTo>
                  <a:pt x="268" y="67"/>
                </a:lnTo>
                <a:lnTo>
                  <a:pt x="289" y="87"/>
                </a:lnTo>
                <a:lnTo>
                  <a:pt x="316" y="100"/>
                </a:lnTo>
                <a:lnTo>
                  <a:pt x="343" y="114"/>
                </a:lnTo>
                <a:lnTo>
                  <a:pt x="363" y="114"/>
                </a:lnTo>
                <a:lnTo>
                  <a:pt x="391" y="114"/>
                </a:lnTo>
                <a:lnTo>
                  <a:pt x="411" y="114"/>
                </a:lnTo>
                <a:lnTo>
                  <a:pt x="439" y="114"/>
                </a:lnTo>
                <a:lnTo>
                  <a:pt x="466" y="114"/>
                </a:lnTo>
                <a:lnTo>
                  <a:pt x="493" y="107"/>
                </a:lnTo>
                <a:lnTo>
                  <a:pt x="513" y="100"/>
                </a:lnTo>
                <a:lnTo>
                  <a:pt x="548" y="94"/>
                </a:lnTo>
                <a:lnTo>
                  <a:pt x="575" y="81"/>
                </a:lnTo>
                <a:lnTo>
                  <a:pt x="595" y="67"/>
                </a:lnTo>
                <a:lnTo>
                  <a:pt x="616" y="54"/>
                </a:lnTo>
                <a:lnTo>
                  <a:pt x="636" y="40"/>
                </a:lnTo>
                <a:lnTo>
                  <a:pt x="654" y="16"/>
                </a:lnTo>
              </a:path>
            </a:pathLst>
          </a:custGeom>
          <a:noFill/>
          <a:ln w="12700" cap="rnd" cmpd="sng">
            <a:solidFill>
              <a:srgbClr val="000000"/>
            </a:solidFill>
            <a:prstDash val="solid"/>
            <a:round/>
            <a:headEnd type="none" w="sm" len="sm"/>
            <a:tailEnd type="stealth" w="med" len="lg"/>
          </a:ln>
        </p:spPr>
        <p:txBody>
          <a:bodyPr/>
          <a:lstStyle/>
          <a:p>
            <a:endParaRPr lang="zh-CN" altLang="en-US"/>
          </a:p>
        </p:txBody>
      </p:sp>
      <p:sp>
        <p:nvSpPr>
          <p:cNvPr id="53" name="Rectangle 30"/>
          <p:cNvSpPr/>
          <p:nvPr/>
        </p:nvSpPr>
        <p:spPr>
          <a:xfrm>
            <a:off x="4941599" y="4249738"/>
            <a:ext cx="1225550" cy="366712"/>
          </a:xfrm>
          <a:prstGeom prst="rect">
            <a:avLst/>
          </a:prstGeom>
          <a:noFill/>
          <a:ln w="9525">
            <a:noFill/>
          </a:ln>
        </p:spPr>
        <p:txBody>
          <a:bodyPr wrap="none" lIns="92075" tIns="46038" rIns="92075" bIns="46038" anchor="t">
            <a:spAutoFit/>
          </a:bodyPr>
          <a:lstStyle/>
          <a:p>
            <a:pPr eaLnBrk="0" hangingPunct="0"/>
            <a:r>
              <a:rPr lang="en-US" altLang="zh-CN" sz="1800" b="0" dirty="0">
                <a:solidFill>
                  <a:srgbClr val="000000"/>
                </a:solidFill>
                <a:latin typeface="Arial" panose="020B0604020202020204" pitchFamily="34" charset="0"/>
                <a:ea typeface="宋体" panose="02010600030101010101" pitchFamily="2" charset="-122"/>
              </a:rPr>
              <a:t>free frame</a:t>
            </a:r>
            <a:endParaRPr lang="en-US" altLang="zh-CN" sz="1800" b="0" dirty="0">
              <a:solidFill>
                <a:srgbClr val="000000"/>
              </a:solidFill>
              <a:latin typeface="Arial" panose="020B0604020202020204" pitchFamily="34" charset="0"/>
              <a:ea typeface="宋体" panose="02010600030101010101" pitchFamily="2" charset="-122"/>
            </a:endParaRPr>
          </a:p>
        </p:txBody>
      </p:sp>
      <p:sp>
        <p:nvSpPr>
          <p:cNvPr id="54" name="Line 31"/>
          <p:cNvSpPr/>
          <p:nvPr/>
        </p:nvSpPr>
        <p:spPr>
          <a:xfrm>
            <a:off x="8294399" y="2486025"/>
            <a:ext cx="0" cy="549275"/>
          </a:xfrm>
          <a:prstGeom prst="line">
            <a:avLst/>
          </a:prstGeom>
          <a:ln w="25400" cap="flat" cmpd="sng">
            <a:solidFill>
              <a:srgbClr val="B92B32"/>
            </a:solidFill>
            <a:prstDash val="solid"/>
            <a:round/>
            <a:headEnd type="stealth" w="med" len="lg"/>
            <a:tailEnd type="stealth" w="med" len="lg"/>
          </a:ln>
        </p:spPr>
      </p:sp>
      <p:sp>
        <p:nvSpPr>
          <p:cNvPr id="55" name="Rectangle 32"/>
          <p:cNvSpPr/>
          <p:nvPr/>
        </p:nvSpPr>
        <p:spPr>
          <a:xfrm>
            <a:off x="6014749" y="2046288"/>
            <a:ext cx="4914900" cy="457200"/>
          </a:xfrm>
          <a:prstGeom prst="rect">
            <a:avLst/>
          </a:prstGeom>
          <a:noFill/>
          <a:ln w="9525">
            <a:noFill/>
          </a:ln>
        </p:spPr>
        <p:txBody>
          <a:bodyPr wrap="none" lIns="92075" tIns="46038" rIns="92075" bIns="46038" anchor="t">
            <a:spAutoFit/>
          </a:bodyPr>
          <a:lstStyle/>
          <a:p>
            <a:pPr eaLnBrk="0" hangingPunct="0"/>
            <a:r>
              <a:rPr lang="en-US" altLang="zh-CN" sz="2400" b="0" dirty="0">
                <a:solidFill>
                  <a:srgbClr val="B92B32"/>
                </a:solidFill>
                <a:latin typeface="Arial" panose="020B0604020202020204" pitchFamily="34" charset="0"/>
                <a:ea typeface="宋体" panose="02010600030101010101" pitchFamily="2" charset="-122"/>
              </a:rPr>
              <a:t>Page Requests from Higher Levels</a:t>
            </a:r>
            <a:endParaRPr lang="en-US" altLang="zh-CN" sz="2400" b="0" dirty="0">
              <a:solidFill>
                <a:srgbClr val="B92B32"/>
              </a:solidFill>
              <a:latin typeface="Arial" panose="020B0604020202020204" pitchFamily="34" charset="0"/>
              <a:ea typeface="宋体" panose="02010600030101010101" pitchFamily="2" charset="-122"/>
            </a:endParaRPr>
          </a:p>
        </p:txBody>
      </p:sp>
      <p:sp>
        <p:nvSpPr>
          <p:cNvPr id="56" name="Rectangle 33"/>
          <p:cNvSpPr/>
          <p:nvPr/>
        </p:nvSpPr>
        <p:spPr>
          <a:xfrm>
            <a:off x="6117937" y="2806700"/>
            <a:ext cx="1797050" cy="366713"/>
          </a:xfrm>
          <a:prstGeom prst="rect">
            <a:avLst/>
          </a:prstGeom>
          <a:noFill/>
          <a:ln w="9525">
            <a:noFill/>
          </a:ln>
        </p:spPr>
        <p:txBody>
          <a:bodyPr wrap="none" lIns="92075" tIns="46038" rIns="92075" bIns="46038" anchor="t">
            <a:spAutoFit/>
          </a:bodyPr>
          <a:lstStyle/>
          <a:p>
            <a:pPr eaLnBrk="0" hangingPunct="0"/>
            <a:r>
              <a:rPr lang="en-US" altLang="zh-CN" sz="1800" b="0" dirty="0">
                <a:solidFill>
                  <a:srgbClr val="000000"/>
                </a:solidFill>
                <a:latin typeface="Arial" panose="020B0604020202020204" pitchFamily="34" charset="0"/>
                <a:ea typeface="宋体" panose="02010600030101010101" pitchFamily="2" charset="-122"/>
              </a:rPr>
              <a:t>BUFFER POOL</a:t>
            </a:r>
            <a:endParaRPr lang="en-US" altLang="zh-CN" sz="1800" b="0" dirty="0">
              <a:solidFill>
                <a:srgbClr val="000000"/>
              </a:solidFill>
              <a:latin typeface="Arial" panose="020B0604020202020204" pitchFamily="34" charset="0"/>
              <a:ea typeface="宋体" panose="02010600030101010101" pitchFamily="2" charset="-122"/>
            </a:endParaRPr>
          </a:p>
        </p:txBody>
      </p:sp>
      <p:sp>
        <p:nvSpPr>
          <p:cNvPr id="57" name="Freeform 34"/>
          <p:cNvSpPr/>
          <p:nvPr/>
        </p:nvSpPr>
        <p:spPr>
          <a:xfrm>
            <a:off x="8446799" y="5113338"/>
            <a:ext cx="1022350" cy="153987"/>
          </a:xfrm>
          <a:custGeom>
            <a:avLst/>
            <a:gdLst/>
            <a:ahLst/>
            <a:cxnLst>
              <a:cxn ang="0">
                <a:pos x="643" y="96"/>
              </a:cxn>
              <a:cxn ang="0">
                <a:pos x="640" y="79"/>
              </a:cxn>
              <a:cxn ang="0">
                <a:pos x="627" y="69"/>
              </a:cxn>
              <a:cxn ang="0">
                <a:pos x="621" y="58"/>
              </a:cxn>
              <a:cxn ang="0">
                <a:pos x="594" y="41"/>
              </a:cxn>
              <a:cxn ang="0">
                <a:pos x="573" y="27"/>
              </a:cxn>
              <a:cxn ang="0">
                <a:pos x="547" y="17"/>
              </a:cxn>
              <a:cxn ang="0">
                <a:pos x="520" y="3"/>
              </a:cxn>
              <a:cxn ang="0">
                <a:pos x="500" y="0"/>
              </a:cxn>
              <a:cxn ang="0">
                <a:pos x="480" y="0"/>
              </a:cxn>
              <a:cxn ang="0">
                <a:pos x="460" y="3"/>
              </a:cxn>
              <a:cxn ang="0">
                <a:pos x="439" y="10"/>
              </a:cxn>
              <a:cxn ang="0">
                <a:pos x="420" y="17"/>
              </a:cxn>
              <a:cxn ang="0">
                <a:pos x="399" y="27"/>
              </a:cxn>
              <a:cxn ang="0">
                <a:pos x="380" y="34"/>
              </a:cxn>
              <a:cxn ang="0">
                <a:pos x="359" y="44"/>
              </a:cxn>
              <a:cxn ang="0">
                <a:pos x="332" y="51"/>
              </a:cxn>
              <a:cxn ang="0">
                <a:pos x="305" y="58"/>
              </a:cxn>
              <a:cxn ang="0">
                <a:pos x="286" y="58"/>
              </a:cxn>
              <a:cxn ang="0">
                <a:pos x="259" y="58"/>
              </a:cxn>
              <a:cxn ang="0">
                <a:pos x="238" y="58"/>
              </a:cxn>
              <a:cxn ang="0">
                <a:pos x="212" y="58"/>
              </a:cxn>
              <a:cxn ang="0">
                <a:pos x="185" y="58"/>
              </a:cxn>
              <a:cxn ang="0">
                <a:pos x="158" y="55"/>
              </a:cxn>
              <a:cxn ang="0">
                <a:pos x="138" y="51"/>
              </a:cxn>
              <a:cxn ang="0">
                <a:pos x="104" y="48"/>
              </a:cxn>
              <a:cxn ang="0">
                <a:pos x="78" y="41"/>
              </a:cxn>
              <a:cxn ang="0">
                <a:pos x="58" y="34"/>
              </a:cxn>
              <a:cxn ang="0">
                <a:pos x="38" y="27"/>
              </a:cxn>
              <a:cxn ang="0">
                <a:pos x="18" y="21"/>
              </a:cxn>
              <a:cxn ang="0">
                <a:pos x="0" y="8"/>
              </a:cxn>
            </a:cxnLst>
            <a:rect l="0" t="0" r="0" b="0"/>
            <a:pathLst>
              <a:path w="644" h="97">
                <a:moveTo>
                  <a:pt x="643" y="96"/>
                </a:moveTo>
                <a:lnTo>
                  <a:pt x="640" y="79"/>
                </a:lnTo>
                <a:lnTo>
                  <a:pt x="627" y="69"/>
                </a:lnTo>
                <a:lnTo>
                  <a:pt x="621" y="58"/>
                </a:lnTo>
                <a:lnTo>
                  <a:pt x="594" y="41"/>
                </a:lnTo>
                <a:lnTo>
                  <a:pt x="573" y="27"/>
                </a:lnTo>
                <a:lnTo>
                  <a:pt x="547" y="17"/>
                </a:lnTo>
                <a:lnTo>
                  <a:pt x="520" y="3"/>
                </a:lnTo>
                <a:lnTo>
                  <a:pt x="500" y="0"/>
                </a:lnTo>
                <a:lnTo>
                  <a:pt x="480" y="0"/>
                </a:lnTo>
                <a:lnTo>
                  <a:pt x="460" y="3"/>
                </a:lnTo>
                <a:lnTo>
                  <a:pt x="439" y="10"/>
                </a:lnTo>
                <a:lnTo>
                  <a:pt x="420" y="17"/>
                </a:lnTo>
                <a:lnTo>
                  <a:pt x="399" y="27"/>
                </a:lnTo>
                <a:lnTo>
                  <a:pt x="380" y="34"/>
                </a:lnTo>
                <a:lnTo>
                  <a:pt x="359" y="44"/>
                </a:lnTo>
                <a:lnTo>
                  <a:pt x="332" y="51"/>
                </a:lnTo>
                <a:lnTo>
                  <a:pt x="305" y="58"/>
                </a:lnTo>
                <a:lnTo>
                  <a:pt x="286" y="58"/>
                </a:lnTo>
                <a:lnTo>
                  <a:pt x="259" y="58"/>
                </a:lnTo>
                <a:lnTo>
                  <a:pt x="238" y="58"/>
                </a:lnTo>
                <a:lnTo>
                  <a:pt x="212" y="58"/>
                </a:lnTo>
                <a:lnTo>
                  <a:pt x="185" y="58"/>
                </a:lnTo>
                <a:lnTo>
                  <a:pt x="158" y="55"/>
                </a:lnTo>
                <a:lnTo>
                  <a:pt x="138" y="51"/>
                </a:lnTo>
                <a:lnTo>
                  <a:pt x="104" y="48"/>
                </a:lnTo>
                <a:lnTo>
                  <a:pt x="78" y="41"/>
                </a:lnTo>
                <a:lnTo>
                  <a:pt x="58" y="34"/>
                </a:lnTo>
                <a:lnTo>
                  <a:pt x="38" y="27"/>
                </a:lnTo>
                <a:lnTo>
                  <a:pt x="18" y="21"/>
                </a:lnTo>
                <a:lnTo>
                  <a:pt x="0" y="8"/>
                </a:lnTo>
              </a:path>
            </a:pathLst>
          </a:custGeom>
          <a:noFill/>
          <a:ln w="12700" cap="rnd" cmpd="sng">
            <a:solidFill>
              <a:srgbClr val="B92B32"/>
            </a:solidFill>
            <a:prstDash val="solid"/>
            <a:round/>
            <a:headEnd type="none" w="sm" len="sm"/>
            <a:tailEnd type="stealth" w="med" len="lg"/>
          </a:ln>
        </p:spPr>
        <p:txBody>
          <a:bodyPr/>
          <a:lstStyle/>
          <a:p>
            <a:endParaRPr lang="zh-CN" altLang="en-US"/>
          </a:p>
        </p:txBody>
      </p:sp>
      <p:sp>
        <p:nvSpPr>
          <p:cNvPr id="58" name="Rectangle 35"/>
          <p:cNvSpPr/>
          <p:nvPr/>
        </p:nvSpPr>
        <p:spPr>
          <a:xfrm>
            <a:off x="9186574" y="5351463"/>
            <a:ext cx="2608263" cy="641350"/>
          </a:xfrm>
          <a:prstGeom prst="rect">
            <a:avLst/>
          </a:prstGeom>
          <a:noFill/>
          <a:ln w="9525">
            <a:noFill/>
          </a:ln>
        </p:spPr>
        <p:txBody>
          <a:bodyPr wrap="none" lIns="92075" tIns="46038" rIns="92075" bIns="46038" anchor="t">
            <a:spAutoFit/>
          </a:bodyPr>
          <a:lstStyle/>
          <a:p>
            <a:pPr eaLnBrk="0" hangingPunct="0"/>
            <a:r>
              <a:rPr lang="en-US" altLang="zh-CN" sz="1800" b="0" dirty="0">
                <a:solidFill>
                  <a:srgbClr val="B92B32"/>
                </a:solidFill>
                <a:latin typeface="Arial" panose="020B0604020202020204" pitchFamily="34" charset="0"/>
                <a:ea typeface="宋体" panose="02010600030101010101" pitchFamily="2" charset="-122"/>
              </a:rPr>
              <a:t>choice of frame dictated</a:t>
            </a:r>
            <a:endParaRPr lang="en-US" altLang="zh-CN" sz="1800" b="0" dirty="0">
              <a:solidFill>
                <a:srgbClr val="B92B32"/>
              </a:solidFill>
              <a:latin typeface="Arial" panose="020B0604020202020204" pitchFamily="34" charset="0"/>
              <a:ea typeface="宋体" panose="02010600030101010101" pitchFamily="2" charset="-122"/>
            </a:endParaRPr>
          </a:p>
          <a:p>
            <a:pPr eaLnBrk="0" hangingPunct="0"/>
            <a:r>
              <a:rPr lang="en-US" altLang="zh-CN" sz="1800" b="0" dirty="0">
                <a:solidFill>
                  <a:srgbClr val="B92B32"/>
                </a:solidFill>
                <a:latin typeface="Arial" panose="020B0604020202020204" pitchFamily="34" charset="0"/>
                <a:ea typeface="宋体" panose="02010600030101010101" pitchFamily="2" charset="-122"/>
              </a:rPr>
              <a:t>by </a:t>
            </a:r>
            <a:r>
              <a:rPr lang="en-US" altLang="zh-CN" sz="1800" dirty="0">
                <a:solidFill>
                  <a:srgbClr val="B92B32"/>
                </a:solidFill>
                <a:latin typeface="Arial" panose="020B0604020202020204" pitchFamily="34" charset="0"/>
                <a:ea typeface="宋体" panose="02010600030101010101" pitchFamily="2" charset="-122"/>
              </a:rPr>
              <a:t>replacement policy</a:t>
            </a:r>
            <a:endParaRPr lang="en-US" altLang="zh-CN" sz="1800" dirty="0">
              <a:solidFill>
                <a:srgbClr val="B92B32"/>
              </a:solidFill>
              <a:latin typeface="Arial" panose="020B0604020202020204" pitchFamily="34" charset="0"/>
              <a:ea typeface="宋体" panose="02010600030101010101" pitchFamily="2" charset="-122"/>
            </a:endParaRPr>
          </a:p>
        </p:txBody>
      </p:sp>
      <p:sp>
        <p:nvSpPr>
          <p:cNvPr id="59" name="Line 36"/>
          <p:cNvSpPr/>
          <p:nvPr/>
        </p:nvSpPr>
        <p:spPr>
          <a:xfrm>
            <a:off x="8294399" y="4848225"/>
            <a:ext cx="0" cy="549275"/>
          </a:xfrm>
          <a:prstGeom prst="line">
            <a:avLst/>
          </a:prstGeom>
          <a:ln w="25400" cap="flat" cmpd="sng">
            <a:solidFill>
              <a:srgbClr val="B92B32"/>
            </a:solidFill>
            <a:prstDash val="solid"/>
            <a:round/>
            <a:headEnd type="stealth" w="med" len="lg"/>
            <a:tailEnd type="stealth" w="med" len="lg"/>
          </a:ln>
        </p:spPr>
      </p:sp>
      <p:sp>
        <p:nvSpPr>
          <p:cNvPr id="60"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磁盘及磁盘的容量</a:t>
            </a:r>
            <a:endParaRPr lang="en-US" altLang="zh-CN" dirty="0">
              <a:latin typeface="微软雅黑" panose="020B0503020204020204" pitchFamily="34" charset="-122"/>
              <a:ea typeface="微软雅黑" panose="020B0503020204020204" pitchFamily="34" charset="-122"/>
            </a:endParaRPr>
          </a:p>
          <a:p>
            <a:pPr marL="0" indent="0">
              <a:lnSpc>
                <a:spcPct val="130000"/>
              </a:lnSpc>
              <a:buNone/>
            </a:pPr>
            <a:endParaRPr lang="en-US" altLang="zh-CN" sz="2000" dirty="0">
              <a:latin typeface="微软雅黑" panose="020B0503020204020204" pitchFamily="34" charset="-122"/>
              <a:ea typeface="微软雅黑" panose="020B0503020204020204" pitchFamily="34" charset="-122"/>
            </a:endParaRPr>
          </a:p>
        </p:txBody>
      </p:sp>
      <p:sp>
        <p:nvSpPr>
          <p:cNvPr id="60"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p:txBody>
          <a:bodyPr/>
          <a:lstStyle/>
          <a:p>
            <a:pPr algn="l"/>
            <a:r>
              <a:rPr lang="en-US" altLang="zh-CN" dirty="0"/>
              <a:t>6.1 </a:t>
            </a:r>
            <a:r>
              <a:rPr lang="zh-CN" altLang="zh-CN" dirty="0"/>
              <a:t>基础回顾-磁盘的结构与特性</a:t>
            </a:r>
            <a:endParaRPr lang="zh-CN" altLang="en-US" dirty="0"/>
          </a:p>
        </p:txBody>
      </p:sp>
      <p:sp>
        <p:nvSpPr>
          <p:cNvPr id="3" name="Shape18"/>
          <p:cNvSpPr/>
          <p:nvPr/>
        </p:nvSpPr>
        <p:spPr>
          <a:xfrm>
            <a:off x="6361026" y="2206778"/>
            <a:ext cx="4221411" cy="365760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4" name="Shape18"/>
          <p:cNvSpPr/>
          <p:nvPr/>
        </p:nvSpPr>
        <p:spPr>
          <a:xfrm>
            <a:off x="1361915" y="2206778"/>
            <a:ext cx="3881805" cy="365760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6" name="内容占位符 3"/>
          <p:cNvSpPr txBox="1"/>
          <p:nvPr/>
        </p:nvSpPr>
        <p:spPr>
          <a:xfrm>
            <a:off x="1469571" y="2262462"/>
            <a:ext cx="3774148" cy="375404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zh-CN" altLang="en-US" dirty="0">
                <a:solidFill>
                  <a:srgbClr val="701988"/>
                </a:solidFill>
                <a:latin typeface="微软雅黑" panose="020B0503020204020204" pitchFamily="82" charset="2"/>
                <a:ea typeface="微软雅黑" panose="020B0503020204020204" pitchFamily="82" charset="2"/>
              </a:rPr>
              <a:t>盘片</a:t>
            </a:r>
            <a:endParaRPr lang="en-US" altLang="zh-CN" dirty="0">
              <a:solidFill>
                <a:srgbClr val="701988"/>
              </a:solidFill>
              <a:latin typeface="微软雅黑" panose="020B0503020204020204" pitchFamily="82" charset="2"/>
              <a:ea typeface="微软雅黑" panose="020B0503020204020204" pitchFamily="82" charset="2"/>
            </a:endParaRPr>
          </a:p>
          <a:p>
            <a:pPr lvl="1" fontAlgn="auto">
              <a:spcAft>
                <a:spcPts val="0"/>
              </a:spcAft>
            </a:pPr>
            <a:r>
              <a:rPr lang="zh-CN" altLang="zh-CN" sz="1500" dirty="0">
                <a:latin typeface="微软雅黑" panose="020B0503020204020204" pitchFamily="82" charset="2"/>
                <a:ea typeface="微软雅黑" panose="020B0503020204020204" pitchFamily="82" charset="2"/>
              </a:rPr>
              <a:t>覆盖磁性物质</a:t>
            </a:r>
            <a:r>
              <a:rPr lang="zh-CN" altLang="en-US" sz="1500" dirty="0">
                <a:latin typeface="微软雅黑" panose="020B0503020204020204" pitchFamily="82" charset="2"/>
                <a:ea typeface="微软雅黑" panose="020B0503020204020204" pitchFamily="82" charset="2"/>
              </a:rPr>
              <a:t>，</a:t>
            </a:r>
            <a:r>
              <a:rPr lang="zh-CN" altLang="zh-CN" sz="1500" dirty="0">
                <a:latin typeface="微软雅黑" panose="020B0503020204020204" pitchFamily="82" charset="2"/>
                <a:ea typeface="微软雅黑" panose="020B0503020204020204" pitchFamily="82" charset="2"/>
              </a:rPr>
              <a:t>通过改变磁性物质的磁场方向来存储二进制的</a:t>
            </a:r>
            <a:r>
              <a:rPr lang="en-US" altLang="zh-CN" sz="1500" dirty="0">
                <a:latin typeface="微软雅黑" panose="020B0503020204020204" pitchFamily="82" charset="2"/>
                <a:ea typeface="微软雅黑" panose="020B0503020204020204" pitchFamily="82" charset="2"/>
              </a:rPr>
              <a:t>0</a:t>
            </a:r>
            <a:r>
              <a:rPr lang="zh-CN" altLang="zh-CN" sz="1500" dirty="0">
                <a:latin typeface="微软雅黑" panose="020B0503020204020204" pitchFamily="82" charset="2"/>
                <a:ea typeface="微软雅黑" panose="020B0503020204020204" pitchFamily="82" charset="2"/>
              </a:rPr>
              <a:t>和</a:t>
            </a:r>
            <a:r>
              <a:rPr lang="en-US" altLang="zh-CN" sz="1500" dirty="0">
                <a:latin typeface="微软雅黑" panose="020B0503020204020204" pitchFamily="82" charset="2"/>
                <a:ea typeface="微软雅黑" panose="020B0503020204020204" pitchFamily="82" charset="2"/>
              </a:rPr>
              <a:t>1</a:t>
            </a:r>
            <a:r>
              <a:rPr lang="zh-CN" altLang="en-US" sz="1500" dirty="0">
                <a:latin typeface="微软雅黑" panose="020B0503020204020204" pitchFamily="82" charset="2"/>
                <a:ea typeface="微软雅黑" panose="020B0503020204020204" pitchFamily="82" charset="2"/>
              </a:rPr>
              <a:t>，高速旋转</a:t>
            </a:r>
            <a:r>
              <a:rPr lang="zh-CN" altLang="zh-CN" sz="1500" dirty="0">
                <a:latin typeface="微软雅黑" panose="020B0503020204020204" pitchFamily="82" charset="2"/>
                <a:ea typeface="微软雅黑" panose="020B0503020204020204" pitchFamily="82" charset="2"/>
              </a:rPr>
              <a:t>每分钟</a:t>
            </a:r>
            <a:r>
              <a:rPr lang="en-US" altLang="zh-CN" sz="1500" dirty="0">
                <a:latin typeface="微软雅黑" panose="020B0503020204020204" pitchFamily="82" charset="2"/>
                <a:ea typeface="微软雅黑" panose="020B0503020204020204" pitchFamily="82" charset="2"/>
              </a:rPr>
              <a:t>5400</a:t>
            </a:r>
            <a:r>
              <a:rPr lang="zh-CN" altLang="zh-CN" sz="1500" dirty="0">
                <a:latin typeface="微软雅黑" panose="020B0503020204020204" pitchFamily="82" charset="2"/>
                <a:ea typeface="微软雅黑" panose="020B0503020204020204" pitchFamily="82" charset="2"/>
              </a:rPr>
              <a:t>转至</a:t>
            </a:r>
            <a:r>
              <a:rPr lang="en-US" altLang="zh-CN" sz="1500" dirty="0">
                <a:latin typeface="微软雅黑" panose="020B0503020204020204" pitchFamily="82" charset="2"/>
                <a:ea typeface="微软雅黑" panose="020B0503020204020204" pitchFamily="82" charset="2"/>
              </a:rPr>
              <a:t>7200</a:t>
            </a:r>
            <a:r>
              <a:rPr lang="zh-CN" altLang="zh-CN" sz="1500" dirty="0">
                <a:latin typeface="微软雅黑" panose="020B0503020204020204" pitchFamily="82" charset="2"/>
                <a:ea typeface="微软雅黑" panose="020B0503020204020204" pitchFamily="82" charset="2"/>
              </a:rPr>
              <a:t>转 </a:t>
            </a:r>
            <a:endParaRPr lang="en-US" altLang="zh-CN" sz="1500" dirty="0">
              <a:latin typeface="微软雅黑" panose="020B0503020204020204" pitchFamily="82" charset="2"/>
              <a:ea typeface="微软雅黑" panose="020B0503020204020204" pitchFamily="82" charset="2"/>
            </a:endParaRPr>
          </a:p>
          <a:p>
            <a:pPr fontAlgn="auto">
              <a:spcAft>
                <a:spcPts val="0"/>
              </a:spcAft>
            </a:pPr>
            <a:r>
              <a:rPr lang="zh-CN" altLang="zh-CN" dirty="0">
                <a:solidFill>
                  <a:srgbClr val="701988"/>
                </a:solidFill>
                <a:latin typeface="微软雅黑" panose="020B0503020204020204" pitchFamily="82" charset="2"/>
                <a:ea typeface="微软雅黑" panose="020B0503020204020204" pitchFamily="82" charset="2"/>
              </a:rPr>
              <a:t>磁头</a:t>
            </a:r>
            <a:endParaRPr lang="en-US" altLang="zh-CN" dirty="0">
              <a:solidFill>
                <a:srgbClr val="701988"/>
              </a:solidFill>
              <a:latin typeface="微软雅黑" panose="020B0503020204020204" pitchFamily="82" charset="2"/>
              <a:ea typeface="微软雅黑" panose="020B0503020204020204" pitchFamily="82" charset="2"/>
            </a:endParaRPr>
          </a:p>
          <a:p>
            <a:pPr lvl="1" fontAlgn="auto">
              <a:spcAft>
                <a:spcPts val="0"/>
              </a:spcAft>
            </a:pPr>
            <a:r>
              <a:rPr lang="zh-CN" altLang="zh-CN" sz="1500" dirty="0">
                <a:latin typeface="微软雅黑" panose="020B0503020204020204" pitchFamily="82" charset="2"/>
                <a:ea typeface="微软雅黑" panose="020B0503020204020204" pitchFamily="82" charset="2"/>
              </a:rPr>
              <a:t>改变磁性物质状态并且读写数据</a:t>
            </a:r>
            <a:endParaRPr lang="en-US" altLang="zh-CN" sz="1500" dirty="0">
              <a:latin typeface="微软雅黑" panose="020B0503020204020204" pitchFamily="82" charset="2"/>
              <a:ea typeface="微软雅黑" panose="020B0503020204020204" pitchFamily="82" charset="2"/>
            </a:endParaRPr>
          </a:p>
          <a:p>
            <a:pPr fontAlgn="auto">
              <a:spcAft>
                <a:spcPts val="0"/>
              </a:spcAft>
            </a:pPr>
            <a:r>
              <a:rPr lang="zh-CN" altLang="en-US" dirty="0">
                <a:solidFill>
                  <a:srgbClr val="701988"/>
                </a:solidFill>
                <a:latin typeface="微软雅黑" panose="020B0503020204020204" pitchFamily="82" charset="2"/>
                <a:ea typeface="微软雅黑" panose="020B0503020204020204" pitchFamily="82" charset="2"/>
              </a:rPr>
              <a:t>磁道</a:t>
            </a:r>
            <a:endParaRPr lang="en-US" altLang="zh-CN" dirty="0">
              <a:solidFill>
                <a:srgbClr val="701988"/>
              </a:solidFill>
              <a:latin typeface="微软雅黑" panose="020B0503020204020204" pitchFamily="82" charset="2"/>
              <a:ea typeface="微软雅黑" panose="020B0503020204020204" pitchFamily="82" charset="2"/>
            </a:endParaRPr>
          </a:p>
          <a:p>
            <a:pPr lvl="1" fontAlgn="auto">
              <a:spcAft>
                <a:spcPts val="0"/>
              </a:spcAft>
            </a:pPr>
            <a:r>
              <a:rPr lang="zh-CN" altLang="en-US" sz="1500" dirty="0">
                <a:latin typeface="微软雅黑" panose="020B0503020204020204" pitchFamily="82" charset="2"/>
                <a:ea typeface="微软雅黑" panose="020B0503020204020204" pitchFamily="82" charset="2"/>
              </a:rPr>
              <a:t>盘片上的圆环区域</a:t>
            </a:r>
            <a:endParaRPr lang="en-US" altLang="zh-CN" sz="1500" dirty="0">
              <a:latin typeface="微软雅黑" panose="020B0503020204020204" pitchFamily="82" charset="2"/>
              <a:ea typeface="微软雅黑" panose="020B0503020204020204" pitchFamily="82" charset="2"/>
            </a:endParaRPr>
          </a:p>
          <a:p>
            <a:pPr fontAlgn="auto">
              <a:spcAft>
                <a:spcPts val="0"/>
              </a:spcAft>
            </a:pPr>
            <a:r>
              <a:rPr lang="zh-CN" altLang="en-US" dirty="0">
                <a:solidFill>
                  <a:srgbClr val="701988"/>
                </a:solidFill>
                <a:latin typeface="微软雅黑" panose="020B0503020204020204" pitchFamily="82" charset="2"/>
                <a:ea typeface="微软雅黑" panose="020B0503020204020204" pitchFamily="82" charset="2"/>
              </a:rPr>
              <a:t>柱面</a:t>
            </a:r>
            <a:endParaRPr lang="en-US" altLang="zh-CN" dirty="0">
              <a:solidFill>
                <a:srgbClr val="701988"/>
              </a:solidFill>
              <a:latin typeface="微软雅黑" panose="020B0503020204020204" pitchFamily="82" charset="2"/>
              <a:ea typeface="微软雅黑" panose="020B0503020204020204" pitchFamily="82" charset="2"/>
            </a:endParaRPr>
          </a:p>
          <a:p>
            <a:pPr lvl="1" fontAlgn="auto">
              <a:spcAft>
                <a:spcPts val="0"/>
              </a:spcAft>
            </a:pPr>
            <a:r>
              <a:rPr lang="zh-CN" altLang="en-US" sz="1500" dirty="0">
                <a:latin typeface="微软雅黑" panose="020B0503020204020204" pitchFamily="82" charset="2"/>
                <a:ea typeface="微软雅黑" panose="020B0503020204020204" pitchFamily="82" charset="2"/>
              </a:rPr>
              <a:t>纵向对齐的多个磁道</a:t>
            </a:r>
            <a:endParaRPr lang="zh-CN" altLang="en-US" sz="1500" dirty="0">
              <a:latin typeface="微软雅黑" panose="020B0503020204020204" pitchFamily="82" charset="2"/>
              <a:ea typeface="微软雅黑" panose="020B0503020204020204" pitchFamily="82" charset="2"/>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498432" y="2639742"/>
            <a:ext cx="3969704" cy="2659116"/>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基础回顾-磁盘的结构与特性</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磁盘及磁盘的容量</a:t>
            </a:r>
            <a:endParaRPr lang="en-US" altLang="zh-CN" dirty="0">
              <a:latin typeface="微软雅黑" panose="020B0503020204020204" pitchFamily="34" charset="-122"/>
              <a:ea typeface="微软雅黑" panose="020B0503020204020204" pitchFamily="34" charset="-122"/>
            </a:endParaRPr>
          </a:p>
          <a:p>
            <a:pPr>
              <a:lnSpc>
                <a:spcPct val="130000"/>
              </a:lnSpc>
              <a:buFont typeface="Wingdings" panose="05000000000000000000" pitchFamily="2" charset="2"/>
              <a:buNone/>
            </a:pPr>
            <a:r>
              <a:rPr lang="zh-CN" altLang="en-US" sz="2000" b="0" dirty="0"/>
              <a:t>盘面</a:t>
            </a:r>
            <a:r>
              <a:rPr lang="en-US" altLang="zh-CN" sz="2000" b="0" dirty="0"/>
              <a:t>: </a:t>
            </a:r>
            <a:r>
              <a:rPr lang="zh-CN" altLang="en-US" sz="2000" b="0" dirty="0"/>
              <a:t>磁道</a:t>
            </a:r>
            <a:r>
              <a:rPr lang="en-US" altLang="zh-CN" sz="2000" b="0" dirty="0"/>
              <a:t>: </a:t>
            </a:r>
            <a:r>
              <a:rPr lang="zh-CN" altLang="en-US" sz="2000" b="0" dirty="0"/>
              <a:t>扇区</a:t>
            </a:r>
            <a:endParaRPr lang="zh-CN" altLang="en-US" sz="2000" b="0" dirty="0"/>
          </a:p>
          <a:p>
            <a:pPr>
              <a:lnSpc>
                <a:spcPct val="130000"/>
              </a:lnSpc>
              <a:buFont typeface="Wingdings" panose="05000000000000000000" pitchFamily="2" charset="2"/>
              <a:buChar char="Ø"/>
            </a:pPr>
            <a:r>
              <a:rPr lang="zh-CN" altLang="en-US" sz="2000" b="0" dirty="0"/>
              <a:t>磁盘读写单位：</a:t>
            </a:r>
            <a:r>
              <a:rPr lang="en-US" altLang="zh-CN" sz="2000" b="0" dirty="0"/>
              <a:t>Sector  </a:t>
            </a:r>
            <a:r>
              <a:rPr lang="en-US" altLang="zh-CN" sz="2000" b="0" dirty="0">
                <a:sym typeface="Wingdings" panose="05000000000000000000" pitchFamily="2" charset="2"/>
              </a:rPr>
              <a:t></a:t>
            </a:r>
            <a:r>
              <a:rPr lang="en-US" altLang="zh-CN" sz="2000" b="0" dirty="0"/>
              <a:t>  </a:t>
            </a:r>
            <a:r>
              <a:rPr lang="zh-CN" altLang="en-US" sz="2000" b="0" dirty="0"/>
              <a:t>簇</a:t>
            </a:r>
            <a:r>
              <a:rPr lang="en-US" altLang="zh-CN" sz="2000" b="0" dirty="0"/>
              <a:t>Cluster/</a:t>
            </a:r>
            <a:r>
              <a:rPr lang="zh-CN" altLang="en-US" sz="2000" b="0" dirty="0"/>
              <a:t>块</a:t>
            </a:r>
            <a:r>
              <a:rPr lang="en-US" altLang="zh-CN" sz="2000" b="0" dirty="0" err="1"/>
              <a:t>Block:</a:t>
            </a:r>
            <a:r>
              <a:rPr lang="en-US" altLang="zh-CN" sz="2000" b="0" dirty="0" err="1">
                <a:sym typeface="+mn-ea"/>
              </a:rPr>
              <a:t>若干个</a:t>
            </a:r>
            <a:r>
              <a:rPr lang="en-US" altLang="zh-CN" sz="2000" b="0" dirty="0" err="1"/>
              <a:t>连续的扇区</a:t>
            </a:r>
            <a:endParaRPr lang="zh-CN" altLang="en-US" sz="2000" b="0" dirty="0"/>
          </a:p>
          <a:p>
            <a:pPr marL="0" indent="0">
              <a:lnSpc>
                <a:spcPct val="130000"/>
              </a:lnSpc>
              <a:buNone/>
            </a:pPr>
            <a:endParaRPr lang="en-US" altLang="zh-CN" sz="2000" dirty="0">
              <a:latin typeface="微软雅黑" panose="020B0503020204020204" pitchFamily="34" charset="-122"/>
              <a:ea typeface="微软雅黑" panose="020B0503020204020204" pitchFamily="34" charset="-122"/>
            </a:endParaRPr>
          </a:p>
        </p:txBody>
      </p:sp>
      <p:sp>
        <p:nvSpPr>
          <p:cNvPr id="60"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
        <p:nvSpPr>
          <p:cNvPr id="8" name="Text Box 11"/>
          <p:cNvSpPr txBox="1"/>
          <p:nvPr/>
        </p:nvSpPr>
        <p:spPr>
          <a:xfrm>
            <a:off x="1148135" y="3704594"/>
            <a:ext cx="4445000" cy="2052637"/>
          </a:xfrm>
          <a:prstGeom prst="rect">
            <a:avLst/>
          </a:prstGeom>
          <a:noFill/>
          <a:ln w="9525" cap="flat" cmpd="sng">
            <a:solidFill>
              <a:srgbClr val="666633"/>
            </a:solidFill>
            <a:prstDash val="solid"/>
            <a:miter/>
            <a:headEnd type="none" w="med" len="med"/>
            <a:tailEnd type="none" w="med" len="med"/>
          </a:ln>
        </p:spPr>
        <p:txBody>
          <a:bodyPr wrap="none" anchor="t">
            <a:spAutoFit/>
          </a:bodyPr>
          <a:lstStyle/>
          <a:p>
            <a:r>
              <a:rPr lang="zh-CN" altLang="en-US" sz="2000" dirty="0">
                <a:solidFill>
                  <a:schemeClr val="accent2"/>
                </a:solidFill>
                <a:latin typeface="Times New Roman" panose="02020603050405020304" pitchFamily="18" charset="0"/>
                <a:ea typeface="微软雅黑" panose="020B0503020204020204" pitchFamily="34" charset="-122"/>
              </a:rPr>
              <a:t>示例</a:t>
            </a:r>
            <a:r>
              <a:rPr lang="zh-CN" altLang="en-US" sz="2000" dirty="0">
                <a:latin typeface="Times New Roman" panose="02020603050405020304" pitchFamily="18" charset="0"/>
                <a:ea typeface="微软雅黑" panose="020B0503020204020204" pitchFamily="34" charset="-122"/>
              </a:rPr>
              <a:t>：一个磁盘的基本信息</a:t>
            </a:r>
            <a:endParaRPr lang="zh-CN" altLang="en-US" sz="2000" dirty="0">
              <a:latin typeface="Times New Roman" panose="02020603050405020304" pitchFamily="18" charset="0"/>
              <a:ea typeface="微软雅黑" panose="020B0503020204020204" pitchFamily="34" charset="-122"/>
            </a:endParaRPr>
          </a:p>
          <a:p>
            <a:pPr>
              <a:buChar char="•"/>
            </a:pPr>
            <a:r>
              <a:rPr lang="en-US" altLang="zh-CN" sz="2000" dirty="0">
                <a:latin typeface="Times New Roman" panose="02020603050405020304" pitchFamily="18" charset="0"/>
                <a:ea typeface="微软雅黑" panose="020B0503020204020204" pitchFamily="34" charset="-122"/>
              </a:rPr>
              <a:t>8</a:t>
            </a:r>
            <a:r>
              <a:rPr lang="zh-CN" altLang="en-US" sz="2000" dirty="0">
                <a:latin typeface="Times New Roman" panose="02020603050405020304" pitchFamily="18" charset="0"/>
                <a:ea typeface="微软雅黑" panose="020B0503020204020204" pitchFamily="34" charset="-122"/>
              </a:rPr>
              <a:t>个圆盘，</a:t>
            </a:r>
            <a:r>
              <a:rPr lang="en-US" altLang="zh-CN" sz="2000" dirty="0">
                <a:latin typeface="Times New Roman" panose="02020603050405020304" pitchFamily="18" charset="0"/>
                <a:ea typeface="微软雅黑" panose="020B0503020204020204" pitchFamily="34" charset="-122"/>
              </a:rPr>
              <a:t>16</a:t>
            </a:r>
            <a:r>
              <a:rPr lang="zh-CN" altLang="en-US" sz="2000" dirty="0">
                <a:latin typeface="Times New Roman" panose="02020603050405020304" pitchFamily="18" charset="0"/>
                <a:ea typeface="微软雅黑" panose="020B0503020204020204" pitchFamily="34" charset="-122"/>
              </a:rPr>
              <a:t>个盘面</a:t>
            </a:r>
            <a:endParaRPr lang="zh-CN" altLang="en-US" sz="2000" dirty="0">
              <a:latin typeface="Times New Roman" panose="02020603050405020304" pitchFamily="18" charset="0"/>
              <a:ea typeface="微软雅黑" panose="020B0503020204020204" pitchFamily="34" charset="-122"/>
            </a:endParaRPr>
          </a:p>
          <a:p>
            <a:pPr>
              <a:buChar char="•"/>
            </a:pPr>
            <a:r>
              <a:rPr lang="zh-CN" altLang="en-US" sz="2000" dirty="0">
                <a:latin typeface="Times New Roman" panose="02020603050405020304" pitchFamily="18" charset="0"/>
                <a:ea typeface="微软雅黑" panose="020B0503020204020204" pitchFamily="34" charset="-122"/>
              </a:rPr>
              <a:t>每个盘面有</a:t>
            </a:r>
            <a:r>
              <a:rPr lang="en-US" altLang="zh-CN" sz="2000" dirty="0">
                <a:latin typeface="Times New Roman" panose="02020603050405020304" pitchFamily="18" charset="0"/>
                <a:ea typeface="微软雅黑" panose="020B0503020204020204" pitchFamily="34" charset="-122"/>
              </a:rPr>
              <a:t>2</a:t>
            </a:r>
            <a:r>
              <a:rPr lang="en-US" altLang="zh-CN" sz="2000" baseline="30000" dirty="0">
                <a:latin typeface="Times New Roman" panose="02020603050405020304" pitchFamily="18" charset="0"/>
                <a:ea typeface="微软雅黑" panose="020B0503020204020204" pitchFamily="34" charset="-122"/>
              </a:rPr>
              <a:t>16</a:t>
            </a:r>
            <a:r>
              <a:rPr lang="zh-CN" altLang="en-US" sz="2000" dirty="0">
                <a:latin typeface="Times New Roman" panose="02020603050405020304" pitchFamily="18" charset="0"/>
                <a:ea typeface="微软雅黑" panose="020B0503020204020204" pitchFamily="34" charset="-122"/>
              </a:rPr>
              <a:t>或</a:t>
            </a:r>
            <a:r>
              <a:rPr lang="en-US" altLang="zh-CN" sz="2000" dirty="0">
                <a:latin typeface="Times New Roman" panose="02020603050405020304" pitchFamily="18" charset="0"/>
                <a:ea typeface="微软雅黑" panose="020B0503020204020204" pitchFamily="34" charset="-122"/>
              </a:rPr>
              <a:t>65536</a:t>
            </a:r>
            <a:r>
              <a:rPr lang="zh-CN" altLang="en-US" sz="2000" dirty="0">
                <a:latin typeface="Times New Roman" panose="02020603050405020304" pitchFamily="18" charset="0"/>
                <a:ea typeface="微软雅黑" panose="020B0503020204020204" pitchFamily="34" charset="-122"/>
              </a:rPr>
              <a:t>个磁道</a:t>
            </a:r>
            <a:endParaRPr lang="zh-CN" altLang="en-US" sz="2000" dirty="0">
              <a:latin typeface="Times New Roman" panose="02020603050405020304" pitchFamily="18" charset="0"/>
              <a:ea typeface="微软雅黑" panose="020B0503020204020204" pitchFamily="34" charset="-122"/>
            </a:endParaRPr>
          </a:p>
          <a:p>
            <a:pPr>
              <a:buChar char="•"/>
            </a:pPr>
            <a:r>
              <a:rPr lang="zh-CN" altLang="en-US" sz="2000" dirty="0">
                <a:latin typeface="Times New Roman" panose="02020603050405020304" pitchFamily="18" charset="0"/>
                <a:ea typeface="微软雅黑" panose="020B0503020204020204" pitchFamily="34" charset="-122"/>
              </a:rPr>
              <a:t>每个磁道</a:t>
            </a:r>
            <a:r>
              <a:rPr lang="en-US" altLang="zh-CN" sz="2000" dirty="0">
                <a:latin typeface="Times New Roman" panose="02020603050405020304" pitchFamily="18" charset="0"/>
                <a:ea typeface="微软雅黑" panose="020B0503020204020204" pitchFamily="34" charset="-122"/>
              </a:rPr>
              <a:t>(</a:t>
            </a:r>
            <a:r>
              <a:rPr lang="zh-CN" altLang="en-US" sz="2000" dirty="0">
                <a:latin typeface="Times New Roman" panose="02020603050405020304" pitchFamily="18" charset="0"/>
                <a:ea typeface="微软雅黑" panose="020B0503020204020204" pitchFamily="34" charset="-122"/>
              </a:rPr>
              <a:t>平均</a:t>
            </a:r>
            <a:r>
              <a:rPr lang="en-US" altLang="zh-CN" sz="2000" dirty="0">
                <a:latin typeface="Times New Roman" panose="02020603050405020304" pitchFamily="18" charset="0"/>
                <a:ea typeface="微软雅黑" panose="020B0503020204020204" pitchFamily="34" charset="-122"/>
              </a:rPr>
              <a:t>)</a:t>
            </a:r>
            <a:r>
              <a:rPr lang="zh-CN" altLang="en-US" sz="2000" dirty="0">
                <a:latin typeface="Times New Roman" panose="02020603050405020304" pitchFamily="18" charset="0"/>
                <a:ea typeface="微软雅黑" panose="020B0503020204020204" pitchFamily="34" charset="-122"/>
              </a:rPr>
              <a:t>有</a:t>
            </a:r>
            <a:r>
              <a:rPr lang="en-US" altLang="zh-CN" sz="2000" dirty="0">
                <a:latin typeface="Times New Roman" panose="02020603050405020304" pitchFamily="18" charset="0"/>
                <a:ea typeface="微软雅黑" panose="020B0503020204020204" pitchFamily="34" charset="-122"/>
              </a:rPr>
              <a:t>2</a:t>
            </a:r>
            <a:r>
              <a:rPr lang="en-US" altLang="zh-CN" sz="2000" baseline="30000" dirty="0">
                <a:latin typeface="Times New Roman" panose="02020603050405020304" pitchFamily="18" charset="0"/>
                <a:ea typeface="微软雅黑" panose="020B0503020204020204" pitchFamily="34" charset="-122"/>
              </a:rPr>
              <a:t>8</a:t>
            </a:r>
            <a:r>
              <a:rPr lang="en-US" altLang="zh-CN" sz="2000" dirty="0">
                <a:latin typeface="Times New Roman" panose="02020603050405020304" pitchFamily="18" charset="0"/>
                <a:ea typeface="微软雅黑" panose="020B0503020204020204" pitchFamily="34" charset="-122"/>
              </a:rPr>
              <a:t>=256</a:t>
            </a:r>
            <a:r>
              <a:rPr lang="zh-CN" altLang="en-US" sz="2000" dirty="0">
                <a:latin typeface="Times New Roman" panose="02020603050405020304" pitchFamily="18" charset="0"/>
                <a:ea typeface="微软雅黑" panose="020B0503020204020204" pitchFamily="34" charset="-122"/>
              </a:rPr>
              <a:t>个扇区</a:t>
            </a:r>
            <a:endParaRPr lang="zh-CN" altLang="en-US" sz="2000" dirty="0">
              <a:latin typeface="Times New Roman" panose="02020603050405020304" pitchFamily="18" charset="0"/>
              <a:ea typeface="微软雅黑" panose="020B0503020204020204" pitchFamily="34" charset="-122"/>
            </a:endParaRPr>
          </a:p>
          <a:p>
            <a:pPr>
              <a:buChar char="•"/>
            </a:pPr>
            <a:r>
              <a:rPr lang="zh-CN" altLang="en-US" sz="2000" dirty="0">
                <a:latin typeface="Times New Roman" panose="02020603050405020304" pitchFamily="18" charset="0"/>
                <a:ea typeface="微软雅黑" panose="020B0503020204020204" pitchFamily="34" charset="-122"/>
              </a:rPr>
              <a:t>每个扇区有</a:t>
            </a:r>
            <a:r>
              <a:rPr lang="en-US" altLang="zh-CN" sz="2000" dirty="0">
                <a:latin typeface="Times New Roman" panose="02020603050405020304" pitchFamily="18" charset="0"/>
                <a:ea typeface="微软雅黑" panose="020B0503020204020204" pitchFamily="34" charset="-122"/>
              </a:rPr>
              <a:t>2</a:t>
            </a:r>
            <a:r>
              <a:rPr lang="en-US" altLang="zh-CN" sz="2000" baseline="30000" dirty="0">
                <a:latin typeface="Times New Roman" panose="02020603050405020304" pitchFamily="18" charset="0"/>
                <a:ea typeface="微软雅黑" panose="020B0503020204020204" pitchFamily="34" charset="-122"/>
              </a:rPr>
              <a:t>12</a:t>
            </a:r>
            <a:r>
              <a:rPr lang="en-US" altLang="zh-CN" sz="2000" dirty="0">
                <a:latin typeface="Times New Roman" panose="02020603050405020304" pitchFamily="18" charset="0"/>
                <a:ea typeface="微软雅黑" panose="020B0503020204020204" pitchFamily="34" charset="-122"/>
              </a:rPr>
              <a:t>=4096</a:t>
            </a:r>
            <a:r>
              <a:rPr lang="zh-CN" altLang="en-US" sz="2000" dirty="0">
                <a:latin typeface="Times New Roman" panose="02020603050405020304" pitchFamily="18" charset="0"/>
                <a:ea typeface="微软雅黑" panose="020B0503020204020204" pitchFamily="34" charset="-122"/>
              </a:rPr>
              <a:t>个字节</a:t>
            </a:r>
            <a:endParaRPr lang="zh-CN" altLang="en-US" sz="2000" dirty="0">
              <a:latin typeface="Times New Roman" panose="02020603050405020304" pitchFamily="18" charset="0"/>
              <a:ea typeface="微软雅黑" panose="020B0503020204020204" pitchFamily="34" charset="-122"/>
            </a:endParaRPr>
          </a:p>
          <a:p>
            <a:r>
              <a:rPr lang="zh-CN" altLang="en-US" sz="2800" dirty="0">
                <a:latin typeface="Times New Roman" panose="02020603050405020304" pitchFamily="18" charset="0"/>
                <a:ea typeface="微软雅黑" panose="020B0503020204020204" pitchFamily="34" charset="-122"/>
              </a:rPr>
              <a:t>磁盘的容量</a:t>
            </a:r>
            <a:r>
              <a:rPr lang="en-US" altLang="zh-CN" sz="2000" dirty="0">
                <a:latin typeface="Times New Roman" panose="02020603050405020304" pitchFamily="18" charset="0"/>
                <a:ea typeface="微软雅黑" panose="020B0503020204020204" pitchFamily="34" charset="-122"/>
              </a:rPr>
              <a:t>=2</a:t>
            </a:r>
            <a:r>
              <a:rPr lang="en-US" altLang="zh-CN" sz="2000" baseline="30000" dirty="0">
                <a:latin typeface="Times New Roman" panose="02020603050405020304" pitchFamily="18" charset="0"/>
                <a:ea typeface="微软雅黑" panose="020B0503020204020204" pitchFamily="34" charset="-122"/>
              </a:rPr>
              <a:t>4</a:t>
            </a:r>
            <a:r>
              <a:rPr lang="en-US" altLang="zh-CN" sz="2000" dirty="0">
                <a:latin typeface="Times New Roman" panose="02020603050405020304" pitchFamily="18" charset="0"/>
                <a:ea typeface="微软雅黑" panose="020B0503020204020204" pitchFamily="34" charset="-122"/>
              </a:rPr>
              <a:t>*2</a:t>
            </a:r>
            <a:r>
              <a:rPr lang="en-US" altLang="zh-CN" sz="2000" baseline="30000" dirty="0">
                <a:latin typeface="Times New Roman" panose="02020603050405020304" pitchFamily="18" charset="0"/>
                <a:ea typeface="微软雅黑" panose="020B0503020204020204" pitchFamily="34" charset="-122"/>
              </a:rPr>
              <a:t>16</a:t>
            </a:r>
            <a:r>
              <a:rPr lang="en-US" altLang="zh-CN" sz="2000" dirty="0">
                <a:latin typeface="Times New Roman" panose="02020603050405020304" pitchFamily="18" charset="0"/>
                <a:ea typeface="微软雅黑" panose="020B0503020204020204" pitchFamily="34" charset="-122"/>
              </a:rPr>
              <a:t>*2</a:t>
            </a:r>
            <a:r>
              <a:rPr lang="en-US" altLang="zh-CN" sz="2000" baseline="30000" dirty="0">
                <a:latin typeface="Times New Roman" panose="02020603050405020304" pitchFamily="18" charset="0"/>
                <a:ea typeface="微软雅黑" panose="020B0503020204020204" pitchFamily="34" charset="-122"/>
              </a:rPr>
              <a:t>8</a:t>
            </a:r>
            <a:r>
              <a:rPr lang="en-US" altLang="zh-CN" sz="2000" dirty="0">
                <a:latin typeface="Times New Roman" panose="02020603050405020304" pitchFamily="18" charset="0"/>
                <a:ea typeface="微软雅黑" panose="020B0503020204020204" pitchFamily="34" charset="-122"/>
              </a:rPr>
              <a:t>*2</a:t>
            </a:r>
            <a:r>
              <a:rPr lang="en-US" altLang="zh-CN" sz="2000" baseline="30000" dirty="0">
                <a:latin typeface="Times New Roman" panose="02020603050405020304" pitchFamily="18" charset="0"/>
                <a:ea typeface="微软雅黑" panose="020B0503020204020204" pitchFamily="34" charset="-122"/>
              </a:rPr>
              <a:t>12</a:t>
            </a:r>
            <a:r>
              <a:rPr lang="en-US" altLang="zh-CN" sz="2000" dirty="0">
                <a:latin typeface="Times New Roman" panose="02020603050405020304" pitchFamily="18" charset="0"/>
                <a:ea typeface="微软雅黑" panose="020B0503020204020204" pitchFamily="34" charset="-122"/>
              </a:rPr>
              <a:t>=2</a:t>
            </a:r>
            <a:r>
              <a:rPr lang="en-US" altLang="zh-CN" sz="2000" baseline="30000" dirty="0">
                <a:latin typeface="Times New Roman" panose="02020603050405020304" pitchFamily="18" charset="0"/>
                <a:ea typeface="微软雅黑" panose="020B0503020204020204" pitchFamily="34" charset="-122"/>
              </a:rPr>
              <a:t>40</a:t>
            </a:r>
            <a:r>
              <a:rPr lang="zh-CN" altLang="en-US" sz="2000" dirty="0">
                <a:latin typeface="Times New Roman" panose="02020603050405020304" pitchFamily="18" charset="0"/>
                <a:ea typeface="微软雅黑" panose="020B0503020204020204" pitchFamily="34" charset="-122"/>
              </a:rPr>
              <a:t>字节</a:t>
            </a:r>
            <a:endParaRPr lang="zh-CN" altLang="en-US" sz="2000" dirty="0">
              <a:latin typeface="Times New Roman" panose="02020603050405020304" pitchFamily="18" charset="0"/>
              <a:ea typeface="微软雅黑" panose="020B0503020204020204" pitchFamily="34" charset="-122"/>
            </a:endParaRPr>
          </a:p>
        </p:txBody>
      </p:sp>
      <p:sp>
        <p:nvSpPr>
          <p:cNvPr id="9" name="Shape18"/>
          <p:cNvSpPr/>
          <p:nvPr/>
        </p:nvSpPr>
        <p:spPr>
          <a:xfrm>
            <a:off x="6442714" y="2968391"/>
            <a:ext cx="4221411" cy="365760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580120" y="3401355"/>
            <a:ext cx="3969704" cy="26591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基础回顾-磁盘的结构与特性</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磁盘及磁盘的容量</a:t>
            </a:r>
            <a:endParaRPr lang="en-US" altLang="zh-CN" dirty="0">
              <a:latin typeface="微软雅黑" panose="020B0503020204020204" pitchFamily="34" charset="-122"/>
              <a:ea typeface="微软雅黑" panose="020B0503020204020204" pitchFamily="34" charset="-122"/>
            </a:endParaRPr>
          </a:p>
          <a:p>
            <a:pPr marL="0" indent="0">
              <a:lnSpc>
                <a:spcPct val="130000"/>
              </a:lnSpc>
              <a:buNone/>
            </a:pPr>
            <a:endParaRPr lang="en-US" altLang="zh-CN" sz="2000" dirty="0">
              <a:latin typeface="微软雅黑" panose="020B0503020204020204" pitchFamily="34" charset="-122"/>
              <a:ea typeface="微软雅黑" panose="020B0503020204020204" pitchFamily="34" charset="-122"/>
            </a:endParaRPr>
          </a:p>
        </p:txBody>
      </p:sp>
      <p:sp>
        <p:nvSpPr>
          <p:cNvPr id="60"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
        <p:nvSpPr>
          <p:cNvPr id="2" name="Shape18"/>
          <p:cNvSpPr/>
          <p:nvPr/>
        </p:nvSpPr>
        <p:spPr>
          <a:xfrm>
            <a:off x="6388101" y="2327429"/>
            <a:ext cx="4048286" cy="365760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3" name="Shape18"/>
          <p:cNvSpPr/>
          <p:nvPr/>
        </p:nvSpPr>
        <p:spPr>
          <a:xfrm>
            <a:off x="1734316" y="2327429"/>
            <a:ext cx="4279135" cy="365760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4" name="内容占位符 3"/>
          <p:cNvSpPr txBox="1"/>
          <p:nvPr/>
        </p:nvSpPr>
        <p:spPr>
          <a:xfrm>
            <a:off x="1876711" y="2507283"/>
            <a:ext cx="4225192" cy="375404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zh-CN" altLang="en-US" sz="1800" dirty="0">
                <a:solidFill>
                  <a:srgbClr val="701988"/>
                </a:solidFill>
                <a:latin typeface="微软雅黑" panose="020B0503020204020204" pitchFamily="82" charset="2"/>
                <a:ea typeface="微软雅黑" panose="020B0503020204020204" pitchFamily="82" charset="2"/>
              </a:rPr>
              <a:t> </a:t>
            </a:r>
            <a:r>
              <a:rPr lang="zh-CN" altLang="en-US" sz="1800" b="1" dirty="0">
                <a:solidFill>
                  <a:srgbClr val="701988"/>
                </a:solidFill>
                <a:latin typeface="微软雅黑" panose="020B0503020204020204" pitchFamily="82" charset="2"/>
                <a:ea typeface="微软雅黑" panose="020B0503020204020204" pitchFamily="82" charset="2"/>
              </a:rPr>
              <a:t>磁盘读写时延</a:t>
            </a:r>
            <a:endParaRPr lang="en-US" altLang="zh-CN" sz="1800" b="1" dirty="0">
              <a:solidFill>
                <a:srgbClr val="701988"/>
              </a:solidFill>
              <a:latin typeface="微软雅黑" panose="020B0503020204020204" pitchFamily="82" charset="2"/>
              <a:ea typeface="微软雅黑" panose="020B0503020204020204" pitchFamily="82" charset="2"/>
            </a:endParaRPr>
          </a:p>
          <a:p>
            <a:pPr lvl="1" fontAlgn="auto">
              <a:spcAft>
                <a:spcPts val="0"/>
              </a:spcAft>
            </a:pPr>
            <a:r>
              <a:rPr lang="zh-CN" altLang="en-US" sz="1350" dirty="0">
                <a:latin typeface="微软雅黑" panose="020B0503020204020204" pitchFamily="82" charset="2"/>
                <a:ea typeface="微软雅黑" panose="020B0503020204020204" pitchFamily="82" charset="2"/>
              </a:rPr>
              <a:t>寻道时延：磁头移动时延</a:t>
            </a:r>
            <a:r>
              <a:rPr lang="en-US" altLang="zh-CN" sz="1350" dirty="0">
                <a:latin typeface="微软雅黑" panose="020B0503020204020204" pitchFamily="82" charset="2"/>
                <a:ea typeface="微软雅黑" panose="020B0503020204020204" pitchFamily="82" charset="2"/>
              </a:rPr>
              <a:t>10ms</a:t>
            </a:r>
            <a:endParaRPr lang="en-US" altLang="zh-CN" sz="1350" dirty="0">
              <a:latin typeface="微软雅黑" panose="020B0503020204020204" pitchFamily="82" charset="2"/>
              <a:ea typeface="微软雅黑" panose="020B0503020204020204" pitchFamily="82" charset="2"/>
            </a:endParaRPr>
          </a:p>
          <a:p>
            <a:pPr lvl="1" fontAlgn="auto">
              <a:spcAft>
                <a:spcPts val="0"/>
              </a:spcAft>
            </a:pPr>
            <a:r>
              <a:rPr lang="zh-CN" altLang="en-US" sz="1350" dirty="0">
                <a:latin typeface="微软雅黑" panose="020B0503020204020204" pitchFamily="82" charset="2"/>
                <a:ea typeface="微软雅黑" panose="020B0503020204020204" pitchFamily="82" charset="2"/>
              </a:rPr>
              <a:t>旋转时延：盘片旋转时延</a:t>
            </a:r>
            <a:endParaRPr lang="en-US" altLang="zh-CN" sz="1350" dirty="0">
              <a:latin typeface="微软雅黑" panose="020B0503020204020204" pitchFamily="82" charset="2"/>
              <a:ea typeface="微软雅黑" panose="020B0503020204020204" pitchFamily="82" charset="2"/>
            </a:endParaRPr>
          </a:p>
          <a:p>
            <a:pPr lvl="2" fontAlgn="auto">
              <a:spcAft>
                <a:spcPts val="0"/>
              </a:spcAft>
            </a:pPr>
            <a:r>
              <a:rPr lang="en-US" altLang="zh-CN" sz="1350" dirty="0">
                <a:latin typeface="微软雅黑" panose="020B0503020204020204" pitchFamily="82" charset="2"/>
                <a:ea typeface="微软雅黑" panose="020B0503020204020204" pitchFamily="82" charset="2"/>
              </a:rPr>
              <a:t>5400</a:t>
            </a:r>
            <a:r>
              <a:rPr lang="zh-CN" altLang="en-US" sz="1350" dirty="0">
                <a:latin typeface="微软雅黑" panose="020B0503020204020204" pitchFamily="82" charset="2"/>
                <a:ea typeface="微软雅黑" panose="020B0503020204020204" pitchFamily="82" charset="2"/>
              </a:rPr>
              <a:t>转</a:t>
            </a:r>
            <a:r>
              <a:rPr lang="en-US" altLang="zh-CN" sz="1350" dirty="0">
                <a:latin typeface="微软雅黑" panose="020B0503020204020204" pitchFamily="82" charset="2"/>
                <a:ea typeface="微软雅黑" panose="020B0503020204020204" pitchFamily="82" charset="2"/>
              </a:rPr>
              <a:t>/</a:t>
            </a:r>
            <a:r>
              <a:rPr lang="zh-CN" altLang="en-US" sz="1350" dirty="0">
                <a:latin typeface="微软雅黑" panose="020B0503020204020204" pitchFamily="82" charset="2"/>
                <a:ea typeface="微软雅黑" panose="020B0503020204020204" pitchFamily="82" charset="2"/>
              </a:rPr>
              <a:t>分钟的磁盘平均时延是</a:t>
            </a:r>
            <a:r>
              <a:rPr lang="en-US" altLang="zh-CN" sz="1350" dirty="0">
                <a:latin typeface="微软雅黑" panose="020B0503020204020204" pitchFamily="82" charset="2"/>
                <a:ea typeface="微软雅黑" panose="020B0503020204020204" pitchFamily="82" charset="2"/>
              </a:rPr>
              <a:t>60</a:t>
            </a:r>
            <a:r>
              <a:rPr lang="zh-CN" altLang="en-US" sz="1350" dirty="0">
                <a:latin typeface="微软雅黑" panose="020B0503020204020204" pitchFamily="82" charset="2"/>
                <a:ea typeface="微软雅黑" panose="020B0503020204020204" pitchFamily="82" charset="2"/>
              </a:rPr>
              <a:t>*</a:t>
            </a:r>
            <a:r>
              <a:rPr lang="en-US" altLang="zh-CN" sz="1350" dirty="0">
                <a:latin typeface="微软雅黑" panose="020B0503020204020204" pitchFamily="82" charset="2"/>
                <a:ea typeface="微软雅黑" panose="020B0503020204020204" pitchFamily="82" charset="2"/>
              </a:rPr>
              <a:t>1000/5400</a:t>
            </a:r>
            <a:r>
              <a:rPr lang="zh-CN" altLang="en-US" sz="1350" dirty="0">
                <a:latin typeface="微软雅黑" panose="020B0503020204020204" pitchFamily="82" charset="2"/>
                <a:ea typeface="微软雅黑" panose="020B0503020204020204" pitchFamily="82" charset="2"/>
              </a:rPr>
              <a:t>*</a:t>
            </a:r>
            <a:r>
              <a:rPr lang="en-US" altLang="zh-CN" sz="1350" dirty="0">
                <a:latin typeface="微软雅黑" panose="020B0503020204020204" pitchFamily="82" charset="2"/>
                <a:ea typeface="微软雅黑" panose="020B0503020204020204" pitchFamily="82" charset="2"/>
              </a:rPr>
              <a:t>0.5=5.56</a:t>
            </a:r>
            <a:r>
              <a:rPr lang="zh-CN" altLang="en-US" sz="1350" dirty="0">
                <a:latin typeface="微软雅黑" panose="020B0503020204020204" pitchFamily="82" charset="2"/>
                <a:ea typeface="微软雅黑" panose="020B0503020204020204" pitchFamily="82" charset="2"/>
              </a:rPr>
              <a:t>毫秒</a:t>
            </a:r>
            <a:endParaRPr lang="en-US" altLang="zh-CN" sz="1350" dirty="0">
              <a:latin typeface="微软雅黑" panose="020B0503020204020204" pitchFamily="82" charset="2"/>
              <a:ea typeface="微软雅黑" panose="020B0503020204020204" pitchFamily="82" charset="2"/>
            </a:endParaRPr>
          </a:p>
          <a:p>
            <a:pPr lvl="1" fontAlgn="auto">
              <a:spcAft>
                <a:spcPts val="0"/>
              </a:spcAft>
            </a:pPr>
            <a:r>
              <a:rPr lang="zh-CN" altLang="en-US" sz="1350" dirty="0">
                <a:latin typeface="微软雅黑" panose="020B0503020204020204" pitchFamily="82" charset="2"/>
                <a:ea typeface="微软雅黑" panose="020B0503020204020204" pitchFamily="82" charset="2"/>
              </a:rPr>
              <a:t>数据读写时延：</a:t>
            </a:r>
            <a:endParaRPr lang="en-US" altLang="zh-CN" sz="1350" dirty="0">
              <a:latin typeface="微软雅黑" panose="020B0503020204020204" pitchFamily="82" charset="2"/>
              <a:ea typeface="微软雅黑" panose="020B0503020204020204" pitchFamily="82" charset="2"/>
            </a:endParaRPr>
          </a:p>
          <a:p>
            <a:pPr lvl="2" fontAlgn="auto">
              <a:spcAft>
                <a:spcPts val="0"/>
              </a:spcAft>
            </a:pPr>
            <a:r>
              <a:rPr lang="en-US" altLang="zh-CN" sz="1350" dirty="0">
                <a:latin typeface="微软雅黑" panose="020B0503020204020204" pitchFamily="82" charset="2"/>
                <a:ea typeface="微软雅黑" panose="020B0503020204020204" pitchFamily="82" charset="2"/>
              </a:rPr>
              <a:t>100MB/</a:t>
            </a:r>
            <a:r>
              <a:rPr lang="zh-CN" altLang="en-US" sz="1350" dirty="0">
                <a:latin typeface="微软雅黑" panose="020B0503020204020204" pitchFamily="82" charset="2"/>
                <a:ea typeface="微软雅黑" panose="020B0503020204020204" pitchFamily="82" charset="2"/>
              </a:rPr>
              <a:t>秒的磁盘</a:t>
            </a:r>
            <a:endParaRPr lang="en-US" altLang="zh-CN" sz="1350" dirty="0">
              <a:latin typeface="微软雅黑" panose="020B0503020204020204" pitchFamily="82" charset="2"/>
              <a:ea typeface="微软雅黑" panose="020B0503020204020204" pitchFamily="82" charset="2"/>
            </a:endParaRPr>
          </a:p>
          <a:p>
            <a:pPr lvl="2" fontAlgn="auto">
              <a:spcAft>
                <a:spcPts val="0"/>
              </a:spcAft>
            </a:pPr>
            <a:r>
              <a:rPr lang="zh-CN" altLang="en-US" sz="1350" dirty="0">
                <a:latin typeface="微软雅黑" panose="020B0503020204020204" pitchFamily="82" charset="2"/>
                <a:ea typeface="微软雅黑" panose="020B0503020204020204" pitchFamily="82" charset="2"/>
              </a:rPr>
              <a:t>读写</a:t>
            </a:r>
            <a:r>
              <a:rPr lang="en-US" altLang="zh-CN" sz="1350" dirty="0">
                <a:latin typeface="微软雅黑" panose="020B0503020204020204" pitchFamily="82" charset="2"/>
                <a:ea typeface="微软雅黑" panose="020B0503020204020204" pitchFamily="82" charset="2"/>
              </a:rPr>
              <a:t>4KB</a:t>
            </a:r>
            <a:r>
              <a:rPr lang="zh-CN" altLang="en-US" sz="1350" dirty="0">
                <a:latin typeface="微软雅黑" panose="020B0503020204020204" pitchFamily="82" charset="2"/>
                <a:ea typeface="微软雅黑" panose="020B0503020204020204" pitchFamily="82" charset="2"/>
              </a:rPr>
              <a:t>：</a:t>
            </a:r>
            <a:r>
              <a:rPr lang="en-US" altLang="zh-CN" sz="1350" dirty="0">
                <a:latin typeface="微软雅黑" panose="020B0503020204020204" pitchFamily="82" charset="2"/>
                <a:ea typeface="微软雅黑" panose="020B0503020204020204" pitchFamily="82" charset="2"/>
              </a:rPr>
              <a:t>4KB/100MB</a:t>
            </a:r>
            <a:r>
              <a:rPr lang="zh-CN" altLang="en-US" sz="1350" dirty="0">
                <a:latin typeface="微软雅黑" panose="020B0503020204020204" pitchFamily="82" charset="2"/>
                <a:ea typeface="微软雅黑" panose="020B0503020204020204" pitchFamily="82" charset="2"/>
              </a:rPr>
              <a:t>*</a:t>
            </a:r>
            <a:r>
              <a:rPr lang="en-US" altLang="zh-CN" sz="1350" dirty="0">
                <a:latin typeface="微软雅黑" panose="020B0503020204020204" pitchFamily="82" charset="2"/>
                <a:ea typeface="微软雅黑" panose="020B0503020204020204" pitchFamily="82" charset="2"/>
              </a:rPr>
              <a:t>1000=0.04</a:t>
            </a:r>
            <a:r>
              <a:rPr lang="zh-CN" altLang="en-US" sz="1350" dirty="0">
                <a:latin typeface="微软雅黑" panose="020B0503020204020204" pitchFamily="82" charset="2"/>
                <a:ea typeface="微软雅黑" panose="020B0503020204020204" pitchFamily="82" charset="2"/>
              </a:rPr>
              <a:t>毫秒</a:t>
            </a:r>
            <a:endParaRPr lang="en-US" altLang="zh-CN" sz="1350" dirty="0">
              <a:latin typeface="微软雅黑" panose="020B0503020204020204" pitchFamily="82" charset="2"/>
              <a:ea typeface="微软雅黑" panose="020B0503020204020204" pitchFamily="82" charset="2"/>
            </a:endParaRPr>
          </a:p>
          <a:p>
            <a:pPr lvl="2" fontAlgn="auto">
              <a:spcAft>
                <a:spcPts val="0"/>
              </a:spcAft>
            </a:pPr>
            <a:r>
              <a:rPr lang="zh-CN" altLang="en-US" sz="1350" dirty="0">
                <a:latin typeface="微软雅黑" panose="020B0503020204020204" pitchFamily="82" charset="2"/>
                <a:ea typeface="微软雅黑" panose="020B0503020204020204" pitchFamily="82" charset="2"/>
              </a:rPr>
              <a:t>读写</a:t>
            </a:r>
            <a:r>
              <a:rPr lang="en-US" altLang="zh-CN" sz="1350" dirty="0">
                <a:latin typeface="微软雅黑" panose="020B0503020204020204" pitchFamily="82" charset="2"/>
                <a:ea typeface="微软雅黑" panose="020B0503020204020204" pitchFamily="82" charset="2"/>
              </a:rPr>
              <a:t>1MB</a:t>
            </a:r>
            <a:r>
              <a:rPr lang="zh-CN" altLang="en-US" sz="1350" dirty="0">
                <a:latin typeface="微软雅黑" panose="020B0503020204020204" pitchFamily="82" charset="2"/>
                <a:ea typeface="微软雅黑" panose="020B0503020204020204" pitchFamily="82" charset="2"/>
              </a:rPr>
              <a:t>：</a:t>
            </a:r>
            <a:r>
              <a:rPr lang="en-US" altLang="zh-CN" sz="1350" dirty="0">
                <a:latin typeface="微软雅黑" panose="020B0503020204020204" pitchFamily="82" charset="2"/>
                <a:ea typeface="微软雅黑" panose="020B0503020204020204" pitchFamily="82" charset="2"/>
              </a:rPr>
              <a:t>1MB/100MB</a:t>
            </a:r>
            <a:r>
              <a:rPr lang="zh-CN" altLang="en-US" sz="1350" dirty="0">
                <a:latin typeface="微软雅黑" panose="020B0503020204020204" pitchFamily="82" charset="2"/>
                <a:ea typeface="微软雅黑" panose="020B0503020204020204" pitchFamily="82" charset="2"/>
              </a:rPr>
              <a:t>*</a:t>
            </a:r>
            <a:r>
              <a:rPr lang="en-US" altLang="zh-CN" sz="1350" dirty="0">
                <a:latin typeface="微软雅黑" panose="020B0503020204020204" pitchFamily="82" charset="2"/>
                <a:ea typeface="微软雅黑" panose="020B0503020204020204" pitchFamily="82" charset="2"/>
              </a:rPr>
              <a:t>1000=10</a:t>
            </a:r>
            <a:r>
              <a:rPr lang="zh-CN" altLang="en-US" sz="1350" dirty="0">
                <a:latin typeface="微软雅黑" panose="020B0503020204020204" pitchFamily="82" charset="2"/>
                <a:ea typeface="微软雅黑" panose="020B0503020204020204" pitchFamily="82" charset="2"/>
              </a:rPr>
              <a:t>毫秒</a:t>
            </a:r>
            <a:endParaRPr lang="en-US" altLang="zh-CN" sz="1350" dirty="0">
              <a:latin typeface="微软雅黑" panose="020B0503020204020204" pitchFamily="82" charset="2"/>
              <a:ea typeface="微软雅黑" panose="020B0503020204020204" pitchFamily="82" charset="2"/>
            </a:endParaRPr>
          </a:p>
          <a:p>
            <a:pPr fontAlgn="auto">
              <a:spcAft>
                <a:spcPts val="0"/>
              </a:spcAft>
            </a:pPr>
            <a:r>
              <a:rPr lang="zh-CN" altLang="en-US" sz="1800" dirty="0">
                <a:solidFill>
                  <a:srgbClr val="701988"/>
                </a:solidFill>
                <a:latin typeface="微软雅黑" panose="020B0503020204020204" pitchFamily="82" charset="2"/>
                <a:ea typeface="微软雅黑" panose="020B0503020204020204" pitchFamily="82" charset="2"/>
              </a:rPr>
              <a:t> </a:t>
            </a:r>
            <a:r>
              <a:rPr lang="zh-CN" altLang="en-US" sz="1800" b="1" dirty="0">
                <a:solidFill>
                  <a:srgbClr val="701988"/>
                </a:solidFill>
                <a:latin typeface="微软雅黑" panose="020B0503020204020204" pitchFamily="82" charset="2"/>
                <a:ea typeface="微软雅黑" panose="020B0503020204020204" pitchFamily="82" charset="2"/>
              </a:rPr>
              <a:t>顺序读写：快（只有读写时延）</a:t>
            </a:r>
            <a:endParaRPr lang="en-US" altLang="zh-CN" sz="1800" b="1" dirty="0">
              <a:solidFill>
                <a:srgbClr val="701988"/>
              </a:solidFill>
              <a:latin typeface="微软雅黑" panose="020B0503020204020204" pitchFamily="82" charset="2"/>
              <a:ea typeface="微软雅黑" panose="020B0503020204020204" pitchFamily="82" charset="2"/>
            </a:endParaRPr>
          </a:p>
          <a:p>
            <a:pPr fontAlgn="auto">
              <a:spcAft>
                <a:spcPts val="0"/>
              </a:spcAft>
            </a:pPr>
            <a:r>
              <a:rPr lang="zh-CN" altLang="en-US" sz="1800" b="1" dirty="0">
                <a:solidFill>
                  <a:srgbClr val="701988"/>
                </a:solidFill>
                <a:latin typeface="微软雅黑" panose="020B0503020204020204" pitchFamily="82" charset="2"/>
                <a:ea typeface="微软雅黑" panose="020B0503020204020204" pitchFamily="82" charset="2"/>
              </a:rPr>
              <a:t> 随机读写：慢（寻道</a:t>
            </a:r>
            <a:r>
              <a:rPr lang="en-US" altLang="zh-CN" sz="1800" b="1" dirty="0">
                <a:solidFill>
                  <a:srgbClr val="701988"/>
                </a:solidFill>
                <a:latin typeface="微软雅黑" panose="020B0503020204020204" pitchFamily="82" charset="2"/>
                <a:ea typeface="微软雅黑" panose="020B0503020204020204" pitchFamily="82" charset="2"/>
              </a:rPr>
              <a:t>+</a:t>
            </a:r>
            <a:r>
              <a:rPr lang="zh-CN" altLang="en-US" sz="1800" b="1" dirty="0">
                <a:solidFill>
                  <a:srgbClr val="701988"/>
                </a:solidFill>
                <a:latin typeface="微软雅黑" panose="020B0503020204020204" pitchFamily="82" charset="2"/>
                <a:ea typeface="微软雅黑" panose="020B0503020204020204" pitchFamily="82" charset="2"/>
              </a:rPr>
              <a:t>旋转</a:t>
            </a:r>
            <a:r>
              <a:rPr lang="en-US" altLang="zh-CN" sz="1800" b="1" dirty="0">
                <a:solidFill>
                  <a:srgbClr val="701988"/>
                </a:solidFill>
                <a:latin typeface="微软雅黑" panose="020B0503020204020204" pitchFamily="82" charset="2"/>
                <a:ea typeface="微软雅黑" panose="020B0503020204020204" pitchFamily="82" charset="2"/>
              </a:rPr>
              <a:t>+</a:t>
            </a:r>
            <a:r>
              <a:rPr lang="zh-CN" altLang="en-US" sz="1800" b="1" dirty="0">
                <a:solidFill>
                  <a:srgbClr val="701988"/>
                </a:solidFill>
                <a:latin typeface="微软雅黑" panose="020B0503020204020204" pitchFamily="82" charset="2"/>
                <a:ea typeface="微软雅黑" panose="020B0503020204020204" pitchFamily="82" charset="2"/>
              </a:rPr>
              <a:t>读写）</a:t>
            </a:r>
            <a:endParaRPr lang="zh-CN" altLang="en-US" sz="1800" b="1" dirty="0">
              <a:solidFill>
                <a:srgbClr val="701988"/>
              </a:solidFill>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683334" y="2564548"/>
            <a:ext cx="3727205" cy="2496677"/>
          </a:xfrm>
          <a:prstGeom prst="rect">
            <a:avLst/>
          </a:prstGeom>
        </p:spPr>
      </p:pic>
      <p:sp>
        <p:nvSpPr>
          <p:cNvPr id="7" name="矩形 6"/>
          <p:cNvSpPr/>
          <p:nvPr/>
        </p:nvSpPr>
        <p:spPr bwMode="auto">
          <a:xfrm>
            <a:off x="6799882" y="5334853"/>
            <a:ext cx="3494109" cy="346249"/>
          </a:xfrm>
          <a:prstGeom prst="rect">
            <a:avLst/>
          </a:prstGeom>
          <a:solidFill>
            <a:srgbClr val="7030A0"/>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fontAlgn="base">
              <a:spcBef>
                <a:spcPct val="50000"/>
              </a:spcBef>
              <a:spcAft>
                <a:spcPct val="0"/>
              </a:spcAft>
            </a:pPr>
            <a:r>
              <a:rPr kumimoji="1" lang="zh-CN" altLang="en-US" dirty="0">
                <a:solidFill>
                  <a:schemeClr val="bg1"/>
                </a:solidFill>
                <a:latin typeface="微软雅黑" panose="020B0503020204020204" pitchFamily="82" charset="2"/>
                <a:ea typeface="微软雅黑" panose="020B0503020204020204" pitchFamily="82" charset="2"/>
              </a:rPr>
              <a:t>尽量顺序读写避免随机读写</a:t>
            </a:r>
            <a:endParaRPr kumimoji="1" lang="zh-CN" altLang="en-US" dirty="0">
              <a:solidFill>
                <a:schemeClr val="bg1"/>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基础回顾-磁盘的结构与特性</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磁盘数据的访问：磁盘数据读写时间</a:t>
            </a:r>
            <a:endParaRPr lang="en-US" altLang="zh-CN" dirty="0">
              <a:latin typeface="微软雅黑" panose="020B0503020204020204" pitchFamily="34" charset="-122"/>
              <a:ea typeface="微软雅黑" panose="020B0503020204020204" pitchFamily="34" charset="-122"/>
            </a:endParaRPr>
          </a:p>
          <a:p>
            <a:pPr marL="228600" lvl="1">
              <a:spcBef>
                <a:spcPts val="1000"/>
              </a:spcBef>
              <a:buFont typeface="Wingdings" panose="05000000000000000000" pitchFamily="2" charset="2"/>
              <a:buChar char="Ø"/>
            </a:pPr>
            <a:r>
              <a:rPr lang="zh-CN" altLang="en-US" sz="1600" dirty="0"/>
              <a:t>寻道时间</a:t>
            </a:r>
            <a:r>
              <a:rPr lang="en-US" altLang="zh-CN" sz="1600" dirty="0"/>
              <a:t>(</a:t>
            </a:r>
            <a:r>
              <a:rPr lang="zh-CN" altLang="en-US" sz="1600" dirty="0"/>
              <a:t>约在</a:t>
            </a:r>
            <a:r>
              <a:rPr lang="en-US" altLang="zh-CN" sz="1600" dirty="0"/>
              <a:t>1-20ms)</a:t>
            </a:r>
            <a:endParaRPr lang="en-US" altLang="zh-CN" sz="1600" dirty="0"/>
          </a:p>
          <a:p>
            <a:pPr marL="228600" lvl="1">
              <a:spcBef>
                <a:spcPts val="1000"/>
              </a:spcBef>
              <a:buFont typeface="Wingdings" panose="05000000000000000000" pitchFamily="2" charset="2"/>
              <a:buChar char="Ø"/>
            </a:pPr>
            <a:r>
              <a:rPr lang="zh-CN" altLang="en-US" sz="1600" dirty="0"/>
              <a:t>旋转时间</a:t>
            </a:r>
            <a:r>
              <a:rPr lang="en-US" altLang="zh-CN" sz="1600" dirty="0"/>
              <a:t>(</a:t>
            </a:r>
            <a:r>
              <a:rPr lang="zh-CN" altLang="en-US" sz="1600" dirty="0"/>
              <a:t>约</a:t>
            </a:r>
            <a:r>
              <a:rPr lang="en-US" altLang="zh-CN" sz="1600" dirty="0"/>
              <a:t>0-10ms)</a:t>
            </a:r>
            <a:endParaRPr lang="en-US" altLang="zh-CN" sz="1600" dirty="0"/>
          </a:p>
          <a:p>
            <a:pPr marL="228600" lvl="1">
              <a:spcBef>
                <a:spcPts val="1000"/>
              </a:spcBef>
              <a:buFont typeface="Wingdings" panose="05000000000000000000" pitchFamily="2" charset="2"/>
              <a:buChar char="Ø"/>
            </a:pPr>
            <a:r>
              <a:rPr lang="zh-CN" altLang="en-US" sz="1600" dirty="0"/>
              <a:t>传输时间</a:t>
            </a:r>
            <a:r>
              <a:rPr lang="en-US" altLang="zh-CN" sz="1600" dirty="0"/>
              <a:t>(</a:t>
            </a:r>
            <a:r>
              <a:rPr lang="zh-CN" altLang="en-US" sz="1600" dirty="0"/>
              <a:t>每</a:t>
            </a:r>
            <a:r>
              <a:rPr lang="en-US" altLang="zh-CN" sz="1600" dirty="0"/>
              <a:t>4KB</a:t>
            </a:r>
            <a:r>
              <a:rPr lang="zh-CN" altLang="en-US" sz="1600" dirty="0"/>
              <a:t>页</a:t>
            </a:r>
            <a:r>
              <a:rPr lang="en-US" altLang="zh-CN" sz="1600" dirty="0"/>
              <a:t>&lt;1ms)</a:t>
            </a:r>
            <a:endParaRPr lang="en-US" altLang="zh-CN" sz="1600" dirty="0"/>
          </a:p>
          <a:p>
            <a:pPr marL="0" indent="0">
              <a:lnSpc>
                <a:spcPct val="130000"/>
              </a:lnSpc>
              <a:buNone/>
            </a:pPr>
            <a:endParaRPr lang="zh-CN" altLang="en-US"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2000" dirty="0">
              <a:latin typeface="微软雅黑" panose="020B0503020204020204" pitchFamily="34" charset="-122"/>
              <a:ea typeface="微软雅黑" panose="020B0503020204020204" pitchFamily="34" charset="-122"/>
            </a:endParaRPr>
          </a:p>
        </p:txBody>
      </p:sp>
      <p:sp>
        <p:nvSpPr>
          <p:cNvPr id="60"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
        <p:nvSpPr>
          <p:cNvPr id="8" name="Text Box 9"/>
          <p:cNvSpPr txBox="1"/>
          <p:nvPr/>
        </p:nvSpPr>
        <p:spPr>
          <a:xfrm>
            <a:off x="487172" y="3309362"/>
            <a:ext cx="7431278" cy="3046988"/>
          </a:xfrm>
          <a:prstGeom prst="rect">
            <a:avLst/>
          </a:prstGeom>
          <a:noFill/>
          <a:ln w="9525" cap="flat" cmpd="sng">
            <a:solidFill>
              <a:srgbClr val="666633"/>
            </a:solidFill>
            <a:prstDash val="solid"/>
            <a:miter/>
            <a:headEnd type="none" w="med" len="med"/>
            <a:tailEnd type="none" w="med" len="med"/>
          </a:ln>
        </p:spPr>
        <p:txBody>
          <a:bodyPr wrap="square" anchor="t">
            <a:spAutoFit/>
          </a:bodyPr>
          <a:lstStyle/>
          <a:p>
            <a:r>
              <a:rPr lang="zh-CN" altLang="en-US" dirty="0">
                <a:solidFill>
                  <a:schemeClr val="accent2"/>
                </a:solidFill>
                <a:latin typeface="Times New Roman" panose="02020603050405020304" pitchFamily="18" charset="0"/>
                <a:ea typeface="微软雅黑" panose="020B0503020204020204" pitchFamily="34" charset="-122"/>
              </a:rPr>
              <a:t>示例</a:t>
            </a:r>
            <a:r>
              <a:rPr lang="zh-CN" altLang="en-US" dirty="0">
                <a:latin typeface="Times New Roman" panose="02020603050405020304" pitchFamily="18" charset="0"/>
                <a:ea typeface="微软雅黑" panose="020B0503020204020204" pitchFamily="34" charset="-122"/>
              </a:rPr>
              <a:t>：一个磁盘的基本信息</a:t>
            </a:r>
            <a:endParaRPr lang="zh-CN" altLang="en-US" dirty="0">
              <a:latin typeface="Times New Roman" panose="02020603050405020304" pitchFamily="18" charset="0"/>
              <a:ea typeface="微软雅黑" panose="020B0503020204020204" pitchFamily="34" charset="-122"/>
            </a:endParaRPr>
          </a:p>
          <a:p>
            <a:pPr>
              <a:buChar char="•"/>
            </a:pPr>
            <a:r>
              <a:rPr lang="zh-CN" altLang="en-US" sz="1600" dirty="0">
                <a:latin typeface="Times New Roman" panose="02020603050405020304" pitchFamily="18" charset="0"/>
                <a:ea typeface="微软雅黑" panose="020B0503020204020204" pitchFamily="34" charset="-122"/>
              </a:rPr>
              <a:t>磁盘以</a:t>
            </a:r>
            <a:r>
              <a:rPr lang="en-US" altLang="zh-CN" sz="1600" dirty="0">
                <a:latin typeface="Times New Roman" panose="02020603050405020304" pitchFamily="18" charset="0"/>
                <a:ea typeface="微软雅黑" panose="020B0503020204020204" pitchFamily="34" charset="-122"/>
              </a:rPr>
              <a:t>7200</a:t>
            </a:r>
            <a:r>
              <a:rPr lang="zh-CN" altLang="en-US" sz="1600" dirty="0">
                <a:latin typeface="Times New Roman" panose="02020603050405020304" pitchFamily="18" charset="0"/>
                <a:ea typeface="微软雅黑" panose="020B0503020204020204" pitchFamily="34" charset="-122"/>
              </a:rPr>
              <a:t>转</a:t>
            </a:r>
            <a:r>
              <a:rPr lang="en-US" altLang="zh-CN" sz="1600" dirty="0">
                <a:latin typeface="Times New Roman" panose="02020603050405020304" pitchFamily="18" charset="0"/>
                <a:ea typeface="微软雅黑" panose="020B0503020204020204" pitchFamily="34" charset="-122"/>
              </a:rPr>
              <a:t>/min</a:t>
            </a:r>
            <a:r>
              <a:rPr lang="zh-CN" altLang="en-US" sz="1600" dirty="0">
                <a:latin typeface="Times New Roman" panose="02020603050405020304" pitchFamily="18" charset="0"/>
                <a:ea typeface="微软雅黑" panose="020B0503020204020204" pitchFamily="34" charset="-122"/>
              </a:rPr>
              <a:t>旋转，则：</a:t>
            </a:r>
            <a:r>
              <a:rPr lang="en-US" altLang="zh-CN" sz="1600" dirty="0">
                <a:latin typeface="Times New Roman" panose="02020603050405020304" pitchFamily="18" charset="0"/>
                <a:ea typeface="微软雅黑" panose="020B0503020204020204" pitchFamily="34" charset="-122"/>
              </a:rPr>
              <a:t>8.33ms</a:t>
            </a:r>
            <a:r>
              <a:rPr lang="zh-CN" altLang="en-US" sz="1600" dirty="0">
                <a:latin typeface="Times New Roman" panose="02020603050405020304" pitchFamily="18" charset="0"/>
                <a:ea typeface="微软雅黑" panose="020B0503020204020204" pitchFamily="34" charset="-122"/>
              </a:rPr>
              <a:t>内旋转一周 </a:t>
            </a:r>
            <a:endParaRPr lang="zh-CN" altLang="en-US" sz="1600" dirty="0">
              <a:latin typeface="Times New Roman" panose="02020603050405020304" pitchFamily="18" charset="0"/>
              <a:ea typeface="微软雅黑" panose="020B0503020204020204" pitchFamily="34" charset="-122"/>
            </a:endParaRPr>
          </a:p>
          <a:p>
            <a:pPr>
              <a:buChar char="•"/>
            </a:pPr>
            <a:r>
              <a:rPr lang="zh-CN" altLang="en-US" sz="1600" dirty="0">
                <a:latin typeface="Times New Roman" panose="02020603050405020304" pitchFamily="18" charset="0"/>
                <a:ea typeface="微软雅黑" panose="020B0503020204020204" pitchFamily="34" charset="-122"/>
              </a:rPr>
              <a:t>柱面之间移动磁头组合从启动到停止花费</a:t>
            </a:r>
            <a:r>
              <a:rPr lang="en-US" altLang="zh-CN" sz="1600" dirty="0">
                <a:latin typeface="Times New Roman" panose="02020603050405020304" pitchFamily="18" charset="0"/>
                <a:ea typeface="微软雅黑" panose="020B0503020204020204" pitchFamily="34" charset="-122"/>
              </a:rPr>
              <a:t>1ms,</a:t>
            </a:r>
            <a:r>
              <a:rPr lang="zh-CN" altLang="en-US" sz="1600" dirty="0">
                <a:latin typeface="Times New Roman" panose="02020603050405020304" pitchFamily="18" charset="0"/>
                <a:ea typeface="微软雅黑" panose="020B0503020204020204" pitchFamily="34" charset="-122"/>
              </a:rPr>
              <a:t>每移动</a:t>
            </a:r>
            <a:r>
              <a:rPr lang="en-US" altLang="zh-CN" sz="1600" dirty="0">
                <a:latin typeface="Times New Roman" panose="02020603050405020304" pitchFamily="18" charset="0"/>
                <a:ea typeface="微软雅黑" panose="020B0503020204020204" pitchFamily="34" charset="-122"/>
              </a:rPr>
              <a:t>4000</a:t>
            </a:r>
            <a:r>
              <a:rPr lang="zh-CN" altLang="en-US" sz="1600" dirty="0">
                <a:latin typeface="Times New Roman" panose="02020603050405020304" pitchFamily="18" charset="0"/>
                <a:ea typeface="微软雅黑" panose="020B0503020204020204" pitchFamily="34" charset="-122"/>
              </a:rPr>
              <a:t>个柱面另加</a:t>
            </a:r>
            <a:r>
              <a:rPr lang="en-US" altLang="zh-CN" sz="1600" dirty="0">
                <a:latin typeface="Times New Roman" panose="02020603050405020304" pitchFamily="18" charset="0"/>
                <a:ea typeface="微软雅黑" panose="020B0503020204020204" pitchFamily="34" charset="-122"/>
              </a:rPr>
              <a:t>1ms. </a:t>
            </a:r>
            <a:r>
              <a:rPr lang="zh-CN" altLang="en-US" sz="1600" dirty="0">
                <a:latin typeface="Times New Roman" panose="02020603050405020304" pitchFamily="18" charset="0"/>
                <a:ea typeface="微软雅黑" panose="020B0503020204020204" pitchFamily="34" charset="-122"/>
              </a:rPr>
              <a:t>即磁头在</a:t>
            </a:r>
            <a:r>
              <a:rPr lang="en-US" altLang="zh-CN" sz="1600" dirty="0">
                <a:latin typeface="Times New Roman" panose="02020603050405020304" pitchFamily="18" charset="0"/>
                <a:ea typeface="微软雅黑" panose="020B0503020204020204" pitchFamily="34" charset="-122"/>
              </a:rPr>
              <a:t>0.00025ms</a:t>
            </a:r>
            <a:r>
              <a:rPr lang="zh-CN" altLang="en-US" sz="1600" dirty="0">
                <a:latin typeface="Times New Roman" panose="02020603050405020304" pitchFamily="18" charset="0"/>
                <a:ea typeface="微软雅黑" panose="020B0503020204020204" pitchFamily="34" charset="-122"/>
              </a:rPr>
              <a:t>内移动一个磁道，则：从最内圈移动到最外圈，移动</a:t>
            </a:r>
            <a:r>
              <a:rPr lang="en-US" altLang="zh-CN" sz="1600" dirty="0">
                <a:latin typeface="Times New Roman" panose="02020603050405020304" pitchFamily="18" charset="0"/>
                <a:ea typeface="微软雅黑" panose="020B0503020204020204" pitchFamily="34" charset="-122"/>
              </a:rPr>
              <a:t>65536</a:t>
            </a:r>
            <a:r>
              <a:rPr lang="zh-CN" altLang="en-US" sz="1600" dirty="0">
                <a:latin typeface="Times New Roman" panose="02020603050405020304" pitchFamily="18" charset="0"/>
                <a:ea typeface="微软雅黑" panose="020B0503020204020204" pitchFamily="34" charset="-122"/>
              </a:rPr>
              <a:t>个磁道大约用</a:t>
            </a:r>
            <a:r>
              <a:rPr lang="en-US" altLang="zh-CN" sz="1600" dirty="0">
                <a:latin typeface="Times New Roman" panose="02020603050405020304" pitchFamily="18" charset="0"/>
                <a:ea typeface="微软雅黑" panose="020B0503020204020204" pitchFamily="34" charset="-122"/>
              </a:rPr>
              <a:t>17.38ms.</a:t>
            </a:r>
            <a:endParaRPr lang="en-US" altLang="zh-CN" sz="1600" dirty="0">
              <a:latin typeface="Times New Roman" panose="02020603050405020304" pitchFamily="18" charset="0"/>
              <a:ea typeface="微软雅黑" panose="020B0503020204020204" pitchFamily="34" charset="-122"/>
            </a:endParaRPr>
          </a:p>
          <a:p>
            <a:pPr>
              <a:buChar char="•"/>
            </a:pPr>
            <a:r>
              <a:rPr lang="zh-CN" altLang="en-US" sz="1600" dirty="0">
                <a:latin typeface="Times New Roman" panose="02020603050405020304" pitchFamily="18" charset="0"/>
                <a:ea typeface="微软雅黑" panose="020B0503020204020204" pitchFamily="34" charset="-122"/>
              </a:rPr>
              <a:t>一个磁道中扇区间的空隙大约占</a:t>
            </a:r>
            <a:r>
              <a:rPr lang="en-US" altLang="zh-CN" sz="1600" dirty="0">
                <a:latin typeface="Times New Roman" panose="02020603050405020304" pitchFamily="18" charset="0"/>
                <a:ea typeface="微软雅黑" panose="020B0503020204020204" pitchFamily="34" charset="-122"/>
              </a:rPr>
              <a:t>10%</a:t>
            </a:r>
            <a:r>
              <a:rPr lang="zh-CN" altLang="en-US" sz="1600" dirty="0">
                <a:latin typeface="Times New Roman" panose="02020603050405020304" pitchFamily="18" charset="0"/>
                <a:ea typeface="微软雅黑" panose="020B0503020204020204" pitchFamily="34" charset="-122"/>
              </a:rPr>
              <a:t>的空间</a:t>
            </a:r>
            <a:endParaRPr lang="zh-CN" altLang="en-US" sz="1600" dirty="0">
              <a:latin typeface="Times New Roman" panose="02020603050405020304" pitchFamily="18" charset="0"/>
              <a:ea typeface="微软雅黑" panose="020B0503020204020204" pitchFamily="34" charset="-122"/>
            </a:endParaRPr>
          </a:p>
          <a:p>
            <a:pPr>
              <a:buChar char="•"/>
            </a:pPr>
            <a:r>
              <a:rPr lang="zh-CN" altLang="en-US" sz="1600" dirty="0">
                <a:latin typeface="Times New Roman" panose="02020603050405020304" pitchFamily="18" charset="0"/>
                <a:ea typeface="微软雅黑" panose="020B0503020204020204" pitchFamily="34" charset="-122"/>
              </a:rPr>
              <a:t>一个磁盘块 </a:t>
            </a:r>
            <a:r>
              <a:rPr lang="en-US" altLang="zh-CN" sz="1600" dirty="0">
                <a:latin typeface="Times New Roman" panose="02020603050405020304" pitchFamily="18" charset="0"/>
                <a:ea typeface="微软雅黑" panose="020B0503020204020204" pitchFamily="34" charset="-122"/>
              </a:rPr>
              <a:t>= 4</a:t>
            </a:r>
            <a:r>
              <a:rPr lang="zh-CN" altLang="en-US" sz="1600" dirty="0">
                <a:latin typeface="Times New Roman" panose="02020603050405020304" pitchFamily="18" charset="0"/>
                <a:ea typeface="微软雅黑" panose="020B0503020204020204" pitchFamily="34" charset="-122"/>
              </a:rPr>
              <a:t>个扇区 </a:t>
            </a:r>
            <a:r>
              <a:rPr lang="en-US" altLang="zh-CN" sz="1600" dirty="0">
                <a:latin typeface="Times New Roman" panose="02020603050405020304" pitchFamily="18" charset="0"/>
                <a:ea typeface="微软雅黑" panose="020B0503020204020204" pitchFamily="34" charset="-122"/>
              </a:rPr>
              <a:t>= 16384</a:t>
            </a:r>
            <a:r>
              <a:rPr lang="zh-CN" altLang="en-US" sz="1600" dirty="0">
                <a:latin typeface="Times New Roman" panose="02020603050405020304" pitchFamily="18" charset="0"/>
                <a:ea typeface="微软雅黑" panose="020B0503020204020204" pitchFamily="34" charset="-122"/>
              </a:rPr>
              <a:t>个字节 </a:t>
            </a:r>
            <a:endParaRPr lang="zh-CN" altLang="en-US" sz="1600" dirty="0">
              <a:latin typeface="Times New Roman" panose="02020603050405020304" pitchFamily="18" charset="0"/>
              <a:ea typeface="微软雅黑" panose="020B0503020204020204" pitchFamily="34" charset="-122"/>
            </a:endParaRPr>
          </a:p>
          <a:p>
            <a:r>
              <a:rPr lang="zh-CN" altLang="en-US" dirty="0">
                <a:solidFill>
                  <a:srgbClr val="CC0000"/>
                </a:solidFill>
                <a:latin typeface="Times New Roman" panose="02020603050405020304" pitchFamily="18" charset="0"/>
                <a:ea typeface="微软雅黑" panose="020B0503020204020204" pitchFamily="34" charset="-122"/>
              </a:rPr>
              <a:t>读一个磁盘块</a:t>
            </a:r>
            <a:r>
              <a:rPr lang="en-US" altLang="zh-CN" sz="1600" dirty="0">
                <a:latin typeface="Times New Roman" panose="02020603050405020304" pitchFamily="18" charset="0"/>
                <a:ea typeface="微软雅黑" panose="020B0503020204020204" pitchFamily="34" charset="-122"/>
              </a:rPr>
              <a:t>(=4</a:t>
            </a:r>
            <a:r>
              <a:rPr lang="zh-CN" altLang="en-US" sz="1600" dirty="0">
                <a:latin typeface="Times New Roman" panose="02020603050405020304" pitchFamily="18" charset="0"/>
                <a:ea typeface="微软雅黑" panose="020B0503020204020204" pitchFamily="34" charset="-122"/>
              </a:rPr>
              <a:t>个扇区</a:t>
            </a:r>
            <a:r>
              <a:rPr lang="en-US" altLang="zh-CN" sz="1600" dirty="0">
                <a:latin typeface="Times New Roman" panose="02020603050405020304" pitchFamily="18" charset="0"/>
                <a:ea typeface="微软雅黑" panose="020B0503020204020204" pitchFamily="34" charset="-122"/>
              </a:rPr>
              <a:t>16384</a:t>
            </a:r>
            <a:r>
              <a:rPr lang="zh-CN" altLang="en-US" sz="1600" dirty="0">
                <a:latin typeface="Times New Roman" panose="02020603050405020304" pitchFamily="18" charset="0"/>
                <a:ea typeface="微软雅黑" panose="020B0503020204020204" pitchFamily="34" charset="-122"/>
              </a:rPr>
              <a:t>个字节</a:t>
            </a:r>
            <a:r>
              <a:rPr lang="en-US" altLang="zh-CN" sz="16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a:t>
            </a:r>
            <a:endParaRPr lang="zh-CN" altLang="en-US" sz="2400" dirty="0">
              <a:latin typeface="Times New Roman" panose="02020603050405020304" pitchFamily="18" charset="0"/>
              <a:ea typeface="微软雅黑" panose="020B0503020204020204" pitchFamily="34" charset="-122"/>
            </a:endParaRPr>
          </a:p>
          <a:p>
            <a:r>
              <a:rPr lang="zh-CN" altLang="en-US" dirty="0">
                <a:latin typeface="Times New Roman" panose="02020603050405020304" pitchFamily="18" charset="0"/>
                <a:ea typeface="微软雅黑" panose="020B0503020204020204" pitchFamily="34" charset="-122"/>
              </a:rPr>
              <a:t>最小时间</a:t>
            </a:r>
            <a:r>
              <a:rPr lang="en-US" altLang="zh-CN" dirty="0">
                <a:latin typeface="Times New Roman" panose="02020603050405020304" pitchFamily="18" charset="0"/>
                <a:ea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rPr>
              <a:t>传输时间大约是</a:t>
            </a:r>
            <a:r>
              <a:rPr lang="en-US" altLang="zh-CN" sz="1600" dirty="0">
                <a:latin typeface="Times New Roman" panose="02020603050405020304" pitchFamily="18" charset="0"/>
                <a:ea typeface="微软雅黑" panose="020B0503020204020204" pitchFamily="34" charset="-122"/>
              </a:rPr>
              <a:t>0.13ms</a:t>
            </a:r>
            <a:endParaRPr lang="en-US" altLang="zh-CN" sz="1600" dirty="0">
              <a:latin typeface="Times New Roman" panose="02020603050405020304" pitchFamily="18" charset="0"/>
              <a:ea typeface="微软雅黑" panose="020B0503020204020204" pitchFamily="34" charset="-122"/>
            </a:endParaRPr>
          </a:p>
          <a:p>
            <a:r>
              <a:rPr lang="zh-CN" altLang="en-US" dirty="0">
                <a:latin typeface="Times New Roman" panose="02020603050405020304" pitchFamily="18" charset="0"/>
                <a:ea typeface="微软雅黑" panose="020B0503020204020204" pitchFamily="34" charset="-122"/>
              </a:rPr>
              <a:t>最长时间 </a:t>
            </a:r>
            <a:r>
              <a:rPr lang="en-US" altLang="zh-CN" sz="1600" dirty="0">
                <a:latin typeface="Times New Roman" panose="02020603050405020304" pitchFamily="18" charset="0"/>
                <a:ea typeface="微软雅黑" panose="020B0503020204020204" pitchFamily="34" charset="-122"/>
              </a:rPr>
              <a:t>= </a:t>
            </a:r>
            <a:r>
              <a:rPr lang="zh-CN" altLang="en-US" sz="1600" dirty="0">
                <a:latin typeface="Times New Roman" panose="02020603050405020304" pitchFamily="18" charset="0"/>
                <a:ea typeface="微软雅黑" panose="020B0503020204020204" pitchFamily="34" charset="-122"/>
              </a:rPr>
              <a:t>寻道时间</a:t>
            </a:r>
            <a:r>
              <a:rPr lang="en-US" altLang="zh-CN" sz="1600" dirty="0">
                <a:latin typeface="Times New Roman" panose="02020603050405020304" pitchFamily="18" charset="0"/>
                <a:ea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rPr>
              <a:t>旋转时间</a:t>
            </a:r>
            <a:r>
              <a:rPr lang="en-US" altLang="zh-CN" sz="1600" dirty="0">
                <a:latin typeface="Times New Roman" panose="02020603050405020304" pitchFamily="18" charset="0"/>
                <a:ea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rPr>
              <a:t>传输时间 </a:t>
            </a:r>
            <a:r>
              <a:rPr lang="en-US" altLang="zh-CN" sz="1600" dirty="0">
                <a:latin typeface="Times New Roman" panose="02020603050405020304" pitchFamily="18" charset="0"/>
                <a:ea typeface="微软雅黑" panose="020B0503020204020204" pitchFamily="34" charset="-122"/>
              </a:rPr>
              <a:t>= 17.38+8.33+0.13=25.84ms</a:t>
            </a:r>
            <a:endParaRPr lang="en-US" altLang="zh-CN" sz="1600" dirty="0">
              <a:latin typeface="Times New Roman" panose="02020603050405020304" pitchFamily="18" charset="0"/>
              <a:ea typeface="微软雅黑" panose="020B0503020204020204" pitchFamily="34" charset="-122"/>
            </a:endParaRPr>
          </a:p>
          <a:p>
            <a:r>
              <a:rPr lang="zh-CN" altLang="en-US" dirty="0">
                <a:latin typeface="Times New Roman" panose="02020603050405020304" pitchFamily="18" charset="0"/>
                <a:ea typeface="微软雅黑" panose="020B0503020204020204" pitchFamily="34" charset="-122"/>
              </a:rPr>
              <a:t>平均时间 </a:t>
            </a:r>
            <a:r>
              <a:rPr lang="en-US" altLang="zh-CN" sz="1600" dirty="0">
                <a:latin typeface="Times New Roman" panose="02020603050405020304" pitchFamily="18" charset="0"/>
                <a:ea typeface="微软雅黑" panose="020B0503020204020204" pitchFamily="34" charset="-122"/>
              </a:rPr>
              <a:t>=6.36+4.17+0.13=10.76ms</a:t>
            </a:r>
            <a:endParaRPr lang="en-US" altLang="zh-CN" sz="1600" dirty="0">
              <a:latin typeface="Times New Roman" panose="02020603050405020304" pitchFamily="18" charset="0"/>
              <a:ea typeface="微软雅黑" panose="020B0503020204020204" pitchFamily="34" charset="-122"/>
            </a:endParaRPr>
          </a:p>
        </p:txBody>
      </p:sp>
      <p:pic>
        <p:nvPicPr>
          <p:cNvPr id="9" name="Picture 6"/>
          <p:cNvPicPr>
            <a:picLocks noChangeAspect="1"/>
          </p:cNvPicPr>
          <p:nvPr/>
        </p:nvPicPr>
        <p:blipFill>
          <a:blip r:embed="rId1">
            <a:clrChange>
              <a:clrFrom>
                <a:srgbClr val="FFFFFF"/>
              </a:clrFrom>
              <a:clrTo>
                <a:srgbClr val="FFFFFF">
                  <a:alpha val="0"/>
                </a:srgbClr>
              </a:clrTo>
            </a:clrChange>
          </a:blip>
          <a:stretch>
            <a:fillRect/>
          </a:stretch>
        </p:blipFill>
        <p:spPr>
          <a:xfrm>
            <a:off x="8130164" y="1151849"/>
            <a:ext cx="3508375" cy="2836862"/>
          </a:xfrm>
          <a:prstGeom prst="rect">
            <a:avLst/>
          </a:prstGeom>
          <a:noFill/>
          <a:ln w="9525">
            <a:noFill/>
          </a:ln>
        </p:spPr>
      </p:pic>
      <p:sp>
        <p:nvSpPr>
          <p:cNvPr id="10" name="Rectangle 8"/>
          <p:cNvSpPr/>
          <p:nvPr/>
        </p:nvSpPr>
        <p:spPr>
          <a:xfrm>
            <a:off x="8130164" y="3988711"/>
            <a:ext cx="3351409" cy="2296398"/>
          </a:xfrm>
          <a:prstGeom prst="rect">
            <a:avLst/>
          </a:prstGeom>
          <a:noFill/>
          <a:ln w="9525">
            <a:noFill/>
          </a:ln>
        </p:spPr>
        <p:txBody>
          <a:bodyPr wrap="square" anchor="t">
            <a:spAutoFit/>
          </a:bodyPr>
          <a:lstStyle/>
          <a:p>
            <a:pPr>
              <a:lnSpc>
                <a:spcPct val="13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物理存取算法考虑的关键</a:t>
            </a:r>
            <a:r>
              <a:rPr lang="en-US" altLang="zh-CN"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marL="228600" lvl="1" indent="-228600">
              <a:spcBef>
                <a:spcPts val="1000"/>
              </a:spcBef>
              <a:buFont typeface="Wingdings" panose="05000000000000000000" pitchFamily="2" charset="2"/>
              <a:buChar char="Ø"/>
            </a:pPr>
            <a:r>
              <a:rPr lang="zh-CN" altLang="en-US" sz="1400" b="1" dirty="0">
                <a:solidFill>
                  <a:srgbClr val="FF0000"/>
                </a:solidFill>
                <a:latin typeface="微软雅黑" panose="020B0503020204020204" pitchFamily="34" charset="-122"/>
                <a:ea typeface="微软雅黑" panose="020B0503020204020204" pitchFamily="34" charset="-122"/>
              </a:rPr>
              <a:t>降低</a:t>
            </a:r>
            <a:r>
              <a:rPr lang="en-US" altLang="zh-CN" sz="1400" b="1" dirty="0">
                <a:solidFill>
                  <a:srgbClr val="FF0000"/>
                </a:solidFill>
                <a:latin typeface="微软雅黑" panose="020B0503020204020204" pitchFamily="34" charset="-122"/>
                <a:ea typeface="微软雅黑" panose="020B0503020204020204" pitchFamily="34" charset="-122"/>
              </a:rPr>
              <a:t>I/O</a:t>
            </a:r>
            <a:r>
              <a:rPr lang="zh-CN" altLang="en-US" sz="1400" b="1" dirty="0">
                <a:solidFill>
                  <a:srgbClr val="FF0000"/>
                </a:solidFill>
                <a:latin typeface="微软雅黑" panose="020B0503020204020204" pitchFamily="34" charset="-122"/>
                <a:ea typeface="微软雅黑" panose="020B0503020204020204" pitchFamily="34" charset="-122"/>
              </a:rPr>
              <a:t>次数</a:t>
            </a:r>
            <a:endParaRPr lang="zh-CN" altLang="en-US" sz="1400" b="1" dirty="0">
              <a:solidFill>
                <a:srgbClr val="FF0000"/>
              </a:solidFill>
              <a:latin typeface="微软雅黑" panose="020B0503020204020204" pitchFamily="34" charset="-122"/>
              <a:ea typeface="微软雅黑" panose="020B0503020204020204" pitchFamily="34" charset="-122"/>
            </a:endParaRPr>
          </a:p>
          <a:p>
            <a:pPr marL="228600" lvl="1" indent="-228600">
              <a:spcBef>
                <a:spcPts val="1000"/>
              </a:spcBef>
              <a:buFont typeface="Wingdings" panose="05000000000000000000" pitchFamily="2" charset="2"/>
              <a:buChar char="Ø"/>
            </a:pPr>
            <a:r>
              <a:rPr lang="zh-CN" altLang="en-US" sz="1400" b="1" dirty="0">
                <a:latin typeface="微软雅黑" panose="020B0503020204020204" pitchFamily="34" charset="-122"/>
                <a:ea typeface="微软雅黑" panose="020B0503020204020204" pitchFamily="34" charset="-122"/>
              </a:rPr>
              <a:t>降低排队等待时间</a:t>
            </a:r>
            <a:endParaRPr lang="zh-CN" altLang="en-US" sz="1400" b="1" dirty="0">
              <a:latin typeface="微软雅黑" panose="020B0503020204020204" pitchFamily="34" charset="-122"/>
              <a:ea typeface="微软雅黑" panose="020B0503020204020204" pitchFamily="34" charset="-122"/>
            </a:endParaRPr>
          </a:p>
          <a:p>
            <a:pPr marL="228600" lvl="1" indent="-228600">
              <a:spcBef>
                <a:spcPts val="1000"/>
              </a:spcBef>
              <a:buFont typeface="Wingdings" panose="05000000000000000000" pitchFamily="2" charset="2"/>
              <a:buChar char="Ø"/>
            </a:pPr>
            <a:r>
              <a:rPr lang="zh-CN" altLang="en-US" sz="1400" b="1" dirty="0">
                <a:solidFill>
                  <a:srgbClr val="FF0000"/>
                </a:solidFill>
                <a:latin typeface="微软雅黑" panose="020B0503020204020204" pitchFamily="34" charset="-122"/>
                <a:ea typeface="微软雅黑" panose="020B0503020204020204" pitchFamily="34" charset="-122"/>
              </a:rPr>
              <a:t>降低寻道</a:t>
            </a:r>
            <a:r>
              <a:rPr lang="en-US" altLang="zh-CN" sz="1400" b="1" dirty="0">
                <a:solidFill>
                  <a:srgbClr val="FF0000"/>
                </a:solidFill>
                <a:latin typeface="微软雅黑" panose="020B0503020204020204" pitchFamily="34" charset="-122"/>
                <a:ea typeface="微软雅黑" panose="020B0503020204020204" pitchFamily="34" charset="-122"/>
              </a:rPr>
              <a:t>/</a:t>
            </a:r>
            <a:r>
              <a:rPr lang="zh-CN" altLang="en-US" sz="1400" b="1" dirty="0">
                <a:solidFill>
                  <a:srgbClr val="FF0000"/>
                </a:solidFill>
                <a:latin typeface="微软雅黑" panose="020B0503020204020204" pitchFamily="34" charset="-122"/>
                <a:ea typeface="微软雅黑" panose="020B0503020204020204" pitchFamily="34" charset="-122"/>
              </a:rPr>
              <a:t>旋转延迟时间：</a:t>
            </a:r>
            <a:endParaRPr lang="zh-CN" altLang="en-US" sz="1400" b="1" dirty="0">
              <a:solidFill>
                <a:srgbClr val="FF0000"/>
              </a:solidFill>
              <a:latin typeface="微软雅黑" panose="020B0503020204020204" pitchFamily="34" charset="-122"/>
              <a:ea typeface="微软雅黑" panose="020B0503020204020204" pitchFamily="34" charset="-122"/>
            </a:endParaRPr>
          </a:p>
          <a:p>
            <a:pPr>
              <a:lnSpc>
                <a:spcPct val="130000"/>
              </a:lnSpc>
              <a:buClr>
                <a:schemeClr val="tx1"/>
              </a:buClr>
              <a:buFont typeface="Wingdings" panose="05000000000000000000" pitchFamily="2" charset="2"/>
              <a:buChar char="l"/>
            </a:pPr>
            <a:r>
              <a:rPr lang="zh-CN" altLang="en-US" sz="1400" b="1" dirty="0">
                <a:solidFill>
                  <a:srgbClr val="FF0000"/>
                </a:solidFill>
                <a:latin typeface="微软雅黑" panose="020B0503020204020204" pitchFamily="34" charset="-122"/>
                <a:ea typeface="微软雅黑" panose="020B0503020204020204" pitchFamily="34" charset="-122"/>
              </a:rPr>
              <a:t>同一磁道连续块存储；</a:t>
            </a:r>
            <a:endParaRPr lang="zh-CN" altLang="en-US" sz="1400" b="1" dirty="0">
              <a:solidFill>
                <a:srgbClr val="FF0000"/>
              </a:solidFill>
              <a:latin typeface="微软雅黑" panose="020B0503020204020204" pitchFamily="34" charset="-122"/>
              <a:ea typeface="微软雅黑" panose="020B0503020204020204" pitchFamily="34" charset="-122"/>
            </a:endParaRPr>
          </a:p>
          <a:p>
            <a:pPr>
              <a:lnSpc>
                <a:spcPct val="130000"/>
              </a:lnSpc>
              <a:buClr>
                <a:schemeClr val="tx1"/>
              </a:buClr>
              <a:buFont typeface="Wingdings" panose="05000000000000000000" pitchFamily="2" charset="2"/>
              <a:buChar char="l"/>
            </a:pPr>
            <a:r>
              <a:rPr lang="zh-CN" altLang="en-US" sz="1400" b="1" dirty="0">
                <a:solidFill>
                  <a:srgbClr val="FF0000"/>
                </a:solidFill>
                <a:latin typeface="微软雅黑" panose="020B0503020204020204" pitchFamily="34" charset="-122"/>
                <a:ea typeface="微软雅黑" panose="020B0503020204020204" pitchFamily="34" charset="-122"/>
              </a:rPr>
              <a:t>同一柱面不同磁道并行块存储；</a:t>
            </a:r>
            <a:endParaRPr lang="zh-CN" altLang="en-US" sz="1400" b="1" dirty="0">
              <a:solidFill>
                <a:srgbClr val="FF0000"/>
              </a:solidFill>
              <a:latin typeface="微软雅黑" panose="020B0503020204020204" pitchFamily="34" charset="-122"/>
              <a:ea typeface="微软雅黑" panose="020B0503020204020204" pitchFamily="34" charset="-122"/>
            </a:endParaRPr>
          </a:p>
          <a:p>
            <a:pPr>
              <a:lnSpc>
                <a:spcPct val="130000"/>
              </a:lnSpc>
              <a:buClr>
                <a:schemeClr val="tx1"/>
              </a:buClr>
              <a:buFont typeface="Wingdings" panose="05000000000000000000" pitchFamily="2" charset="2"/>
              <a:buChar char="l"/>
            </a:pPr>
            <a:r>
              <a:rPr lang="zh-CN" altLang="en-US" sz="1400" b="1" dirty="0">
                <a:solidFill>
                  <a:srgbClr val="FF0000"/>
                </a:solidFill>
                <a:latin typeface="微软雅黑" panose="020B0503020204020204" pitchFamily="34" charset="-122"/>
                <a:ea typeface="微软雅黑" panose="020B0503020204020204" pitchFamily="34" charset="-122"/>
              </a:rPr>
              <a:t>多个磁盘并行块存储</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anim calcmode="lin" valueType="num">
                                      <p:cBhvr additive="base">
                                        <p:cTn id="13"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 calcmode="lin" valueType="num">
                                      <p:cBhvr additive="base">
                                        <p:cTn id="17"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 calcmode="lin" valueType="num">
                                      <p:cBhvr additive="base">
                                        <p:cTn id="21"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anim calcmode="lin" valueType="num">
                                      <p:cBhvr additive="base">
                                        <p:cTn id="31"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xEl>
                                              <p:pRg st="5" end="5"/>
                                            </p:txEl>
                                          </p:spTgt>
                                        </p:tgtEl>
                                        <p:attrNameLst>
                                          <p:attrName>style.visibility</p:attrName>
                                        </p:attrNameLst>
                                      </p:cBhvr>
                                      <p:to>
                                        <p:strVal val="visible"/>
                                      </p:to>
                                    </p:set>
                                    <p:anim calcmode="lin" valueType="num">
                                      <p:cBhvr additive="base">
                                        <p:cTn id="37"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
                                            <p:txEl>
                                              <p:pRg st="6" end="6"/>
                                            </p:txEl>
                                          </p:spTgt>
                                        </p:tgtEl>
                                        <p:attrNameLst>
                                          <p:attrName>style.visibility</p:attrName>
                                        </p:attrNameLst>
                                      </p:cBhvr>
                                      <p:to>
                                        <p:strVal val="visible"/>
                                      </p:to>
                                    </p:set>
                                    <p:anim calcmode="lin" valueType="num">
                                      <p:cBhvr additive="base">
                                        <p:cTn id="43"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基础回顾-磁盘的结构与特性</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提高磁盘数据读写时间与存储可靠性的方法</a:t>
            </a:r>
            <a:endParaRPr lang="en-US" altLang="zh-CN"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None/>
            </a:pPr>
            <a:r>
              <a:rPr lang="en-US" altLang="zh-CN" sz="1800" b="0" dirty="0"/>
              <a:t>RAID</a:t>
            </a:r>
            <a:r>
              <a:rPr lang="zh-CN" altLang="en-US" sz="1800" b="0" dirty="0"/>
              <a:t>技术</a:t>
            </a:r>
            <a:r>
              <a:rPr lang="en-US" altLang="zh-CN" sz="1800" b="0" dirty="0"/>
              <a:t>: Redundant Array of Independent Disk</a:t>
            </a:r>
            <a:endParaRPr lang="en-US" altLang="zh-CN" sz="1800" b="0" dirty="0"/>
          </a:p>
          <a:p>
            <a:pPr>
              <a:lnSpc>
                <a:spcPct val="100000"/>
              </a:lnSpc>
              <a:buFont typeface="Wingdings" panose="05000000000000000000" pitchFamily="2" charset="2"/>
              <a:buChar char="l"/>
            </a:pPr>
            <a:r>
              <a:rPr lang="zh-CN" altLang="en-US" sz="1800" b="0" dirty="0"/>
              <a:t>并行处理</a:t>
            </a:r>
            <a:r>
              <a:rPr lang="en-US" altLang="zh-CN" sz="1800" b="0" dirty="0"/>
              <a:t>: </a:t>
            </a:r>
            <a:r>
              <a:rPr lang="zh-CN" altLang="en-US" sz="1800" b="0" dirty="0"/>
              <a:t>并行读取多个磁盘 </a:t>
            </a:r>
            <a:endParaRPr lang="zh-CN" altLang="en-US" sz="1800" b="0" dirty="0"/>
          </a:p>
          <a:p>
            <a:pPr>
              <a:lnSpc>
                <a:spcPct val="100000"/>
              </a:lnSpc>
              <a:buFont typeface="Wingdings" panose="05000000000000000000" pitchFamily="2" charset="2"/>
              <a:buChar char="l"/>
            </a:pPr>
            <a:r>
              <a:rPr lang="zh-CN" altLang="en-US" sz="1800" b="0" dirty="0"/>
              <a:t>可靠性</a:t>
            </a:r>
            <a:r>
              <a:rPr lang="en-US" altLang="zh-CN" sz="1800" b="0" dirty="0"/>
              <a:t>: </a:t>
            </a:r>
            <a:r>
              <a:rPr lang="zh-CN" altLang="en-US" sz="1800" b="0" dirty="0"/>
              <a:t>奇偶校验与纠错 </a:t>
            </a:r>
            <a:endParaRPr lang="zh-CN" altLang="en-US" sz="1800" b="0" dirty="0"/>
          </a:p>
          <a:p>
            <a:pPr marL="0" indent="0">
              <a:lnSpc>
                <a:spcPct val="130000"/>
              </a:lnSpc>
              <a:buNone/>
            </a:pPr>
            <a:endParaRPr lang="zh-CN" altLang="en-US"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2000" dirty="0">
              <a:latin typeface="微软雅黑" panose="020B0503020204020204" pitchFamily="34" charset="-122"/>
              <a:ea typeface="微软雅黑" panose="020B0503020204020204" pitchFamily="34" charset="-122"/>
            </a:endParaRPr>
          </a:p>
        </p:txBody>
      </p:sp>
      <p:sp>
        <p:nvSpPr>
          <p:cNvPr id="2" name="Text Box 12"/>
          <p:cNvSpPr txBox="1"/>
          <p:nvPr/>
        </p:nvSpPr>
        <p:spPr>
          <a:xfrm>
            <a:off x="397163" y="3138213"/>
            <a:ext cx="6986154" cy="2308324"/>
          </a:xfrm>
          <a:prstGeom prst="rect">
            <a:avLst/>
          </a:prstGeom>
          <a:noFill/>
          <a:ln w="9525">
            <a:noFill/>
          </a:ln>
        </p:spPr>
        <p:txBody>
          <a:bodyPr wrap="square" anchor="t">
            <a:spAutoFit/>
          </a:bodyPr>
          <a:lstStyle/>
          <a:p>
            <a:pPr>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(a)</a:t>
            </a:r>
            <a:r>
              <a:rPr lang="zh-CN" altLang="en-US" dirty="0">
                <a:solidFill>
                  <a:srgbClr val="CC0000"/>
                </a:solidFill>
                <a:latin typeface="微软雅黑" panose="020B0503020204020204" pitchFamily="34" charset="-122"/>
                <a:ea typeface="微软雅黑" panose="020B0503020204020204" pitchFamily="34" charset="-122"/>
              </a:rPr>
              <a:t>块级拆分但无冗余</a:t>
            </a:r>
            <a:endParaRPr lang="zh-CN" altLang="en-US" dirty="0">
              <a:solidFill>
                <a:srgbClr val="CC0000"/>
              </a:solidFill>
              <a:latin typeface="微软雅黑" panose="020B0503020204020204" pitchFamily="34" charset="-122"/>
              <a:ea typeface="微软雅黑" panose="020B0503020204020204" pitchFamily="34" charset="-122"/>
            </a:endParaRPr>
          </a:p>
          <a:p>
            <a:pPr>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(b)</a:t>
            </a:r>
            <a:r>
              <a:rPr lang="zh-CN" altLang="en-US" dirty="0">
                <a:solidFill>
                  <a:srgbClr val="CC0000"/>
                </a:solidFill>
                <a:latin typeface="微软雅黑" panose="020B0503020204020204" pitchFamily="34" charset="-122"/>
                <a:ea typeface="微软雅黑" panose="020B0503020204020204" pitchFamily="34" charset="-122"/>
              </a:rPr>
              <a:t>镜像处理</a:t>
            </a:r>
            <a:r>
              <a:rPr lang="zh-CN" altLang="en-US" dirty="0">
                <a:latin typeface="微软雅黑" panose="020B0503020204020204" pitchFamily="34" charset="-122"/>
                <a:ea typeface="微软雅黑" panose="020B0503020204020204" pitchFamily="34" charset="-122"/>
              </a:rPr>
              <a:t>：每一个磁盘有一个镜像磁盘</a:t>
            </a:r>
            <a:r>
              <a:rPr lang="en-US" altLang="zh-CN" dirty="0">
                <a:latin typeface="微软雅黑" panose="020B0503020204020204" pitchFamily="34" charset="-122"/>
                <a:ea typeface="微软雅黑" panose="020B0503020204020204" pitchFamily="34" charset="-122"/>
              </a:rPr>
              <a:t>C</a:t>
            </a:r>
            <a:endParaRPr lang="en-US" altLang="zh-CN" dirty="0">
              <a:latin typeface="微软雅黑" panose="020B0503020204020204" pitchFamily="34" charset="-122"/>
              <a:ea typeface="微软雅黑" panose="020B0503020204020204" pitchFamily="34" charset="-122"/>
            </a:endParaRPr>
          </a:p>
          <a:p>
            <a:pPr>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(c)</a:t>
            </a:r>
            <a:r>
              <a:rPr lang="zh-CN" altLang="en-US" dirty="0">
                <a:solidFill>
                  <a:srgbClr val="CC0000"/>
                </a:solidFill>
                <a:latin typeface="微软雅黑" panose="020B0503020204020204" pitchFamily="34" charset="-122"/>
                <a:ea typeface="微软雅黑" panose="020B0503020204020204" pitchFamily="34" charset="-122"/>
              </a:rPr>
              <a:t>位交叉纠错处理</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个磁盘存储</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位</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个校验盘</a:t>
            </a:r>
            <a:r>
              <a:rPr lang="en-US" altLang="zh-CN"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存储</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校验位</a:t>
            </a:r>
            <a:endParaRPr lang="zh-CN" altLang="en-US" dirty="0">
              <a:latin typeface="微软雅黑" panose="020B0503020204020204" pitchFamily="34" charset="-122"/>
              <a:ea typeface="微软雅黑" panose="020B0503020204020204" pitchFamily="34" charset="-122"/>
            </a:endParaRPr>
          </a:p>
          <a:p>
            <a:pPr>
              <a:buFont typeface="Wingdings" panose="05000000000000000000" pitchFamily="2" charset="2"/>
              <a:buNone/>
            </a:pPr>
            <a:r>
              <a:rPr lang="en-US" altLang="zh-CN" u="sng" dirty="0">
                <a:latin typeface="微软雅黑" panose="020B0503020204020204" pitchFamily="34" charset="-122"/>
                <a:ea typeface="微软雅黑" panose="020B0503020204020204" pitchFamily="34" charset="-122"/>
              </a:rPr>
              <a:t>(d)</a:t>
            </a:r>
            <a:r>
              <a:rPr lang="zh-CN" altLang="en-US" u="sng" dirty="0">
                <a:solidFill>
                  <a:srgbClr val="CC0000"/>
                </a:solidFill>
                <a:latin typeface="微软雅黑" panose="020B0503020204020204" pitchFamily="34" charset="-122"/>
                <a:ea typeface="微软雅黑" panose="020B0503020204020204" pitchFamily="34" charset="-122"/>
              </a:rPr>
              <a:t>位交叉校验</a:t>
            </a:r>
            <a:r>
              <a:rPr lang="zh-CN" altLang="en-US" u="sng" dirty="0">
                <a:latin typeface="微软雅黑" panose="020B0503020204020204" pitchFamily="34" charset="-122"/>
                <a:ea typeface="微软雅黑" panose="020B0503020204020204" pitchFamily="34" charset="-122"/>
              </a:rPr>
              <a:t>：</a:t>
            </a:r>
            <a:r>
              <a:rPr lang="en-US" altLang="zh-CN" u="sng" dirty="0">
                <a:latin typeface="微软雅黑" panose="020B0503020204020204" pitchFamily="34" charset="-122"/>
                <a:ea typeface="微软雅黑" panose="020B0503020204020204" pitchFamily="34" charset="-122"/>
              </a:rPr>
              <a:t>4</a:t>
            </a:r>
            <a:r>
              <a:rPr lang="zh-CN" altLang="en-US" u="sng" dirty="0">
                <a:latin typeface="微软雅黑" panose="020B0503020204020204" pitchFamily="34" charset="-122"/>
                <a:ea typeface="微软雅黑" panose="020B0503020204020204" pitchFamily="34" charset="-122"/>
              </a:rPr>
              <a:t>个磁盘存储</a:t>
            </a:r>
            <a:r>
              <a:rPr lang="en-US" altLang="zh-CN" u="sng" dirty="0">
                <a:latin typeface="微软雅黑" panose="020B0503020204020204" pitchFamily="34" charset="-122"/>
                <a:ea typeface="微软雅黑" panose="020B0503020204020204" pitchFamily="34" charset="-122"/>
              </a:rPr>
              <a:t>4</a:t>
            </a:r>
            <a:r>
              <a:rPr lang="zh-CN" altLang="en-US" u="sng" dirty="0">
                <a:latin typeface="微软雅黑" panose="020B0503020204020204" pitchFamily="34" charset="-122"/>
                <a:ea typeface="微软雅黑" panose="020B0503020204020204" pitchFamily="34" charset="-122"/>
              </a:rPr>
              <a:t>位</a:t>
            </a:r>
            <a:r>
              <a:rPr lang="en-US" altLang="zh-CN" u="sng" dirty="0">
                <a:latin typeface="微软雅黑" panose="020B0503020204020204" pitchFamily="34" charset="-122"/>
                <a:ea typeface="微软雅黑" panose="020B0503020204020204" pitchFamily="34" charset="-122"/>
              </a:rPr>
              <a:t>+1</a:t>
            </a:r>
            <a:r>
              <a:rPr lang="zh-CN" altLang="en-US" u="sng" dirty="0">
                <a:latin typeface="微软雅黑" panose="020B0503020204020204" pitchFamily="34" charset="-122"/>
                <a:ea typeface="微软雅黑" panose="020B0503020204020204" pitchFamily="34" charset="-122"/>
              </a:rPr>
              <a:t>个校验盘存储</a:t>
            </a:r>
            <a:r>
              <a:rPr lang="en-US" altLang="zh-CN" u="sng" dirty="0">
                <a:latin typeface="微软雅黑" panose="020B0503020204020204" pitchFamily="34" charset="-122"/>
                <a:ea typeface="微软雅黑" panose="020B0503020204020204" pitchFamily="34" charset="-122"/>
              </a:rPr>
              <a:t>1</a:t>
            </a:r>
            <a:r>
              <a:rPr lang="zh-CN" altLang="en-US" u="sng" dirty="0">
                <a:latin typeface="微软雅黑" panose="020B0503020204020204" pitchFamily="34" charset="-122"/>
                <a:ea typeface="微软雅黑" panose="020B0503020204020204" pitchFamily="34" charset="-122"/>
              </a:rPr>
              <a:t>校验位，位拆分存储</a:t>
            </a:r>
            <a:r>
              <a:rPr lang="en-US" altLang="zh-CN" u="sng" dirty="0">
                <a:latin typeface="微软雅黑" panose="020B0503020204020204" pitchFamily="34" charset="-122"/>
                <a:ea typeface="微软雅黑" panose="020B0503020204020204" pitchFamily="34" charset="-122"/>
              </a:rPr>
              <a:t>(</a:t>
            </a:r>
            <a:r>
              <a:rPr lang="zh-CN" altLang="en-US" u="sng" dirty="0">
                <a:latin typeface="微软雅黑" panose="020B0503020204020204" pitchFamily="34" charset="-122"/>
                <a:ea typeface="微软雅黑" panose="020B0503020204020204" pitchFamily="34" charset="-122"/>
              </a:rPr>
              <a:t>借助于扇区读写校验判断出错磁盘，再依据校验盘进行纠错</a:t>
            </a:r>
            <a:r>
              <a:rPr lang="en-US" altLang="zh-CN" u="sng" dirty="0">
                <a:latin typeface="微软雅黑" panose="020B0503020204020204" pitchFamily="34" charset="-122"/>
                <a:ea typeface="微软雅黑" panose="020B0503020204020204" pitchFamily="34" charset="-122"/>
              </a:rPr>
              <a:t>)</a:t>
            </a:r>
            <a:endParaRPr lang="en-US" altLang="zh-CN" u="sng" dirty="0">
              <a:latin typeface="微软雅黑" panose="020B0503020204020204" pitchFamily="34" charset="-122"/>
              <a:ea typeface="微软雅黑" panose="020B0503020204020204" pitchFamily="34" charset="-122"/>
            </a:endParaRPr>
          </a:p>
          <a:p>
            <a:pPr>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(e)</a:t>
            </a:r>
            <a:r>
              <a:rPr lang="zh-CN" altLang="en-US" dirty="0">
                <a:solidFill>
                  <a:srgbClr val="CC0000"/>
                </a:solidFill>
                <a:latin typeface="微软雅黑" panose="020B0503020204020204" pitchFamily="34" charset="-122"/>
                <a:ea typeface="微软雅黑" panose="020B0503020204020204" pitchFamily="34" charset="-122"/>
              </a:rPr>
              <a:t>块交叉校验</a:t>
            </a:r>
            <a:r>
              <a:rPr lang="zh-CN" altLang="en-US" dirty="0">
                <a:latin typeface="微软雅黑" panose="020B0503020204020204" pitchFamily="34" charset="-122"/>
                <a:ea typeface="微软雅黑" panose="020B0503020204020204" pitchFamily="34" charset="-122"/>
              </a:rPr>
              <a:t>：块拆分存储，其他同。</a:t>
            </a:r>
            <a:endParaRPr lang="zh-CN" altLang="en-US" dirty="0">
              <a:latin typeface="微软雅黑" panose="020B0503020204020204" pitchFamily="34" charset="-122"/>
              <a:ea typeface="微软雅黑" panose="020B0503020204020204" pitchFamily="34" charset="-122"/>
            </a:endParaRPr>
          </a:p>
          <a:p>
            <a:pPr>
              <a:buFont typeface="Wingdings" panose="05000000000000000000" pitchFamily="2" charset="2"/>
              <a:buNone/>
            </a:pPr>
            <a:r>
              <a:rPr lang="en-US" altLang="zh-CN" u="sng" dirty="0">
                <a:latin typeface="微软雅黑" panose="020B0503020204020204" pitchFamily="34" charset="-122"/>
                <a:ea typeface="微软雅黑" panose="020B0503020204020204" pitchFamily="34" charset="-122"/>
              </a:rPr>
              <a:t>(f)</a:t>
            </a:r>
            <a:r>
              <a:rPr lang="zh-CN" altLang="en-US" u="sng" dirty="0">
                <a:solidFill>
                  <a:srgbClr val="CC0000"/>
                </a:solidFill>
                <a:latin typeface="微软雅黑" panose="020B0503020204020204" pitchFamily="34" charset="-122"/>
                <a:ea typeface="微软雅黑" panose="020B0503020204020204" pitchFamily="34" charset="-122"/>
              </a:rPr>
              <a:t>块交叉分布式校验</a:t>
            </a:r>
            <a:r>
              <a:rPr lang="zh-CN" altLang="en-US" u="sng" dirty="0">
                <a:latin typeface="微软雅黑" panose="020B0503020204020204" pitchFamily="34" charset="-122"/>
                <a:ea typeface="微软雅黑" panose="020B0503020204020204" pitchFamily="34" charset="-122"/>
              </a:rPr>
              <a:t>：块拆分存储，互为校验盘</a:t>
            </a:r>
            <a:endParaRPr lang="zh-CN" altLang="en-US" u="sng" dirty="0">
              <a:latin typeface="微软雅黑" panose="020B0503020204020204" pitchFamily="34" charset="-122"/>
              <a:ea typeface="微软雅黑" panose="020B0503020204020204" pitchFamily="34" charset="-122"/>
            </a:endParaRPr>
          </a:p>
          <a:p>
            <a:pPr>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(g)</a:t>
            </a:r>
            <a:r>
              <a:rPr lang="zh-CN" altLang="en-US" dirty="0">
                <a:solidFill>
                  <a:srgbClr val="CC0000"/>
                </a:solidFill>
                <a:latin typeface="微软雅黑" panose="020B0503020204020204" pitchFamily="34" charset="-122"/>
                <a:ea typeface="微软雅黑" panose="020B0503020204020204" pitchFamily="34" charset="-122"/>
              </a:rPr>
              <a:t>更为复杂的冗余处理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略</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pic>
        <p:nvPicPr>
          <p:cNvPr id="6" name="Picture 5"/>
          <p:cNvPicPr>
            <a:picLocks noChangeAspect="1"/>
          </p:cNvPicPr>
          <p:nvPr/>
        </p:nvPicPr>
        <p:blipFill>
          <a:blip r:embed="rId1"/>
          <a:srcRect l="28719" t="49" r="28719" b="345"/>
          <a:stretch>
            <a:fillRect/>
          </a:stretch>
        </p:blipFill>
        <p:spPr>
          <a:xfrm>
            <a:off x="8189913" y="1961825"/>
            <a:ext cx="2687637" cy="3145163"/>
          </a:xfrm>
          <a:prstGeom prst="rect">
            <a:avLst/>
          </a:prstGeom>
          <a:noFill/>
          <a:ln w="38100" cap="flat" cmpd="dbl">
            <a:solidFill>
              <a:schemeClr val="tx2"/>
            </a:solidFill>
            <a:prstDash val="solid"/>
            <a:miter/>
            <a:headEnd type="none" w="med" len="med"/>
            <a:tailEnd type="none" w="med" len="med"/>
          </a:ln>
        </p:spPr>
      </p:pic>
      <p:sp>
        <p:nvSpPr>
          <p:cNvPr id="7" name="Text Box 9"/>
          <p:cNvSpPr txBox="1"/>
          <p:nvPr/>
        </p:nvSpPr>
        <p:spPr>
          <a:xfrm>
            <a:off x="1738747" y="5465677"/>
            <a:ext cx="3819237" cy="1082348"/>
          </a:xfrm>
          <a:prstGeom prst="rect">
            <a:avLst/>
          </a:prstGeom>
          <a:noFill/>
          <a:ln w="9525">
            <a:noFill/>
          </a:ln>
        </p:spPr>
        <p:txBody>
          <a:bodyPr wrap="square" anchor="t">
            <a:spAutoFit/>
          </a:bodyPr>
          <a:lstStyle/>
          <a:p>
            <a:pPr marL="228600" indent="-228600">
              <a:spcBef>
                <a:spcPts val="1000"/>
              </a:spcBef>
              <a:buFont typeface="Wingdings" panose="05000000000000000000" pitchFamily="2" charset="2"/>
              <a:buChar char="Ø"/>
            </a:pPr>
            <a:r>
              <a:rPr lang="zh-CN" altLang="en-US" sz="1400" dirty="0">
                <a:solidFill>
                  <a:srgbClr val="FF0000"/>
                </a:solidFill>
                <a:latin typeface="微软雅黑" panose="020B0503020204020204" pitchFamily="34" charset="-122"/>
                <a:ea typeface="微软雅黑" panose="020B0503020204020204" pitchFamily="34" charset="-122"/>
              </a:rPr>
              <a:t>比特级拆分</a:t>
            </a:r>
            <a:r>
              <a:rPr lang="en-US" altLang="zh-CN" sz="1400" dirty="0">
                <a:solidFill>
                  <a:srgbClr val="FF0000"/>
                </a:solidFill>
                <a:latin typeface="微软雅黑" panose="020B0503020204020204" pitchFamily="34" charset="-122"/>
                <a:ea typeface="微软雅黑" panose="020B0503020204020204" pitchFamily="34" charset="-122"/>
              </a:rPr>
              <a:t>: </a:t>
            </a:r>
            <a:r>
              <a:rPr lang="zh-CN" altLang="en-US" sz="1400" dirty="0">
                <a:solidFill>
                  <a:srgbClr val="FF0000"/>
                </a:solidFill>
                <a:latin typeface="微软雅黑" panose="020B0503020204020204" pitchFamily="34" charset="-122"/>
                <a:ea typeface="微软雅黑" panose="020B0503020204020204" pitchFamily="34" charset="-122"/>
              </a:rPr>
              <a:t>一个字节被拆分成</a:t>
            </a:r>
            <a:r>
              <a:rPr lang="en-US" altLang="zh-CN" sz="1400" dirty="0">
                <a:solidFill>
                  <a:srgbClr val="FF0000"/>
                </a:solidFill>
                <a:latin typeface="微软雅黑" panose="020B0503020204020204" pitchFamily="34" charset="-122"/>
                <a:ea typeface="微软雅黑" panose="020B0503020204020204" pitchFamily="34" charset="-122"/>
              </a:rPr>
              <a:t>8</a:t>
            </a:r>
            <a:r>
              <a:rPr lang="zh-CN" altLang="en-US" sz="1400" dirty="0">
                <a:solidFill>
                  <a:srgbClr val="FF0000"/>
                </a:solidFill>
                <a:latin typeface="微软雅黑" panose="020B0503020204020204" pitchFamily="34" charset="-122"/>
                <a:ea typeface="微软雅黑" panose="020B0503020204020204" pitchFamily="34" charset="-122"/>
              </a:rPr>
              <a:t>个比特位</a:t>
            </a:r>
            <a:r>
              <a:rPr lang="en-US" altLang="zh-CN" sz="1400" dirty="0">
                <a:solidFill>
                  <a:srgbClr val="FF0000"/>
                </a:solidFill>
                <a:latin typeface="微软雅黑" panose="020B0503020204020204" pitchFamily="34" charset="-122"/>
                <a:ea typeface="微软雅黑" panose="020B0503020204020204" pitchFamily="34" charset="-122"/>
              </a:rPr>
              <a:t>, </a:t>
            </a:r>
            <a:r>
              <a:rPr lang="zh-CN" altLang="en-US" sz="1400" dirty="0">
                <a:solidFill>
                  <a:srgbClr val="FF0000"/>
                </a:solidFill>
                <a:latin typeface="微软雅黑" panose="020B0503020204020204" pitchFamily="34" charset="-122"/>
                <a:ea typeface="微软雅黑" panose="020B0503020204020204" pitchFamily="34" charset="-122"/>
              </a:rPr>
              <a:t>不同比特位存储于不同磁盘。</a:t>
            </a:r>
            <a:endParaRPr lang="en-US" altLang="zh-CN" sz="1400" dirty="0">
              <a:solidFill>
                <a:srgbClr val="FF0000"/>
              </a:solidFill>
              <a:latin typeface="微软雅黑" panose="020B0503020204020204" pitchFamily="34" charset="-122"/>
              <a:ea typeface="微软雅黑" panose="020B0503020204020204" pitchFamily="34" charset="-122"/>
            </a:endParaRPr>
          </a:p>
          <a:p>
            <a:pPr marL="228600" indent="-228600">
              <a:spcBef>
                <a:spcPts val="1000"/>
              </a:spcBef>
              <a:buFont typeface="Wingdings" panose="05000000000000000000" pitchFamily="2" charset="2"/>
              <a:buChar char="Ø"/>
            </a:pPr>
            <a:r>
              <a:rPr lang="zh-CN" altLang="en-US" sz="1400" dirty="0">
                <a:solidFill>
                  <a:srgbClr val="FF0000"/>
                </a:solidFill>
                <a:latin typeface="微软雅黑" panose="020B0503020204020204" pitchFamily="34" charset="-122"/>
                <a:ea typeface="微软雅黑" panose="020B0503020204020204" pitchFamily="34" charset="-122"/>
              </a:rPr>
              <a:t>块级拆分</a:t>
            </a:r>
            <a:r>
              <a:rPr lang="en-US" altLang="zh-CN" sz="1400" dirty="0">
                <a:solidFill>
                  <a:srgbClr val="FF0000"/>
                </a:solidFill>
                <a:latin typeface="微软雅黑" panose="020B0503020204020204" pitchFamily="34" charset="-122"/>
                <a:ea typeface="微软雅黑" panose="020B0503020204020204" pitchFamily="34" charset="-122"/>
              </a:rPr>
              <a:t>: </a:t>
            </a:r>
            <a:r>
              <a:rPr lang="zh-CN" altLang="en-US" sz="1400" dirty="0">
                <a:solidFill>
                  <a:srgbClr val="FF0000"/>
                </a:solidFill>
                <a:latin typeface="微软雅黑" panose="020B0503020204020204" pitchFamily="34" charset="-122"/>
                <a:ea typeface="微软雅黑" panose="020B0503020204020204" pitchFamily="34" charset="-122"/>
              </a:rPr>
              <a:t>一个文件由多个块组成，不同块存储于不同磁盘。</a:t>
            </a:r>
            <a:endParaRPr lang="en-US" altLang="zh-CN" sz="1400" dirty="0">
              <a:solidFill>
                <a:srgbClr val="FF0000"/>
              </a:solidFill>
              <a:latin typeface="微软雅黑" panose="020B0503020204020204" pitchFamily="34" charset="-122"/>
              <a:ea typeface="微软雅黑" panose="020B0503020204020204" pitchFamily="34" charset="-122"/>
            </a:endParaRPr>
          </a:p>
        </p:txBody>
      </p:sp>
      <p:sp>
        <p:nvSpPr>
          <p:cNvPr id="11" name="Text Box 15"/>
          <p:cNvSpPr txBox="1"/>
          <p:nvPr/>
        </p:nvSpPr>
        <p:spPr>
          <a:xfrm>
            <a:off x="7250831" y="5397574"/>
            <a:ext cx="3714750" cy="1082348"/>
          </a:xfrm>
          <a:prstGeom prst="rect">
            <a:avLst/>
          </a:prstGeom>
          <a:noFill/>
          <a:ln w="9525">
            <a:noFill/>
          </a:ln>
        </p:spPr>
        <p:txBody>
          <a:bodyPr anchor="t">
            <a:spAutoFit/>
          </a:bodyPr>
          <a:lstStyle/>
          <a:p>
            <a:pPr marL="228600" indent="-228600">
              <a:spcBef>
                <a:spcPts val="1000"/>
              </a:spcBef>
              <a:buFont typeface="Wingdings" panose="05000000000000000000" pitchFamily="2" charset="2"/>
              <a:buChar char="Ø"/>
            </a:pPr>
            <a:r>
              <a:rPr lang="zh-CN" altLang="en-US" sz="1400" dirty="0">
                <a:solidFill>
                  <a:srgbClr val="FF0000"/>
                </a:solidFill>
                <a:latin typeface="微软雅黑" panose="020B0503020204020204" pitchFamily="34" charset="-122"/>
                <a:ea typeface="微软雅黑" panose="020B0503020204020204" pitchFamily="34" charset="-122"/>
              </a:rPr>
              <a:t>扇区</a:t>
            </a:r>
            <a:r>
              <a:rPr lang="en-US" altLang="zh-CN" sz="1400" dirty="0">
                <a:solidFill>
                  <a:srgbClr val="FF0000"/>
                </a:solidFill>
                <a:latin typeface="微软雅黑" panose="020B0503020204020204" pitchFamily="34" charset="-122"/>
                <a:ea typeface="微软雅黑" panose="020B0503020204020204" pitchFamily="34" charset="-122"/>
              </a:rPr>
              <a:t>/</a:t>
            </a:r>
            <a:r>
              <a:rPr lang="zh-CN" altLang="en-US" sz="1400" dirty="0">
                <a:solidFill>
                  <a:srgbClr val="FF0000"/>
                </a:solidFill>
                <a:latin typeface="微软雅黑" panose="020B0503020204020204" pitchFamily="34" charset="-122"/>
                <a:ea typeface="微软雅黑" panose="020B0503020204020204" pitchFamily="34" charset="-122"/>
              </a:rPr>
              <a:t>块读写校验：对一个扇区</a:t>
            </a:r>
            <a:r>
              <a:rPr lang="en-US" altLang="zh-CN" sz="1400" dirty="0">
                <a:solidFill>
                  <a:srgbClr val="FF0000"/>
                </a:solidFill>
                <a:latin typeface="微软雅黑" panose="020B0503020204020204" pitchFamily="34" charset="-122"/>
                <a:ea typeface="微软雅黑" panose="020B0503020204020204" pitchFamily="34" charset="-122"/>
              </a:rPr>
              <a:t>/</a:t>
            </a:r>
            <a:r>
              <a:rPr lang="zh-CN" altLang="en-US" sz="1400" dirty="0">
                <a:solidFill>
                  <a:srgbClr val="FF0000"/>
                </a:solidFill>
                <a:latin typeface="微软雅黑" panose="020B0503020204020204" pitchFamily="34" charset="-122"/>
                <a:ea typeface="微软雅黑" panose="020B0503020204020204" pitchFamily="34" charset="-122"/>
              </a:rPr>
              <a:t>块读写做校验。</a:t>
            </a:r>
            <a:endParaRPr lang="en-US" altLang="zh-CN" sz="1400" dirty="0">
              <a:solidFill>
                <a:srgbClr val="FF0000"/>
              </a:solidFill>
              <a:latin typeface="微软雅黑" panose="020B0503020204020204" pitchFamily="34" charset="-122"/>
              <a:ea typeface="微软雅黑" panose="020B0503020204020204" pitchFamily="34" charset="-122"/>
            </a:endParaRPr>
          </a:p>
          <a:p>
            <a:pPr marL="228600" indent="-228600">
              <a:spcBef>
                <a:spcPts val="1000"/>
              </a:spcBef>
              <a:buFont typeface="Wingdings" panose="05000000000000000000" pitchFamily="2" charset="2"/>
              <a:buChar char="Ø"/>
            </a:pPr>
            <a:r>
              <a:rPr lang="zh-CN" altLang="en-US" sz="1400" dirty="0">
                <a:solidFill>
                  <a:srgbClr val="FF0000"/>
                </a:solidFill>
                <a:latin typeface="微软雅黑" panose="020B0503020204020204" pitchFamily="34" charset="-122"/>
                <a:ea typeface="微软雅黑" panose="020B0503020204020204" pitchFamily="34" charset="-122"/>
              </a:rPr>
              <a:t>磁盘间读写校验</a:t>
            </a:r>
            <a:r>
              <a:rPr lang="en-US" altLang="zh-CN" sz="1400" dirty="0">
                <a:solidFill>
                  <a:srgbClr val="FF0000"/>
                </a:solidFill>
                <a:latin typeface="微软雅黑" panose="020B0503020204020204" pitchFamily="34" charset="-122"/>
                <a:ea typeface="微软雅黑" panose="020B0503020204020204" pitchFamily="34" charset="-122"/>
              </a:rPr>
              <a:t>: </a:t>
            </a:r>
            <a:r>
              <a:rPr lang="zh-CN" altLang="en-US" sz="1400" dirty="0">
                <a:solidFill>
                  <a:srgbClr val="FF0000"/>
                </a:solidFill>
                <a:latin typeface="微软雅黑" panose="020B0503020204020204" pitchFamily="34" charset="-122"/>
                <a:ea typeface="微软雅黑" panose="020B0503020204020204" pitchFamily="34" charset="-122"/>
              </a:rPr>
              <a:t>多个磁盘间共同构成的信息读写做校验。</a:t>
            </a:r>
            <a:endParaRPr lang="en-US" altLang="zh-CN" sz="14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ppt_x"/>
                                          </p:val>
                                        </p:tav>
                                        <p:tav tm="100000">
                                          <p:val>
                                            <p:strVal val="#ppt_x"/>
                                          </p:val>
                                        </p:tav>
                                      </p:tavLst>
                                    </p:anim>
                                    <p:anim calcmode="lin" valueType="num">
                                      <p:cBhvr additive="base">
                                        <p:cTn id="5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 calcmode="lin" valueType="num">
                                      <p:cBhvr additive="base">
                                        <p:cTn id="55" dur="500" fill="hold"/>
                                        <p:tgtEl>
                                          <p:spTgt spid="11"/>
                                        </p:tgtEl>
                                        <p:attrNameLst>
                                          <p:attrName>ppt_x</p:attrName>
                                        </p:attrNameLst>
                                      </p:cBhvr>
                                      <p:tavLst>
                                        <p:tav tm="0">
                                          <p:val>
                                            <p:strVal val="#ppt_x"/>
                                          </p:val>
                                        </p:tav>
                                        <p:tav tm="100000">
                                          <p:val>
                                            <p:strVal val="#ppt_x"/>
                                          </p:val>
                                        </p:tav>
                                      </p:tavLst>
                                    </p:anim>
                                    <p:anim calcmode="lin" valueType="num">
                                      <p:cBhvr additive="base">
                                        <p:cTn id="5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045" y="179070"/>
            <a:ext cx="10853420" cy="578485"/>
          </a:xfrm>
        </p:spPr>
        <p:txBody>
          <a:bodyPr>
            <a:noAutofit/>
          </a:bodyPr>
          <a:lstStyle/>
          <a:p>
            <a:pPr algn="l"/>
            <a:r>
              <a:rPr lang="en-US" altLang="zh-CN" dirty="0"/>
              <a:t>6.1 </a:t>
            </a:r>
            <a:r>
              <a:rPr lang="zh-CN" altLang="zh-CN" dirty="0"/>
              <a:t>基础回顾-</a:t>
            </a:r>
            <a:r>
              <a:rPr lang="en-US" altLang="zh-CN" dirty="0"/>
              <a:t>DBMS</a:t>
            </a:r>
            <a:r>
              <a:rPr lang="zh-CN" altLang="en-US" dirty="0"/>
              <a:t>数据存储与查询实现基本思想</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数据存储的映射关系示意</a:t>
            </a:r>
            <a:endParaRPr lang="en-US" altLang="zh-CN" dirty="0">
              <a:latin typeface="微软雅黑" panose="020B0503020204020204" pitchFamily="34" charset="-122"/>
              <a:ea typeface="微软雅黑" panose="020B0503020204020204" pitchFamily="34" charset="-122"/>
            </a:endParaRPr>
          </a:p>
          <a:p>
            <a:pPr marL="0" indent="0">
              <a:lnSpc>
                <a:spcPct val="130000"/>
              </a:lnSpc>
              <a:buNone/>
            </a:pPr>
            <a:endParaRPr lang="zh-CN" altLang="en-US"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2000" dirty="0">
              <a:latin typeface="微软雅黑" panose="020B0503020204020204" pitchFamily="34" charset="-122"/>
              <a:ea typeface="微软雅黑" panose="020B0503020204020204" pitchFamily="34" charset="-122"/>
            </a:endParaRPr>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grpSp>
        <p:nvGrpSpPr>
          <p:cNvPr id="8" name="Group 107"/>
          <p:cNvGrpSpPr/>
          <p:nvPr/>
        </p:nvGrpSpPr>
        <p:grpSpPr>
          <a:xfrm>
            <a:off x="4083045" y="5497513"/>
            <a:ext cx="3186113" cy="1193800"/>
            <a:chOff x="3450" y="3341"/>
            <a:chExt cx="2007" cy="752"/>
          </a:xfrm>
        </p:grpSpPr>
        <p:sp>
          <p:nvSpPr>
            <p:cNvPr id="9" name="Rectangle 73"/>
            <p:cNvSpPr/>
            <p:nvPr/>
          </p:nvSpPr>
          <p:spPr>
            <a:xfrm>
              <a:off x="3533" y="3382"/>
              <a:ext cx="509" cy="394"/>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0" name="Rectangle 74"/>
            <p:cNvSpPr/>
            <p:nvPr/>
          </p:nvSpPr>
          <p:spPr>
            <a:xfrm>
              <a:off x="4101" y="3381"/>
              <a:ext cx="509" cy="394"/>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2" name="Line 75"/>
            <p:cNvSpPr/>
            <p:nvPr/>
          </p:nvSpPr>
          <p:spPr>
            <a:xfrm flipV="1">
              <a:off x="4666" y="3562"/>
              <a:ext cx="230" cy="0"/>
            </a:xfrm>
            <a:prstGeom prst="line">
              <a:avLst/>
            </a:prstGeom>
            <a:ln w="28575" cap="flat" cmpd="sng">
              <a:solidFill>
                <a:schemeClr val="tx1"/>
              </a:solidFill>
              <a:prstDash val="sysDot"/>
              <a:round/>
              <a:headEnd type="none" w="med" len="med"/>
              <a:tailEnd type="none" w="med" len="med"/>
            </a:ln>
          </p:spPr>
        </p:sp>
        <p:sp>
          <p:nvSpPr>
            <p:cNvPr id="13" name="Rectangle 76"/>
            <p:cNvSpPr/>
            <p:nvPr/>
          </p:nvSpPr>
          <p:spPr>
            <a:xfrm>
              <a:off x="4948" y="3382"/>
              <a:ext cx="509" cy="394"/>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4" name="Rectangle 77"/>
            <p:cNvSpPr/>
            <p:nvPr/>
          </p:nvSpPr>
          <p:spPr>
            <a:xfrm>
              <a:off x="3562" y="3407"/>
              <a:ext cx="239" cy="37"/>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5" name="Rectangle 78"/>
            <p:cNvSpPr/>
            <p:nvPr/>
          </p:nvSpPr>
          <p:spPr>
            <a:xfrm>
              <a:off x="3845" y="3404"/>
              <a:ext cx="162" cy="41"/>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6" name="Rectangle 79"/>
            <p:cNvSpPr/>
            <p:nvPr/>
          </p:nvSpPr>
          <p:spPr>
            <a:xfrm>
              <a:off x="3768" y="3471"/>
              <a:ext cx="239" cy="37"/>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7" name="Rectangle 80"/>
            <p:cNvSpPr/>
            <p:nvPr/>
          </p:nvSpPr>
          <p:spPr>
            <a:xfrm>
              <a:off x="3569" y="3468"/>
              <a:ext cx="162" cy="41"/>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8" name="Rectangle 81"/>
            <p:cNvSpPr/>
            <p:nvPr/>
          </p:nvSpPr>
          <p:spPr>
            <a:xfrm>
              <a:off x="3560" y="3537"/>
              <a:ext cx="239" cy="37"/>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9" name="Rectangle 82"/>
            <p:cNvSpPr/>
            <p:nvPr/>
          </p:nvSpPr>
          <p:spPr>
            <a:xfrm>
              <a:off x="3821" y="3534"/>
              <a:ext cx="186" cy="41"/>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20" name="Rectangle 84"/>
            <p:cNvSpPr/>
            <p:nvPr/>
          </p:nvSpPr>
          <p:spPr>
            <a:xfrm>
              <a:off x="3567" y="3598"/>
              <a:ext cx="162" cy="41"/>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21" name="Text Box 85"/>
            <p:cNvSpPr txBox="1"/>
            <p:nvPr/>
          </p:nvSpPr>
          <p:spPr>
            <a:xfrm>
              <a:off x="3450" y="3751"/>
              <a:ext cx="494" cy="192"/>
            </a:xfrm>
            <a:prstGeom prst="rect">
              <a:avLst/>
            </a:prstGeom>
            <a:noFill/>
            <a:ln w="9525">
              <a:noFill/>
            </a:ln>
          </p:spPr>
          <p:txBody>
            <a:bodyPr wrap="none" anchor="t">
              <a:spAutoFit/>
            </a:bodyPr>
            <a:lstStyle/>
            <a:p>
              <a:pPr algn="ctr"/>
              <a:r>
                <a:rPr lang="en-US" altLang="zh-CN" sz="1400" dirty="0">
                  <a:latin typeface="微软雅黑" panose="020B0503020204020204" pitchFamily="34" charset="-122"/>
                  <a:ea typeface="微软雅黑" panose="020B0503020204020204" pitchFamily="34" charset="-122"/>
                </a:rPr>
                <a:t>Block1</a:t>
              </a:r>
              <a:endParaRPr lang="en-US" altLang="zh-CN" sz="1400" dirty="0">
                <a:latin typeface="微软雅黑" panose="020B0503020204020204" pitchFamily="34" charset="-122"/>
                <a:ea typeface="微软雅黑" panose="020B0503020204020204" pitchFamily="34" charset="-122"/>
              </a:endParaRPr>
            </a:p>
          </p:txBody>
        </p:sp>
        <p:sp>
          <p:nvSpPr>
            <p:cNvPr id="22" name="Text Box 86"/>
            <p:cNvSpPr txBox="1"/>
            <p:nvPr/>
          </p:nvSpPr>
          <p:spPr>
            <a:xfrm>
              <a:off x="4018" y="3749"/>
              <a:ext cx="494" cy="192"/>
            </a:xfrm>
            <a:prstGeom prst="rect">
              <a:avLst/>
            </a:prstGeom>
            <a:noFill/>
            <a:ln w="9525">
              <a:noFill/>
            </a:ln>
          </p:spPr>
          <p:txBody>
            <a:bodyPr wrap="none" anchor="t">
              <a:spAutoFit/>
            </a:bodyPr>
            <a:lstStyle/>
            <a:p>
              <a:pPr algn="ctr"/>
              <a:r>
                <a:rPr lang="en-US" altLang="zh-CN" sz="1400" dirty="0">
                  <a:latin typeface="微软雅黑" panose="020B0503020204020204" pitchFamily="34" charset="-122"/>
                  <a:ea typeface="微软雅黑" panose="020B0503020204020204" pitchFamily="34" charset="-122"/>
                </a:rPr>
                <a:t>Block2</a:t>
              </a:r>
              <a:endParaRPr lang="en-US" altLang="zh-CN" sz="1400" dirty="0">
                <a:latin typeface="微软雅黑" panose="020B0503020204020204" pitchFamily="34" charset="-122"/>
                <a:ea typeface="微软雅黑" panose="020B0503020204020204" pitchFamily="34" charset="-122"/>
              </a:endParaRPr>
            </a:p>
          </p:txBody>
        </p:sp>
        <p:sp>
          <p:nvSpPr>
            <p:cNvPr id="23" name="Text Box 87"/>
            <p:cNvSpPr txBox="1"/>
            <p:nvPr/>
          </p:nvSpPr>
          <p:spPr>
            <a:xfrm>
              <a:off x="4874" y="3747"/>
              <a:ext cx="531" cy="192"/>
            </a:xfrm>
            <a:prstGeom prst="rect">
              <a:avLst/>
            </a:prstGeom>
            <a:noFill/>
            <a:ln w="9525">
              <a:noFill/>
            </a:ln>
          </p:spPr>
          <p:txBody>
            <a:bodyPr wrap="none" anchor="t">
              <a:spAutoFit/>
            </a:bodyPr>
            <a:lstStyle/>
            <a:p>
              <a:pPr algn="ctr"/>
              <a:r>
                <a:rPr lang="en-US" altLang="zh-CN" sz="1400" dirty="0">
                  <a:latin typeface="微软雅黑" panose="020B0503020204020204" pitchFamily="34" charset="-122"/>
                  <a:ea typeface="微软雅黑" panose="020B0503020204020204" pitchFamily="34" charset="-122"/>
                </a:rPr>
                <a:t>Block n</a:t>
              </a:r>
              <a:endParaRPr lang="en-US" altLang="zh-CN" sz="1400" dirty="0">
                <a:latin typeface="微软雅黑" panose="020B0503020204020204" pitchFamily="34" charset="-122"/>
                <a:ea typeface="微软雅黑" panose="020B0503020204020204" pitchFamily="34" charset="-122"/>
              </a:endParaRPr>
            </a:p>
          </p:txBody>
        </p:sp>
        <p:sp>
          <p:nvSpPr>
            <p:cNvPr id="24" name="Text Box 88"/>
            <p:cNvSpPr txBox="1"/>
            <p:nvPr/>
          </p:nvSpPr>
          <p:spPr>
            <a:xfrm>
              <a:off x="4091" y="3341"/>
              <a:ext cx="545" cy="346"/>
            </a:xfrm>
            <a:prstGeom prst="rect">
              <a:avLst/>
            </a:prstGeom>
            <a:noFill/>
            <a:ln w="9525">
              <a:noFill/>
            </a:ln>
          </p:spPr>
          <p:txBody>
            <a:bodyPr anchor="t">
              <a:spAutoFit/>
            </a:bodyPr>
            <a:lstStyle/>
            <a:p>
              <a:pPr algn="ctr"/>
              <a:r>
                <a:rPr lang="en-US" altLang="zh-CN" sz="1000" dirty="0">
                  <a:solidFill>
                    <a:srgbClr val="FF0066"/>
                  </a:solidFill>
                  <a:latin typeface="微软雅黑" panose="020B0503020204020204" pitchFamily="34" charset="-122"/>
                  <a:ea typeface="微软雅黑" panose="020B0503020204020204" pitchFamily="34" charset="-122"/>
                </a:rPr>
                <a:t>Record1: AV1,AV2…</a:t>
              </a:r>
              <a:endParaRPr lang="en-US" altLang="zh-CN" sz="1000" dirty="0">
                <a:solidFill>
                  <a:srgbClr val="FF0066"/>
                </a:solidFill>
                <a:latin typeface="微软雅黑" panose="020B0503020204020204" pitchFamily="34" charset="-122"/>
                <a:ea typeface="微软雅黑" panose="020B0503020204020204" pitchFamily="34" charset="-122"/>
              </a:endParaRPr>
            </a:p>
          </p:txBody>
        </p:sp>
        <p:sp>
          <p:nvSpPr>
            <p:cNvPr id="25" name="Text Box 89"/>
            <p:cNvSpPr txBox="1"/>
            <p:nvPr/>
          </p:nvSpPr>
          <p:spPr>
            <a:xfrm>
              <a:off x="4017" y="3537"/>
              <a:ext cx="629" cy="250"/>
            </a:xfrm>
            <a:prstGeom prst="rect">
              <a:avLst/>
            </a:prstGeom>
            <a:noFill/>
            <a:ln w="9525">
              <a:noFill/>
            </a:ln>
          </p:spPr>
          <p:txBody>
            <a:bodyPr anchor="t">
              <a:spAutoFit/>
            </a:bodyPr>
            <a:lstStyle/>
            <a:p>
              <a:pPr algn="ctr"/>
              <a:r>
                <a:rPr lang="en-US" altLang="zh-CN" sz="1000" dirty="0">
                  <a:latin typeface="微软雅黑" panose="020B0503020204020204" pitchFamily="34" charset="-122"/>
                  <a:ea typeface="微软雅黑" panose="020B0503020204020204" pitchFamily="34" charset="-122"/>
                </a:rPr>
                <a:t>Record2: AttrValue …</a:t>
              </a:r>
              <a:endParaRPr lang="en-US" altLang="zh-CN" sz="1000" dirty="0">
                <a:latin typeface="微软雅黑" panose="020B0503020204020204" pitchFamily="34" charset="-122"/>
                <a:ea typeface="微软雅黑" panose="020B0503020204020204" pitchFamily="34" charset="-122"/>
              </a:endParaRPr>
            </a:p>
          </p:txBody>
        </p:sp>
        <p:sp>
          <p:nvSpPr>
            <p:cNvPr id="26" name="Text Box 90"/>
            <p:cNvSpPr txBox="1"/>
            <p:nvPr/>
          </p:nvSpPr>
          <p:spPr>
            <a:xfrm>
              <a:off x="3707" y="3901"/>
              <a:ext cx="1535" cy="192"/>
            </a:xfrm>
            <a:prstGeom prst="rect">
              <a:avLst/>
            </a:prstGeom>
            <a:noFill/>
            <a:ln w="9525">
              <a:noFill/>
            </a:ln>
          </p:spPr>
          <p:txBody>
            <a:bodyPr wrap="none" anchor="t">
              <a:spAutoFit/>
            </a:bodyPr>
            <a:lstStyle/>
            <a:p>
              <a:pPr algn="ctr"/>
              <a:r>
                <a:rPr lang="zh-CN" altLang="en-US" sz="1400" dirty="0">
                  <a:latin typeface="微软雅黑" panose="020B0503020204020204" pitchFamily="34" charset="-122"/>
                  <a:ea typeface="微软雅黑" panose="020B0503020204020204" pitchFamily="34" charset="-122"/>
                </a:rPr>
                <a:t>块号</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盘号</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磁道</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柱面</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扇区</a:t>
              </a:r>
              <a:endParaRPr lang="zh-CN" altLang="en-US" sz="1400" dirty="0">
                <a:latin typeface="微软雅黑" panose="020B0503020204020204" pitchFamily="34" charset="-122"/>
                <a:ea typeface="微软雅黑" panose="020B0503020204020204" pitchFamily="34" charset="-122"/>
              </a:endParaRPr>
            </a:p>
          </p:txBody>
        </p:sp>
      </p:grpSp>
      <p:grpSp>
        <p:nvGrpSpPr>
          <p:cNvPr id="27" name="Group 122"/>
          <p:cNvGrpSpPr/>
          <p:nvPr/>
        </p:nvGrpSpPr>
        <p:grpSpPr>
          <a:xfrm>
            <a:off x="1819669" y="2540001"/>
            <a:ext cx="874712" cy="742950"/>
            <a:chOff x="4902" y="2664"/>
            <a:chExt cx="551" cy="468"/>
          </a:xfrm>
        </p:grpSpPr>
        <p:sp>
          <p:nvSpPr>
            <p:cNvPr id="28" name="Rectangle 123"/>
            <p:cNvSpPr/>
            <p:nvPr/>
          </p:nvSpPr>
          <p:spPr>
            <a:xfrm>
              <a:off x="4902" y="2670"/>
              <a:ext cx="258" cy="150"/>
            </a:xfrm>
            <a:prstGeom prst="rect">
              <a:avLst/>
            </a:prstGeom>
            <a:solidFill>
              <a:schemeClr val="bg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29" name="Rectangle 124"/>
            <p:cNvSpPr/>
            <p:nvPr/>
          </p:nvSpPr>
          <p:spPr>
            <a:xfrm>
              <a:off x="5164" y="2674"/>
              <a:ext cx="264" cy="150"/>
            </a:xfrm>
            <a:prstGeom prst="rect">
              <a:avLst/>
            </a:prstGeom>
            <a:solidFill>
              <a:schemeClr val="bg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30" name="Text Box 125"/>
            <p:cNvSpPr txBox="1"/>
            <p:nvPr/>
          </p:nvSpPr>
          <p:spPr>
            <a:xfrm>
              <a:off x="4919" y="2666"/>
              <a:ext cx="256" cy="154"/>
            </a:xfrm>
            <a:prstGeom prst="rect">
              <a:avLst/>
            </a:prstGeom>
            <a:noFill/>
            <a:ln w="9525">
              <a:noFill/>
            </a:ln>
          </p:spPr>
          <p:txBody>
            <a:bodyPr wrap="none" anchor="t">
              <a:spAutoFit/>
            </a:bodyPr>
            <a:lstStyle/>
            <a:p>
              <a:pPr algn="ctr"/>
              <a:r>
                <a:rPr lang="en-US" altLang="zh-CN" sz="1000" dirty="0">
                  <a:latin typeface="微软雅黑" panose="020B0503020204020204" pitchFamily="34" charset="-122"/>
                  <a:ea typeface="微软雅黑" panose="020B0503020204020204" pitchFamily="34" charset="-122"/>
                </a:rPr>
                <a:t>File</a:t>
              </a:r>
              <a:endParaRPr lang="en-US" altLang="zh-CN" sz="1000" dirty="0">
                <a:latin typeface="微软雅黑" panose="020B0503020204020204" pitchFamily="34" charset="-122"/>
                <a:ea typeface="微软雅黑" panose="020B0503020204020204" pitchFamily="34" charset="-122"/>
              </a:endParaRPr>
            </a:p>
          </p:txBody>
        </p:sp>
        <p:sp>
          <p:nvSpPr>
            <p:cNvPr id="31" name="Text Box 126"/>
            <p:cNvSpPr txBox="1"/>
            <p:nvPr/>
          </p:nvSpPr>
          <p:spPr>
            <a:xfrm>
              <a:off x="5116" y="2664"/>
              <a:ext cx="337" cy="154"/>
            </a:xfrm>
            <a:prstGeom prst="rect">
              <a:avLst/>
            </a:prstGeom>
            <a:noFill/>
            <a:ln w="9525">
              <a:noFill/>
            </a:ln>
          </p:spPr>
          <p:txBody>
            <a:bodyPr wrap="none" anchor="t">
              <a:spAutoFit/>
            </a:bodyPr>
            <a:lstStyle/>
            <a:p>
              <a:pPr algn="ctr"/>
              <a:r>
                <a:rPr lang="en-US" altLang="zh-CN" sz="1000" dirty="0">
                  <a:latin typeface="微软雅黑" panose="020B0503020204020204" pitchFamily="34" charset="-122"/>
                  <a:ea typeface="微软雅黑" panose="020B0503020204020204" pitchFamily="34" charset="-122"/>
                </a:rPr>
                <a:t>Block</a:t>
              </a:r>
              <a:endParaRPr lang="en-US" altLang="zh-CN" sz="1000" dirty="0">
                <a:latin typeface="微软雅黑" panose="020B0503020204020204" pitchFamily="34" charset="-122"/>
                <a:ea typeface="微软雅黑" panose="020B0503020204020204" pitchFamily="34" charset="-122"/>
              </a:endParaRPr>
            </a:p>
          </p:txBody>
        </p:sp>
        <p:sp>
          <p:nvSpPr>
            <p:cNvPr id="32" name="Rectangle 127"/>
            <p:cNvSpPr/>
            <p:nvPr/>
          </p:nvSpPr>
          <p:spPr>
            <a:xfrm>
              <a:off x="4908" y="2664"/>
              <a:ext cx="510" cy="468"/>
            </a:xfrm>
            <a:prstGeom prst="rect">
              <a:avLst/>
            </a:prstGeom>
            <a:noFill/>
            <a:ln w="2857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33" name="Line 128"/>
            <p:cNvSpPr/>
            <p:nvPr/>
          </p:nvSpPr>
          <p:spPr>
            <a:xfrm>
              <a:off x="4902" y="2910"/>
              <a:ext cx="510" cy="0"/>
            </a:xfrm>
            <a:prstGeom prst="line">
              <a:avLst/>
            </a:prstGeom>
            <a:ln w="9525" cap="flat" cmpd="sng">
              <a:solidFill>
                <a:schemeClr val="tx1"/>
              </a:solidFill>
              <a:prstDash val="solid"/>
              <a:round/>
              <a:headEnd type="none" w="med" len="med"/>
              <a:tailEnd type="none" w="med" len="med"/>
            </a:ln>
          </p:spPr>
        </p:sp>
        <p:sp>
          <p:nvSpPr>
            <p:cNvPr id="34" name="Line 129"/>
            <p:cNvSpPr/>
            <p:nvPr/>
          </p:nvSpPr>
          <p:spPr>
            <a:xfrm>
              <a:off x="4918" y="3004"/>
              <a:ext cx="510" cy="0"/>
            </a:xfrm>
            <a:prstGeom prst="line">
              <a:avLst/>
            </a:prstGeom>
            <a:ln w="9525" cap="flat" cmpd="sng">
              <a:solidFill>
                <a:schemeClr val="tx1"/>
              </a:solidFill>
              <a:prstDash val="solid"/>
              <a:round/>
              <a:headEnd type="none" w="med" len="med"/>
              <a:tailEnd type="none" w="med" len="med"/>
            </a:ln>
          </p:spPr>
        </p:sp>
        <p:sp>
          <p:nvSpPr>
            <p:cNvPr id="36" name="Line 130"/>
            <p:cNvSpPr/>
            <p:nvPr/>
          </p:nvSpPr>
          <p:spPr>
            <a:xfrm>
              <a:off x="4910" y="3086"/>
              <a:ext cx="510" cy="0"/>
            </a:xfrm>
            <a:prstGeom prst="line">
              <a:avLst/>
            </a:prstGeom>
            <a:ln w="9525" cap="flat" cmpd="sng">
              <a:solidFill>
                <a:schemeClr val="tx1"/>
              </a:solidFill>
              <a:prstDash val="solid"/>
              <a:round/>
              <a:headEnd type="none" w="med" len="med"/>
              <a:tailEnd type="none" w="med" len="med"/>
            </a:ln>
          </p:spPr>
        </p:sp>
        <p:sp>
          <p:nvSpPr>
            <p:cNvPr id="37" name="Line 131"/>
            <p:cNvSpPr/>
            <p:nvPr/>
          </p:nvSpPr>
          <p:spPr>
            <a:xfrm>
              <a:off x="5160" y="2814"/>
              <a:ext cx="0" cy="276"/>
            </a:xfrm>
            <a:prstGeom prst="line">
              <a:avLst/>
            </a:prstGeom>
            <a:ln w="9525" cap="flat" cmpd="sng">
              <a:solidFill>
                <a:schemeClr val="tx1"/>
              </a:solidFill>
              <a:prstDash val="solid"/>
              <a:round/>
              <a:headEnd type="none" w="med" len="med"/>
              <a:tailEnd type="none" w="med" len="med"/>
            </a:ln>
          </p:spPr>
        </p:sp>
      </p:grpSp>
      <p:grpSp>
        <p:nvGrpSpPr>
          <p:cNvPr id="38" name="Group 132"/>
          <p:cNvGrpSpPr/>
          <p:nvPr/>
        </p:nvGrpSpPr>
        <p:grpSpPr>
          <a:xfrm>
            <a:off x="4974452" y="3901464"/>
            <a:ext cx="2311400" cy="954088"/>
            <a:chOff x="1994" y="2159"/>
            <a:chExt cx="1456" cy="601"/>
          </a:xfrm>
        </p:grpSpPr>
        <p:sp>
          <p:nvSpPr>
            <p:cNvPr id="39" name="Text Box 102"/>
            <p:cNvSpPr txBox="1"/>
            <p:nvPr/>
          </p:nvSpPr>
          <p:spPr>
            <a:xfrm>
              <a:off x="1994" y="2568"/>
              <a:ext cx="496" cy="192"/>
            </a:xfrm>
            <a:prstGeom prst="rect">
              <a:avLst/>
            </a:prstGeom>
            <a:noFill/>
            <a:ln w="9525">
              <a:noFill/>
            </a:ln>
          </p:spPr>
          <p:txBody>
            <a:bodyPr wrap="none" anchor="t">
              <a:spAutoFit/>
            </a:bodyPr>
            <a:lstStyle/>
            <a:p>
              <a:pPr algn="ctr"/>
              <a:r>
                <a:rPr lang="en-US" altLang="zh-CN" sz="1400" dirty="0">
                  <a:latin typeface="微软雅黑" panose="020B0503020204020204" pitchFamily="34" charset="-122"/>
                  <a:ea typeface="微软雅黑" panose="020B0503020204020204" pitchFamily="34" charset="-122"/>
                </a:rPr>
                <a:t>Page 1</a:t>
              </a:r>
              <a:endParaRPr lang="en-US" altLang="zh-CN" sz="1400" dirty="0">
                <a:latin typeface="微软雅黑" panose="020B0503020204020204" pitchFamily="34" charset="-122"/>
                <a:ea typeface="微软雅黑" panose="020B0503020204020204" pitchFamily="34" charset="-122"/>
              </a:endParaRPr>
            </a:p>
          </p:txBody>
        </p:sp>
        <p:grpSp>
          <p:nvGrpSpPr>
            <p:cNvPr id="40" name="Group 108"/>
            <p:cNvGrpSpPr/>
            <p:nvPr/>
          </p:nvGrpSpPr>
          <p:grpSpPr>
            <a:xfrm>
              <a:off x="2079" y="2159"/>
              <a:ext cx="1371" cy="600"/>
              <a:chOff x="4287" y="1977"/>
              <a:chExt cx="1371" cy="600"/>
            </a:xfrm>
          </p:grpSpPr>
          <p:sp>
            <p:nvSpPr>
              <p:cNvPr id="41" name="Rectangle 93"/>
              <p:cNvSpPr/>
              <p:nvPr/>
            </p:nvSpPr>
            <p:spPr>
              <a:xfrm>
                <a:off x="4287" y="2018"/>
                <a:ext cx="509" cy="394"/>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42" name="Rectangle 94"/>
              <p:cNvSpPr/>
              <p:nvPr/>
            </p:nvSpPr>
            <p:spPr>
              <a:xfrm>
                <a:off x="5113" y="2017"/>
                <a:ext cx="509" cy="394"/>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43" name="Rectangle 95"/>
              <p:cNvSpPr/>
              <p:nvPr/>
            </p:nvSpPr>
            <p:spPr>
              <a:xfrm>
                <a:off x="4316" y="2043"/>
                <a:ext cx="239" cy="37"/>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44" name="Rectangle 96"/>
              <p:cNvSpPr/>
              <p:nvPr/>
            </p:nvSpPr>
            <p:spPr>
              <a:xfrm>
                <a:off x="4599" y="2040"/>
                <a:ext cx="162" cy="41"/>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45" name="Rectangle 97"/>
              <p:cNvSpPr/>
              <p:nvPr/>
            </p:nvSpPr>
            <p:spPr>
              <a:xfrm>
                <a:off x="4522" y="2107"/>
                <a:ext cx="239" cy="37"/>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46" name="Rectangle 98"/>
              <p:cNvSpPr/>
              <p:nvPr/>
            </p:nvSpPr>
            <p:spPr>
              <a:xfrm>
                <a:off x="4323" y="2104"/>
                <a:ext cx="162" cy="41"/>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47" name="Rectangle 99"/>
              <p:cNvSpPr/>
              <p:nvPr/>
            </p:nvSpPr>
            <p:spPr>
              <a:xfrm>
                <a:off x="4314" y="2173"/>
                <a:ext cx="239" cy="37"/>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48" name="Rectangle 100"/>
              <p:cNvSpPr/>
              <p:nvPr/>
            </p:nvSpPr>
            <p:spPr>
              <a:xfrm>
                <a:off x="4575" y="2170"/>
                <a:ext cx="186" cy="41"/>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49" name="Rectangle 101"/>
              <p:cNvSpPr/>
              <p:nvPr/>
            </p:nvSpPr>
            <p:spPr>
              <a:xfrm>
                <a:off x="4321" y="2234"/>
                <a:ext cx="162" cy="41"/>
              </a:xfrm>
              <a:prstGeom prst="rect">
                <a:avLst/>
              </a:prstGeom>
              <a:solidFill>
                <a:schemeClr val="tx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50" name="Text Box 103"/>
              <p:cNvSpPr txBox="1"/>
              <p:nvPr/>
            </p:nvSpPr>
            <p:spPr>
              <a:xfrm>
                <a:off x="5046" y="2385"/>
                <a:ext cx="463" cy="192"/>
              </a:xfrm>
              <a:prstGeom prst="rect">
                <a:avLst/>
              </a:prstGeom>
              <a:noFill/>
              <a:ln w="9525">
                <a:noFill/>
              </a:ln>
            </p:spPr>
            <p:txBody>
              <a:bodyPr wrap="none" anchor="t">
                <a:spAutoFit/>
              </a:bodyPr>
              <a:lstStyle/>
              <a:p>
                <a:pPr algn="ctr"/>
                <a:r>
                  <a:rPr lang="en-US" altLang="zh-CN" sz="1400" dirty="0">
                    <a:latin typeface="微软雅黑" panose="020B0503020204020204" pitchFamily="34" charset="-122"/>
                    <a:ea typeface="微软雅黑" panose="020B0503020204020204" pitchFamily="34" charset="-122"/>
                  </a:rPr>
                  <a:t>Page2</a:t>
                </a:r>
                <a:endParaRPr lang="en-US" altLang="zh-CN" sz="1400" dirty="0">
                  <a:latin typeface="微软雅黑" panose="020B0503020204020204" pitchFamily="34" charset="-122"/>
                  <a:ea typeface="微软雅黑" panose="020B0503020204020204" pitchFamily="34" charset="-122"/>
                </a:endParaRPr>
              </a:p>
            </p:txBody>
          </p:sp>
          <p:sp>
            <p:nvSpPr>
              <p:cNvPr id="51" name="Text Box 104"/>
              <p:cNvSpPr txBox="1"/>
              <p:nvPr/>
            </p:nvSpPr>
            <p:spPr>
              <a:xfrm>
                <a:off x="5103" y="1977"/>
                <a:ext cx="545" cy="346"/>
              </a:xfrm>
              <a:prstGeom prst="rect">
                <a:avLst/>
              </a:prstGeom>
              <a:noFill/>
              <a:ln w="9525">
                <a:noFill/>
              </a:ln>
            </p:spPr>
            <p:txBody>
              <a:bodyPr anchor="t">
                <a:spAutoFit/>
              </a:bodyPr>
              <a:lstStyle/>
              <a:p>
                <a:pPr algn="ctr"/>
                <a:r>
                  <a:rPr lang="en-US" altLang="zh-CN" sz="1000" dirty="0">
                    <a:solidFill>
                      <a:srgbClr val="FF0066"/>
                    </a:solidFill>
                    <a:latin typeface="微软雅黑" panose="020B0503020204020204" pitchFamily="34" charset="-122"/>
                    <a:ea typeface="微软雅黑" panose="020B0503020204020204" pitchFamily="34" charset="-122"/>
                  </a:rPr>
                  <a:t>Record1: AV1,AV2…</a:t>
                </a:r>
                <a:endParaRPr lang="en-US" altLang="zh-CN" sz="1000" dirty="0">
                  <a:solidFill>
                    <a:srgbClr val="FF0066"/>
                  </a:solidFill>
                  <a:latin typeface="微软雅黑" panose="020B0503020204020204" pitchFamily="34" charset="-122"/>
                  <a:ea typeface="微软雅黑" panose="020B0503020204020204" pitchFamily="34" charset="-122"/>
                </a:endParaRPr>
              </a:p>
            </p:txBody>
          </p:sp>
          <p:sp>
            <p:nvSpPr>
              <p:cNvPr id="52" name="Text Box 105"/>
              <p:cNvSpPr txBox="1"/>
              <p:nvPr/>
            </p:nvSpPr>
            <p:spPr>
              <a:xfrm>
                <a:off x="5029" y="2173"/>
                <a:ext cx="629" cy="250"/>
              </a:xfrm>
              <a:prstGeom prst="rect">
                <a:avLst/>
              </a:prstGeom>
              <a:noFill/>
              <a:ln w="9525">
                <a:noFill/>
              </a:ln>
            </p:spPr>
            <p:txBody>
              <a:bodyPr anchor="t">
                <a:spAutoFit/>
              </a:bodyPr>
              <a:lstStyle/>
              <a:p>
                <a:pPr algn="ctr"/>
                <a:r>
                  <a:rPr lang="en-US" altLang="zh-CN" sz="1000" dirty="0">
                    <a:latin typeface="微软雅黑" panose="020B0503020204020204" pitchFamily="34" charset="-122"/>
                    <a:ea typeface="微软雅黑" panose="020B0503020204020204" pitchFamily="34" charset="-122"/>
                  </a:rPr>
                  <a:t>Record2: AttrValue …</a:t>
                </a:r>
                <a:endParaRPr lang="en-US" altLang="zh-CN" sz="1000" dirty="0">
                  <a:latin typeface="微软雅黑" panose="020B0503020204020204" pitchFamily="34" charset="-122"/>
                  <a:ea typeface="微软雅黑" panose="020B0503020204020204" pitchFamily="34" charset="-122"/>
                </a:endParaRPr>
              </a:p>
            </p:txBody>
          </p:sp>
          <p:sp>
            <p:nvSpPr>
              <p:cNvPr id="53" name="Line 106"/>
              <p:cNvSpPr/>
              <p:nvPr/>
            </p:nvSpPr>
            <p:spPr>
              <a:xfrm flipV="1">
                <a:off x="4862" y="2204"/>
                <a:ext cx="230" cy="0"/>
              </a:xfrm>
              <a:prstGeom prst="line">
                <a:avLst/>
              </a:prstGeom>
              <a:ln w="28575" cap="flat" cmpd="sng">
                <a:solidFill>
                  <a:schemeClr val="tx1"/>
                </a:solidFill>
                <a:prstDash val="sysDot"/>
                <a:round/>
                <a:headEnd type="none" w="med" len="med"/>
                <a:tailEnd type="none" w="med" len="med"/>
              </a:ln>
            </p:spPr>
          </p:sp>
        </p:grpSp>
      </p:grpSp>
      <p:grpSp>
        <p:nvGrpSpPr>
          <p:cNvPr id="54" name="Group 121"/>
          <p:cNvGrpSpPr/>
          <p:nvPr/>
        </p:nvGrpSpPr>
        <p:grpSpPr>
          <a:xfrm>
            <a:off x="3300910" y="4339121"/>
            <a:ext cx="1257254" cy="503858"/>
            <a:chOff x="4889" y="2664"/>
            <a:chExt cx="564" cy="468"/>
          </a:xfrm>
        </p:grpSpPr>
        <p:sp>
          <p:nvSpPr>
            <p:cNvPr id="55" name="Rectangle 114"/>
            <p:cNvSpPr/>
            <p:nvPr/>
          </p:nvSpPr>
          <p:spPr>
            <a:xfrm>
              <a:off x="4902" y="2670"/>
              <a:ext cx="258" cy="150"/>
            </a:xfrm>
            <a:prstGeom prst="rect">
              <a:avLst/>
            </a:prstGeom>
            <a:solidFill>
              <a:schemeClr val="bg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56" name="Rectangle 115"/>
            <p:cNvSpPr/>
            <p:nvPr/>
          </p:nvSpPr>
          <p:spPr>
            <a:xfrm>
              <a:off x="5164" y="2674"/>
              <a:ext cx="264" cy="150"/>
            </a:xfrm>
            <a:prstGeom prst="rect">
              <a:avLst/>
            </a:prstGeom>
            <a:solidFill>
              <a:schemeClr val="bg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57" name="Text Box 110"/>
            <p:cNvSpPr txBox="1"/>
            <p:nvPr/>
          </p:nvSpPr>
          <p:spPr>
            <a:xfrm>
              <a:off x="4889" y="2666"/>
              <a:ext cx="315" cy="154"/>
            </a:xfrm>
            <a:prstGeom prst="rect">
              <a:avLst/>
            </a:prstGeom>
            <a:noFill/>
            <a:ln w="9525">
              <a:noFill/>
            </a:ln>
          </p:spPr>
          <p:txBody>
            <a:bodyPr wrap="none" anchor="t">
              <a:spAutoFit/>
            </a:bodyPr>
            <a:lstStyle/>
            <a:p>
              <a:pPr algn="ctr"/>
              <a:r>
                <a:rPr lang="en-US" altLang="zh-CN" sz="1000" dirty="0">
                  <a:latin typeface="微软雅黑" panose="020B0503020204020204" pitchFamily="34" charset="-122"/>
                  <a:ea typeface="微软雅黑" panose="020B0503020204020204" pitchFamily="34" charset="-122"/>
                </a:rPr>
                <a:t>Page</a:t>
              </a:r>
              <a:endParaRPr lang="en-US" altLang="zh-CN" sz="1000" dirty="0">
                <a:latin typeface="微软雅黑" panose="020B0503020204020204" pitchFamily="34" charset="-122"/>
                <a:ea typeface="微软雅黑" panose="020B0503020204020204" pitchFamily="34" charset="-122"/>
              </a:endParaRPr>
            </a:p>
          </p:txBody>
        </p:sp>
        <p:sp>
          <p:nvSpPr>
            <p:cNvPr id="58" name="Text Box 111"/>
            <p:cNvSpPr txBox="1"/>
            <p:nvPr/>
          </p:nvSpPr>
          <p:spPr>
            <a:xfrm>
              <a:off x="5116" y="2664"/>
              <a:ext cx="337" cy="154"/>
            </a:xfrm>
            <a:prstGeom prst="rect">
              <a:avLst/>
            </a:prstGeom>
            <a:noFill/>
            <a:ln w="9525">
              <a:noFill/>
            </a:ln>
          </p:spPr>
          <p:txBody>
            <a:bodyPr wrap="none" anchor="t">
              <a:spAutoFit/>
            </a:bodyPr>
            <a:lstStyle/>
            <a:p>
              <a:pPr algn="ctr"/>
              <a:r>
                <a:rPr lang="en-US" altLang="zh-CN" sz="1000" dirty="0">
                  <a:latin typeface="微软雅黑" panose="020B0503020204020204" pitchFamily="34" charset="-122"/>
                  <a:ea typeface="微软雅黑" panose="020B0503020204020204" pitchFamily="34" charset="-122"/>
                </a:rPr>
                <a:t>Block</a:t>
              </a:r>
              <a:endParaRPr lang="en-US" altLang="zh-CN" sz="1000" dirty="0">
                <a:latin typeface="微软雅黑" panose="020B0503020204020204" pitchFamily="34" charset="-122"/>
                <a:ea typeface="微软雅黑" panose="020B0503020204020204" pitchFamily="34" charset="-122"/>
              </a:endParaRPr>
            </a:p>
          </p:txBody>
        </p:sp>
        <p:sp>
          <p:nvSpPr>
            <p:cNvPr id="59" name="Rectangle 112"/>
            <p:cNvSpPr/>
            <p:nvPr/>
          </p:nvSpPr>
          <p:spPr>
            <a:xfrm>
              <a:off x="4908" y="2664"/>
              <a:ext cx="510" cy="468"/>
            </a:xfrm>
            <a:prstGeom prst="rect">
              <a:avLst/>
            </a:prstGeom>
            <a:noFill/>
            <a:ln w="2857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60" name="Line 116"/>
            <p:cNvSpPr/>
            <p:nvPr/>
          </p:nvSpPr>
          <p:spPr>
            <a:xfrm>
              <a:off x="4902" y="2910"/>
              <a:ext cx="510" cy="0"/>
            </a:xfrm>
            <a:prstGeom prst="line">
              <a:avLst/>
            </a:prstGeom>
            <a:ln w="9525" cap="flat" cmpd="sng">
              <a:solidFill>
                <a:schemeClr val="tx1"/>
              </a:solidFill>
              <a:prstDash val="solid"/>
              <a:round/>
              <a:headEnd type="none" w="med" len="med"/>
              <a:tailEnd type="none" w="med" len="med"/>
            </a:ln>
          </p:spPr>
        </p:sp>
        <p:sp>
          <p:nvSpPr>
            <p:cNvPr id="61" name="Line 117"/>
            <p:cNvSpPr/>
            <p:nvPr/>
          </p:nvSpPr>
          <p:spPr>
            <a:xfrm>
              <a:off x="4918" y="3004"/>
              <a:ext cx="510" cy="0"/>
            </a:xfrm>
            <a:prstGeom prst="line">
              <a:avLst/>
            </a:prstGeom>
            <a:ln w="9525" cap="flat" cmpd="sng">
              <a:solidFill>
                <a:schemeClr val="tx1"/>
              </a:solidFill>
              <a:prstDash val="solid"/>
              <a:round/>
              <a:headEnd type="none" w="med" len="med"/>
              <a:tailEnd type="none" w="med" len="med"/>
            </a:ln>
          </p:spPr>
        </p:sp>
        <p:sp>
          <p:nvSpPr>
            <p:cNvPr id="62" name="Line 118"/>
            <p:cNvSpPr/>
            <p:nvPr/>
          </p:nvSpPr>
          <p:spPr>
            <a:xfrm>
              <a:off x="4910" y="3086"/>
              <a:ext cx="510" cy="0"/>
            </a:xfrm>
            <a:prstGeom prst="line">
              <a:avLst/>
            </a:prstGeom>
            <a:ln w="9525" cap="flat" cmpd="sng">
              <a:solidFill>
                <a:schemeClr val="tx1"/>
              </a:solidFill>
              <a:prstDash val="solid"/>
              <a:round/>
              <a:headEnd type="none" w="med" len="med"/>
              <a:tailEnd type="none" w="med" len="med"/>
            </a:ln>
          </p:spPr>
        </p:sp>
        <p:sp>
          <p:nvSpPr>
            <p:cNvPr id="63" name="Line 119"/>
            <p:cNvSpPr/>
            <p:nvPr/>
          </p:nvSpPr>
          <p:spPr>
            <a:xfrm>
              <a:off x="5160" y="2814"/>
              <a:ext cx="0" cy="276"/>
            </a:xfrm>
            <a:prstGeom prst="line">
              <a:avLst/>
            </a:prstGeom>
            <a:ln w="9525" cap="flat" cmpd="sng">
              <a:solidFill>
                <a:schemeClr val="tx1"/>
              </a:solidFill>
              <a:prstDash val="solid"/>
              <a:round/>
              <a:headEnd type="none" w="med" len="med"/>
              <a:tailEnd type="none" w="med" len="med"/>
            </a:ln>
          </p:spPr>
        </p:sp>
      </p:grpSp>
      <p:sp>
        <p:nvSpPr>
          <p:cNvPr id="64" name="Rectangle 133"/>
          <p:cNvSpPr/>
          <p:nvPr/>
        </p:nvSpPr>
        <p:spPr>
          <a:xfrm>
            <a:off x="4963340" y="3871302"/>
            <a:ext cx="2422525" cy="987425"/>
          </a:xfrm>
          <a:prstGeom prst="rect">
            <a:avLst/>
          </a:prstGeom>
          <a:no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65" name="Text Box 134"/>
          <p:cNvSpPr txBox="1"/>
          <p:nvPr/>
        </p:nvSpPr>
        <p:spPr>
          <a:xfrm>
            <a:off x="4897095" y="3590925"/>
            <a:ext cx="1122422" cy="338554"/>
          </a:xfrm>
          <a:prstGeom prst="rect">
            <a:avLst/>
          </a:prstGeom>
          <a:noFill/>
          <a:ln w="9525">
            <a:noFill/>
          </a:ln>
        </p:spPr>
        <p:txBody>
          <a:bodyPr wrap="none" anchor="t">
            <a:spAutoFit/>
          </a:bodyPr>
          <a:lstStyle/>
          <a:p>
            <a:pPr algn="ctr"/>
            <a:r>
              <a:rPr lang="en-US" altLang="zh-CN" sz="1600" dirty="0">
                <a:latin typeface="微软雅黑" panose="020B0503020204020204" pitchFamily="34" charset="-122"/>
                <a:ea typeface="微软雅黑" panose="020B0503020204020204" pitchFamily="34" charset="-122"/>
              </a:rPr>
              <a:t>DB Buffer</a:t>
            </a:r>
            <a:endParaRPr lang="en-US" altLang="zh-CN" sz="1600" dirty="0">
              <a:latin typeface="微软雅黑" panose="020B0503020204020204" pitchFamily="34" charset="-122"/>
              <a:ea typeface="微软雅黑" panose="020B0503020204020204" pitchFamily="34" charset="-122"/>
            </a:endParaRPr>
          </a:p>
        </p:txBody>
      </p:sp>
      <p:grpSp>
        <p:nvGrpSpPr>
          <p:cNvPr id="66" name="Group 207"/>
          <p:cNvGrpSpPr/>
          <p:nvPr/>
        </p:nvGrpSpPr>
        <p:grpSpPr>
          <a:xfrm>
            <a:off x="5060581" y="2268757"/>
            <a:ext cx="2276475" cy="817562"/>
            <a:chOff x="2875" y="957"/>
            <a:chExt cx="1434" cy="515"/>
          </a:xfrm>
        </p:grpSpPr>
        <p:pic>
          <p:nvPicPr>
            <p:cNvPr id="67" name="Picture 146"/>
            <p:cNvPicPr>
              <a:picLocks noChangeAspect="1"/>
            </p:cNvPicPr>
            <p:nvPr/>
          </p:nvPicPr>
          <p:blipFill>
            <a:blip r:embed="rId1"/>
            <a:stretch>
              <a:fillRect/>
            </a:stretch>
          </p:blipFill>
          <p:spPr>
            <a:xfrm>
              <a:off x="2901" y="1170"/>
              <a:ext cx="656" cy="298"/>
            </a:xfrm>
            <a:prstGeom prst="rect">
              <a:avLst/>
            </a:prstGeom>
            <a:noFill/>
            <a:ln w="9525" cap="flat" cmpd="sng">
              <a:solidFill>
                <a:schemeClr val="tx1"/>
              </a:solidFill>
              <a:prstDash val="solid"/>
              <a:miter/>
              <a:headEnd type="none" w="med" len="med"/>
              <a:tailEnd type="none" w="med" len="med"/>
            </a:ln>
          </p:spPr>
        </p:pic>
        <p:sp>
          <p:nvSpPr>
            <p:cNvPr id="68" name="Text Box 147"/>
            <p:cNvSpPr txBox="1"/>
            <p:nvPr/>
          </p:nvSpPr>
          <p:spPr>
            <a:xfrm>
              <a:off x="2875" y="957"/>
              <a:ext cx="468"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Table</a:t>
              </a:r>
              <a:endParaRPr lang="en-US" altLang="zh-CN" dirty="0">
                <a:latin typeface="微软雅黑" panose="020B0503020204020204" pitchFamily="34" charset="-122"/>
                <a:ea typeface="微软雅黑" panose="020B0503020204020204" pitchFamily="34" charset="-122"/>
              </a:endParaRPr>
            </a:p>
          </p:txBody>
        </p:sp>
        <p:sp>
          <p:nvSpPr>
            <p:cNvPr id="69" name="Text Box 148"/>
            <p:cNvSpPr txBox="1"/>
            <p:nvPr/>
          </p:nvSpPr>
          <p:spPr>
            <a:xfrm>
              <a:off x="3531" y="1193"/>
              <a:ext cx="778" cy="154"/>
            </a:xfrm>
            <a:prstGeom prst="rect">
              <a:avLst/>
            </a:prstGeom>
            <a:noFill/>
            <a:ln w="9525">
              <a:noFill/>
            </a:ln>
          </p:spPr>
          <p:txBody>
            <a:bodyPr wrap="none" anchor="t">
              <a:spAutoFit/>
            </a:bodyPr>
            <a:lstStyle/>
            <a:p>
              <a:pPr algn="ctr"/>
              <a:r>
                <a:rPr lang="en-US" altLang="zh-CN" sz="1000" dirty="0">
                  <a:solidFill>
                    <a:srgbClr val="FF0066"/>
                  </a:solidFill>
                  <a:latin typeface="微软雅黑" panose="020B0503020204020204" pitchFamily="34" charset="-122"/>
                  <a:ea typeface="微软雅黑" panose="020B0503020204020204" pitchFamily="34" charset="-122"/>
                </a:rPr>
                <a:t>Record:AV1,AV2</a:t>
              </a:r>
              <a:endParaRPr lang="en-US" altLang="zh-CN" sz="1000" dirty="0">
                <a:solidFill>
                  <a:srgbClr val="FF0066"/>
                </a:solidFill>
                <a:latin typeface="微软雅黑" panose="020B0503020204020204" pitchFamily="34" charset="-122"/>
                <a:ea typeface="微软雅黑" panose="020B0503020204020204" pitchFamily="34" charset="-122"/>
              </a:endParaRPr>
            </a:p>
          </p:txBody>
        </p:sp>
        <p:sp>
          <p:nvSpPr>
            <p:cNvPr id="70" name="Rectangle 150"/>
            <p:cNvSpPr/>
            <p:nvPr/>
          </p:nvSpPr>
          <p:spPr>
            <a:xfrm>
              <a:off x="3582" y="1165"/>
              <a:ext cx="662" cy="307"/>
            </a:xfrm>
            <a:prstGeom prst="rect">
              <a:avLst/>
            </a:prstGeom>
            <a:no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71" name="Text Box 151"/>
            <p:cNvSpPr txBox="1"/>
            <p:nvPr/>
          </p:nvSpPr>
          <p:spPr>
            <a:xfrm>
              <a:off x="3527" y="1279"/>
              <a:ext cx="778" cy="154"/>
            </a:xfrm>
            <a:prstGeom prst="rect">
              <a:avLst/>
            </a:prstGeom>
            <a:noFill/>
            <a:ln w="9525">
              <a:noFill/>
            </a:ln>
          </p:spPr>
          <p:txBody>
            <a:bodyPr wrap="none" anchor="t">
              <a:spAutoFit/>
            </a:bodyPr>
            <a:lstStyle/>
            <a:p>
              <a:pPr algn="ctr"/>
              <a:r>
                <a:rPr lang="en-US" altLang="zh-CN" sz="1000" dirty="0">
                  <a:solidFill>
                    <a:srgbClr val="FF0066"/>
                  </a:solidFill>
                  <a:latin typeface="微软雅黑" panose="020B0503020204020204" pitchFamily="34" charset="-122"/>
                  <a:ea typeface="微软雅黑" panose="020B0503020204020204" pitchFamily="34" charset="-122"/>
                </a:rPr>
                <a:t>Record:AV1,AV2</a:t>
              </a:r>
              <a:endParaRPr lang="en-US" altLang="zh-CN" sz="1000" dirty="0">
                <a:solidFill>
                  <a:srgbClr val="FF0066"/>
                </a:solidFill>
                <a:latin typeface="微软雅黑" panose="020B0503020204020204" pitchFamily="34" charset="-122"/>
                <a:ea typeface="微软雅黑" panose="020B0503020204020204" pitchFamily="34" charset="-122"/>
              </a:endParaRPr>
            </a:p>
          </p:txBody>
        </p:sp>
      </p:grpSp>
      <p:grpSp>
        <p:nvGrpSpPr>
          <p:cNvPr id="72" name="Group 206"/>
          <p:cNvGrpSpPr/>
          <p:nvPr/>
        </p:nvGrpSpPr>
        <p:grpSpPr>
          <a:xfrm>
            <a:off x="3163518" y="2021107"/>
            <a:ext cx="1603375" cy="1076325"/>
            <a:chOff x="1680" y="801"/>
            <a:chExt cx="1010" cy="678"/>
          </a:xfrm>
        </p:grpSpPr>
        <p:sp>
          <p:nvSpPr>
            <p:cNvPr id="73" name="Rectangle 154"/>
            <p:cNvSpPr/>
            <p:nvPr/>
          </p:nvSpPr>
          <p:spPr>
            <a:xfrm>
              <a:off x="1764" y="1017"/>
              <a:ext cx="578" cy="150"/>
            </a:xfrm>
            <a:prstGeom prst="rect">
              <a:avLst/>
            </a:prstGeom>
            <a:solidFill>
              <a:schemeClr val="bg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74" name="Rectangle 155"/>
            <p:cNvSpPr/>
            <p:nvPr/>
          </p:nvSpPr>
          <p:spPr>
            <a:xfrm>
              <a:off x="2350" y="1021"/>
              <a:ext cx="340" cy="141"/>
            </a:xfrm>
            <a:prstGeom prst="rect">
              <a:avLst/>
            </a:prstGeom>
            <a:solidFill>
              <a:schemeClr val="bg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75" name="Text Box 156"/>
            <p:cNvSpPr txBox="1"/>
            <p:nvPr/>
          </p:nvSpPr>
          <p:spPr>
            <a:xfrm>
              <a:off x="1858" y="1012"/>
              <a:ext cx="400" cy="154"/>
            </a:xfrm>
            <a:prstGeom prst="rect">
              <a:avLst/>
            </a:prstGeom>
            <a:noFill/>
            <a:ln w="9525">
              <a:noFill/>
            </a:ln>
          </p:spPr>
          <p:txBody>
            <a:bodyPr wrap="none" anchor="t">
              <a:spAutoFit/>
            </a:bodyPr>
            <a:lstStyle/>
            <a:p>
              <a:pPr algn="ctr"/>
              <a:r>
                <a:rPr lang="en-US" altLang="zh-CN" sz="1000" dirty="0">
                  <a:latin typeface="微软雅黑" panose="020B0503020204020204" pitchFamily="34" charset="-122"/>
                  <a:ea typeface="微软雅黑" panose="020B0503020204020204" pitchFamily="34" charset="-122"/>
                </a:rPr>
                <a:t>Record</a:t>
              </a:r>
              <a:endParaRPr lang="en-US" altLang="zh-CN" sz="1000" dirty="0">
                <a:latin typeface="微软雅黑" panose="020B0503020204020204" pitchFamily="34" charset="-122"/>
                <a:ea typeface="微软雅黑" panose="020B0503020204020204" pitchFamily="34" charset="-122"/>
              </a:endParaRPr>
            </a:p>
          </p:txBody>
        </p:sp>
        <p:sp>
          <p:nvSpPr>
            <p:cNvPr id="76" name="Text Box 157"/>
            <p:cNvSpPr txBox="1"/>
            <p:nvPr/>
          </p:nvSpPr>
          <p:spPr>
            <a:xfrm>
              <a:off x="2330" y="1011"/>
              <a:ext cx="337" cy="154"/>
            </a:xfrm>
            <a:prstGeom prst="rect">
              <a:avLst/>
            </a:prstGeom>
            <a:noFill/>
            <a:ln w="9525">
              <a:noFill/>
            </a:ln>
          </p:spPr>
          <p:txBody>
            <a:bodyPr wrap="none" anchor="t">
              <a:spAutoFit/>
            </a:bodyPr>
            <a:lstStyle/>
            <a:p>
              <a:pPr algn="ctr"/>
              <a:r>
                <a:rPr lang="en-US" altLang="zh-CN" sz="1000" dirty="0">
                  <a:latin typeface="微软雅黑" panose="020B0503020204020204" pitchFamily="34" charset="-122"/>
                  <a:ea typeface="微软雅黑" panose="020B0503020204020204" pitchFamily="34" charset="-122"/>
                </a:rPr>
                <a:t>Block</a:t>
              </a:r>
              <a:endParaRPr lang="en-US" altLang="zh-CN" sz="1000" dirty="0">
                <a:latin typeface="微软雅黑" panose="020B0503020204020204" pitchFamily="34" charset="-122"/>
                <a:ea typeface="微软雅黑" panose="020B0503020204020204" pitchFamily="34" charset="-122"/>
              </a:endParaRPr>
            </a:p>
          </p:txBody>
        </p:sp>
        <p:sp>
          <p:nvSpPr>
            <p:cNvPr id="77" name="Rectangle 158"/>
            <p:cNvSpPr/>
            <p:nvPr/>
          </p:nvSpPr>
          <p:spPr>
            <a:xfrm>
              <a:off x="1766" y="1011"/>
              <a:ext cx="915" cy="468"/>
            </a:xfrm>
            <a:prstGeom prst="rect">
              <a:avLst/>
            </a:prstGeom>
            <a:noFill/>
            <a:ln w="2857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78" name="Line 159"/>
            <p:cNvSpPr/>
            <p:nvPr/>
          </p:nvSpPr>
          <p:spPr>
            <a:xfrm>
              <a:off x="1764" y="1257"/>
              <a:ext cx="898" cy="0"/>
            </a:xfrm>
            <a:prstGeom prst="line">
              <a:avLst/>
            </a:prstGeom>
            <a:ln w="9525" cap="flat" cmpd="sng">
              <a:solidFill>
                <a:schemeClr val="tx1"/>
              </a:solidFill>
              <a:prstDash val="solid"/>
              <a:round/>
              <a:headEnd type="none" w="med" len="med"/>
              <a:tailEnd type="none" w="med" len="med"/>
            </a:ln>
          </p:spPr>
        </p:sp>
        <p:sp>
          <p:nvSpPr>
            <p:cNvPr id="79" name="Line 160"/>
            <p:cNvSpPr/>
            <p:nvPr/>
          </p:nvSpPr>
          <p:spPr>
            <a:xfrm>
              <a:off x="1792" y="1351"/>
              <a:ext cx="898" cy="0"/>
            </a:xfrm>
            <a:prstGeom prst="line">
              <a:avLst/>
            </a:prstGeom>
            <a:ln w="9525" cap="flat" cmpd="sng">
              <a:solidFill>
                <a:schemeClr val="tx1"/>
              </a:solidFill>
              <a:prstDash val="solid"/>
              <a:round/>
              <a:headEnd type="none" w="med" len="med"/>
              <a:tailEnd type="none" w="med" len="med"/>
            </a:ln>
          </p:spPr>
        </p:sp>
        <p:sp>
          <p:nvSpPr>
            <p:cNvPr id="80" name="Line 161"/>
            <p:cNvSpPr/>
            <p:nvPr/>
          </p:nvSpPr>
          <p:spPr>
            <a:xfrm>
              <a:off x="1778" y="1433"/>
              <a:ext cx="898" cy="0"/>
            </a:xfrm>
            <a:prstGeom prst="line">
              <a:avLst/>
            </a:prstGeom>
            <a:ln w="9525" cap="flat" cmpd="sng">
              <a:solidFill>
                <a:schemeClr val="tx1"/>
              </a:solidFill>
              <a:prstDash val="solid"/>
              <a:round/>
              <a:headEnd type="none" w="med" len="med"/>
              <a:tailEnd type="none" w="med" len="med"/>
            </a:ln>
          </p:spPr>
        </p:sp>
        <p:sp>
          <p:nvSpPr>
            <p:cNvPr id="81" name="Line 162"/>
            <p:cNvSpPr/>
            <p:nvPr/>
          </p:nvSpPr>
          <p:spPr>
            <a:xfrm>
              <a:off x="2348" y="1161"/>
              <a:ext cx="0" cy="276"/>
            </a:xfrm>
            <a:prstGeom prst="line">
              <a:avLst/>
            </a:prstGeom>
            <a:ln w="9525" cap="flat" cmpd="sng">
              <a:solidFill>
                <a:schemeClr val="tx1"/>
              </a:solidFill>
              <a:prstDash val="solid"/>
              <a:round/>
              <a:headEnd type="none" w="med" len="med"/>
              <a:tailEnd type="none" w="med" len="med"/>
            </a:ln>
          </p:spPr>
        </p:sp>
        <p:sp>
          <p:nvSpPr>
            <p:cNvPr id="82" name="Text Box 163"/>
            <p:cNvSpPr txBox="1"/>
            <p:nvPr/>
          </p:nvSpPr>
          <p:spPr>
            <a:xfrm>
              <a:off x="1680" y="801"/>
              <a:ext cx="789" cy="192"/>
            </a:xfrm>
            <a:prstGeom prst="rect">
              <a:avLst/>
            </a:prstGeom>
            <a:noFill/>
            <a:ln w="9525">
              <a:noFill/>
            </a:ln>
          </p:spPr>
          <p:txBody>
            <a:bodyPr wrap="none" anchor="t">
              <a:spAutoFit/>
            </a:bodyPr>
            <a:lstStyle/>
            <a:p>
              <a:pPr algn="ctr"/>
              <a:r>
                <a:rPr lang="en-US" altLang="zh-CN" sz="1400" dirty="0">
                  <a:latin typeface="微软雅黑" panose="020B0503020204020204" pitchFamily="34" charset="-122"/>
                  <a:ea typeface="微软雅黑" panose="020B0503020204020204" pitchFamily="34" charset="-122"/>
                </a:rPr>
                <a:t>Table-Index</a:t>
              </a:r>
              <a:endParaRPr lang="en-US" altLang="zh-CN" sz="1400" dirty="0">
                <a:latin typeface="微软雅黑" panose="020B0503020204020204" pitchFamily="34" charset="-122"/>
                <a:ea typeface="微软雅黑" panose="020B0503020204020204" pitchFamily="34" charset="-122"/>
              </a:endParaRPr>
            </a:p>
          </p:txBody>
        </p:sp>
      </p:grpSp>
      <p:grpSp>
        <p:nvGrpSpPr>
          <p:cNvPr id="83" name="Group 177"/>
          <p:cNvGrpSpPr/>
          <p:nvPr/>
        </p:nvGrpSpPr>
        <p:grpSpPr>
          <a:xfrm>
            <a:off x="3175816" y="3661694"/>
            <a:ext cx="1561274" cy="628456"/>
            <a:chOff x="1316" y="1888"/>
            <a:chExt cx="936" cy="468"/>
          </a:xfrm>
        </p:grpSpPr>
        <p:sp>
          <p:nvSpPr>
            <p:cNvPr id="84" name="Rectangle 166"/>
            <p:cNvSpPr/>
            <p:nvPr/>
          </p:nvSpPr>
          <p:spPr>
            <a:xfrm>
              <a:off x="1321" y="1894"/>
              <a:ext cx="559" cy="141"/>
            </a:xfrm>
            <a:prstGeom prst="rect">
              <a:avLst/>
            </a:prstGeom>
            <a:solidFill>
              <a:schemeClr val="bg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85" name="Rectangle 167"/>
            <p:cNvSpPr/>
            <p:nvPr/>
          </p:nvSpPr>
          <p:spPr>
            <a:xfrm>
              <a:off x="1888" y="1898"/>
              <a:ext cx="340" cy="141"/>
            </a:xfrm>
            <a:prstGeom prst="rect">
              <a:avLst/>
            </a:prstGeom>
            <a:solidFill>
              <a:schemeClr val="bg1"/>
            </a:solidFill>
            <a:ln w="952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86" name="Text Box 168"/>
            <p:cNvSpPr txBox="1"/>
            <p:nvPr/>
          </p:nvSpPr>
          <p:spPr>
            <a:xfrm>
              <a:off x="1396" y="1889"/>
              <a:ext cx="400" cy="154"/>
            </a:xfrm>
            <a:prstGeom prst="rect">
              <a:avLst/>
            </a:prstGeom>
            <a:noFill/>
            <a:ln w="9525">
              <a:noFill/>
            </a:ln>
          </p:spPr>
          <p:txBody>
            <a:bodyPr wrap="none" anchor="t">
              <a:spAutoFit/>
            </a:bodyPr>
            <a:lstStyle/>
            <a:p>
              <a:pPr algn="ctr"/>
              <a:r>
                <a:rPr lang="en-US" altLang="zh-CN" sz="1000" dirty="0">
                  <a:latin typeface="微软雅黑" panose="020B0503020204020204" pitchFamily="34" charset="-122"/>
                  <a:ea typeface="微软雅黑" panose="020B0503020204020204" pitchFamily="34" charset="-122"/>
                </a:rPr>
                <a:t>Record</a:t>
              </a:r>
              <a:endParaRPr lang="en-US" altLang="zh-CN" sz="1000" dirty="0">
                <a:latin typeface="微软雅黑" panose="020B0503020204020204" pitchFamily="34" charset="-122"/>
                <a:ea typeface="微软雅黑" panose="020B0503020204020204" pitchFamily="34" charset="-122"/>
              </a:endParaRPr>
            </a:p>
          </p:txBody>
        </p:sp>
        <p:sp>
          <p:nvSpPr>
            <p:cNvPr id="87" name="Text Box 169"/>
            <p:cNvSpPr txBox="1"/>
            <p:nvPr/>
          </p:nvSpPr>
          <p:spPr>
            <a:xfrm>
              <a:off x="1840" y="1888"/>
              <a:ext cx="412" cy="154"/>
            </a:xfrm>
            <a:prstGeom prst="rect">
              <a:avLst/>
            </a:prstGeom>
            <a:noFill/>
            <a:ln w="9525">
              <a:noFill/>
            </a:ln>
          </p:spPr>
          <p:txBody>
            <a:bodyPr wrap="none" anchor="t">
              <a:spAutoFit/>
            </a:bodyPr>
            <a:lstStyle/>
            <a:p>
              <a:pPr algn="ctr"/>
              <a:r>
                <a:rPr lang="en-US" altLang="zh-CN" sz="1000" dirty="0">
                  <a:latin typeface="微软雅黑" panose="020B0503020204020204" pitchFamily="34" charset="-122"/>
                  <a:ea typeface="微软雅黑" panose="020B0503020204020204" pitchFamily="34" charset="-122"/>
                </a:rPr>
                <a:t>Pointer</a:t>
              </a:r>
              <a:endParaRPr lang="en-US" altLang="zh-CN" sz="1000" dirty="0">
                <a:latin typeface="微软雅黑" panose="020B0503020204020204" pitchFamily="34" charset="-122"/>
                <a:ea typeface="微软雅黑" panose="020B0503020204020204" pitchFamily="34" charset="-122"/>
              </a:endParaRPr>
            </a:p>
          </p:txBody>
        </p:sp>
        <p:sp>
          <p:nvSpPr>
            <p:cNvPr id="88" name="Rectangle 170"/>
            <p:cNvSpPr/>
            <p:nvPr/>
          </p:nvSpPr>
          <p:spPr>
            <a:xfrm>
              <a:off x="1334" y="1888"/>
              <a:ext cx="897" cy="468"/>
            </a:xfrm>
            <a:prstGeom prst="rect">
              <a:avLst/>
            </a:prstGeom>
            <a:noFill/>
            <a:ln w="28575" cap="flat" cmpd="sng">
              <a:solidFill>
                <a:schemeClr val="tx1"/>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89" name="Line 171"/>
            <p:cNvSpPr/>
            <p:nvPr/>
          </p:nvSpPr>
          <p:spPr>
            <a:xfrm>
              <a:off x="1342" y="2134"/>
              <a:ext cx="898" cy="0"/>
            </a:xfrm>
            <a:prstGeom prst="line">
              <a:avLst/>
            </a:prstGeom>
            <a:ln w="9525" cap="flat" cmpd="sng">
              <a:solidFill>
                <a:schemeClr val="tx1"/>
              </a:solidFill>
              <a:prstDash val="solid"/>
              <a:round/>
              <a:headEnd type="none" w="med" len="med"/>
              <a:tailEnd type="none" w="med" len="med"/>
            </a:ln>
          </p:spPr>
        </p:sp>
        <p:sp>
          <p:nvSpPr>
            <p:cNvPr id="90" name="Line 172"/>
            <p:cNvSpPr/>
            <p:nvPr/>
          </p:nvSpPr>
          <p:spPr>
            <a:xfrm>
              <a:off x="1330" y="2228"/>
              <a:ext cx="898" cy="0"/>
            </a:xfrm>
            <a:prstGeom prst="line">
              <a:avLst/>
            </a:prstGeom>
            <a:ln w="9525" cap="flat" cmpd="sng">
              <a:solidFill>
                <a:schemeClr val="tx1"/>
              </a:solidFill>
              <a:prstDash val="solid"/>
              <a:round/>
              <a:headEnd type="none" w="med" len="med"/>
              <a:tailEnd type="none" w="med" len="med"/>
            </a:ln>
          </p:spPr>
        </p:sp>
        <p:sp>
          <p:nvSpPr>
            <p:cNvPr id="91" name="Line 173"/>
            <p:cNvSpPr/>
            <p:nvPr/>
          </p:nvSpPr>
          <p:spPr>
            <a:xfrm>
              <a:off x="1316" y="2310"/>
              <a:ext cx="898" cy="0"/>
            </a:xfrm>
            <a:prstGeom prst="line">
              <a:avLst/>
            </a:prstGeom>
            <a:ln w="9525" cap="flat" cmpd="sng">
              <a:solidFill>
                <a:schemeClr val="tx1"/>
              </a:solidFill>
              <a:prstDash val="solid"/>
              <a:round/>
              <a:headEnd type="none" w="med" len="med"/>
              <a:tailEnd type="none" w="med" len="med"/>
            </a:ln>
          </p:spPr>
        </p:sp>
        <p:sp>
          <p:nvSpPr>
            <p:cNvPr id="92" name="Line 174"/>
            <p:cNvSpPr/>
            <p:nvPr/>
          </p:nvSpPr>
          <p:spPr>
            <a:xfrm>
              <a:off x="1886" y="2038"/>
              <a:ext cx="0" cy="276"/>
            </a:xfrm>
            <a:prstGeom prst="line">
              <a:avLst/>
            </a:prstGeom>
            <a:ln w="9525" cap="flat" cmpd="sng">
              <a:solidFill>
                <a:schemeClr val="tx1"/>
              </a:solidFill>
              <a:prstDash val="solid"/>
              <a:round/>
              <a:headEnd type="none" w="med" len="med"/>
              <a:tailEnd type="none" w="med" len="med"/>
            </a:ln>
          </p:spPr>
        </p:sp>
      </p:grpSp>
      <p:sp>
        <p:nvSpPr>
          <p:cNvPr id="93" name="Text Box 179"/>
          <p:cNvSpPr txBox="1"/>
          <p:nvPr/>
        </p:nvSpPr>
        <p:spPr>
          <a:xfrm>
            <a:off x="7943438" y="1848318"/>
            <a:ext cx="1811342" cy="369332"/>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查询操作算法</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94" name="Text Box 180"/>
          <p:cNvSpPr txBox="1"/>
          <p:nvPr/>
        </p:nvSpPr>
        <p:spPr>
          <a:xfrm>
            <a:off x="7646510" y="4225919"/>
            <a:ext cx="2524927" cy="369332"/>
          </a:xfrm>
          <a:prstGeom prst="rect">
            <a:avLst/>
          </a:prstGeom>
          <a:noFill/>
          <a:ln w="9525">
            <a:noFill/>
          </a:ln>
        </p:spPr>
        <p:txBody>
          <a:bodyPr wrap="square" anchor="t">
            <a:spAutoFit/>
          </a:bodyPr>
          <a:lstStyle/>
          <a:p>
            <a:pPr algn="ctr"/>
            <a:r>
              <a:rPr lang="zh-CN" altLang="en-US" dirty="0">
                <a:latin typeface="微软雅黑" panose="020B0503020204020204" pitchFamily="34" charset="-122"/>
                <a:ea typeface="微软雅黑" panose="020B0503020204020204" pitchFamily="34" charset="-122"/>
              </a:rPr>
              <a:t>内存</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缓冲区管理</a:t>
            </a:r>
            <a:endParaRPr lang="zh-CN" altLang="en-US" dirty="0">
              <a:latin typeface="微软雅黑" panose="020B0503020204020204" pitchFamily="34" charset="-122"/>
              <a:ea typeface="微软雅黑" panose="020B0503020204020204" pitchFamily="34" charset="-122"/>
            </a:endParaRPr>
          </a:p>
        </p:txBody>
      </p:sp>
      <p:sp>
        <p:nvSpPr>
          <p:cNvPr id="95" name="Text Box 181"/>
          <p:cNvSpPr txBox="1"/>
          <p:nvPr/>
        </p:nvSpPr>
        <p:spPr>
          <a:xfrm>
            <a:off x="7678102" y="5530948"/>
            <a:ext cx="2332477" cy="646331"/>
          </a:xfrm>
          <a:prstGeom prst="rect">
            <a:avLst/>
          </a:prstGeom>
          <a:noFill/>
          <a:ln w="9525">
            <a:noFill/>
          </a:ln>
        </p:spPr>
        <p:txBody>
          <a:bodyPr wrap="square" anchor="t">
            <a:spAutoFit/>
          </a:bodyPr>
          <a:lstStyle/>
          <a:p>
            <a:pPr algn="ctr"/>
            <a:r>
              <a:rPr lang="zh-CN" altLang="en-US" dirty="0">
                <a:latin typeface="微软雅黑" panose="020B0503020204020204" pitchFamily="34" charset="-122"/>
                <a:ea typeface="微软雅黑" panose="020B0503020204020204" pitchFamily="34" charset="-122"/>
              </a:rPr>
              <a:t>磁盘</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磁盘管理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读</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写块</a:t>
            </a:r>
            <a:r>
              <a:rPr lang="en-US" altLang="zh-CN" dirty="0">
                <a:latin typeface="微软雅黑" panose="020B0503020204020204" pitchFamily="34" charset="-122"/>
                <a:ea typeface="微软雅黑" panose="020B0503020204020204" pitchFamily="34" charset="-122"/>
              </a:rPr>
              <a:t>(I/O)</a:t>
            </a:r>
            <a:endParaRPr lang="en-US" altLang="zh-CN" dirty="0">
              <a:latin typeface="微软雅黑" panose="020B0503020204020204" pitchFamily="34" charset="-122"/>
              <a:ea typeface="微软雅黑" panose="020B0503020204020204" pitchFamily="34" charset="-122"/>
            </a:endParaRPr>
          </a:p>
        </p:txBody>
      </p:sp>
      <p:sp>
        <p:nvSpPr>
          <p:cNvPr id="96" name="Rectangle 183"/>
          <p:cNvSpPr/>
          <p:nvPr/>
        </p:nvSpPr>
        <p:spPr>
          <a:xfrm>
            <a:off x="3184156" y="1930619"/>
            <a:ext cx="4160837" cy="1279525"/>
          </a:xfrm>
          <a:prstGeom prst="rect">
            <a:avLst/>
          </a:prstGeom>
          <a:noFill/>
          <a:ln w="28575" cap="flat" cmpd="sng">
            <a:solidFill>
              <a:schemeClr val="tx1"/>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97" name="Rectangle 184"/>
          <p:cNvSpPr/>
          <p:nvPr/>
        </p:nvSpPr>
        <p:spPr>
          <a:xfrm>
            <a:off x="6068032" y="1936933"/>
            <a:ext cx="1327150" cy="336550"/>
          </a:xfrm>
          <a:prstGeom prst="rect">
            <a:avLst/>
          </a:prstGeom>
          <a:noFill/>
          <a:ln w="9525">
            <a:noFill/>
          </a:ln>
        </p:spPr>
        <p:txBody>
          <a:bodyPr wrap="none" anchor="t">
            <a:spAutoFit/>
          </a:bodyPr>
          <a:lstStyle/>
          <a:p>
            <a:pPr algn="ctr"/>
            <a:r>
              <a:rPr lang="en-US" altLang="zh-CN" dirty="0">
                <a:solidFill>
                  <a:srgbClr val="FF0000"/>
                </a:solidFill>
                <a:latin typeface="微软雅黑" panose="020B0503020204020204" pitchFamily="34" charset="-122"/>
                <a:ea typeface="微软雅黑" panose="020B0503020204020204" pitchFamily="34" charset="-122"/>
              </a:rPr>
              <a:t>DB Logical </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98" name="Line 185"/>
          <p:cNvSpPr/>
          <p:nvPr/>
        </p:nvSpPr>
        <p:spPr>
          <a:xfrm flipH="1">
            <a:off x="8844341" y="3473444"/>
            <a:ext cx="3174" cy="754925"/>
          </a:xfrm>
          <a:prstGeom prst="line">
            <a:avLst/>
          </a:prstGeom>
          <a:ln w="9525" cap="flat" cmpd="sng">
            <a:solidFill>
              <a:schemeClr val="tx1"/>
            </a:solidFill>
            <a:prstDash val="solid"/>
            <a:round/>
            <a:headEnd type="triangle" w="med" len="med"/>
            <a:tailEnd type="triangle" w="med" len="med"/>
          </a:ln>
        </p:spPr>
      </p:sp>
      <p:sp>
        <p:nvSpPr>
          <p:cNvPr id="99" name="Line 186"/>
          <p:cNvSpPr/>
          <p:nvPr/>
        </p:nvSpPr>
        <p:spPr>
          <a:xfrm>
            <a:off x="8844341" y="4526819"/>
            <a:ext cx="0" cy="572866"/>
          </a:xfrm>
          <a:prstGeom prst="line">
            <a:avLst/>
          </a:prstGeom>
          <a:ln w="9525" cap="flat" cmpd="sng">
            <a:solidFill>
              <a:schemeClr val="tx1"/>
            </a:solidFill>
            <a:prstDash val="solid"/>
            <a:round/>
            <a:headEnd type="triangle" w="med" len="med"/>
            <a:tailEnd type="triangle" w="med" len="med"/>
          </a:ln>
        </p:spPr>
      </p:sp>
      <p:sp>
        <p:nvSpPr>
          <p:cNvPr id="100" name="Freeform 187"/>
          <p:cNvSpPr/>
          <p:nvPr/>
        </p:nvSpPr>
        <p:spPr>
          <a:xfrm>
            <a:off x="2679700" y="2481263"/>
            <a:ext cx="498470" cy="173037"/>
          </a:xfrm>
          <a:custGeom>
            <a:avLst/>
            <a:gdLst/>
            <a:ahLst/>
            <a:cxnLst>
              <a:cxn ang="0">
                <a:pos x="336" y="23"/>
              </a:cxn>
              <a:cxn ang="0">
                <a:pos x="144" y="14"/>
              </a:cxn>
              <a:cxn ang="0">
                <a:pos x="0" y="110"/>
              </a:cxn>
            </a:cxnLst>
            <a:rect l="0" t="0" r="0" b="0"/>
            <a:pathLst>
              <a:path w="336" h="110">
                <a:moveTo>
                  <a:pt x="336" y="23"/>
                </a:moveTo>
                <a:cubicBezTo>
                  <a:pt x="268" y="11"/>
                  <a:pt x="200" y="0"/>
                  <a:pt x="144" y="14"/>
                </a:cubicBezTo>
                <a:cubicBezTo>
                  <a:pt x="88" y="28"/>
                  <a:pt x="44" y="69"/>
                  <a:pt x="0" y="110"/>
                </a:cubicBezTo>
              </a:path>
            </a:pathLst>
          </a:custGeom>
          <a:noFill/>
          <a:ln w="9525" cap="flat" cmpd="sng">
            <a:solidFill>
              <a:schemeClr val="accent2"/>
            </a:solidFill>
            <a:prstDash val="dash"/>
            <a:round/>
            <a:headEnd type="none" w="med" len="med"/>
            <a:tailEnd type="triangle" w="med" len="med"/>
          </a:ln>
        </p:spPr>
        <p:txBody>
          <a:bodyPr/>
          <a:lstStyle/>
          <a:p>
            <a:endParaRPr lang="zh-CN" altLang="en-US"/>
          </a:p>
        </p:txBody>
      </p:sp>
      <p:grpSp>
        <p:nvGrpSpPr>
          <p:cNvPr id="101" name="Group 195"/>
          <p:cNvGrpSpPr/>
          <p:nvPr/>
        </p:nvGrpSpPr>
        <p:grpSpPr>
          <a:xfrm>
            <a:off x="2534131" y="3226632"/>
            <a:ext cx="2786396" cy="2333001"/>
            <a:chOff x="973" y="1411"/>
            <a:chExt cx="1561" cy="2036"/>
          </a:xfrm>
        </p:grpSpPr>
        <p:sp>
          <p:nvSpPr>
            <p:cNvPr id="102" name="Freeform 191"/>
            <p:cNvSpPr/>
            <p:nvPr/>
          </p:nvSpPr>
          <p:spPr>
            <a:xfrm>
              <a:off x="973" y="1411"/>
              <a:ext cx="1561" cy="2007"/>
            </a:xfrm>
            <a:custGeom>
              <a:avLst/>
              <a:gdLst/>
              <a:ahLst/>
              <a:cxnLst>
                <a:cxn ang="0">
                  <a:pos x="352" y="0"/>
                </a:cxn>
                <a:cxn ang="0">
                  <a:pos x="54" y="682"/>
                </a:cxn>
                <a:cxn ang="0">
                  <a:pos x="64" y="1325"/>
                </a:cxn>
                <a:cxn ang="0">
                  <a:pos x="438" y="1651"/>
                </a:cxn>
                <a:cxn ang="0">
                  <a:pos x="1187" y="1728"/>
                </a:cxn>
                <a:cxn ang="0">
                  <a:pos x="1561" y="2007"/>
                </a:cxn>
              </a:cxnLst>
              <a:rect l="0" t="0" r="0" b="0"/>
              <a:pathLst>
                <a:path w="1561" h="2007">
                  <a:moveTo>
                    <a:pt x="352" y="0"/>
                  </a:moveTo>
                  <a:cubicBezTo>
                    <a:pt x="218" y="218"/>
                    <a:pt x="102" y="461"/>
                    <a:pt x="54" y="682"/>
                  </a:cubicBezTo>
                  <a:cubicBezTo>
                    <a:pt x="6" y="903"/>
                    <a:pt x="0" y="1164"/>
                    <a:pt x="64" y="1325"/>
                  </a:cubicBezTo>
                  <a:cubicBezTo>
                    <a:pt x="128" y="1486"/>
                    <a:pt x="251" y="1584"/>
                    <a:pt x="438" y="1651"/>
                  </a:cubicBezTo>
                  <a:cubicBezTo>
                    <a:pt x="625" y="1718"/>
                    <a:pt x="1000" y="1669"/>
                    <a:pt x="1187" y="1728"/>
                  </a:cubicBezTo>
                  <a:cubicBezTo>
                    <a:pt x="1374" y="1787"/>
                    <a:pt x="1483" y="1949"/>
                    <a:pt x="1561" y="2007"/>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03" name="Freeform 192"/>
            <p:cNvSpPr/>
            <p:nvPr/>
          </p:nvSpPr>
          <p:spPr>
            <a:xfrm>
              <a:off x="2218" y="3217"/>
              <a:ext cx="106" cy="230"/>
            </a:xfrm>
            <a:custGeom>
              <a:avLst/>
              <a:gdLst/>
              <a:ahLst/>
              <a:cxnLst>
                <a:cxn ang="0">
                  <a:pos x="106" y="0"/>
                </a:cxn>
                <a:cxn ang="0">
                  <a:pos x="19" y="134"/>
                </a:cxn>
                <a:cxn ang="0">
                  <a:pos x="0" y="230"/>
                </a:cxn>
              </a:cxnLst>
              <a:rect l="0" t="0" r="0" b="0"/>
              <a:pathLst>
                <a:path w="106" h="230">
                  <a:moveTo>
                    <a:pt x="106" y="0"/>
                  </a:moveTo>
                  <a:cubicBezTo>
                    <a:pt x="71" y="48"/>
                    <a:pt x="37" y="96"/>
                    <a:pt x="19" y="134"/>
                  </a:cubicBezTo>
                  <a:cubicBezTo>
                    <a:pt x="1" y="172"/>
                    <a:pt x="0" y="201"/>
                    <a:pt x="0" y="230"/>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grpSp>
      <p:grpSp>
        <p:nvGrpSpPr>
          <p:cNvPr id="104" name="Group 194"/>
          <p:cNvGrpSpPr/>
          <p:nvPr/>
        </p:nvGrpSpPr>
        <p:grpSpPr>
          <a:xfrm>
            <a:off x="2051079" y="3354154"/>
            <a:ext cx="4820492" cy="2040171"/>
            <a:chOff x="752" y="1546"/>
            <a:chExt cx="2733" cy="1910"/>
          </a:xfrm>
        </p:grpSpPr>
        <p:sp>
          <p:nvSpPr>
            <p:cNvPr id="105" name="Freeform 188"/>
            <p:cNvSpPr/>
            <p:nvPr/>
          </p:nvSpPr>
          <p:spPr>
            <a:xfrm>
              <a:off x="752" y="1546"/>
              <a:ext cx="2013" cy="1900"/>
            </a:xfrm>
            <a:custGeom>
              <a:avLst/>
              <a:gdLst/>
              <a:ahLst/>
              <a:cxnLst>
                <a:cxn ang="0">
                  <a:pos x="106" y="0"/>
                </a:cxn>
                <a:cxn ang="0">
                  <a:pos x="73" y="1411"/>
                </a:cxn>
                <a:cxn ang="0">
                  <a:pos x="544" y="1670"/>
                </a:cxn>
                <a:cxn ang="0">
                  <a:pos x="1778" y="1632"/>
                </a:cxn>
                <a:cxn ang="0">
                  <a:pos x="1957" y="1900"/>
                </a:cxn>
              </a:cxnLst>
              <a:rect l="0" t="0" r="0" b="0"/>
              <a:pathLst>
                <a:path w="2013" h="1900">
                  <a:moveTo>
                    <a:pt x="106" y="0"/>
                  </a:moveTo>
                  <a:cubicBezTo>
                    <a:pt x="101" y="235"/>
                    <a:pt x="0" y="1133"/>
                    <a:pt x="73" y="1411"/>
                  </a:cubicBezTo>
                  <a:cubicBezTo>
                    <a:pt x="146" y="1689"/>
                    <a:pt x="260" y="1633"/>
                    <a:pt x="544" y="1670"/>
                  </a:cubicBezTo>
                  <a:cubicBezTo>
                    <a:pt x="828" y="1707"/>
                    <a:pt x="1543" y="1594"/>
                    <a:pt x="1778" y="1632"/>
                  </a:cubicBezTo>
                  <a:cubicBezTo>
                    <a:pt x="2013" y="1670"/>
                    <a:pt x="1964" y="1787"/>
                    <a:pt x="1957" y="1900"/>
                  </a:cubicBezTo>
                </a:path>
              </a:pathLst>
            </a:custGeom>
            <a:noFill/>
            <a:ln w="9525" cap="flat" cmpd="sng">
              <a:solidFill>
                <a:schemeClr val="accent2"/>
              </a:solidFill>
              <a:prstDash val="dash"/>
              <a:round/>
              <a:headEnd type="none" w="med" len="med"/>
              <a:tailEnd type="triangle" w="med" len="med"/>
            </a:ln>
          </p:spPr>
          <p:txBody>
            <a:bodyPr/>
            <a:lstStyle/>
            <a:p>
              <a:endParaRPr lang="zh-CN" altLang="en-US"/>
            </a:p>
          </p:txBody>
        </p:sp>
        <p:sp>
          <p:nvSpPr>
            <p:cNvPr id="106" name="Freeform 189"/>
            <p:cNvSpPr/>
            <p:nvPr/>
          </p:nvSpPr>
          <p:spPr>
            <a:xfrm>
              <a:off x="1795" y="3206"/>
              <a:ext cx="276" cy="231"/>
            </a:xfrm>
            <a:custGeom>
              <a:avLst/>
              <a:gdLst/>
              <a:ahLst/>
              <a:cxnLst>
                <a:cxn ang="0">
                  <a:pos x="0" y="0"/>
                </a:cxn>
                <a:cxn ang="0">
                  <a:pos x="231" y="81"/>
                </a:cxn>
                <a:cxn ang="0">
                  <a:pos x="269" y="231"/>
                </a:cxn>
              </a:cxnLst>
              <a:rect l="0" t="0" r="0" b="0"/>
              <a:pathLst>
                <a:path w="276" h="231">
                  <a:moveTo>
                    <a:pt x="0" y="0"/>
                  </a:moveTo>
                  <a:cubicBezTo>
                    <a:pt x="37" y="14"/>
                    <a:pt x="186" y="43"/>
                    <a:pt x="231" y="81"/>
                  </a:cubicBezTo>
                  <a:cubicBezTo>
                    <a:pt x="276" y="119"/>
                    <a:pt x="261" y="206"/>
                    <a:pt x="269" y="231"/>
                  </a:cubicBezTo>
                </a:path>
              </a:pathLst>
            </a:custGeom>
            <a:noFill/>
            <a:ln w="9525" cap="flat" cmpd="sng">
              <a:solidFill>
                <a:schemeClr val="accent2"/>
              </a:solidFill>
              <a:prstDash val="dash"/>
              <a:round/>
              <a:headEnd type="none" w="med" len="med"/>
              <a:tailEnd type="triangle" w="med" len="med"/>
            </a:ln>
          </p:spPr>
          <p:txBody>
            <a:bodyPr/>
            <a:lstStyle/>
            <a:p>
              <a:endParaRPr lang="zh-CN" altLang="en-US"/>
            </a:p>
          </p:txBody>
        </p:sp>
        <p:sp>
          <p:nvSpPr>
            <p:cNvPr id="107" name="Freeform 193"/>
            <p:cNvSpPr/>
            <p:nvPr/>
          </p:nvSpPr>
          <p:spPr>
            <a:xfrm>
              <a:off x="2544" y="3151"/>
              <a:ext cx="941" cy="305"/>
            </a:xfrm>
            <a:custGeom>
              <a:avLst/>
              <a:gdLst/>
              <a:ahLst/>
              <a:cxnLst>
                <a:cxn ang="0">
                  <a:pos x="0" y="27"/>
                </a:cxn>
                <a:cxn ang="0">
                  <a:pos x="739" y="46"/>
                </a:cxn>
                <a:cxn ang="0">
                  <a:pos x="941" y="305"/>
                </a:cxn>
              </a:cxnLst>
              <a:rect l="0" t="0" r="0" b="0"/>
              <a:pathLst>
                <a:path w="941" h="305">
                  <a:moveTo>
                    <a:pt x="0" y="27"/>
                  </a:moveTo>
                  <a:cubicBezTo>
                    <a:pt x="291" y="13"/>
                    <a:pt x="582" y="0"/>
                    <a:pt x="739" y="46"/>
                  </a:cubicBezTo>
                  <a:cubicBezTo>
                    <a:pt x="896" y="92"/>
                    <a:pt x="918" y="198"/>
                    <a:pt x="941" y="305"/>
                  </a:cubicBezTo>
                </a:path>
              </a:pathLst>
            </a:custGeom>
            <a:noFill/>
            <a:ln w="9525" cap="flat" cmpd="sng">
              <a:solidFill>
                <a:schemeClr val="tx1"/>
              </a:solidFill>
              <a:prstDash val="dash"/>
              <a:round/>
              <a:headEnd type="none" w="med" len="med"/>
              <a:tailEnd type="triangle" w="med" len="med"/>
            </a:ln>
          </p:spPr>
          <p:txBody>
            <a:bodyPr/>
            <a:lstStyle/>
            <a:p>
              <a:endParaRPr lang="zh-CN" altLang="en-US"/>
            </a:p>
          </p:txBody>
        </p:sp>
      </p:grpSp>
      <p:sp>
        <p:nvSpPr>
          <p:cNvPr id="108" name="Freeform 196"/>
          <p:cNvSpPr/>
          <p:nvPr/>
        </p:nvSpPr>
        <p:spPr>
          <a:xfrm>
            <a:off x="4766893" y="2100482"/>
            <a:ext cx="1631950" cy="500062"/>
          </a:xfrm>
          <a:custGeom>
            <a:avLst/>
            <a:gdLst/>
            <a:ahLst/>
            <a:cxnLst>
              <a:cxn ang="0">
                <a:pos x="1028" y="295"/>
              </a:cxn>
              <a:cxn ang="0">
                <a:pos x="653" y="46"/>
              </a:cxn>
              <a:cxn ang="0">
                <a:pos x="192" y="17"/>
              </a:cxn>
              <a:cxn ang="0">
                <a:pos x="0" y="142"/>
              </a:cxn>
            </a:cxnLst>
            <a:rect l="0" t="0" r="0" b="0"/>
            <a:pathLst>
              <a:path w="1028" h="295">
                <a:moveTo>
                  <a:pt x="1028" y="295"/>
                </a:moveTo>
                <a:cubicBezTo>
                  <a:pt x="910" y="193"/>
                  <a:pt x="792" y="92"/>
                  <a:pt x="653" y="46"/>
                </a:cubicBezTo>
                <a:cubicBezTo>
                  <a:pt x="514" y="0"/>
                  <a:pt x="301" y="1"/>
                  <a:pt x="192" y="17"/>
                </a:cubicBezTo>
                <a:cubicBezTo>
                  <a:pt x="83" y="33"/>
                  <a:pt x="41" y="87"/>
                  <a:pt x="0" y="142"/>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11" name="Text Box 199"/>
          <p:cNvSpPr txBox="1"/>
          <p:nvPr/>
        </p:nvSpPr>
        <p:spPr>
          <a:xfrm>
            <a:off x="7505283" y="2804163"/>
            <a:ext cx="2678117" cy="646331"/>
          </a:xfrm>
          <a:prstGeom prst="rect">
            <a:avLst/>
          </a:prstGeom>
          <a:noFill/>
          <a:ln w="9525">
            <a:noFill/>
          </a:ln>
        </p:spPr>
        <p:txBody>
          <a:bodyPr wrap="square" anchor="t">
            <a:spAutoFit/>
          </a:bodyPr>
          <a:lstStyle/>
          <a:p>
            <a:pPr algn="ctr"/>
            <a:r>
              <a:rPr lang="zh-CN" altLang="en-US" dirty="0">
                <a:latin typeface="微软雅黑" panose="020B0503020204020204" pitchFamily="34" charset="-122"/>
                <a:ea typeface="微软雅黑" panose="020B0503020204020204" pitchFamily="34" charset="-122"/>
              </a:rPr>
              <a:t>文件管理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数据逻辑索引管理：结构</a:t>
            </a:r>
            <a:endParaRPr lang="zh-CN" altLang="en-US" dirty="0">
              <a:latin typeface="微软雅黑" panose="020B0503020204020204" pitchFamily="34" charset="-122"/>
              <a:ea typeface="微软雅黑" panose="020B0503020204020204" pitchFamily="34" charset="-122"/>
            </a:endParaRPr>
          </a:p>
        </p:txBody>
      </p:sp>
      <p:sp>
        <p:nvSpPr>
          <p:cNvPr id="112" name="Line 200"/>
          <p:cNvSpPr/>
          <p:nvPr/>
        </p:nvSpPr>
        <p:spPr>
          <a:xfrm>
            <a:off x="8844342" y="2202719"/>
            <a:ext cx="0" cy="608012"/>
          </a:xfrm>
          <a:prstGeom prst="line">
            <a:avLst/>
          </a:prstGeom>
          <a:ln w="9525" cap="flat" cmpd="sng">
            <a:solidFill>
              <a:schemeClr val="tx1"/>
            </a:solidFill>
            <a:prstDash val="solid"/>
            <a:round/>
            <a:headEnd type="triangle" w="med" len="med"/>
            <a:tailEnd type="triangle" w="med" len="med"/>
          </a:ln>
        </p:spPr>
      </p:sp>
      <p:sp>
        <p:nvSpPr>
          <p:cNvPr id="113" name="Rectangle 201"/>
          <p:cNvSpPr/>
          <p:nvPr/>
        </p:nvSpPr>
        <p:spPr>
          <a:xfrm>
            <a:off x="1810178" y="2212976"/>
            <a:ext cx="931794" cy="338554"/>
          </a:xfrm>
          <a:prstGeom prst="rect">
            <a:avLst/>
          </a:prstGeom>
          <a:noFill/>
          <a:ln w="9525">
            <a:noFill/>
          </a:ln>
        </p:spPr>
        <p:txBody>
          <a:bodyPr wrap="none" anchor="t">
            <a:spAutoFit/>
          </a:bodyPr>
          <a:lstStyle/>
          <a:p>
            <a:pPr algn="ctr"/>
            <a:r>
              <a:rPr lang="en-US" altLang="zh-CN" sz="1600" dirty="0">
                <a:latin typeface="微软雅黑" panose="020B0503020204020204" pitchFamily="34" charset="-122"/>
                <a:ea typeface="微软雅黑" panose="020B0503020204020204" pitchFamily="34" charset="-122"/>
              </a:rPr>
              <a:t>OS  FAT</a:t>
            </a:r>
            <a:endParaRPr lang="en-US" altLang="zh-CN" sz="1600" dirty="0">
              <a:latin typeface="微软雅黑" panose="020B0503020204020204" pitchFamily="34" charset="-122"/>
              <a:ea typeface="微软雅黑" panose="020B0503020204020204" pitchFamily="34" charset="-122"/>
            </a:endParaRPr>
          </a:p>
        </p:txBody>
      </p:sp>
      <p:sp>
        <p:nvSpPr>
          <p:cNvPr id="114" name="Rectangle 203"/>
          <p:cNvSpPr/>
          <p:nvPr/>
        </p:nvSpPr>
        <p:spPr>
          <a:xfrm>
            <a:off x="3179758" y="5386388"/>
            <a:ext cx="4189412" cy="1279525"/>
          </a:xfrm>
          <a:prstGeom prst="rect">
            <a:avLst/>
          </a:prstGeom>
          <a:noFill/>
          <a:ln w="28575" cap="flat" cmpd="sng">
            <a:solidFill>
              <a:schemeClr val="tx1"/>
            </a:solidFill>
            <a:prstDash val="solid"/>
            <a:miter/>
            <a:headEnd type="none" w="med" len="med"/>
            <a:tailEnd type="non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sp>
        <p:nvSpPr>
          <p:cNvPr id="115" name="Text Box 204"/>
          <p:cNvSpPr txBox="1"/>
          <p:nvPr/>
        </p:nvSpPr>
        <p:spPr>
          <a:xfrm>
            <a:off x="1709164" y="5775534"/>
            <a:ext cx="1288301" cy="338554"/>
          </a:xfrm>
          <a:prstGeom prst="rect">
            <a:avLst/>
          </a:prstGeom>
          <a:noFill/>
          <a:ln w="9525">
            <a:noFill/>
          </a:ln>
        </p:spPr>
        <p:txBody>
          <a:bodyPr wrap="none" anchor="t">
            <a:spAutoFit/>
          </a:bodyPr>
          <a:lstStyle/>
          <a:p>
            <a:pPr algn="ctr"/>
            <a:r>
              <a:rPr lang="en-US" altLang="zh-CN" sz="1600" dirty="0">
                <a:latin typeface="微软雅黑" panose="020B0503020204020204" pitchFamily="34" charset="-122"/>
                <a:ea typeface="微软雅黑" panose="020B0503020204020204" pitchFamily="34" charset="-122"/>
              </a:rPr>
              <a:t>DB Storage</a:t>
            </a:r>
            <a:endParaRPr lang="en-US" altLang="zh-CN"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p14="http://schemas.microsoft.com/office/powerpoint/2010/main">
        <mc:Choice Requires="p14">
          <p:contentPart r:id="rId2" p14:bwMode="auto">
            <p14:nvContentPartPr>
              <p14:cNvPr id="116" name="Ink 92"/>
              <p14:cNvContentPartPr/>
              <p14:nvPr/>
            </p14:nvContentPartPr>
            <p14:xfrm>
              <a:off x="5322114" y="4795226"/>
              <a:ext cx="1587" cy="1587"/>
            </p14:xfrm>
          </p:contentPart>
        </mc:Choice>
        <mc:Fallback xmlns="">
          <p:pic>
            <p:nvPicPr>
              <p:cNvPr id="116" name="Ink 92"/>
            </p:nvPicPr>
            <p:blipFill>
              <a:blip r:embed="rId3"/>
            </p:blipFill>
            <p:spPr>
              <a:xfrm>
                <a:off x="5322114" y="4795226"/>
                <a:ext cx="1587" cy="1587"/>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117" name="Ink 37"/>
              <p14:cNvContentPartPr/>
              <p14:nvPr/>
            </p14:nvContentPartPr>
            <p14:xfrm>
              <a:off x="4427532" y="6391275"/>
              <a:ext cx="1587" cy="1588"/>
            </p14:xfrm>
          </p:contentPart>
        </mc:Choice>
        <mc:Fallback xmlns="">
          <p:pic>
            <p:nvPicPr>
              <p:cNvPr id="117" name="Ink 37"/>
            </p:nvPicPr>
            <p:blipFill>
              <a:blip r:embed="rId3"/>
            </p:blipFill>
            <p:spPr>
              <a:xfrm>
                <a:off x="4427532" y="6391275"/>
                <a:ext cx="1587" cy="1588"/>
              </a:xfrm>
              <a:prstGeom prst="rect"/>
            </p:spPr>
          </p:pic>
        </mc:Fallback>
      </mc:AlternateContent>
      <p:sp>
        <p:nvSpPr>
          <p:cNvPr id="119" name="AutoShape 198"/>
          <p:cNvSpPr/>
          <p:nvPr/>
        </p:nvSpPr>
        <p:spPr>
          <a:xfrm>
            <a:off x="6828325" y="3252551"/>
            <a:ext cx="427046" cy="646331"/>
          </a:xfrm>
          <a:prstGeom prst="upDownArrow">
            <a:avLst>
              <a:gd name="adj1" fmla="val 50000"/>
              <a:gd name="adj2" fmla="val 35384"/>
            </a:avLst>
          </a:prstGeom>
          <a:solidFill>
            <a:schemeClr val="tx2"/>
          </a:solidFill>
          <a:ln w="9525" cap="flat" cmpd="sng">
            <a:solidFill>
              <a:schemeClr val="tx1"/>
            </a:solidFill>
            <a:prstDash val="solid"/>
            <a:miter/>
            <a:headEnd type="none" w="med" len="med"/>
            <a:tailEnd type="non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sp>
        <p:nvSpPr>
          <p:cNvPr id="120" name="AutoShape 198"/>
          <p:cNvSpPr/>
          <p:nvPr/>
        </p:nvSpPr>
        <p:spPr>
          <a:xfrm>
            <a:off x="6828325" y="4878485"/>
            <a:ext cx="427046" cy="646331"/>
          </a:xfrm>
          <a:prstGeom prst="upDownArrow">
            <a:avLst>
              <a:gd name="adj1" fmla="val 50000"/>
              <a:gd name="adj2" fmla="val 35384"/>
            </a:avLst>
          </a:prstGeom>
          <a:solidFill>
            <a:schemeClr val="tx2"/>
          </a:solidFill>
          <a:ln w="9525" cap="flat" cmpd="sng">
            <a:solidFill>
              <a:schemeClr val="tx1"/>
            </a:solidFill>
            <a:prstDash val="solid"/>
            <a:miter/>
            <a:headEnd type="none" w="med" len="med"/>
            <a:tailEnd type="non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additive="base">
                                        <p:cTn id="7" dur="500" fill="hold"/>
                                        <p:tgtEl>
                                          <p:spTgt spid="66"/>
                                        </p:tgtEl>
                                        <p:attrNameLst>
                                          <p:attrName>ppt_x</p:attrName>
                                        </p:attrNameLst>
                                      </p:cBhvr>
                                      <p:tavLst>
                                        <p:tav tm="0">
                                          <p:val>
                                            <p:strVal val="#ppt_x"/>
                                          </p:val>
                                        </p:tav>
                                        <p:tav tm="100000">
                                          <p:val>
                                            <p:strVal val="#ppt_x"/>
                                          </p:val>
                                        </p:tav>
                                      </p:tavLst>
                                    </p:anim>
                                    <p:anim calcmode="lin" valueType="num">
                                      <p:cBhvr additive="base">
                                        <p:cTn id="8" dur="500" fill="hold"/>
                                        <p:tgtEl>
                                          <p:spTgt spid="6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6"/>
                                        </p:tgtEl>
                                        <p:attrNameLst>
                                          <p:attrName>style.visibility</p:attrName>
                                        </p:attrNameLst>
                                      </p:cBhvr>
                                      <p:to>
                                        <p:strVal val="visible"/>
                                      </p:to>
                                    </p:set>
                                    <p:anim calcmode="lin" valueType="num">
                                      <p:cBhvr additive="base">
                                        <p:cTn id="11" dur="500" fill="hold"/>
                                        <p:tgtEl>
                                          <p:spTgt spid="96"/>
                                        </p:tgtEl>
                                        <p:attrNameLst>
                                          <p:attrName>ppt_x</p:attrName>
                                        </p:attrNameLst>
                                      </p:cBhvr>
                                      <p:tavLst>
                                        <p:tav tm="0">
                                          <p:val>
                                            <p:strVal val="#ppt_x"/>
                                          </p:val>
                                        </p:tav>
                                        <p:tav tm="100000">
                                          <p:val>
                                            <p:strVal val="#ppt_x"/>
                                          </p:val>
                                        </p:tav>
                                      </p:tavLst>
                                    </p:anim>
                                    <p:anim calcmode="lin" valueType="num">
                                      <p:cBhvr additive="base">
                                        <p:cTn id="12" dur="500" fill="hold"/>
                                        <p:tgtEl>
                                          <p:spTgt spid="9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7"/>
                                        </p:tgtEl>
                                        <p:attrNameLst>
                                          <p:attrName>style.visibility</p:attrName>
                                        </p:attrNameLst>
                                      </p:cBhvr>
                                      <p:to>
                                        <p:strVal val="visible"/>
                                      </p:to>
                                    </p:set>
                                    <p:anim calcmode="lin" valueType="num">
                                      <p:cBhvr additive="base">
                                        <p:cTn id="15" dur="500" fill="hold"/>
                                        <p:tgtEl>
                                          <p:spTgt spid="97"/>
                                        </p:tgtEl>
                                        <p:attrNameLst>
                                          <p:attrName>ppt_x</p:attrName>
                                        </p:attrNameLst>
                                      </p:cBhvr>
                                      <p:tavLst>
                                        <p:tav tm="0">
                                          <p:val>
                                            <p:strVal val="#ppt_x"/>
                                          </p:val>
                                        </p:tav>
                                        <p:tav tm="100000">
                                          <p:val>
                                            <p:strVal val="#ppt_x"/>
                                          </p:val>
                                        </p:tav>
                                      </p:tavLst>
                                    </p:anim>
                                    <p:anim calcmode="lin" valueType="num">
                                      <p:cBhvr additive="base">
                                        <p:cTn id="16" dur="500" fill="hold"/>
                                        <p:tgtEl>
                                          <p:spTgt spid="9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4"/>
                                        </p:tgtEl>
                                        <p:attrNameLst>
                                          <p:attrName>style.visibility</p:attrName>
                                        </p:attrNameLst>
                                      </p:cBhvr>
                                      <p:to>
                                        <p:strVal val="visible"/>
                                      </p:to>
                                    </p:set>
                                    <p:anim calcmode="lin" valueType="num">
                                      <p:cBhvr additive="base">
                                        <p:cTn id="25" dur="500" fill="hold"/>
                                        <p:tgtEl>
                                          <p:spTgt spid="114"/>
                                        </p:tgtEl>
                                        <p:attrNameLst>
                                          <p:attrName>ppt_x</p:attrName>
                                        </p:attrNameLst>
                                      </p:cBhvr>
                                      <p:tavLst>
                                        <p:tav tm="0">
                                          <p:val>
                                            <p:strVal val="#ppt_x"/>
                                          </p:val>
                                        </p:tav>
                                        <p:tav tm="100000">
                                          <p:val>
                                            <p:strVal val="#ppt_x"/>
                                          </p:val>
                                        </p:tav>
                                      </p:tavLst>
                                    </p:anim>
                                    <p:anim calcmode="lin" valueType="num">
                                      <p:cBhvr additive="base">
                                        <p:cTn id="26" dur="500" fill="hold"/>
                                        <p:tgtEl>
                                          <p:spTgt spid="114"/>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15"/>
                                        </p:tgtEl>
                                        <p:attrNameLst>
                                          <p:attrName>style.visibility</p:attrName>
                                        </p:attrNameLst>
                                      </p:cBhvr>
                                      <p:to>
                                        <p:strVal val="visible"/>
                                      </p:to>
                                    </p:set>
                                    <p:anim calcmode="lin" valueType="num">
                                      <p:cBhvr additive="base">
                                        <p:cTn id="29" dur="500" fill="hold"/>
                                        <p:tgtEl>
                                          <p:spTgt spid="115"/>
                                        </p:tgtEl>
                                        <p:attrNameLst>
                                          <p:attrName>ppt_x</p:attrName>
                                        </p:attrNameLst>
                                      </p:cBhvr>
                                      <p:tavLst>
                                        <p:tav tm="0">
                                          <p:val>
                                            <p:strVal val="#ppt_x"/>
                                          </p:val>
                                        </p:tav>
                                        <p:tav tm="100000">
                                          <p:val>
                                            <p:strVal val="#ppt_x"/>
                                          </p:val>
                                        </p:tav>
                                      </p:tavLst>
                                    </p:anim>
                                    <p:anim calcmode="lin" valueType="num">
                                      <p:cBhvr additive="base">
                                        <p:cTn id="30" dur="500" fill="hold"/>
                                        <p:tgtEl>
                                          <p:spTgt spid="1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01"/>
                                        </p:tgtEl>
                                        <p:attrNameLst>
                                          <p:attrName>style.visibility</p:attrName>
                                        </p:attrNameLst>
                                      </p:cBhvr>
                                      <p:to>
                                        <p:strVal val="visible"/>
                                      </p:to>
                                    </p:set>
                                    <p:anim calcmode="lin" valueType="num">
                                      <p:cBhvr additive="base">
                                        <p:cTn id="35" dur="500" fill="hold"/>
                                        <p:tgtEl>
                                          <p:spTgt spid="101"/>
                                        </p:tgtEl>
                                        <p:attrNameLst>
                                          <p:attrName>ppt_x</p:attrName>
                                        </p:attrNameLst>
                                      </p:cBhvr>
                                      <p:tavLst>
                                        <p:tav tm="0">
                                          <p:val>
                                            <p:strVal val="#ppt_x"/>
                                          </p:val>
                                        </p:tav>
                                        <p:tav tm="100000">
                                          <p:val>
                                            <p:strVal val="#ppt_x"/>
                                          </p:val>
                                        </p:tav>
                                      </p:tavLst>
                                    </p:anim>
                                    <p:anim calcmode="lin" valueType="num">
                                      <p:cBhvr additive="base">
                                        <p:cTn id="36" dur="500" fill="hold"/>
                                        <p:tgtEl>
                                          <p:spTgt spid="10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08"/>
                                        </p:tgtEl>
                                        <p:attrNameLst>
                                          <p:attrName>style.visibility</p:attrName>
                                        </p:attrNameLst>
                                      </p:cBhvr>
                                      <p:to>
                                        <p:strVal val="visible"/>
                                      </p:to>
                                    </p:set>
                                    <p:anim calcmode="lin" valueType="num">
                                      <p:cBhvr additive="base">
                                        <p:cTn id="39" dur="500" fill="hold"/>
                                        <p:tgtEl>
                                          <p:spTgt spid="108"/>
                                        </p:tgtEl>
                                        <p:attrNameLst>
                                          <p:attrName>ppt_x</p:attrName>
                                        </p:attrNameLst>
                                      </p:cBhvr>
                                      <p:tavLst>
                                        <p:tav tm="0">
                                          <p:val>
                                            <p:strVal val="#ppt_x"/>
                                          </p:val>
                                        </p:tav>
                                        <p:tav tm="100000">
                                          <p:val>
                                            <p:strVal val="#ppt_x"/>
                                          </p:val>
                                        </p:tav>
                                      </p:tavLst>
                                    </p:anim>
                                    <p:anim calcmode="lin" valueType="num">
                                      <p:cBhvr additive="base">
                                        <p:cTn id="40" dur="500" fill="hold"/>
                                        <p:tgtEl>
                                          <p:spTgt spid="10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72"/>
                                        </p:tgtEl>
                                        <p:attrNameLst>
                                          <p:attrName>style.visibility</p:attrName>
                                        </p:attrNameLst>
                                      </p:cBhvr>
                                      <p:to>
                                        <p:strVal val="visible"/>
                                      </p:to>
                                    </p:set>
                                    <p:anim calcmode="lin" valueType="num">
                                      <p:cBhvr additive="base">
                                        <p:cTn id="43" dur="500" fill="hold"/>
                                        <p:tgtEl>
                                          <p:spTgt spid="72"/>
                                        </p:tgtEl>
                                        <p:attrNameLst>
                                          <p:attrName>ppt_x</p:attrName>
                                        </p:attrNameLst>
                                      </p:cBhvr>
                                      <p:tavLst>
                                        <p:tav tm="0">
                                          <p:val>
                                            <p:strVal val="#ppt_x"/>
                                          </p:val>
                                        </p:tav>
                                        <p:tav tm="100000">
                                          <p:val>
                                            <p:strVal val="#ppt_x"/>
                                          </p:val>
                                        </p:tav>
                                      </p:tavLst>
                                    </p:anim>
                                    <p:anim calcmode="lin" valueType="num">
                                      <p:cBhvr additive="base">
                                        <p:cTn id="44"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additive="base">
                                        <p:cTn id="49" dur="500" fill="hold"/>
                                        <p:tgtEl>
                                          <p:spTgt spid="27"/>
                                        </p:tgtEl>
                                        <p:attrNameLst>
                                          <p:attrName>ppt_x</p:attrName>
                                        </p:attrNameLst>
                                      </p:cBhvr>
                                      <p:tavLst>
                                        <p:tav tm="0">
                                          <p:val>
                                            <p:strVal val="#ppt_x"/>
                                          </p:val>
                                        </p:tav>
                                        <p:tav tm="100000">
                                          <p:val>
                                            <p:strVal val="#ppt_x"/>
                                          </p:val>
                                        </p:tav>
                                      </p:tavLst>
                                    </p:anim>
                                    <p:anim calcmode="lin" valueType="num">
                                      <p:cBhvr additive="base">
                                        <p:cTn id="50" dur="500" fill="hold"/>
                                        <p:tgtEl>
                                          <p:spTgt spid="27"/>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00"/>
                                        </p:tgtEl>
                                        <p:attrNameLst>
                                          <p:attrName>style.visibility</p:attrName>
                                        </p:attrNameLst>
                                      </p:cBhvr>
                                      <p:to>
                                        <p:strVal val="visible"/>
                                      </p:to>
                                    </p:set>
                                    <p:anim calcmode="lin" valueType="num">
                                      <p:cBhvr additive="base">
                                        <p:cTn id="53" dur="500" fill="hold"/>
                                        <p:tgtEl>
                                          <p:spTgt spid="100"/>
                                        </p:tgtEl>
                                        <p:attrNameLst>
                                          <p:attrName>ppt_x</p:attrName>
                                        </p:attrNameLst>
                                      </p:cBhvr>
                                      <p:tavLst>
                                        <p:tav tm="0">
                                          <p:val>
                                            <p:strVal val="#ppt_x"/>
                                          </p:val>
                                        </p:tav>
                                        <p:tav tm="100000">
                                          <p:val>
                                            <p:strVal val="#ppt_x"/>
                                          </p:val>
                                        </p:tav>
                                      </p:tavLst>
                                    </p:anim>
                                    <p:anim calcmode="lin" valueType="num">
                                      <p:cBhvr additive="base">
                                        <p:cTn id="54" dur="500" fill="hold"/>
                                        <p:tgtEl>
                                          <p:spTgt spid="100"/>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13"/>
                                        </p:tgtEl>
                                        <p:attrNameLst>
                                          <p:attrName>style.visibility</p:attrName>
                                        </p:attrNameLst>
                                      </p:cBhvr>
                                      <p:to>
                                        <p:strVal val="visible"/>
                                      </p:to>
                                    </p:set>
                                    <p:anim calcmode="lin" valueType="num">
                                      <p:cBhvr additive="base">
                                        <p:cTn id="57" dur="500" fill="hold"/>
                                        <p:tgtEl>
                                          <p:spTgt spid="113"/>
                                        </p:tgtEl>
                                        <p:attrNameLst>
                                          <p:attrName>ppt_x</p:attrName>
                                        </p:attrNameLst>
                                      </p:cBhvr>
                                      <p:tavLst>
                                        <p:tav tm="0">
                                          <p:val>
                                            <p:strVal val="#ppt_x"/>
                                          </p:val>
                                        </p:tav>
                                        <p:tav tm="100000">
                                          <p:val>
                                            <p:strVal val="#ppt_x"/>
                                          </p:val>
                                        </p:tav>
                                      </p:tavLst>
                                    </p:anim>
                                    <p:anim calcmode="lin" valueType="num">
                                      <p:cBhvr additive="base">
                                        <p:cTn id="58" dur="500" fill="hold"/>
                                        <p:tgtEl>
                                          <p:spTgt spid="113"/>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04"/>
                                        </p:tgtEl>
                                        <p:attrNameLst>
                                          <p:attrName>style.visibility</p:attrName>
                                        </p:attrNameLst>
                                      </p:cBhvr>
                                      <p:to>
                                        <p:strVal val="visible"/>
                                      </p:to>
                                    </p:set>
                                    <p:anim calcmode="lin" valueType="num">
                                      <p:cBhvr additive="base">
                                        <p:cTn id="61" dur="500" fill="hold"/>
                                        <p:tgtEl>
                                          <p:spTgt spid="104"/>
                                        </p:tgtEl>
                                        <p:attrNameLst>
                                          <p:attrName>ppt_x</p:attrName>
                                        </p:attrNameLst>
                                      </p:cBhvr>
                                      <p:tavLst>
                                        <p:tav tm="0">
                                          <p:val>
                                            <p:strVal val="#ppt_x"/>
                                          </p:val>
                                        </p:tav>
                                        <p:tav tm="100000">
                                          <p:val>
                                            <p:strVal val="#ppt_x"/>
                                          </p:val>
                                        </p:tav>
                                      </p:tavLst>
                                    </p:anim>
                                    <p:anim calcmode="lin" valueType="num">
                                      <p:cBhvr additive="base">
                                        <p:cTn id="62"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8"/>
                                        </p:tgtEl>
                                        <p:attrNameLst>
                                          <p:attrName>style.visibility</p:attrName>
                                        </p:attrNameLst>
                                      </p:cBhvr>
                                      <p:to>
                                        <p:strVal val="visible"/>
                                      </p:to>
                                    </p:set>
                                    <p:anim calcmode="lin" valueType="num">
                                      <p:cBhvr additive="base">
                                        <p:cTn id="67" dur="500" fill="hold"/>
                                        <p:tgtEl>
                                          <p:spTgt spid="38"/>
                                        </p:tgtEl>
                                        <p:attrNameLst>
                                          <p:attrName>ppt_x</p:attrName>
                                        </p:attrNameLst>
                                      </p:cBhvr>
                                      <p:tavLst>
                                        <p:tav tm="0">
                                          <p:val>
                                            <p:strVal val="#ppt_x"/>
                                          </p:val>
                                        </p:tav>
                                        <p:tav tm="100000">
                                          <p:val>
                                            <p:strVal val="#ppt_x"/>
                                          </p:val>
                                        </p:tav>
                                      </p:tavLst>
                                    </p:anim>
                                    <p:anim calcmode="lin" valueType="num">
                                      <p:cBhvr additive="base">
                                        <p:cTn id="68" dur="500" fill="hold"/>
                                        <p:tgtEl>
                                          <p:spTgt spid="3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64"/>
                                        </p:tgtEl>
                                        <p:attrNameLst>
                                          <p:attrName>style.visibility</p:attrName>
                                        </p:attrNameLst>
                                      </p:cBhvr>
                                      <p:to>
                                        <p:strVal val="visible"/>
                                      </p:to>
                                    </p:set>
                                    <p:anim calcmode="lin" valueType="num">
                                      <p:cBhvr additive="base">
                                        <p:cTn id="71" dur="500" fill="hold"/>
                                        <p:tgtEl>
                                          <p:spTgt spid="64"/>
                                        </p:tgtEl>
                                        <p:attrNameLst>
                                          <p:attrName>ppt_x</p:attrName>
                                        </p:attrNameLst>
                                      </p:cBhvr>
                                      <p:tavLst>
                                        <p:tav tm="0">
                                          <p:val>
                                            <p:strVal val="#ppt_x"/>
                                          </p:val>
                                        </p:tav>
                                        <p:tav tm="100000">
                                          <p:val>
                                            <p:strVal val="#ppt_x"/>
                                          </p:val>
                                        </p:tav>
                                      </p:tavLst>
                                    </p:anim>
                                    <p:anim calcmode="lin" valueType="num">
                                      <p:cBhvr additive="base">
                                        <p:cTn id="72" dur="500" fill="hold"/>
                                        <p:tgtEl>
                                          <p:spTgt spid="64"/>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65"/>
                                        </p:tgtEl>
                                        <p:attrNameLst>
                                          <p:attrName>style.visibility</p:attrName>
                                        </p:attrNameLst>
                                      </p:cBhvr>
                                      <p:to>
                                        <p:strVal val="visible"/>
                                      </p:to>
                                    </p:set>
                                    <p:anim calcmode="lin" valueType="num">
                                      <p:cBhvr additive="base">
                                        <p:cTn id="75" dur="500" fill="hold"/>
                                        <p:tgtEl>
                                          <p:spTgt spid="65"/>
                                        </p:tgtEl>
                                        <p:attrNameLst>
                                          <p:attrName>ppt_x</p:attrName>
                                        </p:attrNameLst>
                                      </p:cBhvr>
                                      <p:tavLst>
                                        <p:tav tm="0">
                                          <p:val>
                                            <p:strVal val="#ppt_x"/>
                                          </p:val>
                                        </p:tav>
                                        <p:tav tm="100000">
                                          <p:val>
                                            <p:strVal val="#ppt_x"/>
                                          </p:val>
                                        </p:tav>
                                      </p:tavLst>
                                    </p:anim>
                                    <p:anim calcmode="lin" valueType="num">
                                      <p:cBhvr additive="base">
                                        <p:cTn id="76"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54"/>
                                        </p:tgtEl>
                                        <p:attrNameLst>
                                          <p:attrName>style.visibility</p:attrName>
                                        </p:attrNameLst>
                                      </p:cBhvr>
                                      <p:to>
                                        <p:strVal val="visible"/>
                                      </p:to>
                                    </p:set>
                                    <p:anim calcmode="lin" valueType="num">
                                      <p:cBhvr additive="base">
                                        <p:cTn id="81" dur="500" fill="hold"/>
                                        <p:tgtEl>
                                          <p:spTgt spid="54"/>
                                        </p:tgtEl>
                                        <p:attrNameLst>
                                          <p:attrName>ppt_x</p:attrName>
                                        </p:attrNameLst>
                                      </p:cBhvr>
                                      <p:tavLst>
                                        <p:tav tm="0">
                                          <p:val>
                                            <p:strVal val="#ppt_x"/>
                                          </p:val>
                                        </p:tav>
                                        <p:tav tm="100000">
                                          <p:val>
                                            <p:strVal val="#ppt_x"/>
                                          </p:val>
                                        </p:tav>
                                      </p:tavLst>
                                    </p:anim>
                                    <p:anim calcmode="lin" valueType="num">
                                      <p:cBhvr additive="base">
                                        <p:cTn id="82" dur="500" fill="hold"/>
                                        <p:tgtEl>
                                          <p:spTgt spid="54"/>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83"/>
                                        </p:tgtEl>
                                        <p:attrNameLst>
                                          <p:attrName>style.visibility</p:attrName>
                                        </p:attrNameLst>
                                      </p:cBhvr>
                                      <p:to>
                                        <p:strVal val="visible"/>
                                      </p:to>
                                    </p:set>
                                    <p:anim calcmode="lin" valueType="num">
                                      <p:cBhvr additive="base">
                                        <p:cTn id="85" dur="500" fill="hold"/>
                                        <p:tgtEl>
                                          <p:spTgt spid="83"/>
                                        </p:tgtEl>
                                        <p:attrNameLst>
                                          <p:attrName>ppt_x</p:attrName>
                                        </p:attrNameLst>
                                      </p:cBhvr>
                                      <p:tavLst>
                                        <p:tav tm="0">
                                          <p:val>
                                            <p:strVal val="#ppt_x"/>
                                          </p:val>
                                        </p:tav>
                                        <p:tav tm="100000">
                                          <p:val>
                                            <p:strVal val="#ppt_x"/>
                                          </p:val>
                                        </p:tav>
                                      </p:tavLst>
                                    </p:anim>
                                    <p:anim calcmode="lin" valueType="num">
                                      <p:cBhvr additive="base">
                                        <p:cTn id="86"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95"/>
                                        </p:tgtEl>
                                        <p:attrNameLst>
                                          <p:attrName>style.visibility</p:attrName>
                                        </p:attrNameLst>
                                      </p:cBhvr>
                                      <p:to>
                                        <p:strVal val="visible"/>
                                      </p:to>
                                    </p:set>
                                    <p:anim calcmode="lin" valueType="num">
                                      <p:cBhvr additive="base">
                                        <p:cTn id="91" dur="500" fill="hold"/>
                                        <p:tgtEl>
                                          <p:spTgt spid="95"/>
                                        </p:tgtEl>
                                        <p:attrNameLst>
                                          <p:attrName>ppt_x</p:attrName>
                                        </p:attrNameLst>
                                      </p:cBhvr>
                                      <p:tavLst>
                                        <p:tav tm="0">
                                          <p:val>
                                            <p:strVal val="#ppt_x"/>
                                          </p:val>
                                        </p:tav>
                                        <p:tav tm="100000">
                                          <p:val>
                                            <p:strVal val="#ppt_x"/>
                                          </p:val>
                                        </p:tav>
                                      </p:tavLst>
                                    </p:anim>
                                    <p:anim calcmode="lin" valueType="num">
                                      <p:cBhvr additive="base">
                                        <p:cTn id="92"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94"/>
                                        </p:tgtEl>
                                        <p:attrNameLst>
                                          <p:attrName>style.visibility</p:attrName>
                                        </p:attrNameLst>
                                      </p:cBhvr>
                                      <p:to>
                                        <p:strVal val="visible"/>
                                      </p:to>
                                    </p:set>
                                    <p:anim calcmode="lin" valueType="num">
                                      <p:cBhvr additive="base">
                                        <p:cTn id="97" dur="500" fill="hold"/>
                                        <p:tgtEl>
                                          <p:spTgt spid="94"/>
                                        </p:tgtEl>
                                        <p:attrNameLst>
                                          <p:attrName>ppt_x</p:attrName>
                                        </p:attrNameLst>
                                      </p:cBhvr>
                                      <p:tavLst>
                                        <p:tav tm="0">
                                          <p:val>
                                            <p:strVal val="#ppt_x"/>
                                          </p:val>
                                        </p:tav>
                                        <p:tav tm="100000">
                                          <p:val>
                                            <p:strVal val="#ppt_x"/>
                                          </p:val>
                                        </p:tav>
                                      </p:tavLst>
                                    </p:anim>
                                    <p:anim calcmode="lin" valueType="num">
                                      <p:cBhvr additive="base">
                                        <p:cTn id="98" dur="500" fill="hold"/>
                                        <p:tgtEl>
                                          <p:spTgt spid="94"/>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99"/>
                                        </p:tgtEl>
                                        <p:attrNameLst>
                                          <p:attrName>style.visibility</p:attrName>
                                        </p:attrNameLst>
                                      </p:cBhvr>
                                      <p:to>
                                        <p:strVal val="visible"/>
                                      </p:to>
                                    </p:set>
                                    <p:anim calcmode="lin" valueType="num">
                                      <p:cBhvr additive="base">
                                        <p:cTn id="101" dur="500" fill="hold"/>
                                        <p:tgtEl>
                                          <p:spTgt spid="99"/>
                                        </p:tgtEl>
                                        <p:attrNameLst>
                                          <p:attrName>ppt_x</p:attrName>
                                        </p:attrNameLst>
                                      </p:cBhvr>
                                      <p:tavLst>
                                        <p:tav tm="0">
                                          <p:val>
                                            <p:strVal val="#ppt_x"/>
                                          </p:val>
                                        </p:tav>
                                        <p:tav tm="100000">
                                          <p:val>
                                            <p:strVal val="#ppt_x"/>
                                          </p:val>
                                        </p:tav>
                                      </p:tavLst>
                                    </p:anim>
                                    <p:anim calcmode="lin" valueType="num">
                                      <p:cBhvr additive="base">
                                        <p:cTn id="102" dur="500" fill="hold"/>
                                        <p:tgtEl>
                                          <p:spTgt spid="99"/>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98"/>
                                        </p:tgtEl>
                                        <p:attrNameLst>
                                          <p:attrName>style.visibility</p:attrName>
                                        </p:attrNameLst>
                                      </p:cBhvr>
                                      <p:to>
                                        <p:strVal val="visible"/>
                                      </p:to>
                                    </p:set>
                                    <p:anim calcmode="lin" valueType="num">
                                      <p:cBhvr additive="base">
                                        <p:cTn id="107" dur="500" fill="hold"/>
                                        <p:tgtEl>
                                          <p:spTgt spid="98"/>
                                        </p:tgtEl>
                                        <p:attrNameLst>
                                          <p:attrName>ppt_x</p:attrName>
                                        </p:attrNameLst>
                                      </p:cBhvr>
                                      <p:tavLst>
                                        <p:tav tm="0">
                                          <p:val>
                                            <p:strVal val="#ppt_x"/>
                                          </p:val>
                                        </p:tav>
                                        <p:tav tm="100000">
                                          <p:val>
                                            <p:strVal val="#ppt_x"/>
                                          </p:val>
                                        </p:tav>
                                      </p:tavLst>
                                    </p:anim>
                                    <p:anim calcmode="lin" valueType="num">
                                      <p:cBhvr additive="base">
                                        <p:cTn id="108" dur="500" fill="hold"/>
                                        <p:tgtEl>
                                          <p:spTgt spid="98"/>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111"/>
                                        </p:tgtEl>
                                        <p:attrNameLst>
                                          <p:attrName>style.visibility</p:attrName>
                                        </p:attrNameLst>
                                      </p:cBhvr>
                                      <p:to>
                                        <p:strVal val="visible"/>
                                      </p:to>
                                    </p:set>
                                    <p:anim calcmode="lin" valueType="num">
                                      <p:cBhvr additive="base">
                                        <p:cTn id="111" dur="500" fill="hold"/>
                                        <p:tgtEl>
                                          <p:spTgt spid="111"/>
                                        </p:tgtEl>
                                        <p:attrNameLst>
                                          <p:attrName>ppt_x</p:attrName>
                                        </p:attrNameLst>
                                      </p:cBhvr>
                                      <p:tavLst>
                                        <p:tav tm="0">
                                          <p:val>
                                            <p:strVal val="#ppt_x"/>
                                          </p:val>
                                        </p:tav>
                                        <p:tav tm="100000">
                                          <p:val>
                                            <p:strVal val="#ppt_x"/>
                                          </p:val>
                                        </p:tav>
                                      </p:tavLst>
                                    </p:anim>
                                    <p:anim calcmode="lin" valueType="num">
                                      <p:cBhvr additive="base">
                                        <p:cTn id="112"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93"/>
                                        </p:tgtEl>
                                        <p:attrNameLst>
                                          <p:attrName>style.visibility</p:attrName>
                                        </p:attrNameLst>
                                      </p:cBhvr>
                                      <p:to>
                                        <p:strVal val="visible"/>
                                      </p:to>
                                    </p:set>
                                    <p:anim calcmode="lin" valueType="num">
                                      <p:cBhvr additive="base">
                                        <p:cTn id="117" dur="500" fill="hold"/>
                                        <p:tgtEl>
                                          <p:spTgt spid="93"/>
                                        </p:tgtEl>
                                        <p:attrNameLst>
                                          <p:attrName>ppt_x</p:attrName>
                                        </p:attrNameLst>
                                      </p:cBhvr>
                                      <p:tavLst>
                                        <p:tav tm="0">
                                          <p:val>
                                            <p:strVal val="#ppt_x"/>
                                          </p:val>
                                        </p:tav>
                                        <p:tav tm="100000">
                                          <p:val>
                                            <p:strVal val="#ppt_x"/>
                                          </p:val>
                                        </p:tav>
                                      </p:tavLst>
                                    </p:anim>
                                    <p:anim calcmode="lin" valueType="num">
                                      <p:cBhvr additive="base">
                                        <p:cTn id="118" dur="500" fill="hold"/>
                                        <p:tgtEl>
                                          <p:spTgt spid="93"/>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112"/>
                                        </p:tgtEl>
                                        <p:attrNameLst>
                                          <p:attrName>style.visibility</p:attrName>
                                        </p:attrNameLst>
                                      </p:cBhvr>
                                      <p:to>
                                        <p:strVal val="visible"/>
                                      </p:to>
                                    </p:set>
                                    <p:anim calcmode="lin" valueType="num">
                                      <p:cBhvr additive="base">
                                        <p:cTn id="121" dur="500" fill="hold"/>
                                        <p:tgtEl>
                                          <p:spTgt spid="112"/>
                                        </p:tgtEl>
                                        <p:attrNameLst>
                                          <p:attrName>ppt_x</p:attrName>
                                        </p:attrNameLst>
                                      </p:cBhvr>
                                      <p:tavLst>
                                        <p:tav tm="0">
                                          <p:val>
                                            <p:strVal val="#ppt_x"/>
                                          </p:val>
                                        </p:tav>
                                        <p:tav tm="100000">
                                          <p:val>
                                            <p:strVal val="#ppt_x"/>
                                          </p:val>
                                        </p:tav>
                                      </p:tavLst>
                                    </p:anim>
                                    <p:anim calcmode="lin" valueType="num">
                                      <p:cBhvr additive="base">
                                        <p:cTn id="122" dur="500" fill="hold"/>
                                        <p:tgtEl>
                                          <p:spTgt spid="112"/>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119"/>
                                        </p:tgtEl>
                                        <p:attrNameLst>
                                          <p:attrName>style.visibility</p:attrName>
                                        </p:attrNameLst>
                                      </p:cBhvr>
                                      <p:to>
                                        <p:strVal val="visible"/>
                                      </p:to>
                                    </p:set>
                                    <p:anim calcmode="lin" valueType="num">
                                      <p:cBhvr additive="base">
                                        <p:cTn id="127" dur="500" fill="hold"/>
                                        <p:tgtEl>
                                          <p:spTgt spid="119"/>
                                        </p:tgtEl>
                                        <p:attrNameLst>
                                          <p:attrName>ppt_x</p:attrName>
                                        </p:attrNameLst>
                                      </p:cBhvr>
                                      <p:tavLst>
                                        <p:tav tm="0">
                                          <p:val>
                                            <p:strVal val="#ppt_x"/>
                                          </p:val>
                                        </p:tav>
                                        <p:tav tm="100000">
                                          <p:val>
                                            <p:strVal val="#ppt_x"/>
                                          </p:val>
                                        </p:tav>
                                      </p:tavLst>
                                    </p:anim>
                                    <p:anim calcmode="lin" valueType="num">
                                      <p:cBhvr additive="base">
                                        <p:cTn id="128" dur="500" fill="hold"/>
                                        <p:tgtEl>
                                          <p:spTgt spid="119"/>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120"/>
                                        </p:tgtEl>
                                        <p:attrNameLst>
                                          <p:attrName>style.visibility</p:attrName>
                                        </p:attrNameLst>
                                      </p:cBhvr>
                                      <p:to>
                                        <p:strVal val="visible"/>
                                      </p:to>
                                    </p:set>
                                    <p:anim calcmode="lin" valueType="num">
                                      <p:cBhvr additive="base">
                                        <p:cTn id="133" dur="500" fill="hold"/>
                                        <p:tgtEl>
                                          <p:spTgt spid="120"/>
                                        </p:tgtEl>
                                        <p:attrNameLst>
                                          <p:attrName>ppt_x</p:attrName>
                                        </p:attrNameLst>
                                      </p:cBhvr>
                                      <p:tavLst>
                                        <p:tav tm="0">
                                          <p:val>
                                            <p:strVal val="#ppt_x"/>
                                          </p:val>
                                        </p:tav>
                                        <p:tav tm="100000">
                                          <p:val>
                                            <p:strVal val="#ppt_x"/>
                                          </p:val>
                                        </p:tav>
                                      </p:tavLst>
                                    </p:anim>
                                    <p:anim calcmode="lin" valueType="num">
                                      <p:cBhvr additive="base">
                                        <p:cTn id="134"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p:bldP spid="93" grpId="0"/>
      <p:bldP spid="94" grpId="0"/>
      <p:bldP spid="95" grpId="0"/>
      <p:bldP spid="96" grpId="0" animBg="1"/>
      <p:bldP spid="97" grpId="0"/>
      <p:bldP spid="100" grpId="0" animBg="1"/>
      <p:bldP spid="108" grpId="0" animBg="1"/>
      <p:bldP spid="111" grpId="0"/>
      <p:bldP spid="113" grpId="0"/>
      <p:bldP spid="114" grpId="0" animBg="1"/>
      <p:bldP spid="115" grpId="0"/>
      <p:bldP spid="119" grpId="0" animBg="1"/>
      <p:bldP spid="12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a:t>
            </a:r>
            <a:r>
              <a:rPr lang="en-US" altLang="zh-CN" dirty="0"/>
              <a:t>DBMS</a:t>
            </a:r>
            <a:r>
              <a:rPr lang="zh-CN" altLang="en-US" dirty="0"/>
              <a:t>数据存储与查询实现的基本思想</a:t>
            </a:r>
            <a:endParaRPr lang="zh-CN" altLang="en-US" dirty="0"/>
          </a:p>
        </p:txBody>
      </p:sp>
      <p:grpSp>
        <p:nvGrpSpPr>
          <p:cNvPr id="202" name="Group 12"/>
          <p:cNvGrpSpPr/>
          <p:nvPr/>
        </p:nvGrpSpPr>
        <p:grpSpPr>
          <a:xfrm>
            <a:off x="7592734" y="5869461"/>
            <a:ext cx="1752590" cy="977898"/>
            <a:chOff x="3720" y="2819"/>
            <a:chExt cx="988" cy="617"/>
          </a:xfrm>
        </p:grpSpPr>
        <p:sp>
          <p:nvSpPr>
            <p:cNvPr id="203" name="Rectangle 13"/>
            <p:cNvSpPr/>
            <p:nvPr/>
          </p:nvSpPr>
          <p:spPr>
            <a:xfrm>
              <a:off x="4058" y="2819"/>
              <a:ext cx="307" cy="194"/>
            </a:xfrm>
            <a:prstGeom prst="rect">
              <a:avLst/>
            </a:prstGeom>
            <a:noFill/>
            <a:ln w="9525">
              <a:noFill/>
            </a:ln>
          </p:spPr>
          <p:txBody>
            <a:bodyPr wrap="none" anchor="t">
              <a:spAutoFit/>
            </a:bodyPr>
            <a:lstStyle/>
            <a:p>
              <a:r>
                <a:rPr lang="zh-CN" altLang="en-US" sz="1400" b="1" dirty="0">
                  <a:latin typeface="微软雅黑" panose="020B0503020204020204" pitchFamily="34" charset="-122"/>
                  <a:ea typeface="微软雅黑" panose="020B0503020204020204" pitchFamily="34" charset="-122"/>
                </a:rPr>
                <a:t>磁盘</a:t>
              </a:r>
              <a:endParaRPr lang="zh-CN" altLang="en-US" sz="1400" b="1" dirty="0">
                <a:latin typeface="微软雅黑" panose="020B0503020204020204" pitchFamily="34" charset="-122"/>
                <a:ea typeface="微软雅黑" panose="020B0503020204020204" pitchFamily="34" charset="-122"/>
              </a:endParaRPr>
            </a:p>
          </p:txBody>
        </p:sp>
        <p:sp>
          <p:nvSpPr>
            <p:cNvPr id="204" name="AutoShape 14"/>
            <p:cNvSpPr/>
            <p:nvPr/>
          </p:nvSpPr>
          <p:spPr>
            <a:xfrm>
              <a:off x="3720" y="2858"/>
              <a:ext cx="988" cy="578"/>
            </a:xfrm>
            <a:prstGeom prst="can">
              <a:avLst>
                <a:gd name="adj" fmla="val 19273"/>
              </a:avLst>
            </a:prstGeom>
            <a:noFill/>
            <a:ln w="9525" cap="flat" cmpd="sng">
              <a:solidFill>
                <a:schemeClr val="tx1"/>
              </a:solidFill>
              <a:prstDash val="solid"/>
              <a:round/>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sp>
          <p:nvSpPr>
            <p:cNvPr id="205" name="Rectangle 15"/>
            <p:cNvSpPr/>
            <p:nvPr/>
          </p:nvSpPr>
          <p:spPr>
            <a:xfrm>
              <a:off x="3855" y="3113"/>
              <a:ext cx="735" cy="291"/>
            </a:xfrm>
            <a:prstGeom prst="rect">
              <a:avLst/>
            </a:prstGeom>
            <a:noFill/>
            <a:ln w="9525">
              <a:noFill/>
            </a:ln>
          </p:spPr>
          <p:txBody>
            <a:bodyPr wrap="square" anchor="t">
              <a:spAutoFit/>
            </a:bodyPr>
            <a:lstStyle/>
            <a:p>
              <a:pPr algn="ctr"/>
              <a:r>
                <a:rPr lang="zh-CN" altLang="en-US" sz="1200" b="1" dirty="0">
                  <a:solidFill>
                    <a:schemeClr val="accent2"/>
                  </a:solidFill>
                  <a:latin typeface="微软雅黑" panose="020B0503020204020204" pitchFamily="34" charset="-122"/>
                  <a:ea typeface="微软雅黑" panose="020B0503020204020204" pitchFamily="34" charset="-122"/>
                </a:rPr>
                <a:t>盘面</a:t>
              </a:r>
              <a:r>
                <a:rPr lang="en-US" altLang="zh-CN" sz="1200" b="1" dirty="0">
                  <a:solidFill>
                    <a:schemeClr val="accent2"/>
                  </a:solidFill>
                  <a:latin typeface="微软雅黑" panose="020B0503020204020204" pitchFamily="34" charset="-122"/>
                  <a:ea typeface="微软雅黑" panose="020B0503020204020204" pitchFamily="34" charset="-122"/>
                </a:rPr>
                <a:t>:</a:t>
              </a:r>
              <a:r>
                <a:rPr lang="zh-CN" altLang="en-US" sz="1200" b="1" dirty="0">
                  <a:solidFill>
                    <a:schemeClr val="accent2"/>
                  </a:solidFill>
                  <a:latin typeface="微软雅黑" panose="020B0503020204020204" pitchFamily="34" charset="-122"/>
                  <a:ea typeface="微软雅黑" panose="020B0503020204020204" pitchFamily="34" charset="-122"/>
                </a:rPr>
                <a:t>柱面</a:t>
              </a:r>
              <a:r>
                <a:rPr lang="en-US" altLang="zh-CN" sz="1200" b="1" dirty="0">
                  <a:solidFill>
                    <a:schemeClr val="accent2"/>
                  </a:solidFill>
                  <a:latin typeface="微软雅黑" panose="020B0503020204020204" pitchFamily="34" charset="-122"/>
                  <a:ea typeface="微软雅黑" panose="020B0503020204020204" pitchFamily="34" charset="-122"/>
                </a:rPr>
                <a:t>:</a:t>
              </a:r>
              <a:r>
                <a:rPr lang="zh-CN" altLang="en-US" sz="1200" b="1" dirty="0">
                  <a:solidFill>
                    <a:schemeClr val="accent2"/>
                  </a:solidFill>
                  <a:latin typeface="微软雅黑" panose="020B0503020204020204" pitchFamily="34" charset="-122"/>
                  <a:ea typeface="微软雅黑" panose="020B0503020204020204" pitchFamily="34" charset="-122"/>
                </a:rPr>
                <a:t>扇区</a:t>
              </a:r>
              <a:endParaRPr lang="zh-CN" altLang="en-US" sz="1200" b="1" dirty="0">
                <a:solidFill>
                  <a:schemeClr val="accent2"/>
                </a:solidFill>
                <a:latin typeface="微软雅黑" panose="020B0503020204020204" pitchFamily="34" charset="-122"/>
                <a:ea typeface="微软雅黑" panose="020B0503020204020204" pitchFamily="34" charset="-122"/>
              </a:endParaRPr>
            </a:p>
            <a:p>
              <a:pPr algn="ctr"/>
              <a:r>
                <a:rPr lang="zh-CN" altLang="en-US" sz="1200" b="1" dirty="0">
                  <a:solidFill>
                    <a:schemeClr val="accent2"/>
                  </a:solidFill>
                  <a:latin typeface="微软雅黑" panose="020B0503020204020204" pitchFamily="34" charset="-122"/>
                  <a:ea typeface="微软雅黑" panose="020B0503020204020204" pitchFamily="34" charset="-122"/>
                </a:rPr>
                <a:t>簇</a:t>
              </a:r>
              <a:r>
                <a:rPr lang="en-US" altLang="zh-CN" sz="1200" b="1" dirty="0">
                  <a:solidFill>
                    <a:schemeClr val="accent2"/>
                  </a:solidFill>
                  <a:latin typeface="微软雅黑" panose="020B0503020204020204" pitchFamily="34" charset="-122"/>
                  <a:ea typeface="微软雅黑" panose="020B0503020204020204" pitchFamily="34" charset="-122"/>
                </a:rPr>
                <a:t>/</a:t>
              </a:r>
              <a:r>
                <a:rPr lang="zh-CN" altLang="en-US" sz="1200" b="1" dirty="0">
                  <a:solidFill>
                    <a:schemeClr val="accent2"/>
                  </a:solidFill>
                  <a:latin typeface="微软雅黑" panose="020B0503020204020204" pitchFamily="34" charset="-122"/>
                  <a:ea typeface="微软雅黑" panose="020B0503020204020204" pitchFamily="34" charset="-122"/>
                </a:rPr>
                <a:t>磁盘块</a:t>
              </a:r>
              <a:endParaRPr lang="zh-CN" altLang="en-US" sz="1200" b="1" dirty="0">
                <a:solidFill>
                  <a:schemeClr val="accent2"/>
                </a:solidFill>
                <a:latin typeface="微软雅黑" panose="020B0503020204020204" pitchFamily="34" charset="-122"/>
                <a:ea typeface="微软雅黑" panose="020B0503020204020204" pitchFamily="34" charset="-122"/>
              </a:endParaRPr>
            </a:p>
          </p:txBody>
        </p:sp>
        <p:sp>
          <p:nvSpPr>
            <p:cNvPr id="206" name="Text Box 16"/>
            <p:cNvSpPr txBox="1"/>
            <p:nvPr/>
          </p:nvSpPr>
          <p:spPr>
            <a:xfrm>
              <a:off x="3926" y="2972"/>
              <a:ext cx="601" cy="194"/>
            </a:xfrm>
            <a:prstGeom prst="rect">
              <a:avLst/>
            </a:prstGeom>
            <a:noFill/>
            <a:ln w="9525">
              <a:noFill/>
            </a:ln>
          </p:spPr>
          <p:txBody>
            <a:bodyPr wrap="square" anchor="t">
              <a:spAutoFit/>
            </a:bodyPr>
            <a:lstStyle/>
            <a:p>
              <a:pPr algn="ctr" defTabSz="1024255"/>
              <a:r>
                <a:rPr lang="en-US" altLang="zh-CN" sz="1400" b="1" dirty="0">
                  <a:solidFill>
                    <a:srgbClr val="FF0000"/>
                  </a:solidFill>
                  <a:latin typeface="微软雅黑" panose="020B0503020204020204" pitchFamily="34" charset="-122"/>
                  <a:ea typeface="微软雅黑" panose="020B0503020204020204" pitchFamily="34" charset="-122"/>
                </a:rPr>
                <a:t>DataBase</a:t>
              </a:r>
              <a:endParaRPr lang="en-US" altLang="zh-CN" sz="1400" b="1" dirty="0">
                <a:solidFill>
                  <a:srgbClr val="FF0000"/>
                </a:solidFill>
                <a:latin typeface="微软雅黑" panose="020B0503020204020204" pitchFamily="34" charset="-122"/>
                <a:ea typeface="微软雅黑" panose="020B0503020204020204" pitchFamily="34" charset="-122"/>
              </a:endParaRPr>
            </a:p>
          </p:txBody>
        </p:sp>
      </p:grpSp>
      <p:grpSp>
        <p:nvGrpSpPr>
          <p:cNvPr id="207" name="Group 17"/>
          <p:cNvGrpSpPr/>
          <p:nvPr/>
        </p:nvGrpSpPr>
        <p:grpSpPr>
          <a:xfrm>
            <a:off x="7354121" y="4932864"/>
            <a:ext cx="2181694" cy="800325"/>
            <a:chOff x="4899" y="2864"/>
            <a:chExt cx="816" cy="629"/>
          </a:xfrm>
        </p:grpSpPr>
        <p:sp>
          <p:nvSpPr>
            <p:cNvPr id="208" name="Rectangle 18"/>
            <p:cNvSpPr/>
            <p:nvPr/>
          </p:nvSpPr>
          <p:spPr>
            <a:xfrm>
              <a:off x="5202" y="2864"/>
              <a:ext cx="203" cy="242"/>
            </a:xfrm>
            <a:prstGeom prst="rect">
              <a:avLst/>
            </a:prstGeom>
            <a:noFill/>
            <a:ln w="9525">
              <a:noFill/>
            </a:ln>
          </p:spPr>
          <p:txBody>
            <a:bodyPr wrap="none" anchor="t">
              <a:spAutoFit/>
            </a:bodyPr>
            <a:lstStyle/>
            <a:p>
              <a:r>
                <a:rPr lang="zh-CN" altLang="en-US" sz="1400" b="1" dirty="0">
                  <a:latin typeface="微软雅黑" panose="020B0503020204020204" pitchFamily="34" charset="-122"/>
                  <a:ea typeface="微软雅黑" panose="020B0503020204020204" pitchFamily="34" charset="-122"/>
                </a:rPr>
                <a:t>内存</a:t>
              </a:r>
              <a:endParaRPr lang="zh-CN" altLang="en-US" sz="1400" b="1" dirty="0">
                <a:latin typeface="微软雅黑" panose="020B0503020204020204" pitchFamily="34" charset="-122"/>
                <a:ea typeface="微软雅黑" panose="020B0503020204020204" pitchFamily="34" charset="-122"/>
              </a:endParaRPr>
            </a:p>
          </p:txBody>
        </p:sp>
        <p:sp>
          <p:nvSpPr>
            <p:cNvPr id="209" name="AutoShape 19"/>
            <p:cNvSpPr/>
            <p:nvPr/>
          </p:nvSpPr>
          <p:spPr>
            <a:xfrm>
              <a:off x="4899" y="2903"/>
              <a:ext cx="816" cy="590"/>
            </a:xfrm>
            <a:prstGeom prst="can">
              <a:avLst>
                <a:gd name="adj" fmla="val 22880"/>
              </a:avLst>
            </a:prstGeom>
            <a:noFill/>
            <a:ln w="9525" cap="flat" cmpd="sng">
              <a:solidFill>
                <a:srgbClr val="6666FF"/>
              </a:solidFill>
              <a:prstDash val="solid"/>
              <a:round/>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sp>
          <p:nvSpPr>
            <p:cNvPr id="210" name="Rectangle 20"/>
            <p:cNvSpPr/>
            <p:nvPr/>
          </p:nvSpPr>
          <p:spPr>
            <a:xfrm>
              <a:off x="5058" y="3267"/>
              <a:ext cx="515" cy="218"/>
            </a:xfrm>
            <a:prstGeom prst="rect">
              <a:avLst/>
            </a:prstGeom>
            <a:noFill/>
            <a:ln w="9525">
              <a:noFill/>
            </a:ln>
          </p:spPr>
          <p:txBody>
            <a:bodyPr wrap="none" anchor="t">
              <a:spAutoFit/>
            </a:bodyPr>
            <a:lstStyle/>
            <a:p>
              <a:pPr algn="ctr"/>
              <a:r>
                <a:rPr lang="zh-CN" altLang="en-US" sz="1200" b="1" dirty="0">
                  <a:solidFill>
                    <a:schemeClr val="accent2"/>
                  </a:solidFill>
                  <a:latin typeface="微软雅黑" panose="020B0503020204020204" pitchFamily="34" charset="-122"/>
                  <a:ea typeface="微软雅黑" panose="020B0503020204020204" pitchFamily="34" charset="-122"/>
                </a:rPr>
                <a:t>内存页</a:t>
              </a:r>
              <a:r>
                <a:rPr lang="en-US" altLang="zh-CN" sz="1200" b="1" dirty="0">
                  <a:solidFill>
                    <a:schemeClr val="accent2"/>
                  </a:solidFill>
                  <a:latin typeface="微软雅黑" panose="020B0503020204020204" pitchFamily="34" charset="-122"/>
                  <a:ea typeface="微软雅黑" panose="020B0503020204020204" pitchFamily="34" charset="-122"/>
                </a:rPr>
                <a:t>/</a:t>
              </a:r>
              <a:r>
                <a:rPr lang="zh-CN" altLang="en-US" sz="1200" b="1" dirty="0">
                  <a:solidFill>
                    <a:schemeClr val="accent2"/>
                  </a:solidFill>
                  <a:latin typeface="微软雅黑" panose="020B0503020204020204" pitchFamily="34" charset="-122"/>
                  <a:ea typeface="微软雅黑" panose="020B0503020204020204" pitchFamily="34" charset="-122"/>
                </a:rPr>
                <a:t>块</a:t>
              </a:r>
              <a:r>
                <a:rPr lang="en-US" altLang="zh-CN" sz="1200" b="1" dirty="0">
                  <a:solidFill>
                    <a:schemeClr val="accent2"/>
                  </a:solidFill>
                  <a:latin typeface="微软雅黑" panose="020B0503020204020204" pitchFamily="34" charset="-122"/>
                  <a:ea typeface="微软雅黑" panose="020B0503020204020204" pitchFamily="34" charset="-122"/>
                </a:rPr>
                <a:t>:</a:t>
              </a:r>
              <a:r>
                <a:rPr lang="zh-CN" altLang="en-US" sz="1200" b="1" dirty="0">
                  <a:solidFill>
                    <a:schemeClr val="accent2"/>
                  </a:solidFill>
                  <a:latin typeface="微软雅黑" panose="020B0503020204020204" pitchFamily="34" charset="-122"/>
                  <a:ea typeface="微软雅黑" panose="020B0503020204020204" pitchFamily="34" charset="-122"/>
                </a:rPr>
                <a:t>偏置量</a:t>
              </a:r>
              <a:endParaRPr lang="zh-CN" altLang="en-US" sz="1200" b="1" dirty="0">
                <a:solidFill>
                  <a:schemeClr val="accent2"/>
                </a:solidFill>
                <a:latin typeface="微软雅黑" panose="020B0503020204020204" pitchFamily="34" charset="-122"/>
                <a:ea typeface="微软雅黑" panose="020B0503020204020204" pitchFamily="34" charset="-122"/>
              </a:endParaRPr>
            </a:p>
          </p:txBody>
        </p:sp>
        <p:sp>
          <p:nvSpPr>
            <p:cNvPr id="211" name="Text Box 21"/>
            <p:cNvSpPr txBox="1"/>
            <p:nvPr/>
          </p:nvSpPr>
          <p:spPr>
            <a:xfrm>
              <a:off x="5007" y="3081"/>
              <a:ext cx="616" cy="242"/>
            </a:xfrm>
            <a:prstGeom prst="rect">
              <a:avLst/>
            </a:prstGeom>
            <a:noFill/>
            <a:ln w="9525">
              <a:noFill/>
            </a:ln>
          </p:spPr>
          <p:txBody>
            <a:bodyPr wrap="none" anchor="t">
              <a:spAutoFit/>
            </a:bodyPr>
            <a:lstStyle/>
            <a:p>
              <a:pPr algn="ctr" defTabSz="1024255"/>
              <a:r>
                <a:rPr lang="en-US" altLang="zh-CN" sz="1400" b="1" dirty="0" err="1">
                  <a:solidFill>
                    <a:srgbClr val="FF0000"/>
                  </a:solidFill>
                  <a:latin typeface="微软雅黑" panose="020B0503020204020204" pitchFamily="34" charset="-122"/>
                  <a:ea typeface="微软雅黑" panose="020B0503020204020204" pitchFamily="34" charset="-122"/>
                </a:rPr>
                <a:t>DataBase</a:t>
              </a:r>
              <a:r>
                <a:rPr lang="en-US" altLang="zh-CN" sz="1400" b="1" dirty="0">
                  <a:solidFill>
                    <a:srgbClr val="FF0000"/>
                  </a:solidFill>
                  <a:latin typeface="微软雅黑" panose="020B0503020204020204" pitchFamily="34" charset="-122"/>
                  <a:ea typeface="微软雅黑" panose="020B0503020204020204" pitchFamily="34" charset="-122"/>
                </a:rPr>
                <a:t> Buffer</a:t>
              </a:r>
              <a:endParaRPr lang="en-US" altLang="zh-CN" sz="1400" b="1" dirty="0">
                <a:solidFill>
                  <a:srgbClr val="FF0000"/>
                </a:solidFill>
                <a:latin typeface="微软雅黑" panose="020B0503020204020204" pitchFamily="34" charset="-122"/>
                <a:ea typeface="微软雅黑" panose="020B0503020204020204" pitchFamily="34" charset="-122"/>
              </a:endParaRPr>
            </a:p>
          </p:txBody>
        </p:sp>
      </p:grpSp>
      <p:sp>
        <p:nvSpPr>
          <p:cNvPr id="212" name="AutoShape 28"/>
          <p:cNvSpPr/>
          <p:nvPr/>
        </p:nvSpPr>
        <p:spPr>
          <a:xfrm>
            <a:off x="8342029" y="5692273"/>
            <a:ext cx="200025" cy="242625"/>
          </a:xfrm>
          <a:prstGeom prst="upDownArrow">
            <a:avLst>
              <a:gd name="adj1" fmla="val 50000"/>
              <a:gd name="adj2" fmla="val 30620"/>
            </a:avLst>
          </a:prstGeom>
          <a:solidFill>
            <a:schemeClr val="accent2"/>
          </a:solidFill>
          <a:ln w="9525" cap="flat" cmpd="sng">
            <a:solidFill>
              <a:schemeClr val="accent2"/>
            </a:solidFill>
            <a:prstDash val="solid"/>
            <a:miter/>
            <a:headEnd type="none" w="med" len="med"/>
            <a:tailEnd type="none" w="med" len="med"/>
          </a:ln>
        </p:spPr>
        <p:txBody>
          <a:bodyPr vert="eaVert" wrap="none" anchor="ctr"/>
          <a:lstStyle/>
          <a:p>
            <a:pPr algn="ctr"/>
            <a:endParaRPr lang="zh-CN" altLang="en-US" b="1" dirty="0">
              <a:latin typeface="Times New Roman" panose="02020603050405020304" pitchFamily="18" charset="0"/>
              <a:ea typeface="楷体_GB2312" pitchFamily="49" charset="-122"/>
            </a:endParaRPr>
          </a:p>
        </p:txBody>
      </p:sp>
      <p:grpSp>
        <p:nvGrpSpPr>
          <p:cNvPr id="213" name="Group 34"/>
          <p:cNvGrpSpPr/>
          <p:nvPr/>
        </p:nvGrpSpPr>
        <p:grpSpPr>
          <a:xfrm>
            <a:off x="1625602" y="5013094"/>
            <a:ext cx="1066800" cy="523875"/>
            <a:chOff x="816" y="2928"/>
            <a:chExt cx="672" cy="330"/>
          </a:xfrm>
        </p:grpSpPr>
        <p:sp>
          <p:nvSpPr>
            <p:cNvPr id="214" name="Text Box 35"/>
            <p:cNvSpPr txBox="1"/>
            <p:nvPr/>
          </p:nvSpPr>
          <p:spPr>
            <a:xfrm>
              <a:off x="888" y="2928"/>
              <a:ext cx="528" cy="330"/>
            </a:xfrm>
            <a:prstGeom prst="rect">
              <a:avLst/>
            </a:prstGeom>
            <a:noFill/>
            <a:ln w="9525">
              <a:noFill/>
            </a:ln>
          </p:spPr>
          <p:txBody>
            <a:bodyPr anchor="t">
              <a:spAutoFit/>
            </a:bodyPr>
            <a:lstStyle/>
            <a:p>
              <a:pPr algn="ctr"/>
              <a:r>
                <a:rPr lang="zh-CN" altLang="en-US" sz="1400" b="1" dirty="0">
                  <a:latin typeface="微软雅黑" panose="020B0503020204020204" pitchFamily="34" charset="-122"/>
                  <a:ea typeface="微软雅黑" panose="020B0503020204020204" pitchFamily="34" charset="-122"/>
                </a:rPr>
                <a:t>缓冲区管理器</a:t>
              </a:r>
              <a:endParaRPr lang="zh-CN" altLang="en-US" sz="1400" b="1" dirty="0">
                <a:latin typeface="微软雅黑" panose="020B0503020204020204" pitchFamily="34" charset="-122"/>
                <a:ea typeface="微软雅黑" panose="020B0503020204020204" pitchFamily="34" charset="-122"/>
              </a:endParaRPr>
            </a:p>
          </p:txBody>
        </p:sp>
        <p:sp>
          <p:nvSpPr>
            <p:cNvPr id="215" name="Rectangle 36"/>
            <p:cNvSpPr/>
            <p:nvPr/>
          </p:nvSpPr>
          <p:spPr>
            <a:xfrm>
              <a:off x="816" y="2947"/>
              <a:ext cx="672"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grpSp>
      <p:grpSp>
        <p:nvGrpSpPr>
          <p:cNvPr id="216" name="Group 37"/>
          <p:cNvGrpSpPr/>
          <p:nvPr/>
        </p:nvGrpSpPr>
        <p:grpSpPr>
          <a:xfrm>
            <a:off x="1636714" y="6311669"/>
            <a:ext cx="1073150" cy="457200"/>
            <a:chOff x="864" y="3504"/>
            <a:chExt cx="676" cy="288"/>
          </a:xfrm>
        </p:grpSpPr>
        <p:sp>
          <p:nvSpPr>
            <p:cNvPr id="217" name="Text Box 38"/>
            <p:cNvSpPr txBox="1"/>
            <p:nvPr/>
          </p:nvSpPr>
          <p:spPr>
            <a:xfrm>
              <a:off x="864" y="3559"/>
              <a:ext cx="676" cy="192"/>
            </a:xfrm>
            <a:prstGeom prst="rect">
              <a:avLst/>
            </a:prstGeom>
            <a:noFill/>
            <a:ln w="9525">
              <a:noFill/>
            </a:ln>
          </p:spPr>
          <p:txBody>
            <a:bodyPr wrap="none" anchor="t">
              <a:spAutoFit/>
            </a:bodyPr>
            <a:lstStyle/>
            <a:p>
              <a:r>
                <a:rPr lang="zh-CN" altLang="en-US" sz="1400" b="1" dirty="0">
                  <a:latin typeface="微软雅黑" panose="020B0503020204020204" pitchFamily="34" charset="-122"/>
                  <a:ea typeface="微软雅黑" panose="020B0503020204020204" pitchFamily="34" charset="-122"/>
                </a:rPr>
                <a:t>存储管理器</a:t>
              </a:r>
              <a:endParaRPr lang="zh-CN" altLang="en-US" sz="1400" b="1" dirty="0">
                <a:latin typeface="微软雅黑" panose="020B0503020204020204" pitchFamily="34" charset="-122"/>
                <a:ea typeface="微软雅黑" panose="020B0503020204020204" pitchFamily="34" charset="-122"/>
              </a:endParaRPr>
            </a:p>
          </p:txBody>
        </p:sp>
        <p:sp>
          <p:nvSpPr>
            <p:cNvPr id="218" name="Rectangle 39"/>
            <p:cNvSpPr/>
            <p:nvPr/>
          </p:nvSpPr>
          <p:spPr>
            <a:xfrm>
              <a:off x="866" y="3504"/>
              <a:ext cx="672"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grpSp>
      <p:sp>
        <p:nvSpPr>
          <p:cNvPr id="219" name="Line 42"/>
          <p:cNvSpPr/>
          <p:nvPr/>
        </p:nvSpPr>
        <p:spPr>
          <a:xfrm>
            <a:off x="2212977" y="5486169"/>
            <a:ext cx="0" cy="820737"/>
          </a:xfrm>
          <a:prstGeom prst="line">
            <a:avLst/>
          </a:prstGeom>
          <a:ln w="9525" cap="flat" cmpd="sng">
            <a:solidFill>
              <a:schemeClr val="tx1"/>
            </a:solidFill>
            <a:prstDash val="solid"/>
            <a:round/>
            <a:headEnd type="triangle" w="med" len="med"/>
            <a:tailEnd type="triangle" w="med" len="med"/>
          </a:ln>
        </p:spPr>
      </p:sp>
      <p:sp>
        <p:nvSpPr>
          <p:cNvPr id="220" name="Rectangle 43"/>
          <p:cNvSpPr/>
          <p:nvPr/>
        </p:nvSpPr>
        <p:spPr>
          <a:xfrm>
            <a:off x="1674814" y="5675081"/>
            <a:ext cx="609600" cy="457200"/>
          </a:xfrm>
          <a:prstGeom prst="rect">
            <a:avLst/>
          </a:prstGeom>
          <a:noFill/>
          <a:ln w="9525">
            <a:noFill/>
          </a:ln>
        </p:spPr>
        <p:txBody>
          <a:bodyPr anchor="t">
            <a:spAutoFit/>
          </a:bodyPr>
          <a:lstStyle/>
          <a:p>
            <a:pPr algn="ctr"/>
            <a:r>
              <a:rPr lang="zh-CN" altLang="en-US" sz="1200" b="1" dirty="0">
                <a:solidFill>
                  <a:srgbClr val="FF0000"/>
                </a:solidFill>
                <a:latin typeface="微软雅黑" panose="020B0503020204020204" pitchFamily="34" charset="-122"/>
                <a:ea typeface="微软雅黑" panose="020B0503020204020204" pitchFamily="34" charset="-122"/>
              </a:rPr>
              <a:t>读页</a:t>
            </a:r>
            <a:r>
              <a:rPr lang="en-US" altLang="zh-CN" sz="1200" b="1" dirty="0">
                <a:solidFill>
                  <a:srgbClr val="FF0000"/>
                </a:solidFill>
                <a:latin typeface="微软雅黑" panose="020B0503020204020204" pitchFamily="34" charset="-122"/>
                <a:ea typeface="微软雅黑" panose="020B0503020204020204" pitchFamily="34" charset="-122"/>
              </a:rPr>
              <a:t>/</a:t>
            </a:r>
            <a:r>
              <a:rPr lang="zh-CN" altLang="en-US" sz="1200" b="1" dirty="0">
                <a:solidFill>
                  <a:srgbClr val="FF0000"/>
                </a:solidFill>
                <a:latin typeface="微软雅黑" panose="020B0503020204020204" pitchFamily="34" charset="-122"/>
                <a:ea typeface="微软雅黑" panose="020B0503020204020204" pitchFamily="34" charset="-122"/>
              </a:rPr>
              <a:t>写页</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222" name="Text Box 45"/>
          <p:cNvSpPr txBox="1"/>
          <p:nvPr/>
        </p:nvSpPr>
        <p:spPr>
          <a:xfrm>
            <a:off x="3890963" y="6238875"/>
            <a:ext cx="1098550" cy="274638"/>
          </a:xfrm>
          <a:prstGeom prst="rect">
            <a:avLst/>
          </a:prstGeom>
          <a:noFill/>
          <a:ln w="9525">
            <a:noFill/>
          </a:ln>
        </p:spPr>
        <p:txBody>
          <a:bodyPr wrap="none" anchor="t">
            <a:spAutoFit/>
          </a:bodyPr>
          <a:lstStyle/>
          <a:p>
            <a:pPr defTabSz="1024255"/>
            <a:r>
              <a:rPr lang="zh-CN" altLang="en-US" sz="1200" b="1" dirty="0">
                <a:solidFill>
                  <a:srgbClr val="FF0000"/>
                </a:solidFill>
                <a:latin typeface="微软雅黑" panose="020B0503020204020204" pitchFamily="34" charset="-122"/>
                <a:ea typeface="微软雅黑" panose="020B0503020204020204" pitchFamily="34" charset="-122"/>
              </a:rPr>
              <a:t>控制磁盘读写</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223" name="Line 46"/>
          <p:cNvSpPr/>
          <p:nvPr/>
        </p:nvSpPr>
        <p:spPr>
          <a:xfrm>
            <a:off x="2695577" y="5299767"/>
            <a:ext cx="4457698" cy="6188"/>
          </a:xfrm>
          <a:prstGeom prst="line">
            <a:avLst/>
          </a:prstGeom>
          <a:ln w="9525" cap="flat" cmpd="sng">
            <a:solidFill>
              <a:schemeClr val="tx1"/>
            </a:solidFill>
            <a:prstDash val="solid"/>
            <a:round/>
            <a:headEnd type="none" w="med" len="med"/>
            <a:tailEnd type="triangle" w="med" len="med"/>
          </a:ln>
        </p:spPr>
      </p:sp>
      <p:sp>
        <p:nvSpPr>
          <p:cNvPr id="224" name="Text Box 47"/>
          <p:cNvSpPr txBox="1"/>
          <p:nvPr/>
        </p:nvSpPr>
        <p:spPr>
          <a:xfrm>
            <a:off x="3243263" y="5032375"/>
            <a:ext cx="2541587" cy="274638"/>
          </a:xfrm>
          <a:prstGeom prst="rect">
            <a:avLst/>
          </a:prstGeom>
          <a:noFill/>
          <a:ln w="9525">
            <a:noFill/>
          </a:ln>
        </p:spPr>
        <p:txBody>
          <a:bodyPr wrap="none" anchor="t">
            <a:spAutoFit/>
          </a:bodyPr>
          <a:lstStyle/>
          <a:p>
            <a:pPr defTabSz="1024255"/>
            <a:r>
              <a:rPr lang="zh-CN" altLang="en-US" sz="1200" b="1" dirty="0">
                <a:solidFill>
                  <a:srgbClr val="FF0000"/>
                </a:solidFill>
                <a:latin typeface="微软雅黑" panose="020B0503020204020204" pitchFamily="34" charset="-122"/>
                <a:ea typeface="微软雅黑" panose="020B0503020204020204" pitchFamily="34" charset="-122"/>
              </a:rPr>
              <a:t>控制内存分配，内存块</a:t>
            </a:r>
            <a:r>
              <a:rPr lang="en-US" altLang="zh-CN" sz="1200" b="1" dirty="0">
                <a:solidFill>
                  <a:srgbClr val="FF0000"/>
                </a:solidFill>
                <a:latin typeface="微软雅黑" panose="020B0503020204020204" pitchFamily="34" charset="-122"/>
                <a:ea typeface="微软雅黑" panose="020B0503020204020204" pitchFamily="34" charset="-122"/>
              </a:rPr>
              <a:t>/</a:t>
            </a:r>
            <a:r>
              <a:rPr lang="zh-CN" altLang="en-US" sz="1200" b="1" dirty="0">
                <a:solidFill>
                  <a:srgbClr val="FF0000"/>
                </a:solidFill>
                <a:latin typeface="微软雅黑" panose="020B0503020204020204" pitchFamily="34" charset="-122"/>
                <a:ea typeface="微软雅黑" panose="020B0503020204020204" pitchFamily="34" charset="-122"/>
              </a:rPr>
              <a:t>磁盘块交换</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grpSp>
        <p:nvGrpSpPr>
          <p:cNvPr id="225" name="Group 22"/>
          <p:cNvGrpSpPr/>
          <p:nvPr/>
        </p:nvGrpSpPr>
        <p:grpSpPr>
          <a:xfrm>
            <a:off x="5703582" y="3831938"/>
            <a:ext cx="1997076" cy="919163"/>
            <a:chOff x="4471" y="2136"/>
            <a:chExt cx="1258" cy="579"/>
          </a:xfrm>
        </p:grpSpPr>
        <p:pic>
          <p:nvPicPr>
            <p:cNvPr id="226" name="Picture 23"/>
            <p:cNvPicPr>
              <a:picLocks noChangeAspect="1"/>
            </p:cNvPicPr>
            <p:nvPr/>
          </p:nvPicPr>
          <p:blipFill>
            <a:blip r:embed="rId1"/>
            <a:stretch>
              <a:fillRect/>
            </a:stretch>
          </p:blipFill>
          <p:spPr>
            <a:xfrm>
              <a:off x="4536" y="2313"/>
              <a:ext cx="1134" cy="402"/>
            </a:xfrm>
            <a:prstGeom prst="rect">
              <a:avLst/>
            </a:prstGeom>
            <a:noFill/>
            <a:ln w="9525">
              <a:noFill/>
            </a:ln>
          </p:spPr>
        </p:pic>
        <p:sp>
          <p:nvSpPr>
            <p:cNvPr id="227" name="Text Box 24"/>
            <p:cNvSpPr txBox="1"/>
            <p:nvPr/>
          </p:nvSpPr>
          <p:spPr>
            <a:xfrm>
              <a:off x="4471" y="2136"/>
              <a:ext cx="1258" cy="174"/>
            </a:xfrm>
            <a:prstGeom prst="rect">
              <a:avLst/>
            </a:prstGeom>
            <a:noFill/>
            <a:ln w="9525">
              <a:noFill/>
            </a:ln>
          </p:spPr>
          <p:txBody>
            <a:bodyPr wrap="none" anchor="t">
              <a:spAutoFit/>
            </a:bodyPr>
            <a:lstStyle/>
            <a:p>
              <a:pPr algn="ctr" defTabSz="1024255"/>
              <a:r>
                <a:rPr lang="en-US" altLang="zh-CN" sz="1200" b="1" dirty="0">
                  <a:solidFill>
                    <a:srgbClr val="FF0000"/>
                  </a:solidFill>
                  <a:latin typeface="微软雅黑" panose="020B0503020204020204" pitchFamily="34" charset="-122"/>
                  <a:ea typeface="微软雅黑" panose="020B0503020204020204" pitchFamily="34" charset="-122"/>
                </a:rPr>
                <a:t>Data </a:t>
              </a:r>
              <a:r>
                <a:rPr lang="en-US" altLang="zh-CN" sz="1200" b="1" dirty="0" err="1">
                  <a:solidFill>
                    <a:srgbClr val="FF0000"/>
                  </a:solidFill>
                  <a:latin typeface="微软雅黑" panose="020B0503020204020204" pitchFamily="34" charset="-122"/>
                  <a:ea typeface="微软雅黑" panose="020B0503020204020204" pitchFamily="34" charset="-122"/>
                </a:rPr>
                <a:t>Table:Record:Field</a:t>
              </a:r>
              <a:endParaRPr lang="en-US" altLang="zh-CN" sz="1200" b="1" dirty="0">
                <a:solidFill>
                  <a:srgbClr val="FF0000"/>
                </a:solidFill>
                <a:latin typeface="微软雅黑" panose="020B0503020204020204" pitchFamily="34" charset="-122"/>
                <a:ea typeface="微软雅黑" panose="020B0503020204020204" pitchFamily="34" charset="-122"/>
              </a:endParaRPr>
            </a:p>
          </p:txBody>
        </p:sp>
      </p:grpSp>
      <p:grpSp>
        <p:nvGrpSpPr>
          <p:cNvPr id="228" name="Group 25"/>
          <p:cNvGrpSpPr/>
          <p:nvPr/>
        </p:nvGrpSpPr>
        <p:grpSpPr>
          <a:xfrm>
            <a:off x="7377114" y="3836541"/>
            <a:ext cx="2265359" cy="739775"/>
            <a:chOff x="3158" y="2177"/>
            <a:chExt cx="1427" cy="466"/>
          </a:xfrm>
        </p:grpSpPr>
        <p:pic>
          <p:nvPicPr>
            <p:cNvPr id="229" name="Picture 26"/>
            <p:cNvPicPr>
              <a:picLocks noChangeAspect="1"/>
            </p:cNvPicPr>
            <p:nvPr/>
          </p:nvPicPr>
          <p:blipFill>
            <a:blip r:embed="rId2"/>
            <a:stretch>
              <a:fillRect/>
            </a:stretch>
          </p:blipFill>
          <p:spPr>
            <a:xfrm>
              <a:off x="3354" y="2431"/>
              <a:ext cx="1039" cy="212"/>
            </a:xfrm>
            <a:prstGeom prst="rect">
              <a:avLst/>
            </a:prstGeom>
            <a:noFill/>
            <a:ln w="9525">
              <a:noFill/>
            </a:ln>
          </p:spPr>
        </p:pic>
        <p:sp>
          <p:nvSpPr>
            <p:cNvPr id="230" name="Text Box 27"/>
            <p:cNvSpPr txBox="1"/>
            <p:nvPr/>
          </p:nvSpPr>
          <p:spPr>
            <a:xfrm>
              <a:off x="3158" y="2177"/>
              <a:ext cx="1427" cy="174"/>
            </a:xfrm>
            <a:prstGeom prst="rect">
              <a:avLst/>
            </a:prstGeom>
            <a:noFill/>
            <a:ln w="9525">
              <a:noFill/>
            </a:ln>
          </p:spPr>
          <p:txBody>
            <a:bodyPr wrap="square" anchor="t">
              <a:spAutoFit/>
            </a:bodyPr>
            <a:lstStyle/>
            <a:p>
              <a:pPr algn="ctr" defTabSz="1024255"/>
              <a:r>
                <a:rPr lang="en-US" altLang="zh-CN" sz="1200" b="1" dirty="0">
                  <a:solidFill>
                    <a:srgbClr val="FF0000"/>
                  </a:solidFill>
                  <a:latin typeface="微软雅黑" panose="020B0503020204020204" pitchFamily="34" charset="-122"/>
                  <a:ea typeface="微软雅黑" panose="020B0503020204020204" pitchFamily="34" charset="-122"/>
                </a:rPr>
                <a:t>Data Format(Scheme)</a:t>
              </a:r>
              <a:endParaRPr lang="en-US" altLang="zh-CN" sz="1200" b="1" dirty="0">
                <a:solidFill>
                  <a:srgbClr val="FF0000"/>
                </a:solidFill>
                <a:latin typeface="微软雅黑" panose="020B0503020204020204" pitchFamily="34" charset="-122"/>
                <a:ea typeface="微软雅黑" panose="020B0503020204020204" pitchFamily="34" charset="-122"/>
              </a:endParaRPr>
            </a:p>
          </p:txBody>
        </p:sp>
      </p:grpSp>
      <p:grpSp>
        <p:nvGrpSpPr>
          <p:cNvPr id="233" name="Group 31"/>
          <p:cNvGrpSpPr/>
          <p:nvPr/>
        </p:nvGrpSpPr>
        <p:grpSpPr>
          <a:xfrm>
            <a:off x="1696420" y="4033766"/>
            <a:ext cx="1066800" cy="457200"/>
            <a:chOff x="912" y="2112"/>
            <a:chExt cx="672" cy="288"/>
          </a:xfrm>
        </p:grpSpPr>
        <p:sp>
          <p:nvSpPr>
            <p:cNvPr id="234" name="Text Box 32"/>
            <p:cNvSpPr txBox="1"/>
            <p:nvPr/>
          </p:nvSpPr>
          <p:spPr>
            <a:xfrm>
              <a:off x="912" y="2112"/>
              <a:ext cx="672" cy="288"/>
            </a:xfrm>
            <a:prstGeom prst="rect">
              <a:avLst/>
            </a:prstGeom>
            <a:noFill/>
            <a:ln w="9525">
              <a:noFill/>
            </a:ln>
          </p:spPr>
          <p:txBody>
            <a:bodyPr anchor="t">
              <a:spAutoFit/>
            </a:bodyPr>
            <a:lstStyle/>
            <a:p>
              <a:pPr algn="ctr"/>
              <a:r>
                <a:rPr lang="zh-CN" altLang="en-US" sz="1200" b="1" dirty="0">
                  <a:latin typeface="微软雅黑" panose="020B0503020204020204" pitchFamily="34" charset="-122"/>
                  <a:ea typeface="微软雅黑" panose="020B0503020204020204" pitchFamily="34" charset="-122"/>
                </a:rPr>
                <a:t>索引</a:t>
              </a:r>
              <a:r>
                <a:rPr lang="en-US" altLang="zh-CN" sz="1200" b="1"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文件和记录管理器</a:t>
              </a:r>
              <a:endParaRPr lang="zh-CN" altLang="en-US" sz="1200" b="1" dirty="0">
                <a:latin typeface="微软雅黑" panose="020B0503020204020204" pitchFamily="34" charset="-122"/>
                <a:ea typeface="微软雅黑" panose="020B0503020204020204" pitchFamily="34" charset="-122"/>
              </a:endParaRPr>
            </a:p>
          </p:txBody>
        </p:sp>
        <p:sp>
          <p:nvSpPr>
            <p:cNvPr id="235" name="Rectangle 33"/>
            <p:cNvSpPr/>
            <p:nvPr/>
          </p:nvSpPr>
          <p:spPr>
            <a:xfrm>
              <a:off x="912" y="2112"/>
              <a:ext cx="672"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grpSp>
      <p:sp>
        <p:nvSpPr>
          <p:cNvPr id="236" name="Line 40"/>
          <p:cNvSpPr/>
          <p:nvPr/>
        </p:nvSpPr>
        <p:spPr>
          <a:xfrm>
            <a:off x="2169828" y="4488932"/>
            <a:ext cx="9812" cy="551779"/>
          </a:xfrm>
          <a:prstGeom prst="line">
            <a:avLst/>
          </a:prstGeom>
          <a:ln w="9525" cap="flat" cmpd="sng">
            <a:solidFill>
              <a:schemeClr val="tx1"/>
            </a:solidFill>
            <a:prstDash val="solid"/>
            <a:round/>
            <a:headEnd type="triangle" w="med" len="med"/>
            <a:tailEnd type="triangle" w="med" len="med"/>
          </a:ln>
        </p:spPr>
      </p:sp>
      <p:sp>
        <p:nvSpPr>
          <p:cNvPr id="237" name="Rectangle 41"/>
          <p:cNvSpPr/>
          <p:nvPr/>
        </p:nvSpPr>
        <p:spPr>
          <a:xfrm>
            <a:off x="1632460" y="4540813"/>
            <a:ext cx="609600" cy="457200"/>
          </a:xfrm>
          <a:prstGeom prst="rect">
            <a:avLst/>
          </a:prstGeom>
          <a:noFill/>
          <a:ln w="9525">
            <a:noFill/>
          </a:ln>
        </p:spPr>
        <p:txBody>
          <a:bodyPr anchor="t">
            <a:spAutoFit/>
          </a:bodyPr>
          <a:lstStyle/>
          <a:p>
            <a:pPr algn="ctr"/>
            <a:r>
              <a:rPr lang="zh-CN" altLang="en-US" sz="1200" b="1" dirty="0">
                <a:solidFill>
                  <a:srgbClr val="FF0000"/>
                </a:solidFill>
                <a:latin typeface="微软雅黑" panose="020B0503020204020204" pitchFamily="34" charset="-122"/>
                <a:ea typeface="微软雅黑" panose="020B0503020204020204" pitchFamily="34" charset="-122"/>
              </a:rPr>
              <a:t>页面命令</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238" name="Line 48"/>
          <p:cNvSpPr/>
          <p:nvPr/>
        </p:nvSpPr>
        <p:spPr>
          <a:xfrm flipV="1">
            <a:off x="2763221" y="4278229"/>
            <a:ext cx="2875584" cy="16119"/>
          </a:xfrm>
          <a:prstGeom prst="line">
            <a:avLst/>
          </a:prstGeom>
          <a:ln w="9525" cap="flat" cmpd="sng">
            <a:solidFill>
              <a:schemeClr val="tx1"/>
            </a:solidFill>
            <a:prstDash val="solid"/>
            <a:round/>
            <a:headEnd type="none" w="med" len="med"/>
            <a:tailEnd type="triangle" w="med" len="med"/>
          </a:ln>
        </p:spPr>
      </p:sp>
      <p:sp>
        <p:nvSpPr>
          <p:cNvPr id="239" name="Text Box 49"/>
          <p:cNvSpPr txBox="1"/>
          <p:nvPr/>
        </p:nvSpPr>
        <p:spPr>
          <a:xfrm>
            <a:off x="2951338" y="4009231"/>
            <a:ext cx="1727200" cy="274637"/>
          </a:xfrm>
          <a:prstGeom prst="rect">
            <a:avLst/>
          </a:prstGeom>
          <a:noFill/>
          <a:ln w="9525">
            <a:noFill/>
          </a:ln>
        </p:spPr>
        <p:txBody>
          <a:bodyPr wrap="square" anchor="t">
            <a:spAutoFit/>
          </a:bodyPr>
          <a:lstStyle/>
          <a:p>
            <a:pPr defTabSz="1024255"/>
            <a:r>
              <a:rPr lang="zh-CN" altLang="en-US" sz="1200" b="1" dirty="0">
                <a:solidFill>
                  <a:srgbClr val="FF0000"/>
                </a:solidFill>
                <a:latin typeface="微软雅黑" panose="020B0503020204020204" pitchFamily="34" charset="-122"/>
                <a:ea typeface="微软雅黑" panose="020B0503020204020204" pitchFamily="34" charset="-122"/>
              </a:rPr>
              <a:t>控制逻辑</a:t>
            </a:r>
            <a:r>
              <a:rPr lang="en-US" altLang="zh-CN" sz="1200" b="1" dirty="0">
                <a:solidFill>
                  <a:srgbClr val="FF0000"/>
                </a:solidFill>
                <a:latin typeface="微软雅黑" panose="020B0503020204020204" pitchFamily="34" charset="-122"/>
                <a:ea typeface="微软雅黑" panose="020B0503020204020204" pitchFamily="34" charset="-122"/>
              </a:rPr>
              <a:t>/</a:t>
            </a:r>
            <a:r>
              <a:rPr lang="zh-CN" altLang="en-US" sz="1200" b="1" dirty="0">
                <a:solidFill>
                  <a:srgbClr val="FF0000"/>
                </a:solidFill>
                <a:latin typeface="微软雅黑" panose="020B0503020204020204" pitchFamily="34" charset="-122"/>
                <a:ea typeface="微软雅黑" panose="020B0503020204020204" pitchFamily="34" charset="-122"/>
              </a:rPr>
              <a:t>物理映射</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240" name="Text Box 79"/>
          <p:cNvSpPr txBox="1"/>
          <p:nvPr/>
        </p:nvSpPr>
        <p:spPr>
          <a:xfrm>
            <a:off x="9535830" y="4055994"/>
            <a:ext cx="1300162" cy="461665"/>
          </a:xfrm>
          <a:prstGeom prst="rect">
            <a:avLst/>
          </a:prstGeom>
          <a:noFill/>
          <a:ln w="9525" cap="flat" cmpd="sng">
            <a:solidFill>
              <a:schemeClr val="accent2"/>
            </a:solidFill>
            <a:prstDash val="solid"/>
            <a:miter/>
            <a:headEnd type="none" w="med" len="med"/>
            <a:tailEnd type="none" w="med" len="med"/>
          </a:ln>
        </p:spPr>
        <p:txBody>
          <a:bodyPr anchor="t">
            <a:spAutoFit/>
          </a:bodyPr>
          <a:lstStyle/>
          <a:p>
            <a:pPr algn="ctr" defTabSz="1024255"/>
            <a:r>
              <a:rPr lang="en-US" altLang="zh-CN" sz="1200" b="1" dirty="0">
                <a:solidFill>
                  <a:srgbClr val="FF0000"/>
                </a:solidFill>
                <a:latin typeface="微软雅黑" panose="020B0503020204020204" pitchFamily="34" charset="-122"/>
                <a:ea typeface="微软雅黑" panose="020B0503020204020204" pitchFamily="34" charset="-122"/>
              </a:rPr>
              <a:t>Data Control Information</a:t>
            </a:r>
            <a:endParaRPr lang="en-US" altLang="zh-CN" sz="1200" b="1" dirty="0">
              <a:solidFill>
                <a:srgbClr val="FF0000"/>
              </a:solidFill>
              <a:latin typeface="微软雅黑" panose="020B0503020204020204" pitchFamily="34" charset="-122"/>
              <a:ea typeface="微软雅黑" panose="020B0503020204020204" pitchFamily="34" charset="-122"/>
            </a:endParaRPr>
          </a:p>
        </p:txBody>
      </p:sp>
      <p:sp>
        <p:nvSpPr>
          <p:cNvPr id="242" name="Rectangle 88"/>
          <p:cNvSpPr/>
          <p:nvPr/>
        </p:nvSpPr>
        <p:spPr>
          <a:xfrm>
            <a:off x="5638805" y="3825426"/>
            <a:ext cx="5264425" cy="1097128"/>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grpSp>
        <p:nvGrpSpPr>
          <p:cNvPr id="291" name="Group 100"/>
          <p:cNvGrpSpPr/>
          <p:nvPr/>
        </p:nvGrpSpPr>
        <p:grpSpPr>
          <a:xfrm>
            <a:off x="5979995" y="3160629"/>
            <a:ext cx="1155700" cy="457200"/>
            <a:chOff x="2851" y="1573"/>
            <a:chExt cx="728" cy="288"/>
          </a:xfrm>
        </p:grpSpPr>
        <p:sp>
          <p:nvSpPr>
            <p:cNvPr id="292" name="Text Box 51"/>
            <p:cNvSpPr txBox="1"/>
            <p:nvPr/>
          </p:nvSpPr>
          <p:spPr>
            <a:xfrm>
              <a:off x="2851" y="1644"/>
              <a:ext cx="728" cy="174"/>
            </a:xfrm>
            <a:prstGeom prst="rect">
              <a:avLst/>
            </a:prstGeom>
            <a:noFill/>
            <a:ln w="9525">
              <a:noFill/>
            </a:ln>
          </p:spPr>
          <p:txBody>
            <a:bodyPr wrap="square" anchor="t">
              <a:spAutoFit/>
            </a:bodyPr>
            <a:lstStyle/>
            <a:p>
              <a:r>
                <a:rPr lang="en-US" altLang="zh-CN" sz="1200" b="1" dirty="0">
                  <a:latin typeface="微软雅黑" panose="020B0503020204020204" pitchFamily="34" charset="-122"/>
                  <a:ea typeface="微软雅黑" panose="020B0503020204020204" pitchFamily="34" charset="-122"/>
                </a:rPr>
                <a:t>DML</a:t>
              </a:r>
              <a:r>
                <a:rPr lang="zh-CN" altLang="en-US" sz="1200" b="1" dirty="0">
                  <a:latin typeface="微软雅黑" panose="020B0503020204020204" pitchFamily="34" charset="-122"/>
                  <a:ea typeface="微软雅黑" panose="020B0503020204020204" pitchFamily="34" charset="-122"/>
                </a:rPr>
                <a:t>执行引擎</a:t>
              </a:r>
              <a:endParaRPr lang="zh-CN" altLang="en-US" sz="1200" b="1" dirty="0">
                <a:latin typeface="微软雅黑" panose="020B0503020204020204" pitchFamily="34" charset="-122"/>
                <a:ea typeface="微软雅黑" panose="020B0503020204020204" pitchFamily="34" charset="-122"/>
              </a:endParaRPr>
            </a:p>
          </p:txBody>
        </p:sp>
        <p:sp>
          <p:nvSpPr>
            <p:cNvPr id="293" name="Rectangle 52"/>
            <p:cNvSpPr/>
            <p:nvPr/>
          </p:nvSpPr>
          <p:spPr>
            <a:xfrm>
              <a:off x="2879" y="1573"/>
              <a:ext cx="672"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grpSp>
      <p:sp>
        <p:nvSpPr>
          <p:cNvPr id="294" name="Rectangle 53"/>
          <p:cNvSpPr/>
          <p:nvPr/>
        </p:nvSpPr>
        <p:spPr>
          <a:xfrm rot="20687527">
            <a:off x="3173129" y="3337372"/>
            <a:ext cx="1104900" cy="457200"/>
          </a:xfrm>
          <a:prstGeom prst="rect">
            <a:avLst/>
          </a:prstGeom>
          <a:noFill/>
          <a:ln w="9525">
            <a:noFill/>
          </a:ln>
        </p:spPr>
        <p:txBody>
          <a:bodyPr anchor="t">
            <a:spAutoFit/>
          </a:bodyPr>
          <a:lstStyle/>
          <a:p>
            <a:pPr algn="ctr"/>
            <a:r>
              <a:rPr lang="zh-CN" altLang="en-US" sz="1200" b="1" dirty="0">
                <a:solidFill>
                  <a:srgbClr val="FF0000"/>
                </a:solidFill>
                <a:latin typeface="微软雅黑" panose="020B0503020204020204" pitchFamily="34" charset="-122"/>
                <a:ea typeface="微软雅黑" panose="020B0503020204020204" pitchFamily="34" charset="-122"/>
              </a:rPr>
              <a:t>对索引、文件和记录的请求</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295" name="Line 54"/>
          <p:cNvSpPr/>
          <p:nvPr/>
        </p:nvSpPr>
        <p:spPr>
          <a:xfrm flipH="1">
            <a:off x="2253966" y="3111234"/>
            <a:ext cx="3252787" cy="839731"/>
          </a:xfrm>
          <a:prstGeom prst="line">
            <a:avLst/>
          </a:prstGeom>
          <a:ln w="19050" cap="flat" cmpd="sng">
            <a:solidFill>
              <a:schemeClr val="tx1"/>
            </a:solidFill>
            <a:prstDash val="solid"/>
            <a:round/>
            <a:headEnd type="triangle" w="med" len="med"/>
            <a:tailEnd type="triangle" w="med" len="med"/>
          </a:ln>
        </p:spPr>
      </p:sp>
      <p:sp>
        <p:nvSpPr>
          <p:cNvPr id="296" name="Rectangle 55"/>
          <p:cNvSpPr/>
          <p:nvPr/>
        </p:nvSpPr>
        <p:spPr>
          <a:xfrm>
            <a:off x="7341906" y="2784747"/>
            <a:ext cx="905956" cy="481414"/>
          </a:xfrm>
          <a:prstGeom prst="rect">
            <a:avLst/>
          </a:prstGeom>
          <a:noFill/>
          <a:ln w="9525">
            <a:noFill/>
          </a:ln>
        </p:spPr>
        <p:txBody>
          <a:bodyPr wrap="square" anchor="t">
            <a:spAutoFit/>
          </a:bodyPr>
          <a:lstStyle/>
          <a:p>
            <a:pPr defTabSz="1024255">
              <a:lnSpc>
                <a:spcPct val="120000"/>
              </a:lnSpc>
            </a:pPr>
            <a:r>
              <a:rPr lang="zh-CN" altLang="en-US" sz="1100" b="1" dirty="0">
                <a:solidFill>
                  <a:srgbClr val="FF0000"/>
                </a:solidFill>
                <a:latin typeface="微软雅黑" panose="020B0503020204020204" pitchFamily="34" charset="-122"/>
                <a:ea typeface="微软雅黑" panose="020B0503020204020204" pitchFamily="34" charset="-122"/>
              </a:rPr>
              <a:t>执行数据库基本命令</a:t>
            </a:r>
            <a:endParaRPr lang="zh-CN" altLang="en-US" sz="1100" b="1" dirty="0">
              <a:solidFill>
                <a:srgbClr val="FF0000"/>
              </a:solidFill>
              <a:latin typeface="微软雅黑" panose="020B0503020204020204" pitchFamily="34" charset="-122"/>
              <a:ea typeface="微软雅黑" panose="020B0503020204020204" pitchFamily="34" charset="-122"/>
            </a:endParaRPr>
          </a:p>
        </p:txBody>
      </p:sp>
      <p:grpSp>
        <p:nvGrpSpPr>
          <p:cNvPr id="297" name="Group 103"/>
          <p:cNvGrpSpPr/>
          <p:nvPr/>
        </p:nvGrpSpPr>
        <p:grpSpPr>
          <a:xfrm>
            <a:off x="5978724" y="2440849"/>
            <a:ext cx="1138238" cy="457200"/>
            <a:chOff x="2266" y="1018"/>
            <a:chExt cx="717" cy="288"/>
          </a:xfrm>
        </p:grpSpPr>
        <p:sp>
          <p:nvSpPr>
            <p:cNvPr id="298" name="Text Box 57"/>
            <p:cNvSpPr txBox="1"/>
            <p:nvPr/>
          </p:nvSpPr>
          <p:spPr>
            <a:xfrm>
              <a:off x="2266" y="1073"/>
              <a:ext cx="717" cy="192"/>
            </a:xfrm>
            <a:prstGeom prst="rect">
              <a:avLst/>
            </a:prstGeom>
            <a:noFill/>
            <a:ln w="9525">
              <a:noFill/>
            </a:ln>
          </p:spPr>
          <p:txBody>
            <a:bodyPr wrap="none" anchor="t">
              <a:spAutoFit/>
            </a:bodyPr>
            <a:lstStyle/>
            <a:p>
              <a:r>
                <a:rPr lang="en-US" altLang="zh-CN" sz="1400" b="1" dirty="0">
                  <a:latin typeface="微软雅黑" panose="020B0503020204020204" pitchFamily="34" charset="-122"/>
                  <a:ea typeface="微软雅黑" panose="020B0503020204020204" pitchFamily="34" charset="-122"/>
                </a:rPr>
                <a:t>DML</a:t>
              </a:r>
              <a:r>
                <a:rPr lang="zh-CN" altLang="en-US" sz="1400" b="1" dirty="0">
                  <a:latin typeface="微软雅黑" panose="020B0503020204020204" pitchFamily="34" charset="-122"/>
                  <a:ea typeface="微软雅黑" panose="020B0503020204020204" pitchFamily="34" charset="-122"/>
                </a:rPr>
                <a:t>编译器</a:t>
              </a:r>
              <a:endParaRPr lang="zh-CN" altLang="en-US" sz="1400" b="1" dirty="0">
                <a:latin typeface="微软雅黑" panose="020B0503020204020204" pitchFamily="34" charset="-122"/>
                <a:ea typeface="微软雅黑" panose="020B0503020204020204" pitchFamily="34" charset="-122"/>
              </a:endParaRPr>
            </a:p>
          </p:txBody>
        </p:sp>
        <p:sp>
          <p:nvSpPr>
            <p:cNvPr id="299" name="Rectangle 58"/>
            <p:cNvSpPr/>
            <p:nvPr/>
          </p:nvSpPr>
          <p:spPr>
            <a:xfrm>
              <a:off x="2288" y="1018"/>
              <a:ext cx="672"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grpSp>
      <p:sp>
        <p:nvSpPr>
          <p:cNvPr id="300" name="Rectangle 59"/>
          <p:cNvSpPr/>
          <p:nvPr/>
        </p:nvSpPr>
        <p:spPr>
          <a:xfrm>
            <a:off x="5963954" y="1819131"/>
            <a:ext cx="1270000" cy="304800"/>
          </a:xfrm>
          <a:prstGeom prst="rect">
            <a:avLst/>
          </a:prstGeom>
          <a:noFill/>
          <a:ln w="9525">
            <a:noFill/>
          </a:ln>
        </p:spPr>
        <p:txBody>
          <a:bodyPr anchor="t">
            <a:spAutoFit/>
          </a:bodyPr>
          <a:lstStyle/>
          <a:p>
            <a:pPr algn="ctr"/>
            <a:r>
              <a:rPr lang="zh-CN" altLang="en-US" sz="1400" b="1" dirty="0">
                <a:latin typeface="微软雅黑" panose="020B0503020204020204" pitchFamily="34" charset="-122"/>
                <a:ea typeface="微软雅黑" panose="020B0503020204020204" pitchFamily="34" charset="-122"/>
              </a:rPr>
              <a:t>用户</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应用</a:t>
            </a:r>
            <a:endParaRPr lang="zh-CN" altLang="en-US" sz="1400" b="1" dirty="0">
              <a:latin typeface="微软雅黑" panose="020B0503020204020204" pitchFamily="34" charset="-122"/>
              <a:ea typeface="微软雅黑" panose="020B0503020204020204" pitchFamily="34" charset="-122"/>
            </a:endParaRPr>
          </a:p>
        </p:txBody>
      </p:sp>
      <p:sp>
        <p:nvSpPr>
          <p:cNvPr id="302" name="Rectangle 61"/>
          <p:cNvSpPr/>
          <p:nvPr/>
        </p:nvSpPr>
        <p:spPr>
          <a:xfrm>
            <a:off x="6569785" y="2129652"/>
            <a:ext cx="812797" cy="253916"/>
          </a:xfrm>
          <a:prstGeom prst="rect">
            <a:avLst/>
          </a:prstGeom>
          <a:noFill/>
          <a:ln w="9525">
            <a:noFill/>
          </a:ln>
        </p:spPr>
        <p:txBody>
          <a:bodyPr wrap="square" anchor="t">
            <a:spAutoFit/>
          </a:bodyPr>
          <a:lstStyle/>
          <a:p>
            <a:pPr algn="ctr"/>
            <a:r>
              <a:rPr lang="en-US" altLang="zh-CN" sz="1050" b="1" dirty="0">
                <a:solidFill>
                  <a:srgbClr val="FF0000"/>
                </a:solidFill>
                <a:latin typeface="微软雅黑" panose="020B0503020204020204" pitchFamily="34" charset="-122"/>
                <a:ea typeface="微软雅黑" panose="020B0503020204020204" pitchFamily="34" charset="-122"/>
              </a:rPr>
              <a:t>DML</a:t>
            </a:r>
            <a:r>
              <a:rPr lang="zh-CN" altLang="en-US" sz="1050" b="1" dirty="0">
                <a:solidFill>
                  <a:srgbClr val="FF0000"/>
                </a:solidFill>
                <a:latin typeface="微软雅黑" panose="020B0503020204020204" pitchFamily="34" charset="-122"/>
                <a:ea typeface="微软雅黑" panose="020B0503020204020204" pitchFamily="34" charset="-122"/>
              </a:rPr>
              <a:t>命令</a:t>
            </a:r>
            <a:endParaRPr lang="zh-CN" altLang="en-US" sz="1050" b="1" dirty="0">
              <a:solidFill>
                <a:srgbClr val="FF0000"/>
              </a:solidFill>
              <a:latin typeface="微软雅黑" panose="020B0503020204020204" pitchFamily="34" charset="-122"/>
              <a:ea typeface="微软雅黑" panose="020B0503020204020204" pitchFamily="34" charset="-122"/>
            </a:endParaRPr>
          </a:p>
        </p:txBody>
      </p:sp>
      <p:grpSp>
        <p:nvGrpSpPr>
          <p:cNvPr id="305" name="Group 64"/>
          <p:cNvGrpSpPr/>
          <p:nvPr/>
        </p:nvGrpSpPr>
        <p:grpSpPr>
          <a:xfrm>
            <a:off x="7800692" y="2441254"/>
            <a:ext cx="1096963" cy="457200"/>
            <a:chOff x="838" y="816"/>
            <a:chExt cx="691" cy="288"/>
          </a:xfrm>
        </p:grpSpPr>
        <p:sp>
          <p:nvSpPr>
            <p:cNvPr id="306" name="Text Box 65"/>
            <p:cNvSpPr txBox="1"/>
            <p:nvPr/>
          </p:nvSpPr>
          <p:spPr>
            <a:xfrm>
              <a:off x="838" y="871"/>
              <a:ext cx="691" cy="192"/>
            </a:xfrm>
            <a:prstGeom prst="rect">
              <a:avLst/>
            </a:prstGeom>
            <a:noFill/>
            <a:ln w="9525">
              <a:noFill/>
            </a:ln>
          </p:spPr>
          <p:txBody>
            <a:bodyPr wrap="none" anchor="t">
              <a:spAutoFit/>
            </a:bodyPr>
            <a:lstStyle/>
            <a:p>
              <a:r>
                <a:rPr lang="en-US" altLang="zh-CN" sz="1400" b="1" dirty="0">
                  <a:latin typeface="微软雅黑" panose="020B0503020204020204" pitchFamily="34" charset="-122"/>
                  <a:ea typeface="微软雅黑" panose="020B0503020204020204" pitchFamily="34" charset="-122"/>
                </a:rPr>
                <a:t>DDL</a:t>
              </a:r>
              <a:r>
                <a:rPr lang="zh-CN" altLang="en-US" sz="1400" b="1" dirty="0">
                  <a:latin typeface="微软雅黑" panose="020B0503020204020204" pitchFamily="34" charset="-122"/>
                  <a:ea typeface="微软雅黑" panose="020B0503020204020204" pitchFamily="34" charset="-122"/>
                </a:rPr>
                <a:t>编译器</a:t>
              </a:r>
              <a:endParaRPr lang="zh-CN" altLang="en-US" sz="1400" b="1" dirty="0">
                <a:latin typeface="微软雅黑" panose="020B0503020204020204" pitchFamily="34" charset="-122"/>
                <a:ea typeface="微软雅黑" panose="020B0503020204020204" pitchFamily="34" charset="-122"/>
              </a:endParaRPr>
            </a:p>
          </p:txBody>
        </p:sp>
        <p:sp>
          <p:nvSpPr>
            <p:cNvPr id="307" name="Rectangle 66"/>
            <p:cNvSpPr/>
            <p:nvPr/>
          </p:nvSpPr>
          <p:spPr>
            <a:xfrm>
              <a:off x="840" y="816"/>
              <a:ext cx="672"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grpSp>
      <p:sp>
        <p:nvSpPr>
          <p:cNvPr id="308" name="Rectangle 67"/>
          <p:cNvSpPr/>
          <p:nvPr/>
        </p:nvSpPr>
        <p:spPr>
          <a:xfrm>
            <a:off x="7745172" y="1831841"/>
            <a:ext cx="1270000" cy="304800"/>
          </a:xfrm>
          <a:prstGeom prst="rect">
            <a:avLst/>
          </a:prstGeom>
          <a:noFill/>
          <a:ln w="9525">
            <a:noFill/>
          </a:ln>
        </p:spPr>
        <p:txBody>
          <a:bodyPr anchor="t">
            <a:spAutoFit/>
          </a:bodyPr>
          <a:lstStyle/>
          <a:p>
            <a:pPr algn="ctr"/>
            <a:r>
              <a:rPr lang="zh-CN" altLang="en-US" sz="1400" b="1" dirty="0">
                <a:latin typeface="微软雅黑" panose="020B0503020204020204" pitchFamily="34" charset="-122"/>
                <a:ea typeface="微软雅黑" panose="020B0503020204020204" pitchFamily="34" charset="-122"/>
              </a:rPr>
              <a:t>数据库管理员</a:t>
            </a:r>
            <a:endParaRPr lang="zh-CN" altLang="en-US" sz="1400" b="1" dirty="0">
              <a:latin typeface="微软雅黑" panose="020B0503020204020204" pitchFamily="34" charset="-122"/>
              <a:ea typeface="微软雅黑" panose="020B0503020204020204" pitchFamily="34" charset="-122"/>
            </a:endParaRPr>
          </a:p>
        </p:txBody>
      </p:sp>
      <p:sp>
        <p:nvSpPr>
          <p:cNvPr id="311" name="Rectangle 70"/>
          <p:cNvSpPr/>
          <p:nvPr/>
        </p:nvSpPr>
        <p:spPr>
          <a:xfrm>
            <a:off x="5828960" y="2875063"/>
            <a:ext cx="786351" cy="261610"/>
          </a:xfrm>
          <a:prstGeom prst="rect">
            <a:avLst/>
          </a:prstGeom>
          <a:noFill/>
          <a:ln w="9525">
            <a:noFill/>
          </a:ln>
        </p:spPr>
        <p:txBody>
          <a:bodyPr wrap="square" anchor="t">
            <a:spAutoFit/>
          </a:bodyPr>
          <a:lstStyle/>
          <a:p>
            <a:pPr algn="ctr"/>
            <a:r>
              <a:rPr lang="zh-CN" altLang="en-US" sz="1100" b="1" dirty="0">
                <a:solidFill>
                  <a:srgbClr val="FF0000"/>
                </a:solidFill>
                <a:latin typeface="微软雅黑" panose="020B0503020204020204" pitchFamily="34" charset="-122"/>
                <a:ea typeface="微软雅黑" panose="020B0503020204020204" pitchFamily="34" charset="-122"/>
              </a:rPr>
              <a:t>查询计划</a:t>
            </a:r>
            <a:endParaRPr lang="zh-CN" altLang="en-US" sz="1100" b="1" dirty="0">
              <a:solidFill>
                <a:srgbClr val="FF0000"/>
              </a:solidFill>
              <a:latin typeface="微软雅黑" panose="020B0503020204020204" pitchFamily="34" charset="-122"/>
              <a:ea typeface="微软雅黑" panose="020B0503020204020204" pitchFamily="34" charset="-122"/>
            </a:endParaRPr>
          </a:p>
        </p:txBody>
      </p:sp>
      <p:sp>
        <p:nvSpPr>
          <p:cNvPr id="312" name="Rectangle 72"/>
          <p:cNvSpPr/>
          <p:nvPr/>
        </p:nvSpPr>
        <p:spPr>
          <a:xfrm>
            <a:off x="8213314" y="2125046"/>
            <a:ext cx="936908" cy="253916"/>
          </a:xfrm>
          <a:prstGeom prst="rect">
            <a:avLst/>
          </a:prstGeom>
          <a:noFill/>
          <a:ln w="9525">
            <a:noFill/>
          </a:ln>
        </p:spPr>
        <p:txBody>
          <a:bodyPr wrap="square" anchor="t">
            <a:spAutoFit/>
          </a:bodyPr>
          <a:lstStyle/>
          <a:p>
            <a:pPr algn="ctr"/>
            <a:r>
              <a:rPr lang="en-US" altLang="zh-CN" sz="1050" b="1" dirty="0">
                <a:solidFill>
                  <a:srgbClr val="FF0000"/>
                </a:solidFill>
                <a:latin typeface="微软雅黑" panose="020B0503020204020204" pitchFamily="34" charset="-122"/>
                <a:ea typeface="微软雅黑" panose="020B0503020204020204" pitchFamily="34" charset="-122"/>
              </a:rPr>
              <a:t>DDL</a:t>
            </a:r>
            <a:r>
              <a:rPr lang="zh-CN" altLang="en-US" sz="1050" b="1" dirty="0">
                <a:solidFill>
                  <a:srgbClr val="FF0000"/>
                </a:solidFill>
                <a:latin typeface="微软雅黑" panose="020B0503020204020204" pitchFamily="34" charset="-122"/>
                <a:ea typeface="微软雅黑" panose="020B0503020204020204" pitchFamily="34" charset="-122"/>
              </a:rPr>
              <a:t>命令</a:t>
            </a:r>
            <a:endParaRPr lang="zh-CN" altLang="en-US" sz="1050" b="1" dirty="0">
              <a:solidFill>
                <a:srgbClr val="FF0000"/>
              </a:solidFill>
              <a:latin typeface="微软雅黑" panose="020B0503020204020204" pitchFamily="34" charset="-122"/>
              <a:ea typeface="微软雅黑" panose="020B0503020204020204" pitchFamily="34" charset="-122"/>
            </a:endParaRPr>
          </a:p>
        </p:txBody>
      </p:sp>
      <p:grpSp>
        <p:nvGrpSpPr>
          <p:cNvPr id="313" name="Group 73"/>
          <p:cNvGrpSpPr/>
          <p:nvPr/>
        </p:nvGrpSpPr>
        <p:grpSpPr>
          <a:xfrm>
            <a:off x="9544560" y="2421162"/>
            <a:ext cx="1074738" cy="457200"/>
            <a:chOff x="838" y="816"/>
            <a:chExt cx="677" cy="288"/>
          </a:xfrm>
        </p:grpSpPr>
        <p:sp>
          <p:nvSpPr>
            <p:cNvPr id="314" name="Text Box 74"/>
            <p:cNvSpPr txBox="1"/>
            <p:nvPr/>
          </p:nvSpPr>
          <p:spPr>
            <a:xfrm>
              <a:off x="838" y="871"/>
              <a:ext cx="677" cy="192"/>
            </a:xfrm>
            <a:prstGeom prst="rect">
              <a:avLst/>
            </a:prstGeom>
            <a:noFill/>
            <a:ln w="9525">
              <a:noFill/>
            </a:ln>
          </p:spPr>
          <p:txBody>
            <a:bodyPr wrap="none" anchor="t">
              <a:spAutoFit/>
            </a:bodyPr>
            <a:lstStyle/>
            <a:p>
              <a:r>
                <a:rPr lang="en-US" altLang="zh-CN" sz="1400" b="1" dirty="0">
                  <a:latin typeface="微软雅黑" panose="020B0503020204020204" pitchFamily="34" charset="-122"/>
                  <a:ea typeface="微软雅黑" panose="020B0503020204020204" pitchFamily="34" charset="-122"/>
                </a:rPr>
                <a:t>DCL</a:t>
              </a:r>
              <a:r>
                <a:rPr lang="zh-CN" altLang="en-US" sz="1400" b="1" dirty="0">
                  <a:latin typeface="微软雅黑" panose="020B0503020204020204" pitchFamily="34" charset="-122"/>
                  <a:ea typeface="微软雅黑" panose="020B0503020204020204" pitchFamily="34" charset="-122"/>
                </a:rPr>
                <a:t>编译器</a:t>
              </a:r>
              <a:endParaRPr lang="zh-CN" altLang="en-US" sz="1400" b="1" dirty="0">
                <a:latin typeface="微软雅黑" panose="020B0503020204020204" pitchFamily="34" charset="-122"/>
                <a:ea typeface="微软雅黑" panose="020B0503020204020204" pitchFamily="34" charset="-122"/>
              </a:endParaRPr>
            </a:p>
          </p:txBody>
        </p:sp>
        <p:sp>
          <p:nvSpPr>
            <p:cNvPr id="315" name="Rectangle 75"/>
            <p:cNvSpPr/>
            <p:nvPr/>
          </p:nvSpPr>
          <p:spPr>
            <a:xfrm>
              <a:off x="840" y="816"/>
              <a:ext cx="672"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grpSp>
      <p:sp>
        <p:nvSpPr>
          <p:cNvPr id="316" name="Rectangle 76"/>
          <p:cNvSpPr/>
          <p:nvPr/>
        </p:nvSpPr>
        <p:spPr>
          <a:xfrm>
            <a:off x="9426292" y="1804150"/>
            <a:ext cx="1270000" cy="304800"/>
          </a:xfrm>
          <a:prstGeom prst="rect">
            <a:avLst/>
          </a:prstGeom>
          <a:noFill/>
          <a:ln w="9525">
            <a:noFill/>
          </a:ln>
        </p:spPr>
        <p:txBody>
          <a:bodyPr anchor="t">
            <a:spAutoFit/>
          </a:bodyPr>
          <a:lstStyle/>
          <a:p>
            <a:pPr algn="ctr"/>
            <a:r>
              <a:rPr lang="zh-CN" altLang="en-US" sz="1400" b="1" dirty="0">
                <a:latin typeface="微软雅黑" panose="020B0503020204020204" pitchFamily="34" charset="-122"/>
                <a:ea typeface="微软雅黑" panose="020B0503020204020204" pitchFamily="34" charset="-122"/>
              </a:rPr>
              <a:t>数据库管理员</a:t>
            </a:r>
            <a:endParaRPr lang="zh-CN" altLang="en-US" sz="1400" b="1" dirty="0">
              <a:latin typeface="微软雅黑" panose="020B0503020204020204" pitchFamily="34" charset="-122"/>
              <a:ea typeface="微软雅黑" panose="020B0503020204020204" pitchFamily="34" charset="-122"/>
            </a:endParaRPr>
          </a:p>
        </p:txBody>
      </p:sp>
      <p:sp>
        <p:nvSpPr>
          <p:cNvPr id="317" name="Line 77"/>
          <p:cNvSpPr/>
          <p:nvPr/>
        </p:nvSpPr>
        <p:spPr>
          <a:xfrm>
            <a:off x="10113397" y="2103579"/>
            <a:ext cx="0" cy="314211"/>
          </a:xfrm>
          <a:prstGeom prst="line">
            <a:avLst/>
          </a:prstGeom>
          <a:ln w="38100" cap="flat" cmpd="dbl">
            <a:solidFill>
              <a:schemeClr val="tx1"/>
            </a:solidFill>
            <a:prstDash val="solid"/>
            <a:round/>
            <a:headEnd type="none" w="med" len="med"/>
            <a:tailEnd type="triangle" w="med" len="med"/>
          </a:ln>
        </p:spPr>
      </p:sp>
      <p:sp>
        <p:nvSpPr>
          <p:cNvPr id="318" name="Rectangle 78"/>
          <p:cNvSpPr/>
          <p:nvPr/>
        </p:nvSpPr>
        <p:spPr>
          <a:xfrm>
            <a:off x="9953341" y="2130973"/>
            <a:ext cx="1013105" cy="261610"/>
          </a:xfrm>
          <a:prstGeom prst="rect">
            <a:avLst/>
          </a:prstGeom>
          <a:noFill/>
          <a:ln w="9525">
            <a:noFill/>
          </a:ln>
        </p:spPr>
        <p:txBody>
          <a:bodyPr wrap="square" anchor="t">
            <a:spAutoFit/>
          </a:bodyPr>
          <a:lstStyle/>
          <a:p>
            <a:pPr algn="ctr"/>
            <a:r>
              <a:rPr lang="en-US" altLang="zh-CN" sz="1100" b="1" dirty="0">
                <a:solidFill>
                  <a:srgbClr val="FF0000"/>
                </a:solidFill>
                <a:latin typeface="微软雅黑" panose="020B0503020204020204" pitchFamily="34" charset="-122"/>
                <a:ea typeface="微软雅黑" panose="020B0503020204020204" pitchFamily="34" charset="-122"/>
              </a:rPr>
              <a:t>DCL</a:t>
            </a:r>
            <a:r>
              <a:rPr lang="zh-CN" altLang="en-US" sz="1100" b="1" dirty="0">
                <a:solidFill>
                  <a:srgbClr val="FF0000"/>
                </a:solidFill>
                <a:latin typeface="微软雅黑" panose="020B0503020204020204" pitchFamily="34" charset="-122"/>
                <a:ea typeface="微软雅黑" panose="020B0503020204020204" pitchFamily="34" charset="-122"/>
              </a:rPr>
              <a:t>命令</a:t>
            </a:r>
            <a:endParaRPr lang="zh-CN" altLang="en-US" sz="1100" b="1" dirty="0">
              <a:solidFill>
                <a:srgbClr val="FF0000"/>
              </a:solidFill>
              <a:latin typeface="微软雅黑" panose="020B0503020204020204" pitchFamily="34" charset="-122"/>
              <a:ea typeface="微软雅黑" panose="020B0503020204020204" pitchFamily="34" charset="-122"/>
            </a:endParaRPr>
          </a:p>
        </p:txBody>
      </p:sp>
      <p:grpSp>
        <p:nvGrpSpPr>
          <p:cNvPr id="319" name="Group 81"/>
          <p:cNvGrpSpPr/>
          <p:nvPr/>
        </p:nvGrpSpPr>
        <p:grpSpPr>
          <a:xfrm>
            <a:off x="9556184" y="3172884"/>
            <a:ext cx="1114425" cy="457200"/>
            <a:chOff x="4639" y="1179"/>
            <a:chExt cx="702" cy="288"/>
          </a:xfrm>
        </p:grpSpPr>
        <p:sp>
          <p:nvSpPr>
            <p:cNvPr id="320" name="Text Box 82"/>
            <p:cNvSpPr txBox="1"/>
            <p:nvPr/>
          </p:nvSpPr>
          <p:spPr>
            <a:xfrm>
              <a:off x="4639" y="1250"/>
              <a:ext cx="694" cy="173"/>
            </a:xfrm>
            <a:prstGeom prst="rect">
              <a:avLst/>
            </a:prstGeom>
            <a:noFill/>
            <a:ln w="9525">
              <a:noFill/>
            </a:ln>
          </p:spPr>
          <p:txBody>
            <a:bodyPr wrap="none" anchor="t">
              <a:spAutoFit/>
            </a:bodyPr>
            <a:lstStyle/>
            <a:p>
              <a:r>
                <a:rPr lang="en-US" altLang="zh-CN" sz="1200" b="1" dirty="0">
                  <a:latin typeface="微软雅黑" panose="020B0503020204020204" pitchFamily="34" charset="-122"/>
                  <a:ea typeface="微软雅黑" panose="020B0503020204020204" pitchFamily="34" charset="-122"/>
                </a:rPr>
                <a:t>DCL</a:t>
              </a:r>
              <a:r>
                <a:rPr lang="zh-CN" altLang="en-US" sz="1200" b="1" dirty="0">
                  <a:latin typeface="微软雅黑" panose="020B0503020204020204" pitchFamily="34" charset="-122"/>
                  <a:ea typeface="微软雅黑" panose="020B0503020204020204" pitchFamily="34" charset="-122"/>
                </a:rPr>
                <a:t>执行引擎</a:t>
              </a:r>
              <a:endParaRPr lang="zh-CN" altLang="en-US" sz="1200" b="1" dirty="0">
                <a:latin typeface="微软雅黑" panose="020B0503020204020204" pitchFamily="34" charset="-122"/>
                <a:ea typeface="微软雅黑" panose="020B0503020204020204" pitchFamily="34" charset="-122"/>
              </a:endParaRPr>
            </a:p>
          </p:txBody>
        </p:sp>
        <p:sp>
          <p:nvSpPr>
            <p:cNvPr id="321" name="Rectangle 83"/>
            <p:cNvSpPr/>
            <p:nvPr/>
          </p:nvSpPr>
          <p:spPr>
            <a:xfrm>
              <a:off x="4669" y="1179"/>
              <a:ext cx="672"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grpSp>
      <p:grpSp>
        <p:nvGrpSpPr>
          <p:cNvPr id="324" name="Group 92"/>
          <p:cNvGrpSpPr/>
          <p:nvPr/>
        </p:nvGrpSpPr>
        <p:grpSpPr>
          <a:xfrm>
            <a:off x="1725329" y="2495227"/>
            <a:ext cx="1052513" cy="762000"/>
            <a:chOff x="1511" y="1353"/>
            <a:chExt cx="663" cy="480"/>
          </a:xfrm>
        </p:grpSpPr>
        <p:sp>
          <p:nvSpPr>
            <p:cNvPr id="325" name="Text Box 90"/>
            <p:cNvSpPr txBox="1"/>
            <p:nvPr/>
          </p:nvSpPr>
          <p:spPr>
            <a:xfrm>
              <a:off x="1536" y="1353"/>
              <a:ext cx="638" cy="465"/>
            </a:xfrm>
            <a:prstGeom prst="rect">
              <a:avLst/>
            </a:prstGeom>
            <a:noFill/>
            <a:ln w="9525">
              <a:noFill/>
            </a:ln>
          </p:spPr>
          <p:txBody>
            <a:bodyPr anchor="t">
              <a:spAutoFit/>
            </a:bodyPr>
            <a:lstStyle/>
            <a:p>
              <a:r>
                <a:rPr lang="zh-CN" altLang="en-US" sz="1400" b="1" dirty="0">
                  <a:latin typeface="微软雅黑" panose="020B0503020204020204" pitchFamily="34" charset="-122"/>
                  <a:ea typeface="微软雅黑" panose="020B0503020204020204" pitchFamily="34" charset="-122"/>
                </a:rPr>
                <a:t>基本关系操作实现算法集合</a:t>
              </a:r>
              <a:endParaRPr lang="zh-CN" altLang="en-US" sz="1400" b="1" dirty="0">
                <a:latin typeface="微软雅黑" panose="020B0503020204020204" pitchFamily="34" charset="-122"/>
                <a:ea typeface="微软雅黑" panose="020B0503020204020204" pitchFamily="34" charset="-122"/>
              </a:endParaRPr>
            </a:p>
          </p:txBody>
        </p:sp>
        <p:sp>
          <p:nvSpPr>
            <p:cNvPr id="326" name="Rectangle 91"/>
            <p:cNvSpPr/>
            <p:nvPr/>
          </p:nvSpPr>
          <p:spPr>
            <a:xfrm>
              <a:off x="1511" y="1353"/>
              <a:ext cx="643" cy="480"/>
            </a:xfrm>
            <a:prstGeom prst="rect">
              <a:avLst/>
            </a:prstGeom>
            <a:noFill/>
            <a:ln w="28575" cap="flat" cmpd="sng">
              <a:solidFill>
                <a:schemeClr val="tx1"/>
              </a:solidFill>
              <a:prstDash val="dash"/>
              <a:miter/>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grpSp>
      <p:sp>
        <p:nvSpPr>
          <p:cNvPr id="327" name="Line 93"/>
          <p:cNvSpPr/>
          <p:nvPr/>
        </p:nvSpPr>
        <p:spPr>
          <a:xfrm>
            <a:off x="2719104" y="3060377"/>
            <a:ext cx="2787650" cy="0"/>
          </a:xfrm>
          <a:prstGeom prst="line">
            <a:avLst/>
          </a:prstGeom>
          <a:ln w="28575" cap="flat" cmpd="sng">
            <a:solidFill>
              <a:schemeClr val="tx1"/>
            </a:solidFill>
            <a:prstDash val="solid"/>
            <a:round/>
            <a:headEnd type="none" w="med" len="med"/>
            <a:tailEnd type="triangle" w="med" len="med"/>
          </a:ln>
        </p:spPr>
      </p:sp>
      <p:sp>
        <p:nvSpPr>
          <p:cNvPr id="328" name="Line 94"/>
          <p:cNvSpPr/>
          <p:nvPr/>
        </p:nvSpPr>
        <p:spPr>
          <a:xfrm flipH="1">
            <a:off x="2163478" y="3328664"/>
            <a:ext cx="9811" cy="644525"/>
          </a:xfrm>
          <a:prstGeom prst="line">
            <a:avLst/>
          </a:prstGeom>
          <a:ln w="9525" cap="flat" cmpd="sng">
            <a:solidFill>
              <a:schemeClr val="tx1"/>
            </a:solidFill>
            <a:prstDash val="dash"/>
            <a:round/>
            <a:headEnd type="none" w="med" len="med"/>
            <a:tailEnd type="triangle" w="med" len="med"/>
          </a:ln>
        </p:spPr>
      </p:sp>
      <p:sp>
        <p:nvSpPr>
          <p:cNvPr id="329" name="Text Box 95"/>
          <p:cNvSpPr txBox="1"/>
          <p:nvPr/>
        </p:nvSpPr>
        <p:spPr>
          <a:xfrm>
            <a:off x="3611279" y="2790502"/>
            <a:ext cx="946150" cy="274638"/>
          </a:xfrm>
          <a:prstGeom prst="rect">
            <a:avLst/>
          </a:prstGeom>
          <a:noFill/>
          <a:ln w="9525">
            <a:noFill/>
          </a:ln>
        </p:spPr>
        <p:txBody>
          <a:bodyPr wrap="none" anchor="t">
            <a:spAutoFit/>
          </a:bodyPr>
          <a:lstStyle/>
          <a:p>
            <a:pPr algn="ctr"/>
            <a:r>
              <a:rPr lang="zh-CN" altLang="en-US" sz="1200" b="1" dirty="0">
                <a:solidFill>
                  <a:srgbClr val="CC0000"/>
                </a:solidFill>
                <a:latin typeface="微软雅黑" panose="020B0503020204020204" pitchFamily="34" charset="-122"/>
                <a:ea typeface="微软雅黑" panose="020B0503020204020204" pitchFamily="34" charset="-122"/>
              </a:rPr>
              <a:t>被调用执行</a:t>
            </a:r>
            <a:endParaRPr lang="zh-CN" altLang="en-US" sz="1200" b="1" dirty="0">
              <a:solidFill>
                <a:srgbClr val="CC0000"/>
              </a:solidFill>
              <a:latin typeface="微软雅黑" panose="020B0503020204020204" pitchFamily="34" charset="-122"/>
              <a:ea typeface="微软雅黑" panose="020B0503020204020204" pitchFamily="34" charset="-122"/>
            </a:endParaRPr>
          </a:p>
        </p:txBody>
      </p:sp>
      <p:grpSp>
        <p:nvGrpSpPr>
          <p:cNvPr id="330" name="Group 101"/>
          <p:cNvGrpSpPr/>
          <p:nvPr/>
        </p:nvGrpSpPr>
        <p:grpSpPr>
          <a:xfrm>
            <a:off x="7800692" y="3191472"/>
            <a:ext cx="1119187" cy="457200"/>
            <a:chOff x="3572" y="1656"/>
            <a:chExt cx="705" cy="288"/>
          </a:xfrm>
        </p:grpSpPr>
        <p:sp>
          <p:nvSpPr>
            <p:cNvPr id="331" name="Text Box 98"/>
            <p:cNvSpPr txBox="1"/>
            <p:nvPr/>
          </p:nvSpPr>
          <p:spPr>
            <a:xfrm>
              <a:off x="3572" y="1727"/>
              <a:ext cx="705" cy="173"/>
            </a:xfrm>
            <a:prstGeom prst="rect">
              <a:avLst/>
            </a:prstGeom>
            <a:noFill/>
            <a:ln w="9525">
              <a:noFill/>
            </a:ln>
          </p:spPr>
          <p:txBody>
            <a:bodyPr wrap="none" anchor="t">
              <a:spAutoFit/>
            </a:bodyPr>
            <a:lstStyle/>
            <a:p>
              <a:r>
                <a:rPr lang="en-US" altLang="zh-CN" sz="1200" b="1" dirty="0">
                  <a:latin typeface="微软雅黑" panose="020B0503020204020204" pitchFamily="34" charset="-122"/>
                  <a:ea typeface="微软雅黑" panose="020B0503020204020204" pitchFamily="34" charset="-122"/>
                </a:rPr>
                <a:t>DDL</a:t>
              </a:r>
              <a:r>
                <a:rPr lang="zh-CN" altLang="en-US" sz="1200" b="1" dirty="0">
                  <a:latin typeface="微软雅黑" panose="020B0503020204020204" pitchFamily="34" charset="-122"/>
                  <a:ea typeface="微软雅黑" panose="020B0503020204020204" pitchFamily="34" charset="-122"/>
                </a:rPr>
                <a:t>执行引擎</a:t>
              </a:r>
              <a:endParaRPr lang="zh-CN" altLang="en-US" sz="1200" b="1" dirty="0">
                <a:latin typeface="微软雅黑" panose="020B0503020204020204" pitchFamily="34" charset="-122"/>
                <a:ea typeface="微软雅黑" panose="020B0503020204020204" pitchFamily="34" charset="-122"/>
              </a:endParaRPr>
            </a:p>
          </p:txBody>
        </p:sp>
        <p:sp>
          <p:nvSpPr>
            <p:cNvPr id="332" name="Rectangle 99"/>
            <p:cNvSpPr/>
            <p:nvPr/>
          </p:nvSpPr>
          <p:spPr>
            <a:xfrm>
              <a:off x="3588" y="1656"/>
              <a:ext cx="672"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en-US" b="1" dirty="0">
                <a:latin typeface="Times New Roman" panose="02020603050405020304" pitchFamily="18" charset="0"/>
                <a:ea typeface="楷体_GB2312" pitchFamily="49" charset="-122"/>
              </a:endParaRPr>
            </a:p>
          </p:txBody>
        </p:sp>
      </p:grpSp>
      <p:sp>
        <p:nvSpPr>
          <p:cNvPr id="334" name="Freeform 105"/>
          <p:cNvSpPr/>
          <p:nvPr/>
        </p:nvSpPr>
        <p:spPr>
          <a:xfrm>
            <a:off x="7091244" y="2694294"/>
            <a:ext cx="2950207" cy="1208689"/>
          </a:xfrm>
          <a:custGeom>
            <a:avLst/>
            <a:gdLst/>
            <a:ahLst/>
            <a:cxnLst>
              <a:cxn ang="0">
                <a:pos x="1444" y="1036"/>
              </a:cxn>
              <a:cxn ang="0">
                <a:pos x="1240" y="948"/>
              </a:cxn>
              <a:cxn ang="0">
                <a:pos x="824" y="841"/>
              </a:cxn>
              <a:cxn ang="0">
                <a:pos x="283" y="797"/>
              </a:cxn>
              <a:cxn ang="0">
                <a:pos x="203" y="452"/>
              </a:cxn>
              <a:cxn ang="0">
                <a:pos x="141" y="195"/>
              </a:cxn>
              <a:cxn ang="0">
                <a:pos x="0" y="0"/>
              </a:cxn>
            </a:cxnLst>
            <a:rect l="0" t="0" r="0" b="0"/>
            <a:pathLst>
              <a:path w="1444" h="1036">
                <a:moveTo>
                  <a:pt x="1444" y="1036"/>
                </a:moveTo>
                <a:cubicBezTo>
                  <a:pt x="1393" y="1008"/>
                  <a:pt x="1343" y="980"/>
                  <a:pt x="1240" y="948"/>
                </a:cubicBezTo>
                <a:cubicBezTo>
                  <a:pt x="1137" y="916"/>
                  <a:pt x="983" y="866"/>
                  <a:pt x="824" y="841"/>
                </a:cubicBezTo>
                <a:cubicBezTo>
                  <a:pt x="665" y="816"/>
                  <a:pt x="387" y="862"/>
                  <a:pt x="283" y="797"/>
                </a:cubicBezTo>
                <a:cubicBezTo>
                  <a:pt x="179" y="732"/>
                  <a:pt x="227" y="552"/>
                  <a:pt x="203" y="452"/>
                </a:cubicBezTo>
                <a:cubicBezTo>
                  <a:pt x="179" y="352"/>
                  <a:pt x="175" y="270"/>
                  <a:pt x="141" y="195"/>
                </a:cubicBezTo>
                <a:cubicBezTo>
                  <a:pt x="107" y="120"/>
                  <a:pt x="29" y="41"/>
                  <a:pt x="0" y="0"/>
                </a:cubicBezTo>
              </a:path>
            </a:pathLst>
          </a:custGeom>
          <a:noFill/>
          <a:ln w="9525" cap="flat" cmpd="sng">
            <a:solidFill>
              <a:schemeClr val="tx1"/>
            </a:solidFill>
            <a:prstDash val="dash"/>
            <a:round/>
            <a:headEnd type="none" w="med" len="med"/>
            <a:tailEnd type="triangle" w="med" len="med"/>
          </a:ln>
        </p:spPr>
        <p:txBody>
          <a:bodyPr/>
          <a:lstStyle/>
          <a:p>
            <a:endParaRPr lang="zh-CN" altLang="en-US" b="1"/>
          </a:p>
        </p:txBody>
      </p:sp>
      <p:sp>
        <p:nvSpPr>
          <p:cNvPr id="335" name="Freeform 106"/>
          <p:cNvSpPr/>
          <p:nvPr/>
        </p:nvSpPr>
        <p:spPr>
          <a:xfrm>
            <a:off x="7105849" y="2695353"/>
            <a:ext cx="1189578" cy="1198176"/>
          </a:xfrm>
          <a:custGeom>
            <a:avLst/>
            <a:gdLst/>
            <a:ahLst/>
            <a:cxnLst>
              <a:cxn ang="0">
                <a:pos x="444" y="957"/>
              </a:cxn>
              <a:cxn ang="0">
                <a:pos x="328" y="894"/>
              </a:cxn>
              <a:cxn ang="0">
                <a:pos x="195" y="744"/>
              </a:cxn>
              <a:cxn ang="0">
                <a:pos x="159" y="495"/>
              </a:cxn>
              <a:cxn ang="0">
                <a:pos x="150" y="309"/>
              </a:cxn>
              <a:cxn ang="0">
                <a:pos x="115" y="159"/>
              </a:cxn>
              <a:cxn ang="0">
                <a:pos x="0" y="0"/>
              </a:cxn>
            </a:cxnLst>
            <a:rect l="0" t="0" r="0" b="0"/>
            <a:pathLst>
              <a:path w="444" h="957">
                <a:moveTo>
                  <a:pt x="444" y="957"/>
                </a:moveTo>
                <a:cubicBezTo>
                  <a:pt x="425" y="947"/>
                  <a:pt x="369" y="929"/>
                  <a:pt x="328" y="894"/>
                </a:cubicBezTo>
                <a:cubicBezTo>
                  <a:pt x="287" y="859"/>
                  <a:pt x="223" y="811"/>
                  <a:pt x="195" y="744"/>
                </a:cubicBezTo>
                <a:cubicBezTo>
                  <a:pt x="167" y="677"/>
                  <a:pt x="166" y="567"/>
                  <a:pt x="159" y="495"/>
                </a:cubicBezTo>
                <a:cubicBezTo>
                  <a:pt x="152" y="423"/>
                  <a:pt x="157" y="365"/>
                  <a:pt x="150" y="309"/>
                </a:cubicBezTo>
                <a:cubicBezTo>
                  <a:pt x="143" y="253"/>
                  <a:pt x="140" y="210"/>
                  <a:pt x="115" y="159"/>
                </a:cubicBezTo>
                <a:cubicBezTo>
                  <a:pt x="90" y="108"/>
                  <a:pt x="24" y="33"/>
                  <a:pt x="0" y="0"/>
                </a:cubicBezTo>
              </a:path>
            </a:pathLst>
          </a:custGeom>
          <a:noFill/>
          <a:ln w="9525" cap="flat" cmpd="sng">
            <a:solidFill>
              <a:schemeClr val="tx1"/>
            </a:solidFill>
            <a:prstDash val="dash"/>
            <a:round/>
            <a:headEnd type="none" w="med" len="med"/>
            <a:tailEnd type="triangle" w="med" len="med"/>
          </a:ln>
        </p:spPr>
        <p:txBody>
          <a:bodyPr/>
          <a:lstStyle/>
          <a:p>
            <a:endParaRPr lang="zh-CN" altLang="en-US" b="1"/>
          </a:p>
        </p:txBody>
      </p:sp>
      <p:sp>
        <p:nvSpPr>
          <p:cNvPr id="336" name="Line 107"/>
          <p:cNvSpPr/>
          <p:nvPr/>
        </p:nvSpPr>
        <p:spPr>
          <a:xfrm flipV="1">
            <a:off x="2700054" y="2382809"/>
            <a:ext cx="2816707" cy="577555"/>
          </a:xfrm>
          <a:prstGeom prst="line">
            <a:avLst/>
          </a:prstGeom>
          <a:ln w="9525" cap="flat" cmpd="sng">
            <a:solidFill>
              <a:schemeClr val="tx1"/>
            </a:solidFill>
            <a:prstDash val="dash"/>
            <a:round/>
            <a:headEnd type="none" w="med" len="med"/>
            <a:tailEnd type="triangle" w="med" len="med"/>
          </a:ln>
        </p:spPr>
      </p:sp>
      <p:sp>
        <p:nvSpPr>
          <p:cNvPr id="337" name="Rectangle 109"/>
          <p:cNvSpPr/>
          <p:nvPr/>
        </p:nvSpPr>
        <p:spPr>
          <a:xfrm rot="20918053">
            <a:off x="3487980" y="2379354"/>
            <a:ext cx="1098550" cy="274638"/>
          </a:xfrm>
          <a:prstGeom prst="rect">
            <a:avLst/>
          </a:prstGeom>
          <a:noFill/>
          <a:ln w="9525">
            <a:noFill/>
          </a:ln>
        </p:spPr>
        <p:txBody>
          <a:bodyPr wrap="none" anchor="t">
            <a:spAutoFit/>
          </a:bodyPr>
          <a:lstStyle/>
          <a:p>
            <a:pPr algn="ctr"/>
            <a:r>
              <a:rPr lang="zh-CN" altLang="en-US" sz="1200" b="1" dirty="0">
                <a:solidFill>
                  <a:srgbClr val="CC0000"/>
                </a:solidFill>
                <a:latin typeface="微软雅黑" panose="020B0503020204020204" pitchFamily="34" charset="-122"/>
                <a:ea typeface="微软雅黑" panose="020B0503020204020204" pitchFamily="34" charset="-122"/>
              </a:rPr>
              <a:t>被选择被组合</a:t>
            </a:r>
            <a:endParaRPr lang="zh-CN" altLang="en-US" sz="1200" b="1" dirty="0">
              <a:solidFill>
                <a:srgbClr val="CC0000"/>
              </a:solidFill>
              <a:latin typeface="微软雅黑" panose="020B0503020204020204" pitchFamily="34" charset="-122"/>
              <a:ea typeface="微软雅黑" panose="020B0503020204020204" pitchFamily="34" charset="-122"/>
            </a:endParaRPr>
          </a:p>
        </p:txBody>
      </p:sp>
      <p:sp>
        <p:nvSpPr>
          <p:cNvPr id="340" name="Line 46"/>
          <p:cNvSpPr/>
          <p:nvPr/>
        </p:nvSpPr>
        <p:spPr>
          <a:xfrm flipV="1">
            <a:off x="2706404" y="6513513"/>
            <a:ext cx="4883155" cy="26756"/>
          </a:xfrm>
          <a:prstGeom prst="line">
            <a:avLst/>
          </a:prstGeom>
          <a:ln w="9525" cap="flat" cmpd="sng">
            <a:solidFill>
              <a:schemeClr val="tx1"/>
            </a:solidFill>
            <a:prstDash val="solid"/>
            <a:round/>
            <a:headEnd type="none" w="med" len="med"/>
            <a:tailEnd type="triangle" w="med" len="med"/>
          </a:ln>
        </p:spPr>
      </p:sp>
      <p:sp>
        <p:nvSpPr>
          <p:cNvPr id="342" name="Line 85"/>
          <p:cNvSpPr/>
          <p:nvPr/>
        </p:nvSpPr>
        <p:spPr>
          <a:xfrm flipH="1" flipV="1">
            <a:off x="6643407" y="3623301"/>
            <a:ext cx="2379" cy="246064"/>
          </a:xfrm>
          <a:prstGeom prst="line">
            <a:avLst/>
          </a:prstGeom>
          <a:ln w="28575" cap="flat" cmpd="sng">
            <a:solidFill>
              <a:schemeClr val="accent2"/>
            </a:solidFill>
            <a:prstDash val="solid"/>
            <a:round/>
            <a:headEnd type="triangle" w="med" len="med"/>
            <a:tailEnd type="triangle" w="med" len="med"/>
          </a:ln>
        </p:spPr>
      </p:sp>
      <p:sp>
        <p:nvSpPr>
          <p:cNvPr id="345" name="Line 84"/>
          <p:cNvSpPr/>
          <p:nvPr/>
        </p:nvSpPr>
        <p:spPr>
          <a:xfrm flipH="1">
            <a:off x="10111610" y="2890516"/>
            <a:ext cx="2071" cy="239727"/>
          </a:xfrm>
          <a:prstGeom prst="line">
            <a:avLst/>
          </a:prstGeom>
          <a:ln w="38100" cap="flat" cmpd="sng">
            <a:solidFill>
              <a:schemeClr val="tx1"/>
            </a:solidFill>
            <a:prstDash val="solid"/>
            <a:round/>
            <a:headEnd type="none" w="med" len="med"/>
            <a:tailEnd type="triangle" w="med" len="med"/>
          </a:ln>
        </p:spPr>
      </p:sp>
      <p:sp>
        <p:nvSpPr>
          <p:cNvPr id="346" name="Line 77"/>
          <p:cNvSpPr/>
          <p:nvPr/>
        </p:nvSpPr>
        <p:spPr>
          <a:xfrm>
            <a:off x="8331200" y="2126638"/>
            <a:ext cx="0" cy="314211"/>
          </a:xfrm>
          <a:prstGeom prst="line">
            <a:avLst/>
          </a:prstGeom>
          <a:ln w="38100" cap="flat" cmpd="dbl">
            <a:solidFill>
              <a:schemeClr val="tx1"/>
            </a:solidFill>
            <a:prstDash val="solid"/>
            <a:round/>
            <a:headEnd type="none" w="med" len="med"/>
            <a:tailEnd type="triangle" w="med" len="med"/>
          </a:ln>
        </p:spPr>
      </p:sp>
      <p:sp>
        <p:nvSpPr>
          <p:cNvPr id="347" name="Line 77"/>
          <p:cNvSpPr/>
          <p:nvPr/>
        </p:nvSpPr>
        <p:spPr>
          <a:xfrm>
            <a:off x="6582286" y="2103579"/>
            <a:ext cx="0" cy="314211"/>
          </a:xfrm>
          <a:prstGeom prst="line">
            <a:avLst/>
          </a:prstGeom>
          <a:ln w="38100" cap="flat" cmpd="dbl">
            <a:solidFill>
              <a:schemeClr val="tx1"/>
            </a:solidFill>
            <a:prstDash val="solid"/>
            <a:round/>
            <a:headEnd type="none" w="med" len="med"/>
            <a:tailEnd type="triangle" w="med" len="med"/>
          </a:ln>
        </p:spPr>
      </p:sp>
      <p:sp>
        <p:nvSpPr>
          <p:cNvPr id="348" name="内容占位符 34"/>
          <p:cNvSpPr txBox="1"/>
          <p:nvPr/>
        </p:nvSpPr>
        <p:spPr>
          <a:xfrm>
            <a:off x="397164" y="1219203"/>
            <a:ext cx="8266773" cy="74929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30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数据存储与查询实现的基本框架示意</a:t>
            </a:r>
            <a:endParaRPr lang="en-US" altLang="zh-CN" dirty="0">
              <a:latin typeface="微软雅黑" panose="020B0503020204020204" pitchFamily="34" charset="-122"/>
              <a:ea typeface="微软雅黑" panose="020B0503020204020204" pitchFamily="34" charset="-122"/>
            </a:endParaRPr>
          </a:p>
          <a:p>
            <a:pPr marL="0" indent="0">
              <a:lnSpc>
                <a:spcPct val="130000"/>
              </a:lnSpc>
              <a:buFont typeface="Wingdings" panose="05000000000000000000" pitchFamily="2" charset="2"/>
              <a:buNone/>
            </a:pPr>
            <a:endParaRPr lang="en-US" altLang="zh-CN" sz="2000" dirty="0">
              <a:latin typeface="微软雅黑" panose="020B0503020204020204" pitchFamily="34" charset="-122"/>
              <a:ea typeface="微软雅黑" panose="020B0503020204020204" pitchFamily="34" charset="-122"/>
            </a:endParaRPr>
          </a:p>
        </p:txBody>
      </p:sp>
      <p:sp>
        <p:nvSpPr>
          <p:cNvPr id="349" name="Line 85"/>
          <p:cNvSpPr/>
          <p:nvPr/>
        </p:nvSpPr>
        <p:spPr>
          <a:xfrm flipH="1" flipV="1">
            <a:off x="8447546" y="3649395"/>
            <a:ext cx="2379" cy="246064"/>
          </a:xfrm>
          <a:prstGeom prst="line">
            <a:avLst/>
          </a:prstGeom>
          <a:ln w="28575" cap="flat" cmpd="sng">
            <a:solidFill>
              <a:schemeClr val="accent2"/>
            </a:solidFill>
            <a:prstDash val="solid"/>
            <a:round/>
            <a:headEnd type="triangle" w="med" len="med"/>
            <a:tailEnd type="triangle" w="med" len="med"/>
          </a:ln>
        </p:spPr>
      </p:sp>
      <p:sp>
        <p:nvSpPr>
          <p:cNvPr id="350" name="Line 85"/>
          <p:cNvSpPr/>
          <p:nvPr/>
        </p:nvSpPr>
        <p:spPr>
          <a:xfrm flipH="1" flipV="1">
            <a:off x="10195321" y="3624609"/>
            <a:ext cx="2379" cy="246064"/>
          </a:xfrm>
          <a:prstGeom prst="line">
            <a:avLst/>
          </a:prstGeom>
          <a:ln w="28575" cap="flat" cmpd="sng">
            <a:solidFill>
              <a:schemeClr val="accent2"/>
            </a:solidFill>
            <a:prstDash val="solid"/>
            <a:round/>
            <a:headEnd type="triangle" w="med" len="med"/>
            <a:tailEnd type="triangle" w="med" len="med"/>
          </a:ln>
        </p:spPr>
      </p:sp>
      <p:sp>
        <p:nvSpPr>
          <p:cNvPr id="351" name="Line 84"/>
          <p:cNvSpPr/>
          <p:nvPr/>
        </p:nvSpPr>
        <p:spPr>
          <a:xfrm flipH="1">
            <a:off x="8329129" y="2910143"/>
            <a:ext cx="2071" cy="239727"/>
          </a:xfrm>
          <a:prstGeom prst="line">
            <a:avLst/>
          </a:prstGeom>
          <a:ln w="38100" cap="flat" cmpd="sng">
            <a:solidFill>
              <a:schemeClr val="tx1"/>
            </a:solidFill>
            <a:prstDash val="solid"/>
            <a:round/>
            <a:headEnd type="none" w="med" len="med"/>
            <a:tailEnd type="triangle" w="med" len="med"/>
          </a:ln>
        </p:spPr>
      </p:sp>
      <p:sp>
        <p:nvSpPr>
          <p:cNvPr id="352" name="Line 84"/>
          <p:cNvSpPr/>
          <p:nvPr/>
        </p:nvSpPr>
        <p:spPr>
          <a:xfrm>
            <a:off x="6580387" y="2904301"/>
            <a:ext cx="4817" cy="237136"/>
          </a:xfrm>
          <a:prstGeom prst="line">
            <a:avLst/>
          </a:prstGeom>
          <a:ln w="38100" cap="flat" cmpd="sng">
            <a:solidFill>
              <a:schemeClr val="tx1"/>
            </a:solidFill>
            <a:prstDash val="solid"/>
            <a:round/>
            <a:headEnd type="none" w="med" len="med"/>
            <a:tailEnd type="triangle" w="med" len="med"/>
          </a:ln>
        </p:spPr>
      </p:sp>
      <p:sp>
        <p:nvSpPr>
          <p:cNvPr id="35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mc:AlternateContent xmlns:mc="http://schemas.openxmlformats.org/markup-compatibility/2006" xmlns:p14="http://schemas.microsoft.com/office/powerpoint/2010/main">
        <mc:Choice Requires="p14">
          <p:contentPart r:id="rId3" p14:bwMode="auto">
            <p14:nvContentPartPr>
              <p14:cNvPr id="355" name="Ink 37"/>
              <p14:cNvContentPartPr/>
              <p14:nvPr/>
            </p14:nvContentPartPr>
            <p14:xfrm>
              <a:off x="3875082" y="6429375"/>
              <a:ext cx="1587" cy="1588"/>
            </p14:xfrm>
          </p:contentPart>
        </mc:Choice>
        <mc:Fallback xmlns="">
          <p:pic>
            <p:nvPicPr>
              <p:cNvPr id="355" name="Ink 37"/>
            </p:nvPicPr>
            <p:blipFill>
              <a:blip r:embed="rId4"/>
            </p:blipFill>
            <p:spPr>
              <a:xfrm>
                <a:off x="3875082" y="6429375"/>
                <a:ext cx="1587" cy="1588"/>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 calcmode="lin" valueType="num">
                                      <p:cBhvr additive="base">
                                        <p:cTn id="7" dur="500" fill="hold"/>
                                        <p:tgtEl>
                                          <p:spTgt spid="202"/>
                                        </p:tgtEl>
                                        <p:attrNameLst>
                                          <p:attrName>ppt_x</p:attrName>
                                        </p:attrNameLst>
                                      </p:cBhvr>
                                      <p:tavLst>
                                        <p:tav tm="0">
                                          <p:val>
                                            <p:strVal val="#ppt_x"/>
                                          </p:val>
                                        </p:tav>
                                        <p:tav tm="100000">
                                          <p:val>
                                            <p:strVal val="#ppt_x"/>
                                          </p:val>
                                        </p:tav>
                                      </p:tavLst>
                                    </p:anim>
                                    <p:anim calcmode="lin" valueType="num">
                                      <p:cBhvr additive="base">
                                        <p:cTn id="8" dur="500" fill="hold"/>
                                        <p:tgtEl>
                                          <p:spTgt spid="20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6"/>
                                        </p:tgtEl>
                                        <p:attrNameLst>
                                          <p:attrName>style.visibility</p:attrName>
                                        </p:attrNameLst>
                                      </p:cBhvr>
                                      <p:to>
                                        <p:strVal val="visible"/>
                                      </p:to>
                                    </p:set>
                                    <p:anim calcmode="lin" valueType="num">
                                      <p:cBhvr additive="base">
                                        <p:cTn id="11" dur="500" fill="hold"/>
                                        <p:tgtEl>
                                          <p:spTgt spid="216"/>
                                        </p:tgtEl>
                                        <p:attrNameLst>
                                          <p:attrName>ppt_x</p:attrName>
                                        </p:attrNameLst>
                                      </p:cBhvr>
                                      <p:tavLst>
                                        <p:tav tm="0">
                                          <p:val>
                                            <p:strVal val="#ppt_x"/>
                                          </p:val>
                                        </p:tav>
                                        <p:tav tm="100000">
                                          <p:val>
                                            <p:strVal val="#ppt_x"/>
                                          </p:val>
                                        </p:tav>
                                      </p:tavLst>
                                    </p:anim>
                                    <p:anim calcmode="lin" valueType="num">
                                      <p:cBhvr additive="base">
                                        <p:cTn id="12" dur="500" fill="hold"/>
                                        <p:tgtEl>
                                          <p:spTgt spid="2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22"/>
                                        </p:tgtEl>
                                        <p:attrNameLst>
                                          <p:attrName>style.visibility</p:attrName>
                                        </p:attrNameLst>
                                      </p:cBhvr>
                                      <p:to>
                                        <p:strVal val="visible"/>
                                      </p:to>
                                    </p:set>
                                    <p:anim calcmode="lin" valueType="num">
                                      <p:cBhvr additive="base">
                                        <p:cTn id="15" dur="500" fill="hold"/>
                                        <p:tgtEl>
                                          <p:spTgt spid="222"/>
                                        </p:tgtEl>
                                        <p:attrNameLst>
                                          <p:attrName>ppt_x</p:attrName>
                                        </p:attrNameLst>
                                      </p:cBhvr>
                                      <p:tavLst>
                                        <p:tav tm="0">
                                          <p:val>
                                            <p:strVal val="#ppt_x"/>
                                          </p:val>
                                        </p:tav>
                                        <p:tav tm="100000">
                                          <p:val>
                                            <p:strVal val="#ppt_x"/>
                                          </p:val>
                                        </p:tav>
                                      </p:tavLst>
                                    </p:anim>
                                    <p:anim calcmode="lin" valueType="num">
                                      <p:cBhvr additive="base">
                                        <p:cTn id="16" dur="500" fill="hold"/>
                                        <p:tgtEl>
                                          <p:spTgt spid="22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7"/>
                                        </p:tgtEl>
                                        <p:attrNameLst>
                                          <p:attrName>style.visibility</p:attrName>
                                        </p:attrNameLst>
                                      </p:cBhvr>
                                      <p:to>
                                        <p:strVal val="visible"/>
                                      </p:to>
                                    </p:set>
                                    <p:anim calcmode="lin" valueType="num">
                                      <p:cBhvr additive="base">
                                        <p:cTn id="21" dur="500" fill="hold"/>
                                        <p:tgtEl>
                                          <p:spTgt spid="207"/>
                                        </p:tgtEl>
                                        <p:attrNameLst>
                                          <p:attrName>ppt_x</p:attrName>
                                        </p:attrNameLst>
                                      </p:cBhvr>
                                      <p:tavLst>
                                        <p:tav tm="0">
                                          <p:val>
                                            <p:strVal val="#ppt_x"/>
                                          </p:val>
                                        </p:tav>
                                        <p:tav tm="100000">
                                          <p:val>
                                            <p:strVal val="#ppt_x"/>
                                          </p:val>
                                        </p:tav>
                                      </p:tavLst>
                                    </p:anim>
                                    <p:anim calcmode="lin" valueType="num">
                                      <p:cBhvr additive="base">
                                        <p:cTn id="22" dur="500" fill="hold"/>
                                        <p:tgtEl>
                                          <p:spTgt spid="20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12"/>
                                        </p:tgtEl>
                                        <p:attrNameLst>
                                          <p:attrName>style.visibility</p:attrName>
                                        </p:attrNameLst>
                                      </p:cBhvr>
                                      <p:to>
                                        <p:strVal val="visible"/>
                                      </p:to>
                                    </p:set>
                                    <p:anim calcmode="lin" valueType="num">
                                      <p:cBhvr additive="base">
                                        <p:cTn id="25" dur="500" fill="hold"/>
                                        <p:tgtEl>
                                          <p:spTgt spid="212"/>
                                        </p:tgtEl>
                                        <p:attrNameLst>
                                          <p:attrName>ppt_x</p:attrName>
                                        </p:attrNameLst>
                                      </p:cBhvr>
                                      <p:tavLst>
                                        <p:tav tm="0">
                                          <p:val>
                                            <p:strVal val="#ppt_x"/>
                                          </p:val>
                                        </p:tav>
                                        <p:tav tm="100000">
                                          <p:val>
                                            <p:strVal val="#ppt_x"/>
                                          </p:val>
                                        </p:tav>
                                      </p:tavLst>
                                    </p:anim>
                                    <p:anim calcmode="lin" valueType="num">
                                      <p:cBhvr additive="base">
                                        <p:cTn id="26" dur="500" fill="hold"/>
                                        <p:tgtEl>
                                          <p:spTgt spid="212"/>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13"/>
                                        </p:tgtEl>
                                        <p:attrNameLst>
                                          <p:attrName>style.visibility</p:attrName>
                                        </p:attrNameLst>
                                      </p:cBhvr>
                                      <p:to>
                                        <p:strVal val="visible"/>
                                      </p:to>
                                    </p:set>
                                    <p:anim calcmode="lin" valueType="num">
                                      <p:cBhvr additive="base">
                                        <p:cTn id="29" dur="500" fill="hold"/>
                                        <p:tgtEl>
                                          <p:spTgt spid="213"/>
                                        </p:tgtEl>
                                        <p:attrNameLst>
                                          <p:attrName>ppt_x</p:attrName>
                                        </p:attrNameLst>
                                      </p:cBhvr>
                                      <p:tavLst>
                                        <p:tav tm="0">
                                          <p:val>
                                            <p:strVal val="#ppt_x"/>
                                          </p:val>
                                        </p:tav>
                                        <p:tav tm="100000">
                                          <p:val>
                                            <p:strVal val="#ppt_x"/>
                                          </p:val>
                                        </p:tav>
                                      </p:tavLst>
                                    </p:anim>
                                    <p:anim calcmode="lin" valueType="num">
                                      <p:cBhvr additive="base">
                                        <p:cTn id="30" dur="500" fill="hold"/>
                                        <p:tgtEl>
                                          <p:spTgt spid="213"/>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23"/>
                                        </p:tgtEl>
                                        <p:attrNameLst>
                                          <p:attrName>style.visibility</p:attrName>
                                        </p:attrNameLst>
                                      </p:cBhvr>
                                      <p:to>
                                        <p:strVal val="visible"/>
                                      </p:to>
                                    </p:set>
                                    <p:anim calcmode="lin" valueType="num">
                                      <p:cBhvr additive="base">
                                        <p:cTn id="33" dur="500" fill="hold"/>
                                        <p:tgtEl>
                                          <p:spTgt spid="223"/>
                                        </p:tgtEl>
                                        <p:attrNameLst>
                                          <p:attrName>ppt_x</p:attrName>
                                        </p:attrNameLst>
                                      </p:cBhvr>
                                      <p:tavLst>
                                        <p:tav tm="0">
                                          <p:val>
                                            <p:strVal val="#ppt_x"/>
                                          </p:val>
                                        </p:tav>
                                        <p:tav tm="100000">
                                          <p:val>
                                            <p:strVal val="#ppt_x"/>
                                          </p:val>
                                        </p:tav>
                                      </p:tavLst>
                                    </p:anim>
                                    <p:anim calcmode="lin" valueType="num">
                                      <p:cBhvr additive="base">
                                        <p:cTn id="34" dur="500" fill="hold"/>
                                        <p:tgtEl>
                                          <p:spTgt spid="22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24"/>
                                        </p:tgtEl>
                                        <p:attrNameLst>
                                          <p:attrName>style.visibility</p:attrName>
                                        </p:attrNameLst>
                                      </p:cBhvr>
                                      <p:to>
                                        <p:strVal val="visible"/>
                                      </p:to>
                                    </p:set>
                                    <p:anim calcmode="lin" valueType="num">
                                      <p:cBhvr additive="base">
                                        <p:cTn id="37" dur="500" fill="hold"/>
                                        <p:tgtEl>
                                          <p:spTgt spid="224"/>
                                        </p:tgtEl>
                                        <p:attrNameLst>
                                          <p:attrName>ppt_x</p:attrName>
                                        </p:attrNameLst>
                                      </p:cBhvr>
                                      <p:tavLst>
                                        <p:tav tm="0">
                                          <p:val>
                                            <p:strVal val="#ppt_x"/>
                                          </p:val>
                                        </p:tav>
                                        <p:tav tm="100000">
                                          <p:val>
                                            <p:strVal val="#ppt_x"/>
                                          </p:val>
                                        </p:tav>
                                      </p:tavLst>
                                    </p:anim>
                                    <p:anim calcmode="lin" valueType="num">
                                      <p:cBhvr additive="base">
                                        <p:cTn id="38" dur="500" fill="hold"/>
                                        <p:tgtEl>
                                          <p:spTgt spid="224"/>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19"/>
                                        </p:tgtEl>
                                        <p:attrNameLst>
                                          <p:attrName>style.visibility</p:attrName>
                                        </p:attrNameLst>
                                      </p:cBhvr>
                                      <p:to>
                                        <p:strVal val="visible"/>
                                      </p:to>
                                    </p:set>
                                    <p:anim calcmode="lin" valueType="num">
                                      <p:cBhvr additive="base">
                                        <p:cTn id="41" dur="500" fill="hold"/>
                                        <p:tgtEl>
                                          <p:spTgt spid="219"/>
                                        </p:tgtEl>
                                        <p:attrNameLst>
                                          <p:attrName>ppt_x</p:attrName>
                                        </p:attrNameLst>
                                      </p:cBhvr>
                                      <p:tavLst>
                                        <p:tav tm="0">
                                          <p:val>
                                            <p:strVal val="#ppt_x"/>
                                          </p:val>
                                        </p:tav>
                                        <p:tav tm="100000">
                                          <p:val>
                                            <p:strVal val="#ppt_x"/>
                                          </p:val>
                                        </p:tav>
                                      </p:tavLst>
                                    </p:anim>
                                    <p:anim calcmode="lin" valueType="num">
                                      <p:cBhvr additive="base">
                                        <p:cTn id="42" dur="500" fill="hold"/>
                                        <p:tgtEl>
                                          <p:spTgt spid="21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20"/>
                                        </p:tgtEl>
                                        <p:attrNameLst>
                                          <p:attrName>style.visibility</p:attrName>
                                        </p:attrNameLst>
                                      </p:cBhvr>
                                      <p:to>
                                        <p:strVal val="visible"/>
                                      </p:to>
                                    </p:set>
                                    <p:anim calcmode="lin" valueType="num">
                                      <p:cBhvr additive="base">
                                        <p:cTn id="45" dur="500" fill="hold"/>
                                        <p:tgtEl>
                                          <p:spTgt spid="220"/>
                                        </p:tgtEl>
                                        <p:attrNameLst>
                                          <p:attrName>ppt_x</p:attrName>
                                        </p:attrNameLst>
                                      </p:cBhvr>
                                      <p:tavLst>
                                        <p:tav tm="0">
                                          <p:val>
                                            <p:strVal val="#ppt_x"/>
                                          </p:val>
                                        </p:tav>
                                        <p:tav tm="100000">
                                          <p:val>
                                            <p:strVal val="#ppt_x"/>
                                          </p:val>
                                        </p:tav>
                                      </p:tavLst>
                                    </p:anim>
                                    <p:anim calcmode="lin" valueType="num">
                                      <p:cBhvr additive="base">
                                        <p:cTn id="46" dur="500" fill="hold"/>
                                        <p:tgtEl>
                                          <p:spTgt spid="220"/>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25"/>
                                        </p:tgtEl>
                                        <p:attrNameLst>
                                          <p:attrName>style.visibility</p:attrName>
                                        </p:attrNameLst>
                                      </p:cBhvr>
                                      <p:to>
                                        <p:strVal val="visible"/>
                                      </p:to>
                                    </p:set>
                                    <p:anim calcmode="lin" valueType="num">
                                      <p:cBhvr additive="base">
                                        <p:cTn id="51" dur="500" fill="hold"/>
                                        <p:tgtEl>
                                          <p:spTgt spid="225"/>
                                        </p:tgtEl>
                                        <p:attrNameLst>
                                          <p:attrName>ppt_x</p:attrName>
                                        </p:attrNameLst>
                                      </p:cBhvr>
                                      <p:tavLst>
                                        <p:tav tm="0">
                                          <p:val>
                                            <p:strVal val="#ppt_x"/>
                                          </p:val>
                                        </p:tav>
                                        <p:tav tm="100000">
                                          <p:val>
                                            <p:strVal val="#ppt_x"/>
                                          </p:val>
                                        </p:tav>
                                      </p:tavLst>
                                    </p:anim>
                                    <p:anim calcmode="lin" valueType="num">
                                      <p:cBhvr additive="base">
                                        <p:cTn id="52" dur="500" fill="hold"/>
                                        <p:tgtEl>
                                          <p:spTgt spid="225"/>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28"/>
                                        </p:tgtEl>
                                        <p:attrNameLst>
                                          <p:attrName>style.visibility</p:attrName>
                                        </p:attrNameLst>
                                      </p:cBhvr>
                                      <p:to>
                                        <p:strVal val="visible"/>
                                      </p:to>
                                    </p:set>
                                    <p:anim calcmode="lin" valueType="num">
                                      <p:cBhvr additive="base">
                                        <p:cTn id="55" dur="500" fill="hold"/>
                                        <p:tgtEl>
                                          <p:spTgt spid="228"/>
                                        </p:tgtEl>
                                        <p:attrNameLst>
                                          <p:attrName>ppt_x</p:attrName>
                                        </p:attrNameLst>
                                      </p:cBhvr>
                                      <p:tavLst>
                                        <p:tav tm="0">
                                          <p:val>
                                            <p:strVal val="#ppt_x"/>
                                          </p:val>
                                        </p:tav>
                                        <p:tav tm="100000">
                                          <p:val>
                                            <p:strVal val="#ppt_x"/>
                                          </p:val>
                                        </p:tav>
                                      </p:tavLst>
                                    </p:anim>
                                    <p:anim calcmode="lin" valueType="num">
                                      <p:cBhvr additive="base">
                                        <p:cTn id="56" dur="500" fill="hold"/>
                                        <p:tgtEl>
                                          <p:spTgt spid="228"/>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33"/>
                                        </p:tgtEl>
                                        <p:attrNameLst>
                                          <p:attrName>style.visibility</p:attrName>
                                        </p:attrNameLst>
                                      </p:cBhvr>
                                      <p:to>
                                        <p:strVal val="visible"/>
                                      </p:to>
                                    </p:set>
                                    <p:anim calcmode="lin" valueType="num">
                                      <p:cBhvr additive="base">
                                        <p:cTn id="59" dur="500" fill="hold"/>
                                        <p:tgtEl>
                                          <p:spTgt spid="233"/>
                                        </p:tgtEl>
                                        <p:attrNameLst>
                                          <p:attrName>ppt_x</p:attrName>
                                        </p:attrNameLst>
                                      </p:cBhvr>
                                      <p:tavLst>
                                        <p:tav tm="0">
                                          <p:val>
                                            <p:strVal val="#ppt_x"/>
                                          </p:val>
                                        </p:tav>
                                        <p:tav tm="100000">
                                          <p:val>
                                            <p:strVal val="#ppt_x"/>
                                          </p:val>
                                        </p:tav>
                                      </p:tavLst>
                                    </p:anim>
                                    <p:anim calcmode="lin" valueType="num">
                                      <p:cBhvr additive="base">
                                        <p:cTn id="60" dur="500" fill="hold"/>
                                        <p:tgtEl>
                                          <p:spTgt spid="233"/>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37"/>
                                        </p:tgtEl>
                                        <p:attrNameLst>
                                          <p:attrName>style.visibility</p:attrName>
                                        </p:attrNameLst>
                                      </p:cBhvr>
                                      <p:to>
                                        <p:strVal val="visible"/>
                                      </p:to>
                                    </p:set>
                                    <p:anim calcmode="lin" valueType="num">
                                      <p:cBhvr additive="base">
                                        <p:cTn id="63" dur="500" fill="hold"/>
                                        <p:tgtEl>
                                          <p:spTgt spid="237"/>
                                        </p:tgtEl>
                                        <p:attrNameLst>
                                          <p:attrName>ppt_x</p:attrName>
                                        </p:attrNameLst>
                                      </p:cBhvr>
                                      <p:tavLst>
                                        <p:tav tm="0">
                                          <p:val>
                                            <p:strVal val="#ppt_x"/>
                                          </p:val>
                                        </p:tav>
                                        <p:tav tm="100000">
                                          <p:val>
                                            <p:strVal val="#ppt_x"/>
                                          </p:val>
                                        </p:tav>
                                      </p:tavLst>
                                    </p:anim>
                                    <p:anim calcmode="lin" valueType="num">
                                      <p:cBhvr additive="base">
                                        <p:cTn id="64" dur="500" fill="hold"/>
                                        <p:tgtEl>
                                          <p:spTgt spid="23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40"/>
                                        </p:tgtEl>
                                        <p:attrNameLst>
                                          <p:attrName>style.visibility</p:attrName>
                                        </p:attrNameLst>
                                      </p:cBhvr>
                                      <p:to>
                                        <p:strVal val="visible"/>
                                      </p:to>
                                    </p:set>
                                    <p:anim calcmode="lin" valueType="num">
                                      <p:cBhvr additive="base">
                                        <p:cTn id="67" dur="500" fill="hold"/>
                                        <p:tgtEl>
                                          <p:spTgt spid="240"/>
                                        </p:tgtEl>
                                        <p:attrNameLst>
                                          <p:attrName>ppt_x</p:attrName>
                                        </p:attrNameLst>
                                      </p:cBhvr>
                                      <p:tavLst>
                                        <p:tav tm="0">
                                          <p:val>
                                            <p:strVal val="#ppt_x"/>
                                          </p:val>
                                        </p:tav>
                                        <p:tav tm="100000">
                                          <p:val>
                                            <p:strVal val="#ppt_x"/>
                                          </p:val>
                                        </p:tav>
                                      </p:tavLst>
                                    </p:anim>
                                    <p:anim calcmode="lin" valueType="num">
                                      <p:cBhvr additive="base">
                                        <p:cTn id="68" dur="500" fill="hold"/>
                                        <p:tgtEl>
                                          <p:spTgt spid="240"/>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42"/>
                                        </p:tgtEl>
                                        <p:attrNameLst>
                                          <p:attrName>style.visibility</p:attrName>
                                        </p:attrNameLst>
                                      </p:cBhvr>
                                      <p:to>
                                        <p:strVal val="visible"/>
                                      </p:to>
                                    </p:set>
                                    <p:anim calcmode="lin" valueType="num">
                                      <p:cBhvr additive="base">
                                        <p:cTn id="71" dur="500" fill="hold"/>
                                        <p:tgtEl>
                                          <p:spTgt spid="242"/>
                                        </p:tgtEl>
                                        <p:attrNameLst>
                                          <p:attrName>ppt_x</p:attrName>
                                        </p:attrNameLst>
                                      </p:cBhvr>
                                      <p:tavLst>
                                        <p:tav tm="0">
                                          <p:val>
                                            <p:strVal val="#ppt_x"/>
                                          </p:val>
                                        </p:tav>
                                        <p:tav tm="100000">
                                          <p:val>
                                            <p:strVal val="#ppt_x"/>
                                          </p:val>
                                        </p:tav>
                                      </p:tavLst>
                                    </p:anim>
                                    <p:anim calcmode="lin" valueType="num">
                                      <p:cBhvr additive="base">
                                        <p:cTn id="72" dur="500" fill="hold"/>
                                        <p:tgtEl>
                                          <p:spTgt spid="242"/>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36"/>
                                        </p:tgtEl>
                                        <p:attrNameLst>
                                          <p:attrName>style.visibility</p:attrName>
                                        </p:attrNameLst>
                                      </p:cBhvr>
                                      <p:to>
                                        <p:strVal val="visible"/>
                                      </p:to>
                                    </p:set>
                                    <p:anim calcmode="lin" valueType="num">
                                      <p:cBhvr additive="base">
                                        <p:cTn id="75" dur="500" fill="hold"/>
                                        <p:tgtEl>
                                          <p:spTgt spid="236"/>
                                        </p:tgtEl>
                                        <p:attrNameLst>
                                          <p:attrName>ppt_x</p:attrName>
                                        </p:attrNameLst>
                                      </p:cBhvr>
                                      <p:tavLst>
                                        <p:tav tm="0">
                                          <p:val>
                                            <p:strVal val="#ppt_x"/>
                                          </p:val>
                                        </p:tav>
                                        <p:tav tm="100000">
                                          <p:val>
                                            <p:strVal val="#ppt_x"/>
                                          </p:val>
                                        </p:tav>
                                      </p:tavLst>
                                    </p:anim>
                                    <p:anim calcmode="lin" valueType="num">
                                      <p:cBhvr additive="base">
                                        <p:cTn id="76" dur="500" fill="hold"/>
                                        <p:tgtEl>
                                          <p:spTgt spid="236"/>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238"/>
                                        </p:tgtEl>
                                        <p:attrNameLst>
                                          <p:attrName>style.visibility</p:attrName>
                                        </p:attrNameLst>
                                      </p:cBhvr>
                                      <p:to>
                                        <p:strVal val="visible"/>
                                      </p:to>
                                    </p:set>
                                    <p:anim calcmode="lin" valueType="num">
                                      <p:cBhvr additive="base">
                                        <p:cTn id="79" dur="500" fill="hold"/>
                                        <p:tgtEl>
                                          <p:spTgt spid="238"/>
                                        </p:tgtEl>
                                        <p:attrNameLst>
                                          <p:attrName>ppt_x</p:attrName>
                                        </p:attrNameLst>
                                      </p:cBhvr>
                                      <p:tavLst>
                                        <p:tav tm="0">
                                          <p:val>
                                            <p:strVal val="#ppt_x"/>
                                          </p:val>
                                        </p:tav>
                                        <p:tav tm="100000">
                                          <p:val>
                                            <p:strVal val="#ppt_x"/>
                                          </p:val>
                                        </p:tav>
                                      </p:tavLst>
                                    </p:anim>
                                    <p:anim calcmode="lin" valueType="num">
                                      <p:cBhvr additive="base">
                                        <p:cTn id="80" dur="500" fill="hold"/>
                                        <p:tgtEl>
                                          <p:spTgt spid="238"/>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39"/>
                                        </p:tgtEl>
                                        <p:attrNameLst>
                                          <p:attrName>style.visibility</p:attrName>
                                        </p:attrNameLst>
                                      </p:cBhvr>
                                      <p:to>
                                        <p:strVal val="visible"/>
                                      </p:to>
                                    </p:set>
                                    <p:anim calcmode="lin" valueType="num">
                                      <p:cBhvr additive="base">
                                        <p:cTn id="83" dur="500" fill="hold"/>
                                        <p:tgtEl>
                                          <p:spTgt spid="239"/>
                                        </p:tgtEl>
                                        <p:attrNameLst>
                                          <p:attrName>ppt_x</p:attrName>
                                        </p:attrNameLst>
                                      </p:cBhvr>
                                      <p:tavLst>
                                        <p:tav tm="0">
                                          <p:val>
                                            <p:strVal val="#ppt_x"/>
                                          </p:val>
                                        </p:tav>
                                        <p:tav tm="100000">
                                          <p:val>
                                            <p:strVal val="#ppt_x"/>
                                          </p:val>
                                        </p:tav>
                                      </p:tavLst>
                                    </p:anim>
                                    <p:anim calcmode="lin" valueType="num">
                                      <p:cBhvr additive="base">
                                        <p:cTn id="84" dur="500" fill="hold"/>
                                        <p:tgtEl>
                                          <p:spTgt spid="239"/>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324"/>
                                        </p:tgtEl>
                                        <p:attrNameLst>
                                          <p:attrName>style.visibility</p:attrName>
                                        </p:attrNameLst>
                                      </p:cBhvr>
                                      <p:to>
                                        <p:strVal val="visible"/>
                                      </p:to>
                                    </p:set>
                                    <p:anim calcmode="lin" valueType="num">
                                      <p:cBhvr additive="base">
                                        <p:cTn id="89" dur="500" fill="hold"/>
                                        <p:tgtEl>
                                          <p:spTgt spid="324"/>
                                        </p:tgtEl>
                                        <p:attrNameLst>
                                          <p:attrName>ppt_x</p:attrName>
                                        </p:attrNameLst>
                                      </p:cBhvr>
                                      <p:tavLst>
                                        <p:tav tm="0">
                                          <p:val>
                                            <p:strVal val="#ppt_x"/>
                                          </p:val>
                                        </p:tav>
                                        <p:tav tm="100000">
                                          <p:val>
                                            <p:strVal val="#ppt_x"/>
                                          </p:val>
                                        </p:tav>
                                      </p:tavLst>
                                    </p:anim>
                                    <p:anim calcmode="lin" valueType="num">
                                      <p:cBhvr additive="base">
                                        <p:cTn id="90" dur="500" fill="hold"/>
                                        <p:tgtEl>
                                          <p:spTgt spid="324"/>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328"/>
                                        </p:tgtEl>
                                        <p:attrNameLst>
                                          <p:attrName>style.visibility</p:attrName>
                                        </p:attrNameLst>
                                      </p:cBhvr>
                                      <p:to>
                                        <p:strVal val="visible"/>
                                      </p:to>
                                    </p:set>
                                    <p:anim calcmode="lin" valueType="num">
                                      <p:cBhvr additive="base">
                                        <p:cTn id="93" dur="500" fill="hold"/>
                                        <p:tgtEl>
                                          <p:spTgt spid="328"/>
                                        </p:tgtEl>
                                        <p:attrNameLst>
                                          <p:attrName>ppt_x</p:attrName>
                                        </p:attrNameLst>
                                      </p:cBhvr>
                                      <p:tavLst>
                                        <p:tav tm="0">
                                          <p:val>
                                            <p:strVal val="#ppt_x"/>
                                          </p:val>
                                        </p:tav>
                                        <p:tav tm="100000">
                                          <p:val>
                                            <p:strVal val="#ppt_x"/>
                                          </p:val>
                                        </p:tav>
                                      </p:tavLst>
                                    </p:anim>
                                    <p:anim calcmode="lin" valueType="num">
                                      <p:cBhvr additive="base">
                                        <p:cTn id="94" dur="500" fill="hold"/>
                                        <p:tgtEl>
                                          <p:spTgt spid="328"/>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305"/>
                                        </p:tgtEl>
                                        <p:attrNameLst>
                                          <p:attrName>style.visibility</p:attrName>
                                        </p:attrNameLst>
                                      </p:cBhvr>
                                      <p:to>
                                        <p:strVal val="visible"/>
                                      </p:to>
                                    </p:set>
                                    <p:anim calcmode="lin" valueType="num">
                                      <p:cBhvr additive="base">
                                        <p:cTn id="99" dur="500" fill="hold"/>
                                        <p:tgtEl>
                                          <p:spTgt spid="305"/>
                                        </p:tgtEl>
                                        <p:attrNameLst>
                                          <p:attrName>ppt_x</p:attrName>
                                        </p:attrNameLst>
                                      </p:cBhvr>
                                      <p:tavLst>
                                        <p:tav tm="0">
                                          <p:val>
                                            <p:strVal val="#ppt_x"/>
                                          </p:val>
                                        </p:tav>
                                        <p:tav tm="100000">
                                          <p:val>
                                            <p:strVal val="#ppt_x"/>
                                          </p:val>
                                        </p:tav>
                                      </p:tavLst>
                                    </p:anim>
                                    <p:anim calcmode="lin" valueType="num">
                                      <p:cBhvr additive="base">
                                        <p:cTn id="100" dur="500" fill="hold"/>
                                        <p:tgtEl>
                                          <p:spTgt spid="305"/>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08"/>
                                        </p:tgtEl>
                                        <p:attrNameLst>
                                          <p:attrName>style.visibility</p:attrName>
                                        </p:attrNameLst>
                                      </p:cBhvr>
                                      <p:to>
                                        <p:strVal val="visible"/>
                                      </p:to>
                                    </p:set>
                                    <p:anim calcmode="lin" valueType="num">
                                      <p:cBhvr additive="base">
                                        <p:cTn id="103" dur="500" fill="hold"/>
                                        <p:tgtEl>
                                          <p:spTgt spid="308"/>
                                        </p:tgtEl>
                                        <p:attrNameLst>
                                          <p:attrName>ppt_x</p:attrName>
                                        </p:attrNameLst>
                                      </p:cBhvr>
                                      <p:tavLst>
                                        <p:tav tm="0">
                                          <p:val>
                                            <p:strVal val="#ppt_x"/>
                                          </p:val>
                                        </p:tav>
                                        <p:tav tm="100000">
                                          <p:val>
                                            <p:strVal val="#ppt_x"/>
                                          </p:val>
                                        </p:tav>
                                      </p:tavLst>
                                    </p:anim>
                                    <p:anim calcmode="lin" valueType="num">
                                      <p:cBhvr additive="base">
                                        <p:cTn id="104" dur="500" fill="hold"/>
                                        <p:tgtEl>
                                          <p:spTgt spid="308"/>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12"/>
                                        </p:tgtEl>
                                        <p:attrNameLst>
                                          <p:attrName>style.visibility</p:attrName>
                                        </p:attrNameLst>
                                      </p:cBhvr>
                                      <p:to>
                                        <p:strVal val="visible"/>
                                      </p:to>
                                    </p:set>
                                    <p:anim calcmode="lin" valueType="num">
                                      <p:cBhvr additive="base">
                                        <p:cTn id="107" dur="500" fill="hold"/>
                                        <p:tgtEl>
                                          <p:spTgt spid="312"/>
                                        </p:tgtEl>
                                        <p:attrNameLst>
                                          <p:attrName>ppt_x</p:attrName>
                                        </p:attrNameLst>
                                      </p:cBhvr>
                                      <p:tavLst>
                                        <p:tav tm="0">
                                          <p:val>
                                            <p:strVal val="#ppt_x"/>
                                          </p:val>
                                        </p:tav>
                                        <p:tav tm="100000">
                                          <p:val>
                                            <p:strVal val="#ppt_x"/>
                                          </p:val>
                                        </p:tav>
                                      </p:tavLst>
                                    </p:anim>
                                    <p:anim calcmode="lin" valueType="num">
                                      <p:cBhvr additive="base">
                                        <p:cTn id="108" dur="500" fill="hold"/>
                                        <p:tgtEl>
                                          <p:spTgt spid="312"/>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296"/>
                                        </p:tgtEl>
                                        <p:attrNameLst>
                                          <p:attrName>style.visibility</p:attrName>
                                        </p:attrNameLst>
                                      </p:cBhvr>
                                      <p:to>
                                        <p:strVal val="visible"/>
                                      </p:to>
                                    </p:set>
                                    <p:anim calcmode="lin" valueType="num">
                                      <p:cBhvr additive="base">
                                        <p:cTn id="113" dur="500" fill="hold"/>
                                        <p:tgtEl>
                                          <p:spTgt spid="296"/>
                                        </p:tgtEl>
                                        <p:attrNameLst>
                                          <p:attrName>ppt_x</p:attrName>
                                        </p:attrNameLst>
                                      </p:cBhvr>
                                      <p:tavLst>
                                        <p:tav tm="0">
                                          <p:val>
                                            <p:strVal val="#ppt_x"/>
                                          </p:val>
                                        </p:tav>
                                        <p:tav tm="100000">
                                          <p:val>
                                            <p:strVal val="#ppt_x"/>
                                          </p:val>
                                        </p:tav>
                                      </p:tavLst>
                                    </p:anim>
                                    <p:anim calcmode="lin" valueType="num">
                                      <p:cBhvr additive="base">
                                        <p:cTn id="114" dur="500" fill="hold"/>
                                        <p:tgtEl>
                                          <p:spTgt spid="296"/>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330"/>
                                        </p:tgtEl>
                                        <p:attrNameLst>
                                          <p:attrName>style.visibility</p:attrName>
                                        </p:attrNameLst>
                                      </p:cBhvr>
                                      <p:to>
                                        <p:strVal val="visible"/>
                                      </p:to>
                                    </p:set>
                                    <p:anim calcmode="lin" valueType="num">
                                      <p:cBhvr additive="base">
                                        <p:cTn id="117" dur="500" fill="hold"/>
                                        <p:tgtEl>
                                          <p:spTgt spid="330"/>
                                        </p:tgtEl>
                                        <p:attrNameLst>
                                          <p:attrName>ppt_x</p:attrName>
                                        </p:attrNameLst>
                                      </p:cBhvr>
                                      <p:tavLst>
                                        <p:tav tm="0">
                                          <p:val>
                                            <p:strVal val="#ppt_x"/>
                                          </p:val>
                                        </p:tav>
                                        <p:tav tm="100000">
                                          <p:val>
                                            <p:strVal val="#ppt_x"/>
                                          </p:val>
                                        </p:tav>
                                      </p:tavLst>
                                    </p:anim>
                                    <p:anim calcmode="lin" valueType="num">
                                      <p:cBhvr additive="base">
                                        <p:cTn id="118" dur="500" fill="hold"/>
                                        <p:tgtEl>
                                          <p:spTgt spid="330"/>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nodeType="clickEffect">
                                  <p:stCondLst>
                                    <p:cond delay="0"/>
                                  </p:stCondLst>
                                  <p:childTnLst>
                                    <p:set>
                                      <p:cBhvr>
                                        <p:cTn id="122" dur="1" fill="hold">
                                          <p:stCondLst>
                                            <p:cond delay="0"/>
                                          </p:stCondLst>
                                        </p:cTn>
                                        <p:tgtEl>
                                          <p:spTgt spid="313"/>
                                        </p:tgtEl>
                                        <p:attrNameLst>
                                          <p:attrName>style.visibility</p:attrName>
                                        </p:attrNameLst>
                                      </p:cBhvr>
                                      <p:to>
                                        <p:strVal val="visible"/>
                                      </p:to>
                                    </p:set>
                                    <p:anim calcmode="lin" valueType="num">
                                      <p:cBhvr additive="base">
                                        <p:cTn id="123" dur="500" fill="hold"/>
                                        <p:tgtEl>
                                          <p:spTgt spid="313"/>
                                        </p:tgtEl>
                                        <p:attrNameLst>
                                          <p:attrName>ppt_x</p:attrName>
                                        </p:attrNameLst>
                                      </p:cBhvr>
                                      <p:tavLst>
                                        <p:tav tm="0">
                                          <p:val>
                                            <p:strVal val="#ppt_x"/>
                                          </p:val>
                                        </p:tav>
                                        <p:tav tm="100000">
                                          <p:val>
                                            <p:strVal val="#ppt_x"/>
                                          </p:val>
                                        </p:tav>
                                      </p:tavLst>
                                    </p:anim>
                                    <p:anim calcmode="lin" valueType="num">
                                      <p:cBhvr additive="base">
                                        <p:cTn id="124" dur="500" fill="hold"/>
                                        <p:tgtEl>
                                          <p:spTgt spid="313"/>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316"/>
                                        </p:tgtEl>
                                        <p:attrNameLst>
                                          <p:attrName>style.visibility</p:attrName>
                                        </p:attrNameLst>
                                      </p:cBhvr>
                                      <p:to>
                                        <p:strVal val="visible"/>
                                      </p:to>
                                    </p:set>
                                    <p:anim calcmode="lin" valueType="num">
                                      <p:cBhvr additive="base">
                                        <p:cTn id="127" dur="500" fill="hold"/>
                                        <p:tgtEl>
                                          <p:spTgt spid="316"/>
                                        </p:tgtEl>
                                        <p:attrNameLst>
                                          <p:attrName>ppt_x</p:attrName>
                                        </p:attrNameLst>
                                      </p:cBhvr>
                                      <p:tavLst>
                                        <p:tav tm="0">
                                          <p:val>
                                            <p:strVal val="#ppt_x"/>
                                          </p:val>
                                        </p:tav>
                                        <p:tav tm="100000">
                                          <p:val>
                                            <p:strVal val="#ppt_x"/>
                                          </p:val>
                                        </p:tav>
                                      </p:tavLst>
                                    </p:anim>
                                    <p:anim calcmode="lin" valueType="num">
                                      <p:cBhvr additive="base">
                                        <p:cTn id="128" dur="500" fill="hold"/>
                                        <p:tgtEl>
                                          <p:spTgt spid="316"/>
                                        </p:tgtEl>
                                        <p:attrNameLst>
                                          <p:attrName>ppt_y</p:attrName>
                                        </p:attrNameLst>
                                      </p:cBhvr>
                                      <p:tavLst>
                                        <p:tav tm="0">
                                          <p:val>
                                            <p:strVal val="1+#ppt_h/2"/>
                                          </p:val>
                                        </p:tav>
                                        <p:tav tm="100000">
                                          <p:val>
                                            <p:strVal val="#ppt_y"/>
                                          </p:val>
                                        </p:tav>
                                      </p:tavLst>
                                    </p:anim>
                                  </p:childTnLst>
                                </p:cTn>
                              </p:par>
                              <p:par>
                                <p:cTn id="129" presetID="2" presetClass="entr" presetSubtype="4" fill="hold" nodeType="withEffect">
                                  <p:stCondLst>
                                    <p:cond delay="0"/>
                                  </p:stCondLst>
                                  <p:childTnLst>
                                    <p:set>
                                      <p:cBhvr>
                                        <p:cTn id="130" dur="1" fill="hold">
                                          <p:stCondLst>
                                            <p:cond delay="0"/>
                                          </p:stCondLst>
                                        </p:cTn>
                                        <p:tgtEl>
                                          <p:spTgt spid="317"/>
                                        </p:tgtEl>
                                        <p:attrNameLst>
                                          <p:attrName>style.visibility</p:attrName>
                                        </p:attrNameLst>
                                      </p:cBhvr>
                                      <p:to>
                                        <p:strVal val="visible"/>
                                      </p:to>
                                    </p:set>
                                    <p:anim calcmode="lin" valueType="num">
                                      <p:cBhvr additive="base">
                                        <p:cTn id="131" dur="500" fill="hold"/>
                                        <p:tgtEl>
                                          <p:spTgt spid="317"/>
                                        </p:tgtEl>
                                        <p:attrNameLst>
                                          <p:attrName>ppt_x</p:attrName>
                                        </p:attrNameLst>
                                      </p:cBhvr>
                                      <p:tavLst>
                                        <p:tav tm="0">
                                          <p:val>
                                            <p:strVal val="#ppt_x"/>
                                          </p:val>
                                        </p:tav>
                                        <p:tav tm="100000">
                                          <p:val>
                                            <p:strVal val="#ppt_x"/>
                                          </p:val>
                                        </p:tav>
                                      </p:tavLst>
                                    </p:anim>
                                    <p:anim calcmode="lin" valueType="num">
                                      <p:cBhvr additive="base">
                                        <p:cTn id="132" dur="500" fill="hold"/>
                                        <p:tgtEl>
                                          <p:spTgt spid="317"/>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318"/>
                                        </p:tgtEl>
                                        <p:attrNameLst>
                                          <p:attrName>style.visibility</p:attrName>
                                        </p:attrNameLst>
                                      </p:cBhvr>
                                      <p:to>
                                        <p:strVal val="visible"/>
                                      </p:to>
                                    </p:set>
                                    <p:anim calcmode="lin" valueType="num">
                                      <p:cBhvr additive="base">
                                        <p:cTn id="135" dur="500" fill="hold"/>
                                        <p:tgtEl>
                                          <p:spTgt spid="318"/>
                                        </p:tgtEl>
                                        <p:attrNameLst>
                                          <p:attrName>ppt_x</p:attrName>
                                        </p:attrNameLst>
                                      </p:cBhvr>
                                      <p:tavLst>
                                        <p:tav tm="0">
                                          <p:val>
                                            <p:strVal val="#ppt_x"/>
                                          </p:val>
                                        </p:tav>
                                        <p:tav tm="100000">
                                          <p:val>
                                            <p:strVal val="#ppt_x"/>
                                          </p:val>
                                        </p:tav>
                                      </p:tavLst>
                                    </p:anim>
                                    <p:anim calcmode="lin" valueType="num">
                                      <p:cBhvr additive="base">
                                        <p:cTn id="136" dur="500" fill="hold"/>
                                        <p:tgtEl>
                                          <p:spTgt spid="318"/>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nodeType="clickEffect">
                                  <p:stCondLst>
                                    <p:cond delay="0"/>
                                  </p:stCondLst>
                                  <p:childTnLst>
                                    <p:set>
                                      <p:cBhvr>
                                        <p:cTn id="140" dur="1" fill="hold">
                                          <p:stCondLst>
                                            <p:cond delay="0"/>
                                          </p:stCondLst>
                                        </p:cTn>
                                        <p:tgtEl>
                                          <p:spTgt spid="319"/>
                                        </p:tgtEl>
                                        <p:attrNameLst>
                                          <p:attrName>style.visibility</p:attrName>
                                        </p:attrNameLst>
                                      </p:cBhvr>
                                      <p:to>
                                        <p:strVal val="visible"/>
                                      </p:to>
                                    </p:set>
                                    <p:anim calcmode="lin" valueType="num">
                                      <p:cBhvr additive="base">
                                        <p:cTn id="141" dur="500" fill="hold"/>
                                        <p:tgtEl>
                                          <p:spTgt spid="319"/>
                                        </p:tgtEl>
                                        <p:attrNameLst>
                                          <p:attrName>ppt_x</p:attrName>
                                        </p:attrNameLst>
                                      </p:cBhvr>
                                      <p:tavLst>
                                        <p:tav tm="0">
                                          <p:val>
                                            <p:strVal val="#ppt_x"/>
                                          </p:val>
                                        </p:tav>
                                        <p:tav tm="100000">
                                          <p:val>
                                            <p:strVal val="#ppt_x"/>
                                          </p:val>
                                        </p:tav>
                                      </p:tavLst>
                                    </p:anim>
                                    <p:anim calcmode="lin" valueType="num">
                                      <p:cBhvr additive="base">
                                        <p:cTn id="142" dur="500" fill="hold"/>
                                        <p:tgtEl>
                                          <p:spTgt spid="319"/>
                                        </p:tgtEl>
                                        <p:attrNameLst>
                                          <p:attrName>ppt_y</p:attrName>
                                        </p:attrNameLst>
                                      </p:cBhvr>
                                      <p:tavLst>
                                        <p:tav tm="0">
                                          <p:val>
                                            <p:strVal val="1+#ppt_h/2"/>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4" fill="hold" nodeType="clickEffect">
                                  <p:stCondLst>
                                    <p:cond delay="0"/>
                                  </p:stCondLst>
                                  <p:childTnLst>
                                    <p:set>
                                      <p:cBhvr>
                                        <p:cTn id="146" dur="1" fill="hold">
                                          <p:stCondLst>
                                            <p:cond delay="0"/>
                                          </p:stCondLst>
                                        </p:cTn>
                                        <p:tgtEl>
                                          <p:spTgt spid="297"/>
                                        </p:tgtEl>
                                        <p:attrNameLst>
                                          <p:attrName>style.visibility</p:attrName>
                                        </p:attrNameLst>
                                      </p:cBhvr>
                                      <p:to>
                                        <p:strVal val="visible"/>
                                      </p:to>
                                    </p:set>
                                    <p:anim calcmode="lin" valueType="num">
                                      <p:cBhvr additive="base">
                                        <p:cTn id="147" dur="500" fill="hold"/>
                                        <p:tgtEl>
                                          <p:spTgt spid="297"/>
                                        </p:tgtEl>
                                        <p:attrNameLst>
                                          <p:attrName>ppt_x</p:attrName>
                                        </p:attrNameLst>
                                      </p:cBhvr>
                                      <p:tavLst>
                                        <p:tav tm="0">
                                          <p:val>
                                            <p:strVal val="#ppt_x"/>
                                          </p:val>
                                        </p:tav>
                                        <p:tav tm="100000">
                                          <p:val>
                                            <p:strVal val="#ppt_x"/>
                                          </p:val>
                                        </p:tav>
                                      </p:tavLst>
                                    </p:anim>
                                    <p:anim calcmode="lin" valueType="num">
                                      <p:cBhvr additive="base">
                                        <p:cTn id="148" dur="500" fill="hold"/>
                                        <p:tgtEl>
                                          <p:spTgt spid="297"/>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300"/>
                                        </p:tgtEl>
                                        <p:attrNameLst>
                                          <p:attrName>style.visibility</p:attrName>
                                        </p:attrNameLst>
                                      </p:cBhvr>
                                      <p:to>
                                        <p:strVal val="visible"/>
                                      </p:to>
                                    </p:set>
                                    <p:anim calcmode="lin" valueType="num">
                                      <p:cBhvr additive="base">
                                        <p:cTn id="151" dur="500" fill="hold"/>
                                        <p:tgtEl>
                                          <p:spTgt spid="300"/>
                                        </p:tgtEl>
                                        <p:attrNameLst>
                                          <p:attrName>ppt_x</p:attrName>
                                        </p:attrNameLst>
                                      </p:cBhvr>
                                      <p:tavLst>
                                        <p:tav tm="0">
                                          <p:val>
                                            <p:strVal val="#ppt_x"/>
                                          </p:val>
                                        </p:tav>
                                        <p:tav tm="100000">
                                          <p:val>
                                            <p:strVal val="#ppt_x"/>
                                          </p:val>
                                        </p:tav>
                                      </p:tavLst>
                                    </p:anim>
                                    <p:anim calcmode="lin" valueType="num">
                                      <p:cBhvr additive="base">
                                        <p:cTn id="152" dur="500" fill="hold"/>
                                        <p:tgtEl>
                                          <p:spTgt spid="300"/>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302"/>
                                        </p:tgtEl>
                                        <p:attrNameLst>
                                          <p:attrName>style.visibility</p:attrName>
                                        </p:attrNameLst>
                                      </p:cBhvr>
                                      <p:to>
                                        <p:strVal val="visible"/>
                                      </p:to>
                                    </p:set>
                                    <p:anim calcmode="lin" valueType="num">
                                      <p:cBhvr additive="base">
                                        <p:cTn id="155" dur="500" fill="hold"/>
                                        <p:tgtEl>
                                          <p:spTgt spid="302"/>
                                        </p:tgtEl>
                                        <p:attrNameLst>
                                          <p:attrName>ppt_x</p:attrName>
                                        </p:attrNameLst>
                                      </p:cBhvr>
                                      <p:tavLst>
                                        <p:tav tm="0">
                                          <p:val>
                                            <p:strVal val="#ppt_x"/>
                                          </p:val>
                                        </p:tav>
                                        <p:tav tm="100000">
                                          <p:val>
                                            <p:strVal val="#ppt_x"/>
                                          </p:val>
                                        </p:tav>
                                      </p:tavLst>
                                    </p:anim>
                                    <p:anim calcmode="lin" valueType="num">
                                      <p:cBhvr additive="base">
                                        <p:cTn id="156" dur="500" fill="hold"/>
                                        <p:tgtEl>
                                          <p:spTgt spid="302"/>
                                        </p:tgtEl>
                                        <p:attrNameLst>
                                          <p:attrName>ppt_y</p:attrName>
                                        </p:attrNameLst>
                                      </p:cBhvr>
                                      <p:tavLst>
                                        <p:tav tm="0">
                                          <p:val>
                                            <p:strVal val="1+#ppt_h/2"/>
                                          </p:val>
                                        </p:tav>
                                        <p:tav tm="100000">
                                          <p:val>
                                            <p:strVal val="#ppt_y"/>
                                          </p:val>
                                        </p:tav>
                                      </p:tavLst>
                                    </p:anim>
                                  </p:childTnLst>
                                </p:cTn>
                              </p:par>
                              <p:par>
                                <p:cTn id="157" presetID="2" presetClass="entr" presetSubtype="4" fill="hold" grpId="0" nodeType="withEffect">
                                  <p:stCondLst>
                                    <p:cond delay="0"/>
                                  </p:stCondLst>
                                  <p:childTnLst>
                                    <p:set>
                                      <p:cBhvr>
                                        <p:cTn id="158" dur="1" fill="hold">
                                          <p:stCondLst>
                                            <p:cond delay="0"/>
                                          </p:stCondLst>
                                        </p:cTn>
                                        <p:tgtEl>
                                          <p:spTgt spid="335"/>
                                        </p:tgtEl>
                                        <p:attrNameLst>
                                          <p:attrName>style.visibility</p:attrName>
                                        </p:attrNameLst>
                                      </p:cBhvr>
                                      <p:to>
                                        <p:strVal val="visible"/>
                                      </p:to>
                                    </p:set>
                                    <p:anim calcmode="lin" valueType="num">
                                      <p:cBhvr additive="base">
                                        <p:cTn id="159" dur="500" fill="hold"/>
                                        <p:tgtEl>
                                          <p:spTgt spid="335"/>
                                        </p:tgtEl>
                                        <p:attrNameLst>
                                          <p:attrName>ppt_x</p:attrName>
                                        </p:attrNameLst>
                                      </p:cBhvr>
                                      <p:tavLst>
                                        <p:tav tm="0">
                                          <p:val>
                                            <p:strVal val="#ppt_x"/>
                                          </p:val>
                                        </p:tav>
                                        <p:tav tm="100000">
                                          <p:val>
                                            <p:strVal val="#ppt_x"/>
                                          </p:val>
                                        </p:tav>
                                      </p:tavLst>
                                    </p:anim>
                                    <p:anim calcmode="lin" valueType="num">
                                      <p:cBhvr additive="base">
                                        <p:cTn id="160" dur="500" fill="hold"/>
                                        <p:tgtEl>
                                          <p:spTgt spid="335"/>
                                        </p:tgtEl>
                                        <p:attrNameLst>
                                          <p:attrName>ppt_y</p:attrName>
                                        </p:attrNameLst>
                                      </p:cBhvr>
                                      <p:tavLst>
                                        <p:tav tm="0">
                                          <p:val>
                                            <p:strVal val="1+#ppt_h/2"/>
                                          </p:val>
                                        </p:tav>
                                        <p:tav tm="100000">
                                          <p:val>
                                            <p:strVal val="#ppt_y"/>
                                          </p:val>
                                        </p:tav>
                                      </p:tavLst>
                                    </p:anim>
                                  </p:childTnLst>
                                </p:cTn>
                              </p:par>
                              <p:par>
                                <p:cTn id="161" presetID="2" presetClass="entr" presetSubtype="4" fill="hold" grpId="0" nodeType="withEffect">
                                  <p:stCondLst>
                                    <p:cond delay="0"/>
                                  </p:stCondLst>
                                  <p:childTnLst>
                                    <p:set>
                                      <p:cBhvr>
                                        <p:cTn id="162" dur="1" fill="hold">
                                          <p:stCondLst>
                                            <p:cond delay="0"/>
                                          </p:stCondLst>
                                        </p:cTn>
                                        <p:tgtEl>
                                          <p:spTgt spid="334"/>
                                        </p:tgtEl>
                                        <p:attrNameLst>
                                          <p:attrName>style.visibility</p:attrName>
                                        </p:attrNameLst>
                                      </p:cBhvr>
                                      <p:to>
                                        <p:strVal val="visible"/>
                                      </p:to>
                                    </p:set>
                                    <p:anim calcmode="lin" valueType="num">
                                      <p:cBhvr additive="base">
                                        <p:cTn id="163" dur="500" fill="hold"/>
                                        <p:tgtEl>
                                          <p:spTgt spid="334"/>
                                        </p:tgtEl>
                                        <p:attrNameLst>
                                          <p:attrName>ppt_x</p:attrName>
                                        </p:attrNameLst>
                                      </p:cBhvr>
                                      <p:tavLst>
                                        <p:tav tm="0">
                                          <p:val>
                                            <p:strVal val="#ppt_x"/>
                                          </p:val>
                                        </p:tav>
                                        <p:tav tm="100000">
                                          <p:val>
                                            <p:strVal val="#ppt_x"/>
                                          </p:val>
                                        </p:tav>
                                      </p:tavLst>
                                    </p:anim>
                                    <p:anim calcmode="lin" valueType="num">
                                      <p:cBhvr additive="base">
                                        <p:cTn id="164" dur="500" fill="hold"/>
                                        <p:tgtEl>
                                          <p:spTgt spid="334"/>
                                        </p:tgtEl>
                                        <p:attrNameLst>
                                          <p:attrName>ppt_y</p:attrName>
                                        </p:attrNameLst>
                                      </p:cBhvr>
                                      <p:tavLst>
                                        <p:tav tm="0">
                                          <p:val>
                                            <p:strVal val="1+#ppt_h/2"/>
                                          </p:val>
                                        </p:tav>
                                        <p:tav tm="100000">
                                          <p:val>
                                            <p:strVal val="#ppt_y"/>
                                          </p:val>
                                        </p:tav>
                                      </p:tavLst>
                                    </p:anim>
                                  </p:childTnLst>
                                </p:cTn>
                              </p:par>
                              <p:par>
                                <p:cTn id="165" presetID="2" presetClass="entr" presetSubtype="4" fill="hold" grpId="0" nodeType="withEffect">
                                  <p:stCondLst>
                                    <p:cond delay="0"/>
                                  </p:stCondLst>
                                  <p:childTnLst>
                                    <p:set>
                                      <p:cBhvr>
                                        <p:cTn id="166" dur="1" fill="hold">
                                          <p:stCondLst>
                                            <p:cond delay="0"/>
                                          </p:stCondLst>
                                        </p:cTn>
                                        <p:tgtEl>
                                          <p:spTgt spid="337"/>
                                        </p:tgtEl>
                                        <p:attrNameLst>
                                          <p:attrName>style.visibility</p:attrName>
                                        </p:attrNameLst>
                                      </p:cBhvr>
                                      <p:to>
                                        <p:strVal val="visible"/>
                                      </p:to>
                                    </p:set>
                                    <p:anim calcmode="lin" valueType="num">
                                      <p:cBhvr additive="base">
                                        <p:cTn id="167" dur="500" fill="hold"/>
                                        <p:tgtEl>
                                          <p:spTgt spid="337"/>
                                        </p:tgtEl>
                                        <p:attrNameLst>
                                          <p:attrName>ppt_x</p:attrName>
                                        </p:attrNameLst>
                                      </p:cBhvr>
                                      <p:tavLst>
                                        <p:tav tm="0">
                                          <p:val>
                                            <p:strVal val="#ppt_x"/>
                                          </p:val>
                                        </p:tav>
                                        <p:tav tm="100000">
                                          <p:val>
                                            <p:strVal val="#ppt_x"/>
                                          </p:val>
                                        </p:tav>
                                      </p:tavLst>
                                    </p:anim>
                                    <p:anim calcmode="lin" valueType="num">
                                      <p:cBhvr additive="base">
                                        <p:cTn id="168" dur="500" fill="hold"/>
                                        <p:tgtEl>
                                          <p:spTgt spid="337"/>
                                        </p:tgtEl>
                                        <p:attrNameLst>
                                          <p:attrName>ppt_y</p:attrName>
                                        </p:attrNameLst>
                                      </p:cBhvr>
                                      <p:tavLst>
                                        <p:tav tm="0">
                                          <p:val>
                                            <p:strVal val="1+#ppt_h/2"/>
                                          </p:val>
                                        </p:tav>
                                        <p:tav tm="100000">
                                          <p:val>
                                            <p:strVal val="#ppt_y"/>
                                          </p:val>
                                        </p:tav>
                                      </p:tavLst>
                                    </p:anim>
                                  </p:childTnLst>
                                </p:cTn>
                              </p:par>
                              <p:par>
                                <p:cTn id="169" presetID="2" presetClass="entr" presetSubtype="4" fill="hold" nodeType="withEffect">
                                  <p:stCondLst>
                                    <p:cond delay="0"/>
                                  </p:stCondLst>
                                  <p:childTnLst>
                                    <p:set>
                                      <p:cBhvr>
                                        <p:cTn id="170" dur="1" fill="hold">
                                          <p:stCondLst>
                                            <p:cond delay="0"/>
                                          </p:stCondLst>
                                        </p:cTn>
                                        <p:tgtEl>
                                          <p:spTgt spid="336"/>
                                        </p:tgtEl>
                                        <p:attrNameLst>
                                          <p:attrName>style.visibility</p:attrName>
                                        </p:attrNameLst>
                                      </p:cBhvr>
                                      <p:to>
                                        <p:strVal val="visible"/>
                                      </p:to>
                                    </p:set>
                                    <p:anim calcmode="lin" valueType="num">
                                      <p:cBhvr additive="base">
                                        <p:cTn id="171" dur="500" fill="hold"/>
                                        <p:tgtEl>
                                          <p:spTgt spid="336"/>
                                        </p:tgtEl>
                                        <p:attrNameLst>
                                          <p:attrName>ppt_x</p:attrName>
                                        </p:attrNameLst>
                                      </p:cBhvr>
                                      <p:tavLst>
                                        <p:tav tm="0">
                                          <p:val>
                                            <p:strVal val="#ppt_x"/>
                                          </p:val>
                                        </p:tav>
                                        <p:tav tm="100000">
                                          <p:val>
                                            <p:strVal val="#ppt_x"/>
                                          </p:val>
                                        </p:tav>
                                      </p:tavLst>
                                    </p:anim>
                                    <p:anim calcmode="lin" valueType="num">
                                      <p:cBhvr additive="base">
                                        <p:cTn id="172" dur="500" fill="hold"/>
                                        <p:tgtEl>
                                          <p:spTgt spid="336"/>
                                        </p:tgtEl>
                                        <p:attrNameLst>
                                          <p:attrName>ppt_y</p:attrName>
                                        </p:attrNameLst>
                                      </p:cBhvr>
                                      <p:tavLst>
                                        <p:tav tm="0">
                                          <p:val>
                                            <p:strVal val="1+#ppt_h/2"/>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nodeType="clickEffect">
                                  <p:stCondLst>
                                    <p:cond delay="0"/>
                                  </p:stCondLst>
                                  <p:childTnLst>
                                    <p:set>
                                      <p:cBhvr>
                                        <p:cTn id="176" dur="1" fill="hold">
                                          <p:stCondLst>
                                            <p:cond delay="0"/>
                                          </p:stCondLst>
                                        </p:cTn>
                                        <p:tgtEl>
                                          <p:spTgt spid="291"/>
                                        </p:tgtEl>
                                        <p:attrNameLst>
                                          <p:attrName>style.visibility</p:attrName>
                                        </p:attrNameLst>
                                      </p:cBhvr>
                                      <p:to>
                                        <p:strVal val="visible"/>
                                      </p:to>
                                    </p:set>
                                    <p:anim calcmode="lin" valueType="num">
                                      <p:cBhvr additive="base">
                                        <p:cTn id="177" dur="500" fill="hold"/>
                                        <p:tgtEl>
                                          <p:spTgt spid="291"/>
                                        </p:tgtEl>
                                        <p:attrNameLst>
                                          <p:attrName>ppt_x</p:attrName>
                                        </p:attrNameLst>
                                      </p:cBhvr>
                                      <p:tavLst>
                                        <p:tav tm="0">
                                          <p:val>
                                            <p:strVal val="#ppt_x"/>
                                          </p:val>
                                        </p:tav>
                                        <p:tav tm="100000">
                                          <p:val>
                                            <p:strVal val="#ppt_x"/>
                                          </p:val>
                                        </p:tav>
                                      </p:tavLst>
                                    </p:anim>
                                    <p:anim calcmode="lin" valueType="num">
                                      <p:cBhvr additive="base">
                                        <p:cTn id="178" dur="500" fill="hold"/>
                                        <p:tgtEl>
                                          <p:spTgt spid="291"/>
                                        </p:tgtEl>
                                        <p:attrNameLst>
                                          <p:attrName>ppt_y</p:attrName>
                                        </p:attrNameLst>
                                      </p:cBhvr>
                                      <p:tavLst>
                                        <p:tav tm="0">
                                          <p:val>
                                            <p:strVal val="1+#ppt_h/2"/>
                                          </p:val>
                                        </p:tav>
                                        <p:tav tm="100000">
                                          <p:val>
                                            <p:strVal val="#ppt_y"/>
                                          </p:val>
                                        </p:tav>
                                      </p:tavLst>
                                    </p:anim>
                                  </p:childTnLst>
                                </p:cTn>
                              </p:par>
                              <p:par>
                                <p:cTn id="179" presetID="2" presetClass="entr" presetSubtype="4" fill="hold" grpId="0" nodeType="withEffect">
                                  <p:stCondLst>
                                    <p:cond delay="0"/>
                                  </p:stCondLst>
                                  <p:childTnLst>
                                    <p:set>
                                      <p:cBhvr>
                                        <p:cTn id="180" dur="1" fill="hold">
                                          <p:stCondLst>
                                            <p:cond delay="0"/>
                                          </p:stCondLst>
                                        </p:cTn>
                                        <p:tgtEl>
                                          <p:spTgt spid="294"/>
                                        </p:tgtEl>
                                        <p:attrNameLst>
                                          <p:attrName>style.visibility</p:attrName>
                                        </p:attrNameLst>
                                      </p:cBhvr>
                                      <p:to>
                                        <p:strVal val="visible"/>
                                      </p:to>
                                    </p:set>
                                    <p:anim calcmode="lin" valueType="num">
                                      <p:cBhvr additive="base">
                                        <p:cTn id="181" dur="500" fill="hold"/>
                                        <p:tgtEl>
                                          <p:spTgt spid="294"/>
                                        </p:tgtEl>
                                        <p:attrNameLst>
                                          <p:attrName>ppt_x</p:attrName>
                                        </p:attrNameLst>
                                      </p:cBhvr>
                                      <p:tavLst>
                                        <p:tav tm="0">
                                          <p:val>
                                            <p:strVal val="#ppt_x"/>
                                          </p:val>
                                        </p:tav>
                                        <p:tav tm="100000">
                                          <p:val>
                                            <p:strVal val="#ppt_x"/>
                                          </p:val>
                                        </p:tav>
                                      </p:tavLst>
                                    </p:anim>
                                    <p:anim calcmode="lin" valueType="num">
                                      <p:cBhvr additive="base">
                                        <p:cTn id="182" dur="500" fill="hold"/>
                                        <p:tgtEl>
                                          <p:spTgt spid="294"/>
                                        </p:tgtEl>
                                        <p:attrNameLst>
                                          <p:attrName>ppt_y</p:attrName>
                                        </p:attrNameLst>
                                      </p:cBhvr>
                                      <p:tavLst>
                                        <p:tav tm="0">
                                          <p:val>
                                            <p:strVal val="1+#ppt_h/2"/>
                                          </p:val>
                                        </p:tav>
                                        <p:tav tm="100000">
                                          <p:val>
                                            <p:strVal val="#ppt_y"/>
                                          </p:val>
                                        </p:tav>
                                      </p:tavLst>
                                    </p:anim>
                                  </p:childTnLst>
                                </p:cTn>
                              </p:par>
                              <p:par>
                                <p:cTn id="183" presetID="2" presetClass="entr" presetSubtype="4" fill="hold" grpId="0" nodeType="withEffect">
                                  <p:stCondLst>
                                    <p:cond delay="0"/>
                                  </p:stCondLst>
                                  <p:childTnLst>
                                    <p:set>
                                      <p:cBhvr>
                                        <p:cTn id="184" dur="1" fill="hold">
                                          <p:stCondLst>
                                            <p:cond delay="0"/>
                                          </p:stCondLst>
                                        </p:cTn>
                                        <p:tgtEl>
                                          <p:spTgt spid="311"/>
                                        </p:tgtEl>
                                        <p:attrNameLst>
                                          <p:attrName>style.visibility</p:attrName>
                                        </p:attrNameLst>
                                      </p:cBhvr>
                                      <p:to>
                                        <p:strVal val="visible"/>
                                      </p:to>
                                    </p:set>
                                    <p:anim calcmode="lin" valueType="num">
                                      <p:cBhvr additive="base">
                                        <p:cTn id="185" dur="500" fill="hold"/>
                                        <p:tgtEl>
                                          <p:spTgt spid="311"/>
                                        </p:tgtEl>
                                        <p:attrNameLst>
                                          <p:attrName>ppt_x</p:attrName>
                                        </p:attrNameLst>
                                      </p:cBhvr>
                                      <p:tavLst>
                                        <p:tav tm="0">
                                          <p:val>
                                            <p:strVal val="#ppt_x"/>
                                          </p:val>
                                        </p:tav>
                                        <p:tav tm="100000">
                                          <p:val>
                                            <p:strVal val="#ppt_x"/>
                                          </p:val>
                                        </p:tav>
                                      </p:tavLst>
                                    </p:anim>
                                    <p:anim calcmode="lin" valueType="num">
                                      <p:cBhvr additive="base">
                                        <p:cTn id="186" dur="500" fill="hold"/>
                                        <p:tgtEl>
                                          <p:spTgt spid="311"/>
                                        </p:tgtEl>
                                        <p:attrNameLst>
                                          <p:attrName>ppt_y</p:attrName>
                                        </p:attrNameLst>
                                      </p:cBhvr>
                                      <p:tavLst>
                                        <p:tav tm="0">
                                          <p:val>
                                            <p:strVal val="1+#ppt_h/2"/>
                                          </p:val>
                                        </p:tav>
                                        <p:tav tm="100000">
                                          <p:val>
                                            <p:strVal val="#ppt_y"/>
                                          </p:val>
                                        </p:tav>
                                      </p:tavLst>
                                    </p:anim>
                                  </p:childTnLst>
                                </p:cTn>
                              </p:par>
                              <p:par>
                                <p:cTn id="187" presetID="2" presetClass="entr" presetSubtype="4" fill="hold" nodeType="withEffect">
                                  <p:stCondLst>
                                    <p:cond delay="0"/>
                                  </p:stCondLst>
                                  <p:childTnLst>
                                    <p:set>
                                      <p:cBhvr>
                                        <p:cTn id="188" dur="1" fill="hold">
                                          <p:stCondLst>
                                            <p:cond delay="0"/>
                                          </p:stCondLst>
                                        </p:cTn>
                                        <p:tgtEl>
                                          <p:spTgt spid="327"/>
                                        </p:tgtEl>
                                        <p:attrNameLst>
                                          <p:attrName>style.visibility</p:attrName>
                                        </p:attrNameLst>
                                      </p:cBhvr>
                                      <p:to>
                                        <p:strVal val="visible"/>
                                      </p:to>
                                    </p:set>
                                    <p:anim calcmode="lin" valueType="num">
                                      <p:cBhvr additive="base">
                                        <p:cTn id="189" dur="500" fill="hold"/>
                                        <p:tgtEl>
                                          <p:spTgt spid="327"/>
                                        </p:tgtEl>
                                        <p:attrNameLst>
                                          <p:attrName>ppt_x</p:attrName>
                                        </p:attrNameLst>
                                      </p:cBhvr>
                                      <p:tavLst>
                                        <p:tav tm="0">
                                          <p:val>
                                            <p:strVal val="#ppt_x"/>
                                          </p:val>
                                        </p:tav>
                                        <p:tav tm="100000">
                                          <p:val>
                                            <p:strVal val="#ppt_x"/>
                                          </p:val>
                                        </p:tav>
                                      </p:tavLst>
                                    </p:anim>
                                    <p:anim calcmode="lin" valueType="num">
                                      <p:cBhvr additive="base">
                                        <p:cTn id="190" dur="500" fill="hold"/>
                                        <p:tgtEl>
                                          <p:spTgt spid="327"/>
                                        </p:tgtEl>
                                        <p:attrNameLst>
                                          <p:attrName>ppt_y</p:attrName>
                                        </p:attrNameLst>
                                      </p:cBhvr>
                                      <p:tavLst>
                                        <p:tav tm="0">
                                          <p:val>
                                            <p:strVal val="1+#ppt_h/2"/>
                                          </p:val>
                                        </p:tav>
                                        <p:tav tm="100000">
                                          <p:val>
                                            <p:strVal val="#ppt_y"/>
                                          </p:val>
                                        </p:tav>
                                      </p:tavLst>
                                    </p:anim>
                                  </p:childTnLst>
                                </p:cTn>
                              </p:par>
                              <p:par>
                                <p:cTn id="191" presetID="2" presetClass="entr" presetSubtype="4" fill="hold" grpId="0" nodeType="withEffect">
                                  <p:stCondLst>
                                    <p:cond delay="0"/>
                                  </p:stCondLst>
                                  <p:childTnLst>
                                    <p:set>
                                      <p:cBhvr>
                                        <p:cTn id="192" dur="1" fill="hold">
                                          <p:stCondLst>
                                            <p:cond delay="0"/>
                                          </p:stCondLst>
                                        </p:cTn>
                                        <p:tgtEl>
                                          <p:spTgt spid="329"/>
                                        </p:tgtEl>
                                        <p:attrNameLst>
                                          <p:attrName>style.visibility</p:attrName>
                                        </p:attrNameLst>
                                      </p:cBhvr>
                                      <p:to>
                                        <p:strVal val="visible"/>
                                      </p:to>
                                    </p:set>
                                    <p:anim calcmode="lin" valueType="num">
                                      <p:cBhvr additive="base">
                                        <p:cTn id="193" dur="500" fill="hold"/>
                                        <p:tgtEl>
                                          <p:spTgt spid="329"/>
                                        </p:tgtEl>
                                        <p:attrNameLst>
                                          <p:attrName>ppt_x</p:attrName>
                                        </p:attrNameLst>
                                      </p:cBhvr>
                                      <p:tavLst>
                                        <p:tav tm="0">
                                          <p:val>
                                            <p:strVal val="#ppt_x"/>
                                          </p:val>
                                        </p:tav>
                                        <p:tav tm="100000">
                                          <p:val>
                                            <p:strVal val="#ppt_x"/>
                                          </p:val>
                                        </p:tav>
                                      </p:tavLst>
                                    </p:anim>
                                    <p:anim calcmode="lin" valueType="num">
                                      <p:cBhvr additive="base">
                                        <p:cTn id="194" dur="500" fill="hold"/>
                                        <p:tgtEl>
                                          <p:spTgt spid="329"/>
                                        </p:tgtEl>
                                        <p:attrNameLst>
                                          <p:attrName>ppt_y</p:attrName>
                                        </p:attrNameLst>
                                      </p:cBhvr>
                                      <p:tavLst>
                                        <p:tav tm="0">
                                          <p:val>
                                            <p:strVal val="1+#ppt_h/2"/>
                                          </p:val>
                                        </p:tav>
                                        <p:tav tm="100000">
                                          <p:val>
                                            <p:strVal val="#ppt_y"/>
                                          </p:val>
                                        </p:tav>
                                      </p:tavLst>
                                    </p:anim>
                                  </p:childTnLst>
                                </p:cTn>
                              </p:par>
                              <p:par>
                                <p:cTn id="195" presetID="2" presetClass="entr" presetSubtype="4" fill="hold" nodeType="withEffect">
                                  <p:stCondLst>
                                    <p:cond delay="0"/>
                                  </p:stCondLst>
                                  <p:childTnLst>
                                    <p:set>
                                      <p:cBhvr>
                                        <p:cTn id="196" dur="1" fill="hold">
                                          <p:stCondLst>
                                            <p:cond delay="0"/>
                                          </p:stCondLst>
                                        </p:cTn>
                                        <p:tgtEl>
                                          <p:spTgt spid="295"/>
                                        </p:tgtEl>
                                        <p:attrNameLst>
                                          <p:attrName>style.visibility</p:attrName>
                                        </p:attrNameLst>
                                      </p:cBhvr>
                                      <p:to>
                                        <p:strVal val="visible"/>
                                      </p:to>
                                    </p:set>
                                    <p:anim calcmode="lin" valueType="num">
                                      <p:cBhvr additive="base">
                                        <p:cTn id="197" dur="500" fill="hold"/>
                                        <p:tgtEl>
                                          <p:spTgt spid="295"/>
                                        </p:tgtEl>
                                        <p:attrNameLst>
                                          <p:attrName>ppt_x</p:attrName>
                                        </p:attrNameLst>
                                      </p:cBhvr>
                                      <p:tavLst>
                                        <p:tav tm="0">
                                          <p:val>
                                            <p:strVal val="#ppt_x"/>
                                          </p:val>
                                        </p:tav>
                                        <p:tav tm="100000">
                                          <p:val>
                                            <p:strVal val="#ppt_x"/>
                                          </p:val>
                                        </p:tav>
                                      </p:tavLst>
                                    </p:anim>
                                    <p:anim calcmode="lin" valueType="num">
                                      <p:cBhvr additive="base">
                                        <p:cTn id="198" dur="500" fill="hold"/>
                                        <p:tgtEl>
                                          <p:spTgt spid="295"/>
                                        </p:tgtEl>
                                        <p:attrNameLst>
                                          <p:attrName>ppt_y</p:attrName>
                                        </p:attrNameLst>
                                      </p:cBhvr>
                                      <p:tavLst>
                                        <p:tav tm="0">
                                          <p:val>
                                            <p:strVal val="1+#ppt_h/2"/>
                                          </p:val>
                                        </p:tav>
                                        <p:tav tm="100000">
                                          <p:val>
                                            <p:strVal val="#ppt_y"/>
                                          </p:val>
                                        </p:tav>
                                      </p:tavLst>
                                    </p:anim>
                                  </p:childTnLst>
                                </p:cTn>
                              </p:par>
                              <p:par>
                                <p:cTn id="199" presetID="2" presetClass="entr" presetSubtype="4" fill="hold" nodeType="withEffect">
                                  <p:stCondLst>
                                    <p:cond delay="0"/>
                                  </p:stCondLst>
                                  <p:childTnLst>
                                    <p:set>
                                      <p:cBhvr>
                                        <p:cTn id="200" dur="1" fill="hold">
                                          <p:stCondLst>
                                            <p:cond delay="0"/>
                                          </p:stCondLst>
                                        </p:cTn>
                                        <p:tgtEl>
                                          <p:spTgt spid="340"/>
                                        </p:tgtEl>
                                        <p:attrNameLst>
                                          <p:attrName>style.visibility</p:attrName>
                                        </p:attrNameLst>
                                      </p:cBhvr>
                                      <p:to>
                                        <p:strVal val="visible"/>
                                      </p:to>
                                    </p:set>
                                    <p:anim calcmode="lin" valueType="num">
                                      <p:cBhvr additive="base">
                                        <p:cTn id="201" dur="500" fill="hold"/>
                                        <p:tgtEl>
                                          <p:spTgt spid="340"/>
                                        </p:tgtEl>
                                        <p:attrNameLst>
                                          <p:attrName>ppt_x</p:attrName>
                                        </p:attrNameLst>
                                      </p:cBhvr>
                                      <p:tavLst>
                                        <p:tav tm="0">
                                          <p:val>
                                            <p:strVal val="#ppt_x"/>
                                          </p:val>
                                        </p:tav>
                                        <p:tav tm="100000">
                                          <p:val>
                                            <p:strVal val="#ppt_x"/>
                                          </p:val>
                                        </p:tav>
                                      </p:tavLst>
                                    </p:anim>
                                    <p:anim calcmode="lin" valueType="num">
                                      <p:cBhvr additive="base">
                                        <p:cTn id="202" dur="500" fill="hold"/>
                                        <p:tgtEl>
                                          <p:spTgt spid="340"/>
                                        </p:tgtEl>
                                        <p:attrNameLst>
                                          <p:attrName>ppt_y</p:attrName>
                                        </p:attrNameLst>
                                      </p:cBhvr>
                                      <p:tavLst>
                                        <p:tav tm="0">
                                          <p:val>
                                            <p:strVal val="1+#ppt_h/2"/>
                                          </p:val>
                                        </p:tav>
                                        <p:tav tm="100000">
                                          <p:val>
                                            <p:strVal val="#ppt_y"/>
                                          </p:val>
                                        </p:tav>
                                      </p:tavLst>
                                    </p:anim>
                                  </p:childTnLst>
                                </p:cTn>
                              </p:par>
                              <p:par>
                                <p:cTn id="203" presetID="2" presetClass="entr" presetSubtype="4" fill="hold" nodeType="withEffect">
                                  <p:stCondLst>
                                    <p:cond delay="0"/>
                                  </p:stCondLst>
                                  <p:childTnLst>
                                    <p:set>
                                      <p:cBhvr>
                                        <p:cTn id="204" dur="1" fill="hold">
                                          <p:stCondLst>
                                            <p:cond delay="0"/>
                                          </p:stCondLst>
                                        </p:cTn>
                                        <p:tgtEl>
                                          <p:spTgt spid="342"/>
                                        </p:tgtEl>
                                        <p:attrNameLst>
                                          <p:attrName>style.visibility</p:attrName>
                                        </p:attrNameLst>
                                      </p:cBhvr>
                                      <p:to>
                                        <p:strVal val="visible"/>
                                      </p:to>
                                    </p:set>
                                    <p:anim calcmode="lin" valueType="num">
                                      <p:cBhvr additive="base">
                                        <p:cTn id="205" dur="500" fill="hold"/>
                                        <p:tgtEl>
                                          <p:spTgt spid="342"/>
                                        </p:tgtEl>
                                        <p:attrNameLst>
                                          <p:attrName>ppt_x</p:attrName>
                                        </p:attrNameLst>
                                      </p:cBhvr>
                                      <p:tavLst>
                                        <p:tav tm="0">
                                          <p:val>
                                            <p:strVal val="#ppt_x"/>
                                          </p:val>
                                        </p:tav>
                                        <p:tav tm="100000">
                                          <p:val>
                                            <p:strVal val="#ppt_x"/>
                                          </p:val>
                                        </p:tav>
                                      </p:tavLst>
                                    </p:anim>
                                    <p:anim calcmode="lin" valueType="num">
                                      <p:cBhvr additive="base">
                                        <p:cTn id="206" dur="500" fill="hold"/>
                                        <p:tgtEl>
                                          <p:spTgt spid="342"/>
                                        </p:tgtEl>
                                        <p:attrNameLst>
                                          <p:attrName>ppt_y</p:attrName>
                                        </p:attrNameLst>
                                      </p:cBhvr>
                                      <p:tavLst>
                                        <p:tav tm="0">
                                          <p:val>
                                            <p:strVal val="1+#ppt_h/2"/>
                                          </p:val>
                                        </p:tav>
                                        <p:tav tm="100000">
                                          <p:val>
                                            <p:strVal val="#ppt_y"/>
                                          </p:val>
                                        </p:tav>
                                      </p:tavLst>
                                    </p:anim>
                                  </p:childTnLst>
                                </p:cTn>
                              </p:par>
                              <p:par>
                                <p:cTn id="207" presetID="2" presetClass="entr" presetSubtype="4" fill="hold" nodeType="withEffect">
                                  <p:stCondLst>
                                    <p:cond delay="0"/>
                                  </p:stCondLst>
                                  <p:childTnLst>
                                    <p:set>
                                      <p:cBhvr>
                                        <p:cTn id="208" dur="1" fill="hold">
                                          <p:stCondLst>
                                            <p:cond delay="0"/>
                                          </p:stCondLst>
                                        </p:cTn>
                                        <p:tgtEl>
                                          <p:spTgt spid="345"/>
                                        </p:tgtEl>
                                        <p:attrNameLst>
                                          <p:attrName>style.visibility</p:attrName>
                                        </p:attrNameLst>
                                      </p:cBhvr>
                                      <p:to>
                                        <p:strVal val="visible"/>
                                      </p:to>
                                    </p:set>
                                    <p:anim calcmode="lin" valueType="num">
                                      <p:cBhvr additive="base">
                                        <p:cTn id="209" dur="500" fill="hold"/>
                                        <p:tgtEl>
                                          <p:spTgt spid="345"/>
                                        </p:tgtEl>
                                        <p:attrNameLst>
                                          <p:attrName>ppt_x</p:attrName>
                                        </p:attrNameLst>
                                      </p:cBhvr>
                                      <p:tavLst>
                                        <p:tav tm="0">
                                          <p:val>
                                            <p:strVal val="#ppt_x"/>
                                          </p:val>
                                        </p:tav>
                                        <p:tav tm="100000">
                                          <p:val>
                                            <p:strVal val="#ppt_x"/>
                                          </p:val>
                                        </p:tav>
                                      </p:tavLst>
                                    </p:anim>
                                    <p:anim calcmode="lin" valueType="num">
                                      <p:cBhvr additive="base">
                                        <p:cTn id="210" dur="500" fill="hold"/>
                                        <p:tgtEl>
                                          <p:spTgt spid="345"/>
                                        </p:tgtEl>
                                        <p:attrNameLst>
                                          <p:attrName>ppt_y</p:attrName>
                                        </p:attrNameLst>
                                      </p:cBhvr>
                                      <p:tavLst>
                                        <p:tav tm="0">
                                          <p:val>
                                            <p:strVal val="1+#ppt_h/2"/>
                                          </p:val>
                                        </p:tav>
                                        <p:tav tm="100000">
                                          <p:val>
                                            <p:strVal val="#ppt_y"/>
                                          </p:val>
                                        </p:tav>
                                      </p:tavLst>
                                    </p:anim>
                                  </p:childTnLst>
                                </p:cTn>
                              </p:par>
                              <p:par>
                                <p:cTn id="211" presetID="2" presetClass="entr" presetSubtype="4" fill="hold" nodeType="withEffect">
                                  <p:stCondLst>
                                    <p:cond delay="0"/>
                                  </p:stCondLst>
                                  <p:childTnLst>
                                    <p:set>
                                      <p:cBhvr>
                                        <p:cTn id="212" dur="1" fill="hold">
                                          <p:stCondLst>
                                            <p:cond delay="0"/>
                                          </p:stCondLst>
                                        </p:cTn>
                                        <p:tgtEl>
                                          <p:spTgt spid="346"/>
                                        </p:tgtEl>
                                        <p:attrNameLst>
                                          <p:attrName>style.visibility</p:attrName>
                                        </p:attrNameLst>
                                      </p:cBhvr>
                                      <p:to>
                                        <p:strVal val="visible"/>
                                      </p:to>
                                    </p:set>
                                    <p:anim calcmode="lin" valueType="num">
                                      <p:cBhvr additive="base">
                                        <p:cTn id="213" dur="500" fill="hold"/>
                                        <p:tgtEl>
                                          <p:spTgt spid="346"/>
                                        </p:tgtEl>
                                        <p:attrNameLst>
                                          <p:attrName>ppt_x</p:attrName>
                                        </p:attrNameLst>
                                      </p:cBhvr>
                                      <p:tavLst>
                                        <p:tav tm="0">
                                          <p:val>
                                            <p:strVal val="#ppt_x"/>
                                          </p:val>
                                        </p:tav>
                                        <p:tav tm="100000">
                                          <p:val>
                                            <p:strVal val="#ppt_x"/>
                                          </p:val>
                                        </p:tav>
                                      </p:tavLst>
                                    </p:anim>
                                    <p:anim calcmode="lin" valueType="num">
                                      <p:cBhvr additive="base">
                                        <p:cTn id="214" dur="500" fill="hold"/>
                                        <p:tgtEl>
                                          <p:spTgt spid="346"/>
                                        </p:tgtEl>
                                        <p:attrNameLst>
                                          <p:attrName>ppt_y</p:attrName>
                                        </p:attrNameLst>
                                      </p:cBhvr>
                                      <p:tavLst>
                                        <p:tav tm="0">
                                          <p:val>
                                            <p:strVal val="1+#ppt_h/2"/>
                                          </p:val>
                                        </p:tav>
                                        <p:tav tm="100000">
                                          <p:val>
                                            <p:strVal val="#ppt_y"/>
                                          </p:val>
                                        </p:tav>
                                      </p:tavLst>
                                    </p:anim>
                                  </p:childTnLst>
                                </p:cTn>
                              </p:par>
                              <p:par>
                                <p:cTn id="215" presetID="2" presetClass="entr" presetSubtype="4" fill="hold" nodeType="withEffect">
                                  <p:stCondLst>
                                    <p:cond delay="0"/>
                                  </p:stCondLst>
                                  <p:childTnLst>
                                    <p:set>
                                      <p:cBhvr>
                                        <p:cTn id="216" dur="1" fill="hold">
                                          <p:stCondLst>
                                            <p:cond delay="0"/>
                                          </p:stCondLst>
                                        </p:cTn>
                                        <p:tgtEl>
                                          <p:spTgt spid="347"/>
                                        </p:tgtEl>
                                        <p:attrNameLst>
                                          <p:attrName>style.visibility</p:attrName>
                                        </p:attrNameLst>
                                      </p:cBhvr>
                                      <p:to>
                                        <p:strVal val="visible"/>
                                      </p:to>
                                    </p:set>
                                    <p:anim calcmode="lin" valueType="num">
                                      <p:cBhvr additive="base">
                                        <p:cTn id="217" dur="500" fill="hold"/>
                                        <p:tgtEl>
                                          <p:spTgt spid="347"/>
                                        </p:tgtEl>
                                        <p:attrNameLst>
                                          <p:attrName>ppt_x</p:attrName>
                                        </p:attrNameLst>
                                      </p:cBhvr>
                                      <p:tavLst>
                                        <p:tav tm="0">
                                          <p:val>
                                            <p:strVal val="#ppt_x"/>
                                          </p:val>
                                        </p:tav>
                                        <p:tav tm="100000">
                                          <p:val>
                                            <p:strVal val="#ppt_x"/>
                                          </p:val>
                                        </p:tav>
                                      </p:tavLst>
                                    </p:anim>
                                    <p:anim calcmode="lin" valueType="num">
                                      <p:cBhvr additive="base">
                                        <p:cTn id="218" dur="500" fill="hold"/>
                                        <p:tgtEl>
                                          <p:spTgt spid="347"/>
                                        </p:tgtEl>
                                        <p:attrNameLst>
                                          <p:attrName>ppt_y</p:attrName>
                                        </p:attrNameLst>
                                      </p:cBhvr>
                                      <p:tavLst>
                                        <p:tav tm="0">
                                          <p:val>
                                            <p:strVal val="1+#ppt_h/2"/>
                                          </p:val>
                                        </p:tav>
                                        <p:tav tm="100000">
                                          <p:val>
                                            <p:strVal val="#ppt_y"/>
                                          </p:val>
                                        </p:tav>
                                      </p:tavLst>
                                    </p:anim>
                                  </p:childTnLst>
                                </p:cTn>
                              </p:par>
                              <p:par>
                                <p:cTn id="219" presetID="2" presetClass="entr" presetSubtype="4" fill="hold" nodeType="withEffect">
                                  <p:stCondLst>
                                    <p:cond delay="0"/>
                                  </p:stCondLst>
                                  <p:childTnLst>
                                    <p:set>
                                      <p:cBhvr>
                                        <p:cTn id="220" dur="1" fill="hold">
                                          <p:stCondLst>
                                            <p:cond delay="0"/>
                                          </p:stCondLst>
                                        </p:cTn>
                                        <p:tgtEl>
                                          <p:spTgt spid="349"/>
                                        </p:tgtEl>
                                        <p:attrNameLst>
                                          <p:attrName>style.visibility</p:attrName>
                                        </p:attrNameLst>
                                      </p:cBhvr>
                                      <p:to>
                                        <p:strVal val="visible"/>
                                      </p:to>
                                    </p:set>
                                    <p:anim calcmode="lin" valueType="num">
                                      <p:cBhvr additive="base">
                                        <p:cTn id="221" dur="500" fill="hold"/>
                                        <p:tgtEl>
                                          <p:spTgt spid="349"/>
                                        </p:tgtEl>
                                        <p:attrNameLst>
                                          <p:attrName>ppt_x</p:attrName>
                                        </p:attrNameLst>
                                      </p:cBhvr>
                                      <p:tavLst>
                                        <p:tav tm="0">
                                          <p:val>
                                            <p:strVal val="#ppt_x"/>
                                          </p:val>
                                        </p:tav>
                                        <p:tav tm="100000">
                                          <p:val>
                                            <p:strVal val="#ppt_x"/>
                                          </p:val>
                                        </p:tav>
                                      </p:tavLst>
                                    </p:anim>
                                    <p:anim calcmode="lin" valueType="num">
                                      <p:cBhvr additive="base">
                                        <p:cTn id="222" dur="500" fill="hold"/>
                                        <p:tgtEl>
                                          <p:spTgt spid="349"/>
                                        </p:tgtEl>
                                        <p:attrNameLst>
                                          <p:attrName>ppt_y</p:attrName>
                                        </p:attrNameLst>
                                      </p:cBhvr>
                                      <p:tavLst>
                                        <p:tav tm="0">
                                          <p:val>
                                            <p:strVal val="1+#ppt_h/2"/>
                                          </p:val>
                                        </p:tav>
                                        <p:tav tm="100000">
                                          <p:val>
                                            <p:strVal val="#ppt_y"/>
                                          </p:val>
                                        </p:tav>
                                      </p:tavLst>
                                    </p:anim>
                                  </p:childTnLst>
                                </p:cTn>
                              </p:par>
                              <p:par>
                                <p:cTn id="223" presetID="2" presetClass="entr" presetSubtype="4" fill="hold" nodeType="withEffect">
                                  <p:stCondLst>
                                    <p:cond delay="0"/>
                                  </p:stCondLst>
                                  <p:childTnLst>
                                    <p:set>
                                      <p:cBhvr>
                                        <p:cTn id="224" dur="1" fill="hold">
                                          <p:stCondLst>
                                            <p:cond delay="0"/>
                                          </p:stCondLst>
                                        </p:cTn>
                                        <p:tgtEl>
                                          <p:spTgt spid="350"/>
                                        </p:tgtEl>
                                        <p:attrNameLst>
                                          <p:attrName>style.visibility</p:attrName>
                                        </p:attrNameLst>
                                      </p:cBhvr>
                                      <p:to>
                                        <p:strVal val="visible"/>
                                      </p:to>
                                    </p:set>
                                    <p:anim calcmode="lin" valueType="num">
                                      <p:cBhvr additive="base">
                                        <p:cTn id="225" dur="500" fill="hold"/>
                                        <p:tgtEl>
                                          <p:spTgt spid="350"/>
                                        </p:tgtEl>
                                        <p:attrNameLst>
                                          <p:attrName>ppt_x</p:attrName>
                                        </p:attrNameLst>
                                      </p:cBhvr>
                                      <p:tavLst>
                                        <p:tav tm="0">
                                          <p:val>
                                            <p:strVal val="#ppt_x"/>
                                          </p:val>
                                        </p:tav>
                                        <p:tav tm="100000">
                                          <p:val>
                                            <p:strVal val="#ppt_x"/>
                                          </p:val>
                                        </p:tav>
                                      </p:tavLst>
                                    </p:anim>
                                    <p:anim calcmode="lin" valueType="num">
                                      <p:cBhvr additive="base">
                                        <p:cTn id="226" dur="500" fill="hold"/>
                                        <p:tgtEl>
                                          <p:spTgt spid="350"/>
                                        </p:tgtEl>
                                        <p:attrNameLst>
                                          <p:attrName>ppt_y</p:attrName>
                                        </p:attrNameLst>
                                      </p:cBhvr>
                                      <p:tavLst>
                                        <p:tav tm="0">
                                          <p:val>
                                            <p:strVal val="1+#ppt_h/2"/>
                                          </p:val>
                                        </p:tav>
                                        <p:tav tm="100000">
                                          <p:val>
                                            <p:strVal val="#ppt_y"/>
                                          </p:val>
                                        </p:tav>
                                      </p:tavLst>
                                    </p:anim>
                                  </p:childTnLst>
                                </p:cTn>
                              </p:par>
                              <p:par>
                                <p:cTn id="227" presetID="2" presetClass="entr" presetSubtype="4" fill="hold" nodeType="withEffect">
                                  <p:stCondLst>
                                    <p:cond delay="0"/>
                                  </p:stCondLst>
                                  <p:childTnLst>
                                    <p:set>
                                      <p:cBhvr>
                                        <p:cTn id="228" dur="1" fill="hold">
                                          <p:stCondLst>
                                            <p:cond delay="0"/>
                                          </p:stCondLst>
                                        </p:cTn>
                                        <p:tgtEl>
                                          <p:spTgt spid="351"/>
                                        </p:tgtEl>
                                        <p:attrNameLst>
                                          <p:attrName>style.visibility</p:attrName>
                                        </p:attrNameLst>
                                      </p:cBhvr>
                                      <p:to>
                                        <p:strVal val="visible"/>
                                      </p:to>
                                    </p:set>
                                    <p:anim calcmode="lin" valueType="num">
                                      <p:cBhvr additive="base">
                                        <p:cTn id="229" dur="500" fill="hold"/>
                                        <p:tgtEl>
                                          <p:spTgt spid="351"/>
                                        </p:tgtEl>
                                        <p:attrNameLst>
                                          <p:attrName>ppt_x</p:attrName>
                                        </p:attrNameLst>
                                      </p:cBhvr>
                                      <p:tavLst>
                                        <p:tav tm="0">
                                          <p:val>
                                            <p:strVal val="#ppt_x"/>
                                          </p:val>
                                        </p:tav>
                                        <p:tav tm="100000">
                                          <p:val>
                                            <p:strVal val="#ppt_x"/>
                                          </p:val>
                                        </p:tav>
                                      </p:tavLst>
                                    </p:anim>
                                    <p:anim calcmode="lin" valueType="num">
                                      <p:cBhvr additive="base">
                                        <p:cTn id="230" dur="500" fill="hold"/>
                                        <p:tgtEl>
                                          <p:spTgt spid="351"/>
                                        </p:tgtEl>
                                        <p:attrNameLst>
                                          <p:attrName>ppt_y</p:attrName>
                                        </p:attrNameLst>
                                      </p:cBhvr>
                                      <p:tavLst>
                                        <p:tav tm="0">
                                          <p:val>
                                            <p:strVal val="1+#ppt_h/2"/>
                                          </p:val>
                                        </p:tav>
                                        <p:tav tm="100000">
                                          <p:val>
                                            <p:strVal val="#ppt_y"/>
                                          </p:val>
                                        </p:tav>
                                      </p:tavLst>
                                    </p:anim>
                                  </p:childTnLst>
                                </p:cTn>
                              </p:par>
                              <p:par>
                                <p:cTn id="231" presetID="2" presetClass="entr" presetSubtype="4" fill="hold" nodeType="withEffect">
                                  <p:stCondLst>
                                    <p:cond delay="0"/>
                                  </p:stCondLst>
                                  <p:childTnLst>
                                    <p:set>
                                      <p:cBhvr>
                                        <p:cTn id="232" dur="1" fill="hold">
                                          <p:stCondLst>
                                            <p:cond delay="0"/>
                                          </p:stCondLst>
                                        </p:cTn>
                                        <p:tgtEl>
                                          <p:spTgt spid="352"/>
                                        </p:tgtEl>
                                        <p:attrNameLst>
                                          <p:attrName>style.visibility</p:attrName>
                                        </p:attrNameLst>
                                      </p:cBhvr>
                                      <p:to>
                                        <p:strVal val="visible"/>
                                      </p:to>
                                    </p:set>
                                    <p:anim calcmode="lin" valueType="num">
                                      <p:cBhvr additive="base">
                                        <p:cTn id="233" dur="500" fill="hold"/>
                                        <p:tgtEl>
                                          <p:spTgt spid="352"/>
                                        </p:tgtEl>
                                        <p:attrNameLst>
                                          <p:attrName>ppt_x</p:attrName>
                                        </p:attrNameLst>
                                      </p:cBhvr>
                                      <p:tavLst>
                                        <p:tav tm="0">
                                          <p:val>
                                            <p:strVal val="#ppt_x"/>
                                          </p:val>
                                        </p:tav>
                                        <p:tav tm="100000">
                                          <p:val>
                                            <p:strVal val="#ppt_x"/>
                                          </p:val>
                                        </p:tav>
                                      </p:tavLst>
                                    </p:anim>
                                    <p:anim calcmode="lin" valueType="num">
                                      <p:cBhvr additive="base">
                                        <p:cTn id="234" dur="500" fill="hold"/>
                                        <p:tgtEl>
                                          <p:spTgt spid="3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 grpId="0" animBg="1"/>
      <p:bldP spid="220" grpId="0"/>
      <p:bldP spid="222" grpId="0"/>
      <p:bldP spid="224" grpId="0"/>
      <p:bldP spid="237" grpId="0"/>
      <p:bldP spid="239" grpId="0"/>
      <p:bldP spid="240" grpId="0" animBg="1"/>
      <p:bldP spid="242" grpId="0" animBg="1"/>
      <p:bldP spid="294" grpId="0"/>
      <p:bldP spid="296" grpId="0"/>
      <p:bldP spid="300" grpId="0"/>
      <p:bldP spid="302" grpId="0"/>
      <p:bldP spid="308" grpId="0"/>
      <p:bldP spid="311" grpId="0"/>
      <p:bldP spid="312" grpId="0"/>
      <p:bldP spid="316" grpId="0"/>
      <p:bldP spid="318" grpId="0"/>
      <p:bldP spid="329" grpId="0"/>
      <p:bldP spid="334" grpId="0" animBg="1"/>
      <p:bldP spid="335" grpId="0" animBg="1"/>
      <p:bldP spid="33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基础回顾-数据库之表-记录与磁盘块的映射</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数据库概念与磁盘相关概念的映射示意</a:t>
            </a:r>
            <a:endParaRPr lang="en-US" altLang="zh-CN" dirty="0">
              <a:latin typeface="微软雅黑" panose="020B0503020204020204" pitchFamily="34" charset="-122"/>
              <a:ea typeface="微软雅黑" panose="020B0503020204020204" pitchFamily="34" charset="-122"/>
            </a:endParaRPr>
          </a:p>
          <a:p>
            <a:pPr marL="0" indent="0">
              <a:lnSpc>
                <a:spcPct val="130000"/>
              </a:lnSpc>
              <a:buNone/>
            </a:pPr>
            <a:endParaRPr lang="zh-CN" altLang="en-US"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2000" dirty="0">
              <a:latin typeface="微软雅黑" panose="020B0503020204020204" pitchFamily="34" charset="-122"/>
              <a:ea typeface="微软雅黑" panose="020B0503020204020204" pitchFamily="34" charset="-122"/>
            </a:endParaRPr>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grpSp>
        <p:nvGrpSpPr>
          <p:cNvPr id="2" name="Group 57"/>
          <p:cNvGrpSpPr/>
          <p:nvPr/>
        </p:nvGrpSpPr>
        <p:grpSpPr>
          <a:xfrm>
            <a:off x="1943281" y="1980958"/>
            <a:ext cx="3424265" cy="1966145"/>
            <a:chOff x="256" y="998"/>
            <a:chExt cx="2218" cy="1390"/>
          </a:xfrm>
        </p:grpSpPr>
        <p:pic>
          <p:nvPicPr>
            <p:cNvPr id="6" name="Picture 4"/>
            <p:cNvPicPr>
              <a:picLocks noChangeAspect="1"/>
            </p:cNvPicPr>
            <p:nvPr/>
          </p:nvPicPr>
          <p:blipFill>
            <a:blip r:embed="rId1"/>
            <a:stretch>
              <a:fillRect/>
            </a:stretch>
          </p:blipFill>
          <p:spPr>
            <a:xfrm>
              <a:off x="256" y="1380"/>
              <a:ext cx="2218" cy="1008"/>
            </a:xfrm>
            <a:prstGeom prst="rect">
              <a:avLst/>
            </a:prstGeom>
            <a:noFill/>
            <a:ln w="9525">
              <a:noFill/>
            </a:ln>
          </p:spPr>
        </p:pic>
        <p:sp>
          <p:nvSpPr>
            <p:cNvPr id="7" name="Line 5"/>
            <p:cNvSpPr/>
            <p:nvPr/>
          </p:nvSpPr>
          <p:spPr>
            <a:xfrm>
              <a:off x="1377" y="1239"/>
              <a:ext cx="0" cy="263"/>
            </a:xfrm>
            <a:prstGeom prst="line">
              <a:avLst/>
            </a:prstGeom>
            <a:ln w="38100" cap="flat" cmpd="sng">
              <a:solidFill>
                <a:srgbClr val="FF0066"/>
              </a:solidFill>
              <a:prstDash val="solid"/>
              <a:round/>
              <a:headEnd type="none" w="med" len="med"/>
              <a:tailEnd type="triangle" w="med" len="med"/>
            </a:ln>
          </p:spPr>
        </p:sp>
        <p:sp>
          <p:nvSpPr>
            <p:cNvPr id="11" name="Text Box 6"/>
            <p:cNvSpPr txBox="1"/>
            <p:nvPr/>
          </p:nvSpPr>
          <p:spPr>
            <a:xfrm>
              <a:off x="607" y="998"/>
              <a:ext cx="1536" cy="261"/>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SQL—</a:t>
              </a:r>
              <a:r>
                <a:rPr lang="zh-CN" altLang="en-US" dirty="0">
                  <a:latin typeface="微软雅黑" panose="020B0503020204020204" pitchFamily="34" charset="-122"/>
                  <a:ea typeface="微软雅黑" panose="020B0503020204020204" pitchFamily="34" charset="-122"/>
                </a:rPr>
                <a:t>表</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属性值</a:t>
              </a:r>
              <a:endParaRPr lang="zh-CN" altLang="en-US" dirty="0">
                <a:latin typeface="微软雅黑" panose="020B0503020204020204" pitchFamily="34" charset="-122"/>
                <a:ea typeface="微软雅黑" panose="020B0503020204020204" pitchFamily="34" charset="-122"/>
              </a:endParaRPr>
            </a:p>
          </p:txBody>
        </p:sp>
      </p:grpSp>
      <p:grpSp>
        <p:nvGrpSpPr>
          <p:cNvPr id="109" name="Group 58"/>
          <p:cNvGrpSpPr/>
          <p:nvPr/>
        </p:nvGrpSpPr>
        <p:grpSpPr>
          <a:xfrm>
            <a:off x="7192963" y="2089150"/>
            <a:ext cx="4033837" cy="4362450"/>
            <a:chOff x="3477" y="893"/>
            <a:chExt cx="1937" cy="2931"/>
          </a:xfrm>
        </p:grpSpPr>
        <p:grpSp>
          <p:nvGrpSpPr>
            <p:cNvPr id="110" name="Group 16"/>
            <p:cNvGrpSpPr/>
            <p:nvPr/>
          </p:nvGrpSpPr>
          <p:grpSpPr>
            <a:xfrm>
              <a:off x="3619" y="1151"/>
              <a:ext cx="1795" cy="714"/>
              <a:chOff x="3595" y="1055"/>
              <a:chExt cx="1795" cy="714"/>
            </a:xfrm>
          </p:grpSpPr>
          <p:pic>
            <p:nvPicPr>
              <p:cNvPr id="137" name="Picture 8"/>
              <p:cNvPicPr>
                <a:picLocks noChangeAspect="1"/>
              </p:cNvPicPr>
              <p:nvPr/>
            </p:nvPicPr>
            <p:blipFill>
              <a:blip r:embed="rId2"/>
              <a:stretch>
                <a:fillRect/>
              </a:stretch>
            </p:blipFill>
            <p:spPr>
              <a:xfrm>
                <a:off x="3686" y="1301"/>
                <a:ext cx="1644" cy="138"/>
              </a:xfrm>
              <a:prstGeom prst="rect">
                <a:avLst/>
              </a:prstGeom>
              <a:noFill/>
              <a:ln w="9525">
                <a:noFill/>
              </a:ln>
            </p:spPr>
          </p:pic>
          <p:sp>
            <p:nvSpPr>
              <p:cNvPr id="138" name="Rectangle 9"/>
              <p:cNvSpPr/>
              <p:nvPr/>
            </p:nvSpPr>
            <p:spPr>
              <a:xfrm>
                <a:off x="3653" y="1259"/>
                <a:ext cx="1737" cy="510"/>
              </a:xfrm>
              <a:prstGeom prst="rect">
                <a:avLst/>
              </a:prstGeom>
              <a:no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pic>
            <p:nvPicPr>
              <p:cNvPr id="139" name="Picture 10"/>
              <p:cNvPicPr>
                <a:picLocks noChangeAspect="1"/>
              </p:cNvPicPr>
              <p:nvPr/>
            </p:nvPicPr>
            <p:blipFill>
              <a:blip r:embed="rId3"/>
              <a:stretch>
                <a:fillRect/>
              </a:stretch>
            </p:blipFill>
            <p:spPr>
              <a:xfrm>
                <a:off x="3679" y="1450"/>
                <a:ext cx="1644" cy="120"/>
              </a:xfrm>
              <a:prstGeom prst="rect">
                <a:avLst/>
              </a:prstGeom>
              <a:noFill/>
              <a:ln w="9525">
                <a:noFill/>
              </a:ln>
            </p:spPr>
          </p:pic>
          <p:pic>
            <p:nvPicPr>
              <p:cNvPr id="140" name="Picture 13"/>
              <p:cNvPicPr>
                <a:picLocks noChangeAspect="1"/>
              </p:cNvPicPr>
              <p:nvPr/>
            </p:nvPicPr>
            <p:blipFill>
              <a:blip r:embed="rId4"/>
              <a:stretch>
                <a:fillRect/>
              </a:stretch>
            </p:blipFill>
            <p:spPr>
              <a:xfrm>
                <a:off x="3682" y="1588"/>
                <a:ext cx="1638" cy="108"/>
              </a:xfrm>
              <a:prstGeom prst="rect">
                <a:avLst/>
              </a:prstGeom>
              <a:noFill/>
              <a:ln w="9525">
                <a:noFill/>
              </a:ln>
            </p:spPr>
          </p:pic>
          <p:sp>
            <p:nvSpPr>
              <p:cNvPr id="141" name="Text Box 14"/>
              <p:cNvSpPr txBox="1"/>
              <p:nvPr/>
            </p:nvSpPr>
            <p:spPr>
              <a:xfrm>
                <a:off x="3682" y="1227"/>
                <a:ext cx="1661" cy="520"/>
              </a:xfrm>
              <a:prstGeom prst="rect">
                <a:avLst/>
              </a:prstGeom>
              <a:noFill/>
              <a:ln w="9525">
                <a:noFill/>
              </a:ln>
            </p:spPr>
            <p:txBody>
              <a:bodyPr anchor="t">
                <a:spAutoFit/>
              </a:bodyPr>
              <a:lstStyle/>
              <a:p>
                <a:r>
                  <a:rPr lang="en-US" altLang="zh-CN" dirty="0">
                    <a:solidFill>
                      <a:srgbClr val="FF0066"/>
                    </a:solidFill>
                    <a:latin typeface="Arial" panose="020B0604020202020204" pitchFamily="34" charset="0"/>
                    <a:ea typeface="楷体_GB2312" pitchFamily="49" charset="-122"/>
                  </a:rPr>
                  <a:t>0101010101010</a:t>
                </a:r>
                <a:r>
                  <a:rPr lang="en-US" altLang="zh-CN" dirty="0">
                    <a:solidFill>
                      <a:schemeClr val="accent2"/>
                    </a:solidFill>
                    <a:latin typeface="Arial" panose="020B0604020202020204" pitchFamily="34" charset="0"/>
                    <a:ea typeface="楷体_GB2312" pitchFamily="49" charset="-122"/>
                  </a:rPr>
                  <a:t>10101001</a:t>
                </a:r>
                <a:r>
                  <a:rPr lang="en-US" altLang="zh-CN" dirty="0">
                    <a:solidFill>
                      <a:srgbClr val="666633"/>
                    </a:solidFill>
                    <a:latin typeface="Arial" panose="020B0604020202020204" pitchFamily="34" charset="0"/>
                    <a:ea typeface="楷体_GB2312" pitchFamily="49" charset="-122"/>
                  </a:rPr>
                  <a:t>0101001</a:t>
                </a:r>
                <a:r>
                  <a:rPr lang="en-US" altLang="zh-CN" dirty="0">
                    <a:solidFill>
                      <a:srgbClr val="FF0066"/>
                    </a:solidFill>
                    <a:latin typeface="Arial" panose="020B0604020202020204" pitchFamily="34" charset="0"/>
                    <a:ea typeface="楷体_GB2312" pitchFamily="49" charset="-122"/>
                  </a:rPr>
                  <a:t>0101010100101</a:t>
                </a:r>
                <a:r>
                  <a:rPr lang="en-US" altLang="zh-CN" dirty="0">
                    <a:solidFill>
                      <a:schemeClr val="accent2"/>
                    </a:solidFill>
                    <a:latin typeface="Arial" panose="020B0604020202020204" pitchFamily="34" charset="0"/>
                    <a:ea typeface="楷体_GB2312" pitchFamily="49" charset="-122"/>
                  </a:rPr>
                  <a:t>01001100</a:t>
                </a:r>
                <a:r>
                  <a:rPr lang="en-US" altLang="zh-CN" dirty="0">
                    <a:solidFill>
                      <a:srgbClr val="666633"/>
                    </a:solidFill>
                    <a:latin typeface="Arial" panose="020B0604020202020204" pitchFamily="34" charset="0"/>
                    <a:ea typeface="楷体_GB2312" pitchFamily="49" charset="-122"/>
                  </a:rPr>
                  <a:t>0010101</a:t>
                </a:r>
                <a:r>
                  <a:rPr lang="en-US" altLang="zh-CN" dirty="0">
                    <a:latin typeface="Arial" panose="020B0604020202020204" pitchFamily="34" charset="0"/>
                    <a:ea typeface="楷体_GB2312" pitchFamily="49" charset="-122"/>
                  </a:rPr>
                  <a:t>0101010</a:t>
                </a:r>
                <a:endParaRPr lang="en-US" altLang="zh-CN" dirty="0">
                  <a:latin typeface="Arial" panose="020B0604020202020204" pitchFamily="34" charset="0"/>
                  <a:ea typeface="楷体_GB2312" pitchFamily="49" charset="-122"/>
                </a:endParaRPr>
              </a:p>
            </p:txBody>
          </p:sp>
          <p:sp>
            <p:nvSpPr>
              <p:cNvPr id="142" name="Text Box 15"/>
              <p:cNvSpPr txBox="1"/>
              <p:nvPr/>
            </p:nvSpPr>
            <p:spPr>
              <a:xfrm>
                <a:off x="3595" y="1055"/>
                <a:ext cx="535" cy="212"/>
              </a:xfrm>
              <a:prstGeom prst="rect">
                <a:avLst/>
              </a:prstGeom>
              <a:noFill/>
              <a:ln w="9525">
                <a:noFill/>
              </a:ln>
            </p:spPr>
            <p:txBody>
              <a:bodyPr wrap="none" anchor="t">
                <a:spAutoFit/>
              </a:bodyPr>
              <a:lstStyle/>
              <a:p>
                <a:pPr algn="ctr"/>
                <a:r>
                  <a:rPr lang="en-US" altLang="zh-CN" dirty="0">
                    <a:latin typeface="Arial" panose="020B0604020202020204" pitchFamily="34" charset="0"/>
                    <a:ea typeface="楷体_GB2312" pitchFamily="49" charset="-122"/>
                  </a:rPr>
                  <a:t>Block1</a:t>
                </a:r>
                <a:endParaRPr lang="en-US" altLang="zh-CN" dirty="0">
                  <a:latin typeface="Arial" panose="020B0604020202020204" pitchFamily="34" charset="0"/>
                  <a:ea typeface="楷体_GB2312" pitchFamily="49" charset="-122"/>
                </a:endParaRPr>
              </a:p>
            </p:txBody>
          </p:sp>
        </p:grpSp>
        <p:grpSp>
          <p:nvGrpSpPr>
            <p:cNvPr id="118" name="Group 17"/>
            <p:cNvGrpSpPr/>
            <p:nvPr/>
          </p:nvGrpSpPr>
          <p:grpSpPr>
            <a:xfrm>
              <a:off x="3599" y="2135"/>
              <a:ext cx="1795" cy="714"/>
              <a:chOff x="3595" y="1055"/>
              <a:chExt cx="1795" cy="714"/>
            </a:xfrm>
          </p:grpSpPr>
          <p:pic>
            <p:nvPicPr>
              <p:cNvPr id="131" name="Picture 18"/>
              <p:cNvPicPr>
                <a:picLocks noChangeAspect="1"/>
              </p:cNvPicPr>
              <p:nvPr/>
            </p:nvPicPr>
            <p:blipFill>
              <a:blip r:embed="rId2"/>
              <a:stretch>
                <a:fillRect/>
              </a:stretch>
            </p:blipFill>
            <p:spPr>
              <a:xfrm>
                <a:off x="3686" y="1301"/>
                <a:ext cx="1644" cy="138"/>
              </a:xfrm>
              <a:prstGeom prst="rect">
                <a:avLst/>
              </a:prstGeom>
              <a:noFill/>
              <a:ln w="9525">
                <a:noFill/>
              </a:ln>
            </p:spPr>
          </p:pic>
          <p:sp>
            <p:nvSpPr>
              <p:cNvPr id="132" name="Rectangle 19"/>
              <p:cNvSpPr/>
              <p:nvPr/>
            </p:nvSpPr>
            <p:spPr>
              <a:xfrm>
                <a:off x="3653" y="1259"/>
                <a:ext cx="1737" cy="510"/>
              </a:xfrm>
              <a:prstGeom prst="rect">
                <a:avLst/>
              </a:prstGeom>
              <a:no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pic>
            <p:nvPicPr>
              <p:cNvPr id="133" name="Picture 20"/>
              <p:cNvPicPr>
                <a:picLocks noChangeAspect="1"/>
              </p:cNvPicPr>
              <p:nvPr/>
            </p:nvPicPr>
            <p:blipFill>
              <a:blip r:embed="rId3"/>
              <a:stretch>
                <a:fillRect/>
              </a:stretch>
            </p:blipFill>
            <p:spPr>
              <a:xfrm>
                <a:off x="3679" y="1450"/>
                <a:ext cx="1644" cy="120"/>
              </a:xfrm>
              <a:prstGeom prst="rect">
                <a:avLst/>
              </a:prstGeom>
              <a:noFill/>
              <a:ln w="9525">
                <a:noFill/>
              </a:ln>
            </p:spPr>
          </p:pic>
          <p:pic>
            <p:nvPicPr>
              <p:cNvPr id="134" name="Picture 21"/>
              <p:cNvPicPr>
                <a:picLocks noChangeAspect="1"/>
              </p:cNvPicPr>
              <p:nvPr/>
            </p:nvPicPr>
            <p:blipFill>
              <a:blip r:embed="rId4"/>
              <a:stretch>
                <a:fillRect/>
              </a:stretch>
            </p:blipFill>
            <p:spPr>
              <a:xfrm>
                <a:off x="3682" y="1588"/>
                <a:ext cx="1638" cy="108"/>
              </a:xfrm>
              <a:prstGeom prst="rect">
                <a:avLst/>
              </a:prstGeom>
              <a:noFill/>
              <a:ln w="9525">
                <a:noFill/>
              </a:ln>
            </p:spPr>
          </p:pic>
          <p:sp>
            <p:nvSpPr>
              <p:cNvPr id="135" name="Text Box 22"/>
              <p:cNvSpPr txBox="1"/>
              <p:nvPr/>
            </p:nvSpPr>
            <p:spPr>
              <a:xfrm>
                <a:off x="3682" y="1227"/>
                <a:ext cx="1661" cy="520"/>
              </a:xfrm>
              <a:prstGeom prst="rect">
                <a:avLst/>
              </a:prstGeom>
              <a:noFill/>
              <a:ln w="9525">
                <a:noFill/>
              </a:ln>
            </p:spPr>
            <p:txBody>
              <a:bodyPr anchor="t">
                <a:spAutoFit/>
              </a:bodyPr>
              <a:lstStyle/>
              <a:p>
                <a:r>
                  <a:rPr lang="en-US" altLang="zh-CN" dirty="0">
                    <a:solidFill>
                      <a:srgbClr val="FF0066"/>
                    </a:solidFill>
                    <a:latin typeface="Arial" panose="020B0604020202020204" pitchFamily="34" charset="0"/>
                    <a:ea typeface="楷体_GB2312" pitchFamily="49" charset="-122"/>
                  </a:rPr>
                  <a:t>0101010101010</a:t>
                </a:r>
                <a:r>
                  <a:rPr lang="en-US" altLang="zh-CN" dirty="0">
                    <a:solidFill>
                      <a:schemeClr val="accent2"/>
                    </a:solidFill>
                    <a:latin typeface="Arial" panose="020B0604020202020204" pitchFamily="34" charset="0"/>
                    <a:ea typeface="楷体_GB2312" pitchFamily="49" charset="-122"/>
                  </a:rPr>
                  <a:t>10101001</a:t>
                </a:r>
                <a:r>
                  <a:rPr lang="en-US" altLang="zh-CN" dirty="0">
                    <a:solidFill>
                      <a:srgbClr val="666633"/>
                    </a:solidFill>
                    <a:latin typeface="Arial" panose="020B0604020202020204" pitchFamily="34" charset="0"/>
                    <a:ea typeface="楷体_GB2312" pitchFamily="49" charset="-122"/>
                  </a:rPr>
                  <a:t>0101001</a:t>
                </a:r>
                <a:r>
                  <a:rPr lang="en-US" altLang="zh-CN" dirty="0">
                    <a:solidFill>
                      <a:srgbClr val="FF0066"/>
                    </a:solidFill>
                    <a:latin typeface="Arial" panose="020B0604020202020204" pitchFamily="34" charset="0"/>
                    <a:ea typeface="楷体_GB2312" pitchFamily="49" charset="-122"/>
                  </a:rPr>
                  <a:t>0101010100101</a:t>
                </a:r>
                <a:r>
                  <a:rPr lang="en-US" altLang="zh-CN" dirty="0">
                    <a:solidFill>
                      <a:schemeClr val="accent2"/>
                    </a:solidFill>
                    <a:latin typeface="Arial" panose="020B0604020202020204" pitchFamily="34" charset="0"/>
                    <a:ea typeface="楷体_GB2312" pitchFamily="49" charset="-122"/>
                  </a:rPr>
                  <a:t>01001100</a:t>
                </a:r>
                <a:r>
                  <a:rPr lang="en-US" altLang="zh-CN" dirty="0">
                    <a:solidFill>
                      <a:srgbClr val="666633"/>
                    </a:solidFill>
                    <a:latin typeface="Arial" panose="020B0604020202020204" pitchFamily="34" charset="0"/>
                    <a:ea typeface="楷体_GB2312" pitchFamily="49" charset="-122"/>
                  </a:rPr>
                  <a:t>0010101</a:t>
                </a:r>
                <a:r>
                  <a:rPr lang="en-US" altLang="zh-CN" dirty="0">
                    <a:latin typeface="Arial" panose="020B0604020202020204" pitchFamily="34" charset="0"/>
                    <a:ea typeface="楷体_GB2312" pitchFamily="49" charset="-122"/>
                  </a:rPr>
                  <a:t>0101010</a:t>
                </a:r>
                <a:endParaRPr lang="en-US" altLang="zh-CN" dirty="0">
                  <a:latin typeface="Arial" panose="020B0604020202020204" pitchFamily="34" charset="0"/>
                  <a:ea typeface="楷体_GB2312" pitchFamily="49" charset="-122"/>
                </a:endParaRPr>
              </a:p>
            </p:txBody>
          </p:sp>
          <p:sp>
            <p:nvSpPr>
              <p:cNvPr id="136" name="Text Box 23"/>
              <p:cNvSpPr txBox="1"/>
              <p:nvPr/>
            </p:nvSpPr>
            <p:spPr>
              <a:xfrm>
                <a:off x="3595" y="1055"/>
                <a:ext cx="535" cy="212"/>
              </a:xfrm>
              <a:prstGeom prst="rect">
                <a:avLst/>
              </a:prstGeom>
              <a:noFill/>
              <a:ln w="9525">
                <a:noFill/>
              </a:ln>
            </p:spPr>
            <p:txBody>
              <a:bodyPr wrap="none" anchor="t">
                <a:spAutoFit/>
              </a:bodyPr>
              <a:lstStyle/>
              <a:p>
                <a:pPr algn="ctr"/>
                <a:r>
                  <a:rPr lang="en-US" altLang="zh-CN" dirty="0">
                    <a:latin typeface="Arial" panose="020B0604020202020204" pitchFamily="34" charset="0"/>
                    <a:ea typeface="楷体_GB2312" pitchFamily="49" charset="-122"/>
                  </a:rPr>
                  <a:t>Block5</a:t>
                </a:r>
                <a:endParaRPr lang="en-US" altLang="zh-CN" dirty="0">
                  <a:latin typeface="Arial" panose="020B0604020202020204" pitchFamily="34" charset="0"/>
                  <a:ea typeface="楷体_GB2312" pitchFamily="49" charset="-122"/>
                </a:endParaRPr>
              </a:p>
            </p:txBody>
          </p:sp>
        </p:grpSp>
        <p:grpSp>
          <p:nvGrpSpPr>
            <p:cNvPr id="121" name="Group 24"/>
            <p:cNvGrpSpPr/>
            <p:nvPr/>
          </p:nvGrpSpPr>
          <p:grpSpPr>
            <a:xfrm>
              <a:off x="3579" y="3110"/>
              <a:ext cx="1795" cy="714"/>
              <a:chOff x="3595" y="1055"/>
              <a:chExt cx="1795" cy="714"/>
            </a:xfrm>
          </p:grpSpPr>
          <p:pic>
            <p:nvPicPr>
              <p:cNvPr id="125" name="Picture 25"/>
              <p:cNvPicPr>
                <a:picLocks noChangeAspect="1"/>
              </p:cNvPicPr>
              <p:nvPr/>
            </p:nvPicPr>
            <p:blipFill>
              <a:blip r:embed="rId2"/>
              <a:stretch>
                <a:fillRect/>
              </a:stretch>
            </p:blipFill>
            <p:spPr>
              <a:xfrm>
                <a:off x="3686" y="1301"/>
                <a:ext cx="1644" cy="138"/>
              </a:xfrm>
              <a:prstGeom prst="rect">
                <a:avLst/>
              </a:prstGeom>
              <a:noFill/>
              <a:ln w="9525">
                <a:noFill/>
              </a:ln>
            </p:spPr>
          </p:pic>
          <p:sp>
            <p:nvSpPr>
              <p:cNvPr id="126" name="Rectangle 26"/>
              <p:cNvSpPr/>
              <p:nvPr/>
            </p:nvSpPr>
            <p:spPr>
              <a:xfrm>
                <a:off x="3653" y="1259"/>
                <a:ext cx="1737" cy="510"/>
              </a:xfrm>
              <a:prstGeom prst="rect">
                <a:avLst/>
              </a:prstGeom>
              <a:no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pic>
            <p:nvPicPr>
              <p:cNvPr id="127" name="Picture 27"/>
              <p:cNvPicPr>
                <a:picLocks noChangeAspect="1"/>
              </p:cNvPicPr>
              <p:nvPr/>
            </p:nvPicPr>
            <p:blipFill>
              <a:blip r:embed="rId3"/>
              <a:stretch>
                <a:fillRect/>
              </a:stretch>
            </p:blipFill>
            <p:spPr>
              <a:xfrm>
                <a:off x="3679" y="1450"/>
                <a:ext cx="1644" cy="120"/>
              </a:xfrm>
              <a:prstGeom prst="rect">
                <a:avLst/>
              </a:prstGeom>
              <a:noFill/>
              <a:ln w="9525">
                <a:noFill/>
              </a:ln>
            </p:spPr>
          </p:pic>
          <p:pic>
            <p:nvPicPr>
              <p:cNvPr id="128" name="Picture 28"/>
              <p:cNvPicPr>
                <a:picLocks noChangeAspect="1"/>
              </p:cNvPicPr>
              <p:nvPr/>
            </p:nvPicPr>
            <p:blipFill>
              <a:blip r:embed="rId4"/>
              <a:stretch>
                <a:fillRect/>
              </a:stretch>
            </p:blipFill>
            <p:spPr>
              <a:xfrm>
                <a:off x="3682" y="1588"/>
                <a:ext cx="1638" cy="108"/>
              </a:xfrm>
              <a:prstGeom prst="rect">
                <a:avLst/>
              </a:prstGeom>
              <a:noFill/>
              <a:ln w="9525">
                <a:noFill/>
              </a:ln>
            </p:spPr>
          </p:pic>
          <p:sp>
            <p:nvSpPr>
              <p:cNvPr id="129" name="Text Box 29"/>
              <p:cNvSpPr txBox="1"/>
              <p:nvPr/>
            </p:nvSpPr>
            <p:spPr>
              <a:xfrm>
                <a:off x="3682" y="1227"/>
                <a:ext cx="1661" cy="520"/>
              </a:xfrm>
              <a:prstGeom prst="rect">
                <a:avLst/>
              </a:prstGeom>
              <a:noFill/>
              <a:ln w="9525">
                <a:noFill/>
              </a:ln>
            </p:spPr>
            <p:txBody>
              <a:bodyPr anchor="t">
                <a:spAutoFit/>
              </a:bodyPr>
              <a:lstStyle/>
              <a:p>
                <a:r>
                  <a:rPr lang="en-US" altLang="zh-CN" dirty="0">
                    <a:solidFill>
                      <a:srgbClr val="FF0066"/>
                    </a:solidFill>
                    <a:latin typeface="Arial" panose="020B0604020202020204" pitchFamily="34" charset="0"/>
                    <a:ea typeface="楷体_GB2312" pitchFamily="49" charset="-122"/>
                  </a:rPr>
                  <a:t>0101010101010</a:t>
                </a:r>
                <a:r>
                  <a:rPr lang="en-US" altLang="zh-CN" dirty="0">
                    <a:solidFill>
                      <a:schemeClr val="accent2"/>
                    </a:solidFill>
                    <a:latin typeface="Arial" panose="020B0604020202020204" pitchFamily="34" charset="0"/>
                    <a:ea typeface="楷体_GB2312" pitchFamily="49" charset="-122"/>
                  </a:rPr>
                  <a:t>10101001</a:t>
                </a:r>
                <a:r>
                  <a:rPr lang="en-US" altLang="zh-CN" dirty="0">
                    <a:solidFill>
                      <a:srgbClr val="666633"/>
                    </a:solidFill>
                    <a:latin typeface="Arial" panose="020B0604020202020204" pitchFamily="34" charset="0"/>
                    <a:ea typeface="楷体_GB2312" pitchFamily="49" charset="-122"/>
                  </a:rPr>
                  <a:t>0101001</a:t>
                </a:r>
                <a:r>
                  <a:rPr lang="en-US" altLang="zh-CN" dirty="0">
                    <a:solidFill>
                      <a:srgbClr val="FF0066"/>
                    </a:solidFill>
                    <a:latin typeface="Arial" panose="020B0604020202020204" pitchFamily="34" charset="0"/>
                    <a:ea typeface="楷体_GB2312" pitchFamily="49" charset="-122"/>
                  </a:rPr>
                  <a:t>0101010100101</a:t>
                </a:r>
                <a:r>
                  <a:rPr lang="en-US" altLang="zh-CN" dirty="0">
                    <a:solidFill>
                      <a:schemeClr val="accent2"/>
                    </a:solidFill>
                    <a:latin typeface="Arial" panose="020B0604020202020204" pitchFamily="34" charset="0"/>
                    <a:ea typeface="楷体_GB2312" pitchFamily="49" charset="-122"/>
                  </a:rPr>
                  <a:t>01001100</a:t>
                </a:r>
                <a:r>
                  <a:rPr lang="en-US" altLang="zh-CN" dirty="0">
                    <a:solidFill>
                      <a:srgbClr val="666633"/>
                    </a:solidFill>
                    <a:latin typeface="Arial" panose="020B0604020202020204" pitchFamily="34" charset="0"/>
                    <a:ea typeface="楷体_GB2312" pitchFamily="49" charset="-122"/>
                  </a:rPr>
                  <a:t>0010101</a:t>
                </a:r>
                <a:r>
                  <a:rPr lang="en-US" altLang="zh-CN" dirty="0">
                    <a:latin typeface="Arial" panose="020B0604020202020204" pitchFamily="34" charset="0"/>
                    <a:ea typeface="楷体_GB2312" pitchFamily="49" charset="-122"/>
                  </a:rPr>
                  <a:t>0101010</a:t>
                </a:r>
                <a:endParaRPr lang="en-US" altLang="zh-CN" dirty="0">
                  <a:latin typeface="Arial" panose="020B0604020202020204" pitchFamily="34" charset="0"/>
                  <a:ea typeface="楷体_GB2312" pitchFamily="49" charset="-122"/>
                </a:endParaRPr>
              </a:p>
            </p:txBody>
          </p:sp>
          <p:sp>
            <p:nvSpPr>
              <p:cNvPr id="130" name="Text Box 30"/>
              <p:cNvSpPr txBox="1"/>
              <p:nvPr/>
            </p:nvSpPr>
            <p:spPr>
              <a:xfrm>
                <a:off x="3595" y="1055"/>
                <a:ext cx="535" cy="212"/>
              </a:xfrm>
              <a:prstGeom prst="rect">
                <a:avLst/>
              </a:prstGeom>
              <a:noFill/>
              <a:ln w="9525">
                <a:noFill/>
              </a:ln>
            </p:spPr>
            <p:txBody>
              <a:bodyPr wrap="none" anchor="t">
                <a:spAutoFit/>
              </a:bodyPr>
              <a:lstStyle/>
              <a:p>
                <a:pPr algn="ctr"/>
                <a:r>
                  <a:rPr lang="en-US" altLang="zh-CN" dirty="0">
                    <a:latin typeface="Arial" panose="020B0604020202020204" pitchFamily="34" charset="0"/>
                    <a:ea typeface="楷体_GB2312" pitchFamily="49" charset="-122"/>
                  </a:rPr>
                  <a:t>Block8</a:t>
                </a:r>
                <a:endParaRPr lang="en-US" altLang="zh-CN" dirty="0">
                  <a:latin typeface="Arial" panose="020B0604020202020204" pitchFamily="34" charset="0"/>
                  <a:ea typeface="楷体_GB2312" pitchFamily="49" charset="-122"/>
                </a:endParaRPr>
              </a:p>
            </p:txBody>
          </p:sp>
        </p:grpSp>
        <p:sp>
          <p:nvSpPr>
            <p:cNvPr id="122" name="Rectangle 32"/>
            <p:cNvSpPr/>
            <p:nvPr/>
          </p:nvSpPr>
          <p:spPr>
            <a:xfrm>
              <a:off x="3664" y="893"/>
              <a:ext cx="1694" cy="250"/>
            </a:xfrm>
            <a:prstGeom prst="rect">
              <a:avLst/>
            </a:prstGeom>
            <a:noFill/>
            <a:ln w="9525">
              <a:noFill/>
            </a:ln>
          </p:spPr>
          <p:txBody>
            <a:bodyPr wrap="none" anchor="t">
              <a:spAutoFit/>
            </a:bodyPr>
            <a:lstStyle/>
            <a:p>
              <a:pPr algn="ctr"/>
              <a:r>
                <a:rPr lang="en-US" altLang="zh-CN" sz="2000" dirty="0">
                  <a:latin typeface="Arial" panose="020B0604020202020204" pitchFamily="34" charset="0"/>
                  <a:ea typeface="微软雅黑" panose="020B0503020204020204" pitchFamily="34" charset="-122"/>
                </a:rPr>
                <a:t>Storage</a:t>
              </a:r>
              <a:r>
                <a:rPr lang="en-US" altLang="zh-CN" dirty="0">
                  <a:latin typeface="Arial" panose="020B0604020202020204" pitchFamily="34" charset="0"/>
                  <a:ea typeface="微软雅黑" panose="020B0503020204020204" pitchFamily="34" charset="-122"/>
                </a:rPr>
                <a:t>—</a:t>
              </a:r>
              <a:r>
                <a:rPr lang="zh-CN" altLang="en-US" dirty="0">
                  <a:latin typeface="Arial" panose="020B0604020202020204" pitchFamily="34" charset="0"/>
                  <a:ea typeface="微软雅黑" panose="020B0503020204020204" pitchFamily="34" charset="-122"/>
                </a:rPr>
                <a:t>盘面</a:t>
              </a:r>
              <a:r>
                <a:rPr lang="en-US" altLang="zh-CN" dirty="0">
                  <a:latin typeface="Arial" panose="020B0604020202020204" pitchFamily="34" charset="0"/>
                  <a:ea typeface="微软雅黑" panose="020B0503020204020204" pitchFamily="34" charset="-122"/>
                </a:rPr>
                <a:t>:</a:t>
              </a:r>
              <a:r>
                <a:rPr lang="zh-CN" altLang="en-US" dirty="0">
                  <a:latin typeface="Arial" panose="020B0604020202020204" pitchFamily="34" charset="0"/>
                  <a:ea typeface="微软雅黑" panose="020B0503020204020204" pitchFamily="34" charset="-122"/>
                </a:rPr>
                <a:t>磁道</a:t>
              </a:r>
              <a:r>
                <a:rPr lang="en-US" altLang="zh-CN" dirty="0">
                  <a:latin typeface="Arial" panose="020B0604020202020204" pitchFamily="34" charset="0"/>
                  <a:ea typeface="微软雅黑" panose="020B0503020204020204" pitchFamily="34" charset="-122"/>
                </a:rPr>
                <a:t>:</a:t>
              </a:r>
              <a:r>
                <a:rPr lang="zh-CN" altLang="en-US" dirty="0">
                  <a:latin typeface="Arial" panose="020B0604020202020204" pitchFamily="34" charset="0"/>
                  <a:ea typeface="微软雅黑" panose="020B0503020204020204" pitchFamily="34" charset="-122"/>
                </a:rPr>
                <a:t>扇区</a:t>
              </a:r>
              <a:endParaRPr lang="zh-CN" altLang="en-US" dirty="0">
                <a:latin typeface="Arial" panose="020B0604020202020204" pitchFamily="34" charset="0"/>
                <a:ea typeface="微软雅黑" panose="020B0503020204020204" pitchFamily="34" charset="-122"/>
              </a:endParaRPr>
            </a:p>
          </p:txBody>
        </p:sp>
        <p:sp>
          <p:nvSpPr>
            <p:cNvPr id="123" name="Freeform 33"/>
            <p:cNvSpPr/>
            <p:nvPr/>
          </p:nvSpPr>
          <p:spPr>
            <a:xfrm>
              <a:off x="3478" y="1245"/>
              <a:ext cx="316" cy="896"/>
            </a:xfrm>
            <a:custGeom>
              <a:avLst/>
              <a:gdLst/>
              <a:ahLst/>
              <a:cxnLst>
                <a:cxn ang="0">
                  <a:pos x="167" y="0"/>
                </a:cxn>
                <a:cxn ang="0">
                  <a:pos x="18" y="172"/>
                </a:cxn>
                <a:cxn ang="0">
                  <a:pos x="60" y="699"/>
                </a:cxn>
                <a:cxn ang="0">
                  <a:pos x="274" y="806"/>
                </a:cxn>
                <a:cxn ang="0">
                  <a:pos x="315" y="896"/>
                </a:cxn>
              </a:cxnLst>
              <a:rect l="0" t="0" r="0" b="0"/>
              <a:pathLst>
                <a:path w="316" h="896">
                  <a:moveTo>
                    <a:pt x="167" y="0"/>
                  </a:moveTo>
                  <a:cubicBezTo>
                    <a:pt x="101" y="28"/>
                    <a:pt x="36" y="56"/>
                    <a:pt x="18" y="172"/>
                  </a:cubicBezTo>
                  <a:cubicBezTo>
                    <a:pt x="0" y="288"/>
                    <a:pt x="17" y="593"/>
                    <a:pt x="60" y="699"/>
                  </a:cubicBezTo>
                  <a:cubicBezTo>
                    <a:pt x="103" y="805"/>
                    <a:pt x="232" y="773"/>
                    <a:pt x="274" y="806"/>
                  </a:cubicBezTo>
                  <a:cubicBezTo>
                    <a:pt x="316" y="839"/>
                    <a:pt x="315" y="867"/>
                    <a:pt x="315" y="896"/>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24" name="Freeform 34"/>
            <p:cNvSpPr/>
            <p:nvPr/>
          </p:nvSpPr>
          <p:spPr>
            <a:xfrm>
              <a:off x="3477" y="2257"/>
              <a:ext cx="302" cy="881"/>
            </a:xfrm>
            <a:custGeom>
              <a:avLst/>
              <a:gdLst/>
              <a:ahLst/>
              <a:cxnLst>
                <a:cxn ang="0">
                  <a:pos x="151" y="0"/>
                </a:cxn>
                <a:cxn ang="0">
                  <a:pos x="44" y="172"/>
                </a:cxn>
                <a:cxn ang="0">
                  <a:pos x="36" y="691"/>
                </a:cxn>
                <a:cxn ang="0">
                  <a:pos x="258" y="806"/>
                </a:cxn>
                <a:cxn ang="0">
                  <a:pos x="299" y="938"/>
                </a:cxn>
              </a:cxnLst>
              <a:rect l="0" t="0" r="0" b="0"/>
              <a:pathLst>
                <a:path w="302" h="938">
                  <a:moveTo>
                    <a:pt x="151" y="0"/>
                  </a:moveTo>
                  <a:cubicBezTo>
                    <a:pt x="107" y="28"/>
                    <a:pt x="63" y="57"/>
                    <a:pt x="44" y="172"/>
                  </a:cubicBezTo>
                  <a:cubicBezTo>
                    <a:pt x="25" y="287"/>
                    <a:pt x="0" y="585"/>
                    <a:pt x="36" y="691"/>
                  </a:cubicBezTo>
                  <a:cubicBezTo>
                    <a:pt x="72" y="797"/>
                    <a:pt x="214" y="765"/>
                    <a:pt x="258" y="806"/>
                  </a:cubicBezTo>
                  <a:cubicBezTo>
                    <a:pt x="302" y="847"/>
                    <a:pt x="291" y="911"/>
                    <a:pt x="299" y="938"/>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grpSp>
      <p:grpSp>
        <p:nvGrpSpPr>
          <p:cNvPr id="143" name="Group 62"/>
          <p:cNvGrpSpPr/>
          <p:nvPr/>
        </p:nvGrpSpPr>
        <p:grpSpPr>
          <a:xfrm>
            <a:off x="1325909" y="4112736"/>
            <a:ext cx="5152794" cy="2527520"/>
            <a:chOff x="123" y="2517"/>
            <a:chExt cx="3215" cy="1524"/>
          </a:xfrm>
        </p:grpSpPr>
        <p:sp>
          <p:nvSpPr>
            <p:cNvPr id="144" name="Rectangle 59"/>
            <p:cNvSpPr>
              <a:spLocks noChangeArrowheads="1"/>
            </p:cNvSpPr>
            <p:nvPr/>
          </p:nvSpPr>
          <p:spPr bwMode="auto">
            <a:xfrm>
              <a:off x="123" y="2517"/>
              <a:ext cx="3210" cy="1522"/>
            </a:xfrm>
            <a:prstGeom prst="rect">
              <a:avLst/>
            </a:prstGeom>
            <a:solidFill>
              <a:srgbClr val="EAEAEA"/>
            </a:solidFill>
            <a:ln w="9525">
              <a:solidFill>
                <a:srgbClr val="FF0066"/>
              </a:solidFill>
              <a:miter lim="800000"/>
            </a:ln>
            <a:effectLst>
              <a:outerShdw dist="107763" dir="2700000" algn="ctr" rotWithShape="0">
                <a:schemeClr val="bg2">
                  <a:alpha val="50000"/>
                </a:schemeClr>
              </a:outerShdw>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16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145" name="Text Box 35"/>
            <p:cNvSpPr txBox="1"/>
            <p:nvPr/>
          </p:nvSpPr>
          <p:spPr>
            <a:xfrm>
              <a:off x="853" y="2652"/>
              <a:ext cx="266" cy="237"/>
            </a:xfrm>
            <a:prstGeom prst="rect">
              <a:avLst/>
            </a:prstGeom>
            <a:noFill/>
            <a:ln w="9525" cap="flat" cmpd="sng">
              <a:solidFill>
                <a:schemeClr val="accent2"/>
              </a:solidFill>
              <a:prstDash val="dash"/>
              <a:miter/>
              <a:headEnd type="none" w="med" len="med"/>
              <a:tailEnd type="none" w="med" len="med"/>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表</a:t>
              </a:r>
              <a:endParaRPr lang="zh-CN" altLang="en-US" sz="1800" dirty="0">
                <a:latin typeface="微软雅黑" panose="020B0503020204020204" pitchFamily="34" charset="-122"/>
                <a:ea typeface="微软雅黑" panose="020B0503020204020204" pitchFamily="34" charset="-122"/>
              </a:endParaRPr>
            </a:p>
          </p:txBody>
        </p:sp>
        <p:sp>
          <p:nvSpPr>
            <p:cNvPr id="146" name="Line 36"/>
            <p:cNvSpPr/>
            <p:nvPr/>
          </p:nvSpPr>
          <p:spPr>
            <a:xfrm>
              <a:off x="978" y="2893"/>
              <a:ext cx="0" cy="362"/>
            </a:xfrm>
            <a:prstGeom prst="line">
              <a:avLst/>
            </a:prstGeom>
            <a:ln w="28575" cap="flat" cmpd="sng">
              <a:solidFill>
                <a:srgbClr val="FF0066"/>
              </a:solidFill>
              <a:prstDash val="sysDot"/>
              <a:round/>
              <a:headEnd type="none" w="med" len="med"/>
              <a:tailEnd type="none" w="med" len="med"/>
            </a:ln>
          </p:spPr>
        </p:sp>
        <p:sp>
          <p:nvSpPr>
            <p:cNvPr id="147" name="Text Box 37"/>
            <p:cNvSpPr txBox="1"/>
            <p:nvPr/>
          </p:nvSpPr>
          <p:spPr>
            <a:xfrm>
              <a:off x="757" y="3257"/>
              <a:ext cx="404"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文件</a:t>
              </a:r>
              <a:endParaRPr lang="zh-CN" altLang="en-US" sz="1800" dirty="0">
                <a:latin typeface="微软雅黑" panose="020B0503020204020204" pitchFamily="34" charset="-122"/>
                <a:ea typeface="微软雅黑" panose="020B0503020204020204" pitchFamily="34" charset="-122"/>
              </a:endParaRPr>
            </a:p>
          </p:txBody>
        </p:sp>
        <p:sp>
          <p:nvSpPr>
            <p:cNvPr id="148" name="Line 38"/>
            <p:cNvSpPr/>
            <p:nvPr/>
          </p:nvSpPr>
          <p:spPr>
            <a:xfrm>
              <a:off x="1164" y="3359"/>
              <a:ext cx="461" cy="0"/>
            </a:xfrm>
            <a:prstGeom prst="line">
              <a:avLst/>
            </a:prstGeom>
            <a:ln w="38100" cap="flat" cmpd="sng">
              <a:solidFill>
                <a:srgbClr val="FF0066"/>
              </a:solidFill>
              <a:prstDash val="sysDot"/>
              <a:round/>
              <a:headEnd type="none" w="med" len="med"/>
              <a:tailEnd type="none" w="med" len="med"/>
            </a:ln>
          </p:spPr>
        </p:sp>
        <p:sp>
          <p:nvSpPr>
            <p:cNvPr id="149" name="Text Box 39"/>
            <p:cNvSpPr txBox="1"/>
            <p:nvPr/>
          </p:nvSpPr>
          <p:spPr>
            <a:xfrm>
              <a:off x="1607" y="3262"/>
              <a:ext cx="591"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磁盘块 </a:t>
              </a:r>
              <a:endParaRPr lang="zh-CN" altLang="en-US" sz="1800" dirty="0">
                <a:latin typeface="微软雅黑" panose="020B0503020204020204" pitchFamily="34" charset="-122"/>
                <a:ea typeface="微软雅黑" panose="020B0503020204020204" pitchFamily="34" charset="-122"/>
              </a:endParaRPr>
            </a:p>
          </p:txBody>
        </p:sp>
        <p:sp>
          <p:nvSpPr>
            <p:cNvPr id="150" name="Text Box 40"/>
            <p:cNvSpPr txBox="1"/>
            <p:nvPr/>
          </p:nvSpPr>
          <p:spPr>
            <a:xfrm>
              <a:off x="2345" y="2641"/>
              <a:ext cx="883" cy="237"/>
            </a:xfrm>
            <a:prstGeom prst="rect">
              <a:avLst/>
            </a:prstGeom>
            <a:noFill/>
            <a:ln w="9525" cap="flat" cmpd="sng">
              <a:solidFill>
                <a:schemeClr val="accent2"/>
              </a:solidFill>
              <a:prstDash val="dash"/>
              <a:miter/>
              <a:headEnd type="none" w="med" len="med"/>
              <a:tailEnd type="none" w="med" len="med"/>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属性值</a:t>
              </a:r>
              <a:endParaRPr lang="zh-CN" altLang="en-US" sz="1800" dirty="0">
                <a:latin typeface="微软雅黑" panose="020B0503020204020204" pitchFamily="34" charset="-122"/>
                <a:ea typeface="微软雅黑" panose="020B0503020204020204" pitchFamily="34" charset="-122"/>
              </a:endParaRPr>
            </a:p>
          </p:txBody>
        </p:sp>
        <p:sp>
          <p:nvSpPr>
            <p:cNvPr id="151" name="Text Box 41"/>
            <p:cNvSpPr txBox="1"/>
            <p:nvPr/>
          </p:nvSpPr>
          <p:spPr>
            <a:xfrm>
              <a:off x="2327" y="3250"/>
              <a:ext cx="938"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块内</a:t>
              </a:r>
              <a:r>
                <a:rPr lang="en-US" altLang="zh-CN" sz="1800" dirty="0">
                  <a:latin typeface="微软雅黑" panose="020B0503020204020204" pitchFamily="34" charset="-122"/>
                  <a:ea typeface="微软雅黑" panose="020B0503020204020204" pitchFamily="34" charset="-122"/>
                </a:rPr>
                <a:t>0/1</a:t>
              </a:r>
              <a:r>
                <a:rPr lang="zh-CN" altLang="en-US" sz="1800" dirty="0">
                  <a:latin typeface="微软雅黑" panose="020B0503020204020204" pitchFamily="34" charset="-122"/>
                  <a:ea typeface="微软雅黑" panose="020B0503020204020204" pitchFamily="34" charset="-122"/>
                </a:rPr>
                <a:t>数据</a:t>
              </a:r>
              <a:endParaRPr lang="zh-CN" altLang="en-US" sz="1800" dirty="0">
                <a:latin typeface="微软雅黑" panose="020B0503020204020204" pitchFamily="34" charset="-122"/>
                <a:ea typeface="微软雅黑" panose="020B0503020204020204" pitchFamily="34" charset="-122"/>
              </a:endParaRPr>
            </a:p>
          </p:txBody>
        </p:sp>
        <p:sp>
          <p:nvSpPr>
            <p:cNvPr id="152" name="Line 42"/>
            <p:cNvSpPr/>
            <p:nvPr/>
          </p:nvSpPr>
          <p:spPr>
            <a:xfrm>
              <a:off x="1126" y="2724"/>
              <a:ext cx="1218" cy="0"/>
            </a:xfrm>
            <a:prstGeom prst="line">
              <a:avLst/>
            </a:prstGeom>
            <a:ln w="9525" cap="flat" cmpd="sng">
              <a:solidFill>
                <a:schemeClr val="accent2"/>
              </a:solidFill>
              <a:prstDash val="dash"/>
              <a:round/>
              <a:headEnd type="none" w="med" len="med"/>
              <a:tailEnd type="none" w="med" len="med"/>
            </a:ln>
          </p:spPr>
        </p:sp>
        <p:sp>
          <p:nvSpPr>
            <p:cNvPr id="153" name="Freeform 44"/>
            <p:cNvSpPr/>
            <p:nvPr/>
          </p:nvSpPr>
          <p:spPr>
            <a:xfrm>
              <a:off x="1118" y="2800"/>
              <a:ext cx="797" cy="461"/>
            </a:xfrm>
            <a:custGeom>
              <a:avLst/>
              <a:gdLst/>
              <a:ahLst/>
              <a:cxnLst>
                <a:cxn ang="0">
                  <a:pos x="0" y="0"/>
                </a:cxn>
                <a:cxn ang="0">
                  <a:pos x="765" y="0"/>
                </a:cxn>
                <a:cxn ang="0">
                  <a:pos x="765" y="428"/>
                </a:cxn>
              </a:cxnLst>
              <a:rect l="0" t="0" r="0" b="0"/>
              <a:pathLst>
                <a:path w="765" h="428">
                  <a:moveTo>
                    <a:pt x="0" y="0"/>
                  </a:moveTo>
                  <a:lnTo>
                    <a:pt x="765" y="0"/>
                  </a:lnTo>
                  <a:lnTo>
                    <a:pt x="765" y="428"/>
                  </a:lnTo>
                </a:path>
              </a:pathLst>
            </a:custGeom>
            <a:noFill/>
            <a:ln w="38100" cap="flat" cmpd="sng">
              <a:solidFill>
                <a:srgbClr val="6666FF"/>
              </a:solidFill>
              <a:prstDash val="solid"/>
              <a:round/>
              <a:headEnd type="none" w="med" len="med"/>
              <a:tailEnd type="none" w="med" len="med"/>
            </a:ln>
          </p:spPr>
          <p:txBody>
            <a:bodyPr/>
            <a:lstStyle/>
            <a:p>
              <a:endParaRPr lang="zh-CN" altLang="en-US"/>
            </a:p>
          </p:txBody>
        </p:sp>
        <p:sp>
          <p:nvSpPr>
            <p:cNvPr id="154" name="Line 45"/>
            <p:cNvSpPr/>
            <p:nvPr/>
          </p:nvSpPr>
          <p:spPr>
            <a:xfrm>
              <a:off x="2106" y="3367"/>
              <a:ext cx="296" cy="0"/>
            </a:xfrm>
            <a:prstGeom prst="line">
              <a:avLst/>
            </a:prstGeom>
            <a:ln w="9525" cap="flat" cmpd="sng">
              <a:solidFill>
                <a:srgbClr val="FF0066"/>
              </a:solidFill>
              <a:prstDash val="solid"/>
              <a:round/>
              <a:headEnd type="none" w="med" len="med"/>
              <a:tailEnd type="none" w="med" len="med"/>
            </a:ln>
          </p:spPr>
        </p:sp>
        <p:sp>
          <p:nvSpPr>
            <p:cNvPr id="155" name="Line 46"/>
            <p:cNvSpPr/>
            <p:nvPr/>
          </p:nvSpPr>
          <p:spPr>
            <a:xfrm>
              <a:off x="1922" y="3459"/>
              <a:ext cx="0" cy="379"/>
            </a:xfrm>
            <a:prstGeom prst="line">
              <a:avLst/>
            </a:prstGeom>
            <a:ln w="9525" cap="flat" cmpd="sng">
              <a:solidFill>
                <a:srgbClr val="FF0066"/>
              </a:solidFill>
              <a:prstDash val="solid"/>
              <a:round/>
              <a:headEnd type="none" w="med" len="med"/>
              <a:tailEnd type="none" w="med" len="med"/>
            </a:ln>
          </p:spPr>
        </p:sp>
        <p:sp>
          <p:nvSpPr>
            <p:cNvPr id="156" name="Rectangle 48"/>
            <p:cNvSpPr/>
            <p:nvPr/>
          </p:nvSpPr>
          <p:spPr>
            <a:xfrm>
              <a:off x="1425" y="3829"/>
              <a:ext cx="958" cy="212"/>
            </a:xfrm>
            <a:prstGeom prst="rect">
              <a:avLst/>
            </a:prstGeom>
            <a:noFill/>
            <a:ln w="9525">
              <a:noFill/>
            </a:ln>
          </p:spPr>
          <p:txBody>
            <a:bodyPr wrap="none" anchor="t">
              <a:spAutoFit/>
            </a:bodyPr>
            <a:lstStyle/>
            <a:p>
              <a:pPr algn="ctr"/>
              <a:r>
                <a:rPr lang="zh-CN" altLang="en-US" dirty="0">
                  <a:latin typeface="微软雅黑" panose="020B0503020204020204" pitchFamily="34" charset="-122"/>
                  <a:ea typeface="微软雅黑" panose="020B0503020204020204" pitchFamily="34" charset="-122"/>
                </a:rPr>
                <a:t>盘面</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磁道</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扇区</a:t>
              </a:r>
              <a:endParaRPr lang="zh-CN" altLang="en-US" dirty="0">
                <a:latin typeface="微软雅黑" panose="020B0503020204020204" pitchFamily="34" charset="-122"/>
                <a:ea typeface="微软雅黑" panose="020B0503020204020204" pitchFamily="34" charset="-122"/>
              </a:endParaRPr>
            </a:p>
          </p:txBody>
        </p:sp>
        <p:sp>
          <p:nvSpPr>
            <p:cNvPr id="157" name="Text Box 49"/>
            <p:cNvSpPr txBox="1"/>
            <p:nvPr/>
          </p:nvSpPr>
          <p:spPr>
            <a:xfrm>
              <a:off x="1239" y="3356"/>
              <a:ext cx="363" cy="212"/>
            </a:xfrm>
            <a:prstGeom prst="rect">
              <a:avLst/>
            </a:prstGeom>
            <a:noFill/>
            <a:ln w="9525">
              <a:noFill/>
            </a:ln>
          </p:spPr>
          <p:txBody>
            <a:bodyPr wrap="none" anchor="t">
              <a:spAutoFit/>
            </a:bodyPr>
            <a:lstStyle/>
            <a:p>
              <a:pPr algn="ctr"/>
              <a:r>
                <a:rPr lang="en-US" altLang="zh-CN" dirty="0">
                  <a:solidFill>
                    <a:srgbClr val="FF0066"/>
                  </a:solidFill>
                  <a:latin typeface="微软雅黑" panose="020B0503020204020204" pitchFamily="34" charset="-122"/>
                  <a:ea typeface="微软雅黑" panose="020B0503020204020204" pitchFamily="34" charset="-122"/>
                </a:rPr>
                <a:t>FAT</a:t>
              </a:r>
              <a:endParaRPr lang="en-US" altLang="zh-CN" dirty="0">
                <a:solidFill>
                  <a:srgbClr val="FF0066"/>
                </a:solidFill>
                <a:latin typeface="微软雅黑" panose="020B0503020204020204" pitchFamily="34" charset="-122"/>
                <a:ea typeface="微软雅黑" panose="020B0503020204020204" pitchFamily="34" charset="-122"/>
              </a:endParaRPr>
            </a:p>
          </p:txBody>
        </p:sp>
        <p:sp>
          <p:nvSpPr>
            <p:cNvPr id="158" name="Line 50"/>
            <p:cNvSpPr/>
            <p:nvPr/>
          </p:nvSpPr>
          <p:spPr>
            <a:xfrm>
              <a:off x="2770" y="2883"/>
              <a:ext cx="0" cy="371"/>
            </a:xfrm>
            <a:prstGeom prst="line">
              <a:avLst/>
            </a:prstGeom>
            <a:ln w="9525" cap="flat" cmpd="sng">
              <a:solidFill>
                <a:srgbClr val="FF0066"/>
              </a:solidFill>
              <a:prstDash val="solid"/>
              <a:round/>
              <a:headEnd type="none" w="med" len="med"/>
              <a:tailEnd type="none" w="med" len="med"/>
            </a:ln>
          </p:spPr>
        </p:sp>
        <p:sp>
          <p:nvSpPr>
            <p:cNvPr id="159" name="Text Box 51"/>
            <p:cNvSpPr txBox="1"/>
            <p:nvPr/>
          </p:nvSpPr>
          <p:spPr>
            <a:xfrm>
              <a:off x="2181" y="2949"/>
              <a:ext cx="1157" cy="212"/>
            </a:xfrm>
            <a:prstGeom prst="rect">
              <a:avLst/>
            </a:prstGeom>
            <a:noFill/>
            <a:ln w="9525">
              <a:noFill/>
            </a:ln>
          </p:spPr>
          <p:txBody>
            <a:bodyPr wrap="none" anchor="t">
              <a:spAutoFit/>
            </a:bodyPr>
            <a:lstStyle/>
            <a:p>
              <a:pPr algn="ctr"/>
              <a:r>
                <a:rPr lang="en-US" altLang="zh-CN" dirty="0">
                  <a:solidFill>
                    <a:srgbClr val="FF0066"/>
                  </a:solidFill>
                  <a:latin typeface="微软雅黑" panose="020B0503020204020204" pitchFamily="34" charset="-122"/>
                  <a:ea typeface="微软雅黑" panose="020B0503020204020204" pitchFamily="34" charset="-122"/>
                </a:rPr>
                <a:t>Storage Schema</a:t>
              </a:r>
              <a:endParaRPr lang="en-US" altLang="zh-CN" dirty="0">
                <a:solidFill>
                  <a:srgbClr val="FF0066"/>
                </a:solidFill>
                <a:latin typeface="微软雅黑" panose="020B0503020204020204" pitchFamily="34" charset="-122"/>
                <a:ea typeface="微软雅黑" panose="020B0503020204020204" pitchFamily="34" charset="-122"/>
              </a:endParaRPr>
            </a:p>
          </p:txBody>
        </p:sp>
        <p:sp>
          <p:nvSpPr>
            <p:cNvPr id="160" name="Line 52"/>
            <p:cNvSpPr/>
            <p:nvPr/>
          </p:nvSpPr>
          <p:spPr>
            <a:xfrm flipV="1">
              <a:off x="203" y="2939"/>
              <a:ext cx="3054" cy="0"/>
            </a:xfrm>
            <a:prstGeom prst="line">
              <a:avLst/>
            </a:prstGeom>
            <a:ln w="38100" cap="flat" cmpd="dbl">
              <a:solidFill>
                <a:schemeClr val="folHlink"/>
              </a:solidFill>
              <a:prstDash val="solid"/>
              <a:round/>
              <a:headEnd type="none" w="med" len="med"/>
              <a:tailEnd type="none" w="med" len="med"/>
            </a:ln>
          </p:spPr>
        </p:sp>
        <p:sp>
          <p:nvSpPr>
            <p:cNvPr id="161" name="Text Box 53"/>
            <p:cNvSpPr txBox="1"/>
            <p:nvPr/>
          </p:nvSpPr>
          <p:spPr>
            <a:xfrm>
              <a:off x="135" y="2561"/>
              <a:ext cx="452" cy="429"/>
            </a:xfrm>
            <a:prstGeom prst="rect">
              <a:avLst/>
            </a:prstGeom>
            <a:noFill/>
            <a:ln w="9525">
              <a:noFill/>
            </a:ln>
          </p:spPr>
          <p:txBody>
            <a:bodyPr wrap="square" anchor="t">
              <a:spAutoFit/>
            </a:bodyPr>
            <a:lstStyle/>
            <a:p>
              <a:pPr algn="ctr"/>
              <a:r>
                <a:rPr lang="zh-CN" altLang="en-US" dirty="0">
                  <a:latin typeface="微软雅黑" panose="020B0503020204020204" pitchFamily="34" charset="-122"/>
                  <a:ea typeface="微软雅黑" panose="020B0503020204020204" pitchFamily="34" charset="-122"/>
                </a:rPr>
                <a:t>逻辑层面</a:t>
              </a:r>
              <a:endParaRPr lang="zh-CN" altLang="en-US" dirty="0">
                <a:latin typeface="微软雅黑" panose="020B0503020204020204" pitchFamily="34" charset="-122"/>
                <a:ea typeface="微软雅黑" panose="020B0503020204020204" pitchFamily="34" charset="-122"/>
              </a:endParaRPr>
            </a:p>
          </p:txBody>
        </p:sp>
        <p:sp>
          <p:nvSpPr>
            <p:cNvPr id="162" name="Text Box 54"/>
            <p:cNvSpPr txBox="1"/>
            <p:nvPr/>
          </p:nvSpPr>
          <p:spPr>
            <a:xfrm>
              <a:off x="135" y="2961"/>
              <a:ext cx="452" cy="390"/>
            </a:xfrm>
            <a:prstGeom prst="rect">
              <a:avLst/>
            </a:prstGeom>
            <a:noFill/>
            <a:ln w="9525">
              <a:noFill/>
            </a:ln>
          </p:spPr>
          <p:txBody>
            <a:bodyPr wrap="square" anchor="t">
              <a:spAutoFit/>
            </a:bodyPr>
            <a:lstStyle/>
            <a:p>
              <a:pPr algn="ctr"/>
              <a:r>
                <a:rPr lang="zh-CN" altLang="en-US" dirty="0">
                  <a:latin typeface="微软雅黑" panose="020B0503020204020204" pitchFamily="34" charset="-122"/>
                  <a:ea typeface="微软雅黑" panose="020B0503020204020204" pitchFamily="34" charset="-122"/>
                </a:rPr>
                <a:t>物理层面</a:t>
              </a:r>
              <a:endParaRPr lang="zh-CN" altLang="en-US" dirty="0">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anim calcmode="lin" valueType="num">
                                      <p:cBhvr additive="base">
                                        <p:cTn id="7" dur="500" fill="hold"/>
                                        <p:tgtEl>
                                          <p:spTgt spid="109"/>
                                        </p:tgtEl>
                                        <p:attrNameLst>
                                          <p:attrName>ppt_x</p:attrName>
                                        </p:attrNameLst>
                                      </p:cBhvr>
                                      <p:tavLst>
                                        <p:tav tm="0">
                                          <p:val>
                                            <p:strVal val="#ppt_x"/>
                                          </p:val>
                                        </p:tav>
                                        <p:tav tm="100000">
                                          <p:val>
                                            <p:strVal val="#ppt_x"/>
                                          </p:val>
                                        </p:tav>
                                      </p:tavLst>
                                    </p:anim>
                                    <p:anim calcmode="lin" valueType="num">
                                      <p:cBhvr additive="base">
                                        <p:cTn id="8"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3"/>
                                        </p:tgtEl>
                                        <p:attrNameLst>
                                          <p:attrName>style.visibility</p:attrName>
                                        </p:attrNameLst>
                                      </p:cBhvr>
                                      <p:to>
                                        <p:strVal val="visible"/>
                                      </p:to>
                                    </p:set>
                                    <p:anim calcmode="lin" valueType="num">
                                      <p:cBhvr additive="base">
                                        <p:cTn id="13" dur="500" fill="hold"/>
                                        <p:tgtEl>
                                          <p:spTgt spid="143"/>
                                        </p:tgtEl>
                                        <p:attrNameLst>
                                          <p:attrName>ppt_x</p:attrName>
                                        </p:attrNameLst>
                                      </p:cBhvr>
                                      <p:tavLst>
                                        <p:tav tm="0">
                                          <p:val>
                                            <p:strVal val="#ppt_x"/>
                                          </p:val>
                                        </p:tav>
                                        <p:tav tm="100000">
                                          <p:val>
                                            <p:strVal val="#ppt_x"/>
                                          </p:val>
                                        </p:tav>
                                      </p:tavLst>
                                    </p:anim>
                                    <p:anim calcmode="lin" valueType="num">
                                      <p:cBhvr additive="base">
                                        <p:cTn id="14" dur="500" fill="hold"/>
                                        <p:tgtEl>
                                          <p:spTgt spid="1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基础回顾-数据库之表-记录与磁盘块的映射</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数据库中记录的区分及记录内属性值的区分</a:t>
            </a:r>
            <a:endParaRPr lang="en-US" altLang="zh-CN" dirty="0">
              <a:latin typeface="微软雅黑" panose="020B0503020204020204" pitchFamily="34" charset="-122"/>
              <a:ea typeface="微软雅黑" panose="020B0503020204020204" pitchFamily="34" charset="-122"/>
            </a:endParaRPr>
          </a:p>
          <a:p>
            <a:pPr>
              <a:buFont typeface="Wingdings" panose="05000000000000000000" pitchFamily="2" charset="2"/>
              <a:buChar char="l"/>
            </a:pPr>
            <a:r>
              <a:rPr lang="zh-CN" altLang="en-US" sz="2000" b="0" dirty="0"/>
              <a:t>数据库记录在磁盘上的存储</a:t>
            </a:r>
            <a:endParaRPr lang="zh-CN" altLang="en-US" sz="2000" b="0" dirty="0"/>
          </a:p>
          <a:p>
            <a:pPr marL="0" indent="0">
              <a:buNone/>
            </a:pPr>
            <a:r>
              <a:rPr lang="zh-CN" altLang="en-US" sz="2000" b="0" dirty="0"/>
              <a:t>定长记录，还是变长记录</a:t>
            </a:r>
            <a:r>
              <a:rPr lang="en-US" altLang="zh-CN" sz="2000" b="0" dirty="0"/>
              <a:t>(</a:t>
            </a:r>
            <a:r>
              <a:rPr lang="zh-CN" altLang="en-US" sz="2000" b="0" dirty="0"/>
              <a:t>靠分隔符区分开始与结束</a:t>
            </a:r>
            <a:r>
              <a:rPr lang="en-US" altLang="zh-CN" sz="2000" b="0" dirty="0"/>
              <a:t>)</a:t>
            </a:r>
            <a:endParaRPr lang="en-US" altLang="zh-CN" sz="2000" b="0" dirty="0"/>
          </a:p>
          <a:p>
            <a:endParaRPr lang="en-US" altLang="zh-CN" dirty="0"/>
          </a:p>
          <a:p>
            <a:pPr marL="0" indent="0">
              <a:lnSpc>
                <a:spcPct val="130000"/>
              </a:lnSpc>
              <a:buNone/>
            </a:pPr>
            <a:endParaRPr lang="zh-CN" altLang="en-US"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2000" dirty="0">
              <a:latin typeface="微软雅黑" panose="020B0503020204020204" pitchFamily="34" charset="-122"/>
              <a:ea typeface="微软雅黑" panose="020B0503020204020204" pitchFamily="34" charset="-122"/>
            </a:endParaRPr>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grpSp>
        <p:nvGrpSpPr>
          <p:cNvPr id="9" name="Group 63"/>
          <p:cNvGrpSpPr/>
          <p:nvPr/>
        </p:nvGrpSpPr>
        <p:grpSpPr>
          <a:xfrm>
            <a:off x="885229" y="3340097"/>
            <a:ext cx="5111750" cy="1311275"/>
            <a:chOff x="799" y="1715"/>
            <a:chExt cx="3220" cy="826"/>
          </a:xfrm>
        </p:grpSpPr>
        <p:sp>
          <p:nvSpPr>
            <p:cNvPr id="10" name="Rectangle 6"/>
            <p:cNvSpPr/>
            <p:nvPr/>
          </p:nvSpPr>
          <p:spPr>
            <a:xfrm>
              <a:off x="840" y="2016"/>
              <a:ext cx="3072" cy="320"/>
            </a:xfrm>
            <a:prstGeom prst="rect">
              <a:avLst/>
            </a:prstGeom>
            <a:solidFill>
              <a:srgbClr val="FFFF99"/>
            </a:solid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2" name="Line 8"/>
            <p:cNvSpPr/>
            <p:nvPr/>
          </p:nvSpPr>
          <p:spPr>
            <a:xfrm>
              <a:off x="937" y="2016"/>
              <a:ext cx="0" cy="320"/>
            </a:xfrm>
            <a:prstGeom prst="line">
              <a:avLst/>
            </a:prstGeom>
            <a:ln w="9525" cap="flat" cmpd="sng">
              <a:solidFill>
                <a:srgbClr val="FF0066"/>
              </a:solidFill>
              <a:prstDash val="solid"/>
              <a:round/>
              <a:headEnd type="none" w="med" len="med"/>
              <a:tailEnd type="none" w="med" len="med"/>
            </a:ln>
          </p:spPr>
        </p:sp>
        <p:sp>
          <p:nvSpPr>
            <p:cNvPr id="13" name="Line 9"/>
            <p:cNvSpPr/>
            <p:nvPr/>
          </p:nvSpPr>
          <p:spPr>
            <a:xfrm>
              <a:off x="1033" y="2016"/>
              <a:ext cx="0" cy="320"/>
            </a:xfrm>
            <a:prstGeom prst="line">
              <a:avLst/>
            </a:prstGeom>
            <a:ln w="9525" cap="flat" cmpd="sng">
              <a:solidFill>
                <a:srgbClr val="FF0066"/>
              </a:solidFill>
              <a:prstDash val="solid"/>
              <a:round/>
              <a:headEnd type="none" w="med" len="med"/>
              <a:tailEnd type="none" w="med" len="med"/>
            </a:ln>
          </p:spPr>
        </p:sp>
        <p:sp>
          <p:nvSpPr>
            <p:cNvPr id="14" name="Line 10"/>
            <p:cNvSpPr/>
            <p:nvPr/>
          </p:nvSpPr>
          <p:spPr>
            <a:xfrm>
              <a:off x="1129" y="2016"/>
              <a:ext cx="0" cy="320"/>
            </a:xfrm>
            <a:prstGeom prst="line">
              <a:avLst/>
            </a:prstGeom>
            <a:ln w="9525" cap="flat" cmpd="sng">
              <a:solidFill>
                <a:srgbClr val="FF0066"/>
              </a:solidFill>
              <a:prstDash val="solid"/>
              <a:round/>
              <a:headEnd type="none" w="med" len="med"/>
              <a:tailEnd type="none" w="med" len="med"/>
            </a:ln>
          </p:spPr>
        </p:sp>
        <p:sp>
          <p:nvSpPr>
            <p:cNvPr id="15" name="Line 11"/>
            <p:cNvSpPr/>
            <p:nvPr/>
          </p:nvSpPr>
          <p:spPr>
            <a:xfrm>
              <a:off x="1225" y="2016"/>
              <a:ext cx="0" cy="320"/>
            </a:xfrm>
            <a:prstGeom prst="line">
              <a:avLst/>
            </a:prstGeom>
            <a:ln w="9525" cap="flat" cmpd="sng">
              <a:solidFill>
                <a:srgbClr val="FF0066"/>
              </a:solidFill>
              <a:prstDash val="solid"/>
              <a:round/>
              <a:headEnd type="none" w="med" len="med"/>
              <a:tailEnd type="none" w="med" len="med"/>
            </a:ln>
          </p:spPr>
        </p:sp>
        <p:sp>
          <p:nvSpPr>
            <p:cNvPr id="16" name="Line 12"/>
            <p:cNvSpPr/>
            <p:nvPr/>
          </p:nvSpPr>
          <p:spPr>
            <a:xfrm>
              <a:off x="1321" y="2016"/>
              <a:ext cx="0" cy="320"/>
            </a:xfrm>
            <a:prstGeom prst="line">
              <a:avLst/>
            </a:prstGeom>
            <a:ln w="9525" cap="flat" cmpd="sng">
              <a:solidFill>
                <a:srgbClr val="FF0066"/>
              </a:solidFill>
              <a:prstDash val="solid"/>
              <a:round/>
              <a:headEnd type="none" w="med" len="med"/>
              <a:tailEnd type="none" w="med" len="med"/>
            </a:ln>
          </p:spPr>
        </p:sp>
        <p:sp>
          <p:nvSpPr>
            <p:cNvPr id="17" name="Line 13"/>
            <p:cNvSpPr/>
            <p:nvPr/>
          </p:nvSpPr>
          <p:spPr>
            <a:xfrm>
              <a:off x="1417" y="2016"/>
              <a:ext cx="0" cy="320"/>
            </a:xfrm>
            <a:prstGeom prst="line">
              <a:avLst/>
            </a:prstGeom>
            <a:ln w="9525" cap="flat" cmpd="sng">
              <a:solidFill>
                <a:srgbClr val="FF0066"/>
              </a:solidFill>
              <a:prstDash val="solid"/>
              <a:round/>
              <a:headEnd type="none" w="med" len="med"/>
              <a:tailEnd type="none" w="med" len="med"/>
            </a:ln>
          </p:spPr>
        </p:sp>
        <p:sp>
          <p:nvSpPr>
            <p:cNvPr id="18" name="Line 14"/>
            <p:cNvSpPr/>
            <p:nvPr/>
          </p:nvSpPr>
          <p:spPr>
            <a:xfrm>
              <a:off x="1513" y="2016"/>
              <a:ext cx="0" cy="320"/>
            </a:xfrm>
            <a:prstGeom prst="line">
              <a:avLst/>
            </a:prstGeom>
            <a:ln w="9525" cap="flat" cmpd="sng">
              <a:solidFill>
                <a:srgbClr val="FF0066"/>
              </a:solidFill>
              <a:prstDash val="solid"/>
              <a:round/>
              <a:headEnd type="none" w="med" len="med"/>
              <a:tailEnd type="none" w="med" len="med"/>
            </a:ln>
          </p:spPr>
        </p:sp>
        <p:sp>
          <p:nvSpPr>
            <p:cNvPr id="19" name="Line 15"/>
            <p:cNvSpPr/>
            <p:nvPr/>
          </p:nvSpPr>
          <p:spPr>
            <a:xfrm>
              <a:off x="1609" y="2016"/>
              <a:ext cx="0" cy="320"/>
            </a:xfrm>
            <a:prstGeom prst="line">
              <a:avLst/>
            </a:prstGeom>
            <a:ln w="9525" cap="flat" cmpd="sng">
              <a:solidFill>
                <a:srgbClr val="FF0066"/>
              </a:solidFill>
              <a:prstDash val="solid"/>
              <a:round/>
              <a:headEnd type="none" w="med" len="med"/>
              <a:tailEnd type="none" w="med" len="med"/>
            </a:ln>
          </p:spPr>
        </p:sp>
        <p:sp>
          <p:nvSpPr>
            <p:cNvPr id="20" name="Line 16"/>
            <p:cNvSpPr/>
            <p:nvPr/>
          </p:nvSpPr>
          <p:spPr>
            <a:xfrm>
              <a:off x="1705" y="2016"/>
              <a:ext cx="0" cy="320"/>
            </a:xfrm>
            <a:prstGeom prst="line">
              <a:avLst/>
            </a:prstGeom>
            <a:ln w="9525" cap="flat" cmpd="sng">
              <a:solidFill>
                <a:srgbClr val="FF0066"/>
              </a:solidFill>
              <a:prstDash val="solid"/>
              <a:round/>
              <a:headEnd type="none" w="med" len="med"/>
              <a:tailEnd type="none" w="med" len="med"/>
            </a:ln>
          </p:spPr>
        </p:sp>
        <p:sp>
          <p:nvSpPr>
            <p:cNvPr id="21" name="Line 17"/>
            <p:cNvSpPr/>
            <p:nvPr/>
          </p:nvSpPr>
          <p:spPr>
            <a:xfrm>
              <a:off x="1801" y="2016"/>
              <a:ext cx="0" cy="320"/>
            </a:xfrm>
            <a:prstGeom prst="line">
              <a:avLst/>
            </a:prstGeom>
            <a:ln w="9525" cap="flat" cmpd="sng">
              <a:solidFill>
                <a:schemeClr val="accent2"/>
              </a:solidFill>
              <a:prstDash val="solid"/>
              <a:round/>
              <a:headEnd type="none" w="med" len="med"/>
              <a:tailEnd type="none" w="med" len="med"/>
            </a:ln>
          </p:spPr>
        </p:sp>
        <p:sp>
          <p:nvSpPr>
            <p:cNvPr id="22" name="Line 18"/>
            <p:cNvSpPr/>
            <p:nvPr/>
          </p:nvSpPr>
          <p:spPr>
            <a:xfrm>
              <a:off x="1897" y="2016"/>
              <a:ext cx="0" cy="320"/>
            </a:xfrm>
            <a:prstGeom prst="line">
              <a:avLst/>
            </a:prstGeom>
            <a:ln w="9525" cap="flat" cmpd="sng">
              <a:solidFill>
                <a:srgbClr val="FF0066"/>
              </a:solidFill>
              <a:prstDash val="solid"/>
              <a:round/>
              <a:headEnd type="none" w="med" len="med"/>
              <a:tailEnd type="none" w="med" len="med"/>
            </a:ln>
          </p:spPr>
        </p:sp>
        <p:sp>
          <p:nvSpPr>
            <p:cNvPr id="23" name="Line 19"/>
            <p:cNvSpPr/>
            <p:nvPr/>
          </p:nvSpPr>
          <p:spPr>
            <a:xfrm>
              <a:off x="1993" y="2016"/>
              <a:ext cx="0" cy="320"/>
            </a:xfrm>
            <a:prstGeom prst="line">
              <a:avLst/>
            </a:prstGeom>
            <a:ln w="9525" cap="flat" cmpd="sng">
              <a:solidFill>
                <a:srgbClr val="FF0066"/>
              </a:solidFill>
              <a:prstDash val="solid"/>
              <a:round/>
              <a:headEnd type="none" w="med" len="med"/>
              <a:tailEnd type="none" w="med" len="med"/>
            </a:ln>
          </p:spPr>
        </p:sp>
        <p:sp>
          <p:nvSpPr>
            <p:cNvPr id="24" name="Line 20"/>
            <p:cNvSpPr/>
            <p:nvPr/>
          </p:nvSpPr>
          <p:spPr>
            <a:xfrm>
              <a:off x="2089" y="2016"/>
              <a:ext cx="0" cy="320"/>
            </a:xfrm>
            <a:prstGeom prst="line">
              <a:avLst/>
            </a:prstGeom>
            <a:ln w="9525" cap="flat" cmpd="sng">
              <a:solidFill>
                <a:srgbClr val="FF0066"/>
              </a:solidFill>
              <a:prstDash val="solid"/>
              <a:round/>
              <a:headEnd type="none" w="med" len="med"/>
              <a:tailEnd type="none" w="med" len="med"/>
            </a:ln>
          </p:spPr>
        </p:sp>
        <p:sp>
          <p:nvSpPr>
            <p:cNvPr id="25" name="Line 21"/>
            <p:cNvSpPr/>
            <p:nvPr/>
          </p:nvSpPr>
          <p:spPr>
            <a:xfrm>
              <a:off x="2185" y="2016"/>
              <a:ext cx="0" cy="320"/>
            </a:xfrm>
            <a:prstGeom prst="line">
              <a:avLst/>
            </a:prstGeom>
            <a:ln w="9525" cap="flat" cmpd="sng">
              <a:solidFill>
                <a:srgbClr val="FF0066"/>
              </a:solidFill>
              <a:prstDash val="solid"/>
              <a:round/>
              <a:headEnd type="none" w="med" len="med"/>
              <a:tailEnd type="none" w="med" len="med"/>
            </a:ln>
          </p:spPr>
        </p:sp>
        <p:sp>
          <p:nvSpPr>
            <p:cNvPr id="26" name="Line 22"/>
            <p:cNvSpPr/>
            <p:nvPr/>
          </p:nvSpPr>
          <p:spPr>
            <a:xfrm>
              <a:off x="2281" y="2016"/>
              <a:ext cx="0" cy="320"/>
            </a:xfrm>
            <a:prstGeom prst="line">
              <a:avLst/>
            </a:prstGeom>
            <a:ln w="9525" cap="flat" cmpd="sng">
              <a:solidFill>
                <a:srgbClr val="FF0066"/>
              </a:solidFill>
              <a:prstDash val="solid"/>
              <a:round/>
              <a:headEnd type="none" w="med" len="med"/>
              <a:tailEnd type="none" w="med" len="med"/>
            </a:ln>
          </p:spPr>
        </p:sp>
        <p:sp>
          <p:nvSpPr>
            <p:cNvPr id="27" name="Line 23"/>
            <p:cNvSpPr/>
            <p:nvPr/>
          </p:nvSpPr>
          <p:spPr>
            <a:xfrm>
              <a:off x="2377" y="2016"/>
              <a:ext cx="0" cy="320"/>
            </a:xfrm>
            <a:prstGeom prst="line">
              <a:avLst/>
            </a:prstGeom>
            <a:ln w="9525" cap="flat" cmpd="sng">
              <a:solidFill>
                <a:srgbClr val="FF0066"/>
              </a:solidFill>
              <a:prstDash val="solid"/>
              <a:round/>
              <a:headEnd type="none" w="med" len="med"/>
              <a:tailEnd type="none" w="med" len="med"/>
            </a:ln>
          </p:spPr>
        </p:sp>
        <p:sp>
          <p:nvSpPr>
            <p:cNvPr id="28" name="Line 24"/>
            <p:cNvSpPr/>
            <p:nvPr/>
          </p:nvSpPr>
          <p:spPr>
            <a:xfrm>
              <a:off x="2473" y="2016"/>
              <a:ext cx="0" cy="320"/>
            </a:xfrm>
            <a:prstGeom prst="line">
              <a:avLst/>
            </a:prstGeom>
            <a:ln w="9525" cap="flat" cmpd="sng">
              <a:solidFill>
                <a:srgbClr val="FF0066"/>
              </a:solidFill>
              <a:prstDash val="solid"/>
              <a:round/>
              <a:headEnd type="none" w="med" len="med"/>
              <a:tailEnd type="none" w="med" len="med"/>
            </a:ln>
          </p:spPr>
        </p:sp>
        <p:sp>
          <p:nvSpPr>
            <p:cNvPr id="29" name="Line 25"/>
            <p:cNvSpPr/>
            <p:nvPr/>
          </p:nvSpPr>
          <p:spPr>
            <a:xfrm>
              <a:off x="2569" y="2016"/>
              <a:ext cx="0" cy="320"/>
            </a:xfrm>
            <a:prstGeom prst="line">
              <a:avLst/>
            </a:prstGeom>
            <a:ln w="9525" cap="flat" cmpd="sng">
              <a:solidFill>
                <a:srgbClr val="FF0066"/>
              </a:solidFill>
              <a:prstDash val="solid"/>
              <a:round/>
              <a:headEnd type="none" w="med" len="med"/>
              <a:tailEnd type="none" w="med" len="med"/>
            </a:ln>
          </p:spPr>
        </p:sp>
        <p:sp>
          <p:nvSpPr>
            <p:cNvPr id="30" name="Line 26"/>
            <p:cNvSpPr/>
            <p:nvPr/>
          </p:nvSpPr>
          <p:spPr>
            <a:xfrm>
              <a:off x="2665" y="2016"/>
              <a:ext cx="0" cy="320"/>
            </a:xfrm>
            <a:prstGeom prst="line">
              <a:avLst/>
            </a:prstGeom>
            <a:ln w="9525" cap="flat" cmpd="sng">
              <a:solidFill>
                <a:srgbClr val="FF0066"/>
              </a:solidFill>
              <a:prstDash val="solid"/>
              <a:round/>
              <a:headEnd type="none" w="med" len="med"/>
              <a:tailEnd type="none" w="med" len="med"/>
            </a:ln>
          </p:spPr>
        </p:sp>
        <p:sp>
          <p:nvSpPr>
            <p:cNvPr id="31" name="Line 27"/>
            <p:cNvSpPr/>
            <p:nvPr/>
          </p:nvSpPr>
          <p:spPr>
            <a:xfrm>
              <a:off x="2761" y="2016"/>
              <a:ext cx="0" cy="320"/>
            </a:xfrm>
            <a:prstGeom prst="line">
              <a:avLst/>
            </a:prstGeom>
            <a:ln w="9525" cap="flat" cmpd="sng">
              <a:solidFill>
                <a:schemeClr val="accent2"/>
              </a:solidFill>
              <a:prstDash val="solid"/>
              <a:round/>
              <a:headEnd type="none" w="med" len="med"/>
              <a:tailEnd type="none" w="med" len="med"/>
            </a:ln>
          </p:spPr>
        </p:sp>
        <p:sp>
          <p:nvSpPr>
            <p:cNvPr id="32" name="Line 28"/>
            <p:cNvSpPr/>
            <p:nvPr/>
          </p:nvSpPr>
          <p:spPr>
            <a:xfrm>
              <a:off x="2857" y="2016"/>
              <a:ext cx="0" cy="320"/>
            </a:xfrm>
            <a:prstGeom prst="line">
              <a:avLst/>
            </a:prstGeom>
            <a:ln w="9525" cap="flat" cmpd="sng">
              <a:solidFill>
                <a:srgbClr val="FF0066"/>
              </a:solidFill>
              <a:prstDash val="solid"/>
              <a:round/>
              <a:headEnd type="none" w="med" len="med"/>
              <a:tailEnd type="none" w="med" len="med"/>
            </a:ln>
          </p:spPr>
        </p:sp>
        <p:sp>
          <p:nvSpPr>
            <p:cNvPr id="33" name="Line 29"/>
            <p:cNvSpPr/>
            <p:nvPr/>
          </p:nvSpPr>
          <p:spPr>
            <a:xfrm>
              <a:off x="2953" y="2016"/>
              <a:ext cx="0" cy="320"/>
            </a:xfrm>
            <a:prstGeom prst="line">
              <a:avLst/>
            </a:prstGeom>
            <a:ln w="9525" cap="flat" cmpd="sng">
              <a:solidFill>
                <a:srgbClr val="FF0066"/>
              </a:solidFill>
              <a:prstDash val="solid"/>
              <a:round/>
              <a:headEnd type="none" w="med" len="med"/>
              <a:tailEnd type="none" w="med" len="med"/>
            </a:ln>
          </p:spPr>
        </p:sp>
        <p:sp>
          <p:nvSpPr>
            <p:cNvPr id="34" name="Line 30"/>
            <p:cNvSpPr/>
            <p:nvPr/>
          </p:nvSpPr>
          <p:spPr>
            <a:xfrm>
              <a:off x="3049" y="2016"/>
              <a:ext cx="0" cy="320"/>
            </a:xfrm>
            <a:prstGeom prst="line">
              <a:avLst/>
            </a:prstGeom>
            <a:ln w="9525" cap="flat" cmpd="sng">
              <a:solidFill>
                <a:srgbClr val="FF0066"/>
              </a:solidFill>
              <a:prstDash val="solid"/>
              <a:round/>
              <a:headEnd type="none" w="med" len="med"/>
              <a:tailEnd type="none" w="med" len="med"/>
            </a:ln>
          </p:spPr>
        </p:sp>
        <p:sp>
          <p:nvSpPr>
            <p:cNvPr id="36" name="Line 31"/>
            <p:cNvSpPr/>
            <p:nvPr/>
          </p:nvSpPr>
          <p:spPr>
            <a:xfrm>
              <a:off x="3145" y="2016"/>
              <a:ext cx="0" cy="320"/>
            </a:xfrm>
            <a:prstGeom prst="line">
              <a:avLst/>
            </a:prstGeom>
            <a:ln w="9525" cap="flat" cmpd="sng">
              <a:solidFill>
                <a:srgbClr val="FF0066"/>
              </a:solidFill>
              <a:prstDash val="solid"/>
              <a:round/>
              <a:headEnd type="none" w="med" len="med"/>
              <a:tailEnd type="none" w="med" len="med"/>
            </a:ln>
          </p:spPr>
        </p:sp>
        <p:sp>
          <p:nvSpPr>
            <p:cNvPr id="37" name="Line 32"/>
            <p:cNvSpPr/>
            <p:nvPr/>
          </p:nvSpPr>
          <p:spPr>
            <a:xfrm>
              <a:off x="3241" y="2016"/>
              <a:ext cx="0" cy="320"/>
            </a:xfrm>
            <a:prstGeom prst="line">
              <a:avLst/>
            </a:prstGeom>
            <a:ln w="9525" cap="flat" cmpd="sng">
              <a:solidFill>
                <a:srgbClr val="FF0066"/>
              </a:solidFill>
              <a:prstDash val="solid"/>
              <a:round/>
              <a:headEnd type="none" w="med" len="med"/>
              <a:tailEnd type="none" w="med" len="med"/>
            </a:ln>
          </p:spPr>
        </p:sp>
        <p:sp>
          <p:nvSpPr>
            <p:cNvPr id="38" name="Line 33"/>
            <p:cNvSpPr/>
            <p:nvPr/>
          </p:nvSpPr>
          <p:spPr>
            <a:xfrm>
              <a:off x="3337" y="2016"/>
              <a:ext cx="0" cy="320"/>
            </a:xfrm>
            <a:prstGeom prst="line">
              <a:avLst/>
            </a:prstGeom>
            <a:ln w="9525" cap="flat" cmpd="sng">
              <a:solidFill>
                <a:srgbClr val="FF0066"/>
              </a:solidFill>
              <a:prstDash val="solid"/>
              <a:round/>
              <a:headEnd type="none" w="med" len="med"/>
              <a:tailEnd type="none" w="med" len="med"/>
            </a:ln>
          </p:spPr>
        </p:sp>
        <p:sp>
          <p:nvSpPr>
            <p:cNvPr id="39" name="Line 34"/>
            <p:cNvSpPr/>
            <p:nvPr/>
          </p:nvSpPr>
          <p:spPr>
            <a:xfrm>
              <a:off x="3433" y="2016"/>
              <a:ext cx="0" cy="320"/>
            </a:xfrm>
            <a:prstGeom prst="line">
              <a:avLst/>
            </a:prstGeom>
            <a:ln w="9525" cap="flat" cmpd="sng">
              <a:solidFill>
                <a:srgbClr val="FF0066"/>
              </a:solidFill>
              <a:prstDash val="solid"/>
              <a:round/>
              <a:headEnd type="none" w="med" len="med"/>
              <a:tailEnd type="none" w="med" len="med"/>
            </a:ln>
          </p:spPr>
        </p:sp>
        <p:sp>
          <p:nvSpPr>
            <p:cNvPr id="40" name="Line 35"/>
            <p:cNvSpPr/>
            <p:nvPr/>
          </p:nvSpPr>
          <p:spPr>
            <a:xfrm>
              <a:off x="3529" y="2016"/>
              <a:ext cx="0" cy="320"/>
            </a:xfrm>
            <a:prstGeom prst="line">
              <a:avLst/>
            </a:prstGeom>
            <a:ln w="9525" cap="flat" cmpd="sng">
              <a:solidFill>
                <a:srgbClr val="FF0066"/>
              </a:solidFill>
              <a:prstDash val="solid"/>
              <a:round/>
              <a:headEnd type="none" w="med" len="med"/>
              <a:tailEnd type="none" w="med" len="med"/>
            </a:ln>
          </p:spPr>
        </p:sp>
        <p:sp>
          <p:nvSpPr>
            <p:cNvPr id="41" name="Line 36"/>
            <p:cNvSpPr/>
            <p:nvPr/>
          </p:nvSpPr>
          <p:spPr>
            <a:xfrm>
              <a:off x="3625" y="2016"/>
              <a:ext cx="0" cy="320"/>
            </a:xfrm>
            <a:prstGeom prst="line">
              <a:avLst/>
            </a:prstGeom>
            <a:ln w="9525" cap="flat" cmpd="sng">
              <a:solidFill>
                <a:srgbClr val="FF0066"/>
              </a:solidFill>
              <a:prstDash val="solid"/>
              <a:round/>
              <a:headEnd type="none" w="med" len="med"/>
              <a:tailEnd type="none" w="med" len="med"/>
            </a:ln>
          </p:spPr>
        </p:sp>
        <p:sp>
          <p:nvSpPr>
            <p:cNvPr id="42" name="Line 37"/>
            <p:cNvSpPr/>
            <p:nvPr/>
          </p:nvSpPr>
          <p:spPr>
            <a:xfrm>
              <a:off x="3721" y="2016"/>
              <a:ext cx="0" cy="320"/>
            </a:xfrm>
            <a:prstGeom prst="line">
              <a:avLst/>
            </a:prstGeom>
            <a:ln w="9525" cap="flat" cmpd="sng">
              <a:solidFill>
                <a:schemeClr val="accent2"/>
              </a:solidFill>
              <a:prstDash val="solid"/>
              <a:round/>
              <a:headEnd type="none" w="med" len="med"/>
              <a:tailEnd type="none" w="med" len="med"/>
            </a:ln>
          </p:spPr>
        </p:sp>
        <p:sp>
          <p:nvSpPr>
            <p:cNvPr id="43" name="Text Box 52"/>
            <p:cNvSpPr txBox="1"/>
            <p:nvPr/>
          </p:nvSpPr>
          <p:spPr>
            <a:xfrm>
              <a:off x="803" y="2349"/>
              <a:ext cx="3216" cy="192"/>
            </a:xfrm>
            <a:prstGeom prst="rect">
              <a:avLst/>
            </a:prstGeom>
            <a:noFill/>
            <a:ln w="9525">
              <a:noFill/>
            </a:ln>
          </p:spPr>
          <p:txBody>
            <a:bodyPr wrap="none" anchor="t">
              <a:spAutoFit/>
            </a:bodyPr>
            <a:lstStyle/>
            <a:p>
              <a:r>
                <a:rPr lang="en-US" altLang="zh-CN" sz="1400" dirty="0">
                  <a:latin typeface="Arial" panose="020B0604020202020204" pitchFamily="34" charset="0"/>
                  <a:ea typeface="楷体_GB2312" pitchFamily="49" charset="-122"/>
                </a:rPr>
                <a:t>1 2                    9                            19   21        25  27            43</a:t>
              </a:r>
              <a:endParaRPr lang="en-US" altLang="zh-CN" sz="1400" dirty="0">
                <a:latin typeface="Arial" panose="020B0604020202020204" pitchFamily="34" charset="0"/>
                <a:ea typeface="楷体_GB2312" pitchFamily="49" charset="-122"/>
              </a:endParaRPr>
            </a:p>
          </p:txBody>
        </p:sp>
        <p:sp>
          <p:nvSpPr>
            <p:cNvPr id="44" name="Text Box 54"/>
            <p:cNvSpPr txBox="1"/>
            <p:nvPr/>
          </p:nvSpPr>
          <p:spPr>
            <a:xfrm>
              <a:off x="799" y="1715"/>
              <a:ext cx="2885" cy="192"/>
            </a:xfrm>
            <a:prstGeom prst="rect">
              <a:avLst/>
            </a:prstGeom>
            <a:noFill/>
            <a:ln w="9525">
              <a:noFill/>
            </a:ln>
          </p:spPr>
          <p:txBody>
            <a:bodyPr wrap="none" anchor="t">
              <a:spAutoFit/>
            </a:bodyPr>
            <a:lstStyle/>
            <a:p>
              <a:r>
                <a:rPr lang="en-US" altLang="zh-CN" sz="1400" dirty="0">
                  <a:latin typeface="Arial" panose="020B0604020202020204" pitchFamily="34" charset="0"/>
                  <a:ea typeface="楷体_GB2312" pitchFamily="49" charset="-122"/>
                </a:rPr>
                <a:t>S#                    Sname             Ssex   Sage  D#  Sclass</a:t>
              </a:r>
              <a:endParaRPr lang="en-US" altLang="zh-CN" sz="1400" dirty="0">
                <a:latin typeface="Arial" panose="020B0604020202020204" pitchFamily="34" charset="0"/>
                <a:ea typeface="楷体_GB2312" pitchFamily="49" charset="-122"/>
              </a:endParaRPr>
            </a:p>
          </p:txBody>
        </p:sp>
        <p:sp>
          <p:nvSpPr>
            <p:cNvPr id="45" name="Line 55"/>
            <p:cNvSpPr/>
            <p:nvPr/>
          </p:nvSpPr>
          <p:spPr>
            <a:xfrm>
              <a:off x="887" y="1856"/>
              <a:ext cx="0" cy="174"/>
            </a:xfrm>
            <a:prstGeom prst="line">
              <a:avLst/>
            </a:prstGeom>
            <a:ln w="9525" cap="flat" cmpd="sng">
              <a:solidFill>
                <a:schemeClr val="accent2"/>
              </a:solidFill>
              <a:prstDash val="solid"/>
              <a:round/>
              <a:headEnd type="none" w="med" len="med"/>
              <a:tailEnd type="triangle" w="med" len="med"/>
            </a:ln>
          </p:spPr>
        </p:sp>
        <p:sp>
          <p:nvSpPr>
            <p:cNvPr id="46" name="Line 56"/>
            <p:cNvSpPr/>
            <p:nvPr/>
          </p:nvSpPr>
          <p:spPr>
            <a:xfrm>
              <a:off x="1649" y="1853"/>
              <a:ext cx="0" cy="174"/>
            </a:xfrm>
            <a:prstGeom prst="line">
              <a:avLst/>
            </a:prstGeom>
            <a:ln w="9525" cap="flat" cmpd="sng">
              <a:solidFill>
                <a:schemeClr val="accent2"/>
              </a:solidFill>
              <a:prstDash val="solid"/>
              <a:round/>
              <a:headEnd type="none" w="med" len="med"/>
              <a:tailEnd type="triangle" w="med" len="med"/>
            </a:ln>
          </p:spPr>
        </p:sp>
        <p:sp>
          <p:nvSpPr>
            <p:cNvPr id="47" name="Line 57"/>
            <p:cNvSpPr/>
            <p:nvPr/>
          </p:nvSpPr>
          <p:spPr>
            <a:xfrm>
              <a:off x="2609" y="1859"/>
              <a:ext cx="0" cy="174"/>
            </a:xfrm>
            <a:prstGeom prst="line">
              <a:avLst/>
            </a:prstGeom>
            <a:ln w="9525" cap="flat" cmpd="sng">
              <a:solidFill>
                <a:schemeClr val="accent2"/>
              </a:solidFill>
              <a:prstDash val="solid"/>
              <a:round/>
              <a:headEnd type="none" w="med" len="med"/>
              <a:tailEnd type="triangle" w="med" len="med"/>
            </a:ln>
          </p:spPr>
        </p:sp>
        <p:sp>
          <p:nvSpPr>
            <p:cNvPr id="48" name="Line 58"/>
            <p:cNvSpPr/>
            <p:nvPr/>
          </p:nvSpPr>
          <p:spPr>
            <a:xfrm>
              <a:off x="3191" y="1847"/>
              <a:ext cx="0" cy="174"/>
            </a:xfrm>
            <a:prstGeom prst="line">
              <a:avLst/>
            </a:prstGeom>
            <a:ln w="9525" cap="flat" cmpd="sng">
              <a:solidFill>
                <a:schemeClr val="accent2"/>
              </a:solidFill>
              <a:prstDash val="solid"/>
              <a:round/>
              <a:headEnd type="none" w="med" len="med"/>
              <a:tailEnd type="triangle" w="med" len="med"/>
            </a:ln>
          </p:spPr>
        </p:sp>
        <p:sp>
          <p:nvSpPr>
            <p:cNvPr id="49" name="Line 59"/>
            <p:cNvSpPr/>
            <p:nvPr/>
          </p:nvSpPr>
          <p:spPr>
            <a:xfrm>
              <a:off x="2801" y="1844"/>
              <a:ext cx="0" cy="174"/>
            </a:xfrm>
            <a:prstGeom prst="line">
              <a:avLst/>
            </a:prstGeom>
            <a:ln w="9525" cap="flat" cmpd="sng">
              <a:solidFill>
                <a:schemeClr val="accent2"/>
              </a:solidFill>
              <a:prstDash val="solid"/>
              <a:round/>
              <a:headEnd type="none" w="med" len="med"/>
              <a:tailEnd type="triangle" w="med" len="med"/>
            </a:ln>
          </p:spPr>
        </p:sp>
        <p:sp>
          <p:nvSpPr>
            <p:cNvPr id="50" name="Line 60"/>
            <p:cNvSpPr/>
            <p:nvPr/>
          </p:nvSpPr>
          <p:spPr>
            <a:xfrm>
              <a:off x="3368" y="1844"/>
              <a:ext cx="0" cy="174"/>
            </a:xfrm>
            <a:prstGeom prst="line">
              <a:avLst/>
            </a:prstGeom>
            <a:ln w="9525" cap="flat" cmpd="sng">
              <a:solidFill>
                <a:schemeClr val="accent2"/>
              </a:solidFill>
              <a:prstDash val="solid"/>
              <a:round/>
              <a:headEnd type="none" w="med" len="med"/>
              <a:tailEnd type="triangle" w="med" len="med"/>
            </a:ln>
          </p:spPr>
        </p:sp>
        <p:sp>
          <p:nvSpPr>
            <p:cNvPr id="51" name="Line 61"/>
            <p:cNvSpPr/>
            <p:nvPr/>
          </p:nvSpPr>
          <p:spPr>
            <a:xfrm>
              <a:off x="3817" y="2016"/>
              <a:ext cx="0" cy="320"/>
            </a:xfrm>
            <a:prstGeom prst="line">
              <a:avLst/>
            </a:prstGeom>
            <a:ln w="9525" cap="flat" cmpd="sng">
              <a:solidFill>
                <a:schemeClr val="accent2"/>
              </a:solidFill>
              <a:prstDash val="solid"/>
              <a:round/>
              <a:headEnd type="none" w="med" len="med"/>
              <a:tailEnd type="none" w="med" len="med"/>
            </a:ln>
          </p:spPr>
        </p:sp>
      </p:grpSp>
      <p:grpSp>
        <p:nvGrpSpPr>
          <p:cNvPr id="52" name="Group 107"/>
          <p:cNvGrpSpPr/>
          <p:nvPr/>
        </p:nvGrpSpPr>
        <p:grpSpPr>
          <a:xfrm>
            <a:off x="882054" y="4803772"/>
            <a:ext cx="5062537" cy="1339850"/>
            <a:chOff x="796" y="2765"/>
            <a:chExt cx="3189" cy="844"/>
          </a:xfrm>
        </p:grpSpPr>
        <p:sp>
          <p:nvSpPr>
            <p:cNvPr id="53" name="Rectangle 65"/>
            <p:cNvSpPr/>
            <p:nvPr/>
          </p:nvSpPr>
          <p:spPr>
            <a:xfrm>
              <a:off x="837" y="3084"/>
              <a:ext cx="3072" cy="320"/>
            </a:xfrm>
            <a:prstGeom prst="rect">
              <a:avLst/>
            </a:prstGeom>
            <a:solidFill>
              <a:srgbClr val="FFFF99"/>
            </a:solid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54" name="Line 66"/>
            <p:cNvSpPr/>
            <p:nvPr/>
          </p:nvSpPr>
          <p:spPr>
            <a:xfrm>
              <a:off x="934" y="3084"/>
              <a:ext cx="0" cy="320"/>
            </a:xfrm>
            <a:prstGeom prst="line">
              <a:avLst/>
            </a:prstGeom>
            <a:ln w="9525" cap="flat" cmpd="sng">
              <a:solidFill>
                <a:srgbClr val="FF0066"/>
              </a:solidFill>
              <a:prstDash val="solid"/>
              <a:round/>
              <a:headEnd type="none" w="med" len="med"/>
              <a:tailEnd type="none" w="med" len="med"/>
            </a:ln>
          </p:spPr>
        </p:sp>
        <p:sp>
          <p:nvSpPr>
            <p:cNvPr id="55" name="Line 67"/>
            <p:cNvSpPr/>
            <p:nvPr/>
          </p:nvSpPr>
          <p:spPr>
            <a:xfrm>
              <a:off x="1030" y="3084"/>
              <a:ext cx="0" cy="320"/>
            </a:xfrm>
            <a:prstGeom prst="line">
              <a:avLst/>
            </a:prstGeom>
            <a:ln w="9525" cap="flat" cmpd="sng">
              <a:solidFill>
                <a:srgbClr val="FF0066"/>
              </a:solidFill>
              <a:prstDash val="solid"/>
              <a:round/>
              <a:headEnd type="none" w="med" len="med"/>
              <a:tailEnd type="none" w="med" len="med"/>
            </a:ln>
          </p:spPr>
        </p:sp>
        <p:sp>
          <p:nvSpPr>
            <p:cNvPr id="56" name="Line 68"/>
            <p:cNvSpPr/>
            <p:nvPr/>
          </p:nvSpPr>
          <p:spPr>
            <a:xfrm>
              <a:off x="1126" y="3084"/>
              <a:ext cx="0" cy="320"/>
            </a:xfrm>
            <a:prstGeom prst="line">
              <a:avLst/>
            </a:prstGeom>
            <a:ln w="9525" cap="flat" cmpd="sng">
              <a:solidFill>
                <a:srgbClr val="FF0066"/>
              </a:solidFill>
              <a:prstDash val="solid"/>
              <a:round/>
              <a:headEnd type="none" w="med" len="med"/>
              <a:tailEnd type="none" w="med" len="med"/>
            </a:ln>
          </p:spPr>
        </p:sp>
        <p:sp>
          <p:nvSpPr>
            <p:cNvPr id="57" name="Line 69"/>
            <p:cNvSpPr/>
            <p:nvPr/>
          </p:nvSpPr>
          <p:spPr>
            <a:xfrm>
              <a:off x="1222" y="3084"/>
              <a:ext cx="0" cy="320"/>
            </a:xfrm>
            <a:prstGeom prst="line">
              <a:avLst/>
            </a:prstGeom>
            <a:ln w="9525" cap="flat" cmpd="sng">
              <a:solidFill>
                <a:srgbClr val="FF0066"/>
              </a:solidFill>
              <a:prstDash val="solid"/>
              <a:round/>
              <a:headEnd type="none" w="med" len="med"/>
              <a:tailEnd type="none" w="med" len="med"/>
            </a:ln>
          </p:spPr>
        </p:sp>
        <p:sp>
          <p:nvSpPr>
            <p:cNvPr id="58" name="Line 70"/>
            <p:cNvSpPr/>
            <p:nvPr/>
          </p:nvSpPr>
          <p:spPr>
            <a:xfrm>
              <a:off x="1318" y="3084"/>
              <a:ext cx="0" cy="320"/>
            </a:xfrm>
            <a:prstGeom prst="line">
              <a:avLst/>
            </a:prstGeom>
            <a:ln w="9525" cap="flat" cmpd="sng">
              <a:solidFill>
                <a:srgbClr val="FF0066"/>
              </a:solidFill>
              <a:prstDash val="solid"/>
              <a:round/>
              <a:headEnd type="none" w="med" len="med"/>
              <a:tailEnd type="none" w="med" len="med"/>
            </a:ln>
          </p:spPr>
        </p:sp>
        <p:sp>
          <p:nvSpPr>
            <p:cNvPr id="59" name="Line 71"/>
            <p:cNvSpPr/>
            <p:nvPr/>
          </p:nvSpPr>
          <p:spPr>
            <a:xfrm>
              <a:off x="1414" y="3084"/>
              <a:ext cx="0" cy="320"/>
            </a:xfrm>
            <a:prstGeom prst="line">
              <a:avLst/>
            </a:prstGeom>
            <a:ln w="9525" cap="flat" cmpd="sng">
              <a:solidFill>
                <a:srgbClr val="FF0066"/>
              </a:solidFill>
              <a:prstDash val="solid"/>
              <a:round/>
              <a:headEnd type="none" w="med" len="med"/>
              <a:tailEnd type="none" w="med" len="med"/>
            </a:ln>
          </p:spPr>
        </p:sp>
        <p:sp>
          <p:nvSpPr>
            <p:cNvPr id="60" name="Line 72"/>
            <p:cNvSpPr/>
            <p:nvPr/>
          </p:nvSpPr>
          <p:spPr>
            <a:xfrm>
              <a:off x="1510" y="3084"/>
              <a:ext cx="0" cy="320"/>
            </a:xfrm>
            <a:prstGeom prst="line">
              <a:avLst/>
            </a:prstGeom>
            <a:ln w="9525" cap="flat" cmpd="sng">
              <a:solidFill>
                <a:srgbClr val="FF0066"/>
              </a:solidFill>
              <a:prstDash val="solid"/>
              <a:round/>
              <a:headEnd type="none" w="med" len="med"/>
              <a:tailEnd type="none" w="med" len="med"/>
            </a:ln>
          </p:spPr>
        </p:sp>
        <p:sp>
          <p:nvSpPr>
            <p:cNvPr id="61" name="Line 73"/>
            <p:cNvSpPr/>
            <p:nvPr/>
          </p:nvSpPr>
          <p:spPr>
            <a:xfrm>
              <a:off x="1606" y="3084"/>
              <a:ext cx="0" cy="320"/>
            </a:xfrm>
            <a:prstGeom prst="line">
              <a:avLst/>
            </a:prstGeom>
            <a:ln w="9525" cap="flat" cmpd="sng">
              <a:solidFill>
                <a:srgbClr val="FF0066"/>
              </a:solidFill>
              <a:prstDash val="solid"/>
              <a:round/>
              <a:headEnd type="none" w="med" len="med"/>
              <a:tailEnd type="none" w="med" len="med"/>
            </a:ln>
          </p:spPr>
        </p:sp>
        <p:sp>
          <p:nvSpPr>
            <p:cNvPr id="62" name="Line 74"/>
            <p:cNvSpPr/>
            <p:nvPr/>
          </p:nvSpPr>
          <p:spPr>
            <a:xfrm>
              <a:off x="1702" y="3084"/>
              <a:ext cx="0" cy="320"/>
            </a:xfrm>
            <a:prstGeom prst="line">
              <a:avLst/>
            </a:prstGeom>
            <a:ln w="9525" cap="flat" cmpd="sng">
              <a:solidFill>
                <a:srgbClr val="FF0066"/>
              </a:solidFill>
              <a:prstDash val="solid"/>
              <a:round/>
              <a:headEnd type="none" w="med" len="med"/>
              <a:tailEnd type="none" w="med" len="med"/>
            </a:ln>
          </p:spPr>
        </p:sp>
        <p:sp>
          <p:nvSpPr>
            <p:cNvPr id="63" name="Line 75"/>
            <p:cNvSpPr/>
            <p:nvPr/>
          </p:nvSpPr>
          <p:spPr>
            <a:xfrm>
              <a:off x="1798" y="3084"/>
              <a:ext cx="0" cy="320"/>
            </a:xfrm>
            <a:prstGeom prst="line">
              <a:avLst/>
            </a:prstGeom>
            <a:ln w="9525" cap="flat" cmpd="sng">
              <a:solidFill>
                <a:schemeClr val="accent2"/>
              </a:solidFill>
              <a:prstDash val="solid"/>
              <a:round/>
              <a:headEnd type="none" w="med" len="med"/>
              <a:tailEnd type="none" w="med" len="med"/>
            </a:ln>
          </p:spPr>
        </p:sp>
        <p:sp>
          <p:nvSpPr>
            <p:cNvPr id="64" name="Line 76"/>
            <p:cNvSpPr/>
            <p:nvPr/>
          </p:nvSpPr>
          <p:spPr>
            <a:xfrm>
              <a:off x="1894" y="3084"/>
              <a:ext cx="0" cy="320"/>
            </a:xfrm>
            <a:prstGeom prst="line">
              <a:avLst/>
            </a:prstGeom>
            <a:ln w="9525" cap="flat" cmpd="sng">
              <a:solidFill>
                <a:srgbClr val="FF0066"/>
              </a:solidFill>
              <a:prstDash val="solid"/>
              <a:round/>
              <a:headEnd type="none" w="med" len="med"/>
              <a:tailEnd type="none" w="med" len="med"/>
            </a:ln>
          </p:spPr>
        </p:sp>
        <p:sp>
          <p:nvSpPr>
            <p:cNvPr id="65" name="Line 77"/>
            <p:cNvSpPr/>
            <p:nvPr/>
          </p:nvSpPr>
          <p:spPr>
            <a:xfrm>
              <a:off x="1990" y="3084"/>
              <a:ext cx="0" cy="320"/>
            </a:xfrm>
            <a:prstGeom prst="line">
              <a:avLst/>
            </a:prstGeom>
            <a:ln w="9525" cap="flat" cmpd="sng">
              <a:solidFill>
                <a:srgbClr val="FF0066"/>
              </a:solidFill>
              <a:prstDash val="solid"/>
              <a:round/>
              <a:headEnd type="none" w="med" len="med"/>
              <a:tailEnd type="none" w="med" len="med"/>
            </a:ln>
          </p:spPr>
        </p:sp>
        <p:sp>
          <p:nvSpPr>
            <p:cNvPr id="66" name="Line 78"/>
            <p:cNvSpPr/>
            <p:nvPr/>
          </p:nvSpPr>
          <p:spPr>
            <a:xfrm>
              <a:off x="2086" y="3084"/>
              <a:ext cx="0" cy="320"/>
            </a:xfrm>
            <a:prstGeom prst="line">
              <a:avLst/>
            </a:prstGeom>
            <a:ln w="9525" cap="flat" cmpd="sng">
              <a:solidFill>
                <a:srgbClr val="FF0066"/>
              </a:solidFill>
              <a:prstDash val="solid"/>
              <a:round/>
              <a:headEnd type="none" w="med" len="med"/>
              <a:tailEnd type="none" w="med" len="med"/>
            </a:ln>
          </p:spPr>
        </p:sp>
        <p:sp>
          <p:nvSpPr>
            <p:cNvPr id="67" name="Line 79"/>
            <p:cNvSpPr/>
            <p:nvPr/>
          </p:nvSpPr>
          <p:spPr>
            <a:xfrm>
              <a:off x="2182" y="3084"/>
              <a:ext cx="0" cy="320"/>
            </a:xfrm>
            <a:prstGeom prst="line">
              <a:avLst/>
            </a:prstGeom>
            <a:ln w="9525" cap="flat" cmpd="sng">
              <a:solidFill>
                <a:srgbClr val="FF0066"/>
              </a:solidFill>
              <a:prstDash val="solid"/>
              <a:round/>
              <a:headEnd type="none" w="med" len="med"/>
              <a:tailEnd type="none" w="med" len="med"/>
            </a:ln>
          </p:spPr>
        </p:sp>
        <p:sp>
          <p:nvSpPr>
            <p:cNvPr id="68" name="Line 80"/>
            <p:cNvSpPr/>
            <p:nvPr/>
          </p:nvSpPr>
          <p:spPr>
            <a:xfrm>
              <a:off x="2278" y="3084"/>
              <a:ext cx="0" cy="320"/>
            </a:xfrm>
            <a:prstGeom prst="line">
              <a:avLst/>
            </a:prstGeom>
            <a:ln w="9525" cap="flat" cmpd="sng">
              <a:solidFill>
                <a:srgbClr val="FF0066"/>
              </a:solidFill>
              <a:prstDash val="solid"/>
              <a:round/>
              <a:headEnd type="none" w="med" len="med"/>
              <a:tailEnd type="none" w="med" len="med"/>
            </a:ln>
          </p:spPr>
        </p:sp>
        <p:sp>
          <p:nvSpPr>
            <p:cNvPr id="69" name="Line 81"/>
            <p:cNvSpPr/>
            <p:nvPr/>
          </p:nvSpPr>
          <p:spPr>
            <a:xfrm>
              <a:off x="2374" y="3084"/>
              <a:ext cx="0" cy="320"/>
            </a:xfrm>
            <a:prstGeom prst="line">
              <a:avLst/>
            </a:prstGeom>
            <a:ln w="9525" cap="flat" cmpd="sng">
              <a:solidFill>
                <a:srgbClr val="FF0066"/>
              </a:solidFill>
              <a:prstDash val="solid"/>
              <a:round/>
              <a:headEnd type="none" w="med" len="med"/>
              <a:tailEnd type="none" w="med" len="med"/>
            </a:ln>
          </p:spPr>
        </p:sp>
        <p:sp>
          <p:nvSpPr>
            <p:cNvPr id="70" name="Line 82"/>
            <p:cNvSpPr/>
            <p:nvPr/>
          </p:nvSpPr>
          <p:spPr>
            <a:xfrm>
              <a:off x="2470" y="3084"/>
              <a:ext cx="0" cy="320"/>
            </a:xfrm>
            <a:prstGeom prst="line">
              <a:avLst/>
            </a:prstGeom>
            <a:ln w="9525" cap="flat" cmpd="sng">
              <a:solidFill>
                <a:srgbClr val="FF0066"/>
              </a:solidFill>
              <a:prstDash val="solid"/>
              <a:round/>
              <a:headEnd type="none" w="med" len="med"/>
              <a:tailEnd type="none" w="med" len="med"/>
            </a:ln>
          </p:spPr>
        </p:sp>
        <p:sp>
          <p:nvSpPr>
            <p:cNvPr id="71" name="Line 83"/>
            <p:cNvSpPr/>
            <p:nvPr/>
          </p:nvSpPr>
          <p:spPr>
            <a:xfrm>
              <a:off x="2566" y="3084"/>
              <a:ext cx="0" cy="320"/>
            </a:xfrm>
            <a:prstGeom prst="line">
              <a:avLst/>
            </a:prstGeom>
            <a:ln w="9525" cap="flat" cmpd="sng">
              <a:solidFill>
                <a:srgbClr val="FF0066"/>
              </a:solidFill>
              <a:prstDash val="solid"/>
              <a:round/>
              <a:headEnd type="none" w="med" len="med"/>
              <a:tailEnd type="none" w="med" len="med"/>
            </a:ln>
          </p:spPr>
        </p:sp>
        <p:sp>
          <p:nvSpPr>
            <p:cNvPr id="72" name="Line 84"/>
            <p:cNvSpPr/>
            <p:nvPr/>
          </p:nvSpPr>
          <p:spPr>
            <a:xfrm>
              <a:off x="2662" y="3084"/>
              <a:ext cx="0" cy="320"/>
            </a:xfrm>
            <a:prstGeom prst="line">
              <a:avLst/>
            </a:prstGeom>
            <a:ln w="9525" cap="flat" cmpd="sng">
              <a:solidFill>
                <a:srgbClr val="FF0066"/>
              </a:solidFill>
              <a:prstDash val="solid"/>
              <a:round/>
              <a:headEnd type="none" w="med" len="med"/>
              <a:tailEnd type="none" w="med" len="med"/>
            </a:ln>
          </p:spPr>
        </p:sp>
        <p:sp>
          <p:nvSpPr>
            <p:cNvPr id="73" name="Line 85"/>
            <p:cNvSpPr/>
            <p:nvPr/>
          </p:nvSpPr>
          <p:spPr>
            <a:xfrm>
              <a:off x="2758" y="3084"/>
              <a:ext cx="0" cy="320"/>
            </a:xfrm>
            <a:prstGeom prst="line">
              <a:avLst/>
            </a:prstGeom>
            <a:ln w="9525" cap="flat" cmpd="sng">
              <a:solidFill>
                <a:schemeClr val="accent2"/>
              </a:solidFill>
              <a:prstDash val="solid"/>
              <a:round/>
              <a:headEnd type="none" w="med" len="med"/>
              <a:tailEnd type="none" w="med" len="med"/>
            </a:ln>
          </p:spPr>
        </p:sp>
        <p:sp>
          <p:nvSpPr>
            <p:cNvPr id="74" name="Line 86"/>
            <p:cNvSpPr/>
            <p:nvPr/>
          </p:nvSpPr>
          <p:spPr>
            <a:xfrm>
              <a:off x="2854" y="3084"/>
              <a:ext cx="0" cy="320"/>
            </a:xfrm>
            <a:prstGeom prst="line">
              <a:avLst/>
            </a:prstGeom>
            <a:ln w="9525" cap="flat" cmpd="sng">
              <a:solidFill>
                <a:srgbClr val="FF0066"/>
              </a:solidFill>
              <a:prstDash val="solid"/>
              <a:round/>
              <a:headEnd type="none" w="med" len="med"/>
              <a:tailEnd type="none" w="med" len="med"/>
            </a:ln>
          </p:spPr>
        </p:sp>
        <p:sp>
          <p:nvSpPr>
            <p:cNvPr id="75" name="Line 87"/>
            <p:cNvSpPr/>
            <p:nvPr/>
          </p:nvSpPr>
          <p:spPr>
            <a:xfrm>
              <a:off x="2950" y="3084"/>
              <a:ext cx="0" cy="320"/>
            </a:xfrm>
            <a:prstGeom prst="line">
              <a:avLst/>
            </a:prstGeom>
            <a:ln w="9525" cap="flat" cmpd="sng">
              <a:solidFill>
                <a:srgbClr val="FF0066"/>
              </a:solidFill>
              <a:prstDash val="solid"/>
              <a:round/>
              <a:headEnd type="none" w="med" len="med"/>
              <a:tailEnd type="none" w="med" len="med"/>
            </a:ln>
          </p:spPr>
        </p:sp>
        <p:sp>
          <p:nvSpPr>
            <p:cNvPr id="76" name="Line 88"/>
            <p:cNvSpPr/>
            <p:nvPr/>
          </p:nvSpPr>
          <p:spPr>
            <a:xfrm>
              <a:off x="3046" y="3084"/>
              <a:ext cx="0" cy="320"/>
            </a:xfrm>
            <a:prstGeom prst="line">
              <a:avLst/>
            </a:prstGeom>
            <a:ln w="9525" cap="flat" cmpd="sng">
              <a:solidFill>
                <a:srgbClr val="FF0066"/>
              </a:solidFill>
              <a:prstDash val="solid"/>
              <a:round/>
              <a:headEnd type="none" w="med" len="med"/>
              <a:tailEnd type="none" w="med" len="med"/>
            </a:ln>
          </p:spPr>
        </p:sp>
        <p:sp>
          <p:nvSpPr>
            <p:cNvPr id="77" name="Line 89"/>
            <p:cNvSpPr/>
            <p:nvPr/>
          </p:nvSpPr>
          <p:spPr>
            <a:xfrm>
              <a:off x="3142" y="3084"/>
              <a:ext cx="0" cy="320"/>
            </a:xfrm>
            <a:prstGeom prst="line">
              <a:avLst/>
            </a:prstGeom>
            <a:ln w="9525" cap="flat" cmpd="sng">
              <a:solidFill>
                <a:srgbClr val="FF0066"/>
              </a:solidFill>
              <a:prstDash val="solid"/>
              <a:round/>
              <a:headEnd type="none" w="med" len="med"/>
              <a:tailEnd type="none" w="med" len="med"/>
            </a:ln>
          </p:spPr>
        </p:sp>
        <p:sp>
          <p:nvSpPr>
            <p:cNvPr id="78" name="Line 90"/>
            <p:cNvSpPr/>
            <p:nvPr/>
          </p:nvSpPr>
          <p:spPr>
            <a:xfrm>
              <a:off x="3238" y="3084"/>
              <a:ext cx="0" cy="320"/>
            </a:xfrm>
            <a:prstGeom prst="line">
              <a:avLst/>
            </a:prstGeom>
            <a:ln w="9525" cap="flat" cmpd="sng">
              <a:solidFill>
                <a:srgbClr val="FF0066"/>
              </a:solidFill>
              <a:prstDash val="solid"/>
              <a:round/>
              <a:headEnd type="none" w="med" len="med"/>
              <a:tailEnd type="none" w="med" len="med"/>
            </a:ln>
          </p:spPr>
        </p:sp>
        <p:sp>
          <p:nvSpPr>
            <p:cNvPr id="79" name="Line 91"/>
            <p:cNvSpPr/>
            <p:nvPr/>
          </p:nvSpPr>
          <p:spPr>
            <a:xfrm>
              <a:off x="3334" y="3084"/>
              <a:ext cx="0" cy="320"/>
            </a:xfrm>
            <a:prstGeom prst="line">
              <a:avLst/>
            </a:prstGeom>
            <a:ln w="9525" cap="flat" cmpd="sng">
              <a:solidFill>
                <a:srgbClr val="FF0066"/>
              </a:solidFill>
              <a:prstDash val="solid"/>
              <a:round/>
              <a:headEnd type="none" w="med" len="med"/>
              <a:tailEnd type="none" w="med" len="med"/>
            </a:ln>
          </p:spPr>
        </p:sp>
        <p:sp>
          <p:nvSpPr>
            <p:cNvPr id="80" name="Line 92"/>
            <p:cNvSpPr/>
            <p:nvPr/>
          </p:nvSpPr>
          <p:spPr>
            <a:xfrm>
              <a:off x="3430" y="3084"/>
              <a:ext cx="0" cy="320"/>
            </a:xfrm>
            <a:prstGeom prst="line">
              <a:avLst/>
            </a:prstGeom>
            <a:ln w="9525" cap="flat" cmpd="sng">
              <a:solidFill>
                <a:srgbClr val="FF0066"/>
              </a:solidFill>
              <a:prstDash val="solid"/>
              <a:round/>
              <a:headEnd type="none" w="med" len="med"/>
              <a:tailEnd type="none" w="med" len="med"/>
            </a:ln>
          </p:spPr>
        </p:sp>
        <p:sp>
          <p:nvSpPr>
            <p:cNvPr id="81" name="Line 93"/>
            <p:cNvSpPr/>
            <p:nvPr/>
          </p:nvSpPr>
          <p:spPr>
            <a:xfrm>
              <a:off x="3526" y="3084"/>
              <a:ext cx="0" cy="320"/>
            </a:xfrm>
            <a:prstGeom prst="line">
              <a:avLst/>
            </a:prstGeom>
            <a:ln w="9525" cap="flat" cmpd="sng">
              <a:solidFill>
                <a:srgbClr val="FF0066"/>
              </a:solidFill>
              <a:prstDash val="solid"/>
              <a:round/>
              <a:headEnd type="none" w="med" len="med"/>
              <a:tailEnd type="none" w="med" len="med"/>
            </a:ln>
          </p:spPr>
        </p:sp>
        <p:sp>
          <p:nvSpPr>
            <p:cNvPr id="82" name="Line 94"/>
            <p:cNvSpPr/>
            <p:nvPr/>
          </p:nvSpPr>
          <p:spPr>
            <a:xfrm>
              <a:off x="3622" y="3084"/>
              <a:ext cx="0" cy="320"/>
            </a:xfrm>
            <a:prstGeom prst="line">
              <a:avLst/>
            </a:prstGeom>
            <a:ln w="9525" cap="flat" cmpd="sng">
              <a:solidFill>
                <a:srgbClr val="FF0066"/>
              </a:solidFill>
              <a:prstDash val="solid"/>
              <a:round/>
              <a:headEnd type="none" w="med" len="med"/>
              <a:tailEnd type="none" w="med" len="med"/>
            </a:ln>
          </p:spPr>
        </p:sp>
        <p:sp>
          <p:nvSpPr>
            <p:cNvPr id="83" name="Line 95"/>
            <p:cNvSpPr/>
            <p:nvPr/>
          </p:nvSpPr>
          <p:spPr>
            <a:xfrm>
              <a:off x="3718" y="3084"/>
              <a:ext cx="0" cy="320"/>
            </a:xfrm>
            <a:prstGeom prst="line">
              <a:avLst/>
            </a:prstGeom>
            <a:ln w="9525" cap="flat" cmpd="sng">
              <a:solidFill>
                <a:schemeClr val="accent2"/>
              </a:solidFill>
              <a:prstDash val="solid"/>
              <a:round/>
              <a:headEnd type="none" w="med" len="med"/>
              <a:tailEnd type="none" w="med" len="med"/>
            </a:ln>
          </p:spPr>
        </p:sp>
        <p:sp>
          <p:nvSpPr>
            <p:cNvPr id="84" name="Text Box 96"/>
            <p:cNvSpPr txBox="1"/>
            <p:nvPr/>
          </p:nvSpPr>
          <p:spPr>
            <a:xfrm>
              <a:off x="800" y="3417"/>
              <a:ext cx="3185" cy="192"/>
            </a:xfrm>
            <a:prstGeom prst="rect">
              <a:avLst/>
            </a:prstGeom>
            <a:noFill/>
            <a:ln w="9525">
              <a:noFill/>
            </a:ln>
          </p:spPr>
          <p:txBody>
            <a:bodyPr wrap="none" anchor="t">
              <a:spAutoFit/>
            </a:bodyPr>
            <a:lstStyle/>
            <a:p>
              <a:r>
                <a:rPr lang="en-US" altLang="zh-CN" sz="1400" dirty="0">
                  <a:latin typeface="Arial" panose="020B0604020202020204" pitchFamily="34" charset="0"/>
                  <a:ea typeface="楷体_GB2312" pitchFamily="49" charset="-122"/>
                </a:rPr>
                <a:t>1 2                      10                       19   21        25  27            43</a:t>
              </a:r>
              <a:endParaRPr lang="en-US" altLang="zh-CN" sz="1400" dirty="0">
                <a:latin typeface="Arial" panose="020B0604020202020204" pitchFamily="34" charset="0"/>
                <a:ea typeface="楷体_GB2312" pitchFamily="49" charset="-122"/>
              </a:endParaRPr>
            </a:p>
          </p:txBody>
        </p:sp>
        <p:sp>
          <p:nvSpPr>
            <p:cNvPr id="85" name="Text Box 97"/>
            <p:cNvSpPr txBox="1"/>
            <p:nvPr/>
          </p:nvSpPr>
          <p:spPr>
            <a:xfrm>
              <a:off x="796" y="2765"/>
              <a:ext cx="2930" cy="192"/>
            </a:xfrm>
            <a:prstGeom prst="rect">
              <a:avLst/>
            </a:prstGeom>
            <a:noFill/>
            <a:ln w="9525">
              <a:noFill/>
            </a:ln>
          </p:spPr>
          <p:txBody>
            <a:bodyPr wrap="none" anchor="t">
              <a:spAutoFit/>
            </a:bodyPr>
            <a:lstStyle/>
            <a:p>
              <a:r>
                <a:rPr lang="en-US" altLang="zh-CN" sz="1400" dirty="0">
                  <a:latin typeface="Arial" panose="020B0604020202020204" pitchFamily="34" charset="0"/>
                  <a:ea typeface="楷体_GB2312" pitchFamily="49" charset="-122"/>
                </a:rPr>
                <a:t>S#(Var)           Sname(Var)       Ssex   Sage  D#  Sclass</a:t>
              </a:r>
              <a:endParaRPr lang="en-US" altLang="zh-CN" sz="1400" dirty="0">
                <a:latin typeface="Arial" panose="020B0604020202020204" pitchFamily="34" charset="0"/>
                <a:ea typeface="楷体_GB2312" pitchFamily="49" charset="-122"/>
              </a:endParaRPr>
            </a:p>
          </p:txBody>
        </p:sp>
        <p:sp>
          <p:nvSpPr>
            <p:cNvPr id="86" name="Line 98"/>
            <p:cNvSpPr/>
            <p:nvPr/>
          </p:nvSpPr>
          <p:spPr>
            <a:xfrm>
              <a:off x="884" y="2924"/>
              <a:ext cx="0" cy="174"/>
            </a:xfrm>
            <a:prstGeom prst="line">
              <a:avLst/>
            </a:prstGeom>
            <a:ln w="9525" cap="flat" cmpd="sng">
              <a:solidFill>
                <a:schemeClr val="accent2"/>
              </a:solidFill>
              <a:prstDash val="solid"/>
              <a:round/>
              <a:headEnd type="none" w="med" len="med"/>
              <a:tailEnd type="triangle" w="med" len="med"/>
            </a:ln>
          </p:spPr>
        </p:sp>
        <p:sp>
          <p:nvSpPr>
            <p:cNvPr id="87" name="Line 99"/>
            <p:cNvSpPr/>
            <p:nvPr/>
          </p:nvSpPr>
          <p:spPr>
            <a:xfrm>
              <a:off x="1763" y="2903"/>
              <a:ext cx="0" cy="174"/>
            </a:xfrm>
            <a:prstGeom prst="line">
              <a:avLst/>
            </a:prstGeom>
            <a:ln w="9525" cap="flat" cmpd="sng">
              <a:solidFill>
                <a:schemeClr val="accent2"/>
              </a:solidFill>
              <a:prstDash val="solid"/>
              <a:round/>
              <a:headEnd type="none" w="med" len="med"/>
              <a:tailEnd type="triangle" w="med" len="med"/>
            </a:ln>
          </p:spPr>
        </p:sp>
        <p:sp>
          <p:nvSpPr>
            <p:cNvPr id="88" name="Line 100"/>
            <p:cNvSpPr/>
            <p:nvPr/>
          </p:nvSpPr>
          <p:spPr>
            <a:xfrm>
              <a:off x="2606" y="2927"/>
              <a:ext cx="0" cy="174"/>
            </a:xfrm>
            <a:prstGeom prst="line">
              <a:avLst/>
            </a:prstGeom>
            <a:ln w="9525" cap="flat" cmpd="sng">
              <a:solidFill>
                <a:schemeClr val="accent2"/>
              </a:solidFill>
              <a:prstDash val="solid"/>
              <a:round/>
              <a:headEnd type="none" w="med" len="med"/>
              <a:tailEnd type="triangle" w="med" len="med"/>
            </a:ln>
          </p:spPr>
        </p:sp>
        <p:sp>
          <p:nvSpPr>
            <p:cNvPr id="89" name="Line 101"/>
            <p:cNvSpPr/>
            <p:nvPr/>
          </p:nvSpPr>
          <p:spPr>
            <a:xfrm>
              <a:off x="3188" y="2915"/>
              <a:ext cx="0" cy="174"/>
            </a:xfrm>
            <a:prstGeom prst="line">
              <a:avLst/>
            </a:prstGeom>
            <a:ln w="9525" cap="flat" cmpd="sng">
              <a:solidFill>
                <a:schemeClr val="accent2"/>
              </a:solidFill>
              <a:prstDash val="solid"/>
              <a:round/>
              <a:headEnd type="none" w="med" len="med"/>
              <a:tailEnd type="triangle" w="med" len="med"/>
            </a:ln>
          </p:spPr>
        </p:sp>
        <p:sp>
          <p:nvSpPr>
            <p:cNvPr id="90" name="Line 102"/>
            <p:cNvSpPr/>
            <p:nvPr/>
          </p:nvSpPr>
          <p:spPr>
            <a:xfrm>
              <a:off x="2798" y="2912"/>
              <a:ext cx="0" cy="174"/>
            </a:xfrm>
            <a:prstGeom prst="line">
              <a:avLst/>
            </a:prstGeom>
            <a:ln w="9525" cap="flat" cmpd="sng">
              <a:solidFill>
                <a:schemeClr val="accent2"/>
              </a:solidFill>
              <a:prstDash val="solid"/>
              <a:round/>
              <a:headEnd type="none" w="med" len="med"/>
              <a:tailEnd type="triangle" w="med" len="med"/>
            </a:ln>
          </p:spPr>
        </p:sp>
        <p:sp>
          <p:nvSpPr>
            <p:cNvPr id="91" name="Line 103"/>
            <p:cNvSpPr/>
            <p:nvPr/>
          </p:nvSpPr>
          <p:spPr>
            <a:xfrm>
              <a:off x="3365" y="2912"/>
              <a:ext cx="0" cy="174"/>
            </a:xfrm>
            <a:prstGeom prst="line">
              <a:avLst/>
            </a:prstGeom>
            <a:ln w="9525" cap="flat" cmpd="sng">
              <a:solidFill>
                <a:schemeClr val="accent2"/>
              </a:solidFill>
              <a:prstDash val="solid"/>
              <a:round/>
              <a:headEnd type="none" w="med" len="med"/>
              <a:tailEnd type="triangle" w="med" len="med"/>
            </a:ln>
          </p:spPr>
        </p:sp>
        <p:sp>
          <p:nvSpPr>
            <p:cNvPr id="92" name="Line 104"/>
            <p:cNvSpPr/>
            <p:nvPr/>
          </p:nvSpPr>
          <p:spPr>
            <a:xfrm>
              <a:off x="3814" y="3084"/>
              <a:ext cx="0" cy="320"/>
            </a:xfrm>
            <a:prstGeom prst="line">
              <a:avLst/>
            </a:prstGeom>
            <a:ln w="9525" cap="flat" cmpd="sng">
              <a:solidFill>
                <a:schemeClr val="accent2"/>
              </a:solidFill>
              <a:prstDash val="solid"/>
              <a:round/>
              <a:headEnd type="none" w="med" len="med"/>
              <a:tailEnd type="none" w="med" len="med"/>
            </a:ln>
          </p:spPr>
        </p:sp>
        <p:sp>
          <p:nvSpPr>
            <p:cNvPr id="93" name="Rectangle 105"/>
            <p:cNvSpPr/>
            <p:nvPr/>
          </p:nvSpPr>
          <p:spPr>
            <a:xfrm>
              <a:off x="1602" y="3081"/>
              <a:ext cx="100" cy="320"/>
            </a:xfrm>
            <a:prstGeom prst="rect">
              <a:avLst/>
            </a:prstGeom>
            <a:solidFill>
              <a:schemeClr val="tx2"/>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94" name="Rectangle 106"/>
            <p:cNvSpPr/>
            <p:nvPr/>
          </p:nvSpPr>
          <p:spPr>
            <a:xfrm>
              <a:off x="2473" y="3081"/>
              <a:ext cx="92" cy="320"/>
            </a:xfrm>
            <a:prstGeom prst="rect">
              <a:avLst/>
            </a:prstGeom>
            <a:solidFill>
              <a:schemeClr val="tx2"/>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grpSp>
      <p:pic>
        <p:nvPicPr>
          <p:cNvPr id="95" name="Picture 112"/>
          <p:cNvPicPr>
            <a:picLocks noChangeAspect="1"/>
          </p:cNvPicPr>
          <p:nvPr/>
        </p:nvPicPr>
        <p:blipFill>
          <a:blip r:embed="rId1">
            <a:clrChange>
              <a:clrFrom>
                <a:srgbClr val="FEFEFE"/>
              </a:clrFrom>
              <a:clrTo>
                <a:srgbClr val="FEFEFE">
                  <a:alpha val="0"/>
                </a:srgbClr>
              </a:clrTo>
            </a:clrChange>
          </a:blip>
          <a:stretch>
            <a:fillRect/>
          </a:stretch>
        </p:blipFill>
        <p:spPr>
          <a:xfrm>
            <a:off x="6862869" y="4370533"/>
            <a:ext cx="4976413" cy="1369868"/>
          </a:xfrm>
          <a:prstGeom prst="rect">
            <a:avLst/>
          </a:prstGeom>
          <a:noFill/>
          <a:ln w="9525">
            <a:noFill/>
          </a:ln>
        </p:spPr>
      </p:pic>
      <p:grpSp>
        <p:nvGrpSpPr>
          <p:cNvPr id="96" name="Group 113"/>
          <p:cNvGrpSpPr/>
          <p:nvPr/>
        </p:nvGrpSpPr>
        <p:grpSpPr>
          <a:xfrm>
            <a:off x="7513205" y="1995632"/>
            <a:ext cx="3624695" cy="1204768"/>
            <a:chOff x="157" y="2974"/>
            <a:chExt cx="1629" cy="1159"/>
          </a:xfrm>
        </p:grpSpPr>
        <p:sp>
          <p:nvSpPr>
            <p:cNvPr id="97" name="AutoShape 39"/>
            <p:cNvSpPr/>
            <p:nvPr/>
          </p:nvSpPr>
          <p:spPr>
            <a:xfrm>
              <a:off x="310" y="3053"/>
              <a:ext cx="1316" cy="983"/>
            </a:xfrm>
            <a:prstGeom prst="ellipse">
              <a:avLst/>
            </a:prstGeom>
            <a:solidFill>
              <a:srgbClr val="B90000"/>
            </a:solidFill>
            <a:ln w="9525">
              <a:noFill/>
            </a:ln>
          </p:spPr>
          <p:txBody>
            <a:bodyPr wrap="none" anchor="ctr"/>
            <a:lstStyle/>
            <a:p>
              <a:pPr algn="ctr"/>
              <a:endParaRPr lang="zh-CN" altLang="zh-CN" dirty="0">
                <a:solidFill>
                  <a:schemeClr val="accent2"/>
                </a:solidFill>
                <a:latin typeface="Arial" panose="020B0604020202020204" pitchFamily="34" charset="0"/>
                <a:ea typeface="微软雅黑" panose="020B0503020204020204" pitchFamily="34" charset="-122"/>
              </a:endParaRPr>
            </a:p>
          </p:txBody>
        </p:sp>
        <p:sp>
          <p:nvSpPr>
            <p:cNvPr id="98" name="Oval 40"/>
            <p:cNvSpPr/>
            <p:nvPr/>
          </p:nvSpPr>
          <p:spPr>
            <a:xfrm>
              <a:off x="370" y="3099"/>
              <a:ext cx="1206" cy="881"/>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chemeClr val="accent2"/>
                </a:solidFill>
                <a:latin typeface="Arial" panose="020B0604020202020204" pitchFamily="34" charset="0"/>
                <a:ea typeface="微软雅黑" panose="020B0503020204020204" pitchFamily="34" charset="-122"/>
              </a:endParaRPr>
            </a:p>
          </p:txBody>
        </p:sp>
        <p:sp>
          <p:nvSpPr>
            <p:cNvPr id="99" name="Text Box 84"/>
            <p:cNvSpPr/>
            <p:nvPr/>
          </p:nvSpPr>
          <p:spPr>
            <a:xfrm>
              <a:off x="157" y="2974"/>
              <a:ext cx="1629" cy="1159"/>
            </a:xfrm>
            <a:prstGeom prst="ellipse">
              <a:avLst/>
            </a:prstGeom>
            <a:noFill/>
            <a:ln w="9525">
              <a:noFill/>
            </a:ln>
          </p:spPr>
          <p:txBody>
            <a:bodyPr anchor="t">
              <a:spAutoFit/>
            </a:bodyPr>
            <a:lstStyle/>
            <a:p>
              <a:pPr algn="ctr">
                <a:buChar char="•"/>
              </a:pPr>
              <a:r>
                <a:rPr lang="zh-CN" altLang="zh-CN" dirty="0">
                  <a:solidFill>
                    <a:schemeClr val="accent2"/>
                  </a:solidFill>
                  <a:latin typeface="Arial" panose="020B0604020202020204" pitchFamily="34" charset="0"/>
                  <a:ea typeface="微软雅黑" panose="020B0503020204020204" pitchFamily="34" charset="-122"/>
                </a:rPr>
                <a:t>按长度区分记录</a:t>
              </a:r>
              <a:endParaRPr lang="zh-CN" altLang="en-US" dirty="0">
                <a:solidFill>
                  <a:schemeClr val="accent2"/>
                </a:solidFill>
                <a:latin typeface="Arial" panose="020B0604020202020204" pitchFamily="34" charset="0"/>
                <a:ea typeface="微软雅黑" panose="020B0503020204020204" pitchFamily="34" charset="-122"/>
              </a:endParaRPr>
            </a:p>
            <a:p>
              <a:pPr algn="ctr">
                <a:buChar char="•"/>
              </a:pPr>
              <a:r>
                <a:rPr lang="zh-CN" altLang="zh-CN" dirty="0">
                  <a:solidFill>
                    <a:schemeClr val="accent2"/>
                  </a:solidFill>
                  <a:latin typeface="Arial" panose="020B0604020202020204" pitchFamily="34" charset="0"/>
                  <a:ea typeface="微软雅黑" panose="020B0503020204020204" pitchFamily="34" charset="-122"/>
                </a:rPr>
                <a:t>按指针</a:t>
              </a:r>
              <a:r>
                <a:rPr lang="en-US" altLang="zh-CN" dirty="0">
                  <a:solidFill>
                    <a:schemeClr val="accent2"/>
                  </a:solidFill>
                  <a:latin typeface="Arial" panose="020B0604020202020204" pitchFamily="34" charset="0"/>
                  <a:ea typeface="微软雅黑" panose="020B0503020204020204" pitchFamily="34" charset="-122"/>
                </a:rPr>
                <a:t>(</a:t>
              </a:r>
              <a:r>
                <a:rPr lang="zh-CN" altLang="en-US" dirty="0">
                  <a:solidFill>
                    <a:schemeClr val="accent2"/>
                  </a:solidFill>
                  <a:latin typeface="Arial" panose="020B0604020202020204" pitchFamily="34" charset="0"/>
                  <a:ea typeface="微软雅黑" panose="020B0503020204020204" pitchFamily="34" charset="-122"/>
                </a:rPr>
                <a:t>或标志</a:t>
              </a:r>
              <a:r>
                <a:rPr lang="en-US" altLang="zh-CN" dirty="0">
                  <a:solidFill>
                    <a:schemeClr val="accent2"/>
                  </a:solidFill>
                  <a:latin typeface="Arial" panose="020B0604020202020204" pitchFamily="34" charset="0"/>
                  <a:ea typeface="微软雅黑" panose="020B0503020204020204" pitchFamily="34" charset="-122"/>
                </a:rPr>
                <a:t>)</a:t>
              </a:r>
              <a:r>
                <a:rPr lang="zh-CN" altLang="en-US" dirty="0">
                  <a:solidFill>
                    <a:schemeClr val="accent2"/>
                  </a:solidFill>
                  <a:latin typeface="Arial" panose="020B0604020202020204" pitchFamily="34" charset="0"/>
                  <a:ea typeface="微软雅黑" panose="020B0503020204020204" pitchFamily="34" charset="-122"/>
                </a:rPr>
                <a:t>区分记录</a:t>
              </a:r>
              <a:endParaRPr lang="zh-CN" altLang="en-US" dirty="0">
                <a:solidFill>
                  <a:schemeClr val="accent2"/>
                </a:solidFill>
                <a:latin typeface="Arial" panose="020B0604020202020204" pitchFamily="34" charset="0"/>
                <a:ea typeface="微软雅黑" panose="020B0503020204020204" pitchFamily="34" charset="-122"/>
              </a:endParaRPr>
            </a:p>
          </p:txBody>
        </p:sp>
      </p:grpSp>
      <p:grpSp>
        <p:nvGrpSpPr>
          <p:cNvPr id="100" name="Group 117"/>
          <p:cNvGrpSpPr/>
          <p:nvPr/>
        </p:nvGrpSpPr>
        <p:grpSpPr>
          <a:xfrm>
            <a:off x="8119630" y="3230945"/>
            <a:ext cx="2459470" cy="665017"/>
            <a:chOff x="155" y="2964"/>
            <a:chExt cx="1631" cy="1244"/>
          </a:xfrm>
        </p:grpSpPr>
        <p:sp>
          <p:nvSpPr>
            <p:cNvPr id="101" name="AutoShape 39"/>
            <p:cNvSpPr/>
            <p:nvPr/>
          </p:nvSpPr>
          <p:spPr>
            <a:xfrm>
              <a:off x="310" y="3053"/>
              <a:ext cx="1316" cy="983"/>
            </a:xfrm>
            <a:prstGeom prst="ellipse">
              <a:avLst/>
            </a:prstGeom>
            <a:solidFill>
              <a:srgbClr val="B90000"/>
            </a:solidFill>
            <a:ln w="9525">
              <a:noFill/>
            </a:ln>
          </p:spPr>
          <p:txBody>
            <a:bodyPr wrap="none" anchor="ctr"/>
            <a:lstStyle/>
            <a:p>
              <a:pPr algn="ctr"/>
              <a:endParaRPr lang="zh-CN" altLang="zh-CN" dirty="0">
                <a:solidFill>
                  <a:schemeClr val="accent2"/>
                </a:solidFill>
                <a:latin typeface="Arial" panose="020B0604020202020204" pitchFamily="34" charset="0"/>
                <a:ea typeface="微软雅黑" panose="020B0503020204020204" pitchFamily="34" charset="-122"/>
              </a:endParaRPr>
            </a:p>
          </p:txBody>
        </p:sp>
        <p:sp>
          <p:nvSpPr>
            <p:cNvPr id="102" name="Oval 40"/>
            <p:cNvSpPr/>
            <p:nvPr/>
          </p:nvSpPr>
          <p:spPr>
            <a:xfrm>
              <a:off x="370" y="3099"/>
              <a:ext cx="1206" cy="881"/>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chemeClr val="accent2"/>
                </a:solidFill>
                <a:latin typeface="Arial" panose="020B0604020202020204" pitchFamily="34" charset="0"/>
                <a:ea typeface="微软雅黑" panose="020B0503020204020204" pitchFamily="34" charset="-122"/>
              </a:endParaRPr>
            </a:p>
          </p:txBody>
        </p:sp>
        <p:sp>
          <p:nvSpPr>
            <p:cNvPr id="103" name="Text Box 84"/>
            <p:cNvSpPr/>
            <p:nvPr/>
          </p:nvSpPr>
          <p:spPr>
            <a:xfrm>
              <a:off x="155" y="2964"/>
              <a:ext cx="1631" cy="1244"/>
            </a:xfrm>
            <a:prstGeom prst="ellipse">
              <a:avLst/>
            </a:prstGeom>
            <a:noFill/>
            <a:ln w="9525">
              <a:noFill/>
            </a:ln>
          </p:spPr>
          <p:txBody>
            <a:bodyPr anchor="t">
              <a:spAutoFit/>
            </a:bodyPr>
            <a:lstStyle/>
            <a:p>
              <a:pPr algn="ctr">
                <a:buChar char="•"/>
              </a:pPr>
              <a:r>
                <a:rPr lang="zh-CN" altLang="zh-CN" dirty="0">
                  <a:solidFill>
                    <a:schemeClr val="accent2"/>
                  </a:solidFill>
                  <a:latin typeface="Arial" panose="020B0604020202020204" pitchFamily="34" charset="0"/>
                  <a:ea typeface="微软雅黑" panose="020B0503020204020204" pitchFamily="34" charset="-122"/>
                </a:rPr>
                <a:t>块头如何设计</a:t>
              </a:r>
              <a:endParaRPr lang="zh-CN" altLang="en-US" dirty="0">
                <a:solidFill>
                  <a:schemeClr val="accent2"/>
                </a:solidFill>
                <a:latin typeface="Arial" panose="020B0604020202020204" pitchFamily="34" charset="0"/>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2"/>
                                        </p:tgtEl>
                                        <p:attrNameLst>
                                          <p:attrName>style.visibility</p:attrName>
                                        </p:attrNameLst>
                                      </p:cBhvr>
                                      <p:to>
                                        <p:strVal val="visible"/>
                                      </p:to>
                                    </p:set>
                                    <p:anim calcmode="lin" valueType="num">
                                      <p:cBhvr additive="base">
                                        <p:cTn id="13" dur="500" fill="hold"/>
                                        <p:tgtEl>
                                          <p:spTgt spid="52"/>
                                        </p:tgtEl>
                                        <p:attrNameLst>
                                          <p:attrName>ppt_x</p:attrName>
                                        </p:attrNameLst>
                                      </p:cBhvr>
                                      <p:tavLst>
                                        <p:tav tm="0">
                                          <p:val>
                                            <p:strVal val="#ppt_x"/>
                                          </p:val>
                                        </p:tav>
                                        <p:tav tm="100000">
                                          <p:val>
                                            <p:strVal val="#ppt_x"/>
                                          </p:val>
                                        </p:tav>
                                      </p:tavLst>
                                    </p:anim>
                                    <p:anim calcmode="lin" valueType="num">
                                      <p:cBhvr additive="base">
                                        <p:cTn id="14"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6"/>
                                        </p:tgtEl>
                                        <p:attrNameLst>
                                          <p:attrName>style.visibility</p:attrName>
                                        </p:attrNameLst>
                                      </p:cBhvr>
                                      <p:to>
                                        <p:strVal val="visible"/>
                                      </p:to>
                                    </p:set>
                                    <p:anim calcmode="lin" valueType="num">
                                      <p:cBhvr additive="base">
                                        <p:cTn id="19" dur="500" fill="hold"/>
                                        <p:tgtEl>
                                          <p:spTgt spid="96"/>
                                        </p:tgtEl>
                                        <p:attrNameLst>
                                          <p:attrName>ppt_x</p:attrName>
                                        </p:attrNameLst>
                                      </p:cBhvr>
                                      <p:tavLst>
                                        <p:tav tm="0">
                                          <p:val>
                                            <p:strVal val="#ppt_x"/>
                                          </p:val>
                                        </p:tav>
                                        <p:tav tm="100000">
                                          <p:val>
                                            <p:strVal val="#ppt_x"/>
                                          </p:val>
                                        </p:tav>
                                      </p:tavLst>
                                    </p:anim>
                                    <p:anim calcmode="lin" valueType="num">
                                      <p:cBhvr additive="base">
                                        <p:cTn id="20"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5"/>
                                        </p:tgtEl>
                                        <p:attrNameLst>
                                          <p:attrName>style.visibility</p:attrName>
                                        </p:attrNameLst>
                                      </p:cBhvr>
                                      <p:to>
                                        <p:strVal val="visible"/>
                                      </p:to>
                                    </p:set>
                                    <p:anim calcmode="lin" valueType="num">
                                      <p:cBhvr additive="base">
                                        <p:cTn id="25" dur="500" fill="hold"/>
                                        <p:tgtEl>
                                          <p:spTgt spid="95"/>
                                        </p:tgtEl>
                                        <p:attrNameLst>
                                          <p:attrName>ppt_x</p:attrName>
                                        </p:attrNameLst>
                                      </p:cBhvr>
                                      <p:tavLst>
                                        <p:tav tm="0">
                                          <p:val>
                                            <p:strVal val="#ppt_x"/>
                                          </p:val>
                                        </p:tav>
                                        <p:tav tm="100000">
                                          <p:val>
                                            <p:strVal val="#ppt_x"/>
                                          </p:val>
                                        </p:tav>
                                      </p:tavLst>
                                    </p:anim>
                                    <p:anim calcmode="lin" valueType="num">
                                      <p:cBhvr additive="base">
                                        <p:cTn id="26"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0"/>
                                        </p:tgtEl>
                                        <p:attrNameLst>
                                          <p:attrName>style.visibility</p:attrName>
                                        </p:attrNameLst>
                                      </p:cBhvr>
                                      <p:to>
                                        <p:strVal val="visible"/>
                                      </p:to>
                                    </p:set>
                                    <p:anim calcmode="lin" valueType="num">
                                      <p:cBhvr additive="base">
                                        <p:cTn id="31" dur="500" fill="hold"/>
                                        <p:tgtEl>
                                          <p:spTgt spid="100"/>
                                        </p:tgtEl>
                                        <p:attrNameLst>
                                          <p:attrName>ppt_x</p:attrName>
                                        </p:attrNameLst>
                                      </p:cBhvr>
                                      <p:tavLst>
                                        <p:tav tm="0">
                                          <p:val>
                                            <p:strVal val="#ppt_x"/>
                                          </p:val>
                                        </p:tav>
                                        <p:tav tm="100000">
                                          <p:val>
                                            <p:strVal val="#ppt_x"/>
                                          </p:val>
                                        </p:tav>
                                      </p:tavLst>
                                    </p:anim>
                                    <p:anim calcmode="lin" valueType="num">
                                      <p:cBhvr additive="base">
                                        <p:cTn id="32"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基础回顾-数据库之表-记录与磁盘块的映射</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数据库中记录的区分及记录内属性值的区分</a:t>
            </a:r>
            <a:endParaRPr lang="en-US" altLang="zh-CN" dirty="0">
              <a:latin typeface="微软雅黑" panose="020B0503020204020204" pitchFamily="34" charset="-122"/>
              <a:ea typeface="微软雅黑" panose="020B0503020204020204" pitchFamily="34" charset="-122"/>
            </a:endParaRPr>
          </a:p>
          <a:p>
            <a:pPr>
              <a:buFont typeface="Wingdings" panose="05000000000000000000" pitchFamily="2" charset="2"/>
              <a:buChar char="l"/>
            </a:pPr>
            <a:r>
              <a:rPr lang="zh-CN" altLang="en-US" sz="2000" b="0" dirty="0"/>
              <a:t>数据库记录在磁盘上的存储</a:t>
            </a:r>
            <a:endParaRPr lang="zh-CN" altLang="en-US" sz="2000" b="0" dirty="0"/>
          </a:p>
          <a:p>
            <a:pPr marL="0" indent="0">
              <a:buNone/>
            </a:pPr>
            <a:r>
              <a:rPr lang="zh-CN" altLang="en-US" sz="2000" b="0" dirty="0"/>
              <a:t>定长记录，还是变长记录</a:t>
            </a:r>
            <a:r>
              <a:rPr lang="en-US" altLang="zh-CN" sz="2000" b="0" dirty="0"/>
              <a:t>(</a:t>
            </a:r>
            <a:r>
              <a:rPr lang="zh-CN" altLang="en-US" sz="2000" b="0" dirty="0"/>
              <a:t>靠分隔符区分开始与结束</a:t>
            </a:r>
            <a:r>
              <a:rPr lang="en-US" altLang="zh-CN" sz="2000" b="0" dirty="0"/>
              <a:t>)</a:t>
            </a:r>
            <a:endParaRPr lang="en-US" altLang="zh-CN" b="0" dirty="0"/>
          </a:p>
          <a:p>
            <a:pPr marL="0" indent="0">
              <a:lnSpc>
                <a:spcPct val="130000"/>
              </a:lnSpc>
              <a:buNone/>
            </a:pPr>
            <a:endParaRPr lang="zh-CN" altLang="en-US"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2000" dirty="0">
              <a:latin typeface="微软雅黑" panose="020B0503020204020204" pitchFamily="34" charset="-122"/>
              <a:ea typeface="微软雅黑" panose="020B0503020204020204" pitchFamily="34" charset="-122"/>
            </a:endParaRPr>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pic>
        <p:nvPicPr>
          <p:cNvPr id="2" name="图片 1"/>
          <p:cNvPicPr>
            <a:picLocks noChangeAspect="1"/>
          </p:cNvPicPr>
          <p:nvPr/>
        </p:nvPicPr>
        <p:blipFill>
          <a:blip r:embed="rId1"/>
          <a:stretch>
            <a:fillRect/>
          </a:stretch>
        </p:blipFill>
        <p:spPr>
          <a:xfrm>
            <a:off x="2189162" y="3068637"/>
            <a:ext cx="7115175" cy="2524125"/>
          </a:xfrm>
          <a:prstGeom prst="rect">
            <a:avLst/>
          </a:prstGeom>
        </p:spPr>
      </p:pic>
      <p:sp>
        <p:nvSpPr>
          <p:cNvPr id="6" name="文本框 5"/>
          <p:cNvSpPr txBox="1"/>
          <p:nvPr/>
        </p:nvSpPr>
        <p:spPr>
          <a:xfrm>
            <a:off x="3806825" y="5544135"/>
            <a:ext cx="4972050" cy="369332"/>
          </a:xfrm>
          <a:prstGeom prst="rect">
            <a:avLst/>
          </a:prstGeom>
          <a:noFill/>
        </p:spPr>
        <p:txBody>
          <a:bodyPr wrap="square">
            <a:spAutoFit/>
          </a:bodyPr>
          <a:lstStyle/>
          <a:p>
            <a:r>
              <a:rPr lang="en-US" altLang="zh-CN" b="1" dirty="0" err="1"/>
              <a:t>openGauss</a:t>
            </a:r>
            <a:r>
              <a:rPr lang="zh-CN" altLang="en-US" b="1" dirty="0"/>
              <a:t>中采用的</a:t>
            </a:r>
            <a:r>
              <a:rPr lang="en-US" altLang="zh-CN" b="1" dirty="0" err="1"/>
              <a:t>astore</a:t>
            </a:r>
            <a:r>
              <a:rPr lang="zh-CN" altLang="en-US" b="1" dirty="0"/>
              <a:t>堆表页面结构示意图</a:t>
            </a:r>
            <a:endParaRPr lang="zh-CN" altLang="en-US"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基础回顾-数据库之表-记录与磁盘块的映射</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数据库中的记录 </a:t>
            </a:r>
            <a:r>
              <a:rPr lang="en-US" altLang="zh-CN" dirty="0">
                <a:latin typeface="微软雅黑" panose="020B0503020204020204" pitchFamily="34" charset="-122"/>
                <a:ea typeface="微软雅黑" panose="020B0503020204020204" pitchFamily="34" charset="-122"/>
              </a:rPr>
              <a:t>vs. </a:t>
            </a:r>
            <a:r>
              <a:rPr lang="zh-CN" altLang="en-US" dirty="0">
                <a:latin typeface="微软雅黑" panose="020B0503020204020204" pitchFamily="34" charset="-122"/>
                <a:ea typeface="微软雅黑" panose="020B0503020204020204" pitchFamily="34" charset="-122"/>
              </a:rPr>
              <a:t>磁盘块</a:t>
            </a:r>
            <a:endParaRPr lang="en-US" altLang="zh-CN" dirty="0">
              <a:latin typeface="微软雅黑" panose="020B0503020204020204" pitchFamily="34" charset="-122"/>
              <a:ea typeface="微软雅黑" panose="020B0503020204020204" pitchFamily="34" charset="-122"/>
            </a:endParaRPr>
          </a:p>
          <a:p>
            <a:pPr>
              <a:buFont typeface="Wingdings" panose="05000000000000000000" pitchFamily="2" charset="2"/>
              <a:buChar char="l"/>
            </a:pPr>
            <a:r>
              <a:rPr lang="zh-CN" altLang="en-US" sz="2000" b="0" dirty="0"/>
              <a:t>记录是非跨块存储，还是跨块存储</a:t>
            </a:r>
            <a:r>
              <a:rPr lang="en-US" altLang="zh-CN" sz="2000" b="0" dirty="0"/>
              <a:t>(</a:t>
            </a:r>
            <a:r>
              <a:rPr lang="zh-CN" altLang="en-US" sz="2000" b="0" dirty="0"/>
              <a:t>靠指针连接</a:t>
            </a:r>
            <a:r>
              <a:rPr lang="en-US" altLang="zh-CN" sz="2000" b="0" dirty="0"/>
              <a:t>)</a:t>
            </a:r>
            <a:endParaRPr lang="zh-CN" altLang="en-US" sz="3200" b="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2000" dirty="0">
              <a:latin typeface="微软雅黑" panose="020B0503020204020204" pitchFamily="34" charset="-122"/>
              <a:ea typeface="微软雅黑" panose="020B0503020204020204" pitchFamily="34" charset="-122"/>
            </a:endParaRPr>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grpSp>
        <p:nvGrpSpPr>
          <p:cNvPr id="7" name="Group 126"/>
          <p:cNvGrpSpPr/>
          <p:nvPr/>
        </p:nvGrpSpPr>
        <p:grpSpPr>
          <a:xfrm>
            <a:off x="1336675" y="2581272"/>
            <a:ext cx="7142163" cy="1076325"/>
            <a:chOff x="495" y="1892"/>
            <a:chExt cx="4499" cy="678"/>
          </a:xfrm>
        </p:grpSpPr>
        <p:sp>
          <p:nvSpPr>
            <p:cNvPr id="8" name="Rectangle 90"/>
            <p:cNvSpPr/>
            <p:nvPr/>
          </p:nvSpPr>
          <p:spPr>
            <a:xfrm>
              <a:off x="495" y="2250"/>
              <a:ext cx="4499" cy="320"/>
            </a:xfrm>
            <a:prstGeom prst="rect">
              <a:avLst/>
            </a:prstGeom>
            <a:solidFill>
              <a:srgbClr val="FFFF99"/>
            </a:solid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9" name="Rectangle 91"/>
            <p:cNvSpPr/>
            <p:nvPr/>
          </p:nvSpPr>
          <p:spPr>
            <a:xfrm>
              <a:off x="495" y="1896"/>
              <a:ext cx="4499" cy="320"/>
            </a:xfrm>
            <a:prstGeom prst="rect">
              <a:avLst/>
            </a:prstGeom>
            <a:solidFill>
              <a:srgbClr val="FFFF99"/>
            </a:solid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0" name="Line 92"/>
            <p:cNvSpPr/>
            <p:nvPr/>
          </p:nvSpPr>
          <p:spPr>
            <a:xfrm>
              <a:off x="1778" y="1892"/>
              <a:ext cx="0" cy="320"/>
            </a:xfrm>
            <a:prstGeom prst="line">
              <a:avLst/>
            </a:prstGeom>
            <a:ln w="9525" cap="flat" cmpd="sng">
              <a:solidFill>
                <a:schemeClr val="accent2"/>
              </a:solidFill>
              <a:prstDash val="solid"/>
              <a:round/>
              <a:headEnd type="none" w="med" len="med"/>
              <a:tailEnd type="none" w="med" len="med"/>
            </a:ln>
          </p:spPr>
        </p:sp>
        <p:sp>
          <p:nvSpPr>
            <p:cNvPr id="11" name="Line 93"/>
            <p:cNvSpPr/>
            <p:nvPr/>
          </p:nvSpPr>
          <p:spPr>
            <a:xfrm>
              <a:off x="3061" y="1892"/>
              <a:ext cx="0" cy="320"/>
            </a:xfrm>
            <a:prstGeom prst="line">
              <a:avLst/>
            </a:prstGeom>
            <a:ln w="9525" cap="flat" cmpd="sng">
              <a:solidFill>
                <a:schemeClr val="accent2"/>
              </a:solidFill>
              <a:prstDash val="solid"/>
              <a:round/>
              <a:headEnd type="none" w="med" len="med"/>
              <a:tailEnd type="none" w="med" len="med"/>
            </a:ln>
          </p:spPr>
        </p:sp>
        <p:sp>
          <p:nvSpPr>
            <p:cNvPr id="12" name="Line 94"/>
            <p:cNvSpPr/>
            <p:nvPr/>
          </p:nvSpPr>
          <p:spPr>
            <a:xfrm>
              <a:off x="4344" y="1892"/>
              <a:ext cx="0" cy="320"/>
            </a:xfrm>
            <a:prstGeom prst="line">
              <a:avLst/>
            </a:prstGeom>
            <a:ln w="9525" cap="flat" cmpd="sng">
              <a:solidFill>
                <a:schemeClr val="accent2"/>
              </a:solidFill>
              <a:prstDash val="solid"/>
              <a:round/>
              <a:headEnd type="none" w="med" len="med"/>
              <a:tailEnd type="none" w="med" len="med"/>
            </a:ln>
          </p:spPr>
        </p:sp>
        <p:sp>
          <p:nvSpPr>
            <p:cNvPr id="13" name="Line 96"/>
            <p:cNvSpPr/>
            <p:nvPr/>
          </p:nvSpPr>
          <p:spPr>
            <a:xfrm>
              <a:off x="1631" y="2249"/>
              <a:ext cx="0" cy="320"/>
            </a:xfrm>
            <a:prstGeom prst="line">
              <a:avLst/>
            </a:prstGeom>
            <a:ln w="9525" cap="flat" cmpd="sng">
              <a:solidFill>
                <a:schemeClr val="accent2"/>
              </a:solidFill>
              <a:prstDash val="solid"/>
              <a:round/>
              <a:headEnd type="none" w="med" len="med"/>
              <a:tailEnd type="none" w="med" len="med"/>
            </a:ln>
          </p:spPr>
        </p:sp>
        <p:sp>
          <p:nvSpPr>
            <p:cNvPr id="14" name="Line 97"/>
            <p:cNvSpPr/>
            <p:nvPr/>
          </p:nvSpPr>
          <p:spPr>
            <a:xfrm>
              <a:off x="3166" y="2249"/>
              <a:ext cx="0" cy="320"/>
            </a:xfrm>
            <a:prstGeom prst="line">
              <a:avLst/>
            </a:prstGeom>
            <a:ln w="9525" cap="flat" cmpd="sng">
              <a:solidFill>
                <a:schemeClr val="accent2"/>
              </a:solidFill>
              <a:prstDash val="solid"/>
              <a:round/>
              <a:headEnd type="none" w="med" len="med"/>
              <a:tailEnd type="none" w="med" len="med"/>
            </a:ln>
          </p:spPr>
        </p:sp>
        <p:sp>
          <p:nvSpPr>
            <p:cNvPr id="15" name="Line 98"/>
            <p:cNvSpPr/>
            <p:nvPr/>
          </p:nvSpPr>
          <p:spPr>
            <a:xfrm>
              <a:off x="4557" y="2249"/>
              <a:ext cx="0" cy="320"/>
            </a:xfrm>
            <a:prstGeom prst="line">
              <a:avLst/>
            </a:prstGeom>
            <a:ln w="9525" cap="flat" cmpd="sng">
              <a:solidFill>
                <a:schemeClr val="accent2"/>
              </a:solidFill>
              <a:prstDash val="solid"/>
              <a:round/>
              <a:headEnd type="none" w="med" len="med"/>
              <a:tailEnd type="none" w="med" len="med"/>
            </a:ln>
          </p:spPr>
        </p:sp>
        <p:sp>
          <p:nvSpPr>
            <p:cNvPr id="16" name="Rectangle 100" descr="浅色上对角线"/>
            <p:cNvSpPr/>
            <p:nvPr/>
          </p:nvSpPr>
          <p:spPr>
            <a:xfrm>
              <a:off x="4553" y="2249"/>
              <a:ext cx="439" cy="320"/>
            </a:xfrm>
            <a:prstGeom prst="rect">
              <a:avLst/>
            </a:prstGeom>
            <a:pattFill prst="ltUpDiag">
              <a:fgClr>
                <a:schemeClr val="accent2"/>
              </a:fgClr>
              <a:bgClr>
                <a:schemeClr val="bg1"/>
              </a:bgClr>
            </a:patt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7" name="Rectangle 101" descr="浅色上对角线"/>
            <p:cNvSpPr/>
            <p:nvPr/>
          </p:nvSpPr>
          <p:spPr>
            <a:xfrm>
              <a:off x="4340" y="1895"/>
              <a:ext cx="649" cy="320"/>
            </a:xfrm>
            <a:prstGeom prst="rect">
              <a:avLst/>
            </a:prstGeom>
            <a:pattFill prst="ltUpDiag">
              <a:fgClr>
                <a:schemeClr val="accent2"/>
              </a:fgClr>
              <a:bgClr>
                <a:schemeClr val="bg1"/>
              </a:bgClr>
            </a:patt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8" name="Text Box 102"/>
            <p:cNvSpPr txBox="1"/>
            <p:nvPr/>
          </p:nvSpPr>
          <p:spPr>
            <a:xfrm>
              <a:off x="910" y="1938"/>
              <a:ext cx="3116" cy="250"/>
            </a:xfrm>
            <a:prstGeom prst="rect">
              <a:avLst/>
            </a:prstGeom>
            <a:noFill/>
            <a:ln w="9525">
              <a:noFill/>
            </a:ln>
          </p:spPr>
          <p:txBody>
            <a:bodyPr wrap="none" anchor="t">
              <a:spAutoFit/>
            </a:bodyPr>
            <a:lstStyle/>
            <a:p>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1                      </a:t>
              </a:r>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2                     </a:t>
              </a:r>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3  </a:t>
              </a:r>
              <a:endParaRPr lang="en-US" altLang="zh-CN" sz="2000" dirty="0">
                <a:latin typeface="Times New Roman" panose="02020603050405020304" pitchFamily="18" charset="0"/>
                <a:ea typeface="楷体_GB2312" pitchFamily="49" charset="-122"/>
              </a:endParaRPr>
            </a:p>
          </p:txBody>
        </p:sp>
        <p:sp>
          <p:nvSpPr>
            <p:cNvPr id="19" name="Text Box 103"/>
            <p:cNvSpPr txBox="1"/>
            <p:nvPr/>
          </p:nvSpPr>
          <p:spPr>
            <a:xfrm>
              <a:off x="736" y="2295"/>
              <a:ext cx="3396" cy="250"/>
            </a:xfrm>
            <a:prstGeom prst="rect">
              <a:avLst/>
            </a:prstGeom>
            <a:noFill/>
            <a:ln w="9525">
              <a:noFill/>
            </a:ln>
          </p:spPr>
          <p:txBody>
            <a:bodyPr wrap="none" anchor="t">
              <a:spAutoFit/>
            </a:bodyPr>
            <a:lstStyle/>
            <a:p>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4                         </a:t>
              </a:r>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5                         </a:t>
              </a:r>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6  </a:t>
              </a:r>
              <a:endParaRPr lang="en-US" altLang="zh-CN" sz="2000" dirty="0">
                <a:latin typeface="Times New Roman" panose="02020603050405020304" pitchFamily="18" charset="0"/>
                <a:ea typeface="楷体_GB2312" pitchFamily="49" charset="-122"/>
              </a:endParaRPr>
            </a:p>
          </p:txBody>
        </p:sp>
      </p:grpSp>
      <p:grpSp>
        <p:nvGrpSpPr>
          <p:cNvPr id="20" name="Group 125"/>
          <p:cNvGrpSpPr/>
          <p:nvPr/>
        </p:nvGrpSpPr>
        <p:grpSpPr>
          <a:xfrm>
            <a:off x="1096963" y="4459284"/>
            <a:ext cx="7259840" cy="1346786"/>
            <a:chOff x="357" y="2933"/>
            <a:chExt cx="4736" cy="790"/>
          </a:xfrm>
        </p:grpSpPr>
        <p:sp>
          <p:nvSpPr>
            <p:cNvPr id="21" name="Rectangle 47"/>
            <p:cNvSpPr/>
            <p:nvPr/>
          </p:nvSpPr>
          <p:spPr>
            <a:xfrm>
              <a:off x="495" y="2940"/>
              <a:ext cx="4499" cy="320"/>
            </a:xfrm>
            <a:prstGeom prst="rect">
              <a:avLst/>
            </a:prstGeom>
            <a:solidFill>
              <a:srgbClr val="FFFF99"/>
            </a:solid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22" name="Rectangle 89"/>
            <p:cNvSpPr/>
            <p:nvPr/>
          </p:nvSpPr>
          <p:spPr>
            <a:xfrm>
              <a:off x="495" y="3387"/>
              <a:ext cx="4499" cy="320"/>
            </a:xfrm>
            <a:prstGeom prst="rect">
              <a:avLst/>
            </a:prstGeom>
            <a:solidFill>
              <a:srgbClr val="FFFF99"/>
            </a:solid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23" name="Line 104"/>
            <p:cNvSpPr/>
            <p:nvPr/>
          </p:nvSpPr>
          <p:spPr>
            <a:xfrm>
              <a:off x="1784" y="2933"/>
              <a:ext cx="0" cy="320"/>
            </a:xfrm>
            <a:prstGeom prst="line">
              <a:avLst/>
            </a:prstGeom>
            <a:ln w="9525" cap="flat" cmpd="sng">
              <a:solidFill>
                <a:schemeClr val="accent2"/>
              </a:solidFill>
              <a:prstDash val="solid"/>
              <a:round/>
              <a:headEnd type="none" w="med" len="med"/>
              <a:tailEnd type="none" w="med" len="med"/>
            </a:ln>
          </p:spPr>
        </p:sp>
        <p:sp>
          <p:nvSpPr>
            <p:cNvPr id="24" name="Line 105"/>
            <p:cNvSpPr/>
            <p:nvPr/>
          </p:nvSpPr>
          <p:spPr>
            <a:xfrm>
              <a:off x="3067" y="2933"/>
              <a:ext cx="0" cy="320"/>
            </a:xfrm>
            <a:prstGeom prst="line">
              <a:avLst/>
            </a:prstGeom>
            <a:ln w="9525" cap="flat" cmpd="sng">
              <a:solidFill>
                <a:schemeClr val="accent2"/>
              </a:solidFill>
              <a:prstDash val="solid"/>
              <a:round/>
              <a:headEnd type="none" w="med" len="med"/>
              <a:tailEnd type="none" w="med" len="med"/>
            </a:ln>
          </p:spPr>
        </p:sp>
        <p:sp>
          <p:nvSpPr>
            <p:cNvPr id="25" name="Text Box 110"/>
            <p:cNvSpPr txBox="1"/>
            <p:nvPr/>
          </p:nvSpPr>
          <p:spPr>
            <a:xfrm>
              <a:off x="916" y="2979"/>
              <a:ext cx="4076" cy="250"/>
            </a:xfrm>
            <a:prstGeom prst="rect">
              <a:avLst/>
            </a:prstGeom>
            <a:noFill/>
            <a:ln w="9525">
              <a:noFill/>
            </a:ln>
          </p:spPr>
          <p:txBody>
            <a:bodyPr wrap="none" anchor="t">
              <a:spAutoFit/>
            </a:bodyPr>
            <a:lstStyle/>
            <a:p>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1                      </a:t>
              </a:r>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2                     </a:t>
              </a:r>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3              </a:t>
              </a:r>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4  </a:t>
              </a:r>
              <a:endParaRPr lang="en-US" altLang="zh-CN" sz="2000" dirty="0">
                <a:latin typeface="Times New Roman" panose="02020603050405020304" pitchFamily="18" charset="0"/>
                <a:ea typeface="楷体_GB2312" pitchFamily="49" charset="-122"/>
              </a:endParaRPr>
            </a:p>
          </p:txBody>
        </p:sp>
        <p:sp>
          <p:nvSpPr>
            <p:cNvPr id="26" name="Text Box 111"/>
            <p:cNvSpPr txBox="1"/>
            <p:nvPr/>
          </p:nvSpPr>
          <p:spPr>
            <a:xfrm>
              <a:off x="580" y="3357"/>
              <a:ext cx="500" cy="366"/>
            </a:xfrm>
            <a:prstGeom prst="rect">
              <a:avLst/>
            </a:prstGeom>
            <a:noFill/>
            <a:ln w="9525">
              <a:noFill/>
            </a:ln>
          </p:spPr>
          <p:txBody>
            <a:bodyPr wrap="none" anchor="t">
              <a:spAutoFit/>
            </a:bodyPr>
            <a:lstStyle/>
            <a:p>
              <a:r>
                <a:rPr lang="zh-CN" altLang="en-US" dirty="0">
                  <a:latin typeface="Times New Roman" panose="02020603050405020304" pitchFamily="18" charset="0"/>
                  <a:ea typeface="楷体_GB2312" pitchFamily="49" charset="-122"/>
                </a:rPr>
                <a:t>记录</a:t>
              </a:r>
              <a:r>
                <a:rPr lang="en-US" altLang="zh-CN" dirty="0">
                  <a:latin typeface="Times New Roman" panose="02020603050405020304" pitchFamily="18" charset="0"/>
                  <a:ea typeface="楷体_GB2312" pitchFamily="49" charset="-122"/>
                </a:rPr>
                <a:t>4</a:t>
              </a:r>
              <a:endParaRPr lang="en-US" altLang="zh-CN" dirty="0">
                <a:latin typeface="Times New Roman" panose="02020603050405020304" pitchFamily="18" charset="0"/>
                <a:ea typeface="楷体_GB2312" pitchFamily="49" charset="-122"/>
              </a:endParaRPr>
            </a:p>
            <a:p>
              <a:r>
                <a:rPr lang="zh-CN" altLang="en-US" dirty="0">
                  <a:latin typeface="Times New Roman" panose="02020603050405020304" pitchFamily="18" charset="0"/>
                  <a:ea typeface="楷体_GB2312" pitchFamily="49" charset="-122"/>
                </a:rPr>
                <a:t>的剩余</a:t>
              </a:r>
              <a:endParaRPr lang="zh-CN" altLang="en-US" dirty="0">
                <a:latin typeface="Times New Roman" panose="02020603050405020304" pitchFamily="18" charset="0"/>
                <a:ea typeface="楷体_GB2312" pitchFamily="49" charset="-122"/>
              </a:endParaRPr>
            </a:p>
          </p:txBody>
        </p:sp>
        <p:sp>
          <p:nvSpPr>
            <p:cNvPr id="27" name="Line 112"/>
            <p:cNvSpPr/>
            <p:nvPr/>
          </p:nvSpPr>
          <p:spPr>
            <a:xfrm>
              <a:off x="4359" y="2942"/>
              <a:ext cx="0" cy="320"/>
            </a:xfrm>
            <a:prstGeom prst="line">
              <a:avLst/>
            </a:prstGeom>
            <a:ln w="9525" cap="flat" cmpd="sng">
              <a:solidFill>
                <a:schemeClr val="accent2"/>
              </a:solidFill>
              <a:prstDash val="solid"/>
              <a:round/>
              <a:headEnd type="none" w="med" len="med"/>
              <a:tailEnd type="none" w="med" len="med"/>
            </a:ln>
          </p:spPr>
        </p:sp>
        <p:sp>
          <p:nvSpPr>
            <p:cNvPr id="28" name="Line 113"/>
            <p:cNvSpPr/>
            <p:nvPr/>
          </p:nvSpPr>
          <p:spPr>
            <a:xfrm>
              <a:off x="1106" y="3380"/>
              <a:ext cx="0" cy="320"/>
            </a:xfrm>
            <a:prstGeom prst="line">
              <a:avLst/>
            </a:prstGeom>
            <a:ln w="9525" cap="flat" cmpd="sng">
              <a:solidFill>
                <a:schemeClr val="accent2"/>
              </a:solidFill>
              <a:prstDash val="solid"/>
              <a:round/>
              <a:headEnd type="none" w="med" len="med"/>
              <a:tailEnd type="none" w="med" len="med"/>
            </a:ln>
          </p:spPr>
        </p:sp>
        <p:sp>
          <p:nvSpPr>
            <p:cNvPr id="29" name="Line 114"/>
            <p:cNvSpPr/>
            <p:nvPr/>
          </p:nvSpPr>
          <p:spPr>
            <a:xfrm>
              <a:off x="2641" y="3380"/>
              <a:ext cx="0" cy="320"/>
            </a:xfrm>
            <a:prstGeom prst="line">
              <a:avLst/>
            </a:prstGeom>
            <a:ln w="9525" cap="flat" cmpd="sng">
              <a:solidFill>
                <a:schemeClr val="accent2"/>
              </a:solidFill>
              <a:prstDash val="solid"/>
              <a:round/>
              <a:headEnd type="none" w="med" len="med"/>
              <a:tailEnd type="none" w="med" len="med"/>
            </a:ln>
          </p:spPr>
        </p:sp>
        <p:sp>
          <p:nvSpPr>
            <p:cNvPr id="30" name="Line 115"/>
            <p:cNvSpPr/>
            <p:nvPr/>
          </p:nvSpPr>
          <p:spPr>
            <a:xfrm>
              <a:off x="4032" y="3380"/>
              <a:ext cx="0" cy="320"/>
            </a:xfrm>
            <a:prstGeom prst="line">
              <a:avLst/>
            </a:prstGeom>
            <a:ln w="9525" cap="flat" cmpd="sng">
              <a:solidFill>
                <a:schemeClr val="accent2"/>
              </a:solidFill>
              <a:prstDash val="solid"/>
              <a:round/>
              <a:headEnd type="none" w="med" len="med"/>
              <a:tailEnd type="none" w="med" len="med"/>
            </a:ln>
          </p:spPr>
        </p:sp>
        <p:sp>
          <p:nvSpPr>
            <p:cNvPr id="31" name="Rectangle 116"/>
            <p:cNvSpPr/>
            <p:nvPr/>
          </p:nvSpPr>
          <p:spPr>
            <a:xfrm>
              <a:off x="1501" y="3415"/>
              <a:ext cx="3276" cy="250"/>
            </a:xfrm>
            <a:prstGeom prst="rect">
              <a:avLst/>
            </a:prstGeom>
            <a:noFill/>
            <a:ln w="9525">
              <a:noFill/>
            </a:ln>
          </p:spPr>
          <p:txBody>
            <a:bodyPr wrap="none" anchor="t">
              <a:spAutoFit/>
            </a:bodyPr>
            <a:lstStyle/>
            <a:p>
              <a:r>
                <a:rPr lang="en-US" altLang="zh-CN" sz="2000" dirty="0">
                  <a:latin typeface="Times New Roman" panose="02020603050405020304" pitchFamily="18" charset="0"/>
                  <a:ea typeface="楷体_GB2312" pitchFamily="49" charset="-122"/>
                </a:rPr>
                <a:t> </a:t>
              </a:r>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5                            </a:t>
              </a:r>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6                   </a:t>
              </a:r>
              <a:r>
                <a:rPr lang="zh-CN" altLang="en-US" sz="2000" dirty="0">
                  <a:latin typeface="Times New Roman" panose="02020603050405020304" pitchFamily="18" charset="0"/>
                  <a:ea typeface="楷体_GB2312" pitchFamily="49" charset="-122"/>
                </a:rPr>
                <a:t>记录</a:t>
              </a:r>
              <a:r>
                <a:rPr lang="en-US" altLang="zh-CN" sz="2000" dirty="0">
                  <a:latin typeface="Times New Roman" panose="02020603050405020304" pitchFamily="18" charset="0"/>
                  <a:ea typeface="楷体_GB2312" pitchFamily="49" charset="-122"/>
                </a:rPr>
                <a:t>7 </a:t>
              </a:r>
              <a:endParaRPr lang="en-US" altLang="zh-CN" sz="2000" dirty="0">
                <a:latin typeface="Times New Roman" panose="02020603050405020304" pitchFamily="18" charset="0"/>
                <a:ea typeface="楷体_GB2312" pitchFamily="49" charset="-122"/>
              </a:endParaRPr>
            </a:p>
          </p:txBody>
        </p:sp>
        <p:sp>
          <p:nvSpPr>
            <p:cNvPr id="32" name="Line 117"/>
            <p:cNvSpPr/>
            <p:nvPr/>
          </p:nvSpPr>
          <p:spPr>
            <a:xfrm>
              <a:off x="4882" y="2944"/>
              <a:ext cx="0" cy="320"/>
            </a:xfrm>
            <a:prstGeom prst="line">
              <a:avLst/>
            </a:prstGeom>
            <a:ln w="9525" cap="flat" cmpd="sng">
              <a:solidFill>
                <a:srgbClr val="FF0066"/>
              </a:solidFill>
              <a:prstDash val="solid"/>
              <a:round/>
              <a:headEnd type="none" w="med" len="med"/>
              <a:tailEnd type="none" w="med" len="med"/>
            </a:ln>
          </p:spPr>
        </p:sp>
        <p:sp>
          <p:nvSpPr>
            <p:cNvPr id="33" name="Line 118"/>
            <p:cNvSpPr/>
            <p:nvPr/>
          </p:nvSpPr>
          <p:spPr>
            <a:xfrm>
              <a:off x="4879" y="3382"/>
              <a:ext cx="0" cy="320"/>
            </a:xfrm>
            <a:prstGeom prst="line">
              <a:avLst/>
            </a:prstGeom>
            <a:ln w="9525" cap="flat" cmpd="sng">
              <a:solidFill>
                <a:srgbClr val="FF0066"/>
              </a:solidFill>
              <a:prstDash val="solid"/>
              <a:round/>
              <a:headEnd type="none" w="med" len="med"/>
              <a:tailEnd type="none" w="med" len="med"/>
            </a:ln>
          </p:spPr>
        </p:sp>
        <p:sp>
          <p:nvSpPr>
            <p:cNvPr id="34" name="Text Box 119"/>
            <p:cNvSpPr txBox="1"/>
            <p:nvPr/>
          </p:nvSpPr>
          <p:spPr>
            <a:xfrm>
              <a:off x="4856" y="2990"/>
              <a:ext cx="201" cy="212"/>
            </a:xfrm>
            <a:prstGeom prst="rect">
              <a:avLst/>
            </a:prstGeom>
            <a:noFill/>
            <a:ln w="9525">
              <a:noFill/>
            </a:ln>
          </p:spPr>
          <p:txBody>
            <a:bodyPr wrap="none" anchor="t">
              <a:spAutoFit/>
            </a:bodyPr>
            <a:lstStyle/>
            <a:p>
              <a:pPr algn="ctr"/>
              <a:r>
                <a:rPr lang="en-US" altLang="zh-CN" dirty="0">
                  <a:latin typeface="Arial" panose="020B0604020202020204" pitchFamily="34" charset="0"/>
                  <a:ea typeface="楷体_GB2312" pitchFamily="49" charset="-122"/>
                </a:rPr>
                <a:t>P</a:t>
              </a:r>
              <a:endParaRPr lang="en-US" altLang="zh-CN" dirty="0">
                <a:latin typeface="Arial" panose="020B0604020202020204" pitchFamily="34" charset="0"/>
                <a:ea typeface="楷体_GB2312" pitchFamily="49" charset="-122"/>
              </a:endParaRPr>
            </a:p>
          </p:txBody>
        </p:sp>
        <p:sp>
          <p:nvSpPr>
            <p:cNvPr id="36" name="Text Box 120"/>
            <p:cNvSpPr txBox="1"/>
            <p:nvPr/>
          </p:nvSpPr>
          <p:spPr>
            <a:xfrm>
              <a:off x="4853" y="3437"/>
              <a:ext cx="201" cy="212"/>
            </a:xfrm>
            <a:prstGeom prst="rect">
              <a:avLst/>
            </a:prstGeom>
            <a:noFill/>
            <a:ln w="9525">
              <a:noFill/>
            </a:ln>
          </p:spPr>
          <p:txBody>
            <a:bodyPr wrap="none" anchor="t">
              <a:spAutoFit/>
            </a:bodyPr>
            <a:lstStyle/>
            <a:p>
              <a:pPr algn="ctr"/>
              <a:r>
                <a:rPr lang="en-US" altLang="zh-CN" dirty="0">
                  <a:latin typeface="Arial" panose="020B0604020202020204" pitchFamily="34" charset="0"/>
                  <a:ea typeface="楷体_GB2312" pitchFamily="49" charset="-122"/>
                </a:rPr>
                <a:t>P</a:t>
              </a:r>
              <a:endParaRPr lang="en-US" altLang="zh-CN" dirty="0">
                <a:latin typeface="Arial" panose="020B0604020202020204" pitchFamily="34" charset="0"/>
                <a:ea typeface="楷体_GB2312" pitchFamily="49" charset="-122"/>
              </a:endParaRPr>
            </a:p>
          </p:txBody>
        </p:sp>
        <p:sp>
          <p:nvSpPr>
            <p:cNvPr id="37" name="Freeform 124"/>
            <p:cNvSpPr/>
            <p:nvPr/>
          </p:nvSpPr>
          <p:spPr>
            <a:xfrm>
              <a:off x="357" y="3136"/>
              <a:ext cx="4736" cy="421"/>
            </a:xfrm>
            <a:custGeom>
              <a:avLst/>
              <a:gdLst/>
              <a:ahLst/>
              <a:cxnLst>
                <a:cxn ang="0">
                  <a:pos x="4608" y="0"/>
                </a:cxn>
                <a:cxn ang="0">
                  <a:pos x="4736" y="0"/>
                </a:cxn>
                <a:cxn ang="0">
                  <a:pos x="4736" y="183"/>
                </a:cxn>
                <a:cxn ang="0">
                  <a:pos x="0" y="183"/>
                </a:cxn>
                <a:cxn ang="0">
                  <a:pos x="0" y="421"/>
                </a:cxn>
                <a:cxn ang="0">
                  <a:pos x="128" y="421"/>
                </a:cxn>
              </a:cxnLst>
              <a:rect l="0" t="0" r="0" b="0"/>
              <a:pathLst>
                <a:path w="4736" h="421">
                  <a:moveTo>
                    <a:pt x="4608" y="0"/>
                  </a:moveTo>
                  <a:lnTo>
                    <a:pt x="4736" y="0"/>
                  </a:lnTo>
                  <a:lnTo>
                    <a:pt x="4736" y="183"/>
                  </a:lnTo>
                  <a:lnTo>
                    <a:pt x="0" y="183"/>
                  </a:lnTo>
                  <a:lnTo>
                    <a:pt x="0" y="421"/>
                  </a:lnTo>
                  <a:lnTo>
                    <a:pt x="128" y="421"/>
                  </a:ln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grpSp>
      <p:grpSp>
        <p:nvGrpSpPr>
          <p:cNvPr id="38" name="Group 129"/>
          <p:cNvGrpSpPr/>
          <p:nvPr/>
        </p:nvGrpSpPr>
        <p:grpSpPr>
          <a:xfrm>
            <a:off x="8187244" y="2716549"/>
            <a:ext cx="3865053" cy="1045830"/>
            <a:chOff x="157" y="2998"/>
            <a:chExt cx="1630" cy="1170"/>
          </a:xfrm>
        </p:grpSpPr>
        <p:sp>
          <p:nvSpPr>
            <p:cNvPr id="39" name="AutoShape 39"/>
            <p:cNvSpPr/>
            <p:nvPr/>
          </p:nvSpPr>
          <p:spPr>
            <a:xfrm>
              <a:off x="310" y="3053"/>
              <a:ext cx="1316" cy="983"/>
            </a:xfrm>
            <a:prstGeom prst="ellipse">
              <a:avLst/>
            </a:prstGeom>
            <a:solidFill>
              <a:srgbClr val="B90000"/>
            </a:solidFill>
            <a:ln w="9525">
              <a:noFill/>
            </a:ln>
          </p:spPr>
          <p:txBody>
            <a:bodyPr wrap="none" anchor="ctr"/>
            <a:lstStyle/>
            <a:p>
              <a:pPr algn="ctr"/>
              <a:endParaRPr lang="zh-CN" altLang="zh-CN" dirty="0">
                <a:solidFill>
                  <a:schemeClr val="accent2"/>
                </a:solidFill>
                <a:latin typeface="Arial" panose="020B0604020202020204" pitchFamily="34" charset="0"/>
                <a:ea typeface="微软雅黑" panose="020B0503020204020204" pitchFamily="34" charset="-122"/>
              </a:endParaRPr>
            </a:p>
          </p:txBody>
        </p:sp>
        <p:sp>
          <p:nvSpPr>
            <p:cNvPr id="40" name="Oval 40"/>
            <p:cNvSpPr/>
            <p:nvPr/>
          </p:nvSpPr>
          <p:spPr>
            <a:xfrm>
              <a:off x="370" y="3099"/>
              <a:ext cx="1206" cy="881"/>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chemeClr val="accent2"/>
                </a:solidFill>
                <a:latin typeface="Arial" panose="020B0604020202020204" pitchFamily="34" charset="0"/>
                <a:ea typeface="微软雅黑" panose="020B0503020204020204" pitchFamily="34" charset="-122"/>
              </a:endParaRPr>
            </a:p>
          </p:txBody>
        </p:sp>
        <p:sp>
          <p:nvSpPr>
            <p:cNvPr id="41" name="Text Box 84"/>
            <p:cNvSpPr/>
            <p:nvPr/>
          </p:nvSpPr>
          <p:spPr>
            <a:xfrm>
              <a:off x="157" y="2998"/>
              <a:ext cx="1630" cy="1170"/>
            </a:xfrm>
            <a:prstGeom prst="ellipse">
              <a:avLst/>
            </a:prstGeom>
            <a:noFill/>
            <a:ln w="9525">
              <a:noFill/>
            </a:ln>
          </p:spPr>
          <p:txBody>
            <a:bodyPr wrap="square" anchor="t">
              <a:spAutoFit/>
            </a:bodyPr>
            <a:lstStyle/>
            <a:p>
              <a:pPr algn="ctr">
                <a:buChar char="•"/>
              </a:pPr>
              <a:r>
                <a:rPr lang="zh-CN" altLang="zh-CN" dirty="0">
                  <a:solidFill>
                    <a:schemeClr val="accent2"/>
                  </a:solidFill>
                  <a:latin typeface="Arial" panose="020B0604020202020204" pitchFamily="34" charset="0"/>
                  <a:ea typeface="微软雅黑" panose="020B0503020204020204" pitchFamily="34" charset="-122"/>
                </a:rPr>
                <a:t>浪费</a:t>
              </a:r>
              <a:r>
                <a:rPr lang="zh-CN" altLang="en-US" dirty="0">
                  <a:solidFill>
                    <a:schemeClr val="accent2"/>
                  </a:solidFill>
                  <a:latin typeface="Arial" panose="020B0604020202020204" pitchFamily="34" charset="0"/>
                  <a:ea typeface="微软雅黑" panose="020B0503020204020204" pitchFamily="34" charset="-122"/>
                </a:rPr>
                <a:t>一些</a:t>
              </a:r>
              <a:r>
                <a:rPr lang="zh-CN" altLang="zh-CN" dirty="0">
                  <a:solidFill>
                    <a:schemeClr val="accent2"/>
                  </a:solidFill>
                  <a:latin typeface="Arial" panose="020B0604020202020204" pitchFamily="34" charset="0"/>
                  <a:ea typeface="微软雅黑" panose="020B0503020204020204" pitchFamily="34" charset="-122"/>
                </a:rPr>
                <a:t>存储空间</a:t>
              </a:r>
              <a:endParaRPr lang="zh-CN" altLang="en-US" dirty="0">
                <a:solidFill>
                  <a:schemeClr val="accent2"/>
                </a:solidFill>
                <a:latin typeface="Arial" panose="020B0604020202020204" pitchFamily="34" charset="0"/>
                <a:ea typeface="微软雅黑" panose="020B0503020204020204" pitchFamily="34" charset="-122"/>
              </a:endParaRPr>
            </a:p>
            <a:p>
              <a:pPr algn="ctr">
                <a:buChar char="•"/>
              </a:pPr>
              <a:r>
                <a:rPr lang="zh-CN" altLang="zh-CN" dirty="0">
                  <a:solidFill>
                    <a:schemeClr val="accent2"/>
                  </a:solidFill>
                  <a:latin typeface="Arial" panose="020B0604020202020204" pitchFamily="34" charset="0"/>
                  <a:ea typeface="微软雅黑" panose="020B0503020204020204" pitchFamily="34" charset="-122"/>
                </a:rPr>
                <a:t>磁盘块间无关联可并行</a:t>
              </a:r>
              <a:endParaRPr lang="zh-CN" altLang="en-US" dirty="0">
                <a:solidFill>
                  <a:schemeClr val="accent2"/>
                </a:solidFill>
                <a:latin typeface="Arial" panose="020B0604020202020204" pitchFamily="34" charset="0"/>
                <a:ea typeface="微软雅黑" panose="020B0503020204020204" pitchFamily="34" charset="-122"/>
              </a:endParaRPr>
            </a:p>
          </p:txBody>
        </p:sp>
      </p:grpSp>
      <p:grpSp>
        <p:nvGrpSpPr>
          <p:cNvPr id="42" name="Group 133"/>
          <p:cNvGrpSpPr/>
          <p:nvPr/>
        </p:nvGrpSpPr>
        <p:grpSpPr>
          <a:xfrm>
            <a:off x="8320169" y="4646609"/>
            <a:ext cx="3732128" cy="992188"/>
            <a:chOff x="157" y="2998"/>
            <a:chExt cx="1630" cy="1038"/>
          </a:xfrm>
        </p:grpSpPr>
        <p:sp>
          <p:nvSpPr>
            <p:cNvPr id="43" name="AutoShape 39"/>
            <p:cNvSpPr/>
            <p:nvPr/>
          </p:nvSpPr>
          <p:spPr>
            <a:xfrm>
              <a:off x="310" y="3053"/>
              <a:ext cx="1316" cy="983"/>
            </a:xfrm>
            <a:prstGeom prst="ellipse">
              <a:avLst/>
            </a:prstGeom>
            <a:solidFill>
              <a:srgbClr val="B90000"/>
            </a:solidFill>
            <a:ln w="9525">
              <a:noFill/>
            </a:ln>
          </p:spPr>
          <p:txBody>
            <a:bodyPr wrap="none" anchor="ctr"/>
            <a:lstStyle/>
            <a:p>
              <a:pPr algn="ctr"/>
              <a:endParaRPr lang="zh-CN" altLang="zh-CN" dirty="0">
                <a:solidFill>
                  <a:schemeClr val="accent2"/>
                </a:solidFill>
                <a:latin typeface="Arial" panose="020B0604020202020204" pitchFamily="34" charset="0"/>
                <a:ea typeface="微软雅黑" panose="020B0503020204020204" pitchFamily="34" charset="-122"/>
              </a:endParaRPr>
            </a:p>
          </p:txBody>
        </p:sp>
        <p:sp>
          <p:nvSpPr>
            <p:cNvPr id="44" name="Oval 40"/>
            <p:cNvSpPr/>
            <p:nvPr/>
          </p:nvSpPr>
          <p:spPr>
            <a:xfrm>
              <a:off x="370" y="3099"/>
              <a:ext cx="1206" cy="881"/>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chemeClr val="accent2"/>
                </a:solidFill>
                <a:latin typeface="Arial" panose="020B0604020202020204" pitchFamily="34" charset="0"/>
                <a:ea typeface="微软雅黑" panose="020B0503020204020204" pitchFamily="34" charset="-122"/>
              </a:endParaRPr>
            </a:p>
          </p:txBody>
        </p:sp>
        <p:sp>
          <p:nvSpPr>
            <p:cNvPr id="45" name="Text Box 84"/>
            <p:cNvSpPr/>
            <p:nvPr/>
          </p:nvSpPr>
          <p:spPr>
            <a:xfrm>
              <a:off x="157" y="2998"/>
              <a:ext cx="1630" cy="1010"/>
            </a:xfrm>
            <a:prstGeom prst="ellipse">
              <a:avLst/>
            </a:prstGeom>
            <a:noFill/>
            <a:ln w="9525">
              <a:noFill/>
            </a:ln>
          </p:spPr>
          <p:txBody>
            <a:bodyPr anchor="t">
              <a:spAutoFit/>
            </a:bodyPr>
            <a:lstStyle/>
            <a:p>
              <a:pPr algn="ctr">
                <a:buChar char="•"/>
              </a:pPr>
              <a:r>
                <a:rPr lang="zh-CN" altLang="zh-CN" dirty="0">
                  <a:solidFill>
                    <a:schemeClr val="accent2"/>
                  </a:solidFill>
                  <a:latin typeface="Arial" panose="020B0604020202020204" pitchFamily="34" charset="0"/>
                  <a:ea typeface="微软雅黑" panose="020B0503020204020204" pitchFamily="34" charset="-122"/>
                </a:rPr>
                <a:t>节省</a:t>
              </a:r>
              <a:r>
                <a:rPr lang="zh-CN" altLang="en-US" dirty="0">
                  <a:solidFill>
                    <a:schemeClr val="accent2"/>
                  </a:solidFill>
                  <a:latin typeface="Arial" panose="020B0604020202020204" pitchFamily="34" charset="0"/>
                  <a:ea typeface="微软雅黑" panose="020B0503020204020204" pitchFamily="34" charset="-122"/>
                </a:rPr>
                <a:t>一些</a:t>
              </a:r>
              <a:r>
                <a:rPr lang="zh-CN" altLang="zh-CN" dirty="0">
                  <a:solidFill>
                    <a:schemeClr val="accent2"/>
                  </a:solidFill>
                  <a:latin typeface="Arial" panose="020B0604020202020204" pitchFamily="34" charset="0"/>
                  <a:ea typeface="微软雅黑" panose="020B0503020204020204" pitchFamily="34" charset="-122"/>
                </a:rPr>
                <a:t>存储空间</a:t>
              </a:r>
              <a:endParaRPr lang="zh-CN" altLang="en-US" dirty="0">
                <a:solidFill>
                  <a:schemeClr val="accent2"/>
                </a:solidFill>
                <a:latin typeface="Arial" panose="020B0604020202020204" pitchFamily="34" charset="0"/>
                <a:ea typeface="微软雅黑" panose="020B0503020204020204" pitchFamily="34" charset="-122"/>
              </a:endParaRPr>
            </a:p>
            <a:p>
              <a:pPr algn="ctr">
                <a:buChar char="•"/>
              </a:pPr>
              <a:r>
                <a:rPr lang="zh-CN" altLang="zh-CN" dirty="0">
                  <a:solidFill>
                    <a:schemeClr val="accent2"/>
                  </a:solidFill>
                  <a:latin typeface="Arial" panose="020B0604020202020204" pitchFamily="34" charset="0"/>
                  <a:ea typeface="微软雅黑" panose="020B0503020204020204" pitchFamily="34" charset="-122"/>
                </a:rPr>
                <a:t>磁盘块间有关联需串行</a:t>
              </a:r>
              <a:endParaRPr lang="zh-CN" altLang="en-US" dirty="0">
                <a:solidFill>
                  <a:schemeClr val="accent2"/>
                </a:solidFill>
                <a:latin typeface="Arial" panose="020B0604020202020204" pitchFamily="34" charset="0"/>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基础回顾-数据库之表-记录与磁盘块的映射</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数据库的表 </a:t>
            </a:r>
            <a:r>
              <a:rPr lang="en-US" altLang="zh-CN" dirty="0">
                <a:latin typeface="微软雅黑" panose="020B0503020204020204" pitchFamily="34" charset="-122"/>
                <a:ea typeface="微软雅黑" panose="020B0503020204020204" pitchFamily="34" charset="-122"/>
              </a:rPr>
              <a:t>vs. </a:t>
            </a:r>
            <a:r>
              <a:rPr lang="zh-CN" altLang="en-US" dirty="0">
                <a:latin typeface="微软雅黑" panose="020B0503020204020204" pitchFamily="34" charset="-122"/>
                <a:ea typeface="微软雅黑" panose="020B0503020204020204" pitchFamily="34" charset="-122"/>
              </a:rPr>
              <a:t>磁盘块</a:t>
            </a:r>
            <a:endParaRPr lang="en-US" altLang="zh-CN" dirty="0">
              <a:latin typeface="微软雅黑" panose="020B0503020204020204" pitchFamily="34" charset="-122"/>
              <a:ea typeface="微软雅黑" panose="020B0503020204020204" pitchFamily="34" charset="-122"/>
            </a:endParaRPr>
          </a:p>
          <a:p>
            <a:endParaRPr lang="zh-CN" altLang="en-US"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3200" dirty="0">
              <a:solidFill>
                <a:srgbClr val="CC0000"/>
              </a:solidFill>
              <a:latin typeface="微软雅黑" panose="020B0503020204020204" pitchFamily="34" charset="-122"/>
              <a:ea typeface="微软雅黑" panose="020B0503020204020204" pitchFamily="34" charset="-122"/>
            </a:endParaRPr>
          </a:p>
          <a:p>
            <a:pPr marL="0" indent="0">
              <a:lnSpc>
                <a:spcPct val="130000"/>
              </a:lnSpc>
              <a:buNone/>
            </a:pPr>
            <a:endParaRPr lang="en-US" altLang="zh-CN" sz="2000" dirty="0">
              <a:latin typeface="微软雅黑" panose="020B0503020204020204" pitchFamily="34" charset="-122"/>
              <a:ea typeface="微软雅黑" panose="020B0503020204020204" pitchFamily="34" charset="-122"/>
            </a:endParaRPr>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grpSp>
        <p:nvGrpSpPr>
          <p:cNvPr id="2" name="Group 37"/>
          <p:cNvGrpSpPr/>
          <p:nvPr/>
        </p:nvGrpSpPr>
        <p:grpSpPr>
          <a:xfrm>
            <a:off x="5668963" y="4093321"/>
            <a:ext cx="5219701" cy="2382838"/>
            <a:chOff x="118" y="2561"/>
            <a:chExt cx="3288" cy="1501"/>
          </a:xfrm>
        </p:grpSpPr>
        <p:sp>
          <p:nvSpPr>
            <p:cNvPr id="6" name="Rectangle 38"/>
            <p:cNvSpPr>
              <a:spLocks noChangeArrowheads="1"/>
            </p:cNvSpPr>
            <p:nvPr/>
          </p:nvSpPr>
          <p:spPr bwMode="auto">
            <a:xfrm>
              <a:off x="1670" y="3171"/>
              <a:ext cx="116" cy="213"/>
            </a:xfrm>
            <a:prstGeom prst="rect">
              <a:avLst/>
            </a:prstGeom>
            <a:solidFill>
              <a:srgbClr val="EAEAEA"/>
            </a:solidFill>
            <a:ln w="9525">
              <a:solidFill>
                <a:srgbClr val="FF0066"/>
              </a:solidFill>
              <a:miter lim="800000"/>
            </a:ln>
            <a:effectLst>
              <a:outerShdw dist="107763" dir="2700000" algn="ctr" rotWithShape="0">
                <a:schemeClr val="bg2">
                  <a:alpha val="50000"/>
                </a:schemeClr>
              </a:outerShdw>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16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46" name="Text Box 39"/>
            <p:cNvSpPr txBox="1"/>
            <p:nvPr/>
          </p:nvSpPr>
          <p:spPr>
            <a:xfrm>
              <a:off x="853" y="2652"/>
              <a:ext cx="266" cy="237"/>
            </a:xfrm>
            <a:prstGeom prst="rect">
              <a:avLst/>
            </a:prstGeom>
            <a:noFill/>
            <a:ln w="9525" cap="flat" cmpd="sng">
              <a:solidFill>
                <a:schemeClr val="accent2"/>
              </a:solidFill>
              <a:prstDash val="dash"/>
              <a:miter/>
              <a:headEnd type="none" w="med" len="med"/>
              <a:tailEnd type="none" w="med" len="med"/>
            </a:ln>
          </p:spPr>
          <p:txBody>
            <a:bodyPr wrap="none" anchor="t">
              <a:spAutoFit/>
            </a:bodyPr>
            <a:lstStyle/>
            <a:p>
              <a:pPr algn="ctr"/>
              <a:r>
                <a:rPr lang="zh-CN" altLang="en-US" sz="1800" b="1" dirty="0">
                  <a:latin typeface="微软雅黑" panose="020B0503020204020204" pitchFamily="34" charset="-122"/>
                  <a:ea typeface="微软雅黑" panose="020B0503020204020204" pitchFamily="34" charset="-122"/>
                </a:rPr>
                <a:t>表</a:t>
              </a:r>
              <a:endParaRPr lang="zh-CN" altLang="en-US" sz="1800" b="1" dirty="0">
                <a:latin typeface="微软雅黑" panose="020B0503020204020204" pitchFamily="34" charset="-122"/>
                <a:ea typeface="微软雅黑" panose="020B0503020204020204" pitchFamily="34" charset="-122"/>
              </a:endParaRPr>
            </a:p>
          </p:txBody>
        </p:sp>
        <p:sp>
          <p:nvSpPr>
            <p:cNvPr id="47" name="Line 40"/>
            <p:cNvSpPr/>
            <p:nvPr/>
          </p:nvSpPr>
          <p:spPr>
            <a:xfrm>
              <a:off x="978" y="2893"/>
              <a:ext cx="0" cy="362"/>
            </a:xfrm>
            <a:prstGeom prst="line">
              <a:avLst/>
            </a:prstGeom>
            <a:ln w="28575" cap="flat" cmpd="sng">
              <a:solidFill>
                <a:srgbClr val="FF0066"/>
              </a:solidFill>
              <a:prstDash val="sysDot"/>
              <a:round/>
              <a:headEnd type="none" w="med" len="med"/>
              <a:tailEnd type="none" w="med" len="med"/>
            </a:ln>
          </p:spPr>
        </p:sp>
        <p:sp>
          <p:nvSpPr>
            <p:cNvPr id="48" name="Text Box 41"/>
            <p:cNvSpPr txBox="1"/>
            <p:nvPr/>
          </p:nvSpPr>
          <p:spPr>
            <a:xfrm>
              <a:off x="757" y="3257"/>
              <a:ext cx="404" cy="231"/>
            </a:xfrm>
            <a:prstGeom prst="rect">
              <a:avLst/>
            </a:prstGeom>
            <a:noFill/>
            <a:ln w="9525">
              <a:noFill/>
            </a:ln>
          </p:spPr>
          <p:txBody>
            <a:bodyPr wrap="none" anchor="t">
              <a:spAutoFit/>
            </a:bodyPr>
            <a:lstStyle/>
            <a:p>
              <a:pPr algn="ctr"/>
              <a:r>
                <a:rPr lang="zh-CN" altLang="en-US" sz="1800" b="1" dirty="0">
                  <a:latin typeface="微软雅黑" panose="020B0503020204020204" pitchFamily="34" charset="-122"/>
                  <a:ea typeface="微软雅黑" panose="020B0503020204020204" pitchFamily="34" charset="-122"/>
                </a:rPr>
                <a:t>文件</a:t>
              </a:r>
              <a:endParaRPr lang="zh-CN" altLang="en-US" sz="1800" b="1" dirty="0">
                <a:latin typeface="微软雅黑" panose="020B0503020204020204" pitchFamily="34" charset="-122"/>
                <a:ea typeface="微软雅黑" panose="020B0503020204020204" pitchFamily="34" charset="-122"/>
              </a:endParaRPr>
            </a:p>
          </p:txBody>
        </p:sp>
        <p:sp>
          <p:nvSpPr>
            <p:cNvPr id="49" name="Line 42"/>
            <p:cNvSpPr/>
            <p:nvPr/>
          </p:nvSpPr>
          <p:spPr>
            <a:xfrm>
              <a:off x="1164" y="3359"/>
              <a:ext cx="461" cy="0"/>
            </a:xfrm>
            <a:prstGeom prst="line">
              <a:avLst/>
            </a:prstGeom>
            <a:ln w="38100" cap="flat" cmpd="sng">
              <a:solidFill>
                <a:srgbClr val="FF0066"/>
              </a:solidFill>
              <a:prstDash val="sysDot"/>
              <a:round/>
              <a:headEnd type="none" w="med" len="med"/>
              <a:tailEnd type="none" w="med" len="med"/>
            </a:ln>
          </p:spPr>
        </p:sp>
        <p:sp>
          <p:nvSpPr>
            <p:cNvPr id="50" name="Text Box 43"/>
            <p:cNvSpPr txBox="1"/>
            <p:nvPr/>
          </p:nvSpPr>
          <p:spPr>
            <a:xfrm>
              <a:off x="1607" y="3262"/>
              <a:ext cx="591" cy="231"/>
            </a:xfrm>
            <a:prstGeom prst="rect">
              <a:avLst/>
            </a:prstGeom>
            <a:noFill/>
            <a:ln w="9525">
              <a:noFill/>
            </a:ln>
          </p:spPr>
          <p:txBody>
            <a:bodyPr wrap="none" anchor="t">
              <a:spAutoFit/>
            </a:bodyPr>
            <a:lstStyle/>
            <a:p>
              <a:pPr algn="ctr"/>
              <a:r>
                <a:rPr lang="zh-CN" altLang="en-US" sz="1800" b="1" dirty="0">
                  <a:latin typeface="微软雅黑" panose="020B0503020204020204" pitchFamily="34" charset="-122"/>
                  <a:ea typeface="微软雅黑" panose="020B0503020204020204" pitchFamily="34" charset="-122"/>
                </a:rPr>
                <a:t>磁盘块 </a:t>
              </a:r>
              <a:endParaRPr lang="zh-CN" altLang="en-US" sz="1800" b="1" dirty="0">
                <a:latin typeface="微软雅黑" panose="020B0503020204020204" pitchFamily="34" charset="-122"/>
                <a:ea typeface="微软雅黑" panose="020B0503020204020204" pitchFamily="34" charset="-122"/>
              </a:endParaRPr>
            </a:p>
          </p:txBody>
        </p:sp>
        <p:sp>
          <p:nvSpPr>
            <p:cNvPr id="51" name="Text Box 44"/>
            <p:cNvSpPr txBox="1"/>
            <p:nvPr/>
          </p:nvSpPr>
          <p:spPr>
            <a:xfrm>
              <a:off x="2345" y="2641"/>
              <a:ext cx="883" cy="237"/>
            </a:xfrm>
            <a:prstGeom prst="rect">
              <a:avLst/>
            </a:prstGeom>
            <a:noFill/>
            <a:ln w="9525" cap="flat" cmpd="sng">
              <a:solidFill>
                <a:schemeClr val="accent2"/>
              </a:solidFill>
              <a:prstDash val="dash"/>
              <a:miter/>
              <a:headEnd type="none" w="med" len="med"/>
              <a:tailEnd type="none" w="med" len="med"/>
            </a:ln>
          </p:spPr>
          <p:txBody>
            <a:bodyPr wrap="none" anchor="t">
              <a:spAutoFit/>
            </a:bodyPr>
            <a:lstStyle/>
            <a:p>
              <a:pPr algn="ctr"/>
              <a:r>
                <a:rPr lang="zh-CN" altLang="en-US" sz="1800" b="1" dirty="0">
                  <a:latin typeface="微软雅黑" panose="020B0503020204020204" pitchFamily="34" charset="-122"/>
                  <a:ea typeface="微软雅黑" panose="020B0503020204020204" pitchFamily="34" charset="-122"/>
                </a:rPr>
                <a:t>记录</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属性值</a:t>
              </a:r>
              <a:endParaRPr lang="zh-CN" altLang="en-US" sz="1800" b="1" dirty="0">
                <a:latin typeface="微软雅黑" panose="020B0503020204020204" pitchFamily="34" charset="-122"/>
                <a:ea typeface="微软雅黑" panose="020B0503020204020204" pitchFamily="34" charset="-122"/>
              </a:endParaRPr>
            </a:p>
          </p:txBody>
        </p:sp>
        <p:sp>
          <p:nvSpPr>
            <p:cNvPr id="52" name="Text Box 45"/>
            <p:cNvSpPr txBox="1"/>
            <p:nvPr/>
          </p:nvSpPr>
          <p:spPr>
            <a:xfrm>
              <a:off x="2327" y="3250"/>
              <a:ext cx="938" cy="231"/>
            </a:xfrm>
            <a:prstGeom prst="rect">
              <a:avLst/>
            </a:prstGeom>
            <a:noFill/>
            <a:ln w="9525">
              <a:noFill/>
            </a:ln>
          </p:spPr>
          <p:txBody>
            <a:bodyPr wrap="none" anchor="t">
              <a:spAutoFit/>
            </a:bodyPr>
            <a:lstStyle/>
            <a:p>
              <a:pPr algn="ctr"/>
              <a:r>
                <a:rPr lang="zh-CN" altLang="en-US" sz="1800" b="1" dirty="0">
                  <a:latin typeface="微软雅黑" panose="020B0503020204020204" pitchFamily="34" charset="-122"/>
                  <a:ea typeface="微软雅黑" panose="020B0503020204020204" pitchFamily="34" charset="-122"/>
                </a:rPr>
                <a:t>块内</a:t>
              </a:r>
              <a:r>
                <a:rPr lang="en-US" altLang="zh-CN" sz="1800" b="1" dirty="0">
                  <a:latin typeface="微软雅黑" panose="020B0503020204020204" pitchFamily="34" charset="-122"/>
                  <a:ea typeface="微软雅黑" panose="020B0503020204020204" pitchFamily="34" charset="-122"/>
                </a:rPr>
                <a:t>0/1</a:t>
              </a:r>
              <a:r>
                <a:rPr lang="zh-CN" altLang="en-US" sz="1800" b="1" dirty="0">
                  <a:latin typeface="微软雅黑" panose="020B0503020204020204" pitchFamily="34" charset="-122"/>
                  <a:ea typeface="微软雅黑" panose="020B0503020204020204" pitchFamily="34" charset="-122"/>
                </a:rPr>
                <a:t>数据</a:t>
              </a:r>
              <a:endParaRPr lang="zh-CN" altLang="en-US" sz="1800" b="1" dirty="0">
                <a:latin typeface="微软雅黑" panose="020B0503020204020204" pitchFamily="34" charset="-122"/>
                <a:ea typeface="微软雅黑" panose="020B0503020204020204" pitchFamily="34" charset="-122"/>
              </a:endParaRPr>
            </a:p>
          </p:txBody>
        </p:sp>
        <p:sp>
          <p:nvSpPr>
            <p:cNvPr id="53" name="Line 46"/>
            <p:cNvSpPr/>
            <p:nvPr/>
          </p:nvSpPr>
          <p:spPr>
            <a:xfrm>
              <a:off x="1126" y="2724"/>
              <a:ext cx="1218" cy="0"/>
            </a:xfrm>
            <a:prstGeom prst="line">
              <a:avLst/>
            </a:prstGeom>
            <a:ln w="9525" cap="flat" cmpd="sng">
              <a:solidFill>
                <a:schemeClr val="accent2"/>
              </a:solidFill>
              <a:prstDash val="dash"/>
              <a:round/>
              <a:headEnd type="none" w="med" len="med"/>
              <a:tailEnd type="none" w="med" len="med"/>
            </a:ln>
          </p:spPr>
        </p:sp>
        <p:sp>
          <p:nvSpPr>
            <p:cNvPr id="54" name="Freeform 47"/>
            <p:cNvSpPr/>
            <p:nvPr/>
          </p:nvSpPr>
          <p:spPr>
            <a:xfrm>
              <a:off x="1118" y="2800"/>
              <a:ext cx="797" cy="461"/>
            </a:xfrm>
            <a:custGeom>
              <a:avLst/>
              <a:gdLst/>
              <a:ahLst/>
              <a:cxnLst>
                <a:cxn ang="0">
                  <a:pos x="0" y="0"/>
                </a:cxn>
                <a:cxn ang="0">
                  <a:pos x="765" y="0"/>
                </a:cxn>
                <a:cxn ang="0">
                  <a:pos x="765" y="428"/>
                </a:cxn>
              </a:cxnLst>
              <a:rect l="0" t="0" r="0" b="0"/>
              <a:pathLst>
                <a:path w="765" h="428">
                  <a:moveTo>
                    <a:pt x="0" y="0"/>
                  </a:moveTo>
                  <a:lnTo>
                    <a:pt x="765" y="0"/>
                  </a:lnTo>
                  <a:lnTo>
                    <a:pt x="765" y="428"/>
                  </a:lnTo>
                </a:path>
              </a:pathLst>
            </a:custGeom>
            <a:noFill/>
            <a:ln w="38100" cap="flat" cmpd="sng">
              <a:solidFill>
                <a:srgbClr val="6666FF"/>
              </a:solidFill>
              <a:prstDash val="solid"/>
              <a:round/>
              <a:headEnd type="none" w="med" len="med"/>
              <a:tailEnd type="none" w="med" len="med"/>
            </a:ln>
          </p:spPr>
          <p:txBody>
            <a:bodyPr/>
            <a:lstStyle/>
            <a:p>
              <a:endParaRPr lang="zh-CN" altLang="en-US" b="1"/>
            </a:p>
          </p:txBody>
        </p:sp>
        <p:sp>
          <p:nvSpPr>
            <p:cNvPr id="55" name="Line 48"/>
            <p:cNvSpPr/>
            <p:nvPr/>
          </p:nvSpPr>
          <p:spPr>
            <a:xfrm>
              <a:off x="2106" y="3367"/>
              <a:ext cx="296" cy="0"/>
            </a:xfrm>
            <a:prstGeom prst="line">
              <a:avLst/>
            </a:prstGeom>
            <a:ln w="9525" cap="flat" cmpd="sng">
              <a:solidFill>
                <a:srgbClr val="FF0066"/>
              </a:solidFill>
              <a:prstDash val="solid"/>
              <a:round/>
              <a:headEnd type="none" w="med" len="med"/>
              <a:tailEnd type="none" w="med" len="med"/>
            </a:ln>
          </p:spPr>
        </p:sp>
        <p:sp>
          <p:nvSpPr>
            <p:cNvPr id="56" name="Line 49"/>
            <p:cNvSpPr/>
            <p:nvPr/>
          </p:nvSpPr>
          <p:spPr>
            <a:xfrm>
              <a:off x="1922" y="3459"/>
              <a:ext cx="0" cy="379"/>
            </a:xfrm>
            <a:prstGeom prst="line">
              <a:avLst/>
            </a:prstGeom>
            <a:ln w="9525" cap="flat" cmpd="sng">
              <a:solidFill>
                <a:srgbClr val="FF0066"/>
              </a:solidFill>
              <a:prstDash val="solid"/>
              <a:round/>
              <a:headEnd type="none" w="med" len="med"/>
              <a:tailEnd type="none" w="med" len="med"/>
            </a:ln>
          </p:spPr>
        </p:sp>
        <p:sp>
          <p:nvSpPr>
            <p:cNvPr id="57" name="Rectangle 50"/>
            <p:cNvSpPr/>
            <p:nvPr/>
          </p:nvSpPr>
          <p:spPr>
            <a:xfrm>
              <a:off x="1368" y="3829"/>
              <a:ext cx="1072" cy="233"/>
            </a:xfrm>
            <a:prstGeom prst="rect">
              <a:avLst/>
            </a:prstGeom>
            <a:noFill/>
            <a:ln w="9525">
              <a:noFill/>
            </a:ln>
          </p:spPr>
          <p:txBody>
            <a:bodyPr wrap="none" anchor="t">
              <a:spAutoFit/>
            </a:bodyPr>
            <a:lstStyle/>
            <a:p>
              <a:pPr algn="ctr"/>
              <a:r>
                <a:rPr lang="zh-CN" altLang="en-US" b="1" dirty="0">
                  <a:latin typeface="微软雅黑" panose="020B0503020204020204" pitchFamily="34" charset="-122"/>
                  <a:ea typeface="微软雅黑" panose="020B0503020204020204" pitchFamily="34" charset="-122"/>
                </a:rPr>
                <a:t>盘面</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磁道</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扇区</a:t>
              </a:r>
              <a:endParaRPr lang="zh-CN" altLang="en-US" b="1" dirty="0">
                <a:latin typeface="微软雅黑" panose="020B0503020204020204" pitchFamily="34" charset="-122"/>
                <a:ea typeface="微软雅黑" panose="020B0503020204020204" pitchFamily="34" charset="-122"/>
              </a:endParaRPr>
            </a:p>
          </p:txBody>
        </p:sp>
        <p:sp>
          <p:nvSpPr>
            <p:cNvPr id="58" name="Text Box 51"/>
            <p:cNvSpPr txBox="1"/>
            <p:nvPr/>
          </p:nvSpPr>
          <p:spPr>
            <a:xfrm>
              <a:off x="1232" y="3356"/>
              <a:ext cx="377" cy="233"/>
            </a:xfrm>
            <a:prstGeom prst="rect">
              <a:avLst/>
            </a:prstGeom>
            <a:noFill/>
            <a:ln w="9525">
              <a:noFill/>
            </a:ln>
          </p:spPr>
          <p:txBody>
            <a:bodyPr wrap="none" anchor="t">
              <a:spAutoFit/>
            </a:bodyPr>
            <a:lstStyle/>
            <a:p>
              <a:pPr algn="ctr"/>
              <a:r>
                <a:rPr lang="en-US" altLang="zh-CN" b="1" dirty="0">
                  <a:solidFill>
                    <a:srgbClr val="FF0066"/>
                  </a:solidFill>
                  <a:latin typeface="微软雅黑" panose="020B0503020204020204" pitchFamily="34" charset="-122"/>
                  <a:ea typeface="微软雅黑" panose="020B0503020204020204" pitchFamily="34" charset="-122"/>
                </a:rPr>
                <a:t>FAT</a:t>
              </a:r>
              <a:endParaRPr lang="en-US" altLang="zh-CN" b="1" dirty="0">
                <a:solidFill>
                  <a:srgbClr val="FF0066"/>
                </a:solidFill>
                <a:latin typeface="微软雅黑" panose="020B0503020204020204" pitchFamily="34" charset="-122"/>
                <a:ea typeface="微软雅黑" panose="020B0503020204020204" pitchFamily="34" charset="-122"/>
              </a:endParaRPr>
            </a:p>
          </p:txBody>
        </p:sp>
        <p:sp>
          <p:nvSpPr>
            <p:cNvPr id="59" name="Line 52"/>
            <p:cNvSpPr/>
            <p:nvPr/>
          </p:nvSpPr>
          <p:spPr>
            <a:xfrm>
              <a:off x="2770" y="2883"/>
              <a:ext cx="0" cy="371"/>
            </a:xfrm>
            <a:prstGeom prst="line">
              <a:avLst/>
            </a:prstGeom>
            <a:ln w="9525" cap="flat" cmpd="sng">
              <a:solidFill>
                <a:srgbClr val="FF0066"/>
              </a:solidFill>
              <a:prstDash val="solid"/>
              <a:round/>
              <a:headEnd type="none" w="med" len="med"/>
              <a:tailEnd type="none" w="med" len="med"/>
            </a:ln>
          </p:spPr>
        </p:sp>
        <p:sp>
          <p:nvSpPr>
            <p:cNvPr id="60" name="Text Box 53"/>
            <p:cNvSpPr txBox="1"/>
            <p:nvPr/>
          </p:nvSpPr>
          <p:spPr>
            <a:xfrm>
              <a:off x="2112" y="2949"/>
              <a:ext cx="1294" cy="233"/>
            </a:xfrm>
            <a:prstGeom prst="rect">
              <a:avLst/>
            </a:prstGeom>
            <a:noFill/>
            <a:ln w="9525">
              <a:noFill/>
            </a:ln>
          </p:spPr>
          <p:txBody>
            <a:bodyPr wrap="none" anchor="t">
              <a:spAutoFit/>
            </a:bodyPr>
            <a:lstStyle/>
            <a:p>
              <a:pPr algn="ctr"/>
              <a:r>
                <a:rPr lang="en-US" altLang="zh-CN" b="1" dirty="0">
                  <a:solidFill>
                    <a:srgbClr val="FF0066"/>
                  </a:solidFill>
                  <a:latin typeface="微软雅黑" panose="020B0503020204020204" pitchFamily="34" charset="-122"/>
                  <a:ea typeface="微软雅黑" panose="020B0503020204020204" pitchFamily="34" charset="-122"/>
                </a:rPr>
                <a:t>Storage Schema</a:t>
              </a:r>
              <a:endParaRPr lang="en-US" altLang="zh-CN" b="1" dirty="0">
                <a:solidFill>
                  <a:srgbClr val="FF0066"/>
                </a:solidFill>
                <a:latin typeface="微软雅黑" panose="020B0503020204020204" pitchFamily="34" charset="-122"/>
                <a:ea typeface="微软雅黑" panose="020B0503020204020204" pitchFamily="34" charset="-122"/>
              </a:endParaRPr>
            </a:p>
          </p:txBody>
        </p:sp>
        <p:sp>
          <p:nvSpPr>
            <p:cNvPr id="61" name="Line 54"/>
            <p:cNvSpPr/>
            <p:nvPr/>
          </p:nvSpPr>
          <p:spPr>
            <a:xfrm flipV="1">
              <a:off x="203" y="2939"/>
              <a:ext cx="3054" cy="0"/>
            </a:xfrm>
            <a:prstGeom prst="line">
              <a:avLst/>
            </a:prstGeom>
            <a:ln w="38100" cap="flat" cmpd="dbl">
              <a:solidFill>
                <a:schemeClr val="folHlink"/>
              </a:solidFill>
              <a:prstDash val="solid"/>
              <a:round/>
              <a:headEnd type="none" w="med" len="med"/>
              <a:tailEnd type="none" w="med" len="med"/>
            </a:ln>
          </p:spPr>
        </p:sp>
        <p:sp>
          <p:nvSpPr>
            <p:cNvPr id="62" name="Text Box 55"/>
            <p:cNvSpPr txBox="1"/>
            <p:nvPr/>
          </p:nvSpPr>
          <p:spPr>
            <a:xfrm>
              <a:off x="135" y="2561"/>
              <a:ext cx="488" cy="407"/>
            </a:xfrm>
            <a:prstGeom prst="rect">
              <a:avLst/>
            </a:prstGeom>
            <a:noFill/>
            <a:ln w="9525">
              <a:noFill/>
            </a:ln>
          </p:spPr>
          <p:txBody>
            <a:bodyPr wrap="square" anchor="t">
              <a:spAutoFit/>
            </a:bodyPr>
            <a:lstStyle/>
            <a:p>
              <a:pPr algn="ctr"/>
              <a:r>
                <a:rPr lang="zh-CN" altLang="en-US" b="1" dirty="0">
                  <a:latin typeface="微软雅黑" panose="020B0503020204020204" pitchFamily="34" charset="-122"/>
                  <a:ea typeface="微软雅黑" panose="020B0503020204020204" pitchFamily="34" charset="-122"/>
                </a:rPr>
                <a:t>逻辑层面</a:t>
              </a:r>
              <a:endParaRPr lang="zh-CN" altLang="en-US" b="1" dirty="0">
                <a:latin typeface="微软雅黑" panose="020B0503020204020204" pitchFamily="34" charset="-122"/>
                <a:ea typeface="微软雅黑" panose="020B0503020204020204" pitchFamily="34" charset="-122"/>
              </a:endParaRPr>
            </a:p>
          </p:txBody>
        </p:sp>
        <p:sp>
          <p:nvSpPr>
            <p:cNvPr id="63" name="Text Box 56"/>
            <p:cNvSpPr txBox="1"/>
            <p:nvPr/>
          </p:nvSpPr>
          <p:spPr>
            <a:xfrm>
              <a:off x="118" y="2965"/>
              <a:ext cx="516" cy="407"/>
            </a:xfrm>
            <a:prstGeom prst="rect">
              <a:avLst/>
            </a:prstGeom>
            <a:noFill/>
            <a:ln w="9525">
              <a:noFill/>
            </a:ln>
          </p:spPr>
          <p:txBody>
            <a:bodyPr wrap="square" anchor="t">
              <a:spAutoFit/>
            </a:bodyPr>
            <a:lstStyle/>
            <a:p>
              <a:pPr algn="ctr"/>
              <a:r>
                <a:rPr lang="zh-CN" altLang="en-US" b="1" dirty="0">
                  <a:latin typeface="微软雅黑" panose="020B0503020204020204" pitchFamily="34" charset="-122"/>
                  <a:ea typeface="微软雅黑" panose="020B0503020204020204" pitchFamily="34" charset="-122"/>
                </a:rPr>
                <a:t>物理层面</a:t>
              </a:r>
              <a:endParaRPr lang="zh-CN" altLang="en-US" b="1" dirty="0">
                <a:latin typeface="微软雅黑" panose="020B0503020204020204" pitchFamily="34" charset="-122"/>
                <a:ea typeface="微软雅黑" panose="020B0503020204020204" pitchFamily="34" charset="-122"/>
              </a:endParaRPr>
            </a:p>
          </p:txBody>
        </p:sp>
      </p:grpSp>
      <p:pic>
        <p:nvPicPr>
          <p:cNvPr id="64" name="Picture 57"/>
          <p:cNvPicPr>
            <a:picLocks noChangeAspect="1"/>
          </p:cNvPicPr>
          <p:nvPr/>
        </p:nvPicPr>
        <p:blipFill>
          <a:blip r:embed="rId1">
            <a:clrChange>
              <a:clrFrom>
                <a:srgbClr val="FFFFFF"/>
              </a:clrFrom>
              <a:clrTo>
                <a:srgbClr val="FFFFFF">
                  <a:alpha val="0"/>
                </a:srgbClr>
              </a:clrTo>
            </a:clrChange>
          </a:blip>
          <a:stretch>
            <a:fillRect/>
          </a:stretch>
        </p:blipFill>
        <p:spPr>
          <a:xfrm>
            <a:off x="2417763" y="4044108"/>
            <a:ext cx="3070225" cy="2398712"/>
          </a:xfrm>
          <a:prstGeom prst="rect">
            <a:avLst/>
          </a:prstGeom>
          <a:noFill/>
          <a:ln w="9525" cap="flat" cmpd="sng">
            <a:solidFill>
              <a:schemeClr val="bg2"/>
            </a:solidFill>
            <a:prstDash val="solid"/>
            <a:miter/>
            <a:headEnd type="none" w="med" len="med"/>
            <a:tailEnd type="none" w="med" len="med"/>
          </a:ln>
        </p:spPr>
      </p:pic>
      <p:sp>
        <p:nvSpPr>
          <p:cNvPr id="65" name="Text Box 58"/>
          <p:cNvSpPr txBox="1"/>
          <p:nvPr/>
        </p:nvSpPr>
        <p:spPr>
          <a:xfrm>
            <a:off x="7777847" y="4537820"/>
            <a:ext cx="646331" cy="369332"/>
          </a:xfrm>
          <a:prstGeom prst="rect">
            <a:avLst/>
          </a:prstGeom>
          <a:noFill/>
          <a:ln w="28575" cap="flat" cmpd="sng">
            <a:solidFill>
              <a:schemeClr val="accent2"/>
            </a:solidFill>
            <a:prstDash val="dash"/>
            <a:miter/>
            <a:headEnd type="none" w="med" len="med"/>
            <a:tailEnd type="none" w="med" len="med"/>
          </a:ln>
        </p:spPr>
        <p:txBody>
          <a:bodyPr wrap="none" anchor="t">
            <a:spAutoFit/>
          </a:bodyPr>
          <a:lstStyle/>
          <a:p>
            <a:pPr algn="ctr"/>
            <a:r>
              <a:rPr lang="zh-CN" altLang="en-US" sz="1800" b="1" dirty="0">
                <a:latin typeface="Times New Roman" panose="02020603050405020304" pitchFamily="18" charset="0"/>
                <a:ea typeface="微软雅黑" panose="020B0503020204020204" pitchFamily="34" charset="-122"/>
              </a:rPr>
              <a:t>索引</a:t>
            </a:r>
            <a:endParaRPr lang="zh-CN" altLang="en-US" sz="1800" b="1" dirty="0">
              <a:latin typeface="Times New Roman" panose="02020603050405020304" pitchFamily="18" charset="0"/>
              <a:ea typeface="微软雅黑" panose="020B0503020204020204" pitchFamily="34" charset="-122"/>
            </a:endParaRPr>
          </a:p>
        </p:txBody>
      </p:sp>
      <p:sp>
        <p:nvSpPr>
          <p:cNvPr id="66" name="Text Box 59"/>
          <p:cNvSpPr txBox="1"/>
          <p:nvPr/>
        </p:nvSpPr>
        <p:spPr>
          <a:xfrm>
            <a:off x="3729248" y="5634783"/>
            <a:ext cx="928267" cy="584775"/>
          </a:xfrm>
          <a:prstGeom prst="rect">
            <a:avLst/>
          </a:prstGeom>
          <a:noFill/>
          <a:ln w="28575">
            <a:noFill/>
          </a:ln>
        </p:spPr>
        <p:txBody>
          <a:bodyPr wrap="none" anchor="t">
            <a:spAutoFit/>
          </a:bodyPr>
          <a:lstStyle/>
          <a:p>
            <a:pPr algn="ctr"/>
            <a:r>
              <a:rPr lang="en-US" altLang="zh-CN" sz="3200" b="1" dirty="0">
                <a:solidFill>
                  <a:srgbClr val="FF0066"/>
                </a:solidFill>
                <a:latin typeface="Arial" panose="020B0604020202020204" pitchFamily="34" charset="0"/>
                <a:ea typeface="微软雅黑" panose="020B0503020204020204" pitchFamily="34" charset="-122"/>
              </a:rPr>
              <a:t>FAT</a:t>
            </a:r>
            <a:endParaRPr lang="en-US" altLang="zh-CN" sz="3200" b="1" dirty="0">
              <a:solidFill>
                <a:srgbClr val="FF0066"/>
              </a:solidFill>
              <a:latin typeface="Arial" panose="020B0604020202020204" pitchFamily="34" charset="0"/>
              <a:ea typeface="微软雅黑" panose="020B0503020204020204" pitchFamily="34" charset="-122"/>
            </a:endParaRPr>
          </a:p>
        </p:txBody>
      </p:sp>
      <p:sp>
        <p:nvSpPr>
          <p:cNvPr id="67" name="Text Box 60"/>
          <p:cNvSpPr txBox="1"/>
          <p:nvPr/>
        </p:nvSpPr>
        <p:spPr>
          <a:xfrm>
            <a:off x="2403475" y="5098208"/>
            <a:ext cx="793750" cy="457200"/>
          </a:xfrm>
          <a:prstGeom prst="rect">
            <a:avLst/>
          </a:prstGeom>
          <a:noFill/>
          <a:ln w="28575">
            <a:noFill/>
          </a:ln>
        </p:spPr>
        <p:txBody>
          <a:bodyPr wrap="none" anchor="t">
            <a:spAutoFit/>
          </a:bodyPr>
          <a:lstStyle/>
          <a:p>
            <a:pPr algn="ctr"/>
            <a:r>
              <a:rPr lang="zh-CN" altLang="en-US" sz="2400" b="1" dirty="0">
                <a:solidFill>
                  <a:srgbClr val="FF0066"/>
                </a:solidFill>
                <a:latin typeface="Arial" panose="020B0604020202020204" pitchFamily="34" charset="0"/>
                <a:ea typeface="微软雅黑" panose="020B0503020204020204" pitchFamily="34" charset="-122"/>
              </a:rPr>
              <a:t>目录</a:t>
            </a:r>
            <a:endParaRPr lang="zh-CN" altLang="en-US" sz="2400" b="1" dirty="0">
              <a:solidFill>
                <a:srgbClr val="FF0066"/>
              </a:solidFill>
              <a:latin typeface="Arial" panose="020B0604020202020204" pitchFamily="34" charset="0"/>
              <a:ea typeface="微软雅黑" panose="020B0503020204020204" pitchFamily="34" charset="-122"/>
            </a:endParaRPr>
          </a:p>
        </p:txBody>
      </p:sp>
      <p:sp>
        <p:nvSpPr>
          <p:cNvPr id="100" name="内容占位符 1"/>
          <p:cNvSpPr txBox="1"/>
          <p:nvPr/>
        </p:nvSpPr>
        <p:spPr>
          <a:xfrm>
            <a:off x="444310" y="1893379"/>
            <a:ext cx="5562598" cy="482809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b="0" dirty="0">
                <a:solidFill>
                  <a:srgbClr val="FF0000"/>
                </a:solidFill>
              </a:rPr>
              <a:t>数据库</a:t>
            </a:r>
            <a:r>
              <a:rPr lang="en-US" altLang="zh-CN" sz="2000" b="0" dirty="0">
                <a:solidFill>
                  <a:srgbClr val="FF0000"/>
                </a:solidFill>
              </a:rPr>
              <a:t>-</a:t>
            </a:r>
            <a:r>
              <a:rPr lang="zh-CN" altLang="en-US" sz="2000" b="0" dirty="0">
                <a:solidFill>
                  <a:srgbClr val="FF0000"/>
                </a:solidFill>
              </a:rPr>
              <a:t>表所占磁盘块的分配方法</a:t>
            </a:r>
            <a:endParaRPr lang="zh-CN" altLang="en-US" sz="2000" b="0" dirty="0">
              <a:solidFill>
                <a:srgbClr val="FF0000"/>
              </a:solidFill>
            </a:endParaRPr>
          </a:p>
          <a:p>
            <a:pPr marL="342900" lvl="1" indent="-342900">
              <a:lnSpc>
                <a:spcPct val="100000"/>
              </a:lnSpc>
              <a:spcBef>
                <a:spcPts val="1000"/>
              </a:spcBef>
              <a:buFont typeface="Wingdings" panose="05000000000000000000" pitchFamily="2" charset="2"/>
              <a:buChar char="l"/>
            </a:pPr>
            <a:r>
              <a:rPr lang="zh-CN" altLang="en-US" sz="1600" dirty="0"/>
              <a:t> 连续分配</a:t>
            </a:r>
            <a:r>
              <a:rPr lang="en-US" altLang="zh-CN" sz="1600" dirty="0"/>
              <a:t>: </a:t>
            </a:r>
            <a:r>
              <a:rPr lang="zh-CN" altLang="en-US" sz="1600" dirty="0"/>
              <a:t>数据块被分配到连续的磁盘块上</a:t>
            </a:r>
            <a:r>
              <a:rPr lang="en-US" altLang="zh-CN" sz="1600" dirty="0"/>
              <a:t>(</a:t>
            </a:r>
            <a:r>
              <a:rPr lang="zh-CN" altLang="en-US" sz="1600" dirty="0"/>
              <a:t>会存在扩展困难问题</a:t>
            </a:r>
            <a:r>
              <a:rPr lang="en-US" altLang="zh-CN" sz="1600" dirty="0"/>
              <a:t>)</a:t>
            </a:r>
            <a:endParaRPr lang="en-US" altLang="zh-CN" sz="1600" dirty="0"/>
          </a:p>
          <a:p>
            <a:pPr marL="342900" lvl="1" indent="-342900">
              <a:lnSpc>
                <a:spcPct val="100000"/>
              </a:lnSpc>
              <a:spcBef>
                <a:spcPts val="1000"/>
              </a:spcBef>
              <a:buFont typeface="Wingdings" panose="05000000000000000000" pitchFamily="2" charset="2"/>
              <a:buChar char="l"/>
            </a:pPr>
            <a:r>
              <a:rPr lang="en-US" altLang="zh-CN" sz="1600" dirty="0"/>
              <a:t> </a:t>
            </a:r>
            <a:r>
              <a:rPr lang="zh-CN" altLang="en-US" sz="1600" dirty="0"/>
              <a:t>链接分配</a:t>
            </a:r>
            <a:r>
              <a:rPr lang="en-US" altLang="zh-CN" sz="1600" dirty="0"/>
              <a:t>: </a:t>
            </a:r>
            <a:r>
              <a:rPr lang="zh-CN" altLang="en-US" sz="1600" dirty="0"/>
              <a:t>数据块中包含指向下一数据块的指针</a:t>
            </a:r>
            <a:r>
              <a:rPr lang="en-US" altLang="zh-CN" sz="1600" dirty="0"/>
              <a:t>(</a:t>
            </a:r>
            <a:r>
              <a:rPr lang="zh-CN" altLang="en-US" sz="1600" dirty="0"/>
              <a:t>访问速度问题</a:t>
            </a:r>
            <a:r>
              <a:rPr lang="en-US" altLang="zh-CN" sz="1600" dirty="0"/>
              <a:t>)</a:t>
            </a:r>
            <a:endParaRPr lang="en-US" altLang="zh-CN" sz="1600" dirty="0"/>
          </a:p>
          <a:p>
            <a:pPr marL="342900" lvl="1" indent="-342900">
              <a:lnSpc>
                <a:spcPct val="100000"/>
              </a:lnSpc>
              <a:spcBef>
                <a:spcPts val="1000"/>
              </a:spcBef>
              <a:buFont typeface="Wingdings" panose="05000000000000000000" pitchFamily="2" charset="2"/>
              <a:buChar char="l"/>
            </a:pPr>
            <a:r>
              <a:rPr lang="en-US" altLang="zh-CN" sz="1600" dirty="0"/>
              <a:t> </a:t>
            </a:r>
            <a:r>
              <a:rPr lang="zh-CN" altLang="en-US" sz="1600" dirty="0"/>
              <a:t>按簇分配</a:t>
            </a:r>
            <a:r>
              <a:rPr lang="en-US" altLang="zh-CN" sz="1600" dirty="0"/>
              <a:t>: </a:t>
            </a:r>
            <a:r>
              <a:rPr lang="zh-CN" altLang="en-US" sz="1600" dirty="0"/>
              <a:t>按簇分配，簇是若干连续的磁盘块，簇之间靠指针连接</a:t>
            </a:r>
            <a:r>
              <a:rPr lang="en-US" altLang="zh-CN" sz="1600" dirty="0"/>
              <a:t>;</a:t>
            </a:r>
            <a:endParaRPr lang="en-US" altLang="zh-CN" sz="1600" dirty="0"/>
          </a:p>
          <a:p>
            <a:endParaRPr kumimoji="1" lang="zh-CN" altLang="en-US" dirty="0"/>
          </a:p>
        </p:txBody>
      </p:sp>
      <p:sp>
        <p:nvSpPr>
          <p:cNvPr id="101" name="内容占位符 5"/>
          <p:cNvSpPr txBox="1"/>
          <p:nvPr/>
        </p:nvSpPr>
        <p:spPr>
          <a:xfrm>
            <a:off x="6339418" y="1893379"/>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a:spcBef>
                <a:spcPts val="1000"/>
              </a:spcBef>
              <a:buFont typeface="Wingdings" panose="05000000000000000000" pitchFamily="2" charset="2"/>
              <a:buChar char="Ø"/>
            </a:pPr>
            <a:r>
              <a:rPr lang="zh-CN" altLang="en-US" sz="2000" dirty="0">
                <a:solidFill>
                  <a:srgbClr val="FF0000"/>
                </a:solidFill>
                <a:latin typeface="微软雅黑" panose="020B0503020204020204" pitchFamily="34" charset="-122"/>
                <a:ea typeface="微软雅黑" panose="020B0503020204020204" pitchFamily="34" charset="-122"/>
              </a:rPr>
              <a:t>簇有时也称片段</a:t>
            </a:r>
            <a:r>
              <a:rPr lang="en-US" altLang="zh-CN" sz="2000" dirty="0">
                <a:solidFill>
                  <a:srgbClr val="FF0000"/>
                </a:solidFill>
                <a:latin typeface="微软雅黑" panose="020B0503020204020204" pitchFamily="34" charset="-122"/>
                <a:ea typeface="微软雅黑" panose="020B0503020204020204" pitchFamily="34" charset="-122"/>
              </a:rPr>
              <a:t>Segment</a:t>
            </a:r>
            <a:r>
              <a:rPr lang="zh-CN" altLang="en-US" sz="2000" dirty="0">
                <a:solidFill>
                  <a:srgbClr val="FF0000"/>
                </a:solidFill>
                <a:latin typeface="微软雅黑" panose="020B0503020204020204" pitchFamily="34" charset="-122"/>
                <a:ea typeface="微软雅黑" panose="020B0503020204020204" pitchFamily="34" charset="-122"/>
              </a:rPr>
              <a:t>或盘区</a:t>
            </a:r>
            <a:r>
              <a:rPr lang="en-US" altLang="zh-CN" sz="2000" dirty="0">
                <a:solidFill>
                  <a:srgbClr val="FF0000"/>
                </a:solidFill>
                <a:latin typeface="微软雅黑" panose="020B0503020204020204" pitchFamily="34" charset="-122"/>
                <a:ea typeface="微软雅黑" panose="020B0503020204020204" pitchFamily="34" charset="-122"/>
              </a:rPr>
              <a:t>extent</a:t>
            </a:r>
            <a:endParaRPr lang="en-US" altLang="zh-CN" sz="2000" dirty="0">
              <a:solidFill>
                <a:srgbClr val="FF0000"/>
              </a:solidFill>
              <a:latin typeface="微软雅黑" panose="020B0503020204020204" pitchFamily="34" charset="-122"/>
              <a:ea typeface="微软雅黑" panose="020B0503020204020204" pitchFamily="34" charset="-122"/>
            </a:endParaRPr>
          </a:p>
          <a:p>
            <a:pPr marL="342900" lvl="1" indent="-342900">
              <a:lnSpc>
                <a:spcPct val="100000"/>
              </a:lnSpc>
              <a:spcBef>
                <a:spcPts val="1000"/>
              </a:spcBef>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索引分配</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索引块中存放指向实际数据块的指针</a:t>
            </a:r>
            <a:endParaRPr lang="zh-CN" altLang="en-US" sz="1600" dirty="0">
              <a:latin typeface="微软雅黑" panose="020B0503020204020204" pitchFamily="34" charset="-122"/>
              <a:ea typeface="微软雅黑" panose="020B0503020204020204" pitchFamily="34" charset="-122"/>
            </a:endParaRPr>
          </a:p>
          <a:p>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5"/>
                                        </p:tgtEl>
                                        <p:attrNameLst>
                                          <p:attrName>style.visibility</p:attrName>
                                        </p:attrNameLst>
                                      </p:cBhvr>
                                      <p:to>
                                        <p:strVal val="visible"/>
                                      </p:to>
                                    </p:set>
                                    <p:anim calcmode="lin" valueType="num">
                                      <p:cBhvr additive="base">
                                        <p:cTn id="13" dur="500" fill="hold"/>
                                        <p:tgtEl>
                                          <p:spTgt spid="65"/>
                                        </p:tgtEl>
                                        <p:attrNameLst>
                                          <p:attrName>ppt_x</p:attrName>
                                        </p:attrNameLst>
                                      </p:cBhvr>
                                      <p:tavLst>
                                        <p:tav tm="0">
                                          <p:val>
                                            <p:strVal val="#ppt_x"/>
                                          </p:val>
                                        </p:tav>
                                        <p:tav tm="100000">
                                          <p:val>
                                            <p:strVal val="#ppt_x"/>
                                          </p:val>
                                        </p:tav>
                                      </p:tavLst>
                                    </p:anim>
                                    <p:anim calcmode="lin" valueType="num">
                                      <p:cBhvr additive="base">
                                        <p:cTn id="14"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基础回顾-数据库之文件组织方法</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数据组织与存取方法</a:t>
            </a:r>
            <a:endParaRPr lang="en-US" altLang="zh-CN" dirty="0">
              <a:latin typeface="微软雅黑" panose="020B0503020204020204" pitchFamily="34" charset="-122"/>
              <a:ea typeface="微软雅黑" panose="020B0503020204020204" pitchFamily="34" charset="-122"/>
            </a:endParaRPr>
          </a:p>
          <a:p>
            <a:r>
              <a:rPr lang="en-US" altLang="zh-CN" sz="2000" b="0" dirty="0"/>
              <a:t> </a:t>
            </a:r>
            <a:r>
              <a:rPr lang="zh-CN" altLang="en-US" sz="2400" b="0" dirty="0">
                <a:solidFill>
                  <a:srgbClr val="FF0000"/>
                </a:solidFill>
              </a:rPr>
              <a:t>数据组织要考虑更新</a:t>
            </a:r>
            <a:r>
              <a:rPr lang="en-US" altLang="zh-CN" sz="2400" b="0" dirty="0">
                <a:solidFill>
                  <a:srgbClr val="FF0000"/>
                </a:solidFill>
              </a:rPr>
              <a:t>(</a:t>
            </a:r>
            <a:r>
              <a:rPr lang="zh-CN" altLang="en-US" sz="2400" b="0" dirty="0">
                <a:solidFill>
                  <a:srgbClr val="FF0000"/>
                </a:solidFill>
              </a:rPr>
              <a:t>增、删、改</a:t>
            </a:r>
            <a:r>
              <a:rPr lang="en-US" altLang="zh-CN" sz="2400" b="0" dirty="0">
                <a:solidFill>
                  <a:srgbClr val="FF0000"/>
                </a:solidFill>
              </a:rPr>
              <a:t>)</a:t>
            </a:r>
            <a:r>
              <a:rPr lang="zh-CN" altLang="en-US" sz="2400" b="0" dirty="0">
                <a:solidFill>
                  <a:srgbClr val="FF0000"/>
                </a:solidFill>
              </a:rPr>
              <a:t>和检索需求</a:t>
            </a:r>
            <a:endParaRPr lang="zh-CN" altLang="en-US" sz="2400" b="0" dirty="0">
              <a:solidFill>
                <a:srgbClr val="FF0000"/>
              </a:solidFill>
            </a:endParaRPr>
          </a:p>
          <a:p>
            <a:pPr marL="228600" lvl="1">
              <a:lnSpc>
                <a:spcPct val="100000"/>
              </a:lnSpc>
              <a:spcBef>
                <a:spcPts val="1000"/>
              </a:spcBef>
              <a:buFont typeface="Wingdings" panose="05000000000000000000" pitchFamily="2" charset="2"/>
              <a:buChar char="l"/>
            </a:pPr>
            <a:r>
              <a:rPr lang="zh-CN" altLang="en-US" sz="1800" dirty="0"/>
              <a:t> 更新将涉及数据存储空间的扩展与回收问题</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 检索将涉及扫描整个数据库的问题、大批量处理数据问题</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 不同的需求要求不同的数据组织方法和存取方法</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 文件组织</a:t>
            </a:r>
            <a:r>
              <a:rPr lang="en-US" altLang="zh-CN" sz="1800" dirty="0"/>
              <a:t>(File Organization)</a:t>
            </a:r>
            <a:r>
              <a:rPr lang="zh-CN" altLang="en-US" sz="1800" dirty="0"/>
              <a:t>指的是数据组织成记录、块和访问结构的方式，包括把记录和块存储在磁盘上的方式，以及记录和块之间相互联系的方法</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 存取方法</a:t>
            </a:r>
            <a:r>
              <a:rPr lang="en-US" altLang="zh-CN" sz="1800" dirty="0"/>
              <a:t>(Access Method)</a:t>
            </a:r>
            <a:r>
              <a:rPr lang="zh-CN" altLang="en-US" sz="1800" dirty="0"/>
              <a:t>指的是对文件所采取的存取操作方法</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 一种文件组织可以采取多种存取方法进行访问</a:t>
            </a:r>
            <a:endParaRPr lang="zh-CN" altLang="en-US" sz="1800" dirty="0"/>
          </a:p>
          <a:p>
            <a:pPr marL="514350" indent="-514350">
              <a:lnSpc>
                <a:spcPct val="130000"/>
              </a:lnSpc>
              <a:buAutoNum type="arabicParenBoth"/>
            </a:pPr>
            <a:endParaRPr lang="en-US" altLang="zh-CN" sz="3200" dirty="0">
              <a:solidFill>
                <a:srgbClr val="CC0000"/>
              </a:solidFill>
              <a:latin typeface="微软雅黑" panose="020B0503020204020204" pitchFamily="34" charset="-122"/>
              <a:ea typeface="微软雅黑" panose="020B0503020204020204" pitchFamily="34" charset="-122"/>
            </a:endParaRPr>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基础回顾-数据库之文件组织方法</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无序文件组织</a:t>
            </a:r>
            <a:endParaRPr lang="en-US" altLang="zh-CN" dirty="0">
              <a:latin typeface="微软雅黑" panose="020B0503020204020204" pitchFamily="34" charset="-122"/>
              <a:ea typeface="微软雅黑" panose="020B0503020204020204" pitchFamily="34" charset="-122"/>
            </a:endParaRPr>
          </a:p>
          <a:p>
            <a:pPr>
              <a:lnSpc>
                <a:spcPct val="100000"/>
              </a:lnSpc>
            </a:pPr>
            <a:r>
              <a:rPr lang="zh-CN" altLang="en-US" sz="2000" b="0" dirty="0">
                <a:solidFill>
                  <a:srgbClr val="FF0000"/>
                </a:solidFill>
              </a:rPr>
              <a:t>文件组织方法之一：无序记录文件</a:t>
            </a:r>
            <a:r>
              <a:rPr lang="en-US" altLang="zh-CN" sz="2000" b="0" dirty="0">
                <a:solidFill>
                  <a:srgbClr val="FF0000"/>
                </a:solidFill>
              </a:rPr>
              <a:t>(</a:t>
            </a:r>
            <a:r>
              <a:rPr lang="zh-CN" altLang="en-US" sz="2000" b="0" dirty="0">
                <a:solidFill>
                  <a:srgbClr val="FF0000"/>
                </a:solidFill>
              </a:rPr>
              <a:t>堆文件</a:t>
            </a:r>
            <a:r>
              <a:rPr lang="en-US" altLang="zh-CN" sz="2000" b="0" dirty="0">
                <a:solidFill>
                  <a:srgbClr val="FF0000"/>
                </a:solidFill>
              </a:rPr>
              <a:t>heap</a:t>
            </a:r>
            <a:r>
              <a:rPr lang="zh-CN" altLang="en-US" sz="2000" b="0" dirty="0">
                <a:solidFill>
                  <a:srgbClr val="FF0000"/>
                </a:solidFill>
              </a:rPr>
              <a:t>或</a:t>
            </a:r>
            <a:r>
              <a:rPr lang="en-US" altLang="zh-CN" sz="2000" b="0" dirty="0">
                <a:solidFill>
                  <a:srgbClr val="FF0000"/>
                </a:solidFill>
              </a:rPr>
              <a:t>pile file)</a:t>
            </a:r>
            <a:endParaRPr lang="en-US" altLang="zh-CN" sz="2000" b="0" dirty="0">
              <a:solidFill>
                <a:srgbClr val="FF0000"/>
              </a:solidFill>
            </a:endParaRPr>
          </a:p>
          <a:p>
            <a:pPr>
              <a:lnSpc>
                <a:spcPct val="100000"/>
              </a:lnSpc>
              <a:buFont typeface="Wingdings" panose="05000000000000000000" pitchFamily="2" charset="2"/>
              <a:buChar char="l"/>
            </a:pPr>
            <a:r>
              <a:rPr lang="zh-CN" altLang="en-US" sz="1800" b="0" dirty="0"/>
              <a:t>特点：记录可存储于任意有空间的位置，磁盘上存储的记录是无序的。更新效率高，但检索效率可能低 </a:t>
            </a:r>
            <a:endParaRPr lang="en-US" altLang="zh-CN" sz="1800" b="0" dirty="0"/>
          </a:p>
          <a:p>
            <a:pPr>
              <a:lnSpc>
                <a:spcPct val="100000"/>
              </a:lnSpc>
              <a:buFont typeface="Wingdings" panose="05000000000000000000" pitchFamily="2" charset="2"/>
              <a:buChar char="l"/>
            </a:pPr>
            <a:r>
              <a:rPr lang="zh-CN" altLang="en-US" sz="1800" b="0" dirty="0"/>
              <a:t>方法</a:t>
            </a:r>
            <a:r>
              <a:rPr lang="en-US" altLang="zh-CN" sz="1800" b="0" dirty="0"/>
              <a:t>1</a:t>
            </a:r>
            <a:r>
              <a:rPr lang="zh-CN" altLang="en-US" sz="1800" b="0" dirty="0"/>
              <a:t>：新记录总插入到文件尾部；删除记录时，可以直接删除该记录所在位置的内容，也可以在该记录前标记“删除标记”</a:t>
            </a:r>
            <a:endParaRPr lang="en-US" altLang="zh-CN" sz="1800" b="0" dirty="0"/>
          </a:p>
          <a:p>
            <a:pPr>
              <a:lnSpc>
                <a:spcPct val="100000"/>
              </a:lnSpc>
              <a:buFont typeface="Wingdings" panose="05000000000000000000" pitchFamily="2" charset="2"/>
              <a:buChar char="l"/>
            </a:pPr>
            <a:r>
              <a:rPr lang="zh-CN" altLang="en-US" sz="1800" b="0" dirty="0"/>
              <a:t>方法</a:t>
            </a:r>
            <a:r>
              <a:rPr lang="en-US" altLang="zh-CN" sz="1800" b="0" dirty="0"/>
              <a:t>2</a:t>
            </a:r>
            <a:r>
              <a:rPr lang="zh-CN" altLang="en-US" sz="1800" b="0" dirty="0"/>
              <a:t>：在前者基础上，新增记录可以利用那些标记为“删除标记”的记录空间</a:t>
            </a:r>
            <a:endParaRPr lang="zh-CN" altLang="en-US" sz="1800" b="0" dirty="0"/>
          </a:p>
          <a:p>
            <a:pPr marL="0" indent="0">
              <a:lnSpc>
                <a:spcPct val="130000"/>
              </a:lnSpc>
              <a:buNone/>
            </a:pPr>
            <a:endParaRPr lang="en-US" altLang="zh-CN" sz="3200" dirty="0">
              <a:solidFill>
                <a:srgbClr val="CC0000"/>
              </a:solidFill>
              <a:latin typeface="微软雅黑" panose="020B0503020204020204" pitchFamily="34" charset="-122"/>
              <a:ea typeface="微软雅黑" panose="020B0503020204020204" pitchFamily="34" charset="-122"/>
            </a:endParaRPr>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grpSp>
        <p:nvGrpSpPr>
          <p:cNvPr id="100" name="Group 7"/>
          <p:cNvGrpSpPr/>
          <p:nvPr/>
        </p:nvGrpSpPr>
        <p:grpSpPr>
          <a:xfrm>
            <a:off x="1159676" y="5559425"/>
            <a:ext cx="2006600" cy="371475"/>
            <a:chOff x="89" y="2699"/>
            <a:chExt cx="1645" cy="234"/>
          </a:xfrm>
        </p:grpSpPr>
        <p:sp>
          <p:nvSpPr>
            <p:cNvPr id="101" name="Rectangle 8"/>
            <p:cNvSpPr/>
            <p:nvPr/>
          </p:nvSpPr>
          <p:spPr>
            <a:xfrm>
              <a:off x="262" y="2699"/>
              <a:ext cx="1472"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02" name="Rectangle 9"/>
            <p:cNvSpPr/>
            <p:nvPr/>
          </p:nvSpPr>
          <p:spPr>
            <a:xfrm>
              <a:off x="89" y="2699"/>
              <a:ext cx="17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03" name="Text Box 10"/>
            <p:cNvSpPr txBox="1"/>
            <p:nvPr/>
          </p:nvSpPr>
          <p:spPr>
            <a:xfrm>
              <a:off x="593" y="2702"/>
              <a:ext cx="713"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新记录</a:t>
              </a:r>
              <a:endParaRPr lang="zh-CN" altLang="en-US" sz="1800" dirty="0">
                <a:latin typeface="微软雅黑" panose="020B0503020204020204" pitchFamily="34" charset="-122"/>
                <a:ea typeface="微软雅黑" panose="020B0503020204020204" pitchFamily="34" charset="-122"/>
              </a:endParaRPr>
            </a:p>
          </p:txBody>
        </p:sp>
      </p:grpSp>
      <p:grpSp>
        <p:nvGrpSpPr>
          <p:cNvPr id="104" name="Group 11"/>
          <p:cNvGrpSpPr/>
          <p:nvPr/>
        </p:nvGrpSpPr>
        <p:grpSpPr>
          <a:xfrm>
            <a:off x="2612506" y="6104731"/>
            <a:ext cx="828675" cy="366713"/>
            <a:chOff x="1062" y="2384"/>
            <a:chExt cx="522" cy="231"/>
          </a:xfrm>
        </p:grpSpPr>
        <p:sp>
          <p:nvSpPr>
            <p:cNvPr id="105" name="Line 12"/>
            <p:cNvSpPr/>
            <p:nvPr/>
          </p:nvSpPr>
          <p:spPr>
            <a:xfrm>
              <a:off x="1182" y="2587"/>
              <a:ext cx="402" cy="0"/>
            </a:xfrm>
            <a:prstGeom prst="line">
              <a:avLst/>
            </a:prstGeom>
            <a:ln w="9525" cap="flat" cmpd="sng">
              <a:solidFill>
                <a:srgbClr val="FF0066"/>
              </a:solidFill>
              <a:prstDash val="solid"/>
              <a:round/>
              <a:headEnd type="none" w="med" len="med"/>
              <a:tailEnd type="triangle" w="med" len="med"/>
            </a:ln>
          </p:spPr>
        </p:sp>
        <p:sp>
          <p:nvSpPr>
            <p:cNvPr id="106" name="Rectangle 13"/>
            <p:cNvSpPr/>
            <p:nvPr/>
          </p:nvSpPr>
          <p:spPr>
            <a:xfrm>
              <a:off x="1062" y="2384"/>
              <a:ext cx="404"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尾部</a:t>
              </a:r>
              <a:endParaRPr lang="zh-CN" altLang="en-US" sz="1800" dirty="0">
                <a:latin typeface="微软雅黑" panose="020B0503020204020204" pitchFamily="34" charset="-122"/>
                <a:ea typeface="微软雅黑" panose="020B0503020204020204" pitchFamily="34" charset="-122"/>
              </a:endParaRPr>
            </a:p>
          </p:txBody>
        </p:sp>
      </p:grpSp>
      <p:sp>
        <p:nvSpPr>
          <p:cNvPr id="107" name="AutoShape 14"/>
          <p:cNvSpPr/>
          <p:nvPr/>
        </p:nvSpPr>
        <p:spPr>
          <a:xfrm rot="5400000">
            <a:off x="2132996" y="5975351"/>
            <a:ext cx="522287" cy="363537"/>
          </a:xfrm>
          <a:custGeom>
            <a:avLst/>
            <a:gdLst/>
            <a:ahLst/>
            <a:cxnLst>
              <a:cxn ang="17694720">
                <a:pos x="373072" y="0"/>
              </a:cxn>
              <a:cxn ang="11796480">
                <a:pos x="223834" y="121179"/>
              </a:cxn>
              <a:cxn ang="11796480">
                <a:pos x="0" y="302964"/>
              </a:cxn>
              <a:cxn ang="5898240">
                <a:pos x="223834" y="363537"/>
              </a:cxn>
              <a:cxn ang="0">
                <a:pos x="447668" y="252456"/>
              </a:cxn>
              <a:cxn ang="0">
                <a:pos x="522287" y="121179"/>
              </a:cxn>
            </a:cxnLst>
            <a:rect l="0" t="0" r="0" b="0"/>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FF0066"/>
          </a:solidFill>
          <a:ln w="9525" cap="flat" cmpd="sng">
            <a:solidFill>
              <a:srgbClr val="FF0066"/>
            </a:solidFill>
            <a:prstDash val="solid"/>
            <a:miter/>
            <a:headEnd type="none" w="med" len="med"/>
            <a:tailEnd type="none" w="med" len="med"/>
          </a:ln>
        </p:spPr>
        <p:txBody>
          <a:bodyPr/>
          <a:lstStyle/>
          <a:p>
            <a:endParaRPr lang="zh-CN" altLang="en-US"/>
          </a:p>
        </p:txBody>
      </p:sp>
      <p:grpSp>
        <p:nvGrpSpPr>
          <p:cNvPr id="108" name="Group 15"/>
          <p:cNvGrpSpPr/>
          <p:nvPr/>
        </p:nvGrpSpPr>
        <p:grpSpPr>
          <a:xfrm>
            <a:off x="3368156" y="3964781"/>
            <a:ext cx="2068513" cy="2544763"/>
            <a:chOff x="1505" y="1028"/>
            <a:chExt cx="1696" cy="1603"/>
          </a:xfrm>
        </p:grpSpPr>
        <p:grpSp>
          <p:nvGrpSpPr>
            <p:cNvPr id="109" name="Group 16"/>
            <p:cNvGrpSpPr/>
            <p:nvPr/>
          </p:nvGrpSpPr>
          <p:grpSpPr>
            <a:xfrm>
              <a:off x="1555" y="1028"/>
              <a:ext cx="1645" cy="234"/>
              <a:chOff x="1390" y="983"/>
              <a:chExt cx="1645" cy="234"/>
            </a:xfrm>
          </p:grpSpPr>
          <p:grpSp>
            <p:nvGrpSpPr>
              <p:cNvPr id="143" name="Group 17"/>
              <p:cNvGrpSpPr/>
              <p:nvPr/>
            </p:nvGrpSpPr>
            <p:grpSpPr>
              <a:xfrm>
                <a:off x="1390" y="983"/>
                <a:ext cx="1645" cy="193"/>
                <a:chOff x="1390" y="983"/>
                <a:chExt cx="1645" cy="239"/>
              </a:xfrm>
            </p:grpSpPr>
            <p:sp>
              <p:nvSpPr>
                <p:cNvPr id="145" name="Rectangle 18"/>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46" name="Rectangle 19"/>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44" name="Text Box 20"/>
              <p:cNvSpPr txBox="1"/>
              <p:nvPr/>
            </p:nvSpPr>
            <p:spPr>
              <a:xfrm>
                <a:off x="1929" y="986"/>
                <a:ext cx="641"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p:txBody>
          </p:sp>
        </p:grpSp>
        <p:grpSp>
          <p:nvGrpSpPr>
            <p:cNvPr id="110" name="Group 21"/>
            <p:cNvGrpSpPr/>
            <p:nvPr/>
          </p:nvGrpSpPr>
          <p:grpSpPr>
            <a:xfrm>
              <a:off x="1555" y="1224"/>
              <a:ext cx="1645" cy="234"/>
              <a:chOff x="1390" y="983"/>
              <a:chExt cx="1645" cy="234"/>
            </a:xfrm>
          </p:grpSpPr>
          <p:grpSp>
            <p:nvGrpSpPr>
              <p:cNvPr id="139" name="Group 22"/>
              <p:cNvGrpSpPr/>
              <p:nvPr/>
            </p:nvGrpSpPr>
            <p:grpSpPr>
              <a:xfrm>
                <a:off x="1390" y="983"/>
                <a:ext cx="1645" cy="193"/>
                <a:chOff x="1390" y="983"/>
                <a:chExt cx="1645" cy="239"/>
              </a:xfrm>
            </p:grpSpPr>
            <p:sp>
              <p:nvSpPr>
                <p:cNvPr id="141" name="Rectangle 23"/>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42" name="Rectangle 24"/>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40" name="Text Box 25"/>
              <p:cNvSpPr txBox="1"/>
              <p:nvPr/>
            </p:nvSpPr>
            <p:spPr>
              <a:xfrm>
                <a:off x="1929" y="986"/>
                <a:ext cx="641"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p:txBody>
          </p:sp>
        </p:grpSp>
        <p:sp>
          <p:nvSpPr>
            <p:cNvPr id="111" name="Rectangle 26"/>
            <p:cNvSpPr/>
            <p:nvPr/>
          </p:nvSpPr>
          <p:spPr>
            <a:xfrm>
              <a:off x="1728" y="1420"/>
              <a:ext cx="1472" cy="192"/>
            </a:xfrm>
            <a:prstGeom prst="rect">
              <a:avLst/>
            </a:prstGeom>
            <a:solidFill>
              <a:schemeClr val="tx1"/>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12" name="Rectangle 27"/>
            <p:cNvSpPr/>
            <p:nvPr/>
          </p:nvSpPr>
          <p:spPr>
            <a:xfrm>
              <a:off x="1555" y="1420"/>
              <a:ext cx="173" cy="193"/>
            </a:xfrm>
            <a:prstGeom prst="rect">
              <a:avLst/>
            </a:prstGeom>
            <a:solidFill>
              <a:srgbClr val="33CC33"/>
            </a:solid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13" name="Text Box 28"/>
            <p:cNvSpPr txBox="1"/>
            <p:nvPr/>
          </p:nvSpPr>
          <p:spPr>
            <a:xfrm>
              <a:off x="1870" y="1423"/>
              <a:ext cx="1088" cy="231"/>
            </a:xfrm>
            <a:prstGeom prst="rect">
              <a:avLst/>
            </a:prstGeom>
            <a:noFill/>
            <a:ln w="9525">
              <a:noFill/>
            </a:ln>
          </p:spPr>
          <p:txBody>
            <a:bodyPr wrap="none" anchor="t">
              <a:spAutoFit/>
            </a:bodyPr>
            <a:lstStyle/>
            <a:p>
              <a:pPr algn="ctr"/>
              <a:r>
                <a:rPr lang="zh-CN" altLang="en-US" sz="1800" dirty="0">
                  <a:solidFill>
                    <a:schemeClr val="bg1"/>
                  </a:solidFill>
                  <a:latin typeface="微软雅黑" panose="020B0503020204020204" pitchFamily="34" charset="-122"/>
                  <a:ea typeface="微软雅黑" panose="020B0503020204020204" pitchFamily="34" charset="-122"/>
                </a:rPr>
                <a:t>被删除记录</a:t>
              </a:r>
              <a:endParaRPr lang="zh-CN" altLang="en-US" sz="1800" dirty="0">
                <a:solidFill>
                  <a:schemeClr val="bg1"/>
                </a:solidFill>
                <a:latin typeface="微软雅黑" panose="020B0503020204020204" pitchFamily="34" charset="-122"/>
                <a:ea typeface="微软雅黑" panose="020B0503020204020204" pitchFamily="34" charset="-122"/>
              </a:endParaRPr>
            </a:p>
          </p:txBody>
        </p:sp>
        <p:grpSp>
          <p:nvGrpSpPr>
            <p:cNvPr id="114" name="Group 29"/>
            <p:cNvGrpSpPr/>
            <p:nvPr/>
          </p:nvGrpSpPr>
          <p:grpSpPr>
            <a:xfrm>
              <a:off x="1556" y="1615"/>
              <a:ext cx="1645" cy="234"/>
              <a:chOff x="1390" y="983"/>
              <a:chExt cx="1645" cy="234"/>
            </a:xfrm>
          </p:grpSpPr>
          <p:grpSp>
            <p:nvGrpSpPr>
              <p:cNvPr id="135" name="Group 30"/>
              <p:cNvGrpSpPr/>
              <p:nvPr/>
            </p:nvGrpSpPr>
            <p:grpSpPr>
              <a:xfrm>
                <a:off x="1390" y="983"/>
                <a:ext cx="1645" cy="193"/>
                <a:chOff x="1390" y="983"/>
                <a:chExt cx="1645" cy="239"/>
              </a:xfrm>
            </p:grpSpPr>
            <p:sp>
              <p:nvSpPr>
                <p:cNvPr id="137" name="Rectangle 31"/>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38" name="Rectangle 32"/>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36" name="Text Box 33"/>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4</a:t>
                </a:r>
                <a:endParaRPr lang="en-US" altLang="zh-CN" sz="1800" dirty="0">
                  <a:latin typeface="微软雅黑" panose="020B0503020204020204" pitchFamily="34" charset="-122"/>
                  <a:ea typeface="微软雅黑" panose="020B0503020204020204" pitchFamily="34" charset="-122"/>
                </a:endParaRPr>
              </a:p>
            </p:txBody>
          </p:sp>
        </p:grpSp>
        <p:grpSp>
          <p:nvGrpSpPr>
            <p:cNvPr id="115" name="Group 34"/>
            <p:cNvGrpSpPr/>
            <p:nvPr/>
          </p:nvGrpSpPr>
          <p:grpSpPr>
            <a:xfrm>
              <a:off x="1556" y="1811"/>
              <a:ext cx="1645" cy="234"/>
              <a:chOff x="1390" y="983"/>
              <a:chExt cx="1645" cy="234"/>
            </a:xfrm>
          </p:grpSpPr>
          <p:grpSp>
            <p:nvGrpSpPr>
              <p:cNvPr id="131" name="Group 35"/>
              <p:cNvGrpSpPr/>
              <p:nvPr/>
            </p:nvGrpSpPr>
            <p:grpSpPr>
              <a:xfrm>
                <a:off x="1390" y="983"/>
                <a:ext cx="1645" cy="193"/>
                <a:chOff x="1390" y="983"/>
                <a:chExt cx="1645" cy="239"/>
              </a:xfrm>
            </p:grpSpPr>
            <p:sp>
              <p:nvSpPr>
                <p:cNvPr id="133" name="Rectangle 36"/>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34" name="Rectangle 37"/>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32" name="Text Box 38"/>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5</a:t>
                </a:r>
                <a:endParaRPr lang="en-US" altLang="zh-CN" sz="1800" dirty="0">
                  <a:latin typeface="微软雅黑" panose="020B0503020204020204" pitchFamily="34" charset="-122"/>
                  <a:ea typeface="微软雅黑" panose="020B0503020204020204" pitchFamily="34" charset="-122"/>
                </a:endParaRPr>
              </a:p>
            </p:txBody>
          </p:sp>
        </p:grpSp>
        <p:sp>
          <p:nvSpPr>
            <p:cNvPr id="116" name="Rectangle 39"/>
            <p:cNvSpPr/>
            <p:nvPr/>
          </p:nvSpPr>
          <p:spPr>
            <a:xfrm>
              <a:off x="1729" y="2006"/>
              <a:ext cx="1472" cy="192"/>
            </a:xfrm>
            <a:prstGeom prst="rect">
              <a:avLst/>
            </a:prstGeom>
            <a:solidFill>
              <a:schemeClr val="tx1"/>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17" name="Rectangle 40"/>
            <p:cNvSpPr/>
            <p:nvPr/>
          </p:nvSpPr>
          <p:spPr>
            <a:xfrm>
              <a:off x="1556" y="2006"/>
              <a:ext cx="173" cy="193"/>
            </a:xfrm>
            <a:prstGeom prst="rect">
              <a:avLst/>
            </a:prstGeom>
            <a:solidFill>
              <a:srgbClr val="33CC33"/>
            </a:solid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18" name="Text Box 41"/>
            <p:cNvSpPr txBox="1"/>
            <p:nvPr/>
          </p:nvSpPr>
          <p:spPr>
            <a:xfrm>
              <a:off x="1871" y="2009"/>
              <a:ext cx="1088" cy="231"/>
            </a:xfrm>
            <a:prstGeom prst="rect">
              <a:avLst/>
            </a:prstGeom>
            <a:noFill/>
            <a:ln w="9525">
              <a:noFill/>
            </a:ln>
          </p:spPr>
          <p:txBody>
            <a:bodyPr wrap="none" anchor="t">
              <a:spAutoFit/>
            </a:bodyPr>
            <a:lstStyle/>
            <a:p>
              <a:pPr algn="ctr"/>
              <a:r>
                <a:rPr lang="zh-CN" altLang="en-US" sz="1800" dirty="0">
                  <a:solidFill>
                    <a:schemeClr val="bg1"/>
                  </a:solidFill>
                  <a:latin typeface="微软雅黑" panose="020B0503020204020204" pitchFamily="34" charset="-122"/>
                  <a:ea typeface="微软雅黑" panose="020B0503020204020204" pitchFamily="34" charset="-122"/>
                </a:rPr>
                <a:t>被删除记录</a:t>
              </a:r>
              <a:endParaRPr lang="zh-CN" altLang="en-US" sz="1800" dirty="0">
                <a:solidFill>
                  <a:schemeClr val="bg1"/>
                </a:solidFill>
                <a:latin typeface="微软雅黑" panose="020B0503020204020204" pitchFamily="34" charset="-122"/>
                <a:ea typeface="微软雅黑" panose="020B0503020204020204" pitchFamily="34" charset="-122"/>
              </a:endParaRPr>
            </a:p>
          </p:txBody>
        </p:sp>
        <p:grpSp>
          <p:nvGrpSpPr>
            <p:cNvPr id="119" name="Group 42"/>
            <p:cNvGrpSpPr/>
            <p:nvPr/>
          </p:nvGrpSpPr>
          <p:grpSpPr>
            <a:xfrm>
              <a:off x="1556" y="2202"/>
              <a:ext cx="1645" cy="234"/>
              <a:chOff x="1390" y="983"/>
              <a:chExt cx="1645" cy="234"/>
            </a:xfrm>
          </p:grpSpPr>
          <p:grpSp>
            <p:nvGrpSpPr>
              <p:cNvPr id="127" name="Group 43"/>
              <p:cNvGrpSpPr/>
              <p:nvPr/>
            </p:nvGrpSpPr>
            <p:grpSpPr>
              <a:xfrm>
                <a:off x="1390" y="983"/>
                <a:ext cx="1645" cy="193"/>
                <a:chOff x="1390" y="983"/>
                <a:chExt cx="1645" cy="239"/>
              </a:xfrm>
            </p:grpSpPr>
            <p:sp>
              <p:nvSpPr>
                <p:cNvPr id="129" name="Rectangle 44"/>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30" name="Rectangle 45"/>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28" name="Text Box 46"/>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6</a:t>
                </a:r>
                <a:endParaRPr lang="en-US" altLang="zh-CN" sz="1800" dirty="0">
                  <a:latin typeface="微软雅黑" panose="020B0503020204020204" pitchFamily="34" charset="-122"/>
                  <a:ea typeface="微软雅黑" panose="020B0503020204020204" pitchFamily="34" charset="-122"/>
                </a:endParaRPr>
              </a:p>
            </p:txBody>
          </p:sp>
        </p:grpSp>
        <p:grpSp>
          <p:nvGrpSpPr>
            <p:cNvPr id="120" name="Group 47"/>
            <p:cNvGrpSpPr/>
            <p:nvPr/>
          </p:nvGrpSpPr>
          <p:grpSpPr>
            <a:xfrm>
              <a:off x="1556" y="2397"/>
              <a:ext cx="1645" cy="234"/>
              <a:chOff x="1390" y="983"/>
              <a:chExt cx="1645" cy="234"/>
            </a:xfrm>
          </p:grpSpPr>
          <p:grpSp>
            <p:nvGrpSpPr>
              <p:cNvPr id="123" name="Group 48"/>
              <p:cNvGrpSpPr/>
              <p:nvPr/>
            </p:nvGrpSpPr>
            <p:grpSpPr>
              <a:xfrm>
                <a:off x="1390" y="983"/>
                <a:ext cx="1645" cy="193"/>
                <a:chOff x="1390" y="983"/>
                <a:chExt cx="1645" cy="239"/>
              </a:xfrm>
            </p:grpSpPr>
            <p:sp>
              <p:nvSpPr>
                <p:cNvPr id="125" name="Rectangle 49"/>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26" name="Rectangle 50"/>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24" name="Text Box 51"/>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7</a:t>
                </a:r>
                <a:endParaRPr lang="en-US" altLang="zh-CN" sz="1800" dirty="0">
                  <a:latin typeface="微软雅黑" panose="020B0503020204020204" pitchFamily="34" charset="-122"/>
                  <a:ea typeface="微软雅黑" panose="020B0503020204020204" pitchFamily="34" charset="-122"/>
                </a:endParaRPr>
              </a:p>
            </p:txBody>
          </p:sp>
        </p:grpSp>
        <p:sp>
          <p:nvSpPr>
            <p:cNvPr id="121" name="Text Box 52"/>
            <p:cNvSpPr txBox="1"/>
            <p:nvPr/>
          </p:nvSpPr>
          <p:spPr>
            <a:xfrm>
              <a:off x="1508" y="1419"/>
              <a:ext cx="283"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D</a:t>
              </a:r>
              <a:endParaRPr lang="en-US" altLang="zh-CN" dirty="0">
                <a:latin typeface="微软雅黑" panose="020B0503020204020204" pitchFamily="34" charset="-122"/>
                <a:ea typeface="微软雅黑" panose="020B0503020204020204" pitchFamily="34" charset="-122"/>
              </a:endParaRPr>
            </a:p>
          </p:txBody>
        </p:sp>
        <p:sp>
          <p:nvSpPr>
            <p:cNvPr id="122" name="Text Box 53"/>
            <p:cNvSpPr txBox="1"/>
            <p:nvPr/>
          </p:nvSpPr>
          <p:spPr>
            <a:xfrm>
              <a:off x="1505" y="2001"/>
              <a:ext cx="283"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D</a:t>
              </a:r>
              <a:endParaRPr lang="en-US" altLang="zh-CN" dirty="0">
                <a:latin typeface="微软雅黑" panose="020B0503020204020204" pitchFamily="34" charset="-122"/>
                <a:ea typeface="微软雅黑" panose="020B0503020204020204" pitchFamily="34" charset="-122"/>
              </a:endParaRPr>
            </a:p>
          </p:txBody>
        </p:sp>
      </p:grpSp>
      <p:grpSp>
        <p:nvGrpSpPr>
          <p:cNvPr id="147" name="Group 55"/>
          <p:cNvGrpSpPr/>
          <p:nvPr/>
        </p:nvGrpSpPr>
        <p:grpSpPr>
          <a:xfrm>
            <a:off x="6026697" y="5355431"/>
            <a:ext cx="2006600" cy="371475"/>
            <a:chOff x="2321" y="3865"/>
            <a:chExt cx="1645" cy="234"/>
          </a:xfrm>
        </p:grpSpPr>
        <p:sp>
          <p:nvSpPr>
            <p:cNvPr id="148" name="Rectangle 56"/>
            <p:cNvSpPr/>
            <p:nvPr/>
          </p:nvSpPr>
          <p:spPr>
            <a:xfrm>
              <a:off x="2494" y="3865"/>
              <a:ext cx="1472"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49" name="Rectangle 57"/>
            <p:cNvSpPr/>
            <p:nvPr/>
          </p:nvSpPr>
          <p:spPr>
            <a:xfrm>
              <a:off x="2321" y="3865"/>
              <a:ext cx="17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50" name="Text Box 58"/>
            <p:cNvSpPr txBox="1"/>
            <p:nvPr/>
          </p:nvSpPr>
          <p:spPr>
            <a:xfrm>
              <a:off x="2825" y="3868"/>
              <a:ext cx="713"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新记录</a:t>
              </a:r>
              <a:endParaRPr lang="zh-CN" altLang="en-US" sz="1800" dirty="0">
                <a:latin typeface="微软雅黑" panose="020B0503020204020204" pitchFamily="34" charset="-122"/>
                <a:ea typeface="微软雅黑" panose="020B0503020204020204" pitchFamily="34" charset="-122"/>
              </a:endParaRPr>
            </a:p>
          </p:txBody>
        </p:sp>
      </p:grpSp>
      <p:grpSp>
        <p:nvGrpSpPr>
          <p:cNvPr id="151" name="Group 59"/>
          <p:cNvGrpSpPr/>
          <p:nvPr/>
        </p:nvGrpSpPr>
        <p:grpSpPr>
          <a:xfrm>
            <a:off x="7398297" y="6117431"/>
            <a:ext cx="828675" cy="366713"/>
            <a:chOff x="3294" y="3550"/>
            <a:chExt cx="522" cy="231"/>
          </a:xfrm>
        </p:grpSpPr>
        <p:sp>
          <p:nvSpPr>
            <p:cNvPr id="152" name="Line 60"/>
            <p:cNvSpPr/>
            <p:nvPr/>
          </p:nvSpPr>
          <p:spPr>
            <a:xfrm>
              <a:off x="3414" y="3753"/>
              <a:ext cx="402" cy="0"/>
            </a:xfrm>
            <a:prstGeom prst="line">
              <a:avLst/>
            </a:prstGeom>
            <a:ln w="9525" cap="flat" cmpd="sng">
              <a:solidFill>
                <a:srgbClr val="FF0066"/>
              </a:solidFill>
              <a:prstDash val="solid"/>
              <a:round/>
              <a:headEnd type="none" w="med" len="med"/>
              <a:tailEnd type="triangle" w="med" len="med"/>
            </a:ln>
          </p:spPr>
        </p:sp>
        <p:sp>
          <p:nvSpPr>
            <p:cNvPr id="153" name="Rectangle 61"/>
            <p:cNvSpPr/>
            <p:nvPr/>
          </p:nvSpPr>
          <p:spPr>
            <a:xfrm>
              <a:off x="3294" y="3550"/>
              <a:ext cx="404"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尾部</a:t>
              </a:r>
              <a:endParaRPr lang="zh-CN" altLang="en-US" sz="1800" dirty="0">
                <a:latin typeface="微软雅黑" panose="020B0503020204020204" pitchFamily="34" charset="-122"/>
                <a:ea typeface="微软雅黑" panose="020B0503020204020204" pitchFamily="34" charset="-122"/>
              </a:endParaRPr>
            </a:p>
          </p:txBody>
        </p:sp>
      </p:grpSp>
      <p:grpSp>
        <p:nvGrpSpPr>
          <p:cNvPr id="154" name="Group 62"/>
          <p:cNvGrpSpPr/>
          <p:nvPr/>
        </p:nvGrpSpPr>
        <p:grpSpPr>
          <a:xfrm>
            <a:off x="8125372" y="3964781"/>
            <a:ext cx="2068513" cy="2543174"/>
            <a:chOff x="3872" y="2501"/>
            <a:chExt cx="1696" cy="1602"/>
          </a:xfrm>
        </p:grpSpPr>
        <p:grpSp>
          <p:nvGrpSpPr>
            <p:cNvPr id="155" name="Group 63"/>
            <p:cNvGrpSpPr/>
            <p:nvPr/>
          </p:nvGrpSpPr>
          <p:grpSpPr>
            <a:xfrm>
              <a:off x="3922" y="2501"/>
              <a:ext cx="1645" cy="233"/>
              <a:chOff x="1390" y="984"/>
              <a:chExt cx="1645" cy="233"/>
            </a:xfrm>
          </p:grpSpPr>
          <p:grpSp>
            <p:nvGrpSpPr>
              <p:cNvPr id="189" name="Group 64"/>
              <p:cNvGrpSpPr/>
              <p:nvPr/>
            </p:nvGrpSpPr>
            <p:grpSpPr>
              <a:xfrm>
                <a:off x="1390" y="984"/>
                <a:ext cx="1645" cy="194"/>
                <a:chOff x="1390" y="983"/>
                <a:chExt cx="1645" cy="240"/>
              </a:xfrm>
            </p:grpSpPr>
            <p:sp>
              <p:nvSpPr>
                <p:cNvPr id="191" name="Rectangle 65"/>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92" name="Rectangle 66"/>
                <p:cNvSpPr/>
                <p:nvPr/>
              </p:nvSpPr>
              <p:spPr>
                <a:xfrm>
                  <a:off x="1390" y="984"/>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90" name="Text Box 67"/>
              <p:cNvSpPr txBox="1"/>
              <p:nvPr/>
            </p:nvSpPr>
            <p:spPr>
              <a:xfrm>
                <a:off x="1929" y="986"/>
                <a:ext cx="641"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p:txBody>
          </p:sp>
        </p:grpSp>
        <p:grpSp>
          <p:nvGrpSpPr>
            <p:cNvPr id="156" name="Group 68"/>
            <p:cNvGrpSpPr/>
            <p:nvPr/>
          </p:nvGrpSpPr>
          <p:grpSpPr>
            <a:xfrm>
              <a:off x="3922" y="2696"/>
              <a:ext cx="1645" cy="234"/>
              <a:chOff x="1390" y="983"/>
              <a:chExt cx="1645" cy="234"/>
            </a:xfrm>
          </p:grpSpPr>
          <p:grpSp>
            <p:nvGrpSpPr>
              <p:cNvPr id="185" name="Group 69"/>
              <p:cNvGrpSpPr/>
              <p:nvPr/>
            </p:nvGrpSpPr>
            <p:grpSpPr>
              <a:xfrm>
                <a:off x="1390" y="983"/>
                <a:ext cx="1645" cy="193"/>
                <a:chOff x="1390" y="983"/>
                <a:chExt cx="1645" cy="239"/>
              </a:xfrm>
            </p:grpSpPr>
            <p:sp>
              <p:nvSpPr>
                <p:cNvPr id="187" name="Rectangle 70"/>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88" name="Rectangle 71"/>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86" name="Text Box 72"/>
              <p:cNvSpPr txBox="1"/>
              <p:nvPr/>
            </p:nvSpPr>
            <p:spPr>
              <a:xfrm>
                <a:off x="1929" y="986"/>
                <a:ext cx="641"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p:txBody>
          </p:sp>
        </p:grpSp>
        <p:sp>
          <p:nvSpPr>
            <p:cNvPr id="157" name="Rectangle 73"/>
            <p:cNvSpPr/>
            <p:nvPr/>
          </p:nvSpPr>
          <p:spPr>
            <a:xfrm>
              <a:off x="4095" y="2892"/>
              <a:ext cx="1472" cy="192"/>
            </a:xfrm>
            <a:prstGeom prst="rect">
              <a:avLst/>
            </a:prstGeom>
            <a:solidFill>
              <a:schemeClr val="tx1"/>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58" name="Rectangle 74"/>
            <p:cNvSpPr/>
            <p:nvPr/>
          </p:nvSpPr>
          <p:spPr>
            <a:xfrm>
              <a:off x="3922" y="2892"/>
              <a:ext cx="173" cy="193"/>
            </a:xfrm>
            <a:prstGeom prst="rect">
              <a:avLst/>
            </a:prstGeom>
            <a:solidFill>
              <a:srgbClr val="33CC33"/>
            </a:solid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59" name="Text Box 75"/>
            <p:cNvSpPr txBox="1"/>
            <p:nvPr/>
          </p:nvSpPr>
          <p:spPr>
            <a:xfrm>
              <a:off x="4237" y="2895"/>
              <a:ext cx="1088" cy="231"/>
            </a:xfrm>
            <a:prstGeom prst="rect">
              <a:avLst/>
            </a:prstGeom>
            <a:noFill/>
            <a:ln w="9525">
              <a:noFill/>
            </a:ln>
          </p:spPr>
          <p:txBody>
            <a:bodyPr wrap="none" anchor="t">
              <a:spAutoFit/>
            </a:bodyPr>
            <a:lstStyle/>
            <a:p>
              <a:pPr algn="ctr"/>
              <a:r>
                <a:rPr lang="zh-CN" altLang="en-US" sz="1800" dirty="0">
                  <a:solidFill>
                    <a:schemeClr val="bg1"/>
                  </a:solidFill>
                  <a:latin typeface="微软雅黑" panose="020B0503020204020204" pitchFamily="34" charset="-122"/>
                  <a:ea typeface="微软雅黑" panose="020B0503020204020204" pitchFamily="34" charset="-122"/>
                </a:rPr>
                <a:t>被删除记录</a:t>
              </a:r>
              <a:endParaRPr lang="zh-CN" altLang="en-US" sz="1800" dirty="0">
                <a:solidFill>
                  <a:schemeClr val="bg1"/>
                </a:solidFill>
                <a:latin typeface="微软雅黑" panose="020B0503020204020204" pitchFamily="34" charset="-122"/>
                <a:ea typeface="微软雅黑" panose="020B0503020204020204" pitchFamily="34" charset="-122"/>
              </a:endParaRPr>
            </a:p>
          </p:txBody>
        </p:sp>
        <p:grpSp>
          <p:nvGrpSpPr>
            <p:cNvPr id="160" name="Group 76"/>
            <p:cNvGrpSpPr/>
            <p:nvPr/>
          </p:nvGrpSpPr>
          <p:grpSpPr>
            <a:xfrm>
              <a:off x="3923" y="3087"/>
              <a:ext cx="1645" cy="234"/>
              <a:chOff x="1390" y="983"/>
              <a:chExt cx="1645" cy="234"/>
            </a:xfrm>
          </p:grpSpPr>
          <p:grpSp>
            <p:nvGrpSpPr>
              <p:cNvPr id="181" name="Group 77"/>
              <p:cNvGrpSpPr/>
              <p:nvPr/>
            </p:nvGrpSpPr>
            <p:grpSpPr>
              <a:xfrm>
                <a:off x="1390" y="983"/>
                <a:ext cx="1645" cy="193"/>
                <a:chOff x="1390" y="983"/>
                <a:chExt cx="1645" cy="239"/>
              </a:xfrm>
            </p:grpSpPr>
            <p:sp>
              <p:nvSpPr>
                <p:cNvPr id="183" name="Rectangle 78"/>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84" name="Rectangle 79"/>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82" name="Text Box 80"/>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4</a:t>
                </a:r>
                <a:endParaRPr lang="en-US" altLang="zh-CN" sz="1800" dirty="0">
                  <a:latin typeface="微软雅黑" panose="020B0503020204020204" pitchFamily="34" charset="-122"/>
                  <a:ea typeface="微软雅黑" panose="020B0503020204020204" pitchFamily="34" charset="-122"/>
                </a:endParaRPr>
              </a:p>
            </p:txBody>
          </p:sp>
        </p:grpSp>
        <p:grpSp>
          <p:nvGrpSpPr>
            <p:cNvPr id="161" name="Group 81"/>
            <p:cNvGrpSpPr/>
            <p:nvPr/>
          </p:nvGrpSpPr>
          <p:grpSpPr>
            <a:xfrm>
              <a:off x="3923" y="3283"/>
              <a:ext cx="1645" cy="234"/>
              <a:chOff x="1390" y="983"/>
              <a:chExt cx="1645" cy="234"/>
            </a:xfrm>
          </p:grpSpPr>
          <p:grpSp>
            <p:nvGrpSpPr>
              <p:cNvPr id="177" name="Group 82"/>
              <p:cNvGrpSpPr/>
              <p:nvPr/>
            </p:nvGrpSpPr>
            <p:grpSpPr>
              <a:xfrm>
                <a:off x="1390" y="983"/>
                <a:ext cx="1645" cy="193"/>
                <a:chOff x="1390" y="983"/>
                <a:chExt cx="1645" cy="239"/>
              </a:xfrm>
            </p:grpSpPr>
            <p:sp>
              <p:nvSpPr>
                <p:cNvPr id="179" name="Rectangle 83"/>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80" name="Rectangle 84"/>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78" name="Text Box 85"/>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5</a:t>
                </a:r>
                <a:endParaRPr lang="en-US" altLang="zh-CN" sz="1800" dirty="0">
                  <a:latin typeface="微软雅黑" panose="020B0503020204020204" pitchFamily="34" charset="-122"/>
                  <a:ea typeface="微软雅黑" panose="020B0503020204020204" pitchFamily="34" charset="-122"/>
                </a:endParaRPr>
              </a:p>
            </p:txBody>
          </p:sp>
        </p:grpSp>
        <p:sp>
          <p:nvSpPr>
            <p:cNvPr id="162" name="Rectangle 86"/>
            <p:cNvSpPr/>
            <p:nvPr/>
          </p:nvSpPr>
          <p:spPr>
            <a:xfrm>
              <a:off x="4096" y="3478"/>
              <a:ext cx="1472" cy="192"/>
            </a:xfrm>
            <a:prstGeom prst="rect">
              <a:avLst/>
            </a:prstGeom>
            <a:solidFill>
              <a:schemeClr val="tx1"/>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63" name="Rectangle 87"/>
            <p:cNvSpPr/>
            <p:nvPr/>
          </p:nvSpPr>
          <p:spPr>
            <a:xfrm>
              <a:off x="3923" y="3478"/>
              <a:ext cx="173" cy="193"/>
            </a:xfrm>
            <a:prstGeom prst="rect">
              <a:avLst/>
            </a:prstGeom>
            <a:solidFill>
              <a:srgbClr val="33CC33"/>
            </a:solid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64" name="Text Box 88"/>
            <p:cNvSpPr txBox="1"/>
            <p:nvPr/>
          </p:nvSpPr>
          <p:spPr>
            <a:xfrm>
              <a:off x="4238" y="3481"/>
              <a:ext cx="1088" cy="231"/>
            </a:xfrm>
            <a:prstGeom prst="rect">
              <a:avLst/>
            </a:prstGeom>
            <a:noFill/>
            <a:ln w="9525">
              <a:noFill/>
            </a:ln>
          </p:spPr>
          <p:txBody>
            <a:bodyPr wrap="none" anchor="t">
              <a:spAutoFit/>
            </a:bodyPr>
            <a:lstStyle/>
            <a:p>
              <a:pPr algn="ctr"/>
              <a:r>
                <a:rPr lang="zh-CN" altLang="en-US" sz="1800" dirty="0">
                  <a:solidFill>
                    <a:schemeClr val="bg1"/>
                  </a:solidFill>
                  <a:latin typeface="微软雅黑" panose="020B0503020204020204" pitchFamily="34" charset="-122"/>
                  <a:ea typeface="微软雅黑" panose="020B0503020204020204" pitchFamily="34" charset="-122"/>
                </a:rPr>
                <a:t>被删除记录</a:t>
              </a:r>
              <a:endParaRPr lang="zh-CN" altLang="en-US" sz="1800" dirty="0">
                <a:solidFill>
                  <a:schemeClr val="bg1"/>
                </a:solidFill>
                <a:latin typeface="微软雅黑" panose="020B0503020204020204" pitchFamily="34" charset="-122"/>
                <a:ea typeface="微软雅黑" panose="020B0503020204020204" pitchFamily="34" charset="-122"/>
              </a:endParaRPr>
            </a:p>
          </p:txBody>
        </p:sp>
        <p:grpSp>
          <p:nvGrpSpPr>
            <p:cNvPr id="165" name="Group 89"/>
            <p:cNvGrpSpPr/>
            <p:nvPr/>
          </p:nvGrpSpPr>
          <p:grpSpPr>
            <a:xfrm>
              <a:off x="3923" y="3674"/>
              <a:ext cx="1645" cy="234"/>
              <a:chOff x="1390" y="983"/>
              <a:chExt cx="1645" cy="234"/>
            </a:xfrm>
          </p:grpSpPr>
          <p:grpSp>
            <p:nvGrpSpPr>
              <p:cNvPr id="173" name="Group 90"/>
              <p:cNvGrpSpPr/>
              <p:nvPr/>
            </p:nvGrpSpPr>
            <p:grpSpPr>
              <a:xfrm>
                <a:off x="1390" y="983"/>
                <a:ext cx="1645" cy="193"/>
                <a:chOff x="1390" y="983"/>
                <a:chExt cx="1645" cy="239"/>
              </a:xfrm>
            </p:grpSpPr>
            <p:sp>
              <p:nvSpPr>
                <p:cNvPr id="175" name="Rectangle 91"/>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76" name="Rectangle 92"/>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74" name="Text Box 93"/>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6</a:t>
                </a:r>
                <a:endParaRPr lang="en-US" altLang="zh-CN" sz="1800" dirty="0">
                  <a:latin typeface="微软雅黑" panose="020B0503020204020204" pitchFamily="34" charset="-122"/>
                  <a:ea typeface="微软雅黑" panose="020B0503020204020204" pitchFamily="34" charset="-122"/>
                </a:endParaRPr>
              </a:p>
            </p:txBody>
          </p:sp>
        </p:grpSp>
        <p:grpSp>
          <p:nvGrpSpPr>
            <p:cNvPr id="166" name="Group 94"/>
            <p:cNvGrpSpPr/>
            <p:nvPr/>
          </p:nvGrpSpPr>
          <p:grpSpPr>
            <a:xfrm>
              <a:off x="3923" y="3869"/>
              <a:ext cx="1645" cy="234"/>
              <a:chOff x="1390" y="983"/>
              <a:chExt cx="1645" cy="234"/>
            </a:xfrm>
          </p:grpSpPr>
          <p:grpSp>
            <p:nvGrpSpPr>
              <p:cNvPr id="169" name="Group 95"/>
              <p:cNvGrpSpPr/>
              <p:nvPr/>
            </p:nvGrpSpPr>
            <p:grpSpPr>
              <a:xfrm>
                <a:off x="1390" y="983"/>
                <a:ext cx="1645" cy="193"/>
                <a:chOff x="1390" y="983"/>
                <a:chExt cx="1645" cy="239"/>
              </a:xfrm>
            </p:grpSpPr>
            <p:sp>
              <p:nvSpPr>
                <p:cNvPr id="171" name="Rectangle 96"/>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72" name="Rectangle 97"/>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70" name="Text Box 98"/>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7</a:t>
                </a:r>
                <a:endParaRPr lang="en-US" altLang="zh-CN" sz="1800" dirty="0">
                  <a:latin typeface="微软雅黑" panose="020B0503020204020204" pitchFamily="34" charset="-122"/>
                  <a:ea typeface="微软雅黑" panose="020B0503020204020204" pitchFamily="34" charset="-122"/>
                </a:endParaRPr>
              </a:p>
            </p:txBody>
          </p:sp>
        </p:grpSp>
        <p:sp>
          <p:nvSpPr>
            <p:cNvPr id="167" name="Text Box 99"/>
            <p:cNvSpPr txBox="1"/>
            <p:nvPr/>
          </p:nvSpPr>
          <p:spPr>
            <a:xfrm>
              <a:off x="3875" y="2891"/>
              <a:ext cx="283"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D</a:t>
              </a:r>
              <a:endParaRPr lang="en-US" altLang="zh-CN" dirty="0">
                <a:latin typeface="微软雅黑" panose="020B0503020204020204" pitchFamily="34" charset="-122"/>
                <a:ea typeface="微软雅黑" panose="020B0503020204020204" pitchFamily="34" charset="-122"/>
              </a:endParaRPr>
            </a:p>
          </p:txBody>
        </p:sp>
        <p:sp>
          <p:nvSpPr>
            <p:cNvPr id="168" name="Text Box 100"/>
            <p:cNvSpPr txBox="1"/>
            <p:nvPr/>
          </p:nvSpPr>
          <p:spPr>
            <a:xfrm>
              <a:off x="3872" y="3473"/>
              <a:ext cx="283"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D</a:t>
              </a:r>
              <a:endParaRPr lang="en-US" altLang="zh-CN" dirty="0">
                <a:latin typeface="微软雅黑" panose="020B0503020204020204" pitchFamily="34" charset="-122"/>
                <a:ea typeface="微软雅黑" panose="020B0503020204020204" pitchFamily="34" charset="-122"/>
              </a:endParaRPr>
            </a:p>
          </p:txBody>
        </p:sp>
      </p:grpSp>
      <p:sp>
        <p:nvSpPr>
          <p:cNvPr id="193" name="AutoShape 101"/>
          <p:cNvSpPr/>
          <p:nvPr/>
        </p:nvSpPr>
        <p:spPr>
          <a:xfrm rot="-5400000" flipV="1">
            <a:off x="7469735" y="4666456"/>
            <a:ext cx="696912" cy="434975"/>
          </a:xfrm>
          <a:custGeom>
            <a:avLst/>
            <a:gdLst/>
            <a:ahLst/>
            <a:cxnLst>
              <a:cxn ang="17694720">
                <a:pos x="497809" y="0"/>
              </a:cxn>
              <a:cxn ang="11796480">
                <a:pos x="298672" y="144992"/>
              </a:cxn>
              <a:cxn ang="11796480">
                <a:pos x="0" y="362499"/>
              </a:cxn>
              <a:cxn ang="5898240">
                <a:pos x="298672" y="434975"/>
              </a:cxn>
              <a:cxn ang="0">
                <a:pos x="597345" y="302066"/>
              </a:cxn>
              <a:cxn ang="0">
                <a:pos x="696913" y="144992"/>
              </a:cxn>
            </a:cxnLst>
            <a:rect l="0" t="0" r="0" b="0"/>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FF0066"/>
          </a:solidFill>
          <a:ln w="9525" cap="flat" cmpd="sng">
            <a:solidFill>
              <a:srgbClr val="FF0066"/>
            </a:solidFill>
            <a:prstDash val="solid"/>
            <a:miter/>
            <a:headEnd type="none" w="med" len="med"/>
            <a:tailEnd type="non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anim calcmode="lin" valueType="num">
                                      <p:cBhvr additive="base">
                                        <p:cTn id="7" dur="500" fill="hold"/>
                                        <p:tgtEl>
                                          <p:spTgt spid="147"/>
                                        </p:tgtEl>
                                        <p:attrNameLst>
                                          <p:attrName>ppt_x</p:attrName>
                                        </p:attrNameLst>
                                      </p:cBhvr>
                                      <p:tavLst>
                                        <p:tav tm="0">
                                          <p:val>
                                            <p:strVal val="#ppt_x"/>
                                          </p:val>
                                        </p:tav>
                                        <p:tav tm="100000">
                                          <p:val>
                                            <p:strVal val="#ppt_x"/>
                                          </p:val>
                                        </p:tav>
                                      </p:tavLst>
                                    </p:anim>
                                    <p:anim calcmode="lin" valueType="num">
                                      <p:cBhvr additive="base">
                                        <p:cTn id="8" dur="500" fill="hold"/>
                                        <p:tgtEl>
                                          <p:spTgt spid="14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1"/>
                                        </p:tgtEl>
                                        <p:attrNameLst>
                                          <p:attrName>style.visibility</p:attrName>
                                        </p:attrNameLst>
                                      </p:cBhvr>
                                      <p:to>
                                        <p:strVal val="visible"/>
                                      </p:to>
                                    </p:set>
                                    <p:anim calcmode="lin" valueType="num">
                                      <p:cBhvr additive="base">
                                        <p:cTn id="11" dur="500" fill="hold"/>
                                        <p:tgtEl>
                                          <p:spTgt spid="151"/>
                                        </p:tgtEl>
                                        <p:attrNameLst>
                                          <p:attrName>ppt_x</p:attrName>
                                        </p:attrNameLst>
                                      </p:cBhvr>
                                      <p:tavLst>
                                        <p:tav tm="0">
                                          <p:val>
                                            <p:strVal val="#ppt_x"/>
                                          </p:val>
                                        </p:tav>
                                        <p:tav tm="100000">
                                          <p:val>
                                            <p:strVal val="#ppt_x"/>
                                          </p:val>
                                        </p:tav>
                                      </p:tavLst>
                                    </p:anim>
                                    <p:anim calcmode="lin" valueType="num">
                                      <p:cBhvr additive="base">
                                        <p:cTn id="12" dur="500" fill="hold"/>
                                        <p:tgtEl>
                                          <p:spTgt spid="15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4"/>
                                        </p:tgtEl>
                                        <p:attrNameLst>
                                          <p:attrName>style.visibility</p:attrName>
                                        </p:attrNameLst>
                                      </p:cBhvr>
                                      <p:to>
                                        <p:strVal val="visible"/>
                                      </p:to>
                                    </p:set>
                                    <p:anim calcmode="lin" valueType="num">
                                      <p:cBhvr additive="base">
                                        <p:cTn id="15" dur="500" fill="hold"/>
                                        <p:tgtEl>
                                          <p:spTgt spid="154"/>
                                        </p:tgtEl>
                                        <p:attrNameLst>
                                          <p:attrName>ppt_x</p:attrName>
                                        </p:attrNameLst>
                                      </p:cBhvr>
                                      <p:tavLst>
                                        <p:tav tm="0">
                                          <p:val>
                                            <p:strVal val="#ppt_x"/>
                                          </p:val>
                                        </p:tav>
                                        <p:tav tm="100000">
                                          <p:val>
                                            <p:strVal val="#ppt_x"/>
                                          </p:val>
                                        </p:tav>
                                      </p:tavLst>
                                    </p:anim>
                                    <p:anim calcmode="lin" valueType="num">
                                      <p:cBhvr additive="base">
                                        <p:cTn id="16" dur="500" fill="hold"/>
                                        <p:tgtEl>
                                          <p:spTgt spid="15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93"/>
                                        </p:tgtEl>
                                        <p:attrNameLst>
                                          <p:attrName>style.visibility</p:attrName>
                                        </p:attrNameLst>
                                      </p:cBhvr>
                                      <p:to>
                                        <p:strVal val="visible"/>
                                      </p:to>
                                    </p:set>
                                    <p:anim calcmode="lin" valueType="num">
                                      <p:cBhvr additive="base">
                                        <p:cTn id="19" dur="500" fill="hold"/>
                                        <p:tgtEl>
                                          <p:spTgt spid="193"/>
                                        </p:tgtEl>
                                        <p:attrNameLst>
                                          <p:attrName>ppt_x</p:attrName>
                                        </p:attrNameLst>
                                      </p:cBhvr>
                                      <p:tavLst>
                                        <p:tav tm="0">
                                          <p:val>
                                            <p:strVal val="#ppt_x"/>
                                          </p:val>
                                        </p:tav>
                                        <p:tav tm="100000">
                                          <p:val>
                                            <p:strVal val="#ppt_x"/>
                                          </p:val>
                                        </p:tav>
                                      </p:tavLst>
                                    </p:anim>
                                    <p:anim calcmode="lin" valueType="num">
                                      <p:cBhvr additive="base">
                                        <p:cTn id="20" dur="500" fill="hold"/>
                                        <p:tgtEl>
                                          <p:spTgt spid="1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基础回顾-数据库之文件组织方法</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无序文件组织</a:t>
            </a:r>
            <a:endParaRPr lang="en-US" altLang="zh-CN" dirty="0">
              <a:latin typeface="微软雅黑" panose="020B0503020204020204" pitchFamily="34" charset="-122"/>
              <a:ea typeface="微软雅黑" panose="020B0503020204020204" pitchFamily="34" charset="-122"/>
            </a:endParaRPr>
          </a:p>
          <a:p>
            <a:pPr>
              <a:lnSpc>
                <a:spcPct val="100000"/>
              </a:lnSpc>
            </a:pPr>
            <a:r>
              <a:rPr lang="zh-CN" altLang="en-US" sz="2000" b="0" dirty="0">
                <a:solidFill>
                  <a:srgbClr val="FF0000"/>
                </a:solidFill>
              </a:rPr>
              <a:t>文件组织方法之一：无序记录文件</a:t>
            </a:r>
            <a:r>
              <a:rPr lang="en-US" altLang="zh-CN" sz="2000" b="0" dirty="0">
                <a:solidFill>
                  <a:srgbClr val="FF0000"/>
                </a:solidFill>
              </a:rPr>
              <a:t>(</a:t>
            </a:r>
            <a:r>
              <a:rPr lang="zh-CN" altLang="en-US" sz="2000" b="0" dirty="0">
                <a:solidFill>
                  <a:srgbClr val="FF0000"/>
                </a:solidFill>
              </a:rPr>
              <a:t>堆文件</a:t>
            </a:r>
            <a:r>
              <a:rPr lang="en-US" altLang="zh-CN" sz="2000" b="0" dirty="0">
                <a:solidFill>
                  <a:srgbClr val="FF0000"/>
                </a:solidFill>
              </a:rPr>
              <a:t>heap</a:t>
            </a:r>
            <a:r>
              <a:rPr lang="zh-CN" altLang="en-US" sz="2000" b="0" dirty="0">
                <a:solidFill>
                  <a:srgbClr val="FF0000"/>
                </a:solidFill>
              </a:rPr>
              <a:t>或</a:t>
            </a:r>
            <a:r>
              <a:rPr lang="en-US" altLang="zh-CN" sz="2000" b="0" dirty="0">
                <a:solidFill>
                  <a:srgbClr val="FF0000"/>
                </a:solidFill>
              </a:rPr>
              <a:t>pile file)</a:t>
            </a:r>
            <a:endParaRPr lang="en-US" altLang="zh-CN" sz="2000" b="0" dirty="0">
              <a:solidFill>
                <a:srgbClr val="FF0000"/>
              </a:solidFill>
            </a:endParaRPr>
          </a:p>
          <a:p>
            <a:pPr marL="342900" lvl="1" indent="-342900">
              <a:lnSpc>
                <a:spcPct val="100000"/>
              </a:lnSpc>
              <a:spcBef>
                <a:spcPts val="1000"/>
              </a:spcBef>
              <a:buFont typeface="Wingdings" panose="05000000000000000000" pitchFamily="2" charset="2"/>
              <a:buChar char="l"/>
            </a:pPr>
            <a:r>
              <a:rPr lang="zh-CN" altLang="en-US" sz="1800" dirty="0"/>
              <a:t>频繁删增记录时会造成空间浪费，所以需要周期性重新组织数据库</a:t>
            </a:r>
            <a:endParaRPr lang="zh-CN" altLang="en-US" sz="1800" dirty="0"/>
          </a:p>
          <a:p>
            <a:pPr marL="285750" lvl="1" indent="-285750">
              <a:lnSpc>
                <a:spcPct val="100000"/>
              </a:lnSpc>
              <a:spcBef>
                <a:spcPts val="1000"/>
              </a:spcBef>
              <a:buFont typeface="Wingdings" panose="05000000000000000000" pitchFamily="2" charset="2"/>
              <a:buChar char="l"/>
            </a:pPr>
            <a:r>
              <a:rPr lang="zh-CN" altLang="en-US" sz="1800" dirty="0"/>
              <a:t> </a:t>
            </a:r>
            <a:r>
              <a:rPr lang="zh-CN" altLang="en-US" sz="1800" dirty="0">
                <a:solidFill>
                  <a:srgbClr val="FF0000"/>
                </a:solidFill>
              </a:rPr>
              <a:t>数据库重组</a:t>
            </a:r>
            <a:r>
              <a:rPr lang="en-US" altLang="zh-CN" sz="1800" dirty="0">
                <a:solidFill>
                  <a:srgbClr val="FF0000"/>
                </a:solidFill>
              </a:rPr>
              <a:t>(Reorganization)</a:t>
            </a:r>
            <a:r>
              <a:rPr lang="zh-CN" altLang="en-US" sz="1800" dirty="0"/>
              <a:t>是通过移走被删除的记录使有效记录连续存放，从而回收那些由删除记录而产生的未利用空间。</a:t>
            </a:r>
            <a:endParaRPr lang="zh-CN" altLang="en-US" sz="1800" dirty="0"/>
          </a:p>
          <a:p>
            <a:pPr>
              <a:lnSpc>
                <a:spcPct val="100000"/>
              </a:lnSpc>
              <a:buFont typeface="Wingdings" panose="05000000000000000000" pitchFamily="2" charset="2"/>
              <a:buChar char="l"/>
            </a:pPr>
            <a:endParaRPr lang="zh-CN" altLang="en-US" sz="1800" dirty="0"/>
          </a:p>
          <a:p>
            <a:pPr marL="0" indent="0">
              <a:lnSpc>
                <a:spcPct val="130000"/>
              </a:lnSpc>
              <a:buNone/>
            </a:pPr>
            <a:endParaRPr lang="en-US" altLang="zh-CN" sz="3200" dirty="0">
              <a:solidFill>
                <a:srgbClr val="CC0000"/>
              </a:solidFill>
              <a:latin typeface="微软雅黑" panose="020B0503020204020204" pitchFamily="34" charset="-122"/>
              <a:ea typeface="微软雅黑" panose="020B0503020204020204" pitchFamily="34" charset="-122"/>
            </a:endParaRPr>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grpSp>
        <p:nvGrpSpPr>
          <p:cNvPr id="2" name="Group 31"/>
          <p:cNvGrpSpPr/>
          <p:nvPr/>
        </p:nvGrpSpPr>
        <p:grpSpPr>
          <a:xfrm>
            <a:off x="3110347" y="3533775"/>
            <a:ext cx="2068512" cy="2544763"/>
            <a:chOff x="1505" y="1028"/>
            <a:chExt cx="1696" cy="1603"/>
          </a:xfrm>
        </p:grpSpPr>
        <p:grpSp>
          <p:nvGrpSpPr>
            <p:cNvPr id="6" name="Group 32"/>
            <p:cNvGrpSpPr/>
            <p:nvPr/>
          </p:nvGrpSpPr>
          <p:grpSpPr>
            <a:xfrm>
              <a:off x="1555" y="1028"/>
              <a:ext cx="1645" cy="234"/>
              <a:chOff x="1390" y="983"/>
              <a:chExt cx="1645" cy="234"/>
            </a:xfrm>
          </p:grpSpPr>
          <p:grpSp>
            <p:nvGrpSpPr>
              <p:cNvPr id="41" name="Group 33"/>
              <p:cNvGrpSpPr/>
              <p:nvPr/>
            </p:nvGrpSpPr>
            <p:grpSpPr>
              <a:xfrm>
                <a:off x="1390" y="983"/>
                <a:ext cx="1645" cy="193"/>
                <a:chOff x="1390" y="983"/>
                <a:chExt cx="1645" cy="239"/>
              </a:xfrm>
            </p:grpSpPr>
            <p:sp>
              <p:nvSpPr>
                <p:cNvPr id="43" name="Rectangle 34"/>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44" name="Rectangle 35"/>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42" name="Text Box 36"/>
              <p:cNvSpPr txBox="1"/>
              <p:nvPr/>
            </p:nvSpPr>
            <p:spPr>
              <a:xfrm>
                <a:off x="1929" y="986"/>
                <a:ext cx="641"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p:txBody>
          </p:sp>
        </p:grpSp>
        <p:grpSp>
          <p:nvGrpSpPr>
            <p:cNvPr id="7" name="Group 37"/>
            <p:cNvGrpSpPr/>
            <p:nvPr/>
          </p:nvGrpSpPr>
          <p:grpSpPr>
            <a:xfrm>
              <a:off x="1555" y="1224"/>
              <a:ext cx="1645" cy="234"/>
              <a:chOff x="1390" y="983"/>
              <a:chExt cx="1645" cy="234"/>
            </a:xfrm>
          </p:grpSpPr>
          <p:grpSp>
            <p:nvGrpSpPr>
              <p:cNvPr id="37" name="Group 38"/>
              <p:cNvGrpSpPr/>
              <p:nvPr/>
            </p:nvGrpSpPr>
            <p:grpSpPr>
              <a:xfrm>
                <a:off x="1390" y="983"/>
                <a:ext cx="1645" cy="193"/>
                <a:chOff x="1390" y="983"/>
                <a:chExt cx="1645" cy="239"/>
              </a:xfrm>
            </p:grpSpPr>
            <p:sp>
              <p:nvSpPr>
                <p:cNvPr id="39" name="Rectangle 39"/>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40" name="Rectangle 40"/>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38" name="Text Box 41"/>
              <p:cNvSpPr txBox="1"/>
              <p:nvPr/>
            </p:nvSpPr>
            <p:spPr>
              <a:xfrm>
                <a:off x="1929" y="986"/>
                <a:ext cx="641"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p:txBody>
          </p:sp>
        </p:grpSp>
        <p:sp>
          <p:nvSpPr>
            <p:cNvPr id="8" name="Rectangle 42"/>
            <p:cNvSpPr/>
            <p:nvPr/>
          </p:nvSpPr>
          <p:spPr>
            <a:xfrm>
              <a:off x="1728" y="1420"/>
              <a:ext cx="1472" cy="192"/>
            </a:xfrm>
            <a:prstGeom prst="rect">
              <a:avLst/>
            </a:prstGeom>
            <a:solidFill>
              <a:schemeClr val="tx1"/>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9" name="Rectangle 43"/>
            <p:cNvSpPr/>
            <p:nvPr/>
          </p:nvSpPr>
          <p:spPr>
            <a:xfrm>
              <a:off x="1555" y="1420"/>
              <a:ext cx="173" cy="193"/>
            </a:xfrm>
            <a:prstGeom prst="rect">
              <a:avLst/>
            </a:prstGeom>
            <a:solidFill>
              <a:srgbClr val="33CC33"/>
            </a:solid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0" name="Text Box 44"/>
            <p:cNvSpPr txBox="1"/>
            <p:nvPr/>
          </p:nvSpPr>
          <p:spPr>
            <a:xfrm>
              <a:off x="1870" y="1423"/>
              <a:ext cx="1088" cy="231"/>
            </a:xfrm>
            <a:prstGeom prst="rect">
              <a:avLst/>
            </a:prstGeom>
            <a:noFill/>
            <a:ln w="9525">
              <a:noFill/>
            </a:ln>
          </p:spPr>
          <p:txBody>
            <a:bodyPr wrap="none" anchor="t">
              <a:spAutoFit/>
            </a:bodyPr>
            <a:lstStyle/>
            <a:p>
              <a:pPr algn="ctr"/>
              <a:r>
                <a:rPr lang="zh-CN" altLang="en-US" sz="1800" dirty="0">
                  <a:solidFill>
                    <a:schemeClr val="bg1"/>
                  </a:solidFill>
                  <a:latin typeface="微软雅黑" panose="020B0503020204020204" pitchFamily="34" charset="-122"/>
                  <a:ea typeface="微软雅黑" panose="020B0503020204020204" pitchFamily="34" charset="-122"/>
                </a:rPr>
                <a:t>被删除记录</a:t>
              </a:r>
              <a:endParaRPr lang="zh-CN" altLang="en-US" sz="1800" dirty="0">
                <a:solidFill>
                  <a:schemeClr val="bg1"/>
                </a:solidFill>
                <a:latin typeface="微软雅黑" panose="020B0503020204020204" pitchFamily="34" charset="-122"/>
                <a:ea typeface="微软雅黑" panose="020B0503020204020204" pitchFamily="34" charset="-122"/>
              </a:endParaRPr>
            </a:p>
          </p:txBody>
        </p:sp>
        <p:grpSp>
          <p:nvGrpSpPr>
            <p:cNvPr id="11" name="Group 45"/>
            <p:cNvGrpSpPr/>
            <p:nvPr/>
          </p:nvGrpSpPr>
          <p:grpSpPr>
            <a:xfrm>
              <a:off x="1556" y="1615"/>
              <a:ext cx="1645" cy="234"/>
              <a:chOff x="1390" y="983"/>
              <a:chExt cx="1645" cy="234"/>
            </a:xfrm>
          </p:grpSpPr>
          <p:grpSp>
            <p:nvGrpSpPr>
              <p:cNvPr id="32" name="Group 46"/>
              <p:cNvGrpSpPr/>
              <p:nvPr/>
            </p:nvGrpSpPr>
            <p:grpSpPr>
              <a:xfrm>
                <a:off x="1390" y="983"/>
                <a:ext cx="1645" cy="193"/>
                <a:chOff x="1390" y="983"/>
                <a:chExt cx="1645" cy="239"/>
              </a:xfrm>
            </p:grpSpPr>
            <p:sp>
              <p:nvSpPr>
                <p:cNvPr id="34" name="Rectangle 47"/>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36" name="Rectangle 48"/>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33" name="Text Box 49"/>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4</a:t>
                </a:r>
                <a:endParaRPr lang="en-US" altLang="zh-CN" sz="1800" dirty="0">
                  <a:latin typeface="微软雅黑" panose="020B0503020204020204" pitchFamily="34" charset="-122"/>
                  <a:ea typeface="微软雅黑" panose="020B0503020204020204" pitchFamily="34" charset="-122"/>
                </a:endParaRPr>
              </a:p>
            </p:txBody>
          </p:sp>
        </p:grpSp>
        <p:grpSp>
          <p:nvGrpSpPr>
            <p:cNvPr id="12" name="Group 50"/>
            <p:cNvGrpSpPr/>
            <p:nvPr/>
          </p:nvGrpSpPr>
          <p:grpSpPr>
            <a:xfrm>
              <a:off x="1556" y="1811"/>
              <a:ext cx="1645" cy="234"/>
              <a:chOff x="1390" y="983"/>
              <a:chExt cx="1645" cy="234"/>
            </a:xfrm>
          </p:grpSpPr>
          <p:grpSp>
            <p:nvGrpSpPr>
              <p:cNvPr id="28" name="Group 51"/>
              <p:cNvGrpSpPr/>
              <p:nvPr/>
            </p:nvGrpSpPr>
            <p:grpSpPr>
              <a:xfrm>
                <a:off x="1390" y="983"/>
                <a:ext cx="1645" cy="193"/>
                <a:chOff x="1390" y="983"/>
                <a:chExt cx="1645" cy="239"/>
              </a:xfrm>
            </p:grpSpPr>
            <p:sp>
              <p:nvSpPr>
                <p:cNvPr id="30" name="Rectangle 52"/>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31" name="Rectangle 53"/>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9" name="Text Box 54"/>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5</a:t>
                </a:r>
                <a:endParaRPr lang="en-US" altLang="zh-CN" sz="1800" dirty="0">
                  <a:latin typeface="微软雅黑" panose="020B0503020204020204" pitchFamily="34" charset="-122"/>
                  <a:ea typeface="微软雅黑" panose="020B0503020204020204" pitchFamily="34" charset="-122"/>
                </a:endParaRPr>
              </a:p>
            </p:txBody>
          </p:sp>
        </p:grpSp>
        <p:sp>
          <p:nvSpPr>
            <p:cNvPr id="13" name="Rectangle 55"/>
            <p:cNvSpPr/>
            <p:nvPr/>
          </p:nvSpPr>
          <p:spPr>
            <a:xfrm>
              <a:off x="1729" y="2006"/>
              <a:ext cx="1472" cy="192"/>
            </a:xfrm>
            <a:prstGeom prst="rect">
              <a:avLst/>
            </a:prstGeom>
            <a:solidFill>
              <a:schemeClr val="tx1"/>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4" name="Rectangle 56"/>
            <p:cNvSpPr/>
            <p:nvPr/>
          </p:nvSpPr>
          <p:spPr>
            <a:xfrm>
              <a:off x="1556" y="2006"/>
              <a:ext cx="173" cy="193"/>
            </a:xfrm>
            <a:prstGeom prst="rect">
              <a:avLst/>
            </a:prstGeom>
            <a:solidFill>
              <a:srgbClr val="33CC33"/>
            </a:solidFill>
            <a:ln w="9525" cap="flat" cmpd="sng">
              <a:solidFill>
                <a:srgbClr val="FF0066"/>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5" name="Text Box 57"/>
            <p:cNvSpPr txBox="1"/>
            <p:nvPr/>
          </p:nvSpPr>
          <p:spPr>
            <a:xfrm>
              <a:off x="1871" y="2009"/>
              <a:ext cx="1088" cy="231"/>
            </a:xfrm>
            <a:prstGeom prst="rect">
              <a:avLst/>
            </a:prstGeom>
            <a:noFill/>
            <a:ln w="9525">
              <a:noFill/>
            </a:ln>
          </p:spPr>
          <p:txBody>
            <a:bodyPr wrap="none" anchor="t">
              <a:spAutoFit/>
            </a:bodyPr>
            <a:lstStyle/>
            <a:p>
              <a:pPr algn="ctr"/>
              <a:r>
                <a:rPr lang="zh-CN" altLang="en-US" sz="1800" dirty="0">
                  <a:solidFill>
                    <a:schemeClr val="bg1"/>
                  </a:solidFill>
                  <a:latin typeface="微软雅黑" panose="020B0503020204020204" pitchFamily="34" charset="-122"/>
                  <a:ea typeface="微软雅黑" panose="020B0503020204020204" pitchFamily="34" charset="-122"/>
                </a:rPr>
                <a:t>被删除记录</a:t>
              </a:r>
              <a:endParaRPr lang="zh-CN" altLang="en-US" sz="1800" dirty="0">
                <a:solidFill>
                  <a:schemeClr val="bg1"/>
                </a:solidFill>
                <a:latin typeface="微软雅黑" panose="020B0503020204020204" pitchFamily="34" charset="-122"/>
                <a:ea typeface="微软雅黑" panose="020B0503020204020204" pitchFamily="34" charset="-122"/>
              </a:endParaRPr>
            </a:p>
          </p:txBody>
        </p:sp>
        <p:grpSp>
          <p:nvGrpSpPr>
            <p:cNvPr id="16" name="Group 58"/>
            <p:cNvGrpSpPr/>
            <p:nvPr/>
          </p:nvGrpSpPr>
          <p:grpSpPr>
            <a:xfrm>
              <a:off x="1556" y="2202"/>
              <a:ext cx="1645" cy="234"/>
              <a:chOff x="1390" y="983"/>
              <a:chExt cx="1645" cy="234"/>
            </a:xfrm>
          </p:grpSpPr>
          <p:grpSp>
            <p:nvGrpSpPr>
              <p:cNvPr id="24" name="Group 59"/>
              <p:cNvGrpSpPr/>
              <p:nvPr/>
            </p:nvGrpSpPr>
            <p:grpSpPr>
              <a:xfrm>
                <a:off x="1390" y="983"/>
                <a:ext cx="1645" cy="193"/>
                <a:chOff x="1390" y="983"/>
                <a:chExt cx="1645" cy="239"/>
              </a:xfrm>
            </p:grpSpPr>
            <p:sp>
              <p:nvSpPr>
                <p:cNvPr id="26" name="Rectangle 60"/>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7" name="Rectangle 61"/>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5" name="Text Box 62"/>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6</a:t>
                </a:r>
                <a:endParaRPr lang="en-US" altLang="zh-CN" sz="1800" dirty="0">
                  <a:latin typeface="微软雅黑" panose="020B0503020204020204" pitchFamily="34" charset="-122"/>
                  <a:ea typeface="微软雅黑" panose="020B0503020204020204" pitchFamily="34" charset="-122"/>
                </a:endParaRPr>
              </a:p>
            </p:txBody>
          </p:sp>
        </p:grpSp>
        <p:grpSp>
          <p:nvGrpSpPr>
            <p:cNvPr id="17" name="Group 63"/>
            <p:cNvGrpSpPr/>
            <p:nvPr/>
          </p:nvGrpSpPr>
          <p:grpSpPr>
            <a:xfrm>
              <a:off x="1556" y="2397"/>
              <a:ext cx="1645" cy="234"/>
              <a:chOff x="1390" y="983"/>
              <a:chExt cx="1645" cy="234"/>
            </a:xfrm>
          </p:grpSpPr>
          <p:grpSp>
            <p:nvGrpSpPr>
              <p:cNvPr id="20" name="Group 64"/>
              <p:cNvGrpSpPr/>
              <p:nvPr/>
            </p:nvGrpSpPr>
            <p:grpSpPr>
              <a:xfrm>
                <a:off x="1390" y="983"/>
                <a:ext cx="1645" cy="193"/>
                <a:chOff x="1390" y="983"/>
                <a:chExt cx="1645" cy="239"/>
              </a:xfrm>
            </p:grpSpPr>
            <p:sp>
              <p:nvSpPr>
                <p:cNvPr id="22" name="Rectangle 65"/>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3" name="Rectangle 66"/>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1" name="Text Box 67"/>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7</a:t>
                </a:r>
                <a:endParaRPr lang="en-US" altLang="zh-CN" sz="1800" dirty="0">
                  <a:latin typeface="微软雅黑" panose="020B0503020204020204" pitchFamily="34" charset="-122"/>
                  <a:ea typeface="微软雅黑" panose="020B0503020204020204" pitchFamily="34" charset="-122"/>
                </a:endParaRPr>
              </a:p>
            </p:txBody>
          </p:sp>
        </p:grpSp>
        <p:sp>
          <p:nvSpPr>
            <p:cNvPr id="18" name="Text Box 68"/>
            <p:cNvSpPr txBox="1"/>
            <p:nvPr/>
          </p:nvSpPr>
          <p:spPr>
            <a:xfrm>
              <a:off x="1508" y="1419"/>
              <a:ext cx="283"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D</a:t>
              </a:r>
              <a:endParaRPr lang="en-US" altLang="zh-CN" dirty="0">
                <a:latin typeface="微软雅黑" panose="020B0503020204020204" pitchFamily="34" charset="-122"/>
                <a:ea typeface="微软雅黑" panose="020B0503020204020204" pitchFamily="34" charset="-122"/>
              </a:endParaRPr>
            </a:p>
          </p:txBody>
        </p:sp>
        <p:sp>
          <p:nvSpPr>
            <p:cNvPr id="19" name="Text Box 69"/>
            <p:cNvSpPr txBox="1"/>
            <p:nvPr/>
          </p:nvSpPr>
          <p:spPr>
            <a:xfrm>
              <a:off x="1505" y="2001"/>
              <a:ext cx="283"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D</a:t>
              </a:r>
              <a:endParaRPr lang="en-US" altLang="zh-CN" dirty="0">
                <a:latin typeface="微软雅黑" panose="020B0503020204020204" pitchFamily="34" charset="-122"/>
                <a:ea typeface="微软雅黑" panose="020B0503020204020204" pitchFamily="34" charset="-122"/>
              </a:endParaRPr>
            </a:p>
          </p:txBody>
        </p:sp>
      </p:grpSp>
      <p:sp>
        <p:nvSpPr>
          <p:cNvPr id="45" name="AutoShape 70"/>
          <p:cNvSpPr/>
          <p:nvPr/>
        </p:nvSpPr>
        <p:spPr>
          <a:xfrm>
            <a:off x="5723372" y="4667250"/>
            <a:ext cx="819150" cy="382588"/>
          </a:xfrm>
          <a:prstGeom prst="rightArrow">
            <a:avLst>
              <a:gd name="adj1" fmla="val 50000"/>
              <a:gd name="adj2" fmla="val 53507"/>
            </a:avLst>
          </a:prstGeom>
          <a:solidFill>
            <a:schemeClr val="accent2"/>
          </a:solidFill>
          <a:ln w="9525" cap="flat" cmpd="sng">
            <a:solidFill>
              <a:schemeClr val="tx1"/>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46" name="Group 120"/>
          <p:cNvGrpSpPr/>
          <p:nvPr/>
        </p:nvGrpSpPr>
        <p:grpSpPr>
          <a:xfrm>
            <a:off x="6866372" y="3544888"/>
            <a:ext cx="2008187" cy="2525712"/>
            <a:chOff x="3643" y="2603"/>
            <a:chExt cx="1265" cy="1591"/>
          </a:xfrm>
        </p:grpSpPr>
        <p:grpSp>
          <p:nvGrpSpPr>
            <p:cNvPr id="47" name="Group 72"/>
            <p:cNvGrpSpPr/>
            <p:nvPr/>
          </p:nvGrpSpPr>
          <p:grpSpPr>
            <a:xfrm>
              <a:off x="3643" y="2603"/>
              <a:ext cx="1264" cy="234"/>
              <a:chOff x="1390" y="983"/>
              <a:chExt cx="1645" cy="234"/>
            </a:xfrm>
          </p:grpSpPr>
          <p:grpSp>
            <p:nvGrpSpPr>
              <p:cNvPr id="83" name="Group 73"/>
              <p:cNvGrpSpPr/>
              <p:nvPr/>
            </p:nvGrpSpPr>
            <p:grpSpPr>
              <a:xfrm>
                <a:off x="1390" y="983"/>
                <a:ext cx="1645" cy="193"/>
                <a:chOff x="1390" y="983"/>
                <a:chExt cx="1645" cy="239"/>
              </a:xfrm>
            </p:grpSpPr>
            <p:sp>
              <p:nvSpPr>
                <p:cNvPr id="85" name="Rectangle 74"/>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86" name="Rectangle 75"/>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84" name="Text Box 76"/>
              <p:cNvSpPr txBox="1"/>
              <p:nvPr/>
            </p:nvSpPr>
            <p:spPr>
              <a:xfrm>
                <a:off x="1929" y="986"/>
                <a:ext cx="641"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p:txBody>
          </p:sp>
        </p:grpSp>
        <p:grpSp>
          <p:nvGrpSpPr>
            <p:cNvPr id="48" name="Group 77"/>
            <p:cNvGrpSpPr/>
            <p:nvPr/>
          </p:nvGrpSpPr>
          <p:grpSpPr>
            <a:xfrm>
              <a:off x="3643" y="2799"/>
              <a:ext cx="1264" cy="234"/>
              <a:chOff x="1390" y="983"/>
              <a:chExt cx="1645" cy="234"/>
            </a:xfrm>
          </p:grpSpPr>
          <p:grpSp>
            <p:nvGrpSpPr>
              <p:cNvPr id="79" name="Group 78"/>
              <p:cNvGrpSpPr/>
              <p:nvPr/>
            </p:nvGrpSpPr>
            <p:grpSpPr>
              <a:xfrm>
                <a:off x="1390" y="983"/>
                <a:ext cx="1645" cy="193"/>
                <a:chOff x="1390" y="983"/>
                <a:chExt cx="1645" cy="239"/>
              </a:xfrm>
            </p:grpSpPr>
            <p:sp>
              <p:nvSpPr>
                <p:cNvPr id="81" name="Rectangle 79"/>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82" name="Rectangle 80"/>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80" name="Text Box 81"/>
              <p:cNvSpPr txBox="1"/>
              <p:nvPr/>
            </p:nvSpPr>
            <p:spPr>
              <a:xfrm>
                <a:off x="1929" y="986"/>
                <a:ext cx="641"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p:txBody>
          </p:sp>
        </p:grpSp>
        <p:grpSp>
          <p:nvGrpSpPr>
            <p:cNvPr id="49" name="Group 85"/>
            <p:cNvGrpSpPr/>
            <p:nvPr/>
          </p:nvGrpSpPr>
          <p:grpSpPr>
            <a:xfrm>
              <a:off x="3644" y="2983"/>
              <a:ext cx="1264" cy="234"/>
              <a:chOff x="1390" y="983"/>
              <a:chExt cx="1645" cy="234"/>
            </a:xfrm>
          </p:grpSpPr>
          <p:grpSp>
            <p:nvGrpSpPr>
              <p:cNvPr id="75" name="Group 86"/>
              <p:cNvGrpSpPr/>
              <p:nvPr/>
            </p:nvGrpSpPr>
            <p:grpSpPr>
              <a:xfrm>
                <a:off x="1390" y="983"/>
                <a:ext cx="1645" cy="193"/>
                <a:chOff x="1390" y="983"/>
                <a:chExt cx="1645" cy="239"/>
              </a:xfrm>
            </p:grpSpPr>
            <p:sp>
              <p:nvSpPr>
                <p:cNvPr id="77" name="Rectangle 87"/>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78" name="Rectangle 88"/>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76" name="Text Box 89"/>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4</a:t>
                </a:r>
                <a:endParaRPr lang="en-US" altLang="zh-CN" sz="1800" dirty="0">
                  <a:latin typeface="微软雅黑" panose="020B0503020204020204" pitchFamily="34" charset="-122"/>
                  <a:ea typeface="微软雅黑" panose="020B0503020204020204" pitchFamily="34" charset="-122"/>
                </a:endParaRPr>
              </a:p>
            </p:txBody>
          </p:sp>
        </p:grpSp>
        <p:grpSp>
          <p:nvGrpSpPr>
            <p:cNvPr id="50" name="Group 90"/>
            <p:cNvGrpSpPr/>
            <p:nvPr/>
          </p:nvGrpSpPr>
          <p:grpSpPr>
            <a:xfrm>
              <a:off x="3644" y="3179"/>
              <a:ext cx="1264" cy="234"/>
              <a:chOff x="1390" y="983"/>
              <a:chExt cx="1645" cy="234"/>
            </a:xfrm>
          </p:grpSpPr>
          <p:grpSp>
            <p:nvGrpSpPr>
              <p:cNvPr id="71" name="Group 91"/>
              <p:cNvGrpSpPr/>
              <p:nvPr/>
            </p:nvGrpSpPr>
            <p:grpSpPr>
              <a:xfrm>
                <a:off x="1390" y="983"/>
                <a:ext cx="1645" cy="193"/>
                <a:chOff x="1390" y="983"/>
                <a:chExt cx="1645" cy="239"/>
              </a:xfrm>
            </p:grpSpPr>
            <p:sp>
              <p:nvSpPr>
                <p:cNvPr id="73" name="Rectangle 92"/>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74" name="Rectangle 93"/>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72" name="Text Box 94"/>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5</a:t>
                </a:r>
                <a:endParaRPr lang="en-US" altLang="zh-CN" sz="1800" dirty="0">
                  <a:latin typeface="微软雅黑" panose="020B0503020204020204" pitchFamily="34" charset="-122"/>
                  <a:ea typeface="微软雅黑" panose="020B0503020204020204" pitchFamily="34" charset="-122"/>
                </a:endParaRPr>
              </a:p>
            </p:txBody>
          </p:sp>
        </p:grpSp>
        <p:grpSp>
          <p:nvGrpSpPr>
            <p:cNvPr id="51" name="Group 98"/>
            <p:cNvGrpSpPr/>
            <p:nvPr/>
          </p:nvGrpSpPr>
          <p:grpSpPr>
            <a:xfrm>
              <a:off x="3644" y="3372"/>
              <a:ext cx="1264" cy="234"/>
              <a:chOff x="1390" y="983"/>
              <a:chExt cx="1645" cy="234"/>
            </a:xfrm>
          </p:grpSpPr>
          <p:grpSp>
            <p:nvGrpSpPr>
              <p:cNvPr id="67" name="Group 99"/>
              <p:cNvGrpSpPr/>
              <p:nvPr/>
            </p:nvGrpSpPr>
            <p:grpSpPr>
              <a:xfrm>
                <a:off x="1390" y="983"/>
                <a:ext cx="1645" cy="193"/>
                <a:chOff x="1390" y="983"/>
                <a:chExt cx="1645" cy="239"/>
              </a:xfrm>
            </p:grpSpPr>
            <p:sp>
              <p:nvSpPr>
                <p:cNvPr id="69" name="Rectangle 100"/>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70" name="Rectangle 101"/>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68" name="Text Box 102"/>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6</a:t>
                </a:r>
                <a:endParaRPr lang="en-US" altLang="zh-CN" sz="1800" dirty="0">
                  <a:latin typeface="微软雅黑" panose="020B0503020204020204" pitchFamily="34" charset="-122"/>
                  <a:ea typeface="微软雅黑" panose="020B0503020204020204" pitchFamily="34" charset="-122"/>
                </a:endParaRPr>
              </a:p>
            </p:txBody>
          </p:sp>
        </p:grpSp>
        <p:grpSp>
          <p:nvGrpSpPr>
            <p:cNvPr id="52" name="Group 103"/>
            <p:cNvGrpSpPr/>
            <p:nvPr/>
          </p:nvGrpSpPr>
          <p:grpSpPr>
            <a:xfrm>
              <a:off x="3644" y="3567"/>
              <a:ext cx="1264" cy="234"/>
              <a:chOff x="1390" y="983"/>
              <a:chExt cx="1645" cy="234"/>
            </a:xfrm>
          </p:grpSpPr>
          <p:grpSp>
            <p:nvGrpSpPr>
              <p:cNvPr id="63" name="Group 104"/>
              <p:cNvGrpSpPr/>
              <p:nvPr/>
            </p:nvGrpSpPr>
            <p:grpSpPr>
              <a:xfrm>
                <a:off x="1390" y="983"/>
                <a:ext cx="1645" cy="193"/>
                <a:chOff x="1390" y="983"/>
                <a:chExt cx="1645" cy="239"/>
              </a:xfrm>
            </p:grpSpPr>
            <p:sp>
              <p:nvSpPr>
                <p:cNvPr id="65" name="Rectangle 105"/>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66" name="Rectangle 106"/>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64" name="Text Box 107"/>
              <p:cNvSpPr txBox="1"/>
              <p:nvPr/>
            </p:nvSpPr>
            <p:spPr>
              <a:xfrm>
                <a:off x="1930" y="986"/>
                <a:ext cx="642"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记录</a:t>
                </a:r>
                <a:r>
                  <a:rPr lang="en-US" altLang="zh-CN" sz="1800" dirty="0">
                    <a:latin typeface="微软雅黑" panose="020B0503020204020204" pitchFamily="34" charset="-122"/>
                    <a:ea typeface="微软雅黑" panose="020B0503020204020204" pitchFamily="34" charset="-122"/>
                  </a:rPr>
                  <a:t>7</a:t>
                </a:r>
                <a:endParaRPr lang="en-US" altLang="zh-CN" sz="1800" dirty="0">
                  <a:latin typeface="微软雅黑" panose="020B0503020204020204" pitchFamily="34" charset="-122"/>
                  <a:ea typeface="微软雅黑" panose="020B0503020204020204" pitchFamily="34" charset="-122"/>
                </a:endParaRPr>
              </a:p>
            </p:txBody>
          </p:sp>
        </p:grpSp>
        <p:grpSp>
          <p:nvGrpSpPr>
            <p:cNvPr id="53" name="Group 110"/>
            <p:cNvGrpSpPr/>
            <p:nvPr/>
          </p:nvGrpSpPr>
          <p:grpSpPr>
            <a:xfrm>
              <a:off x="3643" y="3765"/>
              <a:ext cx="1264" cy="234"/>
              <a:chOff x="1390" y="983"/>
              <a:chExt cx="1645" cy="234"/>
            </a:xfrm>
          </p:grpSpPr>
          <p:grpSp>
            <p:nvGrpSpPr>
              <p:cNvPr id="59" name="Group 111"/>
              <p:cNvGrpSpPr/>
              <p:nvPr/>
            </p:nvGrpSpPr>
            <p:grpSpPr>
              <a:xfrm>
                <a:off x="1390" y="983"/>
                <a:ext cx="1645" cy="193"/>
                <a:chOff x="1390" y="983"/>
                <a:chExt cx="1645" cy="239"/>
              </a:xfrm>
            </p:grpSpPr>
            <p:sp>
              <p:nvSpPr>
                <p:cNvPr id="61" name="Rectangle 112"/>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62" name="Rectangle 113"/>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60" name="Text Box 114"/>
              <p:cNvSpPr txBox="1"/>
              <p:nvPr/>
            </p:nvSpPr>
            <p:spPr>
              <a:xfrm>
                <a:off x="2175" y="986"/>
                <a:ext cx="151" cy="231"/>
              </a:xfrm>
              <a:prstGeom prst="rect">
                <a:avLst/>
              </a:prstGeom>
              <a:noFill/>
              <a:ln w="9525">
                <a:noFill/>
              </a:ln>
            </p:spPr>
            <p:txBody>
              <a:bodyPr wrap="none" anchor="t">
                <a:spAutoFit/>
              </a:bodyPr>
              <a:lstStyle/>
              <a:p>
                <a:pPr algn="ctr"/>
                <a:endParaRPr lang="zh-CN" altLang="zh-CN" sz="1800" dirty="0">
                  <a:latin typeface="微软雅黑" panose="020B0503020204020204" pitchFamily="34" charset="-122"/>
                  <a:ea typeface="微软雅黑" panose="020B0503020204020204" pitchFamily="34" charset="-122"/>
                </a:endParaRPr>
              </a:p>
            </p:txBody>
          </p:sp>
        </p:grpSp>
        <p:grpSp>
          <p:nvGrpSpPr>
            <p:cNvPr id="54" name="Group 115"/>
            <p:cNvGrpSpPr/>
            <p:nvPr/>
          </p:nvGrpSpPr>
          <p:grpSpPr>
            <a:xfrm>
              <a:off x="3643" y="3960"/>
              <a:ext cx="1264" cy="234"/>
              <a:chOff x="1390" y="983"/>
              <a:chExt cx="1645" cy="234"/>
            </a:xfrm>
          </p:grpSpPr>
          <p:grpSp>
            <p:nvGrpSpPr>
              <p:cNvPr id="55" name="Group 116"/>
              <p:cNvGrpSpPr/>
              <p:nvPr/>
            </p:nvGrpSpPr>
            <p:grpSpPr>
              <a:xfrm>
                <a:off x="1390" y="983"/>
                <a:ext cx="1645" cy="193"/>
                <a:chOff x="1390" y="983"/>
                <a:chExt cx="1645" cy="239"/>
              </a:xfrm>
            </p:grpSpPr>
            <p:sp>
              <p:nvSpPr>
                <p:cNvPr id="57" name="Rectangle 117"/>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58" name="Rectangle 118"/>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56" name="Text Box 119"/>
              <p:cNvSpPr txBox="1"/>
              <p:nvPr/>
            </p:nvSpPr>
            <p:spPr>
              <a:xfrm>
                <a:off x="2175" y="986"/>
                <a:ext cx="151" cy="231"/>
              </a:xfrm>
              <a:prstGeom prst="rect">
                <a:avLst/>
              </a:prstGeom>
              <a:noFill/>
              <a:ln w="9525">
                <a:noFill/>
              </a:ln>
            </p:spPr>
            <p:txBody>
              <a:bodyPr wrap="none" anchor="t">
                <a:spAutoFit/>
              </a:bodyPr>
              <a:lstStyle/>
              <a:p>
                <a:pPr algn="ctr"/>
                <a:endParaRPr lang="zh-CN" altLang="zh-CN" sz="1800" dirty="0">
                  <a:latin typeface="微软雅黑" panose="020B0503020204020204" pitchFamily="34" charset="-122"/>
                  <a:ea typeface="微软雅黑" panose="020B0503020204020204" pitchFamily="3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additive="base">
                                        <p:cTn id="11" dur="500" fill="hold"/>
                                        <p:tgtEl>
                                          <p:spTgt spid="46"/>
                                        </p:tgtEl>
                                        <p:attrNameLst>
                                          <p:attrName>ppt_x</p:attrName>
                                        </p:attrNameLst>
                                      </p:cBhvr>
                                      <p:tavLst>
                                        <p:tav tm="0">
                                          <p:val>
                                            <p:strVal val="#ppt_x"/>
                                          </p:val>
                                        </p:tav>
                                        <p:tav tm="100000">
                                          <p:val>
                                            <p:strVal val="#ppt_x"/>
                                          </p:val>
                                        </p:tav>
                                      </p:tavLst>
                                    </p:anim>
                                    <p:anim calcmode="lin" valueType="num">
                                      <p:cBhvr additive="base">
                                        <p:cTn id="12"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基础回顾-数据库之文件组织方法</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有序文件组织</a:t>
            </a:r>
            <a:endParaRPr lang="en-US" altLang="zh-CN" dirty="0">
              <a:latin typeface="微软雅黑" panose="020B0503020204020204" pitchFamily="34" charset="-122"/>
              <a:ea typeface="微软雅黑" panose="020B0503020204020204" pitchFamily="34" charset="-122"/>
            </a:endParaRPr>
          </a:p>
          <a:p>
            <a:pPr>
              <a:lnSpc>
                <a:spcPct val="100000"/>
              </a:lnSpc>
            </a:pPr>
            <a:r>
              <a:rPr lang="zh-CN" altLang="en-US" sz="2000" b="0" dirty="0">
                <a:solidFill>
                  <a:srgbClr val="FF0000"/>
                </a:solidFill>
              </a:rPr>
              <a:t>文件组织方法之二：有序记录文件</a:t>
            </a:r>
            <a:r>
              <a:rPr lang="en-US" altLang="zh-CN" sz="2000" b="0" dirty="0">
                <a:solidFill>
                  <a:srgbClr val="FF0000"/>
                </a:solidFill>
              </a:rPr>
              <a:t>(</a:t>
            </a:r>
            <a:r>
              <a:rPr lang="zh-CN" altLang="en-US" sz="2000" b="0" dirty="0">
                <a:solidFill>
                  <a:srgbClr val="FF0000"/>
                </a:solidFill>
              </a:rPr>
              <a:t>排序文件</a:t>
            </a:r>
            <a:r>
              <a:rPr lang="en-US" altLang="zh-CN" sz="2000" b="0" dirty="0">
                <a:solidFill>
                  <a:srgbClr val="FF0000"/>
                </a:solidFill>
              </a:rPr>
              <a:t>Sequential)</a:t>
            </a:r>
            <a:endParaRPr lang="en-US" altLang="zh-CN" sz="2000" b="0" dirty="0">
              <a:solidFill>
                <a:srgbClr val="FF0000"/>
              </a:solidFill>
            </a:endParaRPr>
          </a:p>
          <a:p>
            <a:pPr marL="228600" lvl="1">
              <a:lnSpc>
                <a:spcPct val="100000"/>
              </a:lnSpc>
              <a:spcBef>
                <a:spcPts val="1000"/>
              </a:spcBef>
              <a:buFont typeface="Wingdings" panose="05000000000000000000" pitchFamily="2" charset="2"/>
              <a:buChar char="l"/>
            </a:pPr>
            <a:r>
              <a:rPr lang="en-US" altLang="zh-CN" sz="1800" dirty="0"/>
              <a:t> </a:t>
            </a:r>
            <a:r>
              <a:rPr lang="zh-CN" altLang="en-US" sz="1800" dirty="0"/>
              <a:t>特点：记录按某属性或属性组值的顺序插入，磁盘上存储的记录是有序的。检索效率可能高。</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 用于存储排序的属性通常称为</a:t>
            </a:r>
            <a:r>
              <a:rPr lang="zh-CN" altLang="en-US" sz="1800" dirty="0">
                <a:solidFill>
                  <a:srgbClr val="FF0000"/>
                </a:solidFill>
              </a:rPr>
              <a:t>排序字段</a:t>
            </a:r>
            <a:r>
              <a:rPr lang="en-US" altLang="zh-CN" sz="1800" dirty="0">
                <a:solidFill>
                  <a:srgbClr val="FF0000"/>
                </a:solidFill>
              </a:rPr>
              <a:t>(Ordering field)</a:t>
            </a:r>
            <a:r>
              <a:rPr lang="zh-CN" altLang="en-US" sz="1800" dirty="0"/>
              <a:t>，通常，排序字段使用关系中的主码， 所以又称</a:t>
            </a:r>
            <a:r>
              <a:rPr lang="zh-CN" altLang="en-US" sz="1800" dirty="0">
                <a:solidFill>
                  <a:srgbClr val="FF0000"/>
                </a:solidFill>
              </a:rPr>
              <a:t>排序码</a:t>
            </a:r>
            <a:r>
              <a:rPr lang="en-US" altLang="zh-CN" sz="1800" dirty="0">
                <a:solidFill>
                  <a:srgbClr val="FF0000"/>
                </a:solidFill>
              </a:rPr>
              <a:t>(Ordering key)</a:t>
            </a:r>
            <a:r>
              <a:rPr lang="zh-CN" altLang="en-US" sz="1800" dirty="0"/>
              <a:t> 。</a:t>
            </a:r>
            <a:endParaRPr lang="en-US" altLang="zh-CN" sz="1800" dirty="0">
              <a:solidFill>
                <a:srgbClr val="FF0000"/>
              </a:solidFill>
            </a:endParaRPr>
          </a:p>
          <a:p>
            <a:pPr marL="228600" lvl="1">
              <a:lnSpc>
                <a:spcPct val="100000"/>
              </a:lnSpc>
              <a:spcBef>
                <a:spcPts val="1000"/>
              </a:spcBef>
              <a:buFont typeface="Wingdings" panose="05000000000000000000" pitchFamily="2" charset="2"/>
              <a:buChar char="l"/>
            </a:pPr>
            <a:r>
              <a:rPr lang="en-US" altLang="zh-CN" sz="1800" dirty="0"/>
              <a:t> </a:t>
            </a:r>
            <a:r>
              <a:rPr lang="zh-CN" altLang="en-US" sz="1800" dirty="0"/>
              <a:t>当按排序字段进行检索时，速度得到很大提高；但当按非排序字段检索时，速度可能不会提高很多 。</a:t>
            </a:r>
            <a:endParaRPr lang="zh-CN" altLang="en-US" sz="1800" dirty="0"/>
          </a:p>
          <a:p>
            <a:pPr marL="285750" lvl="1" indent="-285750">
              <a:lnSpc>
                <a:spcPct val="100000"/>
              </a:lnSpc>
              <a:spcBef>
                <a:spcPts val="1000"/>
              </a:spcBef>
              <a:buFont typeface="Wingdings" panose="05000000000000000000" pitchFamily="2" charset="2"/>
              <a:buChar char="l"/>
            </a:pPr>
            <a:endParaRPr lang="zh-CN" altLang="en-US" sz="1800" b="1" dirty="0"/>
          </a:p>
          <a:p>
            <a:pPr>
              <a:lnSpc>
                <a:spcPct val="100000"/>
              </a:lnSpc>
              <a:buFont typeface="Wingdings" panose="05000000000000000000" pitchFamily="2" charset="2"/>
              <a:buChar char="l"/>
            </a:pPr>
            <a:endParaRPr lang="zh-CN" altLang="en-US" sz="1800" dirty="0"/>
          </a:p>
          <a:p>
            <a:pPr marL="0" indent="0">
              <a:lnSpc>
                <a:spcPct val="130000"/>
              </a:lnSpc>
              <a:buNone/>
            </a:pPr>
            <a:endParaRPr lang="en-US" altLang="zh-CN" sz="3200" dirty="0">
              <a:solidFill>
                <a:srgbClr val="CC0000"/>
              </a:solidFill>
              <a:latin typeface="微软雅黑" panose="020B0503020204020204" pitchFamily="34" charset="-122"/>
              <a:ea typeface="微软雅黑" panose="020B0503020204020204" pitchFamily="34" charset="-122"/>
            </a:endParaRPr>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grpSp>
        <p:nvGrpSpPr>
          <p:cNvPr id="127" name="Group 151"/>
          <p:cNvGrpSpPr/>
          <p:nvPr/>
        </p:nvGrpSpPr>
        <p:grpSpPr>
          <a:xfrm>
            <a:off x="4264025" y="3903663"/>
            <a:ext cx="2795588" cy="2544762"/>
            <a:chOff x="3710" y="2303"/>
            <a:chExt cx="1761" cy="1603"/>
          </a:xfrm>
        </p:grpSpPr>
        <p:grpSp>
          <p:nvGrpSpPr>
            <p:cNvPr id="128" name="Group 10"/>
            <p:cNvGrpSpPr/>
            <p:nvPr/>
          </p:nvGrpSpPr>
          <p:grpSpPr>
            <a:xfrm>
              <a:off x="3710" y="3660"/>
              <a:ext cx="522" cy="231"/>
              <a:chOff x="3294" y="3550"/>
              <a:chExt cx="522" cy="231"/>
            </a:xfrm>
          </p:grpSpPr>
          <p:sp>
            <p:nvSpPr>
              <p:cNvPr id="165" name="Line 11"/>
              <p:cNvSpPr/>
              <p:nvPr/>
            </p:nvSpPr>
            <p:spPr>
              <a:xfrm>
                <a:off x="3414" y="3753"/>
                <a:ext cx="402" cy="0"/>
              </a:xfrm>
              <a:prstGeom prst="line">
                <a:avLst/>
              </a:prstGeom>
              <a:ln w="9525" cap="flat" cmpd="sng">
                <a:solidFill>
                  <a:srgbClr val="FF0066"/>
                </a:solidFill>
                <a:prstDash val="solid"/>
                <a:round/>
                <a:headEnd type="none" w="med" len="med"/>
                <a:tailEnd type="triangle" w="med" len="med"/>
              </a:ln>
            </p:spPr>
          </p:sp>
          <p:sp>
            <p:nvSpPr>
              <p:cNvPr id="166" name="Rectangle 12"/>
              <p:cNvSpPr/>
              <p:nvPr/>
            </p:nvSpPr>
            <p:spPr>
              <a:xfrm>
                <a:off x="3294" y="3550"/>
                <a:ext cx="404" cy="231"/>
              </a:xfrm>
              <a:prstGeom prst="rect">
                <a:avLst/>
              </a:prstGeom>
              <a:noFill/>
              <a:ln w="9525">
                <a:noFill/>
              </a:ln>
            </p:spPr>
            <p:txBody>
              <a:bodyPr wrap="none" anchor="t">
                <a:spAutoFit/>
              </a:bodyPr>
              <a:lstStyle/>
              <a:p>
                <a:pPr algn="ctr"/>
                <a:r>
                  <a:rPr lang="zh-CN" altLang="en-US" sz="1800" b="0" dirty="0">
                    <a:latin typeface="微软雅黑" panose="020B0503020204020204" pitchFamily="34" charset="-122"/>
                    <a:ea typeface="微软雅黑" panose="020B0503020204020204" pitchFamily="34" charset="-122"/>
                  </a:rPr>
                  <a:t>尾部</a:t>
                </a:r>
                <a:endParaRPr lang="zh-CN" altLang="en-US" sz="1800" b="0" dirty="0">
                  <a:latin typeface="微软雅黑" panose="020B0503020204020204" pitchFamily="34" charset="-122"/>
                  <a:ea typeface="微软雅黑" panose="020B0503020204020204" pitchFamily="34" charset="-122"/>
                </a:endParaRPr>
              </a:p>
            </p:txBody>
          </p:sp>
        </p:grpSp>
        <p:grpSp>
          <p:nvGrpSpPr>
            <p:cNvPr id="129" name="Group 14"/>
            <p:cNvGrpSpPr/>
            <p:nvPr/>
          </p:nvGrpSpPr>
          <p:grpSpPr>
            <a:xfrm>
              <a:off x="4206" y="2303"/>
              <a:ext cx="1264" cy="234"/>
              <a:chOff x="1390" y="983"/>
              <a:chExt cx="1645" cy="234"/>
            </a:xfrm>
          </p:grpSpPr>
          <p:grpSp>
            <p:nvGrpSpPr>
              <p:cNvPr id="161" name="Group 15"/>
              <p:cNvGrpSpPr/>
              <p:nvPr/>
            </p:nvGrpSpPr>
            <p:grpSpPr>
              <a:xfrm>
                <a:off x="1390" y="983"/>
                <a:ext cx="1645" cy="193"/>
                <a:chOff x="1390" y="983"/>
                <a:chExt cx="1645" cy="239"/>
              </a:xfrm>
            </p:grpSpPr>
            <p:sp>
              <p:nvSpPr>
                <p:cNvPr id="163" name="Rectangle 16"/>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64" name="Rectangle 17"/>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62" name="Text Box 18"/>
              <p:cNvSpPr txBox="1"/>
              <p:nvPr/>
            </p:nvSpPr>
            <p:spPr>
              <a:xfrm>
                <a:off x="1503" y="986"/>
                <a:ext cx="1493"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(S#:001</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130" name="Group 19"/>
            <p:cNvGrpSpPr/>
            <p:nvPr/>
          </p:nvGrpSpPr>
          <p:grpSpPr>
            <a:xfrm>
              <a:off x="4206" y="2499"/>
              <a:ext cx="1264" cy="234"/>
              <a:chOff x="1390" y="983"/>
              <a:chExt cx="1645" cy="234"/>
            </a:xfrm>
          </p:grpSpPr>
          <p:grpSp>
            <p:nvGrpSpPr>
              <p:cNvPr id="157" name="Group 20"/>
              <p:cNvGrpSpPr/>
              <p:nvPr/>
            </p:nvGrpSpPr>
            <p:grpSpPr>
              <a:xfrm>
                <a:off x="1390" y="983"/>
                <a:ext cx="1645" cy="193"/>
                <a:chOff x="1390" y="983"/>
                <a:chExt cx="1645" cy="239"/>
              </a:xfrm>
            </p:grpSpPr>
            <p:sp>
              <p:nvSpPr>
                <p:cNvPr id="159" name="Rectangle 21"/>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60" name="Rectangle 22"/>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58" name="Text Box 23"/>
              <p:cNvSpPr txBox="1"/>
              <p:nvPr/>
            </p:nvSpPr>
            <p:spPr>
              <a:xfrm>
                <a:off x="1475" y="986"/>
                <a:ext cx="1548"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003</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131" name="Rectangle 24"/>
            <p:cNvSpPr/>
            <p:nvPr/>
          </p:nvSpPr>
          <p:spPr>
            <a:xfrm>
              <a:off x="4339" y="2695"/>
              <a:ext cx="1131"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32" name="Rectangle 25"/>
            <p:cNvSpPr/>
            <p:nvPr/>
          </p:nvSpPr>
          <p:spPr>
            <a:xfrm>
              <a:off x="4206" y="2695"/>
              <a:ext cx="13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133" name="Group 27"/>
            <p:cNvGrpSpPr/>
            <p:nvPr/>
          </p:nvGrpSpPr>
          <p:grpSpPr>
            <a:xfrm>
              <a:off x="4207" y="2890"/>
              <a:ext cx="1264" cy="234"/>
              <a:chOff x="1390" y="983"/>
              <a:chExt cx="1645" cy="234"/>
            </a:xfrm>
          </p:grpSpPr>
          <p:grpSp>
            <p:nvGrpSpPr>
              <p:cNvPr id="153" name="Group 28"/>
              <p:cNvGrpSpPr/>
              <p:nvPr/>
            </p:nvGrpSpPr>
            <p:grpSpPr>
              <a:xfrm>
                <a:off x="1390" y="983"/>
                <a:ext cx="1645" cy="193"/>
                <a:chOff x="1390" y="983"/>
                <a:chExt cx="1645" cy="239"/>
              </a:xfrm>
            </p:grpSpPr>
            <p:sp>
              <p:nvSpPr>
                <p:cNvPr id="155" name="Rectangle 29"/>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56" name="Rectangle 30"/>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54" name="Text Box 31"/>
              <p:cNvSpPr txBox="1"/>
              <p:nvPr/>
            </p:nvSpPr>
            <p:spPr>
              <a:xfrm>
                <a:off x="1476" y="986"/>
                <a:ext cx="1549"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006</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134" name="Group 32"/>
            <p:cNvGrpSpPr/>
            <p:nvPr/>
          </p:nvGrpSpPr>
          <p:grpSpPr>
            <a:xfrm>
              <a:off x="4207" y="3086"/>
              <a:ext cx="1264" cy="234"/>
              <a:chOff x="1390" y="983"/>
              <a:chExt cx="1645" cy="234"/>
            </a:xfrm>
          </p:grpSpPr>
          <p:grpSp>
            <p:nvGrpSpPr>
              <p:cNvPr id="149" name="Group 33"/>
              <p:cNvGrpSpPr/>
              <p:nvPr/>
            </p:nvGrpSpPr>
            <p:grpSpPr>
              <a:xfrm>
                <a:off x="1390" y="983"/>
                <a:ext cx="1645" cy="193"/>
                <a:chOff x="1390" y="983"/>
                <a:chExt cx="1645" cy="239"/>
              </a:xfrm>
            </p:grpSpPr>
            <p:sp>
              <p:nvSpPr>
                <p:cNvPr id="151" name="Rectangle 34"/>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52" name="Rectangle 35"/>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50" name="Text Box 36"/>
              <p:cNvSpPr txBox="1"/>
              <p:nvPr/>
            </p:nvSpPr>
            <p:spPr>
              <a:xfrm>
                <a:off x="1476" y="986"/>
                <a:ext cx="1549"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007</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135" name="Rectangle 37"/>
            <p:cNvSpPr/>
            <p:nvPr/>
          </p:nvSpPr>
          <p:spPr>
            <a:xfrm>
              <a:off x="4340" y="3281"/>
              <a:ext cx="1131"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36" name="Rectangle 38"/>
            <p:cNvSpPr/>
            <p:nvPr/>
          </p:nvSpPr>
          <p:spPr>
            <a:xfrm>
              <a:off x="4207" y="3281"/>
              <a:ext cx="13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137" name="Group 40"/>
            <p:cNvGrpSpPr/>
            <p:nvPr/>
          </p:nvGrpSpPr>
          <p:grpSpPr>
            <a:xfrm>
              <a:off x="4207" y="3477"/>
              <a:ext cx="1264" cy="234"/>
              <a:chOff x="1390" y="983"/>
              <a:chExt cx="1645" cy="234"/>
            </a:xfrm>
          </p:grpSpPr>
          <p:grpSp>
            <p:nvGrpSpPr>
              <p:cNvPr id="145" name="Group 41"/>
              <p:cNvGrpSpPr/>
              <p:nvPr/>
            </p:nvGrpSpPr>
            <p:grpSpPr>
              <a:xfrm>
                <a:off x="1390" y="983"/>
                <a:ext cx="1645" cy="193"/>
                <a:chOff x="1390" y="983"/>
                <a:chExt cx="1645" cy="239"/>
              </a:xfrm>
            </p:grpSpPr>
            <p:sp>
              <p:nvSpPr>
                <p:cNvPr id="147" name="Rectangle 42"/>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48" name="Rectangle 43"/>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46" name="Text Box 44"/>
              <p:cNvSpPr txBox="1"/>
              <p:nvPr/>
            </p:nvSpPr>
            <p:spPr>
              <a:xfrm>
                <a:off x="1476" y="986"/>
                <a:ext cx="1549"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010</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138" name="Group 45"/>
            <p:cNvGrpSpPr/>
            <p:nvPr/>
          </p:nvGrpSpPr>
          <p:grpSpPr>
            <a:xfrm>
              <a:off x="4207" y="3672"/>
              <a:ext cx="1264" cy="234"/>
              <a:chOff x="1390" y="983"/>
              <a:chExt cx="1645" cy="234"/>
            </a:xfrm>
          </p:grpSpPr>
          <p:grpSp>
            <p:nvGrpSpPr>
              <p:cNvPr id="141" name="Group 46"/>
              <p:cNvGrpSpPr/>
              <p:nvPr/>
            </p:nvGrpSpPr>
            <p:grpSpPr>
              <a:xfrm>
                <a:off x="1390" y="983"/>
                <a:ext cx="1645" cy="193"/>
                <a:chOff x="1390" y="983"/>
                <a:chExt cx="1645" cy="239"/>
              </a:xfrm>
            </p:grpSpPr>
            <p:sp>
              <p:nvSpPr>
                <p:cNvPr id="143" name="Rectangle 47"/>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44" name="Rectangle 48"/>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42" name="Text Box 49"/>
              <p:cNvSpPr txBox="1"/>
              <p:nvPr/>
            </p:nvSpPr>
            <p:spPr>
              <a:xfrm>
                <a:off x="1476" y="986"/>
                <a:ext cx="1549"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012</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139" name="Rectangle 53"/>
            <p:cNvSpPr/>
            <p:nvPr/>
          </p:nvSpPr>
          <p:spPr>
            <a:xfrm>
              <a:off x="4281" y="2690"/>
              <a:ext cx="1190"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005</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sp>
          <p:nvSpPr>
            <p:cNvPr id="140" name="Rectangle 54"/>
            <p:cNvSpPr/>
            <p:nvPr/>
          </p:nvSpPr>
          <p:spPr>
            <a:xfrm>
              <a:off x="4280" y="3275"/>
              <a:ext cx="1190"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009</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基础回顾-数据库之文件组织方法</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有序文件组织</a:t>
            </a:r>
            <a:endParaRPr lang="en-US" altLang="zh-CN" dirty="0">
              <a:latin typeface="微软雅黑" panose="020B0503020204020204" pitchFamily="34" charset="-122"/>
              <a:ea typeface="微软雅黑" panose="020B0503020204020204" pitchFamily="34" charset="-122"/>
            </a:endParaRPr>
          </a:p>
          <a:p>
            <a:pPr>
              <a:lnSpc>
                <a:spcPct val="100000"/>
              </a:lnSpc>
            </a:pPr>
            <a:r>
              <a:rPr lang="zh-CN" altLang="en-US" sz="2000" b="0" dirty="0">
                <a:solidFill>
                  <a:srgbClr val="FF0000"/>
                </a:solidFill>
              </a:rPr>
              <a:t>文件组织方法之二：有序记录文件</a:t>
            </a:r>
            <a:r>
              <a:rPr lang="en-US" altLang="zh-CN" sz="2000" b="0" dirty="0">
                <a:solidFill>
                  <a:srgbClr val="FF0000"/>
                </a:solidFill>
              </a:rPr>
              <a:t>(</a:t>
            </a:r>
            <a:r>
              <a:rPr lang="zh-CN" altLang="en-US" sz="2000" b="0" dirty="0">
                <a:solidFill>
                  <a:srgbClr val="FF0000"/>
                </a:solidFill>
              </a:rPr>
              <a:t>排序文件</a:t>
            </a:r>
            <a:r>
              <a:rPr lang="en-US" altLang="zh-CN" sz="2000" b="0" dirty="0">
                <a:solidFill>
                  <a:srgbClr val="FF0000"/>
                </a:solidFill>
              </a:rPr>
              <a:t>Sequential)</a:t>
            </a:r>
            <a:endParaRPr lang="en-US" altLang="zh-CN" sz="2000" b="0" dirty="0">
              <a:solidFill>
                <a:srgbClr val="FF0000"/>
              </a:solidFill>
            </a:endParaRPr>
          </a:p>
          <a:p>
            <a:pPr marL="228600" lvl="1">
              <a:lnSpc>
                <a:spcPct val="100000"/>
              </a:lnSpc>
              <a:spcBef>
                <a:spcPts val="1000"/>
              </a:spcBef>
              <a:buFont typeface="Wingdings" panose="05000000000000000000" pitchFamily="2" charset="2"/>
              <a:buChar char="l"/>
            </a:pPr>
            <a:r>
              <a:rPr lang="zh-CN" altLang="en-US" sz="1800" dirty="0"/>
              <a:t>有序记录文件的更新效率可能很低。</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因为：在更新时要移动其他记录，为插入记录留出空间。</a:t>
            </a:r>
            <a:endParaRPr lang="zh-CN" altLang="en-US" sz="1800" dirty="0"/>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grpSp>
        <p:nvGrpSpPr>
          <p:cNvPr id="167" name="Group 5"/>
          <p:cNvGrpSpPr/>
          <p:nvPr/>
        </p:nvGrpSpPr>
        <p:grpSpPr>
          <a:xfrm>
            <a:off x="8047037" y="3104217"/>
            <a:ext cx="2209817" cy="316168"/>
            <a:chOff x="2321" y="3823"/>
            <a:chExt cx="1645" cy="235"/>
          </a:xfrm>
        </p:grpSpPr>
        <p:sp>
          <p:nvSpPr>
            <p:cNvPr id="168" name="Rectangle 6"/>
            <p:cNvSpPr/>
            <p:nvPr/>
          </p:nvSpPr>
          <p:spPr>
            <a:xfrm>
              <a:off x="2494" y="3865"/>
              <a:ext cx="1472"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69" name="Rectangle 7"/>
            <p:cNvSpPr/>
            <p:nvPr/>
          </p:nvSpPr>
          <p:spPr>
            <a:xfrm>
              <a:off x="2321" y="3865"/>
              <a:ext cx="17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70" name="Text Box 8"/>
            <p:cNvSpPr txBox="1"/>
            <p:nvPr/>
          </p:nvSpPr>
          <p:spPr>
            <a:xfrm>
              <a:off x="2434" y="3823"/>
              <a:ext cx="1493"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(S#:002)</a:t>
              </a:r>
              <a:r>
                <a:rPr lang="zh-CN" altLang="en-US" sz="1800" dirty="0">
                  <a:latin typeface="微软雅黑" panose="020B0503020204020204" pitchFamily="34" charset="-122"/>
                  <a:ea typeface="微软雅黑" panose="020B0503020204020204" pitchFamily="34" charset="-122"/>
                </a:rPr>
                <a:t>新记录</a:t>
              </a:r>
              <a:endParaRPr lang="zh-CN" altLang="en-US" sz="1800" dirty="0">
                <a:latin typeface="微软雅黑" panose="020B0503020204020204" pitchFamily="34" charset="-122"/>
                <a:ea typeface="微软雅黑" panose="020B0503020204020204" pitchFamily="34" charset="-122"/>
              </a:endParaRPr>
            </a:p>
          </p:txBody>
        </p:sp>
      </p:grpSp>
      <p:grpSp>
        <p:nvGrpSpPr>
          <p:cNvPr id="171" name="Group 9"/>
          <p:cNvGrpSpPr/>
          <p:nvPr/>
        </p:nvGrpSpPr>
        <p:grpSpPr>
          <a:xfrm>
            <a:off x="1389063" y="5686425"/>
            <a:ext cx="912598" cy="310787"/>
            <a:chOff x="3294" y="3550"/>
            <a:chExt cx="522" cy="231"/>
          </a:xfrm>
        </p:grpSpPr>
        <p:sp>
          <p:nvSpPr>
            <p:cNvPr id="172" name="Line 10"/>
            <p:cNvSpPr/>
            <p:nvPr/>
          </p:nvSpPr>
          <p:spPr>
            <a:xfrm>
              <a:off x="3414" y="3753"/>
              <a:ext cx="402" cy="0"/>
            </a:xfrm>
            <a:prstGeom prst="line">
              <a:avLst/>
            </a:prstGeom>
            <a:ln w="9525" cap="flat" cmpd="sng">
              <a:solidFill>
                <a:srgbClr val="FF0066"/>
              </a:solidFill>
              <a:prstDash val="solid"/>
              <a:round/>
              <a:headEnd type="none" w="med" len="med"/>
              <a:tailEnd type="triangle" w="med" len="med"/>
            </a:ln>
          </p:spPr>
        </p:sp>
        <p:sp>
          <p:nvSpPr>
            <p:cNvPr id="173" name="Rectangle 11"/>
            <p:cNvSpPr/>
            <p:nvPr/>
          </p:nvSpPr>
          <p:spPr>
            <a:xfrm>
              <a:off x="3294" y="3550"/>
              <a:ext cx="404"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尾部</a:t>
              </a:r>
              <a:endParaRPr lang="zh-CN" altLang="en-US" sz="1800" dirty="0">
                <a:latin typeface="微软雅黑" panose="020B0503020204020204" pitchFamily="34" charset="-122"/>
                <a:ea typeface="微软雅黑" panose="020B0503020204020204" pitchFamily="34" charset="-122"/>
              </a:endParaRPr>
            </a:p>
          </p:txBody>
        </p:sp>
      </p:grpSp>
      <p:grpSp>
        <p:nvGrpSpPr>
          <p:cNvPr id="174" name="Group 12"/>
          <p:cNvGrpSpPr/>
          <p:nvPr/>
        </p:nvGrpSpPr>
        <p:grpSpPr>
          <a:xfrm>
            <a:off x="2176462" y="3475685"/>
            <a:ext cx="2209817" cy="316168"/>
            <a:chOff x="1390" y="941"/>
            <a:chExt cx="1645" cy="235"/>
          </a:xfrm>
        </p:grpSpPr>
        <p:grpSp>
          <p:nvGrpSpPr>
            <p:cNvPr id="175" name="Group 13"/>
            <p:cNvGrpSpPr/>
            <p:nvPr/>
          </p:nvGrpSpPr>
          <p:grpSpPr>
            <a:xfrm>
              <a:off x="1390" y="983"/>
              <a:ext cx="1645" cy="193"/>
              <a:chOff x="1390" y="983"/>
              <a:chExt cx="1645" cy="239"/>
            </a:xfrm>
          </p:grpSpPr>
          <p:sp>
            <p:nvSpPr>
              <p:cNvPr id="177" name="Rectangle 14"/>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78" name="Rectangle 15"/>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76" name="Text Box 16"/>
            <p:cNvSpPr txBox="1"/>
            <p:nvPr/>
          </p:nvSpPr>
          <p:spPr>
            <a:xfrm>
              <a:off x="1503" y="941"/>
              <a:ext cx="1493"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(S#:001</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179" name="Group 17"/>
          <p:cNvGrpSpPr/>
          <p:nvPr/>
        </p:nvGrpSpPr>
        <p:grpSpPr>
          <a:xfrm>
            <a:off x="2176462" y="3786835"/>
            <a:ext cx="2209817" cy="316168"/>
            <a:chOff x="1390" y="941"/>
            <a:chExt cx="1645" cy="235"/>
          </a:xfrm>
        </p:grpSpPr>
        <p:grpSp>
          <p:nvGrpSpPr>
            <p:cNvPr id="180" name="Group 18"/>
            <p:cNvGrpSpPr/>
            <p:nvPr/>
          </p:nvGrpSpPr>
          <p:grpSpPr>
            <a:xfrm>
              <a:off x="1390" y="983"/>
              <a:ext cx="1645" cy="193"/>
              <a:chOff x="1390" y="983"/>
              <a:chExt cx="1645" cy="239"/>
            </a:xfrm>
          </p:grpSpPr>
          <p:sp>
            <p:nvSpPr>
              <p:cNvPr id="182" name="Rectangle 19"/>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83" name="Rectangle 20"/>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81" name="Text Box 21"/>
            <p:cNvSpPr txBox="1"/>
            <p:nvPr/>
          </p:nvSpPr>
          <p:spPr>
            <a:xfrm>
              <a:off x="1503" y="941"/>
              <a:ext cx="1493"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(S#:003</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184" name="Rectangle 22"/>
          <p:cNvSpPr/>
          <p:nvPr/>
        </p:nvSpPr>
        <p:spPr>
          <a:xfrm>
            <a:off x="2387600" y="4154488"/>
            <a:ext cx="1977297" cy="258316"/>
          </a:xfrm>
          <a:prstGeom prst="rect">
            <a:avLst/>
          </a:prstGeom>
          <a:solidFill>
            <a:srgbClr val="FFFF99"/>
          </a:solidFill>
          <a:ln w="9525" cap="flat" cmpd="sng">
            <a:solidFill>
              <a:srgbClr val="FF0066"/>
            </a:solidFill>
            <a:prstDash val="solid"/>
            <a:miter/>
            <a:headEnd type="none" w="med" len="med"/>
            <a:tailEnd type="non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sp>
        <p:nvSpPr>
          <p:cNvPr id="185" name="Rectangle 23"/>
          <p:cNvSpPr/>
          <p:nvPr/>
        </p:nvSpPr>
        <p:spPr>
          <a:xfrm>
            <a:off x="2176463" y="4154488"/>
            <a:ext cx="232520" cy="259661"/>
          </a:xfrm>
          <a:prstGeom prst="rect">
            <a:avLst/>
          </a:prstGeom>
          <a:solidFill>
            <a:srgbClr val="FF0066"/>
          </a:solidFill>
          <a:ln w="9525" cap="flat" cmpd="sng">
            <a:solidFill>
              <a:schemeClr val="accent2"/>
            </a:solidFill>
            <a:prstDash val="solid"/>
            <a:miter/>
            <a:headEnd type="none" w="med" len="med"/>
            <a:tailEnd type="non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186" name="Group 24"/>
          <p:cNvGrpSpPr/>
          <p:nvPr/>
        </p:nvGrpSpPr>
        <p:grpSpPr>
          <a:xfrm>
            <a:off x="2178049" y="4407547"/>
            <a:ext cx="2209817" cy="316168"/>
            <a:chOff x="1390" y="941"/>
            <a:chExt cx="1645" cy="235"/>
          </a:xfrm>
        </p:grpSpPr>
        <p:grpSp>
          <p:nvGrpSpPr>
            <p:cNvPr id="187" name="Group 25"/>
            <p:cNvGrpSpPr/>
            <p:nvPr/>
          </p:nvGrpSpPr>
          <p:grpSpPr>
            <a:xfrm>
              <a:off x="1390" y="983"/>
              <a:ext cx="1645" cy="193"/>
              <a:chOff x="1390" y="983"/>
              <a:chExt cx="1645" cy="239"/>
            </a:xfrm>
          </p:grpSpPr>
          <p:sp>
            <p:nvSpPr>
              <p:cNvPr id="189" name="Rectangle 26"/>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90" name="Rectangle 27"/>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88" name="Text Box 28"/>
            <p:cNvSpPr txBox="1"/>
            <p:nvPr/>
          </p:nvSpPr>
          <p:spPr>
            <a:xfrm>
              <a:off x="1505" y="941"/>
              <a:ext cx="1492"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(S#:006</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191" name="Group 29"/>
          <p:cNvGrpSpPr/>
          <p:nvPr/>
        </p:nvGrpSpPr>
        <p:grpSpPr>
          <a:xfrm>
            <a:off x="2178049" y="4718697"/>
            <a:ext cx="2209817" cy="316168"/>
            <a:chOff x="1390" y="941"/>
            <a:chExt cx="1645" cy="235"/>
          </a:xfrm>
        </p:grpSpPr>
        <p:grpSp>
          <p:nvGrpSpPr>
            <p:cNvPr id="192" name="Group 30"/>
            <p:cNvGrpSpPr/>
            <p:nvPr/>
          </p:nvGrpSpPr>
          <p:grpSpPr>
            <a:xfrm>
              <a:off x="1390" y="983"/>
              <a:ext cx="1645" cy="193"/>
              <a:chOff x="1390" y="983"/>
              <a:chExt cx="1645" cy="239"/>
            </a:xfrm>
          </p:grpSpPr>
          <p:sp>
            <p:nvSpPr>
              <p:cNvPr id="194" name="Rectangle 31"/>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95" name="Rectangle 32"/>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193" name="Text Box 33"/>
            <p:cNvSpPr txBox="1"/>
            <p:nvPr/>
          </p:nvSpPr>
          <p:spPr>
            <a:xfrm>
              <a:off x="1505" y="941"/>
              <a:ext cx="1492"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(S#:007</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196" name="Rectangle 34"/>
          <p:cNvSpPr/>
          <p:nvPr/>
        </p:nvSpPr>
        <p:spPr>
          <a:xfrm>
            <a:off x="2389188" y="5072063"/>
            <a:ext cx="1977296" cy="258316"/>
          </a:xfrm>
          <a:prstGeom prst="rect">
            <a:avLst/>
          </a:prstGeom>
          <a:solidFill>
            <a:srgbClr val="FFFF99"/>
          </a:solidFill>
          <a:ln w="9525" cap="flat" cmpd="sng">
            <a:solidFill>
              <a:srgbClr val="FF0066"/>
            </a:solidFill>
            <a:prstDash val="solid"/>
            <a:miter/>
            <a:headEnd type="none" w="med" len="med"/>
            <a:tailEnd type="non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sp>
        <p:nvSpPr>
          <p:cNvPr id="197" name="Rectangle 35"/>
          <p:cNvSpPr/>
          <p:nvPr/>
        </p:nvSpPr>
        <p:spPr>
          <a:xfrm>
            <a:off x="2178049" y="5084763"/>
            <a:ext cx="232521" cy="259661"/>
          </a:xfrm>
          <a:prstGeom prst="rect">
            <a:avLst/>
          </a:prstGeom>
          <a:solidFill>
            <a:srgbClr val="FF0066"/>
          </a:solidFill>
          <a:ln w="9525" cap="flat" cmpd="sng">
            <a:solidFill>
              <a:schemeClr val="accent2"/>
            </a:solidFill>
            <a:prstDash val="solid"/>
            <a:miter/>
            <a:headEnd type="none" w="med" len="med"/>
            <a:tailEnd type="non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198" name="Group 36"/>
          <p:cNvGrpSpPr/>
          <p:nvPr/>
        </p:nvGrpSpPr>
        <p:grpSpPr>
          <a:xfrm>
            <a:off x="2178049" y="5339410"/>
            <a:ext cx="2209817" cy="316168"/>
            <a:chOff x="1390" y="941"/>
            <a:chExt cx="1645" cy="235"/>
          </a:xfrm>
        </p:grpSpPr>
        <p:grpSp>
          <p:nvGrpSpPr>
            <p:cNvPr id="199" name="Group 37"/>
            <p:cNvGrpSpPr/>
            <p:nvPr/>
          </p:nvGrpSpPr>
          <p:grpSpPr>
            <a:xfrm>
              <a:off x="1390" y="983"/>
              <a:ext cx="1645" cy="193"/>
              <a:chOff x="1390" y="983"/>
              <a:chExt cx="1645" cy="239"/>
            </a:xfrm>
          </p:grpSpPr>
          <p:sp>
            <p:nvSpPr>
              <p:cNvPr id="201" name="Rectangle 38"/>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02" name="Rectangle 39"/>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00" name="Text Box 40"/>
            <p:cNvSpPr txBox="1"/>
            <p:nvPr/>
          </p:nvSpPr>
          <p:spPr>
            <a:xfrm>
              <a:off x="1505" y="941"/>
              <a:ext cx="1492"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(S#:010</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203" name="Group 41"/>
          <p:cNvGrpSpPr/>
          <p:nvPr/>
        </p:nvGrpSpPr>
        <p:grpSpPr>
          <a:xfrm>
            <a:off x="2178049" y="5648972"/>
            <a:ext cx="2209817" cy="316168"/>
            <a:chOff x="1390" y="941"/>
            <a:chExt cx="1645" cy="235"/>
          </a:xfrm>
        </p:grpSpPr>
        <p:grpSp>
          <p:nvGrpSpPr>
            <p:cNvPr id="204" name="Group 42"/>
            <p:cNvGrpSpPr/>
            <p:nvPr/>
          </p:nvGrpSpPr>
          <p:grpSpPr>
            <a:xfrm>
              <a:off x="1390" y="983"/>
              <a:ext cx="1645" cy="193"/>
              <a:chOff x="1390" y="983"/>
              <a:chExt cx="1645" cy="239"/>
            </a:xfrm>
          </p:grpSpPr>
          <p:sp>
            <p:nvSpPr>
              <p:cNvPr id="206" name="Rectangle 43"/>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07" name="Rectangle 44"/>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05" name="Text Box 45"/>
            <p:cNvSpPr txBox="1"/>
            <p:nvPr/>
          </p:nvSpPr>
          <p:spPr>
            <a:xfrm>
              <a:off x="1505" y="941"/>
              <a:ext cx="1492"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(S#:012</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208" name="Rectangle 46"/>
          <p:cNvSpPr/>
          <p:nvPr/>
        </p:nvSpPr>
        <p:spPr>
          <a:xfrm>
            <a:off x="2316163" y="4089400"/>
            <a:ext cx="2005268" cy="369332"/>
          </a:xfrm>
          <a:prstGeom prst="rect">
            <a:avLst/>
          </a:prstGeom>
          <a:noFill/>
          <a:ln w="9525">
            <a:noFill/>
          </a:ln>
        </p:spPr>
        <p:txBody>
          <a:bodyPr wrap="square" anchor="t">
            <a:spAutoFit/>
          </a:bodyPr>
          <a:lstStyle/>
          <a:p>
            <a:pPr algn="ctr"/>
            <a:r>
              <a:rPr lang="en-US" altLang="zh-CN" sz="1800" dirty="0">
                <a:latin typeface="微软雅黑" panose="020B0503020204020204" pitchFamily="34" charset="-122"/>
                <a:ea typeface="微软雅黑" panose="020B0503020204020204" pitchFamily="34" charset="-122"/>
              </a:rPr>
              <a:t>(S#:005</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sp>
        <p:nvSpPr>
          <p:cNvPr id="209" name="Rectangle 47"/>
          <p:cNvSpPr/>
          <p:nvPr/>
        </p:nvSpPr>
        <p:spPr>
          <a:xfrm>
            <a:off x="2328863" y="5018088"/>
            <a:ext cx="2005268" cy="369332"/>
          </a:xfrm>
          <a:prstGeom prst="rect">
            <a:avLst/>
          </a:prstGeom>
          <a:noFill/>
          <a:ln w="9525">
            <a:noFill/>
          </a:ln>
        </p:spPr>
        <p:txBody>
          <a:bodyPr wrap="square" anchor="t">
            <a:spAutoFit/>
          </a:bodyPr>
          <a:lstStyle/>
          <a:p>
            <a:pPr algn="ctr"/>
            <a:r>
              <a:rPr lang="en-US" altLang="zh-CN" sz="1800" dirty="0">
                <a:latin typeface="微软雅黑" panose="020B0503020204020204" pitchFamily="34" charset="-122"/>
                <a:ea typeface="微软雅黑" panose="020B0503020204020204" pitchFamily="34" charset="-122"/>
              </a:rPr>
              <a:t>(S#:009</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nvGrpSpPr>
          <p:cNvPr id="210" name="Group 48"/>
          <p:cNvGrpSpPr/>
          <p:nvPr/>
        </p:nvGrpSpPr>
        <p:grpSpPr>
          <a:xfrm>
            <a:off x="2187574" y="6026151"/>
            <a:ext cx="2209817" cy="314822"/>
            <a:chOff x="2321" y="3865"/>
            <a:chExt cx="1645" cy="234"/>
          </a:xfrm>
        </p:grpSpPr>
        <p:sp>
          <p:nvSpPr>
            <p:cNvPr id="211" name="Rectangle 49"/>
            <p:cNvSpPr/>
            <p:nvPr/>
          </p:nvSpPr>
          <p:spPr>
            <a:xfrm>
              <a:off x="2494" y="3865"/>
              <a:ext cx="1472"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12" name="Rectangle 50"/>
            <p:cNvSpPr/>
            <p:nvPr/>
          </p:nvSpPr>
          <p:spPr>
            <a:xfrm>
              <a:off x="2321" y="3865"/>
              <a:ext cx="17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213" name="Text Box 51"/>
            <p:cNvSpPr txBox="1"/>
            <p:nvPr/>
          </p:nvSpPr>
          <p:spPr>
            <a:xfrm>
              <a:off x="3106" y="3868"/>
              <a:ext cx="151" cy="231"/>
            </a:xfrm>
            <a:prstGeom prst="rect">
              <a:avLst/>
            </a:prstGeom>
            <a:noFill/>
            <a:ln w="9525">
              <a:noFill/>
            </a:ln>
          </p:spPr>
          <p:txBody>
            <a:bodyPr wrap="none" anchor="t">
              <a:spAutoFit/>
            </a:bodyPr>
            <a:lstStyle/>
            <a:p>
              <a:pPr algn="ctr"/>
              <a:endParaRPr lang="zh-CN" altLang="zh-CN" sz="1800" dirty="0">
                <a:latin typeface="微软雅黑" panose="020B0503020204020204" pitchFamily="34" charset="-122"/>
                <a:ea typeface="微软雅黑" panose="020B0503020204020204" pitchFamily="34" charset="-122"/>
              </a:endParaRPr>
            </a:p>
          </p:txBody>
        </p:sp>
      </p:grpSp>
      <p:sp>
        <p:nvSpPr>
          <p:cNvPr id="214" name="Rectangle 52"/>
          <p:cNvSpPr/>
          <p:nvPr/>
        </p:nvSpPr>
        <p:spPr>
          <a:xfrm>
            <a:off x="2690812" y="5995988"/>
            <a:ext cx="1209805" cy="369332"/>
          </a:xfrm>
          <a:prstGeom prst="rect">
            <a:avLst/>
          </a:prstGeom>
          <a:noFill/>
          <a:ln w="9525">
            <a:noFill/>
          </a:ln>
        </p:spPr>
        <p:txBody>
          <a:bodyPr wrap="square" anchor="t">
            <a:spAutoFit/>
          </a:bodyPr>
          <a:lstStyle/>
          <a:p>
            <a:pPr algn="ctr"/>
            <a:r>
              <a:rPr lang="zh-CN" altLang="en-US" sz="1800" dirty="0">
                <a:latin typeface="微软雅黑" panose="020B0503020204020204" pitchFamily="34" charset="-122"/>
                <a:ea typeface="微软雅黑" panose="020B0503020204020204" pitchFamily="34" charset="-122"/>
              </a:rPr>
              <a:t>未用记录</a:t>
            </a:r>
            <a:endParaRPr lang="zh-CN" altLang="en-US" sz="1800" dirty="0">
              <a:latin typeface="微软雅黑" panose="020B0503020204020204" pitchFamily="34" charset="-122"/>
              <a:ea typeface="微软雅黑" panose="020B0503020204020204" pitchFamily="34" charset="-122"/>
            </a:endParaRPr>
          </a:p>
        </p:txBody>
      </p:sp>
      <p:sp>
        <p:nvSpPr>
          <p:cNvPr id="215" name="Line 53"/>
          <p:cNvSpPr/>
          <p:nvPr/>
        </p:nvSpPr>
        <p:spPr>
          <a:xfrm>
            <a:off x="4498975" y="3995738"/>
            <a:ext cx="0" cy="1771885"/>
          </a:xfrm>
          <a:prstGeom prst="line">
            <a:avLst/>
          </a:prstGeom>
          <a:ln w="76200" cap="flat" cmpd="sng">
            <a:solidFill>
              <a:srgbClr val="FF0066"/>
            </a:solidFill>
            <a:prstDash val="solid"/>
            <a:round/>
            <a:headEnd type="none" w="med" len="med"/>
            <a:tailEnd type="triangle" w="med" len="med"/>
          </a:ln>
        </p:spPr>
      </p:sp>
      <p:grpSp>
        <p:nvGrpSpPr>
          <p:cNvPr id="216" name="Group 54"/>
          <p:cNvGrpSpPr/>
          <p:nvPr/>
        </p:nvGrpSpPr>
        <p:grpSpPr>
          <a:xfrm>
            <a:off x="5305425" y="6008688"/>
            <a:ext cx="912598" cy="310786"/>
            <a:chOff x="3294" y="3550"/>
            <a:chExt cx="522" cy="231"/>
          </a:xfrm>
        </p:grpSpPr>
        <p:sp>
          <p:nvSpPr>
            <p:cNvPr id="217" name="Line 55"/>
            <p:cNvSpPr/>
            <p:nvPr/>
          </p:nvSpPr>
          <p:spPr>
            <a:xfrm>
              <a:off x="3414" y="3753"/>
              <a:ext cx="402" cy="0"/>
            </a:xfrm>
            <a:prstGeom prst="line">
              <a:avLst/>
            </a:prstGeom>
            <a:ln w="9525" cap="flat" cmpd="sng">
              <a:solidFill>
                <a:srgbClr val="FF0066"/>
              </a:solidFill>
              <a:prstDash val="solid"/>
              <a:round/>
              <a:headEnd type="none" w="med" len="med"/>
              <a:tailEnd type="triangle" w="med" len="med"/>
            </a:ln>
          </p:spPr>
        </p:sp>
        <p:sp>
          <p:nvSpPr>
            <p:cNvPr id="218" name="Rectangle 56"/>
            <p:cNvSpPr/>
            <p:nvPr/>
          </p:nvSpPr>
          <p:spPr>
            <a:xfrm>
              <a:off x="3294" y="3550"/>
              <a:ext cx="404" cy="231"/>
            </a:xfrm>
            <a:prstGeom prst="rect">
              <a:avLst/>
            </a:prstGeom>
            <a:noFill/>
            <a:ln w="9525">
              <a:noFill/>
            </a:ln>
          </p:spPr>
          <p:txBody>
            <a:bodyPr wrap="none" anchor="t">
              <a:spAutoFit/>
            </a:bodyPr>
            <a:lstStyle/>
            <a:p>
              <a:pPr algn="ctr"/>
              <a:r>
                <a:rPr lang="zh-CN" altLang="en-US" sz="1800" dirty="0">
                  <a:latin typeface="微软雅黑" panose="020B0503020204020204" pitchFamily="34" charset="-122"/>
                  <a:ea typeface="微软雅黑" panose="020B0503020204020204" pitchFamily="34" charset="-122"/>
                </a:rPr>
                <a:t>尾部</a:t>
              </a:r>
              <a:endParaRPr lang="zh-CN" altLang="en-US" sz="1800" dirty="0">
                <a:latin typeface="微软雅黑" panose="020B0503020204020204" pitchFamily="34" charset="-122"/>
                <a:ea typeface="微软雅黑" panose="020B0503020204020204" pitchFamily="34" charset="-122"/>
              </a:endParaRPr>
            </a:p>
          </p:txBody>
        </p:sp>
      </p:grpSp>
      <p:grpSp>
        <p:nvGrpSpPr>
          <p:cNvPr id="219" name="Group 58"/>
          <p:cNvGrpSpPr/>
          <p:nvPr/>
        </p:nvGrpSpPr>
        <p:grpSpPr>
          <a:xfrm>
            <a:off x="6167437" y="3483622"/>
            <a:ext cx="2209817" cy="316168"/>
            <a:chOff x="1390" y="941"/>
            <a:chExt cx="1645" cy="235"/>
          </a:xfrm>
        </p:grpSpPr>
        <p:grpSp>
          <p:nvGrpSpPr>
            <p:cNvPr id="220" name="Group 59"/>
            <p:cNvGrpSpPr/>
            <p:nvPr/>
          </p:nvGrpSpPr>
          <p:grpSpPr>
            <a:xfrm>
              <a:off x="1390" y="983"/>
              <a:ext cx="1645" cy="193"/>
              <a:chOff x="1390" y="983"/>
              <a:chExt cx="1645" cy="239"/>
            </a:xfrm>
          </p:grpSpPr>
          <p:sp>
            <p:nvSpPr>
              <p:cNvPr id="222" name="Rectangle 60"/>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23" name="Rectangle 61"/>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21" name="Text Box 62"/>
            <p:cNvSpPr txBox="1"/>
            <p:nvPr/>
          </p:nvSpPr>
          <p:spPr>
            <a:xfrm>
              <a:off x="1503" y="941"/>
              <a:ext cx="1493"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(S#:001</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224" name="Group 63"/>
          <p:cNvGrpSpPr/>
          <p:nvPr/>
        </p:nvGrpSpPr>
        <p:grpSpPr>
          <a:xfrm>
            <a:off x="6167437" y="4109097"/>
            <a:ext cx="2209817" cy="316168"/>
            <a:chOff x="1390" y="941"/>
            <a:chExt cx="1645" cy="235"/>
          </a:xfrm>
        </p:grpSpPr>
        <p:grpSp>
          <p:nvGrpSpPr>
            <p:cNvPr id="225" name="Group 64"/>
            <p:cNvGrpSpPr/>
            <p:nvPr/>
          </p:nvGrpSpPr>
          <p:grpSpPr>
            <a:xfrm>
              <a:off x="1390" y="983"/>
              <a:ext cx="1645" cy="193"/>
              <a:chOff x="1390" y="983"/>
              <a:chExt cx="1645" cy="239"/>
            </a:xfrm>
          </p:grpSpPr>
          <p:sp>
            <p:nvSpPr>
              <p:cNvPr id="227" name="Rectangle 65"/>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28" name="Rectangle 66"/>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26" name="Text Box 67"/>
            <p:cNvSpPr txBox="1"/>
            <p:nvPr/>
          </p:nvSpPr>
          <p:spPr>
            <a:xfrm>
              <a:off x="1503" y="941"/>
              <a:ext cx="1493"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(S#:003</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229" name="Rectangle 68"/>
          <p:cNvSpPr/>
          <p:nvPr/>
        </p:nvSpPr>
        <p:spPr>
          <a:xfrm>
            <a:off x="6378575" y="4476750"/>
            <a:ext cx="1977297" cy="258316"/>
          </a:xfrm>
          <a:prstGeom prst="rect">
            <a:avLst/>
          </a:prstGeom>
          <a:solidFill>
            <a:srgbClr val="FFFF99"/>
          </a:solidFill>
          <a:ln w="9525" cap="flat" cmpd="sng">
            <a:solidFill>
              <a:srgbClr val="FF0066"/>
            </a:solidFill>
            <a:prstDash val="solid"/>
            <a:miter/>
            <a:headEnd type="none" w="med" len="med"/>
            <a:tailEnd type="non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sp>
        <p:nvSpPr>
          <p:cNvPr id="230" name="Rectangle 69"/>
          <p:cNvSpPr/>
          <p:nvPr/>
        </p:nvSpPr>
        <p:spPr>
          <a:xfrm>
            <a:off x="6167438" y="4476750"/>
            <a:ext cx="232520" cy="259662"/>
          </a:xfrm>
          <a:prstGeom prst="rect">
            <a:avLst/>
          </a:prstGeom>
          <a:solidFill>
            <a:srgbClr val="FF0066"/>
          </a:solidFill>
          <a:ln w="9525" cap="flat" cmpd="sng">
            <a:solidFill>
              <a:schemeClr val="accent2"/>
            </a:solidFill>
            <a:prstDash val="solid"/>
            <a:miter/>
            <a:headEnd type="none" w="med" len="med"/>
            <a:tailEnd type="non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231" name="Group 70"/>
          <p:cNvGrpSpPr/>
          <p:nvPr/>
        </p:nvGrpSpPr>
        <p:grpSpPr>
          <a:xfrm>
            <a:off x="6169024" y="4729810"/>
            <a:ext cx="2209817" cy="316168"/>
            <a:chOff x="1390" y="941"/>
            <a:chExt cx="1645" cy="235"/>
          </a:xfrm>
        </p:grpSpPr>
        <p:grpSp>
          <p:nvGrpSpPr>
            <p:cNvPr id="232" name="Group 71"/>
            <p:cNvGrpSpPr/>
            <p:nvPr/>
          </p:nvGrpSpPr>
          <p:grpSpPr>
            <a:xfrm>
              <a:off x="1390" y="983"/>
              <a:ext cx="1645" cy="193"/>
              <a:chOff x="1390" y="983"/>
              <a:chExt cx="1645" cy="239"/>
            </a:xfrm>
          </p:grpSpPr>
          <p:sp>
            <p:nvSpPr>
              <p:cNvPr id="234" name="Rectangle 72"/>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35" name="Rectangle 73"/>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33" name="Text Box 74"/>
            <p:cNvSpPr txBox="1"/>
            <p:nvPr/>
          </p:nvSpPr>
          <p:spPr>
            <a:xfrm>
              <a:off x="1505" y="941"/>
              <a:ext cx="1492"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(S#:006</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236" name="Group 75"/>
          <p:cNvGrpSpPr/>
          <p:nvPr/>
        </p:nvGrpSpPr>
        <p:grpSpPr>
          <a:xfrm>
            <a:off x="6169024" y="5040960"/>
            <a:ext cx="2209817" cy="316168"/>
            <a:chOff x="1390" y="941"/>
            <a:chExt cx="1645" cy="235"/>
          </a:xfrm>
        </p:grpSpPr>
        <p:grpSp>
          <p:nvGrpSpPr>
            <p:cNvPr id="237" name="Group 76"/>
            <p:cNvGrpSpPr/>
            <p:nvPr/>
          </p:nvGrpSpPr>
          <p:grpSpPr>
            <a:xfrm>
              <a:off x="1390" y="983"/>
              <a:ext cx="1645" cy="193"/>
              <a:chOff x="1390" y="983"/>
              <a:chExt cx="1645" cy="239"/>
            </a:xfrm>
          </p:grpSpPr>
          <p:sp>
            <p:nvSpPr>
              <p:cNvPr id="239" name="Rectangle 77"/>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40" name="Rectangle 78"/>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38" name="Text Box 79"/>
            <p:cNvSpPr txBox="1"/>
            <p:nvPr/>
          </p:nvSpPr>
          <p:spPr>
            <a:xfrm>
              <a:off x="1505" y="941"/>
              <a:ext cx="1492"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(S#:007</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241" name="Rectangle 80"/>
          <p:cNvSpPr/>
          <p:nvPr/>
        </p:nvSpPr>
        <p:spPr>
          <a:xfrm>
            <a:off x="6380163" y="5407025"/>
            <a:ext cx="1977296" cy="258316"/>
          </a:xfrm>
          <a:prstGeom prst="rect">
            <a:avLst/>
          </a:prstGeom>
          <a:solidFill>
            <a:srgbClr val="FFFF99"/>
          </a:solidFill>
          <a:ln w="9525" cap="flat" cmpd="sng">
            <a:solidFill>
              <a:srgbClr val="FF0066"/>
            </a:solidFill>
            <a:prstDash val="solid"/>
            <a:miter/>
            <a:headEnd type="none" w="med" len="med"/>
            <a:tailEnd type="non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sp>
        <p:nvSpPr>
          <p:cNvPr id="242" name="Rectangle 81"/>
          <p:cNvSpPr/>
          <p:nvPr/>
        </p:nvSpPr>
        <p:spPr>
          <a:xfrm>
            <a:off x="6169024" y="5407025"/>
            <a:ext cx="232521" cy="259662"/>
          </a:xfrm>
          <a:prstGeom prst="rect">
            <a:avLst/>
          </a:prstGeom>
          <a:solidFill>
            <a:srgbClr val="FF0066"/>
          </a:solidFill>
          <a:ln w="9525" cap="flat" cmpd="sng">
            <a:solidFill>
              <a:schemeClr val="accent2"/>
            </a:solidFill>
            <a:prstDash val="solid"/>
            <a:miter/>
            <a:headEnd type="none" w="med" len="med"/>
            <a:tailEnd type="non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243" name="Group 82"/>
          <p:cNvGrpSpPr/>
          <p:nvPr/>
        </p:nvGrpSpPr>
        <p:grpSpPr>
          <a:xfrm>
            <a:off x="6169024" y="5668397"/>
            <a:ext cx="2209817" cy="310786"/>
            <a:chOff x="1390" y="946"/>
            <a:chExt cx="1645" cy="231"/>
          </a:xfrm>
        </p:grpSpPr>
        <p:grpSp>
          <p:nvGrpSpPr>
            <p:cNvPr id="244" name="Group 83"/>
            <p:cNvGrpSpPr/>
            <p:nvPr/>
          </p:nvGrpSpPr>
          <p:grpSpPr>
            <a:xfrm>
              <a:off x="1390" y="983"/>
              <a:ext cx="1645" cy="193"/>
              <a:chOff x="1390" y="983"/>
              <a:chExt cx="1645" cy="239"/>
            </a:xfrm>
          </p:grpSpPr>
          <p:sp>
            <p:nvSpPr>
              <p:cNvPr id="246" name="Rectangle 84"/>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47" name="Rectangle 85"/>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45" name="Text Box 86"/>
            <p:cNvSpPr txBox="1"/>
            <p:nvPr/>
          </p:nvSpPr>
          <p:spPr>
            <a:xfrm>
              <a:off x="1505" y="946"/>
              <a:ext cx="1492"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(S#:010</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248" name="Group 87"/>
          <p:cNvGrpSpPr/>
          <p:nvPr/>
        </p:nvGrpSpPr>
        <p:grpSpPr>
          <a:xfrm>
            <a:off x="6169024" y="5971235"/>
            <a:ext cx="2209817" cy="316168"/>
            <a:chOff x="1390" y="941"/>
            <a:chExt cx="1645" cy="235"/>
          </a:xfrm>
        </p:grpSpPr>
        <p:grpSp>
          <p:nvGrpSpPr>
            <p:cNvPr id="249" name="Group 88"/>
            <p:cNvGrpSpPr/>
            <p:nvPr/>
          </p:nvGrpSpPr>
          <p:grpSpPr>
            <a:xfrm>
              <a:off x="1390" y="983"/>
              <a:ext cx="1645" cy="193"/>
              <a:chOff x="1390" y="983"/>
              <a:chExt cx="1645" cy="239"/>
            </a:xfrm>
          </p:grpSpPr>
          <p:sp>
            <p:nvSpPr>
              <p:cNvPr id="251" name="Rectangle 89"/>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52" name="Rectangle 90"/>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50" name="Text Box 91"/>
            <p:cNvSpPr txBox="1"/>
            <p:nvPr/>
          </p:nvSpPr>
          <p:spPr>
            <a:xfrm>
              <a:off x="1505" y="941"/>
              <a:ext cx="1492"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(S#:012</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253" name="Rectangle 92"/>
          <p:cNvSpPr/>
          <p:nvPr/>
        </p:nvSpPr>
        <p:spPr>
          <a:xfrm>
            <a:off x="6307138" y="4411663"/>
            <a:ext cx="2005268" cy="369332"/>
          </a:xfrm>
          <a:prstGeom prst="rect">
            <a:avLst/>
          </a:prstGeom>
          <a:noFill/>
          <a:ln w="9525">
            <a:noFill/>
          </a:ln>
        </p:spPr>
        <p:txBody>
          <a:bodyPr wrap="square" anchor="t">
            <a:spAutoFit/>
          </a:bodyPr>
          <a:lstStyle/>
          <a:p>
            <a:pPr algn="ctr"/>
            <a:r>
              <a:rPr lang="en-US" altLang="zh-CN" sz="1800" dirty="0">
                <a:latin typeface="微软雅黑" panose="020B0503020204020204" pitchFamily="34" charset="-122"/>
                <a:ea typeface="微软雅黑" panose="020B0503020204020204" pitchFamily="34" charset="-122"/>
              </a:rPr>
              <a:t>(S#:005</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sp>
        <p:nvSpPr>
          <p:cNvPr id="254" name="Rectangle 93"/>
          <p:cNvSpPr/>
          <p:nvPr/>
        </p:nvSpPr>
        <p:spPr>
          <a:xfrm>
            <a:off x="6319838" y="5340350"/>
            <a:ext cx="2005268" cy="369332"/>
          </a:xfrm>
          <a:prstGeom prst="rect">
            <a:avLst/>
          </a:prstGeom>
          <a:noFill/>
          <a:ln w="9525">
            <a:noFill/>
          </a:ln>
        </p:spPr>
        <p:txBody>
          <a:bodyPr wrap="square" anchor="t">
            <a:spAutoFit/>
          </a:bodyPr>
          <a:lstStyle/>
          <a:p>
            <a:pPr algn="ctr"/>
            <a:r>
              <a:rPr lang="en-US" altLang="zh-CN" sz="1800" dirty="0">
                <a:latin typeface="微软雅黑" panose="020B0503020204020204" pitchFamily="34" charset="-122"/>
                <a:ea typeface="微软雅黑" panose="020B0503020204020204" pitchFamily="34" charset="-122"/>
              </a:rPr>
              <a:t>(S#:009</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nvGrpSpPr>
          <p:cNvPr id="255" name="Group 94"/>
          <p:cNvGrpSpPr/>
          <p:nvPr/>
        </p:nvGrpSpPr>
        <p:grpSpPr>
          <a:xfrm>
            <a:off x="6164262" y="3862389"/>
            <a:ext cx="2209817" cy="314822"/>
            <a:chOff x="2321" y="3865"/>
            <a:chExt cx="1645" cy="234"/>
          </a:xfrm>
        </p:grpSpPr>
        <p:sp>
          <p:nvSpPr>
            <p:cNvPr id="256" name="Rectangle 95"/>
            <p:cNvSpPr/>
            <p:nvPr/>
          </p:nvSpPr>
          <p:spPr>
            <a:xfrm>
              <a:off x="2494" y="3865"/>
              <a:ext cx="1472"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57" name="Rectangle 96"/>
            <p:cNvSpPr/>
            <p:nvPr/>
          </p:nvSpPr>
          <p:spPr>
            <a:xfrm>
              <a:off x="2321" y="3865"/>
              <a:ext cx="17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258" name="Text Box 97"/>
            <p:cNvSpPr txBox="1"/>
            <p:nvPr/>
          </p:nvSpPr>
          <p:spPr>
            <a:xfrm>
              <a:off x="3106" y="3868"/>
              <a:ext cx="151" cy="231"/>
            </a:xfrm>
            <a:prstGeom prst="rect">
              <a:avLst/>
            </a:prstGeom>
            <a:noFill/>
            <a:ln w="9525">
              <a:noFill/>
            </a:ln>
          </p:spPr>
          <p:txBody>
            <a:bodyPr wrap="none" anchor="t">
              <a:spAutoFit/>
            </a:bodyPr>
            <a:lstStyle/>
            <a:p>
              <a:pPr algn="ctr"/>
              <a:endParaRPr lang="zh-CN" altLang="zh-CN" sz="1800" dirty="0">
                <a:latin typeface="微软雅黑" panose="020B0503020204020204" pitchFamily="34" charset="-122"/>
                <a:ea typeface="微软雅黑" panose="020B0503020204020204" pitchFamily="34" charset="-122"/>
              </a:endParaRPr>
            </a:p>
          </p:txBody>
        </p:sp>
      </p:grpSp>
      <p:sp>
        <p:nvSpPr>
          <p:cNvPr id="259" name="Line 98"/>
          <p:cNvSpPr/>
          <p:nvPr/>
        </p:nvSpPr>
        <p:spPr>
          <a:xfrm flipV="1">
            <a:off x="4211638" y="4024313"/>
            <a:ext cx="335668" cy="0"/>
          </a:xfrm>
          <a:prstGeom prst="line">
            <a:avLst/>
          </a:prstGeom>
          <a:ln w="76200" cap="flat" cmpd="sng">
            <a:solidFill>
              <a:srgbClr val="FF0066"/>
            </a:solidFill>
            <a:prstDash val="solid"/>
            <a:round/>
            <a:headEnd type="none" w="med" len="med"/>
            <a:tailEnd type="none" w="med" len="med"/>
          </a:ln>
        </p:spPr>
      </p:sp>
      <p:sp>
        <p:nvSpPr>
          <p:cNvPr id="260" name="Freeform 99"/>
          <p:cNvSpPr/>
          <p:nvPr/>
        </p:nvSpPr>
        <p:spPr>
          <a:xfrm>
            <a:off x="8361363" y="3517900"/>
            <a:ext cx="942318" cy="430526"/>
          </a:xfrm>
          <a:custGeom>
            <a:avLst/>
            <a:gdLst/>
            <a:ahLst/>
            <a:cxnLst>
              <a:cxn ang="0">
                <a:pos x="539" y="0"/>
              </a:cxn>
              <a:cxn ang="0">
                <a:pos x="539" y="320"/>
              </a:cxn>
              <a:cxn ang="0">
                <a:pos x="0" y="320"/>
              </a:cxn>
            </a:cxnLst>
            <a:rect l="0" t="0" r="0" b="0"/>
            <a:pathLst>
              <a:path w="539" h="320">
                <a:moveTo>
                  <a:pt x="539" y="0"/>
                </a:moveTo>
                <a:lnTo>
                  <a:pt x="539" y="320"/>
                </a:lnTo>
                <a:lnTo>
                  <a:pt x="0" y="320"/>
                </a:lnTo>
              </a:path>
            </a:pathLst>
          </a:custGeom>
          <a:noFill/>
          <a:ln w="76200" cap="flat" cmpd="sng">
            <a:solidFill>
              <a:srgbClr val="FF0066"/>
            </a:solidFill>
            <a:prstDash val="solid"/>
            <a:round/>
            <a:headEnd type="none" w="med" len="med"/>
            <a:tailEnd type="triangle" w="med" len="med"/>
          </a:ln>
        </p:spPr>
        <p:txBody>
          <a:bodyPr/>
          <a:lstStyle/>
          <a:p>
            <a:endParaRPr lang="zh-CN" altLang="en-US"/>
          </a:p>
        </p:txBody>
      </p:sp>
      <p:grpSp>
        <p:nvGrpSpPr>
          <p:cNvPr id="261" name="Group 102"/>
          <p:cNvGrpSpPr/>
          <p:nvPr/>
        </p:nvGrpSpPr>
        <p:grpSpPr>
          <a:xfrm>
            <a:off x="8572635" y="5480051"/>
            <a:ext cx="2696971" cy="1215007"/>
            <a:chOff x="157" y="2987"/>
            <a:chExt cx="1630" cy="1791"/>
          </a:xfrm>
        </p:grpSpPr>
        <p:sp>
          <p:nvSpPr>
            <p:cNvPr id="262" name="AutoShape 39"/>
            <p:cNvSpPr/>
            <p:nvPr/>
          </p:nvSpPr>
          <p:spPr>
            <a:xfrm>
              <a:off x="310" y="3053"/>
              <a:ext cx="1417" cy="1270"/>
            </a:xfrm>
            <a:prstGeom prst="ellipse">
              <a:avLst/>
            </a:prstGeom>
            <a:solidFill>
              <a:srgbClr val="B90000"/>
            </a:solidFill>
            <a:ln w="9525">
              <a:noFill/>
            </a:ln>
          </p:spPr>
          <p:txBody>
            <a:bodyPr wrap="none" anchor="ctr"/>
            <a:lstStyle/>
            <a:p>
              <a:pPr algn="ctr"/>
              <a:endParaRPr lang="zh-CN" altLang="zh-CN" dirty="0">
                <a:solidFill>
                  <a:schemeClr val="accent2"/>
                </a:solidFill>
                <a:latin typeface="Arial" panose="020B0604020202020204" pitchFamily="34" charset="0"/>
                <a:ea typeface="微软雅黑" panose="020B0503020204020204" pitchFamily="34" charset="-122"/>
              </a:endParaRPr>
            </a:p>
          </p:txBody>
        </p:sp>
        <p:sp>
          <p:nvSpPr>
            <p:cNvPr id="263" name="Oval 40"/>
            <p:cNvSpPr/>
            <p:nvPr/>
          </p:nvSpPr>
          <p:spPr>
            <a:xfrm>
              <a:off x="370" y="3099"/>
              <a:ext cx="1243" cy="1141"/>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chemeClr val="accent2"/>
                </a:solidFill>
                <a:latin typeface="Arial" panose="020B0604020202020204" pitchFamily="34" charset="0"/>
                <a:ea typeface="微软雅黑" panose="020B0503020204020204" pitchFamily="34" charset="-122"/>
              </a:endParaRPr>
            </a:p>
          </p:txBody>
        </p:sp>
        <p:sp>
          <p:nvSpPr>
            <p:cNvPr id="264" name="Text Box 84"/>
            <p:cNvSpPr/>
            <p:nvPr/>
          </p:nvSpPr>
          <p:spPr>
            <a:xfrm>
              <a:off x="157" y="2987"/>
              <a:ext cx="1630" cy="1791"/>
            </a:xfrm>
            <a:prstGeom prst="ellipse">
              <a:avLst/>
            </a:prstGeom>
            <a:noFill/>
            <a:ln w="9525">
              <a:noFill/>
            </a:ln>
          </p:spPr>
          <p:txBody>
            <a:bodyPr wrap="square" anchor="t">
              <a:spAutoFit/>
            </a:bodyPr>
            <a:lstStyle/>
            <a:p>
              <a:pPr algn="ctr"/>
              <a:r>
                <a:rPr lang="zh-CN" altLang="zh-CN" dirty="0">
                  <a:solidFill>
                    <a:schemeClr val="accent2"/>
                  </a:solidFill>
                  <a:latin typeface="Arial" panose="020B0604020202020204" pitchFamily="34" charset="0"/>
                  <a:ea typeface="微软雅黑" panose="020B0503020204020204" pitchFamily="34" charset="-122"/>
                </a:rPr>
                <a:t>大规模移动数据记录是危险的</a:t>
              </a:r>
              <a:endParaRPr lang="zh-CN" altLang="en-US" dirty="0">
                <a:solidFill>
                  <a:schemeClr val="accent2"/>
                </a:solidFill>
                <a:latin typeface="Arial" panose="020B0604020202020204" pitchFamily="34" charset="0"/>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1"/>
                                        </p:tgtEl>
                                        <p:attrNameLst>
                                          <p:attrName>style.visibility</p:attrName>
                                        </p:attrNameLst>
                                      </p:cBhvr>
                                      <p:to>
                                        <p:strVal val="visible"/>
                                      </p:to>
                                    </p:set>
                                    <p:anim calcmode="lin" valueType="num">
                                      <p:cBhvr additive="base">
                                        <p:cTn id="7" dur="500" fill="hold"/>
                                        <p:tgtEl>
                                          <p:spTgt spid="261"/>
                                        </p:tgtEl>
                                        <p:attrNameLst>
                                          <p:attrName>ppt_x</p:attrName>
                                        </p:attrNameLst>
                                      </p:cBhvr>
                                      <p:tavLst>
                                        <p:tav tm="0">
                                          <p:val>
                                            <p:strVal val="#ppt_x"/>
                                          </p:val>
                                        </p:tav>
                                        <p:tav tm="100000">
                                          <p:val>
                                            <p:strVal val="#ppt_x"/>
                                          </p:val>
                                        </p:tav>
                                      </p:tavLst>
                                    </p:anim>
                                    <p:anim calcmode="lin" valueType="num">
                                      <p:cBhvr additive="base">
                                        <p:cTn id="8" dur="500" fill="hold"/>
                                        <p:tgtEl>
                                          <p:spTgt spid="2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基础回顾-数据库之文件组织方法</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有序文件组织</a:t>
            </a:r>
            <a:endParaRPr lang="en-US" altLang="zh-CN" dirty="0">
              <a:latin typeface="微软雅黑" panose="020B0503020204020204" pitchFamily="34" charset="-122"/>
              <a:ea typeface="微软雅黑" panose="020B0503020204020204" pitchFamily="34" charset="-122"/>
            </a:endParaRPr>
          </a:p>
          <a:p>
            <a:pPr>
              <a:lnSpc>
                <a:spcPct val="100000"/>
              </a:lnSpc>
            </a:pPr>
            <a:r>
              <a:rPr lang="zh-CN" altLang="en-US" sz="2000" b="0" dirty="0">
                <a:solidFill>
                  <a:srgbClr val="FF0000"/>
                </a:solidFill>
              </a:rPr>
              <a:t>文件组织方法之二：有序记录文件</a:t>
            </a:r>
            <a:r>
              <a:rPr lang="en-US" altLang="zh-CN" sz="2000" b="0" dirty="0">
                <a:solidFill>
                  <a:srgbClr val="FF0000"/>
                </a:solidFill>
              </a:rPr>
              <a:t>(</a:t>
            </a:r>
            <a:r>
              <a:rPr lang="zh-CN" altLang="en-US" sz="2000" b="0" dirty="0">
                <a:solidFill>
                  <a:srgbClr val="FF0000"/>
                </a:solidFill>
              </a:rPr>
              <a:t>排序文件</a:t>
            </a:r>
            <a:r>
              <a:rPr lang="en-US" altLang="zh-CN" sz="2000" b="0" dirty="0">
                <a:solidFill>
                  <a:srgbClr val="FF0000"/>
                </a:solidFill>
              </a:rPr>
              <a:t>Sequential)</a:t>
            </a:r>
            <a:endParaRPr lang="en-US" altLang="zh-CN" sz="2000" b="0" dirty="0">
              <a:solidFill>
                <a:srgbClr val="FF0000"/>
              </a:solidFill>
            </a:endParaRPr>
          </a:p>
          <a:p>
            <a:pPr marL="228600" lvl="1">
              <a:lnSpc>
                <a:spcPct val="100000"/>
              </a:lnSpc>
              <a:spcBef>
                <a:spcPts val="1000"/>
              </a:spcBef>
              <a:buFont typeface="Wingdings" panose="05000000000000000000" pitchFamily="2" charset="2"/>
              <a:buChar char="l"/>
            </a:pPr>
            <a:r>
              <a:rPr lang="zh-CN" altLang="en-US" sz="1800" dirty="0"/>
              <a:t>改进措施是可为将来有可能插入的元组</a:t>
            </a:r>
            <a:r>
              <a:rPr lang="zh-CN" altLang="en-US" sz="1800" dirty="0">
                <a:solidFill>
                  <a:srgbClr val="FF0000"/>
                </a:solidFill>
              </a:rPr>
              <a:t>预留空间</a:t>
            </a:r>
            <a:r>
              <a:rPr lang="en-US" altLang="zh-CN" sz="1800" dirty="0"/>
              <a:t>(</a:t>
            </a:r>
            <a:r>
              <a:rPr lang="zh-CN" altLang="en-US" sz="1800" dirty="0"/>
              <a:t>这可能造成空间浪费</a:t>
            </a:r>
            <a:r>
              <a:rPr lang="en-US" altLang="zh-CN" sz="1800" dirty="0"/>
              <a:t>),</a:t>
            </a:r>
            <a:r>
              <a:rPr lang="zh-CN" altLang="en-US" sz="1800" dirty="0"/>
              <a:t>或者再使用一个临时的无序文件</a:t>
            </a:r>
            <a:r>
              <a:rPr lang="en-US" altLang="zh-CN" sz="1800" dirty="0"/>
              <a:t>(</a:t>
            </a:r>
            <a:r>
              <a:rPr lang="zh-CN" altLang="en-US" sz="1800" dirty="0"/>
              <a:t>被称为溢出文件</a:t>
            </a:r>
            <a:r>
              <a:rPr lang="en-US" altLang="zh-CN" sz="1800" dirty="0"/>
              <a:t>)</a:t>
            </a:r>
            <a:r>
              <a:rPr lang="zh-CN" altLang="en-US" sz="1800" dirty="0"/>
              <a:t>保留新增的记录。</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当采取溢出文件措施时，检索操作既要操作主文件，又要操作溢出文件。</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所以需要周期性重新组织数据库</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solidFill>
                  <a:srgbClr val="FF0000"/>
                </a:solidFill>
              </a:rPr>
              <a:t>数据库重组</a:t>
            </a:r>
            <a:r>
              <a:rPr lang="zh-CN" altLang="en-US" sz="1800" dirty="0"/>
              <a:t>是将溢出文件合并到主文件中，并恢复主文件中的记录顺序。</a:t>
            </a:r>
            <a:endParaRPr lang="zh-CN" altLang="en-US" sz="1800" dirty="0"/>
          </a:p>
          <a:p>
            <a:pPr marL="228600" lvl="1">
              <a:lnSpc>
                <a:spcPct val="100000"/>
              </a:lnSpc>
              <a:spcBef>
                <a:spcPts val="1000"/>
              </a:spcBef>
              <a:buFont typeface="Wingdings" panose="05000000000000000000" pitchFamily="2" charset="2"/>
              <a:buChar char="l"/>
            </a:pPr>
            <a:endParaRPr lang="zh-CN" altLang="en-US" sz="1800" b="1" dirty="0"/>
          </a:p>
        </p:txBody>
      </p:sp>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grpSp>
        <p:nvGrpSpPr>
          <p:cNvPr id="2" name="Group 101"/>
          <p:cNvGrpSpPr/>
          <p:nvPr/>
        </p:nvGrpSpPr>
        <p:grpSpPr>
          <a:xfrm>
            <a:off x="3001963" y="4129088"/>
            <a:ext cx="2795587" cy="2544762"/>
            <a:chOff x="3710" y="2303"/>
            <a:chExt cx="1761" cy="1603"/>
          </a:xfrm>
        </p:grpSpPr>
        <p:grpSp>
          <p:nvGrpSpPr>
            <p:cNvPr id="6" name="Group 102"/>
            <p:cNvGrpSpPr/>
            <p:nvPr/>
          </p:nvGrpSpPr>
          <p:grpSpPr>
            <a:xfrm>
              <a:off x="3710" y="3660"/>
              <a:ext cx="522" cy="231"/>
              <a:chOff x="3294" y="3550"/>
              <a:chExt cx="522" cy="231"/>
            </a:xfrm>
          </p:grpSpPr>
          <p:sp>
            <p:nvSpPr>
              <p:cNvPr id="44" name="Line 103"/>
              <p:cNvSpPr/>
              <p:nvPr/>
            </p:nvSpPr>
            <p:spPr>
              <a:xfrm>
                <a:off x="3414" y="3753"/>
                <a:ext cx="402" cy="0"/>
              </a:xfrm>
              <a:prstGeom prst="line">
                <a:avLst/>
              </a:prstGeom>
              <a:ln w="9525" cap="flat" cmpd="sng">
                <a:solidFill>
                  <a:srgbClr val="FF0066"/>
                </a:solidFill>
                <a:prstDash val="solid"/>
                <a:round/>
                <a:headEnd type="none" w="med" len="med"/>
                <a:tailEnd type="triangle" w="med" len="med"/>
              </a:ln>
            </p:spPr>
          </p:sp>
          <p:sp>
            <p:nvSpPr>
              <p:cNvPr id="45" name="Rectangle 104"/>
              <p:cNvSpPr/>
              <p:nvPr/>
            </p:nvSpPr>
            <p:spPr>
              <a:xfrm>
                <a:off x="3294" y="3550"/>
                <a:ext cx="404" cy="231"/>
              </a:xfrm>
              <a:prstGeom prst="rect">
                <a:avLst/>
              </a:prstGeom>
              <a:noFill/>
              <a:ln w="9525">
                <a:noFill/>
              </a:ln>
            </p:spPr>
            <p:txBody>
              <a:bodyPr wrap="none" anchor="t">
                <a:spAutoFit/>
              </a:bodyPr>
              <a:lstStyle/>
              <a:p>
                <a:pPr algn="ctr"/>
                <a:r>
                  <a:rPr lang="zh-CN" altLang="en-US" sz="1800" b="0" dirty="0">
                    <a:latin typeface="微软雅黑" panose="020B0503020204020204" pitchFamily="34" charset="-122"/>
                    <a:ea typeface="微软雅黑" panose="020B0503020204020204" pitchFamily="34" charset="-122"/>
                  </a:rPr>
                  <a:t>尾部</a:t>
                </a:r>
                <a:endParaRPr lang="zh-CN" altLang="en-US" sz="1800" b="0" dirty="0">
                  <a:latin typeface="微软雅黑" panose="020B0503020204020204" pitchFamily="34" charset="-122"/>
                  <a:ea typeface="微软雅黑" panose="020B0503020204020204" pitchFamily="34" charset="-122"/>
                </a:endParaRPr>
              </a:p>
            </p:txBody>
          </p:sp>
        </p:grpSp>
        <p:grpSp>
          <p:nvGrpSpPr>
            <p:cNvPr id="7" name="Group 105"/>
            <p:cNvGrpSpPr/>
            <p:nvPr/>
          </p:nvGrpSpPr>
          <p:grpSpPr>
            <a:xfrm>
              <a:off x="4206" y="2303"/>
              <a:ext cx="1264" cy="234"/>
              <a:chOff x="1390" y="983"/>
              <a:chExt cx="1645" cy="234"/>
            </a:xfrm>
          </p:grpSpPr>
          <p:grpSp>
            <p:nvGrpSpPr>
              <p:cNvPr id="40" name="Group 106"/>
              <p:cNvGrpSpPr/>
              <p:nvPr/>
            </p:nvGrpSpPr>
            <p:grpSpPr>
              <a:xfrm>
                <a:off x="1390" y="983"/>
                <a:ext cx="1645" cy="193"/>
                <a:chOff x="1390" y="983"/>
                <a:chExt cx="1645" cy="239"/>
              </a:xfrm>
            </p:grpSpPr>
            <p:sp>
              <p:nvSpPr>
                <p:cNvPr id="42" name="Rectangle 107"/>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43" name="Rectangle 108"/>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41" name="Text Box 109"/>
              <p:cNvSpPr txBox="1"/>
              <p:nvPr/>
            </p:nvSpPr>
            <p:spPr>
              <a:xfrm>
                <a:off x="1503" y="986"/>
                <a:ext cx="1493"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(S#:001</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8" name="Group 110"/>
            <p:cNvGrpSpPr/>
            <p:nvPr/>
          </p:nvGrpSpPr>
          <p:grpSpPr>
            <a:xfrm>
              <a:off x="4206" y="2499"/>
              <a:ext cx="1264" cy="234"/>
              <a:chOff x="1390" y="983"/>
              <a:chExt cx="1645" cy="234"/>
            </a:xfrm>
          </p:grpSpPr>
          <p:grpSp>
            <p:nvGrpSpPr>
              <p:cNvPr id="36" name="Group 111"/>
              <p:cNvGrpSpPr/>
              <p:nvPr/>
            </p:nvGrpSpPr>
            <p:grpSpPr>
              <a:xfrm>
                <a:off x="1390" y="983"/>
                <a:ext cx="1645" cy="193"/>
                <a:chOff x="1390" y="983"/>
                <a:chExt cx="1645" cy="239"/>
              </a:xfrm>
            </p:grpSpPr>
            <p:sp>
              <p:nvSpPr>
                <p:cNvPr id="38" name="Rectangle 112"/>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39" name="Rectangle 113"/>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37" name="Text Box 114"/>
              <p:cNvSpPr txBox="1"/>
              <p:nvPr/>
            </p:nvSpPr>
            <p:spPr>
              <a:xfrm>
                <a:off x="1475" y="986"/>
                <a:ext cx="1548"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003</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9" name="Rectangle 115"/>
            <p:cNvSpPr/>
            <p:nvPr/>
          </p:nvSpPr>
          <p:spPr>
            <a:xfrm>
              <a:off x="4339" y="2695"/>
              <a:ext cx="1131"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0" name="Rectangle 116"/>
            <p:cNvSpPr/>
            <p:nvPr/>
          </p:nvSpPr>
          <p:spPr>
            <a:xfrm>
              <a:off x="4206" y="2695"/>
              <a:ext cx="13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11" name="Group 117"/>
            <p:cNvGrpSpPr/>
            <p:nvPr/>
          </p:nvGrpSpPr>
          <p:grpSpPr>
            <a:xfrm>
              <a:off x="4207" y="2890"/>
              <a:ext cx="1264" cy="234"/>
              <a:chOff x="1390" y="983"/>
              <a:chExt cx="1645" cy="234"/>
            </a:xfrm>
          </p:grpSpPr>
          <p:grpSp>
            <p:nvGrpSpPr>
              <p:cNvPr id="31" name="Group 118"/>
              <p:cNvGrpSpPr/>
              <p:nvPr/>
            </p:nvGrpSpPr>
            <p:grpSpPr>
              <a:xfrm>
                <a:off x="1390" y="983"/>
                <a:ext cx="1645" cy="193"/>
                <a:chOff x="1390" y="983"/>
                <a:chExt cx="1645" cy="239"/>
              </a:xfrm>
            </p:grpSpPr>
            <p:sp>
              <p:nvSpPr>
                <p:cNvPr id="33" name="Rectangle 119"/>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34" name="Rectangle 120"/>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32" name="Text Box 121"/>
              <p:cNvSpPr txBox="1"/>
              <p:nvPr/>
            </p:nvSpPr>
            <p:spPr>
              <a:xfrm>
                <a:off x="1476" y="986"/>
                <a:ext cx="1549"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006</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12" name="Group 122"/>
            <p:cNvGrpSpPr/>
            <p:nvPr/>
          </p:nvGrpSpPr>
          <p:grpSpPr>
            <a:xfrm>
              <a:off x="4207" y="3086"/>
              <a:ext cx="1264" cy="234"/>
              <a:chOff x="1390" y="983"/>
              <a:chExt cx="1645" cy="234"/>
            </a:xfrm>
          </p:grpSpPr>
          <p:grpSp>
            <p:nvGrpSpPr>
              <p:cNvPr id="27" name="Group 123"/>
              <p:cNvGrpSpPr/>
              <p:nvPr/>
            </p:nvGrpSpPr>
            <p:grpSpPr>
              <a:xfrm>
                <a:off x="1390" y="983"/>
                <a:ext cx="1645" cy="193"/>
                <a:chOff x="1390" y="983"/>
                <a:chExt cx="1645" cy="239"/>
              </a:xfrm>
            </p:grpSpPr>
            <p:sp>
              <p:nvSpPr>
                <p:cNvPr id="29" name="Rectangle 124"/>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30" name="Rectangle 125"/>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8" name="Text Box 126"/>
              <p:cNvSpPr txBox="1"/>
              <p:nvPr/>
            </p:nvSpPr>
            <p:spPr>
              <a:xfrm>
                <a:off x="1476" y="986"/>
                <a:ext cx="1549"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007</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13" name="Rectangle 127"/>
            <p:cNvSpPr/>
            <p:nvPr/>
          </p:nvSpPr>
          <p:spPr>
            <a:xfrm>
              <a:off x="4340" y="3281"/>
              <a:ext cx="1131"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4" name="Rectangle 128"/>
            <p:cNvSpPr/>
            <p:nvPr/>
          </p:nvSpPr>
          <p:spPr>
            <a:xfrm>
              <a:off x="4207" y="3281"/>
              <a:ext cx="13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15" name="Group 129"/>
            <p:cNvGrpSpPr/>
            <p:nvPr/>
          </p:nvGrpSpPr>
          <p:grpSpPr>
            <a:xfrm>
              <a:off x="4207" y="3477"/>
              <a:ext cx="1264" cy="234"/>
              <a:chOff x="1390" y="983"/>
              <a:chExt cx="1645" cy="234"/>
            </a:xfrm>
          </p:grpSpPr>
          <p:grpSp>
            <p:nvGrpSpPr>
              <p:cNvPr id="23" name="Group 130"/>
              <p:cNvGrpSpPr/>
              <p:nvPr/>
            </p:nvGrpSpPr>
            <p:grpSpPr>
              <a:xfrm>
                <a:off x="1390" y="983"/>
                <a:ext cx="1645" cy="193"/>
                <a:chOff x="1390" y="983"/>
                <a:chExt cx="1645" cy="239"/>
              </a:xfrm>
            </p:grpSpPr>
            <p:sp>
              <p:nvSpPr>
                <p:cNvPr id="25" name="Rectangle 131"/>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6" name="Rectangle 132"/>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4" name="Text Box 133"/>
              <p:cNvSpPr txBox="1"/>
              <p:nvPr/>
            </p:nvSpPr>
            <p:spPr>
              <a:xfrm>
                <a:off x="1476" y="986"/>
                <a:ext cx="1549"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010</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16" name="Group 134"/>
            <p:cNvGrpSpPr/>
            <p:nvPr/>
          </p:nvGrpSpPr>
          <p:grpSpPr>
            <a:xfrm>
              <a:off x="4207" y="3672"/>
              <a:ext cx="1264" cy="234"/>
              <a:chOff x="1390" y="983"/>
              <a:chExt cx="1645" cy="234"/>
            </a:xfrm>
          </p:grpSpPr>
          <p:grpSp>
            <p:nvGrpSpPr>
              <p:cNvPr id="19" name="Group 135"/>
              <p:cNvGrpSpPr/>
              <p:nvPr/>
            </p:nvGrpSpPr>
            <p:grpSpPr>
              <a:xfrm>
                <a:off x="1390" y="983"/>
                <a:ext cx="1645" cy="193"/>
                <a:chOff x="1390" y="983"/>
                <a:chExt cx="1645" cy="239"/>
              </a:xfrm>
            </p:grpSpPr>
            <p:sp>
              <p:nvSpPr>
                <p:cNvPr id="21" name="Rectangle 136"/>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2" name="Rectangle 137"/>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0" name="Text Box 138"/>
              <p:cNvSpPr txBox="1"/>
              <p:nvPr/>
            </p:nvSpPr>
            <p:spPr>
              <a:xfrm>
                <a:off x="1476" y="986"/>
                <a:ext cx="1549"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012</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17" name="Rectangle 139"/>
            <p:cNvSpPr/>
            <p:nvPr/>
          </p:nvSpPr>
          <p:spPr>
            <a:xfrm>
              <a:off x="4281" y="2690"/>
              <a:ext cx="1190"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005</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sp>
          <p:nvSpPr>
            <p:cNvPr id="18" name="Rectangle 140"/>
            <p:cNvSpPr/>
            <p:nvPr/>
          </p:nvSpPr>
          <p:spPr>
            <a:xfrm>
              <a:off x="4280" y="3275"/>
              <a:ext cx="1190"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009</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46" name="Group 220"/>
          <p:cNvGrpSpPr/>
          <p:nvPr/>
        </p:nvGrpSpPr>
        <p:grpSpPr>
          <a:xfrm>
            <a:off x="6780213" y="4529138"/>
            <a:ext cx="2740025" cy="981075"/>
            <a:chOff x="3252" y="3164"/>
            <a:chExt cx="1726" cy="618"/>
          </a:xfrm>
        </p:grpSpPr>
        <p:grpSp>
          <p:nvGrpSpPr>
            <p:cNvPr id="47" name="Group 181"/>
            <p:cNvGrpSpPr/>
            <p:nvPr/>
          </p:nvGrpSpPr>
          <p:grpSpPr>
            <a:xfrm>
              <a:off x="3252" y="3549"/>
              <a:ext cx="522" cy="231"/>
              <a:chOff x="3294" y="3550"/>
              <a:chExt cx="522" cy="231"/>
            </a:xfrm>
          </p:grpSpPr>
          <p:sp>
            <p:nvSpPr>
              <p:cNvPr id="61" name="Line 182"/>
              <p:cNvSpPr/>
              <p:nvPr/>
            </p:nvSpPr>
            <p:spPr>
              <a:xfrm>
                <a:off x="3414" y="3753"/>
                <a:ext cx="402" cy="0"/>
              </a:xfrm>
              <a:prstGeom prst="line">
                <a:avLst/>
              </a:prstGeom>
              <a:ln w="9525" cap="flat" cmpd="sng">
                <a:solidFill>
                  <a:srgbClr val="FF0066"/>
                </a:solidFill>
                <a:prstDash val="solid"/>
                <a:round/>
                <a:headEnd type="none" w="med" len="med"/>
                <a:tailEnd type="triangle" w="med" len="med"/>
              </a:ln>
            </p:spPr>
          </p:sp>
          <p:sp>
            <p:nvSpPr>
              <p:cNvPr id="62" name="Rectangle 183"/>
              <p:cNvSpPr/>
              <p:nvPr/>
            </p:nvSpPr>
            <p:spPr>
              <a:xfrm>
                <a:off x="3294" y="3550"/>
                <a:ext cx="404" cy="231"/>
              </a:xfrm>
              <a:prstGeom prst="rect">
                <a:avLst/>
              </a:prstGeom>
              <a:noFill/>
              <a:ln w="9525">
                <a:noFill/>
              </a:ln>
            </p:spPr>
            <p:txBody>
              <a:bodyPr wrap="none" anchor="t">
                <a:spAutoFit/>
              </a:bodyPr>
              <a:lstStyle/>
              <a:p>
                <a:pPr algn="ctr"/>
                <a:r>
                  <a:rPr lang="zh-CN" altLang="en-US" sz="1800" b="0" dirty="0">
                    <a:latin typeface="微软雅黑" panose="020B0503020204020204" pitchFamily="34" charset="-122"/>
                    <a:ea typeface="微软雅黑" panose="020B0503020204020204" pitchFamily="34" charset="-122"/>
                  </a:rPr>
                  <a:t>尾部</a:t>
                </a:r>
                <a:endParaRPr lang="zh-CN" altLang="en-US" sz="1800" b="0" dirty="0">
                  <a:latin typeface="微软雅黑" panose="020B0503020204020204" pitchFamily="34" charset="-122"/>
                  <a:ea typeface="微软雅黑" panose="020B0503020204020204" pitchFamily="34" charset="-122"/>
                </a:endParaRPr>
              </a:p>
            </p:txBody>
          </p:sp>
        </p:grpSp>
        <p:grpSp>
          <p:nvGrpSpPr>
            <p:cNvPr id="48" name="Group 184"/>
            <p:cNvGrpSpPr/>
            <p:nvPr/>
          </p:nvGrpSpPr>
          <p:grpSpPr>
            <a:xfrm>
              <a:off x="3713" y="3164"/>
              <a:ext cx="1264" cy="234"/>
              <a:chOff x="1390" y="983"/>
              <a:chExt cx="1645" cy="234"/>
            </a:xfrm>
          </p:grpSpPr>
          <p:grpSp>
            <p:nvGrpSpPr>
              <p:cNvPr id="57" name="Group 185"/>
              <p:cNvGrpSpPr/>
              <p:nvPr/>
            </p:nvGrpSpPr>
            <p:grpSpPr>
              <a:xfrm>
                <a:off x="1390" y="983"/>
                <a:ext cx="1645" cy="193"/>
                <a:chOff x="1390" y="983"/>
                <a:chExt cx="1645" cy="239"/>
              </a:xfrm>
            </p:grpSpPr>
            <p:sp>
              <p:nvSpPr>
                <p:cNvPr id="59" name="Rectangle 186"/>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60" name="Rectangle 187"/>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58" name="Text Box 188"/>
              <p:cNvSpPr txBox="1"/>
              <p:nvPr/>
            </p:nvSpPr>
            <p:spPr>
              <a:xfrm>
                <a:off x="1503" y="986"/>
                <a:ext cx="1493"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(S#:008</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grpSp>
          <p:nvGrpSpPr>
            <p:cNvPr id="49" name="Group 189"/>
            <p:cNvGrpSpPr/>
            <p:nvPr/>
          </p:nvGrpSpPr>
          <p:grpSpPr>
            <a:xfrm>
              <a:off x="3713" y="3360"/>
              <a:ext cx="1264" cy="234"/>
              <a:chOff x="1390" y="983"/>
              <a:chExt cx="1645" cy="234"/>
            </a:xfrm>
          </p:grpSpPr>
          <p:grpSp>
            <p:nvGrpSpPr>
              <p:cNvPr id="53" name="Group 190"/>
              <p:cNvGrpSpPr/>
              <p:nvPr/>
            </p:nvGrpSpPr>
            <p:grpSpPr>
              <a:xfrm>
                <a:off x="1390" y="983"/>
                <a:ext cx="1645" cy="193"/>
                <a:chOff x="1390" y="983"/>
                <a:chExt cx="1645" cy="239"/>
              </a:xfrm>
            </p:grpSpPr>
            <p:sp>
              <p:nvSpPr>
                <p:cNvPr id="55" name="Rectangle 191"/>
                <p:cNvSpPr/>
                <p:nvPr/>
              </p:nvSpPr>
              <p:spPr>
                <a:xfrm>
                  <a:off x="1563" y="983"/>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56" name="Rectangle 192"/>
                <p:cNvSpPr/>
                <p:nvPr/>
              </p:nvSpPr>
              <p:spPr>
                <a:xfrm>
                  <a:off x="1390" y="983"/>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54" name="Text Box 193"/>
              <p:cNvSpPr txBox="1"/>
              <p:nvPr/>
            </p:nvSpPr>
            <p:spPr>
              <a:xfrm>
                <a:off x="1475" y="986"/>
                <a:ext cx="1548"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002</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50" name="Rectangle 194"/>
            <p:cNvSpPr/>
            <p:nvPr/>
          </p:nvSpPr>
          <p:spPr>
            <a:xfrm>
              <a:off x="3846" y="3556"/>
              <a:ext cx="1131"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51" name="Rectangle 195"/>
            <p:cNvSpPr/>
            <p:nvPr/>
          </p:nvSpPr>
          <p:spPr>
            <a:xfrm>
              <a:off x="3713" y="3556"/>
              <a:ext cx="13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52" name="Rectangle 218"/>
            <p:cNvSpPr/>
            <p:nvPr/>
          </p:nvSpPr>
          <p:spPr>
            <a:xfrm>
              <a:off x="3788" y="3551"/>
              <a:ext cx="1190"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 011</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记录</a:t>
              </a:r>
              <a:endParaRPr lang="zh-CN" altLang="en-US" sz="1800" dirty="0">
                <a:latin typeface="微软雅黑" panose="020B0503020204020204" pitchFamily="34" charset="-122"/>
                <a:ea typeface="微软雅黑" panose="020B0503020204020204" pitchFamily="34" charset="-122"/>
              </a:endParaRPr>
            </a:p>
          </p:txBody>
        </p:sp>
      </p:grpSp>
      <p:sp>
        <p:nvSpPr>
          <p:cNvPr id="63" name="Rectangle 222"/>
          <p:cNvSpPr/>
          <p:nvPr/>
        </p:nvSpPr>
        <p:spPr>
          <a:xfrm>
            <a:off x="2087563" y="5022850"/>
            <a:ext cx="1627187" cy="762000"/>
          </a:xfrm>
          <a:prstGeom prst="rect">
            <a:avLst/>
          </a:prstGeom>
          <a:noFill/>
          <a:ln w="9525">
            <a:noFill/>
          </a:ln>
        </p:spPr>
        <p:txBody>
          <a:bodyPr wrap="none" anchor="t">
            <a:spAutoFit/>
          </a:bodyPr>
          <a:lstStyle/>
          <a:p>
            <a:pPr algn="ctr"/>
            <a:r>
              <a:rPr lang="zh-CN" altLang="en-US" sz="2400" dirty="0">
                <a:latin typeface="微软雅黑" panose="020B0503020204020204" pitchFamily="34" charset="-122"/>
                <a:ea typeface="微软雅黑" panose="020B0503020204020204" pitchFamily="34" charset="-122"/>
              </a:rPr>
              <a:t>主文件</a:t>
            </a:r>
            <a:endParaRPr lang="zh-CN" altLang="en-US" sz="2400" dirty="0">
              <a:latin typeface="微软雅黑" panose="020B0503020204020204" pitchFamily="34" charset="-122"/>
              <a:ea typeface="微软雅黑" panose="020B0503020204020204" pitchFamily="34" charset="-122"/>
            </a:endParaRPr>
          </a:p>
          <a:p>
            <a:pPr algn="ctr"/>
            <a:r>
              <a:rPr lang="en-US" altLang="zh-CN" sz="2000" b="0" dirty="0">
                <a:solidFill>
                  <a:schemeClr val="accent2"/>
                </a:solidFill>
                <a:latin typeface="微软雅黑" panose="020B0503020204020204" pitchFamily="34" charset="-122"/>
                <a:ea typeface="微软雅黑" panose="020B0503020204020204" pitchFamily="34" charset="-122"/>
              </a:rPr>
              <a:t>(master file)</a:t>
            </a:r>
            <a:endParaRPr lang="en-US" altLang="zh-CN" sz="2000" b="0" dirty="0">
              <a:solidFill>
                <a:schemeClr val="accent2"/>
              </a:solidFill>
              <a:latin typeface="微软雅黑" panose="020B0503020204020204" pitchFamily="34" charset="-122"/>
              <a:ea typeface="微软雅黑" panose="020B0503020204020204" pitchFamily="34" charset="-122"/>
            </a:endParaRPr>
          </a:p>
        </p:txBody>
      </p:sp>
      <p:sp>
        <p:nvSpPr>
          <p:cNvPr id="128" name="Rectangle 224"/>
          <p:cNvSpPr/>
          <p:nvPr/>
        </p:nvSpPr>
        <p:spPr>
          <a:xfrm>
            <a:off x="7739063" y="5676900"/>
            <a:ext cx="1468437" cy="762000"/>
          </a:xfrm>
          <a:prstGeom prst="rect">
            <a:avLst/>
          </a:prstGeom>
          <a:noFill/>
          <a:ln w="9525">
            <a:noFill/>
          </a:ln>
        </p:spPr>
        <p:txBody>
          <a:bodyPr wrap="none" anchor="t">
            <a:spAutoFit/>
          </a:bodyPr>
          <a:lstStyle/>
          <a:p>
            <a:pPr algn="ctr"/>
            <a:r>
              <a:rPr lang="zh-CN" altLang="en-US" sz="2400" dirty="0">
                <a:latin typeface="微软雅黑" panose="020B0503020204020204" pitchFamily="34" charset="-122"/>
                <a:ea typeface="微软雅黑" panose="020B0503020204020204" pitchFamily="34" charset="-122"/>
              </a:rPr>
              <a:t>溢出文件</a:t>
            </a:r>
            <a:endParaRPr lang="zh-CN" altLang="en-US" sz="2400" dirty="0">
              <a:latin typeface="微软雅黑" panose="020B0503020204020204" pitchFamily="34" charset="-122"/>
              <a:ea typeface="微软雅黑" panose="020B0503020204020204" pitchFamily="34" charset="-122"/>
            </a:endParaRPr>
          </a:p>
          <a:p>
            <a:pPr algn="ctr"/>
            <a:r>
              <a:rPr lang="en-US" altLang="zh-CN" sz="2000" b="0" dirty="0">
                <a:solidFill>
                  <a:schemeClr val="accent2"/>
                </a:solidFill>
                <a:latin typeface="微软雅黑" panose="020B0503020204020204" pitchFamily="34" charset="-122"/>
                <a:ea typeface="微软雅黑" panose="020B0503020204020204" pitchFamily="34" charset="-122"/>
              </a:rPr>
              <a:t>(overflow).</a:t>
            </a:r>
            <a:endParaRPr lang="en-US" altLang="zh-CN" sz="2000" b="0" dirty="0">
              <a:solidFill>
                <a:schemeClr val="accent2"/>
              </a:solidFill>
              <a:latin typeface="微软雅黑" panose="020B0503020204020204" pitchFamily="34" charset="-122"/>
              <a:ea typeface="微软雅黑" panose="020B0503020204020204" pitchFamily="34" charset="-122"/>
            </a:endParaRPr>
          </a:p>
        </p:txBody>
      </p:sp>
      <p:sp>
        <p:nvSpPr>
          <p:cNvPr id="129" name="Rectangle 225"/>
          <p:cNvSpPr/>
          <p:nvPr/>
        </p:nvSpPr>
        <p:spPr>
          <a:xfrm>
            <a:off x="5978525" y="4791075"/>
            <a:ext cx="609600" cy="762000"/>
          </a:xfrm>
          <a:prstGeom prst="rect">
            <a:avLst/>
          </a:prstGeom>
          <a:noFill/>
          <a:ln w="9525">
            <a:noFill/>
          </a:ln>
        </p:spPr>
        <p:txBody>
          <a:bodyPr wrap="none" anchor="t">
            <a:spAutoFit/>
          </a:bodyPr>
          <a:lstStyle/>
          <a:p>
            <a:pPr algn="ctr"/>
            <a:r>
              <a:rPr lang="en-US" altLang="zh-CN" sz="4400" dirty="0">
                <a:latin typeface="微软雅黑" panose="020B0503020204020204" pitchFamily="34" charset="-122"/>
                <a:ea typeface="微软雅黑" panose="020B0503020204020204" pitchFamily="34" charset="-122"/>
              </a:rPr>
              <a:t>+</a:t>
            </a:r>
            <a:endParaRPr lang="en-US" altLang="zh-CN" sz="4400" b="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基础回顾-数据库之文件组织方法</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散列文件组织</a:t>
            </a:r>
            <a:endParaRPr lang="en-US" altLang="zh-CN"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Ø"/>
            </a:pPr>
            <a:r>
              <a:rPr lang="zh-CN" altLang="en-US" sz="2000" dirty="0">
                <a:solidFill>
                  <a:srgbClr val="FF0000"/>
                </a:solidFill>
              </a:rPr>
              <a:t>文件组织方法之三：散列文件</a:t>
            </a:r>
            <a:r>
              <a:rPr lang="en-US" altLang="zh-CN" sz="2000" dirty="0">
                <a:solidFill>
                  <a:srgbClr val="FF0000"/>
                </a:solidFill>
              </a:rPr>
              <a:t>(Hash file)</a:t>
            </a:r>
            <a:endParaRPr lang="en-US" altLang="zh-CN" sz="2000" dirty="0">
              <a:solidFill>
                <a:srgbClr val="FF0000"/>
              </a:solidFill>
            </a:endParaRPr>
          </a:p>
          <a:p>
            <a:pPr marL="228600" lvl="1">
              <a:lnSpc>
                <a:spcPct val="110000"/>
              </a:lnSpc>
              <a:spcBef>
                <a:spcPts val="1000"/>
              </a:spcBef>
              <a:buFont typeface="Wingdings" panose="05000000000000000000" pitchFamily="2" charset="2"/>
              <a:buChar char="l"/>
            </a:pPr>
            <a:r>
              <a:rPr lang="en-US" altLang="zh-CN" sz="1800" dirty="0"/>
              <a:t> </a:t>
            </a:r>
            <a:r>
              <a:rPr lang="zh-CN" altLang="en-US" sz="1800" dirty="0"/>
              <a:t>特点：可以把记录按某属性或属性组的值</a:t>
            </a:r>
            <a:r>
              <a:rPr lang="en-US" altLang="zh-CN" sz="1800" dirty="0"/>
              <a:t>, </a:t>
            </a:r>
            <a:r>
              <a:rPr lang="zh-CN" altLang="en-US" sz="1800" dirty="0"/>
              <a:t>依据一个散列函数来计算其应存放的位置：</a:t>
            </a:r>
            <a:r>
              <a:rPr lang="zh-CN" altLang="en-US" sz="1800" dirty="0">
                <a:solidFill>
                  <a:srgbClr val="FF0000"/>
                </a:solidFill>
              </a:rPr>
              <a:t>桶号</a:t>
            </a:r>
            <a:r>
              <a:rPr lang="en-US" altLang="zh-CN" sz="1800" dirty="0">
                <a:solidFill>
                  <a:srgbClr val="FF0000"/>
                </a:solidFill>
              </a:rPr>
              <a:t>(Bucket</a:t>
            </a:r>
            <a:r>
              <a:rPr lang="en-US" altLang="zh-CN" sz="1800" dirty="0"/>
              <a:t>, </a:t>
            </a:r>
            <a:r>
              <a:rPr lang="zh-CN" altLang="en-US" sz="1800" dirty="0"/>
              <a:t>块号或簇号等</a:t>
            </a:r>
            <a:r>
              <a:rPr lang="en-US" altLang="zh-CN" sz="1800" dirty="0"/>
              <a:t>)</a:t>
            </a:r>
            <a:r>
              <a:rPr lang="zh-CN" altLang="en-US" sz="1800" dirty="0"/>
              <a:t>。检索效率和更新效率都有一定程度的提高</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t> 用于进行散列函数计算的属性通常称为</a:t>
            </a:r>
            <a:r>
              <a:rPr lang="zh-CN" altLang="en-US" sz="1800" dirty="0">
                <a:solidFill>
                  <a:srgbClr val="FF0000"/>
                </a:solidFill>
              </a:rPr>
              <a:t>散列字段</a:t>
            </a:r>
            <a:r>
              <a:rPr lang="en-US" altLang="zh-CN" sz="1800" dirty="0">
                <a:solidFill>
                  <a:srgbClr val="FF0000"/>
                </a:solidFill>
              </a:rPr>
              <a:t>(Hash field)</a:t>
            </a:r>
            <a:r>
              <a:rPr lang="zh-CN" altLang="en-US" sz="1800" dirty="0"/>
              <a:t>，散列字段通常也采用关系中的主码，所以又称</a:t>
            </a:r>
            <a:r>
              <a:rPr lang="zh-CN" altLang="en-US" sz="1800" dirty="0">
                <a:solidFill>
                  <a:srgbClr val="FF0000"/>
                </a:solidFill>
              </a:rPr>
              <a:t>散列码</a:t>
            </a:r>
            <a:r>
              <a:rPr lang="en-US" altLang="zh-CN" sz="1800" dirty="0">
                <a:solidFill>
                  <a:srgbClr val="FF0000"/>
                </a:solidFill>
              </a:rPr>
              <a:t>(hash key)</a:t>
            </a:r>
            <a:endParaRPr lang="en-US" altLang="zh-CN" sz="1800" dirty="0">
              <a:solidFill>
                <a:srgbClr val="FF0000"/>
              </a:solidFill>
            </a:endParaRPr>
          </a:p>
          <a:p>
            <a:pPr marL="0" lvl="1" indent="0">
              <a:lnSpc>
                <a:spcPct val="110000"/>
              </a:lnSpc>
              <a:spcBef>
                <a:spcPts val="1000"/>
              </a:spcBef>
              <a:buNone/>
            </a:pPr>
            <a:endParaRPr lang="zh-CN" altLang="en-US" sz="1800" b="1" dirty="0"/>
          </a:p>
          <a:p>
            <a:pPr marL="228600" lvl="1">
              <a:lnSpc>
                <a:spcPct val="100000"/>
              </a:lnSpc>
              <a:spcBef>
                <a:spcPts val="1000"/>
              </a:spcBef>
              <a:buFont typeface="Wingdings" panose="05000000000000000000" pitchFamily="2" charset="2"/>
              <a:buChar char="l"/>
            </a:pPr>
            <a:endParaRPr lang="zh-CN" altLang="en-US" sz="1800" b="1" dirty="0"/>
          </a:p>
        </p:txBody>
      </p:sp>
      <p:grpSp>
        <p:nvGrpSpPr>
          <p:cNvPr id="130" name="Group 45"/>
          <p:cNvGrpSpPr/>
          <p:nvPr/>
        </p:nvGrpSpPr>
        <p:grpSpPr>
          <a:xfrm>
            <a:off x="1736725" y="4578350"/>
            <a:ext cx="2006600" cy="371475"/>
            <a:chOff x="2321" y="3865"/>
            <a:chExt cx="1645" cy="234"/>
          </a:xfrm>
        </p:grpSpPr>
        <p:sp>
          <p:nvSpPr>
            <p:cNvPr id="131" name="Rectangle 46"/>
            <p:cNvSpPr/>
            <p:nvPr/>
          </p:nvSpPr>
          <p:spPr>
            <a:xfrm>
              <a:off x="2494" y="3865"/>
              <a:ext cx="1472"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32" name="Rectangle 47"/>
            <p:cNvSpPr/>
            <p:nvPr/>
          </p:nvSpPr>
          <p:spPr>
            <a:xfrm>
              <a:off x="2321" y="3865"/>
              <a:ext cx="17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sp>
          <p:nvSpPr>
            <p:cNvPr id="133" name="Text Box 48"/>
            <p:cNvSpPr txBox="1"/>
            <p:nvPr/>
          </p:nvSpPr>
          <p:spPr>
            <a:xfrm>
              <a:off x="2434" y="3868"/>
              <a:ext cx="1493" cy="231"/>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(S#:002)</a:t>
              </a:r>
              <a:r>
                <a:rPr lang="zh-CN" altLang="en-US" sz="1800" dirty="0">
                  <a:latin typeface="微软雅黑" panose="020B0503020204020204" pitchFamily="34" charset="-122"/>
                  <a:ea typeface="微软雅黑" panose="020B0503020204020204" pitchFamily="34" charset="-122"/>
                </a:rPr>
                <a:t>新记录</a:t>
              </a:r>
              <a:endParaRPr lang="zh-CN" altLang="en-US" sz="1800" dirty="0">
                <a:latin typeface="微软雅黑" panose="020B0503020204020204" pitchFamily="34" charset="-122"/>
                <a:ea typeface="微软雅黑" panose="020B0503020204020204" pitchFamily="34" charset="-122"/>
              </a:endParaRPr>
            </a:p>
          </p:txBody>
        </p:sp>
      </p:grpSp>
      <p:sp>
        <p:nvSpPr>
          <p:cNvPr id="134" name="Text Box 49"/>
          <p:cNvSpPr txBox="1"/>
          <p:nvPr/>
        </p:nvSpPr>
        <p:spPr>
          <a:xfrm>
            <a:off x="1927225" y="5499100"/>
            <a:ext cx="1714500" cy="366713"/>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Hash(S#:002)</a:t>
            </a:r>
            <a:endParaRPr lang="en-US" altLang="zh-CN" sz="1800" dirty="0">
              <a:latin typeface="微软雅黑" panose="020B0503020204020204" pitchFamily="34" charset="-122"/>
              <a:ea typeface="微软雅黑" panose="020B0503020204020204" pitchFamily="34" charset="-122"/>
            </a:endParaRPr>
          </a:p>
        </p:txBody>
      </p:sp>
      <p:pic>
        <p:nvPicPr>
          <p:cNvPr id="135" name="Picture 50"/>
          <p:cNvPicPr>
            <a:picLocks noChangeAspect="1"/>
          </p:cNvPicPr>
          <p:nvPr/>
        </p:nvPicPr>
        <p:blipFill>
          <a:blip r:embed="rId1"/>
          <a:stretch>
            <a:fillRect/>
          </a:stretch>
        </p:blipFill>
        <p:spPr>
          <a:xfrm>
            <a:off x="4373563" y="3884613"/>
            <a:ext cx="5781675" cy="2239962"/>
          </a:xfrm>
          <a:prstGeom prst="rect">
            <a:avLst/>
          </a:prstGeom>
          <a:noFill/>
          <a:ln w="9525">
            <a:noFill/>
          </a:ln>
        </p:spPr>
      </p:pic>
      <p:sp>
        <p:nvSpPr>
          <p:cNvPr id="136" name="Line 51"/>
          <p:cNvSpPr/>
          <p:nvPr/>
        </p:nvSpPr>
        <p:spPr>
          <a:xfrm>
            <a:off x="2776538" y="4967288"/>
            <a:ext cx="0" cy="593725"/>
          </a:xfrm>
          <a:prstGeom prst="line">
            <a:avLst/>
          </a:prstGeom>
          <a:ln w="76200" cap="flat" cmpd="tri">
            <a:solidFill>
              <a:srgbClr val="FF0066"/>
            </a:solidFill>
            <a:prstDash val="solid"/>
            <a:round/>
            <a:headEnd type="none" w="med" len="med"/>
            <a:tailEnd type="triangle" w="med" len="med"/>
          </a:ln>
        </p:spPr>
      </p:sp>
      <p:sp>
        <p:nvSpPr>
          <p:cNvPr id="137" name="Line 52"/>
          <p:cNvSpPr/>
          <p:nvPr/>
        </p:nvSpPr>
        <p:spPr>
          <a:xfrm>
            <a:off x="3575050" y="5678488"/>
            <a:ext cx="869950" cy="0"/>
          </a:xfrm>
          <a:prstGeom prst="line">
            <a:avLst/>
          </a:prstGeom>
          <a:ln w="76200" cap="flat" cmpd="tri">
            <a:solidFill>
              <a:srgbClr val="FF0066"/>
            </a:solidFill>
            <a:prstDash val="solid"/>
            <a:round/>
            <a:headEnd type="none" w="med" len="med"/>
            <a:tailEnd type="triangle" w="med" len="med"/>
          </a:ln>
        </p:spPr>
      </p:sp>
      <p:sp>
        <p:nvSpPr>
          <p:cNvPr id="139"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基础回顾-数据库之文件组织方法</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散列文件组织</a:t>
            </a:r>
            <a:endParaRPr lang="en-US" altLang="zh-CN"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Ø"/>
            </a:pPr>
            <a:r>
              <a:rPr lang="zh-CN" altLang="en-US" sz="2000" dirty="0">
                <a:solidFill>
                  <a:srgbClr val="FF0000"/>
                </a:solidFill>
              </a:rPr>
              <a:t>文件组织方法之三：散列文件</a:t>
            </a:r>
            <a:r>
              <a:rPr lang="en-US" altLang="zh-CN" sz="2000" dirty="0">
                <a:solidFill>
                  <a:srgbClr val="FF0000"/>
                </a:solidFill>
              </a:rPr>
              <a:t>(Hash file)</a:t>
            </a:r>
            <a:endParaRPr lang="en-US" altLang="zh-CN" sz="2000" dirty="0">
              <a:solidFill>
                <a:srgbClr val="FF0000"/>
              </a:solidFill>
            </a:endParaRPr>
          </a:p>
          <a:p>
            <a:pPr marL="228600" lvl="1">
              <a:lnSpc>
                <a:spcPct val="110000"/>
              </a:lnSpc>
              <a:spcBef>
                <a:spcPts val="1000"/>
              </a:spcBef>
              <a:buFont typeface="Wingdings" panose="05000000000000000000" pitchFamily="2" charset="2"/>
              <a:buChar char="l"/>
            </a:pPr>
            <a:r>
              <a:rPr lang="zh-CN" altLang="en-US" sz="1800" dirty="0"/>
              <a:t>不同记录可能被</a:t>
            </a:r>
            <a:r>
              <a:rPr lang="en-US" altLang="zh-CN" sz="1800" dirty="0"/>
              <a:t>hash</a:t>
            </a:r>
            <a:r>
              <a:rPr lang="zh-CN" altLang="en-US" sz="1800" dirty="0"/>
              <a:t>成同一桶号，此时需在桶内顺序检索出某一记录</a:t>
            </a:r>
            <a:endParaRPr lang="zh-CN" altLang="en-US" sz="1800" dirty="0"/>
          </a:p>
          <a:p>
            <a:pPr marL="228600" lvl="1">
              <a:lnSpc>
                <a:spcPct val="110000"/>
              </a:lnSpc>
              <a:spcBef>
                <a:spcPts val="1000"/>
              </a:spcBef>
              <a:buFont typeface="Wingdings" panose="05000000000000000000" pitchFamily="2" charset="2"/>
              <a:buChar char="l"/>
            </a:pPr>
            <a:endParaRPr lang="en-US" altLang="zh-CN" sz="1800" b="1" dirty="0"/>
          </a:p>
          <a:p>
            <a:pPr marL="0" lvl="1" indent="0">
              <a:lnSpc>
                <a:spcPct val="110000"/>
              </a:lnSpc>
              <a:spcBef>
                <a:spcPts val="1000"/>
              </a:spcBef>
              <a:buNone/>
            </a:pPr>
            <a:endParaRPr lang="zh-CN" altLang="en-US" sz="1800" b="1" dirty="0"/>
          </a:p>
          <a:p>
            <a:pPr marL="228600" lvl="1">
              <a:lnSpc>
                <a:spcPct val="100000"/>
              </a:lnSpc>
              <a:spcBef>
                <a:spcPts val="1000"/>
              </a:spcBef>
              <a:buFont typeface="Wingdings" panose="05000000000000000000" pitchFamily="2" charset="2"/>
              <a:buChar char="l"/>
            </a:pPr>
            <a:endParaRPr lang="zh-CN" altLang="en-US" sz="1800" b="1" dirty="0"/>
          </a:p>
        </p:txBody>
      </p:sp>
      <p:pic>
        <p:nvPicPr>
          <p:cNvPr id="2" name="Picture 13"/>
          <p:cNvPicPr>
            <a:picLocks noChangeAspect="1"/>
          </p:cNvPicPr>
          <p:nvPr/>
        </p:nvPicPr>
        <p:blipFill>
          <a:blip r:embed="rId1"/>
          <a:stretch>
            <a:fillRect/>
          </a:stretch>
        </p:blipFill>
        <p:spPr>
          <a:xfrm>
            <a:off x="3783279" y="2833454"/>
            <a:ext cx="4625441" cy="3792538"/>
          </a:xfrm>
          <a:prstGeom prst="rect">
            <a:avLst/>
          </a:prstGeom>
          <a:noFill/>
          <a:ln w="9525">
            <a:noFill/>
          </a:ln>
        </p:spPr>
      </p:pic>
      <p:sp>
        <p:nvSpPr>
          <p:cNvPr id="4"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基础回顾-数据库之文件组织方法</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散列文件组织</a:t>
            </a:r>
            <a:endParaRPr lang="en-US" altLang="zh-CN"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Ø"/>
            </a:pPr>
            <a:r>
              <a:rPr lang="zh-CN" altLang="en-US" sz="2000" dirty="0">
                <a:solidFill>
                  <a:srgbClr val="FF0000"/>
                </a:solidFill>
              </a:rPr>
              <a:t>文件组织方法之三：散列文件</a:t>
            </a:r>
            <a:r>
              <a:rPr lang="en-US" altLang="zh-CN" sz="2000" dirty="0">
                <a:solidFill>
                  <a:srgbClr val="FF0000"/>
                </a:solidFill>
              </a:rPr>
              <a:t>(Hash file)</a:t>
            </a:r>
            <a:endParaRPr lang="en-US" altLang="zh-CN" sz="2000" dirty="0">
              <a:solidFill>
                <a:srgbClr val="FF0000"/>
              </a:solidFill>
            </a:endParaRPr>
          </a:p>
          <a:p>
            <a:pPr marL="228600" lvl="1">
              <a:lnSpc>
                <a:spcPct val="110000"/>
              </a:lnSpc>
              <a:spcBef>
                <a:spcPts val="1000"/>
              </a:spcBef>
              <a:buFont typeface="Wingdings" panose="05000000000000000000" pitchFamily="2" charset="2"/>
              <a:buChar char="l"/>
            </a:pPr>
            <a:r>
              <a:rPr lang="zh-CN" altLang="en-US" sz="1800" dirty="0"/>
              <a:t>链接法处理溢出</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t> 散列还有许多问题及许多的处理技巧</a:t>
            </a:r>
            <a:r>
              <a:rPr lang="en-US" altLang="zh-CN" sz="1800" dirty="0"/>
              <a:t>, </a:t>
            </a:r>
            <a:r>
              <a:rPr lang="zh-CN" altLang="en-US" sz="1800" dirty="0"/>
              <a:t>如散列桶的数目以及桶的大小，动态散列技术等等</a:t>
            </a:r>
            <a:r>
              <a:rPr lang="en-US" altLang="zh-CN" sz="1800" dirty="0"/>
              <a:t>(</a:t>
            </a:r>
            <a:r>
              <a:rPr lang="zh-CN" altLang="en-US" sz="1800" dirty="0"/>
              <a:t>这里不再叙述</a:t>
            </a:r>
            <a:r>
              <a:rPr lang="en-US" altLang="zh-CN" sz="1800" dirty="0"/>
              <a:t>)</a:t>
            </a:r>
            <a:endParaRPr lang="en-US" altLang="zh-CN" sz="1800" dirty="0"/>
          </a:p>
          <a:p>
            <a:pPr marL="228600" lvl="1">
              <a:lnSpc>
                <a:spcPct val="110000"/>
              </a:lnSpc>
              <a:spcBef>
                <a:spcPts val="1000"/>
              </a:spcBef>
              <a:buFont typeface="Wingdings" panose="05000000000000000000" pitchFamily="2" charset="2"/>
              <a:buChar char="l"/>
            </a:pPr>
            <a:endParaRPr lang="zh-CN" altLang="en-US" sz="1800" b="1" dirty="0"/>
          </a:p>
          <a:p>
            <a:pPr marL="228600" lvl="1">
              <a:lnSpc>
                <a:spcPct val="110000"/>
              </a:lnSpc>
              <a:spcBef>
                <a:spcPts val="1000"/>
              </a:spcBef>
              <a:buFont typeface="Wingdings" panose="05000000000000000000" pitchFamily="2" charset="2"/>
              <a:buChar char="l"/>
            </a:pPr>
            <a:endParaRPr lang="en-US" altLang="zh-CN" sz="1800" b="1" dirty="0"/>
          </a:p>
          <a:p>
            <a:pPr marL="0" lvl="1" indent="0">
              <a:lnSpc>
                <a:spcPct val="110000"/>
              </a:lnSpc>
              <a:spcBef>
                <a:spcPts val="1000"/>
              </a:spcBef>
              <a:buNone/>
            </a:pPr>
            <a:endParaRPr lang="zh-CN" altLang="en-US" sz="1800" b="1" dirty="0"/>
          </a:p>
          <a:p>
            <a:pPr marL="228600" lvl="1">
              <a:lnSpc>
                <a:spcPct val="100000"/>
              </a:lnSpc>
              <a:spcBef>
                <a:spcPts val="1000"/>
              </a:spcBef>
              <a:buFont typeface="Wingdings" panose="05000000000000000000" pitchFamily="2" charset="2"/>
              <a:buChar char="l"/>
            </a:pPr>
            <a:endParaRPr lang="zh-CN" altLang="en-US" sz="1800" b="1" dirty="0"/>
          </a:p>
        </p:txBody>
      </p:sp>
      <p:pic>
        <p:nvPicPr>
          <p:cNvPr id="3" name="Picture 140"/>
          <p:cNvPicPr>
            <a:picLocks noChangeAspect="1"/>
          </p:cNvPicPr>
          <p:nvPr/>
        </p:nvPicPr>
        <p:blipFill>
          <a:blip r:embed="rId1"/>
          <a:stretch>
            <a:fillRect/>
          </a:stretch>
        </p:blipFill>
        <p:spPr>
          <a:xfrm>
            <a:off x="3016251" y="3136901"/>
            <a:ext cx="5835650" cy="3297300"/>
          </a:xfrm>
          <a:prstGeom prst="rect">
            <a:avLst/>
          </a:prstGeom>
          <a:noFill/>
          <a:ln w="9525">
            <a:noFill/>
          </a:ln>
        </p:spPr>
      </p:pic>
      <p:sp>
        <p:nvSpPr>
          <p:cNvPr id="6"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基础回顾-数据库之文件组织方法</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(5) </a:t>
            </a:r>
            <a:r>
              <a:rPr lang="zh-CN" altLang="en-US" dirty="0">
                <a:latin typeface="微软雅黑" panose="020B0503020204020204" pitchFamily="34" charset="-122"/>
                <a:ea typeface="微软雅黑" panose="020B0503020204020204" pitchFamily="34" charset="-122"/>
              </a:rPr>
              <a:t>聚簇文件组织</a:t>
            </a:r>
            <a:endParaRPr lang="en-US" altLang="zh-CN"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Ø"/>
            </a:pPr>
            <a:r>
              <a:rPr lang="zh-CN" altLang="en-US" sz="2000" dirty="0">
                <a:solidFill>
                  <a:srgbClr val="FF0000"/>
                </a:solidFill>
              </a:rPr>
              <a:t>文件组织方法之四：聚簇文件</a:t>
            </a:r>
            <a:r>
              <a:rPr lang="en-US" altLang="zh-CN" sz="2000" dirty="0">
                <a:solidFill>
                  <a:srgbClr val="FF0000"/>
                </a:solidFill>
              </a:rPr>
              <a:t>(Clustering file)</a:t>
            </a:r>
            <a:endParaRPr lang="en-US" altLang="zh-CN" sz="2000" dirty="0">
              <a:solidFill>
                <a:srgbClr val="FF0000"/>
              </a:solidFill>
            </a:endParaRPr>
          </a:p>
          <a:p>
            <a:pPr marL="228600" lvl="1">
              <a:lnSpc>
                <a:spcPct val="110000"/>
              </a:lnSpc>
              <a:spcBef>
                <a:spcPts val="1000"/>
              </a:spcBef>
              <a:buFont typeface="Wingdings" panose="05000000000000000000" pitchFamily="2" charset="2"/>
              <a:buChar char="l"/>
            </a:pPr>
            <a:r>
              <a:rPr lang="zh-CN" altLang="en-US" sz="1800" dirty="0"/>
              <a:t>聚簇：将具有相同或相似属性值的记录存放于连续的磁盘簇块中</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t>多表聚簇：将若干个相互关联的</a:t>
            </a:r>
            <a:r>
              <a:rPr lang="en-US" altLang="zh-CN" sz="1800" dirty="0"/>
              <a:t>Table</a:t>
            </a:r>
            <a:r>
              <a:rPr lang="zh-CN" altLang="en-US" sz="1800" dirty="0"/>
              <a:t>存储于一个文件中</a:t>
            </a:r>
            <a:r>
              <a:rPr lang="en-US" altLang="zh-CN" sz="1800" dirty="0"/>
              <a:t>—</a:t>
            </a:r>
            <a:r>
              <a:rPr lang="zh-CN" altLang="en-US" sz="1800" dirty="0"/>
              <a:t>这可提高多表情况下的查询速度</a:t>
            </a:r>
            <a:r>
              <a:rPr lang="en-US" altLang="zh-CN" sz="1800" dirty="0"/>
              <a:t>(</a:t>
            </a:r>
            <a:r>
              <a:rPr lang="zh-CN" altLang="en-US" sz="1800" dirty="0"/>
              <a:t>有很多问题及相关的处理技巧，不再详细叙述</a:t>
            </a:r>
            <a:r>
              <a:rPr lang="en-US" altLang="zh-CN" sz="1800" dirty="0"/>
              <a:t>)</a:t>
            </a:r>
            <a:endParaRPr lang="en-US" altLang="zh-CN" sz="1800" dirty="0"/>
          </a:p>
          <a:p>
            <a:pPr marL="0" lvl="1" indent="0">
              <a:lnSpc>
                <a:spcPct val="110000"/>
              </a:lnSpc>
              <a:spcBef>
                <a:spcPts val="1000"/>
              </a:spcBef>
              <a:buNone/>
            </a:pPr>
            <a:endParaRPr lang="en-US" altLang="zh-CN" sz="1800" b="1" dirty="0"/>
          </a:p>
        </p:txBody>
      </p:sp>
      <p:sp>
        <p:nvSpPr>
          <p:cNvPr id="6"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grpSp>
        <p:nvGrpSpPr>
          <p:cNvPr id="2" name="Group 66"/>
          <p:cNvGrpSpPr/>
          <p:nvPr/>
        </p:nvGrpSpPr>
        <p:grpSpPr>
          <a:xfrm>
            <a:off x="9088004" y="3427410"/>
            <a:ext cx="2310233" cy="3236847"/>
            <a:chOff x="3183" y="2051"/>
            <a:chExt cx="1307" cy="1974"/>
          </a:xfrm>
        </p:grpSpPr>
        <p:grpSp>
          <p:nvGrpSpPr>
            <p:cNvPr id="7" name="Group 12"/>
            <p:cNvGrpSpPr/>
            <p:nvPr/>
          </p:nvGrpSpPr>
          <p:grpSpPr>
            <a:xfrm>
              <a:off x="3183" y="2051"/>
              <a:ext cx="1264" cy="215"/>
              <a:chOff x="1390" y="982"/>
              <a:chExt cx="1645" cy="215"/>
            </a:xfrm>
          </p:grpSpPr>
          <p:grpSp>
            <p:nvGrpSpPr>
              <p:cNvPr id="48" name="Group 13"/>
              <p:cNvGrpSpPr/>
              <p:nvPr/>
            </p:nvGrpSpPr>
            <p:grpSpPr>
              <a:xfrm>
                <a:off x="1390" y="982"/>
                <a:ext cx="1645" cy="194"/>
                <a:chOff x="1390" y="981"/>
                <a:chExt cx="1645" cy="240"/>
              </a:xfrm>
            </p:grpSpPr>
            <p:sp>
              <p:nvSpPr>
                <p:cNvPr id="50" name="Rectangle 14"/>
                <p:cNvSpPr/>
                <p:nvPr/>
              </p:nvSpPr>
              <p:spPr>
                <a:xfrm>
                  <a:off x="1563" y="981"/>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51" name="Rectangle 15"/>
                <p:cNvSpPr/>
                <p:nvPr/>
              </p:nvSpPr>
              <p:spPr>
                <a:xfrm>
                  <a:off x="1390" y="982"/>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49" name="Text Box 16"/>
              <p:cNvSpPr txBox="1"/>
              <p:nvPr/>
            </p:nvSpPr>
            <p:spPr>
              <a:xfrm>
                <a:off x="1726" y="985"/>
                <a:ext cx="1050"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a:t>
                </a:r>
                <a:endParaRPr lang="zh-CN" altLang="en-US" dirty="0">
                  <a:latin typeface="微软雅黑" panose="020B0503020204020204" pitchFamily="34" charset="-122"/>
                  <a:ea typeface="微软雅黑" panose="020B0503020204020204" pitchFamily="34" charset="-122"/>
                </a:endParaRPr>
              </a:p>
            </p:txBody>
          </p:sp>
        </p:grpSp>
        <p:grpSp>
          <p:nvGrpSpPr>
            <p:cNvPr id="8" name="Group 17"/>
            <p:cNvGrpSpPr/>
            <p:nvPr/>
          </p:nvGrpSpPr>
          <p:grpSpPr>
            <a:xfrm>
              <a:off x="3183" y="2247"/>
              <a:ext cx="1299" cy="215"/>
              <a:chOff x="1390" y="982"/>
              <a:chExt cx="1691" cy="215"/>
            </a:xfrm>
          </p:grpSpPr>
          <p:grpSp>
            <p:nvGrpSpPr>
              <p:cNvPr id="44" name="Group 18"/>
              <p:cNvGrpSpPr/>
              <p:nvPr/>
            </p:nvGrpSpPr>
            <p:grpSpPr>
              <a:xfrm>
                <a:off x="1390" y="982"/>
                <a:ext cx="1645" cy="194"/>
                <a:chOff x="1390" y="981"/>
                <a:chExt cx="1645" cy="240"/>
              </a:xfrm>
            </p:grpSpPr>
            <p:sp>
              <p:nvSpPr>
                <p:cNvPr id="46" name="Rectangle 19"/>
                <p:cNvSpPr/>
                <p:nvPr/>
              </p:nvSpPr>
              <p:spPr>
                <a:xfrm>
                  <a:off x="1563" y="981"/>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47" name="Rectangle 20"/>
                <p:cNvSpPr/>
                <p:nvPr/>
              </p:nvSpPr>
              <p:spPr>
                <a:xfrm>
                  <a:off x="1390" y="982"/>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45" name="Text Box 21"/>
              <p:cNvSpPr txBox="1"/>
              <p:nvPr/>
            </p:nvSpPr>
            <p:spPr>
              <a:xfrm>
                <a:off x="1428" y="985"/>
                <a:ext cx="1653"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的教师</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a:t>
                </a:r>
                <a:endParaRPr lang="zh-CN" altLang="en-US" dirty="0">
                  <a:latin typeface="微软雅黑" panose="020B0503020204020204" pitchFamily="34" charset="-122"/>
                  <a:ea typeface="微软雅黑" panose="020B0503020204020204" pitchFamily="34" charset="-122"/>
                </a:endParaRPr>
              </a:p>
            </p:txBody>
          </p:sp>
        </p:grpSp>
        <p:sp>
          <p:nvSpPr>
            <p:cNvPr id="9" name="Rectangle 22"/>
            <p:cNvSpPr/>
            <p:nvPr/>
          </p:nvSpPr>
          <p:spPr>
            <a:xfrm>
              <a:off x="3316" y="2444"/>
              <a:ext cx="1131"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0" name="Rectangle 23"/>
            <p:cNvSpPr/>
            <p:nvPr/>
          </p:nvSpPr>
          <p:spPr>
            <a:xfrm>
              <a:off x="3183" y="2444"/>
              <a:ext cx="13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11" name="Group 24"/>
            <p:cNvGrpSpPr/>
            <p:nvPr/>
          </p:nvGrpSpPr>
          <p:grpSpPr>
            <a:xfrm>
              <a:off x="3184" y="2638"/>
              <a:ext cx="1295" cy="215"/>
              <a:chOff x="1391" y="982"/>
              <a:chExt cx="1687" cy="215"/>
            </a:xfrm>
          </p:grpSpPr>
          <p:grpSp>
            <p:nvGrpSpPr>
              <p:cNvPr id="40" name="Group 25"/>
              <p:cNvGrpSpPr/>
              <p:nvPr/>
            </p:nvGrpSpPr>
            <p:grpSpPr>
              <a:xfrm>
                <a:off x="1391" y="982"/>
                <a:ext cx="1646" cy="194"/>
                <a:chOff x="1391" y="981"/>
                <a:chExt cx="1646" cy="240"/>
              </a:xfrm>
            </p:grpSpPr>
            <p:sp>
              <p:nvSpPr>
                <p:cNvPr id="42" name="Rectangle 26"/>
                <p:cNvSpPr/>
                <p:nvPr/>
              </p:nvSpPr>
              <p:spPr>
                <a:xfrm>
                  <a:off x="1564" y="981"/>
                  <a:ext cx="1473"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43" name="Rectangle 27"/>
                <p:cNvSpPr/>
                <p:nvPr/>
              </p:nvSpPr>
              <p:spPr>
                <a:xfrm>
                  <a:off x="1391" y="982"/>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41" name="Text Box 28"/>
              <p:cNvSpPr txBox="1"/>
              <p:nvPr/>
            </p:nvSpPr>
            <p:spPr>
              <a:xfrm>
                <a:off x="1425" y="985"/>
                <a:ext cx="1653"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的教师</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a:t>
                </a:r>
                <a:endParaRPr lang="zh-CN" altLang="en-US" dirty="0">
                  <a:latin typeface="微软雅黑" panose="020B0503020204020204" pitchFamily="34" charset="-122"/>
                  <a:ea typeface="微软雅黑" panose="020B0503020204020204" pitchFamily="34" charset="-122"/>
                </a:endParaRPr>
              </a:p>
            </p:txBody>
          </p:sp>
        </p:grpSp>
        <p:grpSp>
          <p:nvGrpSpPr>
            <p:cNvPr id="12" name="Group 29"/>
            <p:cNvGrpSpPr/>
            <p:nvPr/>
          </p:nvGrpSpPr>
          <p:grpSpPr>
            <a:xfrm>
              <a:off x="3184" y="2834"/>
              <a:ext cx="1264" cy="215"/>
              <a:chOff x="1390" y="982"/>
              <a:chExt cx="1645" cy="215"/>
            </a:xfrm>
          </p:grpSpPr>
          <p:grpSp>
            <p:nvGrpSpPr>
              <p:cNvPr id="36" name="Group 30"/>
              <p:cNvGrpSpPr/>
              <p:nvPr/>
            </p:nvGrpSpPr>
            <p:grpSpPr>
              <a:xfrm>
                <a:off x="1390" y="982"/>
                <a:ext cx="1645" cy="194"/>
                <a:chOff x="1390" y="981"/>
                <a:chExt cx="1645" cy="240"/>
              </a:xfrm>
            </p:grpSpPr>
            <p:sp>
              <p:nvSpPr>
                <p:cNvPr id="38" name="Rectangle 31"/>
                <p:cNvSpPr/>
                <p:nvPr/>
              </p:nvSpPr>
              <p:spPr>
                <a:xfrm>
                  <a:off x="1563" y="981"/>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39" name="Rectangle 32"/>
                <p:cNvSpPr/>
                <p:nvPr/>
              </p:nvSpPr>
              <p:spPr>
                <a:xfrm>
                  <a:off x="1390" y="982"/>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37" name="Text Box 33"/>
              <p:cNvSpPr txBox="1"/>
              <p:nvPr/>
            </p:nvSpPr>
            <p:spPr>
              <a:xfrm>
                <a:off x="1726" y="985"/>
                <a:ext cx="1050"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a:t>
                </a:r>
                <a:endParaRPr lang="zh-CN" altLang="en-US" dirty="0">
                  <a:latin typeface="微软雅黑" panose="020B0503020204020204" pitchFamily="34" charset="-122"/>
                  <a:ea typeface="微软雅黑" panose="020B0503020204020204" pitchFamily="34" charset="-122"/>
                </a:endParaRPr>
              </a:p>
            </p:txBody>
          </p:sp>
        </p:grpSp>
        <p:sp>
          <p:nvSpPr>
            <p:cNvPr id="13" name="Rectangle 34"/>
            <p:cNvSpPr/>
            <p:nvPr/>
          </p:nvSpPr>
          <p:spPr>
            <a:xfrm>
              <a:off x="3317" y="3030"/>
              <a:ext cx="1131"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14" name="Rectangle 35"/>
            <p:cNvSpPr/>
            <p:nvPr/>
          </p:nvSpPr>
          <p:spPr>
            <a:xfrm>
              <a:off x="3184" y="3030"/>
              <a:ext cx="13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15" name="Group 36"/>
            <p:cNvGrpSpPr/>
            <p:nvPr/>
          </p:nvGrpSpPr>
          <p:grpSpPr>
            <a:xfrm>
              <a:off x="3184" y="3225"/>
              <a:ext cx="1299" cy="215"/>
              <a:chOff x="1390" y="982"/>
              <a:chExt cx="1692" cy="215"/>
            </a:xfrm>
          </p:grpSpPr>
          <p:grpSp>
            <p:nvGrpSpPr>
              <p:cNvPr id="31" name="Group 37"/>
              <p:cNvGrpSpPr/>
              <p:nvPr/>
            </p:nvGrpSpPr>
            <p:grpSpPr>
              <a:xfrm>
                <a:off x="1390" y="982"/>
                <a:ext cx="1645" cy="194"/>
                <a:chOff x="1390" y="981"/>
                <a:chExt cx="1645" cy="240"/>
              </a:xfrm>
            </p:grpSpPr>
            <p:sp>
              <p:nvSpPr>
                <p:cNvPr id="33" name="Rectangle 38"/>
                <p:cNvSpPr/>
                <p:nvPr/>
              </p:nvSpPr>
              <p:spPr>
                <a:xfrm>
                  <a:off x="1563" y="981"/>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34" name="Rectangle 39"/>
                <p:cNvSpPr/>
                <p:nvPr/>
              </p:nvSpPr>
              <p:spPr>
                <a:xfrm>
                  <a:off x="1390" y="982"/>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32" name="Text Box 40"/>
              <p:cNvSpPr txBox="1"/>
              <p:nvPr/>
            </p:nvSpPr>
            <p:spPr>
              <a:xfrm>
                <a:off x="1428" y="985"/>
                <a:ext cx="1654"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的教师</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a:t>
                </a:r>
                <a:endParaRPr lang="zh-CN" altLang="en-US" dirty="0">
                  <a:latin typeface="微软雅黑" panose="020B0503020204020204" pitchFamily="34" charset="-122"/>
                  <a:ea typeface="微软雅黑" panose="020B0503020204020204" pitchFamily="34" charset="-122"/>
                </a:endParaRPr>
              </a:p>
            </p:txBody>
          </p:sp>
        </p:grpSp>
        <p:grpSp>
          <p:nvGrpSpPr>
            <p:cNvPr id="16" name="Group 41"/>
            <p:cNvGrpSpPr/>
            <p:nvPr/>
          </p:nvGrpSpPr>
          <p:grpSpPr>
            <a:xfrm>
              <a:off x="3184" y="3420"/>
              <a:ext cx="1264" cy="215"/>
              <a:chOff x="1390" y="982"/>
              <a:chExt cx="1645" cy="215"/>
            </a:xfrm>
          </p:grpSpPr>
          <p:grpSp>
            <p:nvGrpSpPr>
              <p:cNvPr id="27" name="Group 42"/>
              <p:cNvGrpSpPr/>
              <p:nvPr/>
            </p:nvGrpSpPr>
            <p:grpSpPr>
              <a:xfrm>
                <a:off x="1390" y="982"/>
                <a:ext cx="1645" cy="194"/>
                <a:chOff x="1390" y="981"/>
                <a:chExt cx="1645" cy="240"/>
              </a:xfrm>
            </p:grpSpPr>
            <p:sp>
              <p:nvSpPr>
                <p:cNvPr id="29" name="Rectangle 43"/>
                <p:cNvSpPr/>
                <p:nvPr/>
              </p:nvSpPr>
              <p:spPr>
                <a:xfrm>
                  <a:off x="1563" y="981"/>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30" name="Rectangle 44"/>
                <p:cNvSpPr/>
                <p:nvPr/>
              </p:nvSpPr>
              <p:spPr>
                <a:xfrm>
                  <a:off x="1390" y="982"/>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8" name="Text Box 45"/>
              <p:cNvSpPr txBox="1"/>
              <p:nvPr/>
            </p:nvSpPr>
            <p:spPr>
              <a:xfrm>
                <a:off x="1726" y="985"/>
                <a:ext cx="1050"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a:t>
                </a:r>
                <a:endParaRPr lang="zh-CN" altLang="en-US" dirty="0">
                  <a:latin typeface="微软雅黑" panose="020B0503020204020204" pitchFamily="34" charset="-122"/>
                  <a:ea typeface="微软雅黑" panose="020B0503020204020204" pitchFamily="34" charset="-122"/>
                </a:endParaRPr>
              </a:p>
            </p:txBody>
          </p:sp>
        </p:grpSp>
        <p:sp>
          <p:nvSpPr>
            <p:cNvPr id="17" name="Rectangle 46"/>
            <p:cNvSpPr/>
            <p:nvPr/>
          </p:nvSpPr>
          <p:spPr>
            <a:xfrm>
              <a:off x="3218" y="2438"/>
              <a:ext cx="1270"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的教师</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a:t>
              </a:r>
              <a:endParaRPr lang="zh-CN" altLang="en-US" dirty="0">
                <a:latin typeface="微软雅黑" panose="020B0503020204020204" pitchFamily="34" charset="-122"/>
                <a:ea typeface="微软雅黑" panose="020B0503020204020204" pitchFamily="34" charset="-122"/>
              </a:endParaRPr>
            </a:p>
          </p:txBody>
        </p:sp>
        <p:sp>
          <p:nvSpPr>
            <p:cNvPr id="18" name="Rectangle 47"/>
            <p:cNvSpPr/>
            <p:nvPr/>
          </p:nvSpPr>
          <p:spPr>
            <a:xfrm>
              <a:off x="3220" y="3023"/>
              <a:ext cx="1270"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的教师</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a:t>
              </a:r>
              <a:endParaRPr lang="zh-CN" altLang="en-US" dirty="0">
                <a:latin typeface="微软雅黑" panose="020B0503020204020204" pitchFamily="34" charset="-122"/>
                <a:ea typeface="微软雅黑" panose="020B0503020204020204" pitchFamily="34" charset="-122"/>
              </a:endParaRPr>
            </a:p>
          </p:txBody>
        </p:sp>
        <p:sp>
          <p:nvSpPr>
            <p:cNvPr id="19" name="Rectangle 53"/>
            <p:cNvSpPr/>
            <p:nvPr/>
          </p:nvSpPr>
          <p:spPr>
            <a:xfrm>
              <a:off x="3316" y="3615"/>
              <a:ext cx="1131" cy="192"/>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0" name="Rectangle 54"/>
            <p:cNvSpPr/>
            <p:nvPr/>
          </p:nvSpPr>
          <p:spPr>
            <a:xfrm>
              <a:off x="3183" y="3615"/>
              <a:ext cx="133" cy="193"/>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nvGrpSpPr>
            <p:cNvPr id="21" name="Group 55"/>
            <p:cNvGrpSpPr/>
            <p:nvPr/>
          </p:nvGrpSpPr>
          <p:grpSpPr>
            <a:xfrm>
              <a:off x="3183" y="3810"/>
              <a:ext cx="1299" cy="215"/>
              <a:chOff x="1390" y="982"/>
              <a:chExt cx="1692" cy="215"/>
            </a:xfrm>
          </p:grpSpPr>
          <p:grpSp>
            <p:nvGrpSpPr>
              <p:cNvPr id="23" name="Group 56"/>
              <p:cNvGrpSpPr/>
              <p:nvPr/>
            </p:nvGrpSpPr>
            <p:grpSpPr>
              <a:xfrm>
                <a:off x="1390" y="982"/>
                <a:ext cx="1645" cy="194"/>
                <a:chOff x="1390" y="981"/>
                <a:chExt cx="1645" cy="240"/>
              </a:xfrm>
            </p:grpSpPr>
            <p:sp>
              <p:nvSpPr>
                <p:cNvPr id="25" name="Rectangle 57"/>
                <p:cNvSpPr/>
                <p:nvPr/>
              </p:nvSpPr>
              <p:spPr>
                <a:xfrm>
                  <a:off x="1563" y="981"/>
                  <a:ext cx="1472" cy="238"/>
                </a:xfrm>
                <a:prstGeom prst="rect">
                  <a:avLst/>
                </a:prstGeom>
                <a:solidFill>
                  <a:srgbClr val="FFFF99"/>
                </a:solidFill>
                <a:ln w="9525" cap="flat" cmpd="sng">
                  <a:solidFill>
                    <a:srgbClr val="FF0066"/>
                  </a:solidFill>
                  <a:prstDash val="solid"/>
                  <a:miter/>
                  <a:headEnd type="none" w="med" len="med"/>
                  <a:tailEnd type="none" w="med" len="med"/>
                </a:ln>
              </p:spPr>
              <p:txBody>
                <a:bodyPr wrap="none" anchor="ctr">
                  <a:spAutoFit/>
                </a:bodyPr>
                <a:lstStyle/>
                <a:p>
                  <a:pPr algn="ctr"/>
                  <a:endParaRPr lang="zh-CN" altLang="en-US" dirty="0">
                    <a:latin typeface="Times New Roman" panose="02020603050405020304" pitchFamily="18" charset="0"/>
                    <a:ea typeface="楷体_GB2312" pitchFamily="49" charset="-122"/>
                  </a:endParaRPr>
                </a:p>
              </p:txBody>
            </p:sp>
            <p:sp>
              <p:nvSpPr>
                <p:cNvPr id="26" name="Rectangle 58"/>
                <p:cNvSpPr/>
                <p:nvPr/>
              </p:nvSpPr>
              <p:spPr>
                <a:xfrm>
                  <a:off x="1390" y="982"/>
                  <a:ext cx="173" cy="239"/>
                </a:xfrm>
                <a:prstGeom prst="rect">
                  <a:avLst/>
                </a:prstGeom>
                <a:solidFill>
                  <a:srgbClr val="FF0066"/>
                </a:solidFill>
                <a:ln w="9525" cap="flat" cmpd="sng">
                  <a:solidFill>
                    <a:schemeClr val="accent2"/>
                  </a:solidFill>
                  <a:prstDash val="solid"/>
                  <a:miter/>
                  <a:headEnd type="none" w="med" len="med"/>
                  <a:tailEnd type="none" w="med" len="med"/>
                </a:ln>
              </p:spPr>
              <p:txBody>
                <a:bodyPr anchor="ctr">
                  <a:spAutoFit/>
                </a:bodyPr>
                <a:lstStyle/>
                <a:p>
                  <a:pPr algn="ctr"/>
                  <a:endParaRPr lang="zh-CN" altLang="en-US" dirty="0">
                    <a:latin typeface="Times New Roman" panose="02020603050405020304" pitchFamily="18" charset="0"/>
                    <a:ea typeface="楷体_GB2312" pitchFamily="49" charset="-122"/>
                  </a:endParaRPr>
                </a:p>
              </p:txBody>
            </p:sp>
          </p:grpSp>
          <p:sp>
            <p:nvSpPr>
              <p:cNvPr id="24" name="Text Box 59"/>
              <p:cNvSpPr txBox="1"/>
              <p:nvPr/>
            </p:nvSpPr>
            <p:spPr>
              <a:xfrm>
                <a:off x="1428" y="985"/>
                <a:ext cx="1654"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的教师</a:t>
                </a:r>
                <a:r>
                  <a:rPr lang="en-US" altLang="zh-CN" dirty="0">
                    <a:latin typeface="微软雅黑" panose="020B0503020204020204" pitchFamily="34" charset="-122"/>
                    <a:ea typeface="微软雅黑" panose="020B0503020204020204" pitchFamily="34" charset="-122"/>
                  </a:rPr>
                  <a:t>9</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a:t>
                </a:r>
                <a:endParaRPr lang="zh-CN" altLang="en-US" dirty="0">
                  <a:latin typeface="微软雅黑" panose="020B0503020204020204" pitchFamily="34" charset="-122"/>
                  <a:ea typeface="微软雅黑" panose="020B0503020204020204" pitchFamily="34" charset="-122"/>
                </a:endParaRPr>
              </a:p>
            </p:txBody>
          </p:sp>
        </p:grpSp>
        <p:sp>
          <p:nvSpPr>
            <p:cNvPr id="22" name="Rectangle 65"/>
            <p:cNvSpPr/>
            <p:nvPr/>
          </p:nvSpPr>
          <p:spPr>
            <a:xfrm>
              <a:off x="3219" y="3608"/>
              <a:ext cx="1270" cy="212"/>
            </a:xfrm>
            <a:prstGeom prst="rect">
              <a:avLst/>
            </a:prstGeom>
            <a:noFill/>
            <a:ln w="9525">
              <a:noFill/>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的教师</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a:t>
              </a:r>
              <a:endParaRPr lang="zh-CN" altLang="en-US" dirty="0">
                <a:latin typeface="微软雅黑" panose="020B0503020204020204" pitchFamily="34" charset="-122"/>
                <a:ea typeface="微软雅黑" panose="020B0503020204020204" pitchFamily="34" charset="-122"/>
              </a:endParaRPr>
            </a:p>
          </p:txBody>
        </p:sp>
      </p:grpSp>
      <p:grpSp>
        <p:nvGrpSpPr>
          <p:cNvPr id="52" name="Group 84"/>
          <p:cNvGrpSpPr/>
          <p:nvPr/>
        </p:nvGrpSpPr>
        <p:grpSpPr>
          <a:xfrm>
            <a:off x="5380515" y="4723047"/>
            <a:ext cx="2701925" cy="1782763"/>
            <a:chOff x="604" y="1777"/>
            <a:chExt cx="1702" cy="1123"/>
          </a:xfrm>
        </p:grpSpPr>
        <p:sp>
          <p:nvSpPr>
            <p:cNvPr id="53" name="Line 67"/>
            <p:cNvSpPr/>
            <p:nvPr/>
          </p:nvSpPr>
          <p:spPr>
            <a:xfrm>
              <a:off x="636" y="2063"/>
              <a:ext cx="1599" cy="0"/>
            </a:xfrm>
            <a:prstGeom prst="line">
              <a:avLst/>
            </a:prstGeom>
            <a:ln w="9525" cap="flat" cmpd="sng">
              <a:solidFill>
                <a:schemeClr val="tx1"/>
              </a:solidFill>
              <a:prstDash val="solid"/>
              <a:round/>
              <a:headEnd type="none" w="med" len="med"/>
              <a:tailEnd type="none" w="med" len="med"/>
            </a:ln>
          </p:spPr>
        </p:sp>
        <p:sp>
          <p:nvSpPr>
            <p:cNvPr id="54" name="Text Box 68"/>
            <p:cNvSpPr txBox="1"/>
            <p:nvPr/>
          </p:nvSpPr>
          <p:spPr>
            <a:xfrm>
              <a:off x="604" y="1777"/>
              <a:ext cx="276" cy="250"/>
            </a:xfrm>
            <a:prstGeom prst="rect">
              <a:avLst/>
            </a:prstGeom>
            <a:noFill/>
            <a:ln w="9525">
              <a:noFill/>
            </a:ln>
          </p:spPr>
          <p:txBody>
            <a:bodyPr wrap="none" anchor="t">
              <a:spAutoFit/>
            </a:bodyPr>
            <a:lstStyle/>
            <a:p>
              <a:pPr algn="ctr"/>
              <a:r>
                <a:rPr lang="zh-CN" altLang="en-US" sz="2000" dirty="0">
                  <a:latin typeface="Times New Roman" panose="02020603050405020304" pitchFamily="18" charset="0"/>
                  <a:ea typeface="微软雅黑" panose="020B0503020204020204" pitchFamily="34" charset="-122"/>
                </a:rPr>
                <a:t>系</a:t>
              </a:r>
              <a:endParaRPr lang="zh-CN" altLang="en-US" sz="2000" dirty="0">
                <a:latin typeface="Times New Roman" panose="02020603050405020304" pitchFamily="18" charset="0"/>
                <a:ea typeface="微软雅黑" panose="020B0503020204020204" pitchFamily="34" charset="-122"/>
              </a:endParaRPr>
            </a:p>
          </p:txBody>
        </p:sp>
        <p:sp>
          <p:nvSpPr>
            <p:cNvPr id="55" name="Text Box 69"/>
            <p:cNvSpPr txBox="1"/>
            <p:nvPr/>
          </p:nvSpPr>
          <p:spPr>
            <a:xfrm>
              <a:off x="641" y="2072"/>
              <a:ext cx="1665" cy="828"/>
            </a:xfrm>
            <a:prstGeom prst="rect">
              <a:avLst/>
            </a:prstGeom>
            <a:noFill/>
            <a:ln w="9525">
              <a:noFill/>
            </a:ln>
          </p:spPr>
          <p:txBody>
            <a:bodyPr wrap="none" anchor="t">
              <a:spAutoFit/>
            </a:bodyPr>
            <a:lstStyle/>
            <a:p>
              <a:r>
                <a:rPr lang="zh-CN" altLang="en-US" dirty="0">
                  <a:latin typeface="微软雅黑" panose="020B0503020204020204" pitchFamily="34" charset="-122"/>
                  <a:ea typeface="微软雅黑" panose="020B0503020204020204" pitchFamily="34" charset="-122"/>
                </a:rPr>
                <a:t>系编号      系名             </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计算机            </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自动控制        </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系</a:t>
              </a: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化学               </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56" name="Line 70"/>
            <p:cNvSpPr/>
            <p:nvPr/>
          </p:nvSpPr>
          <p:spPr>
            <a:xfrm>
              <a:off x="655" y="2289"/>
              <a:ext cx="1599" cy="0"/>
            </a:xfrm>
            <a:prstGeom prst="line">
              <a:avLst/>
            </a:prstGeom>
            <a:ln w="9525" cap="flat" cmpd="sng">
              <a:solidFill>
                <a:schemeClr val="tx1"/>
              </a:solidFill>
              <a:prstDash val="solid"/>
              <a:round/>
              <a:headEnd type="none" w="med" len="med"/>
              <a:tailEnd type="none" w="med" len="med"/>
            </a:ln>
          </p:spPr>
        </p:sp>
        <p:sp>
          <p:nvSpPr>
            <p:cNvPr id="57" name="Line 71"/>
            <p:cNvSpPr/>
            <p:nvPr/>
          </p:nvSpPr>
          <p:spPr>
            <a:xfrm>
              <a:off x="1135" y="2055"/>
              <a:ext cx="0" cy="825"/>
            </a:xfrm>
            <a:prstGeom prst="line">
              <a:avLst/>
            </a:prstGeom>
            <a:ln w="9525" cap="flat" cmpd="sng">
              <a:solidFill>
                <a:schemeClr val="tx1"/>
              </a:solidFill>
              <a:prstDash val="solid"/>
              <a:round/>
              <a:headEnd type="none" w="med" len="med"/>
              <a:tailEnd type="none" w="med" len="med"/>
            </a:ln>
          </p:spPr>
        </p:sp>
        <p:sp>
          <p:nvSpPr>
            <p:cNvPr id="58" name="Line 72"/>
            <p:cNvSpPr/>
            <p:nvPr/>
          </p:nvSpPr>
          <p:spPr>
            <a:xfrm>
              <a:off x="1865" y="2056"/>
              <a:ext cx="0" cy="825"/>
            </a:xfrm>
            <a:prstGeom prst="line">
              <a:avLst/>
            </a:prstGeom>
            <a:ln w="9525" cap="flat" cmpd="sng">
              <a:solidFill>
                <a:schemeClr val="tx1"/>
              </a:solidFill>
              <a:prstDash val="solid"/>
              <a:round/>
              <a:headEnd type="none" w="med" len="med"/>
              <a:tailEnd type="none" w="med" len="med"/>
            </a:ln>
          </p:spPr>
        </p:sp>
      </p:grpSp>
      <p:grpSp>
        <p:nvGrpSpPr>
          <p:cNvPr id="59" name="Group 83"/>
          <p:cNvGrpSpPr/>
          <p:nvPr/>
        </p:nvGrpSpPr>
        <p:grpSpPr>
          <a:xfrm>
            <a:off x="988292" y="3370260"/>
            <a:ext cx="3638550" cy="2760663"/>
            <a:chOff x="484" y="2954"/>
            <a:chExt cx="2292" cy="1739"/>
          </a:xfrm>
        </p:grpSpPr>
        <p:sp>
          <p:nvSpPr>
            <p:cNvPr id="60" name="Text Box 76"/>
            <p:cNvSpPr txBox="1"/>
            <p:nvPr/>
          </p:nvSpPr>
          <p:spPr>
            <a:xfrm>
              <a:off x="567" y="2954"/>
              <a:ext cx="436" cy="250"/>
            </a:xfrm>
            <a:prstGeom prst="rect">
              <a:avLst/>
            </a:prstGeom>
            <a:noFill/>
            <a:ln w="9525">
              <a:noFill/>
            </a:ln>
          </p:spPr>
          <p:txBody>
            <a:bodyPr wrap="none" anchor="t">
              <a:spAutoFit/>
            </a:bodyPr>
            <a:lstStyle/>
            <a:p>
              <a:r>
                <a:rPr lang="zh-CN" altLang="en-US" sz="2000" dirty="0">
                  <a:latin typeface="Times New Roman" panose="02020603050405020304" pitchFamily="18" charset="0"/>
                  <a:ea typeface="微软雅黑" panose="020B0503020204020204" pitchFamily="34" charset="-122"/>
                </a:rPr>
                <a:t>教师</a:t>
              </a:r>
              <a:endParaRPr lang="zh-CN" altLang="en-US" sz="2000" dirty="0">
                <a:latin typeface="Times New Roman" panose="02020603050405020304" pitchFamily="18" charset="0"/>
                <a:ea typeface="微软雅黑" panose="020B0503020204020204" pitchFamily="34" charset="-122"/>
              </a:endParaRPr>
            </a:p>
          </p:txBody>
        </p:sp>
        <p:sp>
          <p:nvSpPr>
            <p:cNvPr id="61" name="Text Box 77"/>
            <p:cNvSpPr txBox="1"/>
            <p:nvPr/>
          </p:nvSpPr>
          <p:spPr>
            <a:xfrm>
              <a:off x="484" y="3249"/>
              <a:ext cx="2150" cy="1444"/>
            </a:xfrm>
            <a:prstGeom prst="rect">
              <a:avLst/>
            </a:prstGeom>
            <a:noFill/>
            <a:ln w="9525">
              <a:noFill/>
            </a:ln>
          </p:spPr>
          <p:txBody>
            <a:bodyPr wrap="none" anchor="t">
              <a:spAutoFit/>
            </a:bodyPr>
            <a:lstStyle/>
            <a:p>
              <a:r>
                <a:rPr lang="zh-CN" altLang="en-US" dirty="0">
                  <a:latin typeface="微软雅黑" panose="020B0503020204020204" pitchFamily="34" charset="-122"/>
                  <a:ea typeface="微软雅黑" panose="020B0503020204020204" pitchFamily="34" charset="-122"/>
                </a:rPr>
                <a:t>教师号      教师名         系编号    </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教师</a:t>
              </a: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张三             系</a:t>
              </a:r>
              <a:r>
                <a:rPr lang="en-US" altLang="zh-CN" dirty="0">
                  <a:latin typeface="微软雅黑" panose="020B0503020204020204" pitchFamily="34" charset="-122"/>
                  <a:ea typeface="微软雅黑" panose="020B0503020204020204" pitchFamily="34" charset="-122"/>
                </a:rPr>
                <a:t>1       ….</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教师</a:t>
              </a:r>
              <a:r>
                <a:rPr lang="en-US" altLang="zh-CN" dirty="0">
                  <a:latin typeface="微软雅黑" panose="020B0503020204020204" pitchFamily="34" charset="-122"/>
                  <a:ea typeface="微软雅黑" panose="020B0503020204020204" pitchFamily="34" charset="-122"/>
                </a:rPr>
                <a:t>5        </a:t>
              </a:r>
              <a:r>
                <a:rPr lang="zh-CN" altLang="en-US" dirty="0">
                  <a:latin typeface="微软雅黑" panose="020B0503020204020204" pitchFamily="34" charset="-122"/>
                  <a:ea typeface="微软雅黑" panose="020B0503020204020204" pitchFamily="34" charset="-122"/>
                </a:rPr>
                <a:t>李一             系</a:t>
              </a:r>
              <a:r>
                <a:rPr lang="en-US" altLang="zh-CN" dirty="0">
                  <a:latin typeface="微软雅黑" panose="020B0503020204020204" pitchFamily="34" charset="-122"/>
                  <a:ea typeface="微软雅黑" panose="020B0503020204020204" pitchFamily="34" charset="-122"/>
                </a:rPr>
                <a:t>2       ….</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教师</a:t>
              </a:r>
              <a:r>
                <a:rPr lang="en-US" altLang="zh-CN" dirty="0">
                  <a:latin typeface="微软雅黑" panose="020B0503020204020204" pitchFamily="34" charset="-122"/>
                  <a:ea typeface="微软雅黑" panose="020B0503020204020204" pitchFamily="34" charset="-122"/>
                </a:rPr>
                <a:t>8        </a:t>
              </a:r>
              <a:r>
                <a:rPr lang="zh-CN" altLang="en-US" dirty="0">
                  <a:latin typeface="微软雅黑" panose="020B0503020204020204" pitchFamily="34" charset="-122"/>
                  <a:ea typeface="微软雅黑" panose="020B0503020204020204" pitchFamily="34" charset="-122"/>
                </a:rPr>
                <a:t>王一             系</a:t>
              </a:r>
              <a:r>
                <a:rPr lang="en-US" altLang="zh-CN" dirty="0">
                  <a:latin typeface="微软雅黑" panose="020B0503020204020204" pitchFamily="34" charset="-122"/>
                  <a:ea typeface="微软雅黑" panose="020B0503020204020204" pitchFamily="34" charset="-122"/>
                </a:rPr>
                <a:t>2       ….</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教师</a:t>
              </a: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张四             系</a:t>
              </a:r>
              <a:r>
                <a:rPr lang="en-US" altLang="zh-CN" dirty="0">
                  <a:latin typeface="微软雅黑" panose="020B0503020204020204" pitchFamily="34" charset="-122"/>
                  <a:ea typeface="微软雅黑" panose="020B0503020204020204" pitchFamily="34" charset="-122"/>
                </a:rPr>
                <a:t>1       ….</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教师</a:t>
              </a:r>
              <a:r>
                <a:rPr lang="en-US" altLang="zh-CN" dirty="0">
                  <a:latin typeface="微软雅黑" panose="020B0503020204020204" pitchFamily="34" charset="-122"/>
                  <a:ea typeface="微软雅黑" panose="020B0503020204020204" pitchFamily="34" charset="-122"/>
                </a:rPr>
                <a:t>9        </a:t>
              </a:r>
              <a:r>
                <a:rPr lang="zh-CN" altLang="en-US" dirty="0">
                  <a:latin typeface="微软雅黑" panose="020B0503020204020204" pitchFamily="34" charset="-122"/>
                  <a:ea typeface="微软雅黑" panose="020B0503020204020204" pitchFamily="34" charset="-122"/>
                </a:rPr>
                <a:t>李二             系</a:t>
              </a:r>
              <a:r>
                <a:rPr lang="en-US" altLang="zh-CN" dirty="0">
                  <a:latin typeface="微软雅黑" panose="020B0503020204020204" pitchFamily="34" charset="-122"/>
                  <a:ea typeface="微软雅黑" panose="020B0503020204020204" pitchFamily="34" charset="-122"/>
                </a:rPr>
                <a:t>4       ….</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教师</a:t>
              </a: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王二             系</a:t>
              </a:r>
              <a:r>
                <a:rPr lang="en-US" altLang="zh-CN" dirty="0">
                  <a:latin typeface="微软雅黑" panose="020B0503020204020204" pitchFamily="34" charset="-122"/>
                  <a:ea typeface="微软雅黑" panose="020B0503020204020204" pitchFamily="34" charset="-122"/>
                </a:rPr>
                <a:t>1       ….</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教师</a:t>
              </a:r>
              <a:r>
                <a:rPr lang="en-US" altLang="zh-CN" dirty="0">
                  <a:latin typeface="微软雅黑" panose="020B0503020204020204" pitchFamily="34" charset="-122"/>
                  <a:ea typeface="微软雅黑" panose="020B0503020204020204" pitchFamily="34" charset="-122"/>
                </a:rPr>
                <a:t>6        </a:t>
              </a:r>
              <a:r>
                <a:rPr lang="zh-CN" altLang="en-US" dirty="0">
                  <a:latin typeface="微软雅黑" panose="020B0503020204020204" pitchFamily="34" charset="-122"/>
                  <a:ea typeface="微软雅黑" panose="020B0503020204020204" pitchFamily="34" charset="-122"/>
                </a:rPr>
                <a:t>王三             系</a:t>
              </a:r>
              <a:r>
                <a:rPr lang="en-US" altLang="zh-CN" dirty="0">
                  <a:latin typeface="微软雅黑" panose="020B0503020204020204" pitchFamily="34" charset="-122"/>
                  <a:ea typeface="微软雅黑" panose="020B0503020204020204" pitchFamily="34" charset="-122"/>
                </a:rPr>
                <a:t>4       ….</a:t>
              </a:r>
              <a:endParaRPr lang="en-US" altLang="zh-CN" dirty="0">
                <a:latin typeface="微软雅黑" panose="020B0503020204020204" pitchFamily="34" charset="-122"/>
                <a:ea typeface="微软雅黑" panose="020B0503020204020204" pitchFamily="34" charset="-122"/>
              </a:endParaRPr>
            </a:p>
          </p:txBody>
        </p:sp>
        <p:grpSp>
          <p:nvGrpSpPr>
            <p:cNvPr id="62" name="Group 82"/>
            <p:cNvGrpSpPr/>
            <p:nvPr/>
          </p:nvGrpSpPr>
          <p:grpSpPr>
            <a:xfrm>
              <a:off x="599" y="3240"/>
              <a:ext cx="2177" cy="226"/>
              <a:chOff x="599" y="3240"/>
              <a:chExt cx="1618" cy="226"/>
            </a:xfrm>
          </p:grpSpPr>
          <p:sp>
            <p:nvSpPr>
              <p:cNvPr id="66" name="Line 75"/>
              <p:cNvSpPr/>
              <p:nvPr/>
            </p:nvSpPr>
            <p:spPr>
              <a:xfrm>
                <a:off x="599" y="3240"/>
                <a:ext cx="1599" cy="0"/>
              </a:xfrm>
              <a:prstGeom prst="line">
                <a:avLst/>
              </a:prstGeom>
              <a:ln w="9525" cap="flat" cmpd="sng">
                <a:solidFill>
                  <a:schemeClr val="tx1"/>
                </a:solidFill>
                <a:prstDash val="solid"/>
                <a:round/>
                <a:headEnd type="none" w="med" len="med"/>
                <a:tailEnd type="none" w="med" len="med"/>
              </a:ln>
            </p:spPr>
          </p:sp>
          <p:sp>
            <p:nvSpPr>
              <p:cNvPr id="67" name="Line 78"/>
              <p:cNvSpPr/>
              <p:nvPr/>
            </p:nvSpPr>
            <p:spPr>
              <a:xfrm>
                <a:off x="618" y="3466"/>
                <a:ext cx="1599" cy="0"/>
              </a:xfrm>
              <a:prstGeom prst="line">
                <a:avLst/>
              </a:prstGeom>
              <a:ln w="9525" cap="flat" cmpd="sng">
                <a:solidFill>
                  <a:schemeClr val="tx1"/>
                </a:solidFill>
                <a:prstDash val="solid"/>
                <a:round/>
                <a:headEnd type="none" w="med" len="med"/>
                <a:tailEnd type="none" w="med" len="med"/>
              </a:ln>
            </p:spPr>
          </p:sp>
        </p:grpSp>
        <p:grpSp>
          <p:nvGrpSpPr>
            <p:cNvPr id="63" name="Group 81"/>
            <p:cNvGrpSpPr/>
            <p:nvPr/>
          </p:nvGrpSpPr>
          <p:grpSpPr>
            <a:xfrm>
              <a:off x="1017" y="3232"/>
              <a:ext cx="730" cy="1393"/>
              <a:chOff x="1098" y="3232"/>
              <a:chExt cx="730" cy="826"/>
            </a:xfrm>
          </p:grpSpPr>
          <p:sp>
            <p:nvSpPr>
              <p:cNvPr id="64" name="Line 79"/>
              <p:cNvSpPr/>
              <p:nvPr/>
            </p:nvSpPr>
            <p:spPr>
              <a:xfrm>
                <a:off x="1098" y="3232"/>
                <a:ext cx="0" cy="825"/>
              </a:xfrm>
              <a:prstGeom prst="line">
                <a:avLst/>
              </a:prstGeom>
              <a:ln w="9525" cap="flat" cmpd="sng">
                <a:solidFill>
                  <a:schemeClr val="tx1"/>
                </a:solidFill>
                <a:prstDash val="solid"/>
                <a:round/>
                <a:headEnd type="none" w="med" len="med"/>
                <a:tailEnd type="none" w="med" len="med"/>
              </a:ln>
            </p:spPr>
          </p:sp>
          <p:sp>
            <p:nvSpPr>
              <p:cNvPr id="65" name="Line 80"/>
              <p:cNvSpPr/>
              <p:nvPr/>
            </p:nvSpPr>
            <p:spPr>
              <a:xfrm>
                <a:off x="1828" y="3233"/>
                <a:ext cx="0" cy="825"/>
              </a:xfrm>
              <a:prstGeom prst="line">
                <a:avLst/>
              </a:prstGeom>
              <a:ln w="9525" cap="flat" cmpd="sng">
                <a:solidFill>
                  <a:schemeClr val="tx1"/>
                </a:solidFill>
                <a:prstDash val="solid"/>
                <a:round/>
                <a:headEnd type="none" w="med" len="med"/>
                <a:tailEnd type="none" w="med" len="med"/>
              </a:ln>
            </p:spPr>
          </p:sp>
        </p:grpSp>
      </p:grpSp>
      <p:sp>
        <p:nvSpPr>
          <p:cNvPr id="68" name="Freeform 85"/>
          <p:cNvSpPr/>
          <p:nvPr/>
        </p:nvSpPr>
        <p:spPr>
          <a:xfrm>
            <a:off x="6023527" y="3771253"/>
            <a:ext cx="2665377" cy="182507"/>
          </a:xfrm>
          <a:custGeom>
            <a:avLst/>
            <a:gdLst/>
            <a:ahLst/>
            <a:cxnLst>
              <a:cxn ang="0">
                <a:pos x="0" y="674"/>
              </a:cxn>
              <a:cxn ang="0">
                <a:pos x="318" y="278"/>
              </a:cxn>
              <a:cxn ang="0">
                <a:pos x="817" y="46"/>
              </a:cxn>
              <a:cxn ang="0">
                <a:pos x="1290" y="3"/>
              </a:cxn>
            </a:cxnLst>
            <a:rect l="0" t="0" r="0" b="0"/>
            <a:pathLst>
              <a:path w="1290" h="674">
                <a:moveTo>
                  <a:pt x="0" y="674"/>
                </a:moveTo>
                <a:cubicBezTo>
                  <a:pt x="91" y="528"/>
                  <a:pt x="182" y="382"/>
                  <a:pt x="318" y="278"/>
                </a:cubicBezTo>
                <a:cubicBezTo>
                  <a:pt x="454" y="174"/>
                  <a:pt x="655" y="92"/>
                  <a:pt x="817" y="46"/>
                </a:cubicBezTo>
                <a:cubicBezTo>
                  <a:pt x="979" y="0"/>
                  <a:pt x="1134" y="1"/>
                  <a:pt x="1290" y="3"/>
                </a:cubicBezTo>
              </a:path>
            </a:pathLst>
          </a:custGeom>
          <a:noFill/>
          <a:ln w="76200" cap="flat" cmpd="sng">
            <a:solidFill>
              <a:schemeClr val="accent2"/>
            </a:solidFill>
            <a:prstDash val="solid"/>
            <a:round/>
            <a:headEnd type="none" w="med" len="med"/>
            <a:tailEnd type="triangle" w="med" len="med"/>
          </a:ln>
        </p:spPr>
        <p:txBody>
          <a:bodyPr/>
          <a:lstStyle/>
          <a:p>
            <a:endParaRPr lang="zh-CN" altLang="en-US"/>
          </a:p>
        </p:txBody>
      </p:sp>
      <p:sp>
        <p:nvSpPr>
          <p:cNvPr id="69" name="AutoShape 86"/>
          <p:cNvSpPr/>
          <p:nvPr/>
        </p:nvSpPr>
        <p:spPr>
          <a:xfrm rot="-3119058">
            <a:off x="5532525" y="2914173"/>
            <a:ext cx="574858" cy="2496858"/>
          </a:xfrm>
          <a:prstGeom prst="rightBrace">
            <a:avLst>
              <a:gd name="adj1" fmla="val 64361"/>
              <a:gd name="adj2" fmla="val 50000"/>
            </a:avLst>
          </a:prstGeom>
          <a:noFill/>
          <a:ln w="57150" cap="flat" cmpd="sng">
            <a:solidFill>
              <a:schemeClr val="accent2"/>
            </a:solidFill>
            <a:prstDash val="solid"/>
            <a:round/>
            <a:headEnd type="triangle" w="med" len="med"/>
            <a:tailEnd type="triangle" w="med" len="med"/>
          </a:ln>
        </p:spPr>
        <p:txBody>
          <a:bodyPr wrap="square" anchor="ctr">
            <a:spAutoFit/>
          </a:bodyPr>
          <a:lstStyle/>
          <a:p>
            <a:pPr algn="ctr"/>
            <a:endParaRPr lang="zh-CN" altLang="en-US" dirty="0">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ppt_x"/>
                                          </p:val>
                                        </p:tav>
                                        <p:tav tm="100000">
                                          <p:val>
                                            <p:strVal val="#ppt_x"/>
                                          </p:val>
                                        </p:tav>
                                      </p:tavLst>
                                    </p:anim>
                                    <p:anim calcmode="lin" valueType="num">
                                      <p:cBhvr additive="base">
                                        <p:cTn id="8" dur="500" fill="hold"/>
                                        <p:tgtEl>
                                          <p:spTgt spid="5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9"/>
                                        </p:tgtEl>
                                        <p:attrNameLst>
                                          <p:attrName>style.visibility</p:attrName>
                                        </p:attrNameLst>
                                      </p:cBhvr>
                                      <p:to>
                                        <p:strVal val="visible"/>
                                      </p:to>
                                    </p:set>
                                    <p:anim calcmode="lin" valueType="num">
                                      <p:cBhvr additive="base">
                                        <p:cTn id="11" dur="500" fill="hold"/>
                                        <p:tgtEl>
                                          <p:spTgt spid="59"/>
                                        </p:tgtEl>
                                        <p:attrNameLst>
                                          <p:attrName>ppt_x</p:attrName>
                                        </p:attrNameLst>
                                      </p:cBhvr>
                                      <p:tavLst>
                                        <p:tav tm="0">
                                          <p:val>
                                            <p:strVal val="#ppt_x"/>
                                          </p:val>
                                        </p:tav>
                                        <p:tav tm="100000">
                                          <p:val>
                                            <p:strVal val="#ppt_x"/>
                                          </p:val>
                                        </p:tav>
                                      </p:tavLst>
                                    </p:anim>
                                    <p:anim calcmode="lin" valueType="num">
                                      <p:cBhvr additive="base">
                                        <p:cTn id="12"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8"/>
                                        </p:tgtEl>
                                        <p:attrNameLst>
                                          <p:attrName>style.visibility</p:attrName>
                                        </p:attrNameLst>
                                      </p:cBhvr>
                                      <p:to>
                                        <p:strVal val="visible"/>
                                      </p:to>
                                    </p:set>
                                    <p:anim calcmode="lin" valueType="num">
                                      <p:cBhvr additive="base">
                                        <p:cTn id="21" dur="500" fill="hold"/>
                                        <p:tgtEl>
                                          <p:spTgt spid="68"/>
                                        </p:tgtEl>
                                        <p:attrNameLst>
                                          <p:attrName>ppt_x</p:attrName>
                                        </p:attrNameLst>
                                      </p:cBhvr>
                                      <p:tavLst>
                                        <p:tav tm="0">
                                          <p:val>
                                            <p:strVal val="#ppt_x"/>
                                          </p:val>
                                        </p:tav>
                                        <p:tav tm="100000">
                                          <p:val>
                                            <p:strVal val="#ppt_x"/>
                                          </p:val>
                                        </p:tav>
                                      </p:tavLst>
                                    </p:anim>
                                    <p:anim calcmode="lin" valueType="num">
                                      <p:cBhvr additive="base">
                                        <p:cTn id="22" dur="500" fill="hold"/>
                                        <p:tgtEl>
                                          <p:spTgt spid="6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9"/>
                                        </p:tgtEl>
                                        <p:attrNameLst>
                                          <p:attrName>style.visibility</p:attrName>
                                        </p:attrNameLst>
                                      </p:cBhvr>
                                      <p:to>
                                        <p:strVal val="visible"/>
                                      </p:to>
                                    </p:set>
                                    <p:anim calcmode="lin" valueType="num">
                                      <p:cBhvr additive="base">
                                        <p:cTn id="25" dur="500" fill="hold"/>
                                        <p:tgtEl>
                                          <p:spTgt spid="69"/>
                                        </p:tgtEl>
                                        <p:attrNameLst>
                                          <p:attrName>ppt_x</p:attrName>
                                        </p:attrNameLst>
                                      </p:cBhvr>
                                      <p:tavLst>
                                        <p:tav tm="0">
                                          <p:val>
                                            <p:strVal val="#ppt_x"/>
                                          </p:val>
                                        </p:tav>
                                        <p:tav tm="100000">
                                          <p:val>
                                            <p:strVal val="#ppt_x"/>
                                          </p:val>
                                        </p:tav>
                                      </p:tavLst>
                                    </p:anim>
                                    <p:anim calcmode="lin" valueType="num">
                                      <p:cBhvr additive="base">
                                        <p:cTn id="26"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基础回顾-数据库之文件组织方法</a:t>
            </a:r>
            <a:endParaRPr lang="zh-CN" altLang="en-US" dirty="0"/>
          </a:p>
        </p:txBody>
      </p:sp>
      <p:sp>
        <p:nvSpPr>
          <p:cNvPr id="35" name="内容占位符 34"/>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(6) </a:t>
            </a:r>
            <a:r>
              <a:rPr lang="zh-CN" altLang="en-US" dirty="0">
                <a:latin typeface="微软雅黑" panose="020B0503020204020204" pitchFamily="34" charset="-122"/>
                <a:ea typeface="微软雅黑" panose="020B0503020204020204" pitchFamily="34" charset="-122"/>
              </a:rPr>
              <a:t>小结</a:t>
            </a:r>
            <a:endParaRPr lang="en-US" altLang="zh-CN" dirty="0">
              <a:latin typeface="微软雅黑" panose="020B0503020204020204" pitchFamily="34" charset="-122"/>
              <a:ea typeface="微软雅黑" panose="020B0503020204020204" pitchFamily="34" charset="-122"/>
            </a:endParaRPr>
          </a:p>
          <a:p>
            <a:pPr marL="0" lvl="1" indent="0">
              <a:lnSpc>
                <a:spcPct val="110000"/>
              </a:lnSpc>
              <a:spcBef>
                <a:spcPts val="1000"/>
              </a:spcBef>
              <a:buNone/>
            </a:pPr>
            <a:endParaRPr lang="en-US" altLang="zh-CN" sz="1800" b="1" dirty="0"/>
          </a:p>
        </p:txBody>
      </p:sp>
      <p:sp>
        <p:nvSpPr>
          <p:cNvPr id="6"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
        <p:nvSpPr>
          <p:cNvPr id="3" name="内容占位符 1"/>
          <p:cNvSpPr txBox="1"/>
          <p:nvPr/>
        </p:nvSpPr>
        <p:spPr>
          <a:xfrm>
            <a:off x="367147" y="1773595"/>
            <a:ext cx="5562598" cy="482809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a:lnSpc>
                <a:spcPct val="100000"/>
              </a:lnSpc>
              <a:spcBef>
                <a:spcPts val="1000"/>
              </a:spcBef>
              <a:buFont typeface="Wingdings" panose="05000000000000000000" pitchFamily="2" charset="2"/>
              <a:buChar char="Ø"/>
            </a:pPr>
            <a:r>
              <a:rPr lang="zh-CN" altLang="en-US" sz="2000" dirty="0">
                <a:solidFill>
                  <a:srgbClr val="FF0000"/>
                </a:solidFill>
              </a:rPr>
              <a:t>增删改时如何快速“存”</a:t>
            </a:r>
            <a:endParaRPr lang="zh-CN" altLang="en-US" sz="2000" dirty="0">
              <a:solidFill>
                <a:srgbClr val="FF0000"/>
              </a:solidFill>
            </a:endParaRPr>
          </a:p>
          <a:p>
            <a:endParaRPr kumimoji="1" lang="zh-CN" altLang="en-US" dirty="0"/>
          </a:p>
        </p:txBody>
      </p:sp>
      <p:sp>
        <p:nvSpPr>
          <p:cNvPr id="70" name="内容占位符 5"/>
          <p:cNvSpPr txBox="1"/>
          <p:nvPr/>
        </p:nvSpPr>
        <p:spPr>
          <a:xfrm>
            <a:off x="6262255" y="177359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a:lnSpc>
                <a:spcPct val="100000"/>
              </a:lnSpc>
              <a:spcBef>
                <a:spcPts val="1000"/>
              </a:spcBef>
              <a:buFont typeface="Wingdings" panose="05000000000000000000" pitchFamily="2" charset="2"/>
              <a:buChar char="Ø"/>
            </a:pPr>
            <a:r>
              <a:rPr lang="zh-CN" altLang="en-US" sz="2000" dirty="0">
                <a:solidFill>
                  <a:srgbClr val="FF0000"/>
                </a:solidFill>
                <a:latin typeface="微软雅黑" panose="020B0503020204020204" pitchFamily="34" charset="-122"/>
                <a:ea typeface="微软雅黑" panose="020B0503020204020204" pitchFamily="34" charset="-122"/>
              </a:rPr>
              <a:t>检索查询时如何快速“取”</a:t>
            </a: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nvGrpSpPr>
          <p:cNvPr id="71" name="Group 67"/>
          <p:cNvGrpSpPr/>
          <p:nvPr/>
        </p:nvGrpSpPr>
        <p:grpSpPr>
          <a:xfrm>
            <a:off x="7013575" y="4675188"/>
            <a:ext cx="1479550" cy="823912"/>
            <a:chOff x="3312" y="2123"/>
            <a:chExt cx="932" cy="519"/>
          </a:xfrm>
        </p:grpSpPr>
        <p:sp>
          <p:nvSpPr>
            <p:cNvPr id="72" name="AutoShape 39"/>
            <p:cNvSpPr/>
            <p:nvPr/>
          </p:nvSpPr>
          <p:spPr>
            <a:xfrm>
              <a:off x="3312" y="2123"/>
              <a:ext cx="932" cy="519"/>
            </a:xfrm>
            <a:custGeom>
              <a:avLst/>
              <a:gdLst/>
              <a:ahLst/>
              <a:cxnLst>
                <a:cxn ang="0">
                  <a:pos x="43360" y="0"/>
                </a:cxn>
                <a:cxn ang="0">
                  <a:pos x="12699" y="7161"/>
                </a:cxn>
                <a:cxn ang="0">
                  <a:pos x="0" y="24450"/>
                </a:cxn>
                <a:cxn ang="0">
                  <a:pos x="12699" y="41740"/>
                </a:cxn>
                <a:cxn ang="0">
                  <a:pos x="43360" y="48901"/>
                </a:cxn>
                <a:cxn ang="0">
                  <a:pos x="74021" y="41740"/>
                </a:cxn>
                <a:cxn ang="0">
                  <a:pos x="86720" y="24450"/>
                </a:cxn>
                <a:cxn ang="0">
                  <a:pos x="74021" y="716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solidFill>
            <a:ln w="9525">
              <a:noFill/>
            </a:ln>
          </p:spPr>
          <p:txBody>
            <a:bodyPr/>
            <a:lstStyle/>
            <a:p>
              <a:endParaRPr lang="zh-CN" altLang="en-US"/>
            </a:p>
          </p:txBody>
        </p:sp>
        <p:sp>
          <p:nvSpPr>
            <p:cNvPr id="73" name="Oval 40"/>
            <p:cNvSpPr/>
            <p:nvPr/>
          </p:nvSpPr>
          <p:spPr>
            <a:xfrm>
              <a:off x="3389" y="2166"/>
              <a:ext cx="778" cy="434"/>
            </a:xfrm>
            <a:prstGeom prst="ellipse">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sz="2000" dirty="0">
                <a:solidFill>
                  <a:srgbClr val="000000"/>
                </a:solidFill>
                <a:latin typeface="Arial" panose="020B0604020202020204" pitchFamily="34" charset="0"/>
                <a:ea typeface="宋体" panose="02010600030101010101" pitchFamily="2" charset="-122"/>
              </a:endParaRPr>
            </a:p>
          </p:txBody>
        </p:sp>
        <p:sp>
          <p:nvSpPr>
            <p:cNvPr id="74" name="Text Box 84"/>
            <p:cNvSpPr txBox="1"/>
            <p:nvPr/>
          </p:nvSpPr>
          <p:spPr>
            <a:xfrm>
              <a:off x="3392" y="2162"/>
              <a:ext cx="771" cy="442"/>
            </a:xfrm>
            <a:prstGeom prst="rect">
              <a:avLst/>
            </a:prstGeom>
            <a:noFill/>
            <a:ln w="9525">
              <a:noFill/>
            </a:ln>
          </p:spPr>
          <p:txBody>
            <a:bodyPr anchor="t">
              <a:spAutoFit/>
            </a:bodyPr>
            <a:lstStyle/>
            <a:p>
              <a:pPr algn="ctr">
                <a:spcBef>
                  <a:spcPct val="35000"/>
                </a:spcBef>
              </a:pPr>
              <a:r>
                <a:rPr lang="zh-CN" altLang="en-US" sz="2000" dirty="0">
                  <a:solidFill>
                    <a:srgbClr val="FFFFFF"/>
                  </a:solidFill>
                  <a:latin typeface="Arial" panose="020B0604020202020204" pitchFamily="34" charset="0"/>
                  <a:ea typeface="华文中宋" panose="02010600040101010101" pitchFamily="2" charset="-122"/>
                </a:rPr>
                <a:t>数据库 重组</a:t>
              </a:r>
              <a:endParaRPr lang="zh-CN" altLang="en-US" sz="2000" dirty="0">
                <a:solidFill>
                  <a:srgbClr val="FFFFFF"/>
                </a:solidFill>
                <a:latin typeface="Arial" panose="020B0604020202020204" pitchFamily="34" charset="0"/>
                <a:ea typeface="华文中宋" panose="02010600040101010101" pitchFamily="2" charset="-122"/>
              </a:endParaRPr>
            </a:p>
          </p:txBody>
        </p:sp>
      </p:grpSp>
      <p:grpSp>
        <p:nvGrpSpPr>
          <p:cNvPr id="75" name="Group 71"/>
          <p:cNvGrpSpPr/>
          <p:nvPr/>
        </p:nvGrpSpPr>
        <p:grpSpPr>
          <a:xfrm>
            <a:off x="4927600" y="2697163"/>
            <a:ext cx="1228725" cy="731837"/>
            <a:chOff x="3795" y="1068"/>
            <a:chExt cx="869" cy="535"/>
          </a:xfrm>
        </p:grpSpPr>
        <p:sp>
          <p:nvSpPr>
            <p:cNvPr id="76" name="AutoShape 39"/>
            <p:cNvSpPr/>
            <p:nvPr/>
          </p:nvSpPr>
          <p:spPr>
            <a:xfrm>
              <a:off x="3795" y="1068"/>
              <a:ext cx="869" cy="535"/>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77" name="Oval 40"/>
            <p:cNvSpPr/>
            <p:nvPr/>
          </p:nvSpPr>
          <p:spPr>
            <a:xfrm>
              <a:off x="3867" y="1112"/>
              <a:ext cx="725" cy="44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78" name="Text Box 84"/>
            <p:cNvSpPr/>
            <p:nvPr/>
          </p:nvSpPr>
          <p:spPr>
            <a:xfrm>
              <a:off x="3852" y="1111"/>
              <a:ext cx="750" cy="463"/>
            </a:xfrm>
            <a:prstGeom prst="roundRect">
              <a:avLst>
                <a:gd name="adj" fmla="val 16667"/>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无序记录文件</a:t>
              </a:r>
              <a:endParaRPr lang="zh-CN" altLang="en-US" dirty="0">
                <a:solidFill>
                  <a:srgbClr val="FFFFFF"/>
                </a:solidFill>
                <a:latin typeface="Arial" panose="020B0604020202020204" pitchFamily="34" charset="0"/>
                <a:ea typeface="微软雅黑" panose="020B0503020204020204" pitchFamily="34" charset="-122"/>
              </a:endParaRPr>
            </a:p>
          </p:txBody>
        </p:sp>
      </p:grpSp>
      <p:grpSp>
        <p:nvGrpSpPr>
          <p:cNvPr id="79" name="Group 75"/>
          <p:cNvGrpSpPr/>
          <p:nvPr/>
        </p:nvGrpSpPr>
        <p:grpSpPr>
          <a:xfrm>
            <a:off x="4929188" y="3446463"/>
            <a:ext cx="1228725" cy="731837"/>
            <a:chOff x="3795" y="1068"/>
            <a:chExt cx="869" cy="535"/>
          </a:xfrm>
        </p:grpSpPr>
        <p:sp>
          <p:nvSpPr>
            <p:cNvPr id="80" name="AutoShape 39"/>
            <p:cNvSpPr/>
            <p:nvPr/>
          </p:nvSpPr>
          <p:spPr>
            <a:xfrm>
              <a:off x="3795" y="1068"/>
              <a:ext cx="869" cy="535"/>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81" name="Oval 40"/>
            <p:cNvSpPr/>
            <p:nvPr/>
          </p:nvSpPr>
          <p:spPr>
            <a:xfrm>
              <a:off x="3867" y="1112"/>
              <a:ext cx="725" cy="44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82" name="Text Box 84"/>
            <p:cNvSpPr/>
            <p:nvPr/>
          </p:nvSpPr>
          <p:spPr>
            <a:xfrm>
              <a:off x="3852" y="1111"/>
              <a:ext cx="750" cy="463"/>
            </a:xfrm>
            <a:prstGeom prst="roundRect">
              <a:avLst>
                <a:gd name="adj" fmla="val 16667"/>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有序记录文件</a:t>
              </a:r>
              <a:endParaRPr lang="zh-CN" altLang="en-US" dirty="0">
                <a:solidFill>
                  <a:srgbClr val="FFFFFF"/>
                </a:solidFill>
                <a:latin typeface="Arial" panose="020B0604020202020204" pitchFamily="34" charset="0"/>
                <a:ea typeface="微软雅黑" panose="020B0503020204020204" pitchFamily="34" charset="-122"/>
              </a:endParaRPr>
            </a:p>
          </p:txBody>
        </p:sp>
      </p:grpSp>
      <p:grpSp>
        <p:nvGrpSpPr>
          <p:cNvPr id="83" name="Group 79"/>
          <p:cNvGrpSpPr/>
          <p:nvPr/>
        </p:nvGrpSpPr>
        <p:grpSpPr>
          <a:xfrm>
            <a:off x="4929188" y="4197350"/>
            <a:ext cx="1228725" cy="731838"/>
            <a:chOff x="3795" y="1068"/>
            <a:chExt cx="869" cy="535"/>
          </a:xfrm>
        </p:grpSpPr>
        <p:sp>
          <p:nvSpPr>
            <p:cNvPr id="84" name="AutoShape 39"/>
            <p:cNvSpPr/>
            <p:nvPr/>
          </p:nvSpPr>
          <p:spPr>
            <a:xfrm>
              <a:off x="3795" y="1068"/>
              <a:ext cx="869" cy="535"/>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85" name="Oval 40"/>
            <p:cNvSpPr/>
            <p:nvPr/>
          </p:nvSpPr>
          <p:spPr>
            <a:xfrm>
              <a:off x="3867" y="1112"/>
              <a:ext cx="725" cy="44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86" name="Text Box 84"/>
            <p:cNvSpPr/>
            <p:nvPr/>
          </p:nvSpPr>
          <p:spPr>
            <a:xfrm>
              <a:off x="3852" y="1111"/>
              <a:ext cx="750" cy="463"/>
            </a:xfrm>
            <a:prstGeom prst="roundRect">
              <a:avLst>
                <a:gd name="adj" fmla="val 16667"/>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散列记录文件</a:t>
              </a:r>
              <a:endParaRPr lang="zh-CN" altLang="en-US" dirty="0">
                <a:solidFill>
                  <a:srgbClr val="FFFFFF"/>
                </a:solidFill>
                <a:latin typeface="Arial" panose="020B0604020202020204" pitchFamily="34" charset="0"/>
                <a:ea typeface="微软雅黑" panose="020B0503020204020204" pitchFamily="34" charset="-122"/>
              </a:endParaRPr>
            </a:p>
          </p:txBody>
        </p:sp>
      </p:grpSp>
      <p:grpSp>
        <p:nvGrpSpPr>
          <p:cNvPr id="87" name="Group 83"/>
          <p:cNvGrpSpPr/>
          <p:nvPr/>
        </p:nvGrpSpPr>
        <p:grpSpPr>
          <a:xfrm>
            <a:off x="4943475" y="5426075"/>
            <a:ext cx="1228725" cy="731838"/>
            <a:chOff x="3795" y="1068"/>
            <a:chExt cx="869" cy="535"/>
          </a:xfrm>
        </p:grpSpPr>
        <p:sp>
          <p:nvSpPr>
            <p:cNvPr id="88" name="AutoShape 39"/>
            <p:cNvSpPr/>
            <p:nvPr/>
          </p:nvSpPr>
          <p:spPr>
            <a:xfrm>
              <a:off x="3795" y="1068"/>
              <a:ext cx="869" cy="535"/>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89" name="Oval 40"/>
            <p:cNvSpPr/>
            <p:nvPr/>
          </p:nvSpPr>
          <p:spPr>
            <a:xfrm>
              <a:off x="3867" y="1112"/>
              <a:ext cx="725" cy="44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90" name="Text Box 84"/>
            <p:cNvSpPr/>
            <p:nvPr/>
          </p:nvSpPr>
          <p:spPr>
            <a:xfrm>
              <a:off x="3852" y="1111"/>
              <a:ext cx="750" cy="463"/>
            </a:xfrm>
            <a:prstGeom prst="roundRect">
              <a:avLst>
                <a:gd name="adj" fmla="val 16667"/>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聚簇记录文件</a:t>
              </a:r>
              <a:endParaRPr lang="zh-CN" altLang="en-US" dirty="0">
                <a:solidFill>
                  <a:srgbClr val="FFFFFF"/>
                </a:solidFill>
                <a:latin typeface="Arial" panose="020B0604020202020204" pitchFamily="34" charset="0"/>
                <a:ea typeface="微软雅黑" panose="020B0503020204020204" pitchFamily="34" charset="-122"/>
              </a:endParaRPr>
            </a:p>
          </p:txBody>
        </p:sp>
      </p:grpSp>
      <p:grpSp>
        <p:nvGrpSpPr>
          <p:cNvPr id="91" name="Group 87"/>
          <p:cNvGrpSpPr/>
          <p:nvPr/>
        </p:nvGrpSpPr>
        <p:grpSpPr>
          <a:xfrm>
            <a:off x="2654300" y="3663950"/>
            <a:ext cx="1738313" cy="1125538"/>
            <a:chOff x="156" y="2987"/>
            <a:chExt cx="1630" cy="1066"/>
          </a:xfrm>
        </p:grpSpPr>
        <p:sp>
          <p:nvSpPr>
            <p:cNvPr id="92" name="AutoShape 39"/>
            <p:cNvSpPr/>
            <p:nvPr/>
          </p:nvSpPr>
          <p:spPr>
            <a:xfrm>
              <a:off x="310" y="3053"/>
              <a:ext cx="1316" cy="983"/>
            </a:xfrm>
            <a:prstGeom prst="ellipse">
              <a:avLst/>
            </a:prstGeom>
            <a:solidFill>
              <a:srgbClr val="B90000"/>
            </a:solidFill>
            <a:ln w="9525">
              <a:noFill/>
            </a:ln>
          </p:spPr>
          <p:txBody>
            <a:bodyPr wrap="none" anchor="ctr"/>
            <a:lstStyle/>
            <a:p>
              <a:pPr algn="ctr"/>
              <a:endParaRPr lang="zh-CN" altLang="zh-CN" sz="2400" dirty="0">
                <a:solidFill>
                  <a:schemeClr val="accent2"/>
                </a:solidFill>
                <a:latin typeface="Arial" panose="020B0604020202020204" pitchFamily="34" charset="0"/>
                <a:ea typeface="微软雅黑" panose="020B0503020204020204" pitchFamily="34" charset="-122"/>
              </a:endParaRPr>
            </a:p>
          </p:txBody>
        </p:sp>
        <p:sp>
          <p:nvSpPr>
            <p:cNvPr id="93" name="Oval 40"/>
            <p:cNvSpPr/>
            <p:nvPr/>
          </p:nvSpPr>
          <p:spPr>
            <a:xfrm>
              <a:off x="370" y="3099"/>
              <a:ext cx="1206" cy="881"/>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2400" dirty="0">
                <a:solidFill>
                  <a:schemeClr val="accent2"/>
                </a:solidFill>
                <a:latin typeface="Arial" panose="020B0604020202020204" pitchFamily="34" charset="0"/>
                <a:ea typeface="微软雅黑" panose="020B0503020204020204" pitchFamily="34" charset="-122"/>
              </a:endParaRPr>
            </a:p>
          </p:txBody>
        </p:sp>
        <p:sp>
          <p:nvSpPr>
            <p:cNvPr id="94" name="Text Box 84"/>
            <p:cNvSpPr/>
            <p:nvPr/>
          </p:nvSpPr>
          <p:spPr>
            <a:xfrm>
              <a:off x="156" y="2987"/>
              <a:ext cx="1630" cy="1066"/>
            </a:xfrm>
            <a:prstGeom prst="ellipse">
              <a:avLst/>
            </a:prstGeom>
            <a:noFill/>
            <a:ln w="9525">
              <a:noFill/>
            </a:ln>
          </p:spPr>
          <p:txBody>
            <a:bodyPr anchor="t">
              <a:spAutoFit/>
            </a:bodyPr>
            <a:lstStyle/>
            <a:p>
              <a:pPr algn="ctr"/>
              <a:r>
                <a:rPr lang="zh-CN" altLang="zh-CN" sz="2400" dirty="0">
                  <a:solidFill>
                    <a:schemeClr val="accent2"/>
                  </a:solidFill>
                  <a:latin typeface="Arial" panose="020B0604020202020204" pitchFamily="34" charset="0"/>
                  <a:ea typeface="微软雅黑" panose="020B0503020204020204" pitchFamily="34" charset="-122"/>
                </a:rPr>
                <a:t>文件组织方法</a:t>
              </a:r>
              <a:endParaRPr lang="zh-CN" altLang="en-US" sz="2400" dirty="0">
                <a:solidFill>
                  <a:schemeClr val="accent2"/>
                </a:solidFill>
                <a:latin typeface="Arial" panose="020B0604020202020204" pitchFamily="34" charset="0"/>
                <a:ea typeface="微软雅黑" panose="020B0503020204020204" pitchFamily="34" charset="-122"/>
              </a:endParaRPr>
            </a:p>
          </p:txBody>
        </p:sp>
      </p:grpSp>
      <p:grpSp>
        <p:nvGrpSpPr>
          <p:cNvPr id="95" name="Group 93"/>
          <p:cNvGrpSpPr/>
          <p:nvPr/>
        </p:nvGrpSpPr>
        <p:grpSpPr>
          <a:xfrm>
            <a:off x="7227888" y="2995613"/>
            <a:ext cx="1052512" cy="1127125"/>
            <a:chOff x="3368" y="3555"/>
            <a:chExt cx="836" cy="705"/>
          </a:xfrm>
        </p:grpSpPr>
        <p:sp>
          <p:nvSpPr>
            <p:cNvPr id="96"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7" name="Oval 40"/>
            <p:cNvSpPr/>
            <p:nvPr/>
          </p:nvSpPr>
          <p:spPr>
            <a:xfrm>
              <a:off x="3437" y="3613"/>
              <a:ext cx="698" cy="588"/>
            </a:xfrm>
            <a:prstGeom prst="ellipse">
              <a:avLst/>
            </a:prstGeom>
            <a:solidFill>
              <a:srgbClr val="006600"/>
            </a:solidFill>
            <a:ln w="28575" cap="flat" cmpd="sng">
              <a:solidFill>
                <a:srgbClr val="FFFFFF"/>
              </a:solidFill>
              <a:prstDash val="solid"/>
              <a:round/>
              <a:headEnd type="none" w="med" len="med"/>
              <a:tailEnd type="none" w="med" len="med"/>
            </a:ln>
          </p:spPr>
          <p:txBody>
            <a:bodyPr wrap="none" anchor="ctr"/>
            <a:lstStyle/>
            <a:p>
              <a:pPr algn="ctr"/>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98" name="Text Box 84"/>
            <p:cNvSpPr txBox="1"/>
            <p:nvPr/>
          </p:nvSpPr>
          <p:spPr>
            <a:xfrm>
              <a:off x="3440" y="3685"/>
              <a:ext cx="691" cy="439"/>
            </a:xfrm>
            <a:prstGeom prst="rect">
              <a:avLst/>
            </a:prstGeom>
            <a:noFill/>
            <a:ln w="9525">
              <a:noFill/>
            </a:ln>
          </p:spPr>
          <p:txBody>
            <a:bodyPr anchor="t">
              <a:spAutoFit/>
            </a:bodyPr>
            <a:lstStyle/>
            <a:p>
              <a:pPr algn="ctr">
                <a:spcBef>
                  <a:spcPct val="35000"/>
                </a:spcBef>
              </a:pPr>
              <a:r>
                <a:rPr lang="zh-CN" altLang="en-US" sz="2000" dirty="0">
                  <a:solidFill>
                    <a:srgbClr val="FFFFFF"/>
                  </a:solidFill>
                  <a:latin typeface="微软雅黑" panose="020B0503020204020204" pitchFamily="34" charset="-122"/>
                  <a:ea typeface="微软雅黑" panose="020B0503020204020204" pitchFamily="34" charset="-122"/>
                </a:rPr>
                <a:t>性能降低</a:t>
              </a:r>
              <a:endParaRPr lang="zh-CN" altLang="en-US" sz="2000" dirty="0">
                <a:solidFill>
                  <a:srgbClr val="FFFFFF"/>
                </a:solidFill>
                <a:latin typeface="微软雅黑" panose="020B0503020204020204" pitchFamily="34" charset="-122"/>
                <a:ea typeface="微软雅黑" panose="020B0503020204020204" pitchFamily="34" charset="-122"/>
              </a:endParaRPr>
            </a:p>
          </p:txBody>
        </p:sp>
      </p:grpSp>
      <p:sp>
        <p:nvSpPr>
          <p:cNvPr id="99" name="Line 97"/>
          <p:cNvSpPr/>
          <p:nvPr/>
        </p:nvSpPr>
        <p:spPr>
          <a:xfrm>
            <a:off x="7753350" y="4062413"/>
            <a:ext cx="0" cy="655637"/>
          </a:xfrm>
          <a:prstGeom prst="line">
            <a:avLst/>
          </a:prstGeom>
          <a:ln w="76200" cap="flat" cmpd="sng">
            <a:solidFill>
              <a:schemeClr val="tx1"/>
            </a:solidFill>
            <a:prstDash val="solid"/>
            <a:round/>
            <a:headEnd type="none" w="med" len="med"/>
            <a:tailEnd type="triangle" w="med" len="me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内容占位符 34"/>
          <p:cNvSpPr>
            <a:spLocks noGrp="1"/>
          </p:cNvSpPr>
          <p:nvPr>
            <p:ph idx="1"/>
          </p:nvPr>
        </p:nvSpPr>
        <p:spPr/>
        <p:txBody>
          <a:bodyPr>
            <a:normAutofit/>
          </a:bodyPr>
          <a:lstStyle/>
          <a:p>
            <a:pPr marL="228600" marR="0" lvl="1" fontAlgn="ctr">
              <a:lnSpc>
                <a:spcPct val="100000"/>
              </a:lnSpc>
              <a:spcBef>
                <a:spcPts val="1000"/>
              </a:spcBef>
              <a:spcAft>
                <a:spcPts val="0"/>
              </a:spcAft>
              <a:buClrTx/>
              <a:buSzPct val="50000"/>
              <a:buFont typeface="Wingdings" panose="05000000000000000000" pitchFamily="2" charset="2"/>
              <a:buChar char="Ø"/>
              <a:defRPr/>
            </a:pPr>
            <a:r>
              <a:rPr lang="en-US" altLang="zh-CN" sz="2000" b="1" dirty="0" err="1">
                <a:solidFill>
                  <a:srgbClr val="FF0000"/>
                </a:solidFill>
                <a:sym typeface="Huawei Sans" panose="020C0503030203020204" pitchFamily="34" charset="0"/>
              </a:rPr>
              <a:t>openGauss</a:t>
            </a:r>
            <a:r>
              <a:rPr lang="zh-CN" altLang="zh-CN" sz="2000" b="1" dirty="0">
                <a:sym typeface="Huawei Sans" panose="020C0503030203020204" pitchFamily="34" charset="0"/>
              </a:rPr>
              <a:t>的数据库节点负责存储数据，其存储介质也是磁盘，本节主要从逻辑视角介绍数据库节点都有哪些对象，以及这些对象之间的关系。</a:t>
            </a:r>
            <a:endParaRPr lang="en-US" altLang="zh-CN" sz="2000" b="1" dirty="0">
              <a:sym typeface="Huawei Sans" panose="020C0503030203020204" pitchFamily="34" charset="0"/>
            </a:endParaRPr>
          </a:p>
          <a:p>
            <a:pPr marL="0" marR="0" lvl="1" indent="0" fontAlgn="ctr">
              <a:lnSpc>
                <a:spcPct val="100000"/>
              </a:lnSpc>
              <a:spcBef>
                <a:spcPts val="1000"/>
              </a:spcBef>
              <a:spcAft>
                <a:spcPts val="0"/>
              </a:spcAft>
              <a:buClrTx/>
              <a:buSzPct val="50000"/>
              <a:buNone/>
              <a:defRPr/>
            </a:pPr>
            <a:r>
              <a:rPr kumimoji="0" lang="en-US" altLang="zh-CN" sz="2000" b="1"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a:t>
            </a:r>
            <a:r>
              <a:rPr kumimoji="0" lang="zh-CN" altLang="zh-CN" sz="18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数据库逻辑结构如</a:t>
            </a:r>
            <a:r>
              <a:rPr kumimoji="0" lang="zh-CN" altLang="en-US" sz="18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下图：</a:t>
            </a:r>
            <a:endParaRPr kumimoji="0" lang="en-US" altLang="zh-CN" sz="18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28600" lvl="1">
              <a:lnSpc>
                <a:spcPct val="110000"/>
              </a:lnSpc>
              <a:spcBef>
                <a:spcPts val="1000"/>
              </a:spcBef>
              <a:buFont typeface="Wingdings" panose="05000000000000000000" pitchFamily="2" charset="2"/>
              <a:buChar char="l"/>
            </a:pPr>
            <a:endParaRPr lang="en-US" altLang="zh-CN" sz="1800" b="1" dirty="0"/>
          </a:p>
          <a:p>
            <a:pPr marL="0" lvl="1" indent="0">
              <a:lnSpc>
                <a:spcPct val="110000"/>
              </a:lnSpc>
              <a:spcBef>
                <a:spcPts val="1000"/>
              </a:spcBef>
              <a:buNone/>
            </a:pPr>
            <a:endParaRPr lang="en-US" altLang="zh-CN" sz="1800" b="1" dirty="0"/>
          </a:p>
        </p:txBody>
      </p:sp>
      <p:sp>
        <p:nvSpPr>
          <p:cNvPr id="6"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
        <p:nvSpPr>
          <p:cNvPr id="72"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a:t>
            </a:r>
            <a:r>
              <a:rPr lang="en-US" altLang="zh-CN" dirty="0" err="1"/>
              <a:t>openGauss</a:t>
            </a:r>
            <a:r>
              <a:rPr lang="zh-CN" altLang="zh-CN" dirty="0"/>
              <a:t>物理存储简介</a:t>
            </a:r>
            <a:endParaRPr lang="zh-CN" altLang="en-US" dirty="0"/>
          </a:p>
        </p:txBody>
      </p:sp>
      <p:pic>
        <p:nvPicPr>
          <p:cNvPr id="73" name="图片 72"/>
          <p:cNvPicPr>
            <a:picLocks noChangeAspect="1"/>
          </p:cNvPicPr>
          <p:nvPr/>
        </p:nvPicPr>
        <p:blipFill>
          <a:blip r:embed="rId1"/>
          <a:stretch>
            <a:fillRect/>
          </a:stretch>
        </p:blipFill>
        <p:spPr>
          <a:xfrm>
            <a:off x="6918672" y="2754336"/>
            <a:ext cx="4021738" cy="3156542"/>
          </a:xfrm>
          <a:prstGeom prst="rect">
            <a:avLst/>
          </a:prstGeom>
        </p:spPr>
      </p:pic>
      <p:sp>
        <p:nvSpPr>
          <p:cNvPr id="74" name="文本框 73"/>
          <p:cNvSpPr txBox="1"/>
          <p:nvPr/>
        </p:nvSpPr>
        <p:spPr>
          <a:xfrm>
            <a:off x="487172" y="2597150"/>
            <a:ext cx="6066028" cy="3313728"/>
          </a:xfrm>
          <a:prstGeom prst="rect">
            <a:avLst/>
          </a:prstGeom>
          <a:noFill/>
        </p:spPr>
        <p:txBody>
          <a:bodyPr wrap="square" rtlCol="0">
            <a:spAutoFit/>
          </a:bodyPr>
          <a:lstStyle/>
          <a:p>
            <a:pPr marL="228600" lvl="1" indent="-228600" fontAlgn="auto">
              <a:spcBef>
                <a:spcPts val="1000"/>
              </a:spcBef>
              <a:spcAft>
                <a:spcPts val="0"/>
              </a:spcAft>
              <a:buSzPct val="50000"/>
              <a:buFont typeface="Wingdings" panose="05000000000000000000" pitchFamily="2" charset="2"/>
              <a:buChar char="l"/>
            </a:pPr>
            <a:r>
              <a:rPr lang="en-US" altLang="zh-CN" sz="1600"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Tablespace</a:t>
            </a:r>
            <a:r>
              <a:rPr lang="zh-CN" altLang="en-US" sz="1600" dirty="0">
                <a:latin typeface="微软雅黑" panose="020B0503020204020204" pitchFamily="34" charset="-122"/>
                <a:ea typeface="微软雅黑" panose="020B0503020204020204" pitchFamily="34" charset="-122"/>
                <a:sym typeface="Huawei Sans" panose="020C0503030203020204" pitchFamily="34" charset="0"/>
              </a:rPr>
              <a:t>：表空间，是一个目录，可以存在多个，里面存储的是它所包含的数据库的各种物理文件。每个表空间可以对应多个</a:t>
            </a:r>
            <a:r>
              <a:rPr lang="en-US" altLang="zh-CN" sz="1600" dirty="0">
                <a:latin typeface="微软雅黑" panose="020B0503020204020204" pitchFamily="34" charset="-122"/>
                <a:ea typeface="微软雅黑" panose="020B0503020204020204" pitchFamily="34" charset="-122"/>
                <a:sym typeface="Huawei Sans" panose="020C0503030203020204" pitchFamily="34" charset="0"/>
              </a:rPr>
              <a:t>Database</a:t>
            </a:r>
            <a:r>
              <a:rPr lang="zh-CN" altLang="en-US" sz="1600" dirty="0">
                <a:latin typeface="微软雅黑" panose="020B0503020204020204" pitchFamily="34" charset="-122"/>
                <a:ea typeface="微软雅黑" panose="020B0503020204020204" pitchFamily="34" charset="-122"/>
                <a:sym typeface="Huawei Sans" panose="020C0503030203020204" pitchFamily="34" charset="0"/>
              </a:rPr>
              <a:t>。</a:t>
            </a:r>
            <a:endParaRPr lang="zh-CN" altLang="en-US" sz="1600" dirty="0">
              <a:latin typeface="微软雅黑" panose="020B0503020204020204" pitchFamily="34" charset="-122"/>
              <a:ea typeface="微软雅黑" panose="020B0503020204020204" pitchFamily="34" charset="-122"/>
              <a:sym typeface="Huawei Sans" panose="020C0503030203020204" pitchFamily="34" charset="0"/>
            </a:endParaRPr>
          </a:p>
          <a:p>
            <a:pPr marL="228600" lvl="1" indent="-228600" fontAlgn="auto">
              <a:spcBef>
                <a:spcPts val="1000"/>
              </a:spcBef>
              <a:spcAft>
                <a:spcPts val="0"/>
              </a:spcAft>
              <a:buSzPct val="50000"/>
              <a:buFont typeface="Wingdings" panose="05000000000000000000" pitchFamily="2" charset="2"/>
              <a:buChar char="l"/>
            </a:pPr>
            <a:r>
              <a:rPr lang="en-US" altLang="zh-CN" sz="1600"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Database</a:t>
            </a:r>
            <a:r>
              <a:rPr lang="zh-CN" altLang="en-US" sz="1600" dirty="0">
                <a:latin typeface="微软雅黑" panose="020B0503020204020204" pitchFamily="34" charset="-122"/>
                <a:ea typeface="微软雅黑" panose="020B0503020204020204" pitchFamily="34" charset="-122"/>
                <a:sym typeface="Huawei Sans" panose="020C0503030203020204" pitchFamily="34" charset="0"/>
              </a:rPr>
              <a:t>：数据库，用于管理各类数据对象，各数据库间相互隔离。数据库管理的对象可分布在多个</a:t>
            </a:r>
            <a:r>
              <a:rPr lang="en-US" altLang="zh-CN" sz="1600" dirty="0">
                <a:latin typeface="微软雅黑" panose="020B0503020204020204" pitchFamily="34" charset="-122"/>
                <a:ea typeface="微软雅黑" panose="020B0503020204020204" pitchFamily="34" charset="-122"/>
                <a:sym typeface="Huawei Sans" panose="020C0503030203020204" pitchFamily="34" charset="0"/>
              </a:rPr>
              <a:t>Tablespace</a:t>
            </a:r>
            <a:r>
              <a:rPr lang="zh-CN" altLang="en-US" sz="1600" dirty="0">
                <a:latin typeface="微软雅黑" panose="020B0503020204020204" pitchFamily="34" charset="-122"/>
                <a:ea typeface="微软雅黑" panose="020B0503020204020204" pitchFamily="34" charset="-122"/>
                <a:sym typeface="Huawei Sans" panose="020C0503030203020204" pitchFamily="34" charset="0"/>
              </a:rPr>
              <a:t>上。</a:t>
            </a:r>
            <a:endParaRPr lang="zh-CN" altLang="en-US" sz="1600" dirty="0">
              <a:latin typeface="微软雅黑" panose="020B0503020204020204" pitchFamily="34" charset="-122"/>
              <a:ea typeface="微软雅黑" panose="020B0503020204020204" pitchFamily="34" charset="-122"/>
              <a:sym typeface="Huawei Sans" panose="020C0503030203020204" pitchFamily="34" charset="0"/>
            </a:endParaRPr>
          </a:p>
          <a:p>
            <a:pPr marL="228600" lvl="1" indent="-228600" fontAlgn="auto">
              <a:spcBef>
                <a:spcPts val="1000"/>
              </a:spcBef>
              <a:spcAft>
                <a:spcPts val="0"/>
              </a:spcAft>
              <a:buSzPct val="50000"/>
              <a:buFont typeface="Wingdings" panose="05000000000000000000" pitchFamily="2" charset="2"/>
              <a:buChar char="l"/>
            </a:pPr>
            <a:r>
              <a:rPr lang="en-US" altLang="zh-CN" sz="1600"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Datafile Segment</a:t>
            </a:r>
            <a:r>
              <a:rPr lang="zh-CN" altLang="en-US" sz="1600" dirty="0">
                <a:latin typeface="微软雅黑" panose="020B0503020204020204" pitchFamily="34" charset="-122"/>
                <a:ea typeface="微软雅黑" panose="020B0503020204020204" pitchFamily="34" charset="-122"/>
                <a:sym typeface="Huawei Sans" panose="020C0503030203020204" pitchFamily="34" charset="0"/>
              </a:rPr>
              <a:t>：数据文件，通常每张表只对应一个数据文件。如果某张表的数据大于</a:t>
            </a:r>
            <a:r>
              <a:rPr lang="en-US" altLang="zh-CN" sz="1600" dirty="0">
                <a:latin typeface="微软雅黑" panose="020B0503020204020204" pitchFamily="34" charset="-122"/>
                <a:ea typeface="微软雅黑" panose="020B0503020204020204" pitchFamily="34" charset="-122"/>
                <a:sym typeface="Huawei Sans" panose="020C0503030203020204" pitchFamily="34" charset="0"/>
              </a:rPr>
              <a:t>1GB</a:t>
            </a:r>
            <a:r>
              <a:rPr lang="zh-CN" altLang="en-US" sz="1600" dirty="0">
                <a:latin typeface="微软雅黑" panose="020B0503020204020204" pitchFamily="34" charset="-122"/>
                <a:ea typeface="微软雅黑" panose="020B0503020204020204" pitchFamily="34" charset="-122"/>
                <a:sym typeface="Huawei Sans" panose="020C0503030203020204" pitchFamily="34" charset="0"/>
              </a:rPr>
              <a:t>，则会分为多个数据文件存储。</a:t>
            </a:r>
            <a:endParaRPr lang="en-US" altLang="zh-CN" sz="1600" dirty="0">
              <a:latin typeface="微软雅黑" panose="020B0503020204020204" pitchFamily="34" charset="-122"/>
              <a:ea typeface="微软雅黑" panose="020B0503020204020204" pitchFamily="34" charset="-122"/>
              <a:sym typeface="Huawei Sans" panose="020C0503030203020204" pitchFamily="34" charset="0"/>
            </a:endParaRPr>
          </a:p>
          <a:p>
            <a:pPr marL="228600" lvl="1" indent="-228600" fontAlgn="auto">
              <a:spcBef>
                <a:spcPts val="1000"/>
              </a:spcBef>
              <a:spcAft>
                <a:spcPts val="0"/>
              </a:spcAft>
              <a:buSzPct val="50000"/>
              <a:buFont typeface="Wingdings" panose="05000000000000000000" pitchFamily="2" charset="2"/>
              <a:buChar char="l"/>
            </a:pPr>
            <a:r>
              <a:rPr lang="en-US" altLang="zh-CN" sz="1600"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Table</a:t>
            </a:r>
            <a:r>
              <a:rPr lang="zh-CN" altLang="en-US" sz="1600" dirty="0">
                <a:latin typeface="微软雅黑" panose="020B0503020204020204" pitchFamily="34" charset="-122"/>
                <a:ea typeface="微软雅黑" panose="020B0503020204020204" pitchFamily="34" charset="-122"/>
                <a:sym typeface="Huawei Sans" panose="020C0503030203020204" pitchFamily="34" charset="0"/>
              </a:rPr>
              <a:t>：表，每张表只能属于一个数据库，也只能对应到一个</a:t>
            </a:r>
            <a:r>
              <a:rPr lang="en-US" altLang="zh-CN" sz="1600" dirty="0">
                <a:latin typeface="微软雅黑" panose="020B0503020204020204" pitchFamily="34" charset="-122"/>
                <a:ea typeface="微软雅黑" panose="020B0503020204020204" pitchFamily="34" charset="-122"/>
                <a:sym typeface="Huawei Sans" panose="020C0503030203020204" pitchFamily="34" charset="0"/>
              </a:rPr>
              <a:t>Tablespace</a:t>
            </a:r>
            <a:r>
              <a:rPr lang="zh-CN" altLang="en-US" sz="1600" dirty="0">
                <a:latin typeface="微软雅黑" panose="020B0503020204020204" pitchFamily="34" charset="-122"/>
                <a:ea typeface="微软雅黑" panose="020B0503020204020204" pitchFamily="34" charset="-122"/>
                <a:sym typeface="Huawei Sans" panose="020C0503030203020204" pitchFamily="34" charset="0"/>
              </a:rPr>
              <a:t>。每张表对应的数据文件必须在同一个</a:t>
            </a:r>
            <a:r>
              <a:rPr lang="en-US" altLang="zh-CN" sz="1600" dirty="0">
                <a:latin typeface="微软雅黑" panose="020B0503020204020204" pitchFamily="34" charset="-122"/>
                <a:ea typeface="微软雅黑" panose="020B0503020204020204" pitchFamily="34" charset="-122"/>
                <a:sym typeface="Huawei Sans" panose="020C0503030203020204" pitchFamily="34" charset="0"/>
              </a:rPr>
              <a:t>Tablespace</a:t>
            </a:r>
            <a:r>
              <a:rPr lang="zh-CN" altLang="en-US" sz="1600" dirty="0">
                <a:latin typeface="微软雅黑" panose="020B0503020204020204" pitchFamily="34" charset="-122"/>
                <a:ea typeface="微软雅黑" panose="020B0503020204020204" pitchFamily="34" charset="-122"/>
                <a:sym typeface="Huawei Sans" panose="020C0503030203020204" pitchFamily="34" charset="0"/>
              </a:rPr>
              <a:t>中。</a:t>
            </a:r>
            <a:endParaRPr lang="zh-CN" altLang="en-US" sz="1600" dirty="0">
              <a:latin typeface="微软雅黑" panose="020B0503020204020204" pitchFamily="34" charset="-122"/>
              <a:ea typeface="微软雅黑" panose="020B0503020204020204" pitchFamily="34" charset="-122"/>
              <a:sym typeface="Huawei Sans" panose="020C0503030203020204" pitchFamily="34" charset="0"/>
            </a:endParaRPr>
          </a:p>
          <a:p>
            <a:pPr marL="228600" lvl="1" indent="-228600" fontAlgn="auto">
              <a:spcBef>
                <a:spcPts val="1000"/>
              </a:spcBef>
              <a:spcAft>
                <a:spcPts val="0"/>
              </a:spcAft>
              <a:buSzPct val="50000"/>
              <a:buFont typeface="Wingdings" panose="05000000000000000000" pitchFamily="2" charset="2"/>
              <a:buChar char="l"/>
            </a:pPr>
            <a:r>
              <a:rPr lang="en-US" altLang="zh-CN" sz="1600" dirty="0">
                <a:solidFill>
                  <a:srgbClr val="FF0000"/>
                </a:solidFill>
                <a:latin typeface="微软雅黑" panose="020B0503020204020204" pitchFamily="34" charset="-122"/>
                <a:ea typeface="微软雅黑" panose="020B0503020204020204" pitchFamily="34" charset="-122"/>
                <a:sym typeface="Huawei Sans" panose="020C0503030203020204" pitchFamily="34" charset="0"/>
              </a:rPr>
              <a:t>Block</a:t>
            </a:r>
            <a:r>
              <a:rPr lang="zh-CN" altLang="en-US" sz="1600" dirty="0">
                <a:latin typeface="微软雅黑" panose="020B0503020204020204" pitchFamily="34" charset="-122"/>
                <a:ea typeface="微软雅黑" panose="020B0503020204020204" pitchFamily="34" charset="-122"/>
                <a:sym typeface="Huawei Sans" panose="020C0503030203020204" pitchFamily="34" charset="0"/>
              </a:rPr>
              <a:t>：数据块，是数据库管理的基本单位，默认大小为</a:t>
            </a:r>
            <a:r>
              <a:rPr lang="en-US" altLang="zh-CN" sz="1600" dirty="0">
                <a:latin typeface="微软雅黑" panose="020B0503020204020204" pitchFamily="34" charset="-122"/>
                <a:ea typeface="微软雅黑" panose="020B0503020204020204" pitchFamily="34" charset="-122"/>
                <a:sym typeface="Huawei Sans" panose="020C0503030203020204" pitchFamily="34" charset="0"/>
              </a:rPr>
              <a:t>8KB</a:t>
            </a:r>
            <a:r>
              <a:rPr lang="zh-CN" altLang="en-US" sz="1600" dirty="0">
                <a:latin typeface="微软雅黑" panose="020B0503020204020204" pitchFamily="34" charset="-122"/>
                <a:ea typeface="微软雅黑" panose="020B0503020204020204" pitchFamily="34" charset="-122"/>
                <a:sym typeface="Huawei Sans" panose="020C0503030203020204" pitchFamily="34" charset="0"/>
              </a:rPr>
              <a:t>。</a:t>
            </a:r>
            <a:endParaRPr lang="zh-CN" altLang="en-US" sz="1600" dirty="0">
              <a:latin typeface="微软雅黑" panose="020B0503020204020204" pitchFamily="34" charset="-122"/>
              <a:ea typeface="微软雅黑" panose="020B0503020204020204" pitchFamily="34" charset="-122"/>
              <a:sym typeface="Huawei Sans" panose="020C0503030203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内容占位符 34"/>
          <p:cNvSpPr>
            <a:spLocks noGrp="1"/>
          </p:cNvSpPr>
          <p:nvPr>
            <p:ph idx="1"/>
          </p:nvPr>
        </p:nvSpPr>
        <p:spPr/>
        <p:txBody>
          <a:bodyPr>
            <a:normAutofit/>
          </a:bodyPr>
          <a:lstStyle/>
          <a:p>
            <a:pPr marL="228600" lvl="1">
              <a:lnSpc>
                <a:spcPct val="110000"/>
              </a:lnSpc>
              <a:spcBef>
                <a:spcPts val="1000"/>
              </a:spcBef>
              <a:spcAft>
                <a:spcPts val="600"/>
              </a:spcAft>
              <a:buFont typeface="Wingdings" panose="05000000000000000000" pitchFamily="2" charset="2"/>
              <a:buChar char="l"/>
            </a:pPr>
            <a:r>
              <a:rPr lang="zh-CN" altLang="en-US" sz="1800" dirty="0"/>
              <a:t>每个数据库分成一个或多个表空间，所有表空间的组合存储容量即是数据库的存储容量</a:t>
            </a:r>
            <a:endParaRPr lang="zh-CN" altLang="en-US" sz="1800" dirty="0"/>
          </a:p>
          <a:p>
            <a:pPr marL="228600" lvl="1">
              <a:lnSpc>
                <a:spcPct val="110000"/>
              </a:lnSpc>
              <a:spcBef>
                <a:spcPts val="1000"/>
              </a:spcBef>
              <a:spcAft>
                <a:spcPts val="600"/>
              </a:spcAft>
              <a:buFont typeface="Wingdings" panose="05000000000000000000" pitchFamily="2" charset="2"/>
              <a:buChar char="l"/>
            </a:pPr>
            <a:r>
              <a:rPr lang="zh-CN" altLang="en-US" sz="1800" dirty="0"/>
              <a:t>每个表空间由一个或多个操作系统文件构成</a:t>
            </a:r>
            <a:r>
              <a:rPr lang="en-US" altLang="zh-CN" sz="1800" dirty="0"/>
              <a:t>, </a:t>
            </a:r>
            <a:r>
              <a:rPr lang="zh-CN" altLang="en-US" sz="1800" dirty="0"/>
              <a:t>一个操作系统文件只能与一个数据库相联，操作系统文件仅起占位的作用。数据在表空间中可跨文件进行操作。</a:t>
            </a:r>
            <a:endParaRPr lang="zh-CN" altLang="en-US" sz="1800" dirty="0"/>
          </a:p>
          <a:p>
            <a:pPr marL="228600" lvl="1">
              <a:lnSpc>
                <a:spcPct val="110000"/>
              </a:lnSpc>
              <a:spcBef>
                <a:spcPts val="1000"/>
              </a:spcBef>
              <a:spcAft>
                <a:spcPts val="600"/>
              </a:spcAft>
              <a:buFont typeface="Wingdings" panose="05000000000000000000" pitchFamily="2" charset="2"/>
              <a:buChar char="l"/>
            </a:pPr>
            <a:r>
              <a:rPr lang="zh-CN" altLang="en-US" sz="1800" dirty="0"/>
              <a:t>操作系统文件中存储一个表</a:t>
            </a:r>
            <a:r>
              <a:rPr lang="en-US" altLang="zh-CN" sz="1800" dirty="0"/>
              <a:t>(Table)</a:t>
            </a:r>
            <a:r>
              <a:rPr lang="zh-CN" altLang="en-US" sz="1800" dirty="0"/>
              <a:t>或多个表，一个表可存储在一个文件中也可能存储在多个文件中。</a:t>
            </a:r>
            <a:endParaRPr lang="zh-CN" altLang="en-US" sz="1800" dirty="0"/>
          </a:p>
          <a:p>
            <a:pPr marL="228600" lvl="1">
              <a:lnSpc>
                <a:spcPct val="110000"/>
              </a:lnSpc>
              <a:spcBef>
                <a:spcPts val="1000"/>
              </a:spcBef>
              <a:spcAft>
                <a:spcPts val="600"/>
              </a:spcAft>
              <a:buFont typeface="Wingdings" panose="05000000000000000000" pitchFamily="2" charset="2"/>
              <a:buChar char="l"/>
            </a:pPr>
            <a:r>
              <a:rPr lang="zh-CN" altLang="en-US" sz="1800" dirty="0"/>
              <a:t>上述为逻辑存储层</a:t>
            </a:r>
            <a:endParaRPr lang="en-US" altLang="zh-CN" sz="1800" dirty="0"/>
          </a:p>
          <a:p>
            <a:pPr marL="0" lvl="1" indent="0">
              <a:lnSpc>
                <a:spcPct val="110000"/>
              </a:lnSpc>
              <a:spcBef>
                <a:spcPts val="1000"/>
              </a:spcBef>
              <a:buNone/>
            </a:pPr>
            <a:endParaRPr lang="en-US" altLang="zh-CN" sz="1800" b="1" dirty="0"/>
          </a:p>
        </p:txBody>
      </p:sp>
      <p:sp>
        <p:nvSpPr>
          <p:cNvPr id="6"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
        <p:nvSpPr>
          <p:cNvPr id="72"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a:t>
            </a:r>
            <a:r>
              <a:rPr lang="en-US" altLang="zh-CN" dirty="0" err="1"/>
              <a:t>openGauss</a:t>
            </a:r>
            <a:r>
              <a:rPr lang="zh-CN" altLang="zh-CN" dirty="0"/>
              <a:t>物理存储简介</a:t>
            </a:r>
            <a:endParaRPr lang="zh-CN" altLang="en-US" dirty="0"/>
          </a:p>
        </p:txBody>
      </p:sp>
      <p:pic>
        <p:nvPicPr>
          <p:cNvPr id="5" name="图片 4"/>
          <p:cNvPicPr>
            <a:picLocks noChangeAspect="1"/>
          </p:cNvPicPr>
          <p:nvPr/>
        </p:nvPicPr>
        <p:blipFill>
          <a:blip r:embed="rId1"/>
          <a:stretch>
            <a:fillRect/>
          </a:stretch>
        </p:blipFill>
        <p:spPr>
          <a:xfrm>
            <a:off x="6588124" y="3104443"/>
            <a:ext cx="4029076" cy="316221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内容占位符 34"/>
          <p:cNvSpPr>
            <a:spLocks noGrp="1"/>
          </p:cNvSpPr>
          <p:nvPr>
            <p:ph idx="1"/>
          </p:nvPr>
        </p:nvSpPr>
        <p:spPr/>
        <p:txBody>
          <a:bodyPr>
            <a:normAutofit/>
          </a:bodyPr>
          <a:lstStyle/>
          <a:p>
            <a:pPr marL="228600" lvl="1">
              <a:lnSpc>
                <a:spcPct val="110000"/>
              </a:lnSpc>
              <a:spcBef>
                <a:spcPts val="1000"/>
              </a:spcBef>
              <a:spcAft>
                <a:spcPts val="600"/>
              </a:spcAft>
              <a:buFont typeface="Wingdings" panose="05000000000000000000" pitchFamily="2" charset="2"/>
              <a:buChar char="l"/>
            </a:pPr>
            <a:r>
              <a:rPr lang="zh-CN" altLang="en-US" sz="1800" dirty="0"/>
              <a:t>物理存储层由段</a:t>
            </a:r>
            <a:r>
              <a:rPr lang="en-US" altLang="zh-CN" sz="1800" dirty="0"/>
              <a:t>(segment)</a:t>
            </a:r>
            <a:r>
              <a:rPr lang="zh-CN" altLang="en-US" sz="1800" dirty="0"/>
              <a:t>和数据块</a:t>
            </a:r>
            <a:r>
              <a:rPr lang="en-US" altLang="zh-CN" sz="1800" dirty="0"/>
              <a:t>(data block)</a:t>
            </a:r>
            <a:r>
              <a:rPr lang="zh-CN" altLang="en-US" sz="1800" dirty="0"/>
              <a:t>构成</a:t>
            </a:r>
            <a:endParaRPr lang="zh-CN" altLang="en-US" sz="1800" dirty="0"/>
          </a:p>
          <a:p>
            <a:pPr marL="228600" lvl="1">
              <a:lnSpc>
                <a:spcPct val="110000"/>
              </a:lnSpc>
              <a:spcBef>
                <a:spcPts val="1000"/>
              </a:spcBef>
              <a:spcAft>
                <a:spcPts val="600"/>
              </a:spcAft>
              <a:buFont typeface="Wingdings" panose="05000000000000000000" pitchFamily="2" charset="2"/>
              <a:buChar char="l"/>
            </a:pPr>
            <a:r>
              <a:rPr lang="zh-CN" altLang="en-US" sz="1800" dirty="0"/>
              <a:t>数据块是最小的</a:t>
            </a:r>
            <a:r>
              <a:rPr lang="en-US" altLang="zh-CN" sz="1800" dirty="0"/>
              <a:t>IO</a:t>
            </a:r>
            <a:r>
              <a:rPr lang="zh-CN" altLang="en-US" sz="1800" dirty="0"/>
              <a:t>存储单位 </a:t>
            </a:r>
            <a:r>
              <a:rPr lang="en-US" altLang="zh-CN" sz="1800" dirty="0"/>
              <a:t>(</a:t>
            </a:r>
            <a:r>
              <a:rPr lang="zh-CN" altLang="en-US" sz="1800" dirty="0"/>
              <a:t>相当于扇区</a:t>
            </a:r>
            <a:r>
              <a:rPr lang="en-US" altLang="zh-CN" sz="1800" dirty="0"/>
              <a:t>)</a:t>
            </a:r>
            <a:endParaRPr lang="en-US" altLang="zh-CN" sz="1800" dirty="0"/>
          </a:p>
          <a:p>
            <a:pPr marL="228600" lvl="1">
              <a:lnSpc>
                <a:spcPct val="110000"/>
              </a:lnSpc>
              <a:spcBef>
                <a:spcPts val="1000"/>
              </a:spcBef>
              <a:spcAft>
                <a:spcPts val="600"/>
              </a:spcAft>
              <a:buFont typeface="Wingdings" panose="05000000000000000000" pitchFamily="2" charset="2"/>
              <a:buChar char="l"/>
            </a:pPr>
            <a:r>
              <a:rPr lang="zh-CN" altLang="en-US" sz="1800" dirty="0"/>
              <a:t>段是一组分配了特定数据结构的盘区，又分为数据段、索引段和临时段等</a:t>
            </a:r>
            <a:endParaRPr lang="zh-CN" altLang="en-US" sz="1800" dirty="0"/>
          </a:p>
          <a:p>
            <a:pPr marL="228600" lvl="1">
              <a:lnSpc>
                <a:spcPct val="110000"/>
              </a:lnSpc>
              <a:spcBef>
                <a:spcPts val="1000"/>
              </a:spcBef>
              <a:spcAft>
                <a:spcPts val="600"/>
              </a:spcAft>
              <a:buFont typeface="Wingdings" panose="05000000000000000000" pitchFamily="2" charset="2"/>
              <a:buChar char="l"/>
            </a:pPr>
            <a:r>
              <a:rPr lang="zh-CN" altLang="en-US" sz="1800" dirty="0"/>
              <a:t>一个表的数据可以存放在一个段内，也可以存放在多个段内。一个段可以存放一个表的数据，也可以存放多个表的数据</a:t>
            </a:r>
            <a:r>
              <a:rPr lang="en-US" altLang="zh-CN" sz="1800" dirty="0"/>
              <a:t>(</a:t>
            </a:r>
            <a:r>
              <a:rPr lang="zh-CN" altLang="en-US" sz="1800" dirty="0"/>
              <a:t>如聚簇文件</a:t>
            </a:r>
            <a:r>
              <a:rPr lang="en-US" altLang="zh-CN" sz="1800" dirty="0"/>
              <a:t>)</a:t>
            </a:r>
            <a:endParaRPr lang="en-US" altLang="zh-CN" sz="1800" dirty="0"/>
          </a:p>
          <a:p>
            <a:pPr marL="228600" lvl="1">
              <a:lnSpc>
                <a:spcPct val="110000"/>
              </a:lnSpc>
              <a:spcBef>
                <a:spcPts val="1000"/>
              </a:spcBef>
              <a:spcAft>
                <a:spcPts val="600"/>
              </a:spcAft>
              <a:buFont typeface="Wingdings" panose="05000000000000000000" pitchFamily="2" charset="2"/>
              <a:buChar char="l"/>
            </a:pPr>
            <a:endParaRPr lang="en-US" altLang="zh-CN" sz="1800" b="1" dirty="0"/>
          </a:p>
          <a:p>
            <a:pPr marL="0" lvl="1" indent="0">
              <a:lnSpc>
                <a:spcPct val="110000"/>
              </a:lnSpc>
              <a:spcBef>
                <a:spcPts val="1000"/>
              </a:spcBef>
              <a:buNone/>
            </a:pPr>
            <a:endParaRPr lang="en-US" altLang="zh-CN" sz="1800" b="1" dirty="0"/>
          </a:p>
        </p:txBody>
      </p:sp>
      <p:sp>
        <p:nvSpPr>
          <p:cNvPr id="6"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
        <p:nvSpPr>
          <p:cNvPr id="72"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a:t>
            </a:r>
            <a:r>
              <a:rPr lang="en-US" altLang="zh-CN" dirty="0" err="1"/>
              <a:t>openGauss</a:t>
            </a:r>
            <a:r>
              <a:rPr lang="zh-CN" altLang="zh-CN" dirty="0"/>
              <a:t>物理存储简介</a:t>
            </a:r>
            <a:endParaRPr lang="zh-CN" altLang="en-US" dirty="0"/>
          </a:p>
        </p:txBody>
      </p:sp>
      <p:pic>
        <p:nvPicPr>
          <p:cNvPr id="5" name="图片 4"/>
          <p:cNvPicPr>
            <a:picLocks noChangeAspect="1"/>
          </p:cNvPicPr>
          <p:nvPr/>
        </p:nvPicPr>
        <p:blipFill>
          <a:blip r:embed="rId1"/>
          <a:stretch>
            <a:fillRect/>
          </a:stretch>
        </p:blipFill>
        <p:spPr>
          <a:xfrm>
            <a:off x="6588124" y="3104443"/>
            <a:ext cx="4029076" cy="316221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内容占位符 34"/>
          <p:cNvSpPr>
            <a:spLocks noGrp="1"/>
          </p:cNvSpPr>
          <p:nvPr>
            <p:ph idx="1"/>
          </p:nvPr>
        </p:nvSpPr>
        <p:spPr/>
        <p:txBody>
          <a:bodyPr>
            <a:normAutofit/>
          </a:bodyPr>
          <a:lstStyle/>
          <a:p>
            <a:pPr marL="228600" lvl="1">
              <a:lnSpc>
                <a:spcPct val="110000"/>
              </a:lnSpc>
              <a:spcBef>
                <a:spcPts val="1000"/>
              </a:spcBef>
              <a:spcAft>
                <a:spcPts val="600"/>
              </a:spcAft>
              <a:buFont typeface="Wingdings" panose="05000000000000000000" pitchFamily="2" charset="2"/>
              <a:buChar char="l"/>
            </a:pPr>
            <a:endParaRPr lang="en-US" altLang="zh-CN" sz="1800" b="1" dirty="0"/>
          </a:p>
          <a:p>
            <a:pPr marL="0" lvl="1" indent="0">
              <a:lnSpc>
                <a:spcPct val="110000"/>
              </a:lnSpc>
              <a:spcBef>
                <a:spcPts val="1000"/>
              </a:spcBef>
              <a:buNone/>
            </a:pPr>
            <a:endParaRPr lang="en-US" altLang="zh-CN" sz="1800" b="1" dirty="0"/>
          </a:p>
        </p:txBody>
      </p:sp>
      <p:sp>
        <p:nvSpPr>
          <p:cNvPr id="6" name="灯片编号占位符 6"/>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
        <p:nvSpPr>
          <p:cNvPr id="72" name="标题 4"/>
          <p:cNvSpPr>
            <a:spLocks noGrp="1"/>
          </p:cNvSpPr>
          <p:nvPr>
            <p:ph type="title"/>
          </p:nvPr>
        </p:nvSpPr>
        <p:spPr>
          <a:xfrm>
            <a:off x="487172" y="179243"/>
            <a:ext cx="10697497" cy="590931"/>
          </a:xfrm>
        </p:spPr>
        <p:txBody>
          <a:bodyPr/>
          <a:lstStyle/>
          <a:p>
            <a:pPr algn="l"/>
            <a:r>
              <a:rPr lang="en-US" altLang="zh-CN" dirty="0"/>
              <a:t>6.1 </a:t>
            </a:r>
            <a:r>
              <a:rPr lang="zh-CN" altLang="zh-CN" dirty="0"/>
              <a:t>基础回顾-</a:t>
            </a:r>
            <a:r>
              <a:rPr lang="zh-CN" altLang="en-US" dirty="0"/>
              <a:t>总结</a:t>
            </a:r>
            <a:endParaRPr lang="zh-CN" altLang="en-US" dirty="0"/>
          </a:p>
        </p:txBody>
      </p:sp>
      <p:grpSp>
        <p:nvGrpSpPr>
          <p:cNvPr id="2" name="Group 8"/>
          <p:cNvGrpSpPr/>
          <p:nvPr/>
        </p:nvGrpSpPr>
        <p:grpSpPr>
          <a:xfrm>
            <a:off x="4278108" y="1213624"/>
            <a:ext cx="3452813" cy="811213"/>
            <a:chOff x="808" y="1103"/>
            <a:chExt cx="898" cy="690"/>
          </a:xfrm>
        </p:grpSpPr>
        <p:sp>
          <p:nvSpPr>
            <p:cNvPr id="3" name="AutoShape 39"/>
            <p:cNvSpPr>
              <a:spLocks noChangeArrowheads="1"/>
            </p:cNvSpPr>
            <p:nvPr/>
          </p:nvSpPr>
          <p:spPr bwMode="gray">
            <a:xfrm>
              <a:off x="808" y="1103"/>
              <a:ext cx="898" cy="69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800" b="1"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7" name="Oval 40"/>
            <p:cNvSpPr/>
            <p:nvPr/>
          </p:nvSpPr>
          <p:spPr>
            <a:xfrm>
              <a:off x="882" y="1160"/>
              <a:ext cx="750" cy="577"/>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2800" dirty="0">
                <a:solidFill>
                  <a:schemeClr val="accent2"/>
                </a:solidFill>
                <a:latin typeface="Arial" panose="020B0604020202020204" pitchFamily="34" charset="0"/>
                <a:ea typeface="宋体" panose="02010600030101010101" pitchFamily="2" charset="-122"/>
              </a:endParaRPr>
            </a:p>
          </p:txBody>
        </p:sp>
        <p:sp>
          <p:nvSpPr>
            <p:cNvPr id="8" name="Text Box 84"/>
            <p:cNvSpPr txBox="1">
              <a:spLocks noChangeArrowheads="1"/>
            </p:cNvSpPr>
            <p:nvPr/>
          </p:nvSpPr>
          <p:spPr bwMode="auto">
            <a:xfrm>
              <a:off x="885" y="1189"/>
              <a:ext cx="743" cy="442"/>
            </a:xfrm>
            <a:prstGeom prst="rect">
              <a:avLst/>
            </a:prstGeom>
            <a:noFill/>
            <a:ln>
              <a:noFill/>
            </a:ln>
          </p:spPr>
          <p:txBody>
            <a:bodyPr>
              <a:spAutoFit/>
            </a:bodyPr>
            <a:lstStyle/>
            <a:p>
              <a:pPr marR="0" algn="ctr" defTabSz="914400">
                <a:spcBef>
                  <a:spcPct val="35000"/>
                </a:spcBef>
                <a:buClrTx/>
                <a:buSzTx/>
                <a:buFontTx/>
                <a:buNone/>
                <a:defRPr/>
              </a:pPr>
              <a:r>
                <a:rPr kumimoji="0" lang="zh-CN" altLang="en-US" sz="2800" kern="1200" cap="none" spc="0" normalizeH="0" baseline="0" noProof="0" dirty="0">
                  <a:solidFill>
                    <a:schemeClr val="accent2"/>
                  </a:solidFill>
                  <a:effectLst>
                    <a:outerShdw blurRad="38100" dist="38100" dir="2700000" algn="tl">
                      <a:srgbClr val="C0C0C0"/>
                    </a:outerShdw>
                  </a:effectLst>
                  <a:latin typeface="Arial" panose="020B0604020202020204" pitchFamily="34" charset="0"/>
                  <a:ea typeface="华文中宋" panose="02010600040101010101" pitchFamily="2" charset="-122"/>
                  <a:cs typeface="+mn-cs"/>
                  <a:sym typeface="+mn-ea"/>
                </a:rPr>
                <a:t>数据库物理存储</a:t>
              </a:r>
              <a:endParaRPr kumimoji="0" lang="zh-CN" altLang="en-US" sz="2800" kern="1200" cap="none" spc="0" normalizeH="0" baseline="0" noProof="0" dirty="0">
                <a:solidFill>
                  <a:schemeClr val="accent2"/>
                </a:solidFill>
                <a:effectLst>
                  <a:outerShdw blurRad="38100" dist="38100" dir="2700000" algn="tl">
                    <a:srgbClr val="C0C0C0"/>
                  </a:outerShdw>
                </a:effectLst>
                <a:latin typeface="Arial" panose="020B0604020202020204" pitchFamily="34" charset="0"/>
                <a:ea typeface="华文中宋" panose="02010600040101010101" pitchFamily="2" charset="-122"/>
                <a:cs typeface="+mn-cs"/>
                <a:sym typeface="+mn-ea"/>
              </a:endParaRPr>
            </a:p>
          </p:txBody>
        </p:sp>
      </p:grpSp>
      <p:grpSp>
        <p:nvGrpSpPr>
          <p:cNvPr id="9" name="Group 12"/>
          <p:cNvGrpSpPr/>
          <p:nvPr/>
        </p:nvGrpSpPr>
        <p:grpSpPr>
          <a:xfrm>
            <a:off x="4080977" y="2643271"/>
            <a:ext cx="1147763" cy="968375"/>
            <a:chOff x="1287" y="903"/>
            <a:chExt cx="723" cy="610"/>
          </a:xfrm>
        </p:grpSpPr>
        <p:sp>
          <p:nvSpPr>
            <p:cNvPr id="10" name="AutoShape 39"/>
            <p:cNvSpPr>
              <a:spLocks noChangeArrowheads="1"/>
            </p:cNvSpPr>
            <p:nvPr/>
          </p:nvSpPr>
          <p:spPr bwMode="gray">
            <a:xfrm>
              <a:off x="1287" y="903"/>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微软雅黑" panose="020B0503020204020204" pitchFamily="34" charset="-122"/>
                <a:cs typeface="+mn-cs"/>
              </a:endParaRPr>
            </a:p>
          </p:txBody>
        </p:sp>
        <p:sp>
          <p:nvSpPr>
            <p:cNvPr id="11" name="Oval 40"/>
            <p:cNvSpPr/>
            <p:nvPr/>
          </p:nvSpPr>
          <p:spPr>
            <a:xfrm>
              <a:off x="1347" y="953"/>
              <a:ext cx="603" cy="509"/>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sz="2000" dirty="0">
                <a:solidFill>
                  <a:srgbClr val="000000"/>
                </a:solidFill>
                <a:latin typeface="宋体" panose="02010600030101010101" pitchFamily="2" charset="-122"/>
                <a:ea typeface="微软雅黑" panose="020B0503020204020204" pitchFamily="34" charset="-122"/>
              </a:endParaRPr>
            </a:p>
          </p:txBody>
        </p:sp>
        <p:sp>
          <p:nvSpPr>
            <p:cNvPr id="12" name="Text Box 84"/>
            <p:cNvSpPr txBox="1"/>
            <p:nvPr/>
          </p:nvSpPr>
          <p:spPr>
            <a:xfrm>
              <a:off x="1349" y="1083"/>
              <a:ext cx="598" cy="250"/>
            </a:xfrm>
            <a:prstGeom prst="rect">
              <a:avLst/>
            </a:prstGeom>
            <a:noFill/>
            <a:ln w="9525">
              <a:noFill/>
            </a:ln>
          </p:spPr>
          <p:txBody>
            <a:bodyPr anchor="t">
              <a:spAutoFit/>
            </a:bodyPr>
            <a:lstStyle/>
            <a:p>
              <a:pPr algn="ctr">
                <a:spcBef>
                  <a:spcPct val="35000"/>
                </a:spcBef>
              </a:pPr>
              <a:r>
                <a:rPr lang="zh-CN" altLang="en-US" sz="2000" dirty="0">
                  <a:solidFill>
                    <a:srgbClr val="FFFFFF"/>
                  </a:solidFill>
                  <a:latin typeface="宋体" panose="02010600030101010101" pitchFamily="2" charset="-122"/>
                  <a:ea typeface="微软雅黑" panose="020B0503020204020204" pitchFamily="34" charset="-122"/>
                </a:rPr>
                <a:t>表</a:t>
              </a:r>
              <a:endParaRPr lang="zh-CN" altLang="en-US" sz="2000" dirty="0">
                <a:solidFill>
                  <a:srgbClr val="FFFFFF"/>
                </a:solidFill>
                <a:latin typeface="宋体" panose="02010600030101010101" pitchFamily="2" charset="-122"/>
                <a:ea typeface="微软雅黑" panose="020B0503020204020204" pitchFamily="34" charset="-122"/>
              </a:endParaRPr>
            </a:p>
          </p:txBody>
        </p:sp>
      </p:grpSp>
      <p:grpSp>
        <p:nvGrpSpPr>
          <p:cNvPr id="13" name="Group 24"/>
          <p:cNvGrpSpPr/>
          <p:nvPr/>
        </p:nvGrpSpPr>
        <p:grpSpPr>
          <a:xfrm>
            <a:off x="8583611" y="5375275"/>
            <a:ext cx="1479550" cy="877888"/>
            <a:chOff x="3312" y="2123"/>
            <a:chExt cx="932" cy="519"/>
          </a:xfrm>
        </p:grpSpPr>
        <p:sp>
          <p:nvSpPr>
            <p:cNvPr id="14" name="AutoShape 39"/>
            <p:cNvSpPr/>
            <p:nvPr/>
          </p:nvSpPr>
          <p:spPr>
            <a:xfrm>
              <a:off x="3312" y="2123"/>
              <a:ext cx="932" cy="519"/>
            </a:xfrm>
            <a:custGeom>
              <a:avLst/>
              <a:gdLst/>
              <a:ahLst/>
              <a:cxnLst>
                <a:cxn ang="0">
                  <a:pos x="43360" y="0"/>
                </a:cxn>
                <a:cxn ang="0">
                  <a:pos x="12699" y="7161"/>
                </a:cxn>
                <a:cxn ang="0">
                  <a:pos x="0" y="24450"/>
                </a:cxn>
                <a:cxn ang="0">
                  <a:pos x="12699" y="41740"/>
                </a:cxn>
                <a:cxn ang="0">
                  <a:pos x="43360" y="48901"/>
                </a:cxn>
                <a:cxn ang="0">
                  <a:pos x="74021" y="41740"/>
                </a:cxn>
                <a:cxn ang="0">
                  <a:pos x="86720" y="24450"/>
                </a:cxn>
                <a:cxn ang="0">
                  <a:pos x="74021" y="716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solidFill>
            <a:ln w="9525">
              <a:noFill/>
            </a:ln>
          </p:spPr>
          <p:txBody>
            <a:bodyPr/>
            <a:lstStyle/>
            <a:p>
              <a:endParaRPr lang="zh-CN" altLang="en-US" sz="1600"/>
            </a:p>
          </p:txBody>
        </p:sp>
        <p:sp>
          <p:nvSpPr>
            <p:cNvPr id="15" name="Oval 40"/>
            <p:cNvSpPr/>
            <p:nvPr/>
          </p:nvSpPr>
          <p:spPr>
            <a:xfrm>
              <a:off x="3389" y="2166"/>
              <a:ext cx="778" cy="434"/>
            </a:xfrm>
            <a:prstGeom prst="ellipse">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微软雅黑" panose="020B0503020204020204" pitchFamily="34" charset="-122"/>
                <a:ea typeface="微软雅黑" panose="020B0503020204020204" pitchFamily="34" charset="-122"/>
              </a:endParaRPr>
            </a:p>
          </p:txBody>
        </p:sp>
        <p:sp>
          <p:nvSpPr>
            <p:cNvPr id="16" name="Text Box 84"/>
            <p:cNvSpPr txBox="1"/>
            <p:nvPr/>
          </p:nvSpPr>
          <p:spPr>
            <a:xfrm>
              <a:off x="3396" y="2273"/>
              <a:ext cx="771" cy="200"/>
            </a:xfrm>
            <a:prstGeom prst="rect">
              <a:avLst/>
            </a:prstGeom>
            <a:noFill/>
            <a:ln w="9525">
              <a:noFill/>
            </a:ln>
          </p:spPr>
          <p:txBody>
            <a:bodyPr anchor="t">
              <a:spAutoFit/>
            </a:bodyPr>
            <a:lstStyle/>
            <a:p>
              <a:pPr algn="ctr">
                <a:spcBef>
                  <a:spcPct val="35000"/>
                </a:spcBef>
              </a:pPr>
              <a:r>
                <a:rPr lang="zh-CN" altLang="en-US" sz="1600" dirty="0">
                  <a:solidFill>
                    <a:srgbClr val="FFFFFF"/>
                  </a:solidFill>
                  <a:latin typeface="微软雅黑" panose="020B0503020204020204" pitchFamily="34" charset="-122"/>
                  <a:ea typeface="微软雅黑" panose="020B0503020204020204" pitchFamily="34" charset="-122"/>
                </a:rPr>
                <a:t>数据库重组</a:t>
              </a:r>
              <a:endParaRPr lang="zh-CN" altLang="en-US" sz="1600" dirty="0">
                <a:solidFill>
                  <a:srgbClr val="FFFFFF"/>
                </a:solidFill>
                <a:latin typeface="微软雅黑" panose="020B0503020204020204" pitchFamily="34" charset="-122"/>
                <a:ea typeface="微软雅黑" panose="020B0503020204020204" pitchFamily="34" charset="-122"/>
              </a:endParaRPr>
            </a:p>
          </p:txBody>
        </p:sp>
      </p:grpSp>
      <p:grpSp>
        <p:nvGrpSpPr>
          <p:cNvPr id="17" name="Group 56"/>
          <p:cNvGrpSpPr/>
          <p:nvPr/>
        </p:nvGrpSpPr>
        <p:grpSpPr>
          <a:xfrm>
            <a:off x="8713786" y="2341563"/>
            <a:ext cx="1228725" cy="731837"/>
            <a:chOff x="3795" y="1068"/>
            <a:chExt cx="869" cy="535"/>
          </a:xfrm>
        </p:grpSpPr>
        <p:sp>
          <p:nvSpPr>
            <p:cNvPr id="18" name="AutoShape 39"/>
            <p:cNvSpPr/>
            <p:nvPr/>
          </p:nvSpPr>
          <p:spPr>
            <a:xfrm>
              <a:off x="3795" y="1068"/>
              <a:ext cx="869" cy="535"/>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19" name="Oval 40"/>
            <p:cNvSpPr/>
            <p:nvPr/>
          </p:nvSpPr>
          <p:spPr>
            <a:xfrm>
              <a:off x="3867" y="1112"/>
              <a:ext cx="725" cy="44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20" name="Text Box 84"/>
            <p:cNvSpPr/>
            <p:nvPr/>
          </p:nvSpPr>
          <p:spPr>
            <a:xfrm>
              <a:off x="3852" y="1111"/>
              <a:ext cx="750" cy="473"/>
            </a:xfrm>
            <a:prstGeom prst="roundRect">
              <a:avLst>
                <a:gd name="adj" fmla="val 16667"/>
              </a:avLst>
            </a:prstGeom>
            <a:noFill/>
            <a:ln w="9525">
              <a:noFill/>
            </a:ln>
          </p:spPr>
          <p:txBody>
            <a:bodyPr anchor="t">
              <a:spAutoFit/>
            </a:bodyPr>
            <a:lstStyle/>
            <a:p>
              <a:pPr algn="ctr">
                <a:spcBef>
                  <a:spcPct val="35000"/>
                </a:spcBef>
              </a:pPr>
              <a:r>
                <a:rPr lang="zh-CN" altLang="en-US" sz="1600" dirty="0">
                  <a:solidFill>
                    <a:srgbClr val="FFFFFF"/>
                  </a:solidFill>
                  <a:latin typeface="Arial" panose="020B0604020202020204" pitchFamily="34" charset="0"/>
                  <a:ea typeface="微软雅黑" panose="020B0503020204020204" pitchFamily="34" charset="-122"/>
                </a:rPr>
                <a:t>无序记录文件</a:t>
              </a:r>
              <a:endParaRPr lang="zh-CN" altLang="en-US" sz="1600" dirty="0">
                <a:solidFill>
                  <a:srgbClr val="FFFFFF"/>
                </a:solidFill>
                <a:latin typeface="Arial" panose="020B0604020202020204" pitchFamily="34" charset="0"/>
                <a:ea typeface="微软雅黑" panose="020B0503020204020204" pitchFamily="34" charset="-122"/>
              </a:endParaRPr>
            </a:p>
          </p:txBody>
        </p:sp>
      </p:grpSp>
      <p:grpSp>
        <p:nvGrpSpPr>
          <p:cNvPr id="21" name="Group 60"/>
          <p:cNvGrpSpPr/>
          <p:nvPr/>
        </p:nvGrpSpPr>
        <p:grpSpPr>
          <a:xfrm>
            <a:off x="8715374" y="3090863"/>
            <a:ext cx="1228725" cy="731837"/>
            <a:chOff x="3795" y="1068"/>
            <a:chExt cx="869" cy="535"/>
          </a:xfrm>
        </p:grpSpPr>
        <p:sp>
          <p:nvSpPr>
            <p:cNvPr id="22" name="AutoShape 39"/>
            <p:cNvSpPr/>
            <p:nvPr/>
          </p:nvSpPr>
          <p:spPr>
            <a:xfrm>
              <a:off x="3795" y="1068"/>
              <a:ext cx="869" cy="535"/>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23" name="Oval 40"/>
            <p:cNvSpPr/>
            <p:nvPr/>
          </p:nvSpPr>
          <p:spPr>
            <a:xfrm>
              <a:off x="3867" y="1112"/>
              <a:ext cx="725" cy="44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24" name="Text Box 84"/>
            <p:cNvSpPr/>
            <p:nvPr/>
          </p:nvSpPr>
          <p:spPr>
            <a:xfrm>
              <a:off x="3852" y="1111"/>
              <a:ext cx="750" cy="473"/>
            </a:xfrm>
            <a:prstGeom prst="roundRect">
              <a:avLst>
                <a:gd name="adj" fmla="val 16667"/>
              </a:avLst>
            </a:prstGeom>
            <a:noFill/>
            <a:ln w="9525">
              <a:noFill/>
            </a:ln>
          </p:spPr>
          <p:txBody>
            <a:bodyPr anchor="t">
              <a:spAutoFit/>
            </a:bodyPr>
            <a:lstStyle/>
            <a:p>
              <a:pPr algn="ctr">
                <a:spcBef>
                  <a:spcPct val="35000"/>
                </a:spcBef>
              </a:pPr>
              <a:r>
                <a:rPr lang="zh-CN" altLang="en-US" sz="1600" dirty="0">
                  <a:solidFill>
                    <a:srgbClr val="FFFFFF"/>
                  </a:solidFill>
                  <a:latin typeface="Arial" panose="020B0604020202020204" pitchFamily="34" charset="0"/>
                  <a:ea typeface="微软雅黑" panose="020B0503020204020204" pitchFamily="34" charset="-122"/>
                </a:rPr>
                <a:t>有序记录文件</a:t>
              </a:r>
              <a:endParaRPr lang="zh-CN" altLang="en-US" sz="1600" dirty="0">
                <a:solidFill>
                  <a:srgbClr val="FFFFFF"/>
                </a:solidFill>
                <a:latin typeface="Arial" panose="020B0604020202020204" pitchFamily="34" charset="0"/>
                <a:ea typeface="微软雅黑" panose="020B0503020204020204" pitchFamily="34" charset="-122"/>
              </a:endParaRPr>
            </a:p>
          </p:txBody>
        </p:sp>
      </p:grpSp>
      <p:grpSp>
        <p:nvGrpSpPr>
          <p:cNvPr id="25" name="Group 64"/>
          <p:cNvGrpSpPr/>
          <p:nvPr/>
        </p:nvGrpSpPr>
        <p:grpSpPr>
          <a:xfrm>
            <a:off x="8715374" y="3841750"/>
            <a:ext cx="1228725" cy="731838"/>
            <a:chOff x="3795" y="1068"/>
            <a:chExt cx="869" cy="535"/>
          </a:xfrm>
        </p:grpSpPr>
        <p:sp>
          <p:nvSpPr>
            <p:cNvPr id="26" name="AutoShape 39"/>
            <p:cNvSpPr/>
            <p:nvPr/>
          </p:nvSpPr>
          <p:spPr>
            <a:xfrm>
              <a:off x="3795" y="1068"/>
              <a:ext cx="869" cy="535"/>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27" name="Oval 40"/>
            <p:cNvSpPr/>
            <p:nvPr/>
          </p:nvSpPr>
          <p:spPr>
            <a:xfrm>
              <a:off x="3867" y="1112"/>
              <a:ext cx="725" cy="44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28" name="Text Box 84"/>
            <p:cNvSpPr/>
            <p:nvPr/>
          </p:nvSpPr>
          <p:spPr>
            <a:xfrm>
              <a:off x="3852" y="1111"/>
              <a:ext cx="750" cy="473"/>
            </a:xfrm>
            <a:prstGeom prst="roundRect">
              <a:avLst>
                <a:gd name="adj" fmla="val 16667"/>
              </a:avLst>
            </a:prstGeom>
            <a:noFill/>
            <a:ln w="9525">
              <a:noFill/>
            </a:ln>
          </p:spPr>
          <p:txBody>
            <a:bodyPr anchor="t">
              <a:spAutoFit/>
            </a:bodyPr>
            <a:lstStyle/>
            <a:p>
              <a:pPr algn="ctr">
                <a:spcBef>
                  <a:spcPct val="35000"/>
                </a:spcBef>
              </a:pPr>
              <a:r>
                <a:rPr lang="zh-CN" altLang="en-US" sz="1600" dirty="0">
                  <a:solidFill>
                    <a:srgbClr val="FFFFFF"/>
                  </a:solidFill>
                  <a:latin typeface="Arial" panose="020B0604020202020204" pitchFamily="34" charset="0"/>
                  <a:ea typeface="微软雅黑" panose="020B0503020204020204" pitchFamily="34" charset="-122"/>
                </a:rPr>
                <a:t>散列记录文件</a:t>
              </a:r>
              <a:endParaRPr lang="zh-CN" altLang="en-US" sz="1600" dirty="0">
                <a:solidFill>
                  <a:srgbClr val="FFFFFF"/>
                </a:solidFill>
                <a:latin typeface="Arial" panose="020B0604020202020204" pitchFamily="34" charset="0"/>
                <a:ea typeface="微软雅黑" panose="020B0503020204020204" pitchFamily="34" charset="-122"/>
              </a:endParaRPr>
            </a:p>
          </p:txBody>
        </p:sp>
      </p:grpSp>
      <p:grpSp>
        <p:nvGrpSpPr>
          <p:cNvPr id="29" name="Group 68"/>
          <p:cNvGrpSpPr/>
          <p:nvPr/>
        </p:nvGrpSpPr>
        <p:grpSpPr>
          <a:xfrm>
            <a:off x="4080977" y="3683084"/>
            <a:ext cx="1147762" cy="968375"/>
            <a:chOff x="1287" y="903"/>
            <a:chExt cx="723" cy="610"/>
          </a:xfrm>
        </p:grpSpPr>
        <p:sp>
          <p:nvSpPr>
            <p:cNvPr id="30" name="AutoShape 39"/>
            <p:cNvSpPr>
              <a:spLocks noChangeArrowheads="1"/>
            </p:cNvSpPr>
            <p:nvPr/>
          </p:nvSpPr>
          <p:spPr bwMode="gray">
            <a:xfrm>
              <a:off x="1287" y="903"/>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微软雅黑" panose="020B0503020204020204" pitchFamily="34" charset="-122"/>
                <a:cs typeface="+mn-cs"/>
              </a:endParaRPr>
            </a:p>
          </p:txBody>
        </p:sp>
        <p:sp>
          <p:nvSpPr>
            <p:cNvPr id="31" name="Oval 40"/>
            <p:cNvSpPr/>
            <p:nvPr/>
          </p:nvSpPr>
          <p:spPr>
            <a:xfrm>
              <a:off x="1347" y="953"/>
              <a:ext cx="603" cy="509"/>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sz="2000" dirty="0">
                <a:solidFill>
                  <a:srgbClr val="000000"/>
                </a:solidFill>
                <a:latin typeface="宋体" panose="02010600030101010101" pitchFamily="2" charset="-122"/>
                <a:ea typeface="微软雅黑" panose="020B0503020204020204" pitchFamily="34" charset="-122"/>
              </a:endParaRPr>
            </a:p>
          </p:txBody>
        </p:sp>
        <p:sp>
          <p:nvSpPr>
            <p:cNvPr id="32" name="Text Box 84"/>
            <p:cNvSpPr txBox="1"/>
            <p:nvPr/>
          </p:nvSpPr>
          <p:spPr>
            <a:xfrm>
              <a:off x="1349" y="1083"/>
              <a:ext cx="598" cy="250"/>
            </a:xfrm>
            <a:prstGeom prst="rect">
              <a:avLst/>
            </a:prstGeom>
            <a:noFill/>
            <a:ln w="9525">
              <a:noFill/>
            </a:ln>
          </p:spPr>
          <p:txBody>
            <a:bodyPr anchor="t">
              <a:spAutoFit/>
            </a:bodyPr>
            <a:lstStyle/>
            <a:p>
              <a:pPr algn="ctr">
                <a:spcBef>
                  <a:spcPct val="35000"/>
                </a:spcBef>
              </a:pPr>
              <a:r>
                <a:rPr lang="zh-CN" altLang="en-US" sz="2000" dirty="0">
                  <a:solidFill>
                    <a:srgbClr val="FFFFFF"/>
                  </a:solidFill>
                  <a:latin typeface="宋体" panose="02010600030101010101" pitchFamily="2" charset="-122"/>
                  <a:ea typeface="微软雅黑" panose="020B0503020204020204" pitchFamily="34" charset="-122"/>
                </a:rPr>
                <a:t>记录</a:t>
              </a:r>
              <a:endParaRPr lang="zh-CN" altLang="en-US" sz="2000" dirty="0">
                <a:solidFill>
                  <a:srgbClr val="FFFFFF"/>
                </a:solidFill>
                <a:latin typeface="宋体" panose="02010600030101010101" pitchFamily="2" charset="-122"/>
                <a:ea typeface="微软雅黑" panose="020B0503020204020204" pitchFamily="34" charset="-122"/>
              </a:endParaRPr>
            </a:p>
          </p:txBody>
        </p:sp>
      </p:grpSp>
      <p:grpSp>
        <p:nvGrpSpPr>
          <p:cNvPr id="33" name="Group 72"/>
          <p:cNvGrpSpPr/>
          <p:nvPr/>
        </p:nvGrpSpPr>
        <p:grpSpPr>
          <a:xfrm>
            <a:off x="4080977" y="4729411"/>
            <a:ext cx="1147762" cy="968375"/>
            <a:chOff x="1287" y="903"/>
            <a:chExt cx="723" cy="610"/>
          </a:xfrm>
        </p:grpSpPr>
        <p:sp>
          <p:nvSpPr>
            <p:cNvPr id="34" name="AutoShape 39"/>
            <p:cNvSpPr>
              <a:spLocks noChangeArrowheads="1"/>
            </p:cNvSpPr>
            <p:nvPr/>
          </p:nvSpPr>
          <p:spPr bwMode="gray">
            <a:xfrm>
              <a:off x="1287" y="903"/>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微软雅黑" panose="020B0503020204020204" pitchFamily="34" charset="-122"/>
                <a:cs typeface="+mn-cs"/>
              </a:endParaRPr>
            </a:p>
          </p:txBody>
        </p:sp>
        <p:sp>
          <p:nvSpPr>
            <p:cNvPr id="36" name="Oval 40"/>
            <p:cNvSpPr/>
            <p:nvPr/>
          </p:nvSpPr>
          <p:spPr>
            <a:xfrm>
              <a:off x="1347" y="953"/>
              <a:ext cx="603" cy="509"/>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sz="2000" dirty="0">
                <a:solidFill>
                  <a:srgbClr val="000000"/>
                </a:solidFill>
                <a:latin typeface="宋体" panose="02010600030101010101" pitchFamily="2" charset="-122"/>
                <a:ea typeface="微软雅黑" panose="020B0503020204020204" pitchFamily="34" charset="-122"/>
              </a:endParaRPr>
            </a:p>
          </p:txBody>
        </p:sp>
        <p:sp>
          <p:nvSpPr>
            <p:cNvPr id="37" name="Text Box 84"/>
            <p:cNvSpPr txBox="1"/>
            <p:nvPr/>
          </p:nvSpPr>
          <p:spPr>
            <a:xfrm>
              <a:off x="1349" y="1083"/>
              <a:ext cx="598" cy="250"/>
            </a:xfrm>
            <a:prstGeom prst="rect">
              <a:avLst/>
            </a:prstGeom>
            <a:noFill/>
            <a:ln w="9525">
              <a:noFill/>
            </a:ln>
          </p:spPr>
          <p:txBody>
            <a:bodyPr anchor="t">
              <a:spAutoFit/>
            </a:bodyPr>
            <a:lstStyle/>
            <a:p>
              <a:pPr algn="ctr">
                <a:spcBef>
                  <a:spcPct val="35000"/>
                </a:spcBef>
              </a:pPr>
              <a:r>
                <a:rPr lang="zh-CN" altLang="en-US" sz="2000" dirty="0">
                  <a:solidFill>
                    <a:srgbClr val="FFFFFF"/>
                  </a:solidFill>
                  <a:latin typeface="宋体" panose="02010600030101010101" pitchFamily="2" charset="-122"/>
                  <a:ea typeface="微软雅黑" panose="020B0503020204020204" pitchFamily="34" charset="-122"/>
                </a:rPr>
                <a:t>属性值</a:t>
              </a:r>
              <a:endParaRPr lang="zh-CN" altLang="en-US" sz="2000" dirty="0">
                <a:solidFill>
                  <a:srgbClr val="FFFFFF"/>
                </a:solidFill>
                <a:latin typeface="宋体" panose="02010600030101010101" pitchFamily="2" charset="-122"/>
                <a:ea typeface="微软雅黑" panose="020B0503020204020204" pitchFamily="34" charset="-122"/>
              </a:endParaRPr>
            </a:p>
          </p:txBody>
        </p:sp>
      </p:grpSp>
      <p:grpSp>
        <p:nvGrpSpPr>
          <p:cNvPr id="38" name="Group 76"/>
          <p:cNvGrpSpPr/>
          <p:nvPr/>
        </p:nvGrpSpPr>
        <p:grpSpPr>
          <a:xfrm>
            <a:off x="5536363" y="3632201"/>
            <a:ext cx="1147762" cy="968375"/>
            <a:chOff x="1287" y="903"/>
            <a:chExt cx="723" cy="610"/>
          </a:xfrm>
        </p:grpSpPr>
        <p:sp>
          <p:nvSpPr>
            <p:cNvPr id="39" name="AutoShape 39"/>
            <p:cNvSpPr>
              <a:spLocks noChangeArrowheads="1"/>
            </p:cNvSpPr>
            <p:nvPr/>
          </p:nvSpPr>
          <p:spPr bwMode="gray">
            <a:xfrm>
              <a:off x="1287" y="903"/>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微软雅黑" panose="020B0503020204020204" pitchFamily="34" charset="-122"/>
                <a:cs typeface="+mn-cs"/>
              </a:endParaRPr>
            </a:p>
          </p:txBody>
        </p:sp>
        <p:sp>
          <p:nvSpPr>
            <p:cNvPr id="40" name="Oval 40"/>
            <p:cNvSpPr/>
            <p:nvPr/>
          </p:nvSpPr>
          <p:spPr>
            <a:xfrm>
              <a:off x="1347" y="953"/>
              <a:ext cx="603" cy="509"/>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sz="2000" dirty="0">
                <a:solidFill>
                  <a:srgbClr val="000000"/>
                </a:solidFill>
                <a:latin typeface="宋体" panose="02010600030101010101" pitchFamily="2" charset="-122"/>
                <a:ea typeface="微软雅黑" panose="020B0503020204020204" pitchFamily="34" charset="-122"/>
              </a:endParaRPr>
            </a:p>
          </p:txBody>
        </p:sp>
        <p:sp>
          <p:nvSpPr>
            <p:cNvPr id="41" name="Text Box 84"/>
            <p:cNvSpPr txBox="1"/>
            <p:nvPr/>
          </p:nvSpPr>
          <p:spPr>
            <a:xfrm>
              <a:off x="1349" y="1083"/>
              <a:ext cx="598" cy="250"/>
            </a:xfrm>
            <a:prstGeom prst="rect">
              <a:avLst/>
            </a:prstGeom>
            <a:noFill/>
            <a:ln w="9525">
              <a:noFill/>
            </a:ln>
          </p:spPr>
          <p:txBody>
            <a:bodyPr anchor="t">
              <a:spAutoFit/>
            </a:bodyPr>
            <a:lstStyle/>
            <a:p>
              <a:pPr algn="ctr">
                <a:spcBef>
                  <a:spcPct val="35000"/>
                </a:spcBef>
              </a:pPr>
              <a:r>
                <a:rPr lang="zh-CN" altLang="en-US" sz="2000" dirty="0">
                  <a:solidFill>
                    <a:srgbClr val="FFFFFF"/>
                  </a:solidFill>
                  <a:latin typeface="宋体" panose="02010600030101010101" pitchFamily="2" charset="-122"/>
                  <a:ea typeface="微软雅黑" panose="020B0503020204020204" pitchFamily="34" charset="-122"/>
                </a:rPr>
                <a:t>磁盘块</a:t>
              </a:r>
              <a:endParaRPr lang="zh-CN" altLang="en-US" sz="2000" dirty="0">
                <a:solidFill>
                  <a:srgbClr val="FFFFFF"/>
                </a:solidFill>
                <a:latin typeface="宋体" panose="02010600030101010101" pitchFamily="2" charset="-122"/>
                <a:ea typeface="微软雅黑" panose="020B0503020204020204" pitchFamily="34" charset="-122"/>
              </a:endParaRPr>
            </a:p>
          </p:txBody>
        </p:sp>
      </p:grpSp>
      <p:grpSp>
        <p:nvGrpSpPr>
          <p:cNvPr id="42" name="Group 80"/>
          <p:cNvGrpSpPr/>
          <p:nvPr/>
        </p:nvGrpSpPr>
        <p:grpSpPr>
          <a:xfrm>
            <a:off x="8715374" y="4592638"/>
            <a:ext cx="1228725" cy="731837"/>
            <a:chOff x="3795" y="1068"/>
            <a:chExt cx="869" cy="535"/>
          </a:xfrm>
        </p:grpSpPr>
        <p:sp>
          <p:nvSpPr>
            <p:cNvPr id="43" name="AutoShape 39"/>
            <p:cNvSpPr/>
            <p:nvPr/>
          </p:nvSpPr>
          <p:spPr>
            <a:xfrm>
              <a:off x="3795" y="1068"/>
              <a:ext cx="869" cy="535"/>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44" name="Oval 40"/>
            <p:cNvSpPr/>
            <p:nvPr/>
          </p:nvSpPr>
          <p:spPr>
            <a:xfrm>
              <a:off x="3867" y="1112"/>
              <a:ext cx="725" cy="44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45" name="Text Box 84"/>
            <p:cNvSpPr/>
            <p:nvPr/>
          </p:nvSpPr>
          <p:spPr>
            <a:xfrm>
              <a:off x="3852" y="1111"/>
              <a:ext cx="750" cy="473"/>
            </a:xfrm>
            <a:prstGeom prst="roundRect">
              <a:avLst>
                <a:gd name="adj" fmla="val 16667"/>
              </a:avLst>
            </a:prstGeom>
            <a:noFill/>
            <a:ln w="9525">
              <a:noFill/>
            </a:ln>
          </p:spPr>
          <p:txBody>
            <a:bodyPr anchor="t">
              <a:spAutoFit/>
            </a:bodyPr>
            <a:lstStyle/>
            <a:p>
              <a:pPr algn="ctr">
                <a:spcBef>
                  <a:spcPct val="35000"/>
                </a:spcBef>
              </a:pPr>
              <a:r>
                <a:rPr lang="zh-CN" altLang="en-US" sz="1600" dirty="0">
                  <a:solidFill>
                    <a:srgbClr val="FFFFFF"/>
                  </a:solidFill>
                  <a:latin typeface="Arial" panose="020B0604020202020204" pitchFamily="34" charset="0"/>
                  <a:ea typeface="微软雅黑" panose="020B0503020204020204" pitchFamily="34" charset="-122"/>
                </a:rPr>
                <a:t>聚簇记录文件</a:t>
              </a:r>
              <a:endParaRPr lang="zh-CN" altLang="en-US" sz="1600" dirty="0">
                <a:solidFill>
                  <a:srgbClr val="FFFFFF"/>
                </a:solidFill>
                <a:latin typeface="Arial" panose="020B0604020202020204" pitchFamily="34" charset="0"/>
                <a:ea typeface="微软雅黑" panose="020B0503020204020204" pitchFamily="34" charset="-122"/>
              </a:endParaRPr>
            </a:p>
          </p:txBody>
        </p:sp>
      </p:grpSp>
      <p:grpSp>
        <p:nvGrpSpPr>
          <p:cNvPr id="46" name="Group 84"/>
          <p:cNvGrpSpPr/>
          <p:nvPr/>
        </p:nvGrpSpPr>
        <p:grpSpPr>
          <a:xfrm>
            <a:off x="6660313" y="3090863"/>
            <a:ext cx="1147762" cy="968375"/>
            <a:chOff x="1287" y="903"/>
            <a:chExt cx="723" cy="610"/>
          </a:xfrm>
        </p:grpSpPr>
        <p:sp>
          <p:nvSpPr>
            <p:cNvPr id="47" name="AutoShape 39"/>
            <p:cNvSpPr>
              <a:spLocks noChangeArrowheads="1"/>
            </p:cNvSpPr>
            <p:nvPr/>
          </p:nvSpPr>
          <p:spPr bwMode="gray">
            <a:xfrm>
              <a:off x="1287" y="903"/>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微软雅黑" panose="020B0503020204020204" pitchFamily="34" charset="-122"/>
                <a:cs typeface="+mn-cs"/>
              </a:endParaRPr>
            </a:p>
          </p:txBody>
        </p:sp>
        <p:sp>
          <p:nvSpPr>
            <p:cNvPr id="48" name="Oval 40"/>
            <p:cNvSpPr/>
            <p:nvPr/>
          </p:nvSpPr>
          <p:spPr>
            <a:xfrm>
              <a:off x="1347" y="953"/>
              <a:ext cx="603" cy="509"/>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sz="2000" dirty="0">
                <a:solidFill>
                  <a:srgbClr val="000000"/>
                </a:solidFill>
                <a:latin typeface="宋体" panose="02010600030101010101" pitchFamily="2" charset="-122"/>
                <a:ea typeface="微软雅黑" panose="020B0503020204020204" pitchFamily="34" charset="-122"/>
              </a:endParaRPr>
            </a:p>
          </p:txBody>
        </p:sp>
        <p:sp>
          <p:nvSpPr>
            <p:cNvPr id="49" name="Text Box 84"/>
            <p:cNvSpPr txBox="1"/>
            <p:nvPr/>
          </p:nvSpPr>
          <p:spPr>
            <a:xfrm>
              <a:off x="1349" y="1083"/>
              <a:ext cx="598" cy="250"/>
            </a:xfrm>
            <a:prstGeom prst="rect">
              <a:avLst/>
            </a:prstGeom>
            <a:noFill/>
            <a:ln w="9525">
              <a:noFill/>
            </a:ln>
          </p:spPr>
          <p:txBody>
            <a:bodyPr anchor="t">
              <a:spAutoFit/>
            </a:bodyPr>
            <a:lstStyle/>
            <a:p>
              <a:pPr algn="ctr">
                <a:spcBef>
                  <a:spcPct val="35000"/>
                </a:spcBef>
              </a:pPr>
              <a:r>
                <a:rPr lang="zh-CN" altLang="en-US" sz="2000" dirty="0">
                  <a:solidFill>
                    <a:srgbClr val="FFFFFF"/>
                  </a:solidFill>
                  <a:latin typeface="宋体" panose="02010600030101010101" pitchFamily="2" charset="-122"/>
                  <a:ea typeface="微软雅黑" panose="020B0503020204020204" pitchFamily="34" charset="-122"/>
                </a:rPr>
                <a:t>主文件</a:t>
              </a:r>
              <a:endParaRPr lang="zh-CN" altLang="en-US" sz="2000" dirty="0">
                <a:solidFill>
                  <a:srgbClr val="FFFFFF"/>
                </a:solidFill>
                <a:latin typeface="宋体" panose="02010600030101010101" pitchFamily="2" charset="-122"/>
                <a:ea typeface="微软雅黑" panose="020B0503020204020204" pitchFamily="34" charset="-122"/>
              </a:endParaRPr>
            </a:p>
          </p:txBody>
        </p:sp>
      </p:grpSp>
      <p:grpSp>
        <p:nvGrpSpPr>
          <p:cNvPr id="50" name="Group 92"/>
          <p:cNvGrpSpPr/>
          <p:nvPr/>
        </p:nvGrpSpPr>
        <p:grpSpPr>
          <a:xfrm>
            <a:off x="6658725" y="4137026"/>
            <a:ext cx="1147763" cy="968375"/>
            <a:chOff x="4679" y="1884"/>
            <a:chExt cx="723" cy="610"/>
          </a:xfrm>
        </p:grpSpPr>
        <p:sp>
          <p:nvSpPr>
            <p:cNvPr id="51" name="AutoShape 39"/>
            <p:cNvSpPr>
              <a:spLocks noChangeArrowheads="1"/>
            </p:cNvSpPr>
            <p:nvPr/>
          </p:nvSpPr>
          <p:spPr bwMode="gray">
            <a:xfrm>
              <a:off x="4679" y="1884"/>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微软雅黑" panose="020B0503020204020204" pitchFamily="34" charset="-122"/>
                <a:cs typeface="+mn-cs"/>
              </a:endParaRPr>
            </a:p>
          </p:txBody>
        </p:sp>
        <p:sp>
          <p:nvSpPr>
            <p:cNvPr id="52" name="Oval 40"/>
            <p:cNvSpPr/>
            <p:nvPr/>
          </p:nvSpPr>
          <p:spPr>
            <a:xfrm>
              <a:off x="4739" y="1934"/>
              <a:ext cx="603" cy="509"/>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sz="2000" dirty="0">
                <a:solidFill>
                  <a:srgbClr val="000000"/>
                </a:solidFill>
                <a:latin typeface="宋体" panose="02010600030101010101" pitchFamily="2" charset="-122"/>
                <a:ea typeface="微软雅黑" panose="020B0503020204020204" pitchFamily="34" charset="-122"/>
              </a:endParaRPr>
            </a:p>
          </p:txBody>
        </p:sp>
        <p:sp>
          <p:nvSpPr>
            <p:cNvPr id="53" name="Text Box 84"/>
            <p:cNvSpPr txBox="1"/>
            <p:nvPr/>
          </p:nvSpPr>
          <p:spPr>
            <a:xfrm>
              <a:off x="4741" y="1968"/>
              <a:ext cx="598" cy="442"/>
            </a:xfrm>
            <a:prstGeom prst="rect">
              <a:avLst/>
            </a:prstGeom>
            <a:noFill/>
            <a:ln w="9525">
              <a:noFill/>
            </a:ln>
          </p:spPr>
          <p:txBody>
            <a:bodyPr anchor="t">
              <a:spAutoFit/>
            </a:bodyPr>
            <a:lstStyle/>
            <a:p>
              <a:pPr algn="ctr">
                <a:spcBef>
                  <a:spcPct val="35000"/>
                </a:spcBef>
              </a:pPr>
              <a:r>
                <a:rPr lang="zh-CN" altLang="en-US" sz="2000" dirty="0">
                  <a:solidFill>
                    <a:srgbClr val="FFFFFF"/>
                  </a:solidFill>
                  <a:latin typeface="宋体" panose="02010600030101010101" pitchFamily="2" charset="-122"/>
                  <a:ea typeface="微软雅黑" panose="020B0503020204020204" pitchFamily="34" charset="-122"/>
                </a:rPr>
                <a:t>索引 文件</a:t>
              </a:r>
              <a:endParaRPr lang="zh-CN" altLang="en-US" sz="2000" dirty="0">
                <a:solidFill>
                  <a:srgbClr val="FFFFFF"/>
                </a:solidFill>
                <a:latin typeface="宋体" panose="02010600030101010101" pitchFamily="2" charset="-122"/>
                <a:ea typeface="微软雅黑" panose="020B0503020204020204" pitchFamily="34" charset="-122"/>
              </a:endParaRPr>
            </a:p>
          </p:txBody>
        </p:sp>
      </p:grpSp>
      <p:grpSp>
        <p:nvGrpSpPr>
          <p:cNvPr id="79" name="Group 97"/>
          <p:cNvGrpSpPr/>
          <p:nvPr/>
        </p:nvGrpSpPr>
        <p:grpSpPr>
          <a:xfrm>
            <a:off x="2257426" y="4791078"/>
            <a:ext cx="1420812" cy="941387"/>
            <a:chOff x="2307" y="2660"/>
            <a:chExt cx="895" cy="593"/>
          </a:xfrm>
        </p:grpSpPr>
        <p:sp>
          <p:nvSpPr>
            <p:cNvPr id="80" name="AutoShape 39"/>
            <p:cNvSpPr/>
            <p:nvPr/>
          </p:nvSpPr>
          <p:spPr>
            <a:xfrm>
              <a:off x="2307" y="2660"/>
              <a:ext cx="895" cy="593"/>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81" name="Oval 40"/>
            <p:cNvSpPr/>
            <p:nvPr/>
          </p:nvSpPr>
          <p:spPr>
            <a:xfrm>
              <a:off x="2381" y="2709"/>
              <a:ext cx="747" cy="495"/>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82" name="Text Box 84"/>
            <p:cNvSpPr/>
            <p:nvPr/>
          </p:nvSpPr>
          <p:spPr>
            <a:xfrm>
              <a:off x="2361" y="2672"/>
              <a:ext cx="785" cy="579"/>
            </a:xfrm>
            <a:prstGeom prst="roundRect">
              <a:avLst>
                <a:gd name="adj" fmla="val 16667"/>
              </a:avLst>
            </a:prstGeom>
            <a:noFill/>
            <a:ln w="9525">
              <a:noFill/>
            </a:ln>
          </p:spPr>
          <p:txBody>
            <a:bodyPr anchor="t">
              <a:spAutoFit/>
            </a:bodyPr>
            <a:lstStyle/>
            <a:p>
              <a:pPr algn="ctr">
                <a:spcBef>
                  <a:spcPct val="35000"/>
                </a:spcBef>
              </a:pPr>
              <a:r>
                <a:rPr lang="zh-CN" altLang="en-US" sz="1600" dirty="0">
                  <a:solidFill>
                    <a:srgbClr val="FFFFFF"/>
                  </a:solidFill>
                  <a:latin typeface="Arial" panose="020B0604020202020204" pitchFamily="34" charset="0"/>
                  <a:ea typeface="微软雅黑" panose="020B0503020204020204" pitchFamily="34" charset="-122"/>
                </a:rPr>
                <a:t>定长记录 </a:t>
              </a:r>
              <a:r>
                <a:rPr lang="en-US" altLang="zh-CN" sz="1600" dirty="0">
                  <a:solidFill>
                    <a:srgbClr val="FFFFFF"/>
                  </a:solidFill>
                  <a:latin typeface="Arial" panose="020B0604020202020204" pitchFamily="34" charset="0"/>
                  <a:ea typeface="微软雅黑" panose="020B0503020204020204" pitchFamily="34" charset="-122"/>
                </a:rPr>
                <a:t>vs. </a:t>
              </a:r>
              <a:r>
                <a:rPr lang="zh-CN" altLang="en-US" sz="1600" dirty="0">
                  <a:solidFill>
                    <a:srgbClr val="FFFFFF"/>
                  </a:solidFill>
                  <a:latin typeface="Arial" panose="020B0604020202020204" pitchFamily="34" charset="0"/>
                  <a:ea typeface="微软雅黑" panose="020B0503020204020204" pitchFamily="34" charset="-122"/>
                </a:rPr>
                <a:t>不定长记录</a:t>
              </a:r>
              <a:endParaRPr lang="zh-CN" altLang="en-US" sz="1600" dirty="0">
                <a:solidFill>
                  <a:srgbClr val="FFFFFF"/>
                </a:solidFill>
                <a:latin typeface="Arial" panose="020B0604020202020204" pitchFamily="34" charset="0"/>
                <a:ea typeface="微软雅黑" panose="020B0503020204020204" pitchFamily="34" charset="-122"/>
              </a:endParaRPr>
            </a:p>
          </p:txBody>
        </p:sp>
      </p:grpSp>
      <p:grpSp>
        <p:nvGrpSpPr>
          <p:cNvPr id="83" name="Group 98"/>
          <p:cNvGrpSpPr/>
          <p:nvPr/>
        </p:nvGrpSpPr>
        <p:grpSpPr>
          <a:xfrm>
            <a:off x="2303058" y="3727956"/>
            <a:ext cx="1420812" cy="941387"/>
            <a:chOff x="2307" y="2660"/>
            <a:chExt cx="895" cy="593"/>
          </a:xfrm>
        </p:grpSpPr>
        <p:sp>
          <p:nvSpPr>
            <p:cNvPr id="84" name="AutoShape 39"/>
            <p:cNvSpPr/>
            <p:nvPr/>
          </p:nvSpPr>
          <p:spPr>
            <a:xfrm>
              <a:off x="2307" y="2660"/>
              <a:ext cx="895" cy="593"/>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85" name="Oval 40"/>
            <p:cNvSpPr/>
            <p:nvPr/>
          </p:nvSpPr>
          <p:spPr>
            <a:xfrm>
              <a:off x="2381" y="2709"/>
              <a:ext cx="747" cy="495"/>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86" name="Text Box 84"/>
            <p:cNvSpPr/>
            <p:nvPr/>
          </p:nvSpPr>
          <p:spPr>
            <a:xfrm>
              <a:off x="2361" y="2672"/>
              <a:ext cx="785" cy="579"/>
            </a:xfrm>
            <a:prstGeom prst="roundRect">
              <a:avLst>
                <a:gd name="adj" fmla="val 16667"/>
              </a:avLst>
            </a:prstGeom>
            <a:noFill/>
            <a:ln w="9525">
              <a:noFill/>
            </a:ln>
          </p:spPr>
          <p:txBody>
            <a:bodyPr anchor="t">
              <a:spAutoFit/>
            </a:bodyPr>
            <a:lstStyle/>
            <a:p>
              <a:pPr algn="ctr">
                <a:spcBef>
                  <a:spcPct val="35000"/>
                </a:spcBef>
              </a:pPr>
              <a:r>
                <a:rPr lang="zh-CN" altLang="en-US" sz="1600" dirty="0">
                  <a:solidFill>
                    <a:srgbClr val="FFFFFF"/>
                  </a:solidFill>
                  <a:latin typeface="Arial" panose="020B0604020202020204" pitchFamily="34" charset="0"/>
                  <a:ea typeface="微软雅黑" panose="020B0503020204020204" pitchFamily="34" charset="-122"/>
                </a:rPr>
                <a:t>记录跨块 </a:t>
              </a:r>
              <a:r>
                <a:rPr lang="en-US" altLang="zh-CN" sz="1600" dirty="0">
                  <a:solidFill>
                    <a:srgbClr val="FFFFFF"/>
                  </a:solidFill>
                  <a:latin typeface="Arial" panose="020B0604020202020204" pitchFamily="34" charset="0"/>
                  <a:ea typeface="微软雅黑" panose="020B0503020204020204" pitchFamily="34" charset="-122"/>
                </a:rPr>
                <a:t>vs. </a:t>
              </a:r>
              <a:r>
                <a:rPr lang="zh-CN" altLang="en-US" sz="1600" dirty="0">
                  <a:solidFill>
                    <a:srgbClr val="FFFFFF"/>
                  </a:solidFill>
                  <a:latin typeface="Arial" panose="020B0604020202020204" pitchFamily="34" charset="0"/>
                  <a:ea typeface="微软雅黑" panose="020B0503020204020204" pitchFamily="34" charset="-122"/>
                </a:rPr>
                <a:t>记录不跨块</a:t>
              </a:r>
              <a:endParaRPr lang="zh-CN" altLang="en-US" sz="1600" dirty="0">
                <a:solidFill>
                  <a:srgbClr val="FFFFFF"/>
                </a:solidFill>
                <a:latin typeface="Arial" panose="020B0604020202020204" pitchFamily="34" charset="0"/>
                <a:ea typeface="微软雅黑" panose="020B0503020204020204" pitchFamily="34" charset="-122"/>
              </a:endParaRPr>
            </a:p>
          </p:txBody>
        </p:sp>
      </p:grpSp>
      <p:grpSp>
        <p:nvGrpSpPr>
          <p:cNvPr id="87" name="Group 106"/>
          <p:cNvGrpSpPr/>
          <p:nvPr/>
        </p:nvGrpSpPr>
        <p:grpSpPr>
          <a:xfrm>
            <a:off x="2068901" y="2662322"/>
            <a:ext cx="1885950" cy="949324"/>
            <a:chOff x="909" y="3422"/>
            <a:chExt cx="1282" cy="598"/>
          </a:xfrm>
        </p:grpSpPr>
        <p:sp>
          <p:nvSpPr>
            <p:cNvPr id="88" name="AutoShape 39"/>
            <p:cNvSpPr/>
            <p:nvPr/>
          </p:nvSpPr>
          <p:spPr>
            <a:xfrm>
              <a:off x="909" y="3422"/>
              <a:ext cx="1282" cy="593"/>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89" name="Oval 40"/>
            <p:cNvSpPr/>
            <p:nvPr/>
          </p:nvSpPr>
          <p:spPr>
            <a:xfrm>
              <a:off x="975" y="3471"/>
              <a:ext cx="1155" cy="495"/>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90" name="Text Box 84"/>
            <p:cNvSpPr/>
            <p:nvPr/>
          </p:nvSpPr>
          <p:spPr>
            <a:xfrm>
              <a:off x="946" y="3441"/>
              <a:ext cx="1208" cy="579"/>
            </a:xfrm>
            <a:prstGeom prst="roundRect">
              <a:avLst>
                <a:gd name="adj" fmla="val 16667"/>
              </a:avLst>
            </a:prstGeom>
            <a:noFill/>
            <a:ln w="9525">
              <a:noFill/>
            </a:ln>
          </p:spPr>
          <p:txBody>
            <a:bodyPr anchor="t">
              <a:spAutoFit/>
            </a:bodyPr>
            <a:lstStyle/>
            <a:p>
              <a:pPr algn="ctr">
                <a:spcBef>
                  <a:spcPct val="35000"/>
                </a:spcBef>
              </a:pPr>
              <a:r>
                <a:rPr lang="zh-CN" altLang="en-US" sz="1600" dirty="0">
                  <a:solidFill>
                    <a:srgbClr val="FFFFFF"/>
                  </a:solidFill>
                  <a:latin typeface="Arial" panose="020B0604020202020204" pitchFamily="34" charset="0"/>
                  <a:ea typeface="微软雅黑" panose="020B0503020204020204" pitchFamily="34" charset="-122"/>
                </a:rPr>
                <a:t>磁盘块的分配：  顺序、 链接、 索引、按簇</a:t>
              </a:r>
              <a:endParaRPr lang="zh-CN" altLang="en-US" sz="1600" dirty="0">
                <a:solidFill>
                  <a:srgbClr val="FFFFFF"/>
                </a:solidFill>
                <a:latin typeface="Arial" panose="020B0604020202020204" pitchFamily="34" charset="0"/>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additive="base">
                                        <p:cTn id="17" dur="500" fill="hold"/>
                                        <p:tgtEl>
                                          <p:spTgt spid="29"/>
                                        </p:tgtEl>
                                        <p:attrNameLst>
                                          <p:attrName>ppt_x</p:attrName>
                                        </p:attrNameLst>
                                      </p:cBhvr>
                                      <p:tavLst>
                                        <p:tav tm="0">
                                          <p:val>
                                            <p:strVal val="#ppt_x"/>
                                          </p:val>
                                        </p:tav>
                                        <p:tav tm="100000">
                                          <p:val>
                                            <p:strVal val="#ppt_x"/>
                                          </p:val>
                                        </p:tav>
                                      </p:tavLst>
                                    </p:anim>
                                    <p:anim calcmode="lin" valueType="num">
                                      <p:cBhvr additive="base">
                                        <p:cTn id="18" dur="500" fill="hold"/>
                                        <p:tgtEl>
                                          <p:spTgt spid="29"/>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additive="base">
                                        <p:cTn id="21" dur="500" fill="hold"/>
                                        <p:tgtEl>
                                          <p:spTgt spid="33"/>
                                        </p:tgtEl>
                                        <p:attrNameLst>
                                          <p:attrName>ppt_x</p:attrName>
                                        </p:attrNameLst>
                                      </p:cBhvr>
                                      <p:tavLst>
                                        <p:tav tm="0">
                                          <p:val>
                                            <p:strVal val="#ppt_x"/>
                                          </p:val>
                                        </p:tav>
                                        <p:tav tm="100000">
                                          <p:val>
                                            <p:strVal val="#ppt_x"/>
                                          </p:val>
                                        </p:tav>
                                      </p:tavLst>
                                    </p:anim>
                                    <p:anim calcmode="lin" valueType="num">
                                      <p:cBhvr additive="base">
                                        <p:cTn id="2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cBhvr additive="base">
                                        <p:cTn id="27" dur="500" fill="hold"/>
                                        <p:tgtEl>
                                          <p:spTgt spid="38"/>
                                        </p:tgtEl>
                                        <p:attrNameLst>
                                          <p:attrName>ppt_x</p:attrName>
                                        </p:attrNameLst>
                                      </p:cBhvr>
                                      <p:tavLst>
                                        <p:tav tm="0">
                                          <p:val>
                                            <p:strVal val="#ppt_x"/>
                                          </p:val>
                                        </p:tav>
                                        <p:tav tm="100000">
                                          <p:val>
                                            <p:strVal val="#ppt_x"/>
                                          </p:val>
                                        </p:tav>
                                      </p:tavLst>
                                    </p:anim>
                                    <p:anim calcmode="lin" valueType="num">
                                      <p:cBhvr additive="base">
                                        <p:cTn id="2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anim calcmode="lin" valueType="num">
                                      <p:cBhvr additive="base">
                                        <p:cTn id="33" dur="500" fill="hold"/>
                                        <p:tgtEl>
                                          <p:spTgt spid="46"/>
                                        </p:tgtEl>
                                        <p:attrNameLst>
                                          <p:attrName>ppt_x</p:attrName>
                                        </p:attrNameLst>
                                      </p:cBhvr>
                                      <p:tavLst>
                                        <p:tav tm="0">
                                          <p:val>
                                            <p:strVal val="#ppt_x"/>
                                          </p:val>
                                        </p:tav>
                                        <p:tav tm="100000">
                                          <p:val>
                                            <p:strVal val="#ppt_x"/>
                                          </p:val>
                                        </p:tav>
                                      </p:tavLst>
                                    </p:anim>
                                    <p:anim calcmode="lin" valueType="num">
                                      <p:cBhvr additive="base">
                                        <p:cTn id="34" dur="500" fill="hold"/>
                                        <p:tgtEl>
                                          <p:spTgt spid="46"/>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0"/>
                                        </p:tgtEl>
                                        <p:attrNameLst>
                                          <p:attrName>style.visibility</p:attrName>
                                        </p:attrNameLst>
                                      </p:cBhvr>
                                      <p:to>
                                        <p:strVal val="visible"/>
                                      </p:to>
                                    </p:set>
                                    <p:anim calcmode="lin" valueType="num">
                                      <p:cBhvr additive="base">
                                        <p:cTn id="37" dur="500" fill="hold"/>
                                        <p:tgtEl>
                                          <p:spTgt spid="50"/>
                                        </p:tgtEl>
                                        <p:attrNameLst>
                                          <p:attrName>ppt_x</p:attrName>
                                        </p:attrNameLst>
                                      </p:cBhvr>
                                      <p:tavLst>
                                        <p:tav tm="0">
                                          <p:val>
                                            <p:strVal val="#ppt_x"/>
                                          </p:val>
                                        </p:tav>
                                        <p:tav tm="100000">
                                          <p:val>
                                            <p:strVal val="#ppt_x"/>
                                          </p:val>
                                        </p:tav>
                                      </p:tavLst>
                                    </p:anim>
                                    <p:anim calcmode="lin" valueType="num">
                                      <p:cBhvr additive="base">
                                        <p:cTn id="38"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additive="base">
                                        <p:cTn id="49" dur="500" fill="hold"/>
                                        <p:tgtEl>
                                          <p:spTgt spid="21"/>
                                        </p:tgtEl>
                                        <p:attrNameLst>
                                          <p:attrName>ppt_x</p:attrName>
                                        </p:attrNameLst>
                                      </p:cBhvr>
                                      <p:tavLst>
                                        <p:tav tm="0">
                                          <p:val>
                                            <p:strVal val="#ppt_x"/>
                                          </p:val>
                                        </p:tav>
                                        <p:tav tm="100000">
                                          <p:val>
                                            <p:strVal val="#ppt_x"/>
                                          </p:val>
                                        </p:tav>
                                      </p:tavLst>
                                    </p:anim>
                                    <p:anim calcmode="lin" valueType="num">
                                      <p:cBhvr additive="base">
                                        <p:cTn id="5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anim calcmode="lin" valueType="num">
                                      <p:cBhvr additive="base">
                                        <p:cTn id="55" dur="500" fill="hold"/>
                                        <p:tgtEl>
                                          <p:spTgt spid="25"/>
                                        </p:tgtEl>
                                        <p:attrNameLst>
                                          <p:attrName>ppt_x</p:attrName>
                                        </p:attrNameLst>
                                      </p:cBhvr>
                                      <p:tavLst>
                                        <p:tav tm="0">
                                          <p:val>
                                            <p:strVal val="#ppt_x"/>
                                          </p:val>
                                        </p:tav>
                                        <p:tav tm="100000">
                                          <p:val>
                                            <p:strVal val="#ppt_x"/>
                                          </p:val>
                                        </p:tav>
                                      </p:tavLst>
                                    </p:anim>
                                    <p:anim calcmode="lin" valueType="num">
                                      <p:cBhvr additive="base">
                                        <p:cTn id="5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2"/>
                                        </p:tgtEl>
                                        <p:attrNameLst>
                                          <p:attrName>style.visibility</p:attrName>
                                        </p:attrNameLst>
                                      </p:cBhvr>
                                      <p:to>
                                        <p:strVal val="visible"/>
                                      </p:to>
                                    </p:set>
                                    <p:anim calcmode="lin" valueType="num">
                                      <p:cBhvr additive="base">
                                        <p:cTn id="61" dur="500" fill="hold"/>
                                        <p:tgtEl>
                                          <p:spTgt spid="42"/>
                                        </p:tgtEl>
                                        <p:attrNameLst>
                                          <p:attrName>ppt_x</p:attrName>
                                        </p:attrNameLst>
                                      </p:cBhvr>
                                      <p:tavLst>
                                        <p:tav tm="0">
                                          <p:val>
                                            <p:strVal val="#ppt_x"/>
                                          </p:val>
                                        </p:tav>
                                        <p:tav tm="100000">
                                          <p:val>
                                            <p:strVal val="#ppt_x"/>
                                          </p:val>
                                        </p:tav>
                                      </p:tavLst>
                                    </p:anim>
                                    <p:anim calcmode="lin" valueType="num">
                                      <p:cBhvr additive="base">
                                        <p:cTn id="62"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additive="base">
                                        <p:cTn id="67" dur="500" fill="hold"/>
                                        <p:tgtEl>
                                          <p:spTgt spid="13"/>
                                        </p:tgtEl>
                                        <p:attrNameLst>
                                          <p:attrName>ppt_x</p:attrName>
                                        </p:attrNameLst>
                                      </p:cBhvr>
                                      <p:tavLst>
                                        <p:tav tm="0">
                                          <p:val>
                                            <p:strVal val="#ppt_x"/>
                                          </p:val>
                                        </p:tav>
                                        <p:tav tm="100000">
                                          <p:val>
                                            <p:strVal val="#ppt_x"/>
                                          </p:val>
                                        </p:tav>
                                      </p:tavLst>
                                    </p:anim>
                                    <p:anim calcmode="lin" valueType="num">
                                      <p:cBhvr additive="base">
                                        <p:cTn id="6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79"/>
                                        </p:tgtEl>
                                        <p:attrNameLst>
                                          <p:attrName>style.visibility</p:attrName>
                                        </p:attrNameLst>
                                      </p:cBhvr>
                                      <p:to>
                                        <p:strVal val="visible"/>
                                      </p:to>
                                    </p:set>
                                    <p:anim calcmode="lin" valueType="num">
                                      <p:cBhvr additive="base">
                                        <p:cTn id="73" dur="500" fill="hold"/>
                                        <p:tgtEl>
                                          <p:spTgt spid="79"/>
                                        </p:tgtEl>
                                        <p:attrNameLst>
                                          <p:attrName>ppt_x</p:attrName>
                                        </p:attrNameLst>
                                      </p:cBhvr>
                                      <p:tavLst>
                                        <p:tav tm="0">
                                          <p:val>
                                            <p:strVal val="#ppt_x"/>
                                          </p:val>
                                        </p:tav>
                                        <p:tav tm="100000">
                                          <p:val>
                                            <p:strVal val="#ppt_x"/>
                                          </p:val>
                                        </p:tav>
                                      </p:tavLst>
                                    </p:anim>
                                    <p:anim calcmode="lin" valueType="num">
                                      <p:cBhvr additive="base">
                                        <p:cTn id="74"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83"/>
                                        </p:tgtEl>
                                        <p:attrNameLst>
                                          <p:attrName>style.visibility</p:attrName>
                                        </p:attrNameLst>
                                      </p:cBhvr>
                                      <p:to>
                                        <p:strVal val="visible"/>
                                      </p:to>
                                    </p:set>
                                    <p:anim calcmode="lin" valueType="num">
                                      <p:cBhvr additive="base">
                                        <p:cTn id="79" dur="500" fill="hold"/>
                                        <p:tgtEl>
                                          <p:spTgt spid="83"/>
                                        </p:tgtEl>
                                        <p:attrNameLst>
                                          <p:attrName>ppt_x</p:attrName>
                                        </p:attrNameLst>
                                      </p:cBhvr>
                                      <p:tavLst>
                                        <p:tav tm="0">
                                          <p:val>
                                            <p:strVal val="#ppt_x"/>
                                          </p:val>
                                        </p:tav>
                                        <p:tav tm="100000">
                                          <p:val>
                                            <p:strVal val="#ppt_x"/>
                                          </p:val>
                                        </p:tav>
                                      </p:tavLst>
                                    </p:anim>
                                    <p:anim calcmode="lin" valueType="num">
                                      <p:cBhvr additive="base">
                                        <p:cTn id="80"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87"/>
                                        </p:tgtEl>
                                        <p:attrNameLst>
                                          <p:attrName>style.visibility</p:attrName>
                                        </p:attrNameLst>
                                      </p:cBhvr>
                                      <p:to>
                                        <p:strVal val="visible"/>
                                      </p:to>
                                    </p:set>
                                    <p:anim calcmode="lin" valueType="num">
                                      <p:cBhvr additive="base">
                                        <p:cTn id="85" dur="500" fill="hold"/>
                                        <p:tgtEl>
                                          <p:spTgt spid="87"/>
                                        </p:tgtEl>
                                        <p:attrNameLst>
                                          <p:attrName>ppt_x</p:attrName>
                                        </p:attrNameLst>
                                      </p:cBhvr>
                                      <p:tavLst>
                                        <p:tav tm="0">
                                          <p:val>
                                            <p:strVal val="#ppt_x"/>
                                          </p:val>
                                        </p:tav>
                                        <p:tav tm="100000">
                                          <p:val>
                                            <p:strVal val="#ppt_x"/>
                                          </p:val>
                                        </p:tav>
                                      </p:tavLst>
                                    </p:anim>
                                    <p:anim calcmode="lin" valueType="num">
                                      <p:cBhvr additive="base">
                                        <p:cTn id="86" dur="500" fill="hold"/>
                                        <p:tgtEl>
                                          <p:spTgt spid="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algn="just">
              <a:lnSpc>
                <a:spcPct val="130000"/>
              </a:lnSpc>
            </a:pPr>
            <a:r>
              <a:rPr lang="zh-CN" altLang="en-US" dirty="0">
                <a:latin typeface="微软雅黑" panose="020B0503020204020204" pitchFamily="34" charset="-122"/>
                <a:ea typeface="微软雅黑" panose="020B0503020204020204" pitchFamily="34" charset="-122"/>
              </a:rPr>
              <a:t>基本内容</a:t>
            </a:r>
            <a:endParaRPr lang="zh-CN" altLang="en-US" dirty="0">
              <a:latin typeface="微软雅黑" panose="020B0503020204020204" pitchFamily="34" charset="-122"/>
              <a:ea typeface="微软雅黑" panose="020B0503020204020204" pitchFamily="34" charset="-122"/>
            </a:endParaRPr>
          </a:p>
          <a:p>
            <a:pPr marL="0" indent="0">
              <a:lnSpc>
                <a:spcPct val="180000"/>
              </a:lnSpc>
              <a:buNone/>
            </a:pPr>
            <a:r>
              <a:rPr kumimoji="1" lang="en-US" altLang="zh-CN" sz="2600" b="0" dirty="0"/>
              <a:t>1. </a:t>
            </a:r>
            <a:r>
              <a:rPr kumimoji="1" lang="zh-CN" altLang="en-US" sz="2600" b="0" dirty="0"/>
              <a:t>为什么需要索引与什么是索引</a:t>
            </a:r>
            <a:endParaRPr kumimoji="1" lang="en-US" altLang="zh-CN" sz="2600" b="0" dirty="0"/>
          </a:p>
          <a:p>
            <a:pPr marL="0" indent="0">
              <a:lnSpc>
                <a:spcPct val="180000"/>
              </a:lnSpc>
              <a:buNone/>
            </a:pPr>
            <a:r>
              <a:rPr kumimoji="1" lang="en-US" altLang="zh-CN" sz="2600" b="0" dirty="0"/>
              <a:t>2. </a:t>
            </a:r>
            <a:r>
              <a:rPr kumimoji="1" lang="zh-CN" altLang="zh-CN" sz="2600" b="0" dirty="0"/>
              <a:t>SQL语言中的索引创建与维护</a:t>
            </a:r>
            <a:endParaRPr kumimoji="1" lang="en-US" altLang="zh-CN" sz="2600" b="0" dirty="0"/>
          </a:p>
          <a:p>
            <a:pPr marL="0" indent="0">
              <a:lnSpc>
                <a:spcPct val="180000"/>
              </a:lnSpc>
              <a:buNone/>
            </a:pPr>
            <a:r>
              <a:rPr kumimoji="1" lang="en-US" altLang="zh-CN" sz="2600" b="0" dirty="0"/>
              <a:t>2. </a:t>
            </a:r>
            <a:r>
              <a:rPr kumimoji="1" lang="zh-CN" altLang="en-US" sz="2600" b="0" dirty="0"/>
              <a:t>索引的简单分类</a:t>
            </a:r>
            <a:endParaRPr kumimoji="1" lang="zh-CN" altLang="en-US" sz="2600" b="0" dirty="0"/>
          </a:p>
          <a:p>
            <a:pPr marL="0" indent="0">
              <a:lnSpc>
                <a:spcPct val="180000"/>
              </a:lnSpc>
              <a:buNone/>
            </a:pPr>
            <a:r>
              <a:rPr kumimoji="1" lang="en-US" altLang="zh-CN" sz="2600" b="0" dirty="0"/>
              <a:t>3. B+</a:t>
            </a:r>
            <a:r>
              <a:rPr kumimoji="1" lang="zh-CN" altLang="en-US" sz="2600" b="0" dirty="0"/>
              <a:t>树索引 </a:t>
            </a:r>
            <a:endParaRPr kumimoji="1" lang="zh-CN" altLang="en-US" sz="2600" b="0" dirty="0"/>
          </a:p>
          <a:p>
            <a:pPr marL="0" indent="0">
              <a:lnSpc>
                <a:spcPct val="180000"/>
              </a:lnSpc>
              <a:buNone/>
            </a:pPr>
            <a:r>
              <a:rPr kumimoji="1" lang="en-US" altLang="zh-CN" sz="2600" b="0" dirty="0"/>
              <a:t>4. </a:t>
            </a:r>
            <a:r>
              <a:rPr kumimoji="1" lang="zh-CN" altLang="en-US" sz="2600" b="0" dirty="0"/>
              <a:t>散列索引</a:t>
            </a:r>
            <a:endParaRPr kumimoji="1" lang="zh-CN" altLang="en-US" sz="2600" b="0" dirty="0"/>
          </a:p>
          <a:p>
            <a:pPr>
              <a:lnSpc>
                <a:spcPct val="130000"/>
              </a:lnSpc>
            </a:pPr>
            <a:endParaRPr lang="zh-CN" altLang="en-US" sz="2800" dirty="0">
              <a:latin typeface="微软雅黑" panose="020B0503020204020204" pitchFamily="34" charset="-122"/>
              <a:ea typeface="微软雅黑" panose="020B0503020204020204" pitchFamily="34" charset="-122"/>
            </a:endParaRPr>
          </a:p>
          <a:p>
            <a:endParaRPr lang="zh-CN" altLang="en-US" dirty="0"/>
          </a:p>
        </p:txBody>
      </p:sp>
      <p:sp>
        <p:nvSpPr>
          <p:cNvPr id="5" name="标题 4"/>
          <p:cNvSpPr>
            <a:spLocks noGrp="1"/>
          </p:cNvSpPr>
          <p:nvPr>
            <p:ph type="title"/>
          </p:nvPr>
        </p:nvSpPr>
        <p:spPr>
          <a:xfrm>
            <a:off x="487172" y="179243"/>
            <a:ext cx="10697497" cy="590931"/>
          </a:xfrm>
        </p:spPr>
        <p:txBody>
          <a:bodyPr/>
          <a:lstStyle/>
          <a:p>
            <a:r>
              <a:rPr lang="en-US" altLang="zh-CN" dirty="0"/>
              <a:t>6.2 </a:t>
            </a:r>
            <a:r>
              <a:rPr lang="zh-CN" altLang="zh-CN" dirty="0"/>
              <a:t>数据库</a:t>
            </a:r>
            <a:r>
              <a:rPr lang="zh-CN" altLang="en-US" dirty="0"/>
              <a:t>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为什么需要索引与什么是索引 </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33" name="内容占位符 34"/>
          <p:cNvSpPr>
            <a:spLocks noGrp="1"/>
          </p:cNvSpPr>
          <p:nvPr>
            <p:ph idx="1"/>
          </p:nvPr>
        </p:nvSpPr>
        <p:spPr>
          <a:xfrm>
            <a:off x="396875" y="1219200"/>
            <a:ext cx="11453813" cy="4957763"/>
          </a:xfrm>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索引的概念</a:t>
            </a:r>
            <a:endParaRPr lang="en-US" altLang="zh-CN"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Ø"/>
            </a:pPr>
            <a:r>
              <a:rPr lang="zh-CN" altLang="en-US" sz="2000" dirty="0">
                <a:solidFill>
                  <a:srgbClr val="FF0000"/>
                </a:solidFill>
              </a:rPr>
              <a:t>书籍、词典</a:t>
            </a:r>
            <a:r>
              <a:rPr lang="en-US" altLang="zh-CN" sz="2000" dirty="0">
                <a:solidFill>
                  <a:srgbClr val="FF0000"/>
                </a:solidFill>
              </a:rPr>
              <a:t>/</a:t>
            </a:r>
            <a:r>
              <a:rPr lang="zh-CN" altLang="en-US" sz="2000" dirty="0">
                <a:solidFill>
                  <a:srgbClr val="FF0000"/>
                </a:solidFill>
              </a:rPr>
              <a:t>字典中的词汇表</a:t>
            </a:r>
            <a:r>
              <a:rPr lang="en-US" altLang="zh-CN" sz="2000" dirty="0">
                <a:solidFill>
                  <a:srgbClr val="FF0000"/>
                </a:solidFill>
              </a:rPr>
              <a:t>(</a:t>
            </a:r>
            <a:r>
              <a:rPr lang="zh-CN" altLang="en-US" sz="2000" dirty="0">
                <a:solidFill>
                  <a:srgbClr val="FF0000"/>
                </a:solidFill>
              </a:rPr>
              <a:t>索引表</a:t>
            </a:r>
            <a:r>
              <a:rPr lang="en-US" altLang="zh-CN" sz="2000" dirty="0">
                <a:solidFill>
                  <a:srgbClr val="FF0000"/>
                </a:solidFill>
              </a:rPr>
              <a:t>)</a:t>
            </a:r>
            <a:endParaRPr lang="en-US" altLang="zh-CN" sz="2000" dirty="0">
              <a:solidFill>
                <a:srgbClr val="FF0000"/>
              </a:solidFill>
            </a:endParaRPr>
          </a:p>
          <a:p>
            <a:pPr marL="228600" lvl="1">
              <a:lnSpc>
                <a:spcPct val="110000"/>
              </a:lnSpc>
              <a:spcBef>
                <a:spcPts val="1000"/>
              </a:spcBef>
              <a:buFont typeface="Wingdings" panose="05000000000000000000" pitchFamily="2" charset="2"/>
              <a:buChar char="l"/>
            </a:pPr>
            <a:r>
              <a:rPr lang="zh-CN" altLang="en-US" sz="1800" dirty="0"/>
              <a:t>词汇表等包含两部分：词条，词条在文件中的页码</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t>词汇表等通常按词条进行某种方式的排序 </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t>目的是通过对“有序的小数据量的词汇表”的快速查找，发现词条在“大数据量书籍中”出现的位置。</a:t>
            </a:r>
            <a:endParaRPr lang="zh-CN" altLang="en-US" sz="1800" dirty="0"/>
          </a:p>
          <a:p>
            <a:pPr marL="228600" lvl="1">
              <a:lnSpc>
                <a:spcPct val="110000"/>
              </a:lnSpc>
              <a:spcBef>
                <a:spcPts val="1000"/>
              </a:spcBef>
              <a:buFont typeface="Wingdings" panose="05000000000000000000" pitchFamily="2" charset="2"/>
              <a:buChar char="l"/>
            </a:pPr>
            <a:endParaRPr lang="en-US" altLang="zh-CN" sz="1800" b="1" dirty="0"/>
          </a:p>
          <a:p>
            <a:pPr marL="228600" lvl="1">
              <a:lnSpc>
                <a:spcPct val="110000"/>
              </a:lnSpc>
              <a:spcBef>
                <a:spcPts val="1000"/>
              </a:spcBef>
              <a:buFont typeface="Wingdings" panose="05000000000000000000" pitchFamily="2" charset="2"/>
              <a:buChar char="l"/>
            </a:pPr>
            <a:endParaRPr lang="zh-CN" altLang="en-US" sz="1800" b="1" dirty="0"/>
          </a:p>
          <a:p>
            <a:pPr marL="228600" lvl="1">
              <a:lnSpc>
                <a:spcPct val="110000"/>
              </a:lnSpc>
              <a:spcBef>
                <a:spcPts val="1000"/>
              </a:spcBef>
              <a:buFont typeface="Wingdings" panose="05000000000000000000" pitchFamily="2" charset="2"/>
              <a:buChar char="l"/>
            </a:pPr>
            <a:endParaRPr lang="en-US" altLang="zh-CN" sz="1800" b="1" dirty="0"/>
          </a:p>
          <a:p>
            <a:pPr marL="0" lvl="1" indent="0">
              <a:lnSpc>
                <a:spcPct val="110000"/>
              </a:lnSpc>
              <a:spcBef>
                <a:spcPts val="1000"/>
              </a:spcBef>
              <a:buNone/>
            </a:pPr>
            <a:endParaRPr lang="zh-CN" altLang="en-US" sz="1800" b="1" dirty="0"/>
          </a:p>
          <a:p>
            <a:pPr marL="228600" lvl="1">
              <a:lnSpc>
                <a:spcPct val="100000"/>
              </a:lnSpc>
              <a:spcBef>
                <a:spcPts val="1000"/>
              </a:spcBef>
              <a:buFont typeface="Wingdings" panose="05000000000000000000" pitchFamily="2" charset="2"/>
              <a:buChar char="l"/>
            </a:pPr>
            <a:endParaRPr lang="zh-CN" altLang="en-US" sz="1800" b="1" dirty="0"/>
          </a:p>
        </p:txBody>
      </p:sp>
      <p:pic>
        <p:nvPicPr>
          <p:cNvPr id="34" name="Picture 6"/>
          <p:cNvPicPr>
            <a:picLocks noChangeAspect="1"/>
          </p:cNvPicPr>
          <p:nvPr/>
        </p:nvPicPr>
        <p:blipFill>
          <a:blip r:embed="rId1"/>
          <a:stretch>
            <a:fillRect/>
          </a:stretch>
        </p:blipFill>
        <p:spPr>
          <a:xfrm>
            <a:off x="2972863" y="3549169"/>
            <a:ext cx="5852351" cy="2934181"/>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为什么需要索引与什么是索引 </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33" name="内容占位符 34"/>
          <p:cNvSpPr>
            <a:spLocks noGrp="1"/>
          </p:cNvSpPr>
          <p:nvPr>
            <p:ph idx="1"/>
          </p:nvPr>
        </p:nvSpPr>
        <p:spPr>
          <a:xfrm>
            <a:off x="396875" y="1219200"/>
            <a:ext cx="11453813" cy="4957763"/>
          </a:xfrm>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索引的概念</a:t>
            </a:r>
            <a:endParaRPr lang="en-US" altLang="zh-CN"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Ø"/>
            </a:pPr>
            <a:r>
              <a:rPr lang="zh-CN" altLang="en-US" sz="2000" dirty="0">
                <a:solidFill>
                  <a:srgbClr val="FF0000"/>
                </a:solidFill>
              </a:rPr>
              <a:t>索引</a:t>
            </a:r>
            <a:r>
              <a:rPr lang="zh-CN" altLang="en-US" sz="2000" dirty="0"/>
              <a:t>是定义在存储表</a:t>
            </a:r>
            <a:r>
              <a:rPr lang="en-US" altLang="zh-CN" sz="2000" dirty="0"/>
              <a:t>(Table)</a:t>
            </a:r>
            <a:r>
              <a:rPr lang="zh-CN" altLang="en-US" sz="2000" dirty="0"/>
              <a:t>基础之上，有助于无需检查所有记录而快速定位所需记录的一种</a:t>
            </a:r>
            <a:r>
              <a:rPr lang="zh-CN" altLang="en-US" sz="2000" dirty="0">
                <a:solidFill>
                  <a:srgbClr val="FF0000"/>
                </a:solidFill>
              </a:rPr>
              <a:t>辅助存储结构</a:t>
            </a:r>
            <a:r>
              <a:rPr lang="zh-CN" altLang="en-US" sz="2000" dirty="0"/>
              <a:t>，由一系列存储在磁盘上的</a:t>
            </a:r>
            <a:r>
              <a:rPr lang="zh-CN" altLang="en-US" sz="2000" dirty="0">
                <a:solidFill>
                  <a:srgbClr val="FF0000"/>
                </a:solidFill>
              </a:rPr>
              <a:t>索引项</a:t>
            </a:r>
            <a:r>
              <a:rPr lang="en-US" altLang="zh-CN" sz="2000" dirty="0"/>
              <a:t>(index entries)</a:t>
            </a:r>
            <a:r>
              <a:rPr lang="zh-CN" altLang="en-US" sz="2000" dirty="0"/>
              <a:t>组成，每一索引项又由两部分构成</a:t>
            </a:r>
            <a:r>
              <a:rPr lang="en-US" altLang="zh-CN" sz="2000" dirty="0"/>
              <a:t>: </a:t>
            </a:r>
            <a:endParaRPr lang="en-US" altLang="zh-CN" sz="2000" dirty="0">
              <a:solidFill>
                <a:srgbClr val="FF0000"/>
              </a:solidFill>
            </a:endParaRPr>
          </a:p>
          <a:p>
            <a:pPr marL="228600" lvl="1">
              <a:lnSpc>
                <a:spcPct val="100000"/>
              </a:lnSpc>
              <a:spcBef>
                <a:spcPts val="1000"/>
              </a:spcBef>
              <a:buFont typeface="Wingdings" panose="05000000000000000000" pitchFamily="2" charset="2"/>
              <a:buChar char="l"/>
            </a:pPr>
            <a:r>
              <a:rPr lang="zh-CN" altLang="en-US" sz="1800" dirty="0"/>
              <a:t>索引字段：由</a:t>
            </a:r>
            <a:r>
              <a:rPr lang="en-US" altLang="zh-CN" sz="1800" dirty="0"/>
              <a:t>Table</a:t>
            </a:r>
            <a:r>
              <a:rPr lang="zh-CN" altLang="en-US" sz="1800" dirty="0"/>
              <a:t>中某些列</a:t>
            </a:r>
            <a:r>
              <a:rPr lang="en-US" altLang="zh-CN" sz="1800" dirty="0">
                <a:solidFill>
                  <a:srgbClr val="FF0000"/>
                </a:solidFill>
              </a:rPr>
              <a:t>(</a:t>
            </a:r>
            <a:r>
              <a:rPr lang="zh-CN" altLang="en-US" sz="1800" dirty="0">
                <a:solidFill>
                  <a:srgbClr val="FF0000"/>
                </a:solidFill>
              </a:rPr>
              <a:t>通常是一列</a:t>
            </a:r>
            <a:r>
              <a:rPr lang="en-US" altLang="zh-CN" sz="1800" dirty="0">
                <a:solidFill>
                  <a:srgbClr val="FF0000"/>
                </a:solidFill>
              </a:rPr>
              <a:t>)</a:t>
            </a:r>
            <a:r>
              <a:rPr lang="zh-CN" altLang="en-US" sz="1800" dirty="0"/>
              <a:t>中的值串接而成。索引中</a:t>
            </a:r>
            <a:r>
              <a:rPr lang="zh-CN" altLang="en-US" sz="1800" dirty="0">
                <a:solidFill>
                  <a:srgbClr val="FF0000"/>
                </a:solidFill>
              </a:rPr>
              <a:t>通常</a:t>
            </a:r>
            <a:r>
              <a:rPr lang="zh-CN" altLang="en-US" sz="1800" dirty="0"/>
              <a:t>存储了索引字段的每一个值</a:t>
            </a:r>
            <a:r>
              <a:rPr lang="en-US" altLang="zh-CN" sz="1800" dirty="0"/>
              <a:t>(</a:t>
            </a:r>
            <a:r>
              <a:rPr lang="zh-CN" altLang="en-US" sz="1800" dirty="0"/>
              <a:t>也有不是这样的</a:t>
            </a:r>
            <a:r>
              <a:rPr lang="en-US" altLang="zh-CN" sz="1800" dirty="0"/>
              <a:t>)</a:t>
            </a:r>
            <a:r>
              <a:rPr lang="zh-CN" altLang="en-US" sz="1800" dirty="0"/>
              <a:t>。索引字段类似于词典中的词条。</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行指针：指向</a:t>
            </a:r>
            <a:r>
              <a:rPr lang="en-US" altLang="zh-CN" sz="1800" dirty="0"/>
              <a:t>Table</a:t>
            </a:r>
            <a:r>
              <a:rPr lang="zh-CN" altLang="en-US" sz="1800" dirty="0"/>
              <a:t>中包含索引字段值的记录在磁盘上的存储位置。行指针类似于词条在书籍、词典中出现的</a:t>
            </a:r>
            <a:r>
              <a:rPr lang="zh-CN" altLang="en-US" sz="1800" dirty="0">
                <a:solidFill>
                  <a:srgbClr val="FF0000"/>
                </a:solidFill>
              </a:rPr>
              <a:t>页码</a:t>
            </a:r>
            <a:r>
              <a:rPr lang="zh-CN" altLang="en-US" sz="1800" dirty="0"/>
              <a:t>。</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存储索引项的文件为</a:t>
            </a:r>
            <a:r>
              <a:rPr lang="zh-CN" altLang="en-US" sz="1800" dirty="0">
                <a:solidFill>
                  <a:srgbClr val="FF0000"/>
                </a:solidFill>
              </a:rPr>
              <a:t>索引文件</a:t>
            </a:r>
            <a:r>
              <a:rPr lang="zh-CN" altLang="en-US" sz="1800" dirty="0"/>
              <a:t>，相对应，存储表又称</a:t>
            </a:r>
            <a:r>
              <a:rPr lang="zh-CN" altLang="en-US" sz="1800" dirty="0">
                <a:solidFill>
                  <a:srgbClr val="FF0000"/>
                </a:solidFill>
              </a:rPr>
              <a:t>为主文件</a:t>
            </a:r>
            <a:r>
              <a:rPr lang="zh-CN" altLang="en-US" sz="1800" dirty="0"/>
              <a:t>。</a:t>
            </a:r>
            <a:endParaRPr lang="zh-CN" altLang="en-US" sz="1800" dirty="0"/>
          </a:p>
          <a:p>
            <a:pPr marL="228600" lvl="1">
              <a:lnSpc>
                <a:spcPct val="100000"/>
              </a:lnSpc>
              <a:spcBef>
                <a:spcPts val="1000"/>
              </a:spcBef>
              <a:buFont typeface="Wingdings" panose="05000000000000000000" pitchFamily="2" charset="2"/>
              <a:buChar char="l"/>
            </a:pPr>
            <a:endParaRPr lang="zh-CN" altLang="en-US" sz="1800" b="1" dirty="0"/>
          </a:p>
        </p:txBody>
      </p:sp>
      <p:sp>
        <p:nvSpPr>
          <p:cNvPr id="3" name="Rectangle 7"/>
          <p:cNvSpPr/>
          <p:nvPr/>
        </p:nvSpPr>
        <p:spPr>
          <a:xfrm>
            <a:off x="2312988" y="4346573"/>
            <a:ext cx="1679575" cy="38417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dirty="0">
                <a:solidFill>
                  <a:schemeClr val="accent2"/>
                </a:solidFill>
                <a:latin typeface="微软雅黑" panose="020B0503020204020204" pitchFamily="34" charset="-122"/>
                <a:ea typeface="微软雅黑" panose="020B0503020204020204" pitchFamily="34" charset="-122"/>
              </a:rPr>
              <a:t>Index-field</a:t>
            </a:r>
            <a:endParaRPr lang="en-US" altLang="zh-CN" dirty="0">
              <a:solidFill>
                <a:schemeClr val="accent2"/>
              </a:solidFill>
              <a:latin typeface="微软雅黑" panose="020B0503020204020204" pitchFamily="34" charset="-122"/>
              <a:ea typeface="微软雅黑" panose="020B0503020204020204" pitchFamily="34" charset="-122"/>
            </a:endParaRPr>
          </a:p>
        </p:txBody>
      </p:sp>
      <p:grpSp>
        <p:nvGrpSpPr>
          <p:cNvPr id="6" name="Group 36"/>
          <p:cNvGrpSpPr/>
          <p:nvPr/>
        </p:nvGrpSpPr>
        <p:grpSpPr>
          <a:xfrm>
            <a:off x="2416175" y="4730750"/>
            <a:ext cx="7359650" cy="1625600"/>
            <a:chOff x="742" y="3043"/>
            <a:chExt cx="4636" cy="1024"/>
          </a:xfrm>
        </p:grpSpPr>
        <p:pic>
          <p:nvPicPr>
            <p:cNvPr id="8" name="Picture 23"/>
            <p:cNvPicPr>
              <a:picLocks noChangeAspect="1"/>
            </p:cNvPicPr>
            <p:nvPr/>
          </p:nvPicPr>
          <p:blipFill>
            <a:blip r:embed="rId1"/>
            <a:stretch>
              <a:fillRect/>
            </a:stretch>
          </p:blipFill>
          <p:spPr>
            <a:xfrm>
              <a:off x="3198" y="3043"/>
              <a:ext cx="1562" cy="1024"/>
            </a:xfrm>
            <a:prstGeom prst="rect">
              <a:avLst/>
            </a:prstGeom>
            <a:noFill/>
            <a:ln w="9525">
              <a:noFill/>
            </a:ln>
          </p:spPr>
        </p:pic>
        <p:pic>
          <p:nvPicPr>
            <p:cNvPr id="9" name="Picture 24"/>
            <p:cNvPicPr>
              <a:picLocks noChangeAspect="1"/>
            </p:cNvPicPr>
            <p:nvPr/>
          </p:nvPicPr>
          <p:blipFill>
            <a:blip r:embed="rId2"/>
            <a:stretch>
              <a:fillRect/>
            </a:stretch>
          </p:blipFill>
          <p:spPr>
            <a:xfrm>
              <a:off x="1336" y="3123"/>
              <a:ext cx="572" cy="944"/>
            </a:xfrm>
            <a:prstGeom prst="rect">
              <a:avLst/>
            </a:prstGeom>
            <a:noFill/>
            <a:ln w="9525">
              <a:noFill/>
            </a:ln>
          </p:spPr>
        </p:pic>
        <p:sp>
          <p:nvSpPr>
            <p:cNvPr id="10" name="Text Box 12"/>
            <p:cNvSpPr txBox="1"/>
            <p:nvPr/>
          </p:nvSpPr>
          <p:spPr>
            <a:xfrm>
              <a:off x="4844" y="3483"/>
              <a:ext cx="534" cy="250"/>
            </a:xfrm>
            <a:prstGeom prst="rect">
              <a:avLst/>
            </a:prstGeom>
            <a:noFill/>
            <a:ln w="9525">
              <a:noFill/>
            </a:ln>
          </p:spPr>
          <p:txBody>
            <a:bodyPr wrap="none" anchor="t">
              <a:spAutoFit/>
            </a:bodyPr>
            <a:lstStyle/>
            <a:p>
              <a:pPr algn="ctr"/>
              <a:r>
                <a:rPr lang="en-US" altLang="zh-CN" dirty="0">
                  <a:solidFill>
                    <a:schemeClr val="accent2"/>
                  </a:solidFill>
                  <a:latin typeface="Arial" panose="020B0604020202020204" pitchFamily="34" charset="0"/>
                  <a:ea typeface="楷体_GB2312" pitchFamily="49" charset="-122"/>
                </a:rPr>
                <a:t>Table</a:t>
              </a:r>
              <a:endParaRPr lang="en-US" altLang="zh-CN" dirty="0">
                <a:solidFill>
                  <a:schemeClr val="accent2"/>
                </a:solidFill>
                <a:latin typeface="Arial" panose="020B0604020202020204" pitchFamily="34" charset="0"/>
                <a:ea typeface="楷体_GB2312" pitchFamily="49" charset="-122"/>
              </a:endParaRPr>
            </a:p>
          </p:txBody>
        </p:sp>
        <p:sp>
          <p:nvSpPr>
            <p:cNvPr id="11" name="Line 14"/>
            <p:cNvSpPr/>
            <p:nvPr/>
          </p:nvSpPr>
          <p:spPr>
            <a:xfrm>
              <a:off x="1829" y="3262"/>
              <a:ext cx="1448" cy="0"/>
            </a:xfrm>
            <a:prstGeom prst="line">
              <a:avLst/>
            </a:prstGeom>
            <a:ln w="9525" cap="flat" cmpd="sng">
              <a:solidFill>
                <a:srgbClr val="FF0066"/>
              </a:solidFill>
              <a:prstDash val="solid"/>
              <a:round/>
              <a:headEnd type="none" w="med" len="med"/>
              <a:tailEnd type="triangle" w="med" len="med"/>
            </a:ln>
          </p:spPr>
        </p:sp>
        <p:sp>
          <p:nvSpPr>
            <p:cNvPr id="12" name="Text Box 20"/>
            <p:cNvSpPr txBox="1"/>
            <p:nvPr/>
          </p:nvSpPr>
          <p:spPr>
            <a:xfrm>
              <a:off x="742" y="3482"/>
              <a:ext cx="534" cy="250"/>
            </a:xfrm>
            <a:prstGeom prst="rect">
              <a:avLst/>
            </a:prstGeom>
            <a:noFill/>
            <a:ln w="9525">
              <a:noFill/>
            </a:ln>
          </p:spPr>
          <p:txBody>
            <a:bodyPr wrap="none" anchor="t">
              <a:spAutoFit/>
            </a:bodyPr>
            <a:lstStyle/>
            <a:p>
              <a:pPr algn="ctr"/>
              <a:r>
                <a:rPr lang="en-US" altLang="zh-CN" dirty="0">
                  <a:solidFill>
                    <a:schemeClr val="accent2"/>
                  </a:solidFill>
                  <a:latin typeface="Arial" panose="020B0604020202020204" pitchFamily="34" charset="0"/>
                  <a:ea typeface="楷体_GB2312" pitchFamily="49" charset="-122"/>
                </a:rPr>
                <a:t>Index</a:t>
              </a:r>
              <a:endParaRPr lang="en-US" altLang="zh-CN" dirty="0">
                <a:solidFill>
                  <a:schemeClr val="accent2"/>
                </a:solidFill>
                <a:latin typeface="Arial" panose="020B0604020202020204" pitchFamily="34" charset="0"/>
                <a:ea typeface="楷体_GB2312" pitchFamily="49" charset="-122"/>
              </a:endParaRPr>
            </a:p>
          </p:txBody>
        </p:sp>
        <p:sp>
          <p:nvSpPr>
            <p:cNvPr id="13" name="Freeform 26"/>
            <p:cNvSpPr/>
            <p:nvPr/>
          </p:nvSpPr>
          <p:spPr>
            <a:xfrm>
              <a:off x="1840" y="3360"/>
              <a:ext cx="1440" cy="280"/>
            </a:xfrm>
            <a:custGeom>
              <a:avLst/>
              <a:gdLst/>
              <a:ahLst/>
              <a:cxnLst>
                <a:cxn ang="0">
                  <a:pos x="0" y="0"/>
                </a:cxn>
                <a:cxn ang="0">
                  <a:pos x="664" y="0"/>
                </a:cxn>
                <a:cxn ang="0">
                  <a:pos x="664" y="304"/>
                </a:cxn>
                <a:cxn ang="0">
                  <a:pos x="1384" y="304"/>
                </a:cxn>
              </a:cxnLst>
              <a:rect l="0" t="0" r="0" b="0"/>
              <a:pathLst>
                <a:path w="1384" h="304">
                  <a:moveTo>
                    <a:pt x="0" y="0"/>
                  </a:moveTo>
                  <a:lnTo>
                    <a:pt x="664" y="0"/>
                  </a:lnTo>
                  <a:lnTo>
                    <a:pt x="664" y="304"/>
                  </a:lnTo>
                  <a:lnTo>
                    <a:pt x="1384" y="304"/>
                  </a:lnTo>
                </a:path>
              </a:pathLst>
            </a:custGeom>
            <a:noFill/>
            <a:ln w="9525" cap="flat" cmpd="sng">
              <a:solidFill>
                <a:schemeClr val="tx1"/>
              </a:solidFill>
              <a:prstDash val="solid"/>
              <a:round/>
              <a:headEnd type="none" w="med" len="med"/>
              <a:tailEnd type="triangle" w="med" len="med"/>
            </a:ln>
          </p:spPr>
          <p:txBody>
            <a:bodyPr/>
            <a:lstStyle/>
            <a:p>
              <a:endParaRPr lang="zh-CN" altLang="en-US"/>
            </a:p>
          </p:txBody>
        </p:sp>
        <p:sp>
          <p:nvSpPr>
            <p:cNvPr id="14" name="Freeform 27"/>
            <p:cNvSpPr/>
            <p:nvPr/>
          </p:nvSpPr>
          <p:spPr>
            <a:xfrm>
              <a:off x="1848" y="3360"/>
              <a:ext cx="1432" cy="104"/>
            </a:xfrm>
            <a:custGeom>
              <a:avLst/>
              <a:gdLst/>
              <a:ahLst/>
              <a:cxnLst>
                <a:cxn ang="0">
                  <a:pos x="0" y="128"/>
                </a:cxn>
                <a:cxn ang="0">
                  <a:pos x="1088" y="128"/>
                </a:cxn>
                <a:cxn ang="0">
                  <a:pos x="1088" y="0"/>
                </a:cxn>
                <a:cxn ang="0">
                  <a:pos x="1400" y="0"/>
                </a:cxn>
              </a:cxnLst>
              <a:rect l="0" t="0" r="0" b="0"/>
              <a:pathLst>
                <a:path w="1400" h="128">
                  <a:moveTo>
                    <a:pt x="0" y="128"/>
                  </a:moveTo>
                  <a:lnTo>
                    <a:pt x="1088" y="128"/>
                  </a:lnTo>
                  <a:lnTo>
                    <a:pt x="1088" y="0"/>
                  </a:lnTo>
                  <a:lnTo>
                    <a:pt x="1400" y="0"/>
                  </a:ln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5" name="Freeform 28"/>
            <p:cNvSpPr/>
            <p:nvPr/>
          </p:nvSpPr>
          <p:spPr>
            <a:xfrm>
              <a:off x="1848" y="3440"/>
              <a:ext cx="1432" cy="104"/>
            </a:xfrm>
            <a:custGeom>
              <a:avLst/>
              <a:gdLst/>
              <a:ahLst/>
              <a:cxnLst>
                <a:cxn ang="0">
                  <a:pos x="0" y="104"/>
                </a:cxn>
                <a:cxn ang="0">
                  <a:pos x="1168" y="104"/>
                </a:cxn>
                <a:cxn ang="0">
                  <a:pos x="1168" y="0"/>
                </a:cxn>
                <a:cxn ang="0">
                  <a:pos x="1432" y="0"/>
                </a:cxn>
              </a:cxnLst>
              <a:rect l="0" t="0" r="0" b="0"/>
              <a:pathLst>
                <a:path w="1432" h="104">
                  <a:moveTo>
                    <a:pt x="0" y="104"/>
                  </a:moveTo>
                  <a:lnTo>
                    <a:pt x="1168" y="104"/>
                  </a:lnTo>
                  <a:lnTo>
                    <a:pt x="1168" y="0"/>
                  </a:lnTo>
                  <a:lnTo>
                    <a:pt x="1432" y="0"/>
                  </a:ln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6" name="Freeform 29"/>
            <p:cNvSpPr/>
            <p:nvPr/>
          </p:nvSpPr>
          <p:spPr>
            <a:xfrm>
              <a:off x="1848" y="3544"/>
              <a:ext cx="1400" cy="72"/>
            </a:xfrm>
            <a:custGeom>
              <a:avLst/>
              <a:gdLst/>
              <a:ahLst/>
              <a:cxnLst>
                <a:cxn ang="0">
                  <a:pos x="0" y="72"/>
                </a:cxn>
                <a:cxn ang="0">
                  <a:pos x="1240" y="72"/>
                </a:cxn>
                <a:cxn ang="0">
                  <a:pos x="1232" y="0"/>
                </a:cxn>
                <a:cxn ang="0">
                  <a:pos x="1400" y="0"/>
                </a:cxn>
              </a:cxnLst>
              <a:rect l="0" t="0" r="0" b="0"/>
              <a:pathLst>
                <a:path w="1400" h="72">
                  <a:moveTo>
                    <a:pt x="0" y="72"/>
                  </a:moveTo>
                  <a:lnTo>
                    <a:pt x="1240" y="72"/>
                  </a:lnTo>
                  <a:lnTo>
                    <a:pt x="1232" y="0"/>
                  </a:lnTo>
                  <a:lnTo>
                    <a:pt x="1400" y="0"/>
                  </a:ln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7" name="Line 30"/>
            <p:cNvSpPr/>
            <p:nvPr/>
          </p:nvSpPr>
          <p:spPr>
            <a:xfrm>
              <a:off x="1829" y="3734"/>
              <a:ext cx="1448" cy="0"/>
            </a:xfrm>
            <a:prstGeom prst="line">
              <a:avLst/>
            </a:prstGeom>
            <a:ln w="9525" cap="flat" cmpd="sng">
              <a:solidFill>
                <a:srgbClr val="FF0066"/>
              </a:solidFill>
              <a:prstDash val="solid"/>
              <a:round/>
              <a:headEnd type="none" w="med" len="med"/>
              <a:tailEnd type="triangle" w="med" len="med"/>
            </a:ln>
          </p:spPr>
        </p:sp>
        <p:sp>
          <p:nvSpPr>
            <p:cNvPr id="18" name="Line 31"/>
            <p:cNvSpPr/>
            <p:nvPr/>
          </p:nvSpPr>
          <p:spPr>
            <a:xfrm>
              <a:off x="1829" y="3910"/>
              <a:ext cx="1448" cy="0"/>
            </a:xfrm>
            <a:prstGeom prst="line">
              <a:avLst/>
            </a:prstGeom>
            <a:ln w="9525" cap="flat" cmpd="sng">
              <a:solidFill>
                <a:srgbClr val="FF0066"/>
              </a:solidFill>
              <a:prstDash val="solid"/>
              <a:round/>
              <a:headEnd type="none" w="med" len="med"/>
              <a:tailEnd type="triangle" w="med" len="med"/>
            </a:ln>
          </p:spPr>
        </p:sp>
        <p:sp>
          <p:nvSpPr>
            <p:cNvPr id="19" name="Freeform 34"/>
            <p:cNvSpPr/>
            <p:nvPr/>
          </p:nvSpPr>
          <p:spPr>
            <a:xfrm>
              <a:off x="1856" y="3832"/>
              <a:ext cx="1384" cy="208"/>
            </a:xfrm>
            <a:custGeom>
              <a:avLst/>
              <a:gdLst/>
              <a:ahLst/>
              <a:cxnLst>
                <a:cxn ang="0">
                  <a:pos x="0" y="0"/>
                </a:cxn>
                <a:cxn ang="0">
                  <a:pos x="672" y="0"/>
                </a:cxn>
                <a:cxn ang="0">
                  <a:pos x="672" y="208"/>
                </a:cxn>
                <a:cxn ang="0">
                  <a:pos x="1384" y="208"/>
                </a:cxn>
              </a:cxnLst>
              <a:rect l="0" t="0" r="0" b="0"/>
              <a:pathLst>
                <a:path w="1384" h="208">
                  <a:moveTo>
                    <a:pt x="0" y="0"/>
                  </a:moveTo>
                  <a:lnTo>
                    <a:pt x="672" y="0"/>
                  </a:lnTo>
                  <a:lnTo>
                    <a:pt x="672" y="208"/>
                  </a:lnTo>
                  <a:lnTo>
                    <a:pt x="1384" y="208"/>
                  </a:lnTo>
                </a:path>
              </a:pathLst>
            </a:custGeom>
            <a:noFill/>
            <a:ln w="9525" cap="flat" cmpd="sng">
              <a:solidFill>
                <a:schemeClr val="tx1"/>
              </a:solidFill>
              <a:prstDash val="solid"/>
              <a:round/>
              <a:headEnd type="none" w="med" len="med"/>
              <a:tailEnd type="triangle" w="med" len="med"/>
            </a:ln>
          </p:spPr>
          <p:txBody>
            <a:bodyPr/>
            <a:lstStyle/>
            <a:p>
              <a:endParaRPr lang="zh-CN" altLang="en-US"/>
            </a:p>
          </p:txBody>
        </p:sp>
        <p:sp>
          <p:nvSpPr>
            <p:cNvPr id="20" name="Freeform 35"/>
            <p:cNvSpPr/>
            <p:nvPr/>
          </p:nvSpPr>
          <p:spPr>
            <a:xfrm>
              <a:off x="1848" y="3832"/>
              <a:ext cx="1408" cy="184"/>
            </a:xfrm>
            <a:custGeom>
              <a:avLst/>
              <a:gdLst/>
              <a:ahLst/>
              <a:cxnLst>
                <a:cxn ang="0">
                  <a:pos x="0" y="184"/>
                </a:cxn>
                <a:cxn ang="0">
                  <a:pos x="1080" y="184"/>
                </a:cxn>
                <a:cxn ang="0">
                  <a:pos x="1080" y="0"/>
                </a:cxn>
                <a:cxn ang="0">
                  <a:pos x="1408" y="0"/>
                </a:cxn>
              </a:cxnLst>
              <a:rect l="0" t="0" r="0" b="0"/>
              <a:pathLst>
                <a:path w="1408" h="184">
                  <a:moveTo>
                    <a:pt x="0" y="184"/>
                  </a:moveTo>
                  <a:lnTo>
                    <a:pt x="1080" y="184"/>
                  </a:lnTo>
                  <a:lnTo>
                    <a:pt x="1080" y="0"/>
                  </a:lnTo>
                  <a:lnTo>
                    <a:pt x="1408" y="0"/>
                  </a:lnTo>
                </a:path>
              </a:pathLst>
            </a:custGeom>
            <a:noFill/>
            <a:ln w="9525" cap="flat" cmpd="sng">
              <a:solidFill>
                <a:schemeClr val="accent2"/>
              </a:solidFill>
              <a:prstDash val="solid"/>
              <a:round/>
              <a:headEnd type="none" w="med" len="med"/>
              <a:tailEnd type="triangle" w="med" len="med"/>
            </a:ln>
          </p:spPr>
          <p:txBody>
            <a:bodyPr/>
            <a:lstStyle/>
            <a:p>
              <a:endParaRPr lang="zh-CN" altLang="en-US"/>
            </a:p>
          </p:txBody>
        </p:sp>
      </p:grpSp>
      <p:sp>
        <p:nvSpPr>
          <p:cNvPr id="21" name="Rectangle 81"/>
          <p:cNvSpPr/>
          <p:nvPr/>
        </p:nvSpPr>
        <p:spPr>
          <a:xfrm>
            <a:off x="8910638" y="5837238"/>
            <a:ext cx="946150" cy="396875"/>
          </a:xfrm>
          <a:prstGeom prst="rect">
            <a:avLst/>
          </a:prstGeom>
          <a:noFill/>
          <a:ln w="9525">
            <a:noFill/>
          </a:ln>
        </p:spPr>
        <p:txBody>
          <a:bodyPr wrap="none" anchor="t">
            <a:spAutoFit/>
          </a:bodyPr>
          <a:lstStyle/>
          <a:p>
            <a:pPr algn="ctr"/>
            <a:r>
              <a:rPr lang="zh-CN" altLang="en-US" dirty="0">
                <a:solidFill>
                  <a:schemeClr val="accent2"/>
                </a:solidFill>
                <a:latin typeface="Arial" panose="020B0604020202020204" pitchFamily="34" charset="0"/>
                <a:ea typeface="微软雅黑" panose="020B0503020204020204" pitchFamily="34" charset="-122"/>
              </a:rPr>
              <a:t>主文件</a:t>
            </a:r>
            <a:endParaRPr lang="zh-CN" altLang="en-US" dirty="0">
              <a:solidFill>
                <a:schemeClr val="accent2"/>
              </a:solidFill>
              <a:latin typeface="Arial" panose="020B0604020202020204" pitchFamily="34" charset="0"/>
              <a:ea typeface="微软雅黑" panose="020B0503020204020204" pitchFamily="34" charset="-122"/>
            </a:endParaRPr>
          </a:p>
        </p:txBody>
      </p:sp>
      <p:sp>
        <p:nvSpPr>
          <p:cNvPr id="22" name="Rectangle 82"/>
          <p:cNvSpPr/>
          <p:nvPr/>
        </p:nvSpPr>
        <p:spPr>
          <a:xfrm>
            <a:off x="2190750" y="5838825"/>
            <a:ext cx="1200150" cy="396875"/>
          </a:xfrm>
          <a:prstGeom prst="rect">
            <a:avLst/>
          </a:prstGeom>
          <a:noFill/>
          <a:ln w="9525">
            <a:noFill/>
          </a:ln>
        </p:spPr>
        <p:txBody>
          <a:bodyPr wrap="none" anchor="t">
            <a:spAutoFit/>
          </a:bodyPr>
          <a:lstStyle/>
          <a:p>
            <a:pPr algn="ctr"/>
            <a:r>
              <a:rPr lang="zh-CN" altLang="en-US" dirty="0">
                <a:solidFill>
                  <a:schemeClr val="accent2"/>
                </a:solidFill>
                <a:latin typeface="Arial" panose="020B0604020202020204" pitchFamily="34" charset="0"/>
                <a:ea typeface="微软雅黑" panose="020B0503020204020204" pitchFamily="34" charset="-122"/>
              </a:rPr>
              <a:t>索引文件</a:t>
            </a:r>
            <a:endParaRPr lang="zh-CN" altLang="en-US" dirty="0">
              <a:solidFill>
                <a:schemeClr val="accent2"/>
              </a:solidFill>
              <a:latin typeface="Arial" panose="020B0604020202020204" pitchFamily="34" charset="0"/>
              <a:ea typeface="微软雅黑" panose="020B0503020204020204" pitchFamily="34" charset="-122"/>
            </a:endParaRPr>
          </a:p>
        </p:txBody>
      </p:sp>
      <p:sp>
        <p:nvSpPr>
          <p:cNvPr id="29" name="Rectangle 7"/>
          <p:cNvSpPr/>
          <p:nvPr/>
        </p:nvSpPr>
        <p:spPr>
          <a:xfrm>
            <a:off x="3992563" y="4346574"/>
            <a:ext cx="1144587" cy="3841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dirty="0">
                <a:solidFill>
                  <a:schemeClr val="accent2"/>
                </a:solidFill>
                <a:latin typeface="微软雅黑" panose="020B0503020204020204" pitchFamily="34" charset="-122"/>
                <a:ea typeface="微软雅黑" panose="020B0503020204020204" pitchFamily="34" charset="-122"/>
              </a:rPr>
              <a:t>pointer</a:t>
            </a:r>
            <a:endParaRPr lang="en-US" altLang="zh-CN"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为什么需要索引与什么是索引 </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33" name="内容占位符 34"/>
          <p:cNvSpPr>
            <a:spLocks noGrp="1"/>
          </p:cNvSpPr>
          <p:nvPr>
            <p:ph idx="1"/>
          </p:nvPr>
        </p:nvSpPr>
        <p:spPr>
          <a:xfrm>
            <a:off x="396875" y="1219200"/>
            <a:ext cx="11453813" cy="4957763"/>
          </a:xfrm>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索引的一般性特点</a:t>
            </a:r>
            <a:endParaRPr lang="en-US" altLang="zh-CN"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t>索引文件是一种辅助存储结构，其</a:t>
            </a:r>
            <a:r>
              <a:rPr lang="zh-CN" altLang="en-US" sz="1800" dirty="0">
                <a:solidFill>
                  <a:srgbClr val="FF0000"/>
                </a:solidFill>
              </a:rPr>
              <a:t>存在与否不改变存储表的物理存储结构</a:t>
            </a:r>
            <a:r>
              <a:rPr lang="zh-CN" altLang="en-US" sz="1800" dirty="0"/>
              <a:t>；然而其存在，可以明显提高存储表的访问速度。</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solidFill>
                  <a:srgbClr val="FF0000"/>
                </a:solidFill>
              </a:rPr>
              <a:t>索引文件组织方式有两种</a:t>
            </a:r>
            <a:r>
              <a:rPr lang="zh-CN" altLang="en-US" sz="1800" dirty="0"/>
              <a:t>：</a:t>
            </a:r>
            <a:r>
              <a:rPr lang="en-US" altLang="zh-CN" sz="1800" dirty="0"/>
              <a:t>(</a:t>
            </a:r>
            <a:r>
              <a:rPr lang="zh-CN" altLang="en-US" sz="1800" dirty="0"/>
              <a:t>相对照的，主文件组织有堆文件、排序文件、散列文件、聚簇文件等多种方式</a:t>
            </a:r>
            <a:r>
              <a:rPr lang="en-US" altLang="zh-CN" sz="1800" dirty="0"/>
              <a:t>)</a:t>
            </a:r>
            <a:endParaRPr lang="en-US" altLang="zh-CN" sz="1800" dirty="0"/>
          </a:p>
          <a:p>
            <a:pPr marL="285750" lvl="1" indent="-285750">
              <a:lnSpc>
                <a:spcPct val="100000"/>
              </a:lnSpc>
              <a:spcBef>
                <a:spcPts val="1000"/>
              </a:spcBef>
              <a:buClr>
                <a:schemeClr val="tx1"/>
              </a:buClr>
              <a:buFont typeface="Wingdings" panose="05000000000000000000" pitchFamily="2" charset="2"/>
              <a:buChar char="n"/>
            </a:pPr>
            <a:r>
              <a:rPr lang="zh-CN" altLang="en-US" sz="1600" dirty="0">
                <a:solidFill>
                  <a:srgbClr val="FF0000"/>
                </a:solidFill>
              </a:rPr>
              <a:t>排序索引文件</a:t>
            </a:r>
            <a:r>
              <a:rPr lang="en-US" altLang="zh-CN" sz="1600" dirty="0">
                <a:solidFill>
                  <a:srgbClr val="FF0000"/>
                </a:solidFill>
              </a:rPr>
              <a:t>(Ordered indices):  </a:t>
            </a:r>
            <a:r>
              <a:rPr lang="zh-CN" altLang="en-US" sz="1600" dirty="0"/>
              <a:t>按索引字段值的某一种顺序组织存储</a:t>
            </a:r>
            <a:endParaRPr lang="zh-CN" altLang="en-US" sz="1600" dirty="0"/>
          </a:p>
          <a:p>
            <a:pPr marL="285750" lvl="1" indent="-285750">
              <a:lnSpc>
                <a:spcPct val="100000"/>
              </a:lnSpc>
              <a:spcBef>
                <a:spcPts val="1000"/>
              </a:spcBef>
              <a:buClr>
                <a:schemeClr val="tx1"/>
              </a:buClr>
              <a:buFont typeface="Wingdings" panose="05000000000000000000" pitchFamily="2" charset="2"/>
              <a:buChar char="n"/>
            </a:pPr>
            <a:r>
              <a:rPr lang="zh-CN" altLang="en-US" sz="1600" dirty="0">
                <a:solidFill>
                  <a:srgbClr val="FF0000"/>
                </a:solidFill>
              </a:rPr>
              <a:t>散列索引文件</a:t>
            </a:r>
            <a:r>
              <a:rPr lang="en-US" altLang="zh-CN" sz="1600" dirty="0">
                <a:solidFill>
                  <a:srgbClr val="FF0000"/>
                </a:solidFill>
              </a:rPr>
              <a:t>(Hash indices):  </a:t>
            </a:r>
            <a:r>
              <a:rPr lang="zh-CN" altLang="en-US" sz="1600" dirty="0"/>
              <a:t>依据索引字段值使用散列函数分配散列桶的方式存储</a:t>
            </a:r>
            <a:endParaRPr lang="zh-CN" altLang="en-US" sz="1600" dirty="0"/>
          </a:p>
          <a:p>
            <a:pPr marL="228600" lvl="1">
              <a:lnSpc>
                <a:spcPct val="100000"/>
              </a:lnSpc>
              <a:spcBef>
                <a:spcPts val="1000"/>
              </a:spcBef>
              <a:buFont typeface="Wingdings" panose="05000000000000000000" pitchFamily="2" charset="2"/>
              <a:buChar char="l"/>
            </a:pPr>
            <a:endParaRPr lang="zh-CN" altLang="en-US" sz="1800" b="1" dirty="0"/>
          </a:p>
          <a:p>
            <a:pPr marL="228600" lvl="1">
              <a:lnSpc>
                <a:spcPct val="100000"/>
              </a:lnSpc>
              <a:spcBef>
                <a:spcPts val="1000"/>
              </a:spcBef>
              <a:buFont typeface="Wingdings" panose="05000000000000000000" pitchFamily="2" charset="2"/>
              <a:buChar char="l"/>
            </a:pPr>
            <a:endParaRPr lang="zh-CN" altLang="en-US" sz="1800" b="1" dirty="0"/>
          </a:p>
        </p:txBody>
      </p:sp>
      <p:sp>
        <p:nvSpPr>
          <p:cNvPr id="3" name="Rectangle 7"/>
          <p:cNvSpPr/>
          <p:nvPr/>
        </p:nvSpPr>
        <p:spPr>
          <a:xfrm>
            <a:off x="2452688" y="3921123"/>
            <a:ext cx="1679575" cy="38417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dirty="0">
                <a:solidFill>
                  <a:schemeClr val="accent2"/>
                </a:solidFill>
                <a:latin typeface="微软雅黑" panose="020B0503020204020204" pitchFamily="34" charset="-122"/>
                <a:ea typeface="微软雅黑" panose="020B0503020204020204" pitchFamily="34" charset="-122"/>
              </a:rPr>
              <a:t>Index-field</a:t>
            </a:r>
            <a:endParaRPr lang="en-US" altLang="zh-CN" dirty="0">
              <a:solidFill>
                <a:schemeClr val="accent2"/>
              </a:solidFill>
              <a:latin typeface="微软雅黑" panose="020B0503020204020204" pitchFamily="34" charset="-122"/>
              <a:ea typeface="微软雅黑" panose="020B0503020204020204" pitchFamily="34" charset="-122"/>
            </a:endParaRPr>
          </a:p>
        </p:txBody>
      </p:sp>
      <p:grpSp>
        <p:nvGrpSpPr>
          <p:cNvPr id="6" name="Group 36"/>
          <p:cNvGrpSpPr/>
          <p:nvPr/>
        </p:nvGrpSpPr>
        <p:grpSpPr>
          <a:xfrm>
            <a:off x="2555875" y="4305300"/>
            <a:ext cx="7359650" cy="1625600"/>
            <a:chOff x="742" y="3043"/>
            <a:chExt cx="4636" cy="1024"/>
          </a:xfrm>
        </p:grpSpPr>
        <p:pic>
          <p:nvPicPr>
            <p:cNvPr id="8" name="Picture 23"/>
            <p:cNvPicPr>
              <a:picLocks noChangeAspect="1"/>
            </p:cNvPicPr>
            <p:nvPr/>
          </p:nvPicPr>
          <p:blipFill>
            <a:blip r:embed="rId1"/>
            <a:stretch>
              <a:fillRect/>
            </a:stretch>
          </p:blipFill>
          <p:spPr>
            <a:xfrm>
              <a:off x="3198" y="3043"/>
              <a:ext cx="1562" cy="1024"/>
            </a:xfrm>
            <a:prstGeom prst="rect">
              <a:avLst/>
            </a:prstGeom>
            <a:noFill/>
            <a:ln w="9525">
              <a:noFill/>
            </a:ln>
          </p:spPr>
        </p:pic>
        <p:pic>
          <p:nvPicPr>
            <p:cNvPr id="9" name="Picture 24"/>
            <p:cNvPicPr>
              <a:picLocks noChangeAspect="1"/>
            </p:cNvPicPr>
            <p:nvPr/>
          </p:nvPicPr>
          <p:blipFill>
            <a:blip r:embed="rId2"/>
            <a:stretch>
              <a:fillRect/>
            </a:stretch>
          </p:blipFill>
          <p:spPr>
            <a:xfrm>
              <a:off x="1336" y="3123"/>
              <a:ext cx="572" cy="944"/>
            </a:xfrm>
            <a:prstGeom prst="rect">
              <a:avLst/>
            </a:prstGeom>
            <a:noFill/>
            <a:ln w="9525">
              <a:noFill/>
            </a:ln>
          </p:spPr>
        </p:pic>
        <p:sp>
          <p:nvSpPr>
            <p:cNvPr id="10" name="Text Box 12"/>
            <p:cNvSpPr txBox="1"/>
            <p:nvPr/>
          </p:nvSpPr>
          <p:spPr>
            <a:xfrm>
              <a:off x="4844" y="3483"/>
              <a:ext cx="534" cy="250"/>
            </a:xfrm>
            <a:prstGeom prst="rect">
              <a:avLst/>
            </a:prstGeom>
            <a:noFill/>
            <a:ln w="9525">
              <a:noFill/>
            </a:ln>
          </p:spPr>
          <p:txBody>
            <a:bodyPr wrap="none" anchor="t">
              <a:spAutoFit/>
            </a:bodyPr>
            <a:lstStyle/>
            <a:p>
              <a:pPr algn="ctr"/>
              <a:r>
                <a:rPr lang="en-US" altLang="zh-CN" dirty="0">
                  <a:solidFill>
                    <a:schemeClr val="accent2"/>
                  </a:solidFill>
                  <a:latin typeface="Arial" panose="020B0604020202020204" pitchFamily="34" charset="0"/>
                  <a:ea typeface="楷体_GB2312" pitchFamily="49" charset="-122"/>
                </a:rPr>
                <a:t>Table</a:t>
              </a:r>
              <a:endParaRPr lang="en-US" altLang="zh-CN" dirty="0">
                <a:solidFill>
                  <a:schemeClr val="accent2"/>
                </a:solidFill>
                <a:latin typeface="Arial" panose="020B0604020202020204" pitchFamily="34" charset="0"/>
                <a:ea typeface="楷体_GB2312" pitchFamily="49" charset="-122"/>
              </a:endParaRPr>
            </a:p>
          </p:txBody>
        </p:sp>
        <p:sp>
          <p:nvSpPr>
            <p:cNvPr id="11" name="Line 14"/>
            <p:cNvSpPr/>
            <p:nvPr/>
          </p:nvSpPr>
          <p:spPr>
            <a:xfrm>
              <a:off x="1829" y="3262"/>
              <a:ext cx="1448" cy="0"/>
            </a:xfrm>
            <a:prstGeom prst="line">
              <a:avLst/>
            </a:prstGeom>
            <a:ln w="9525" cap="flat" cmpd="sng">
              <a:solidFill>
                <a:srgbClr val="FF0066"/>
              </a:solidFill>
              <a:prstDash val="solid"/>
              <a:round/>
              <a:headEnd type="none" w="med" len="med"/>
              <a:tailEnd type="triangle" w="med" len="med"/>
            </a:ln>
          </p:spPr>
        </p:sp>
        <p:sp>
          <p:nvSpPr>
            <p:cNvPr id="12" name="Text Box 20"/>
            <p:cNvSpPr txBox="1"/>
            <p:nvPr/>
          </p:nvSpPr>
          <p:spPr>
            <a:xfrm>
              <a:off x="742" y="3482"/>
              <a:ext cx="534" cy="250"/>
            </a:xfrm>
            <a:prstGeom prst="rect">
              <a:avLst/>
            </a:prstGeom>
            <a:noFill/>
            <a:ln w="9525">
              <a:noFill/>
            </a:ln>
          </p:spPr>
          <p:txBody>
            <a:bodyPr wrap="none" anchor="t">
              <a:spAutoFit/>
            </a:bodyPr>
            <a:lstStyle/>
            <a:p>
              <a:pPr algn="ctr"/>
              <a:r>
                <a:rPr lang="en-US" altLang="zh-CN" dirty="0">
                  <a:solidFill>
                    <a:schemeClr val="accent2"/>
                  </a:solidFill>
                  <a:latin typeface="Arial" panose="020B0604020202020204" pitchFamily="34" charset="0"/>
                  <a:ea typeface="楷体_GB2312" pitchFamily="49" charset="-122"/>
                </a:rPr>
                <a:t>Index</a:t>
              </a:r>
              <a:endParaRPr lang="en-US" altLang="zh-CN" dirty="0">
                <a:solidFill>
                  <a:schemeClr val="accent2"/>
                </a:solidFill>
                <a:latin typeface="Arial" panose="020B0604020202020204" pitchFamily="34" charset="0"/>
                <a:ea typeface="楷体_GB2312" pitchFamily="49" charset="-122"/>
              </a:endParaRPr>
            </a:p>
          </p:txBody>
        </p:sp>
        <p:sp>
          <p:nvSpPr>
            <p:cNvPr id="13" name="Freeform 26"/>
            <p:cNvSpPr/>
            <p:nvPr/>
          </p:nvSpPr>
          <p:spPr>
            <a:xfrm>
              <a:off x="1840" y="3360"/>
              <a:ext cx="1440" cy="280"/>
            </a:xfrm>
            <a:custGeom>
              <a:avLst/>
              <a:gdLst/>
              <a:ahLst/>
              <a:cxnLst>
                <a:cxn ang="0">
                  <a:pos x="0" y="0"/>
                </a:cxn>
                <a:cxn ang="0">
                  <a:pos x="664" y="0"/>
                </a:cxn>
                <a:cxn ang="0">
                  <a:pos x="664" y="304"/>
                </a:cxn>
                <a:cxn ang="0">
                  <a:pos x="1384" y="304"/>
                </a:cxn>
              </a:cxnLst>
              <a:rect l="0" t="0" r="0" b="0"/>
              <a:pathLst>
                <a:path w="1384" h="304">
                  <a:moveTo>
                    <a:pt x="0" y="0"/>
                  </a:moveTo>
                  <a:lnTo>
                    <a:pt x="664" y="0"/>
                  </a:lnTo>
                  <a:lnTo>
                    <a:pt x="664" y="304"/>
                  </a:lnTo>
                  <a:lnTo>
                    <a:pt x="1384" y="304"/>
                  </a:lnTo>
                </a:path>
              </a:pathLst>
            </a:custGeom>
            <a:noFill/>
            <a:ln w="9525" cap="flat" cmpd="sng">
              <a:solidFill>
                <a:schemeClr val="tx1"/>
              </a:solidFill>
              <a:prstDash val="solid"/>
              <a:round/>
              <a:headEnd type="none" w="med" len="med"/>
              <a:tailEnd type="triangle" w="med" len="med"/>
            </a:ln>
          </p:spPr>
          <p:txBody>
            <a:bodyPr/>
            <a:lstStyle/>
            <a:p>
              <a:endParaRPr lang="zh-CN" altLang="en-US"/>
            </a:p>
          </p:txBody>
        </p:sp>
        <p:sp>
          <p:nvSpPr>
            <p:cNvPr id="14" name="Freeform 27"/>
            <p:cNvSpPr/>
            <p:nvPr/>
          </p:nvSpPr>
          <p:spPr>
            <a:xfrm>
              <a:off x="1848" y="3360"/>
              <a:ext cx="1432" cy="104"/>
            </a:xfrm>
            <a:custGeom>
              <a:avLst/>
              <a:gdLst/>
              <a:ahLst/>
              <a:cxnLst>
                <a:cxn ang="0">
                  <a:pos x="0" y="128"/>
                </a:cxn>
                <a:cxn ang="0">
                  <a:pos x="1088" y="128"/>
                </a:cxn>
                <a:cxn ang="0">
                  <a:pos x="1088" y="0"/>
                </a:cxn>
                <a:cxn ang="0">
                  <a:pos x="1400" y="0"/>
                </a:cxn>
              </a:cxnLst>
              <a:rect l="0" t="0" r="0" b="0"/>
              <a:pathLst>
                <a:path w="1400" h="128">
                  <a:moveTo>
                    <a:pt x="0" y="128"/>
                  </a:moveTo>
                  <a:lnTo>
                    <a:pt x="1088" y="128"/>
                  </a:lnTo>
                  <a:lnTo>
                    <a:pt x="1088" y="0"/>
                  </a:lnTo>
                  <a:lnTo>
                    <a:pt x="1400" y="0"/>
                  </a:ln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5" name="Freeform 28"/>
            <p:cNvSpPr/>
            <p:nvPr/>
          </p:nvSpPr>
          <p:spPr>
            <a:xfrm>
              <a:off x="1848" y="3440"/>
              <a:ext cx="1432" cy="104"/>
            </a:xfrm>
            <a:custGeom>
              <a:avLst/>
              <a:gdLst/>
              <a:ahLst/>
              <a:cxnLst>
                <a:cxn ang="0">
                  <a:pos x="0" y="104"/>
                </a:cxn>
                <a:cxn ang="0">
                  <a:pos x="1168" y="104"/>
                </a:cxn>
                <a:cxn ang="0">
                  <a:pos x="1168" y="0"/>
                </a:cxn>
                <a:cxn ang="0">
                  <a:pos x="1432" y="0"/>
                </a:cxn>
              </a:cxnLst>
              <a:rect l="0" t="0" r="0" b="0"/>
              <a:pathLst>
                <a:path w="1432" h="104">
                  <a:moveTo>
                    <a:pt x="0" y="104"/>
                  </a:moveTo>
                  <a:lnTo>
                    <a:pt x="1168" y="104"/>
                  </a:lnTo>
                  <a:lnTo>
                    <a:pt x="1168" y="0"/>
                  </a:lnTo>
                  <a:lnTo>
                    <a:pt x="1432" y="0"/>
                  </a:ln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6" name="Freeform 29"/>
            <p:cNvSpPr/>
            <p:nvPr/>
          </p:nvSpPr>
          <p:spPr>
            <a:xfrm>
              <a:off x="1848" y="3544"/>
              <a:ext cx="1400" cy="72"/>
            </a:xfrm>
            <a:custGeom>
              <a:avLst/>
              <a:gdLst/>
              <a:ahLst/>
              <a:cxnLst>
                <a:cxn ang="0">
                  <a:pos x="0" y="72"/>
                </a:cxn>
                <a:cxn ang="0">
                  <a:pos x="1240" y="72"/>
                </a:cxn>
                <a:cxn ang="0">
                  <a:pos x="1232" y="0"/>
                </a:cxn>
                <a:cxn ang="0">
                  <a:pos x="1400" y="0"/>
                </a:cxn>
              </a:cxnLst>
              <a:rect l="0" t="0" r="0" b="0"/>
              <a:pathLst>
                <a:path w="1400" h="72">
                  <a:moveTo>
                    <a:pt x="0" y="72"/>
                  </a:moveTo>
                  <a:lnTo>
                    <a:pt x="1240" y="72"/>
                  </a:lnTo>
                  <a:lnTo>
                    <a:pt x="1232" y="0"/>
                  </a:lnTo>
                  <a:lnTo>
                    <a:pt x="1400" y="0"/>
                  </a:ln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7" name="Line 30"/>
            <p:cNvSpPr/>
            <p:nvPr/>
          </p:nvSpPr>
          <p:spPr>
            <a:xfrm>
              <a:off x="1829" y="3734"/>
              <a:ext cx="1448" cy="0"/>
            </a:xfrm>
            <a:prstGeom prst="line">
              <a:avLst/>
            </a:prstGeom>
            <a:ln w="9525" cap="flat" cmpd="sng">
              <a:solidFill>
                <a:srgbClr val="FF0066"/>
              </a:solidFill>
              <a:prstDash val="solid"/>
              <a:round/>
              <a:headEnd type="none" w="med" len="med"/>
              <a:tailEnd type="triangle" w="med" len="med"/>
            </a:ln>
          </p:spPr>
        </p:sp>
        <p:sp>
          <p:nvSpPr>
            <p:cNvPr id="18" name="Line 31"/>
            <p:cNvSpPr/>
            <p:nvPr/>
          </p:nvSpPr>
          <p:spPr>
            <a:xfrm>
              <a:off x="1829" y="3910"/>
              <a:ext cx="1448" cy="0"/>
            </a:xfrm>
            <a:prstGeom prst="line">
              <a:avLst/>
            </a:prstGeom>
            <a:ln w="9525" cap="flat" cmpd="sng">
              <a:solidFill>
                <a:srgbClr val="FF0066"/>
              </a:solidFill>
              <a:prstDash val="solid"/>
              <a:round/>
              <a:headEnd type="none" w="med" len="med"/>
              <a:tailEnd type="triangle" w="med" len="med"/>
            </a:ln>
          </p:spPr>
        </p:sp>
        <p:sp>
          <p:nvSpPr>
            <p:cNvPr id="19" name="Freeform 34"/>
            <p:cNvSpPr/>
            <p:nvPr/>
          </p:nvSpPr>
          <p:spPr>
            <a:xfrm>
              <a:off x="1856" y="3832"/>
              <a:ext cx="1384" cy="208"/>
            </a:xfrm>
            <a:custGeom>
              <a:avLst/>
              <a:gdLst/>
              <a:ahLst/>
              <a:cxnLst>
                <a:cxn ang="0">
                  <a:pos x="0" y="0"/>
                </a:cxn>
                <a:cxn ang="0">
                  <a:pos x="672" y="0"/>
                </a:cxn>
                <a:cxn ang="0">
                  <a:pos x="672" y="208"/>
                </a:cxn>
                <a:cxn ang="0">
                  <a:pos x="1384" y="208"/>
                </a:cxn>
              </a:cxnLst>
              <a:rect l="0" t="0" r="0" b="0"/>
              <a:pathLst>
                <a:path w="1384" h="208">
                  <a:moveTo>
                    <a:pt x="0" y="0"/>
                  </a:moveTo>
                  <a:lnTo>
                    <a:pt x="672" y="0"/>
                  </a:lnTo>
                  <a:lnTo>
                    <a:pt x="672" y="208"/>
                  </a:lnTo>
                  <a:lnTo>
                    <a:pt x="1384" y="208"/>
                  </a:lnTo>
                </a:path>
              </a:pathLst>
            </a:custGeom>
            <a:noFill/>
            <a:ln w="9525" cap="flat" cmpd="sng">
              <a:solidFill>
                <a:schemeClr val="tx1"/>
              </a:solidFill>
              <a:prstDash val="solid"/>
              <a:round/>
              <a:headEnd type="none" w="med" len="med"/>
              <a:tailEnd type="triangle" w="med" len="med"/>
            </a:ln>
          </p:spPr>
          <p:txBody>
            <a:bodyPr/>
            <a:lstStyle/>
            <a:p>
              <a:endParaRPr lang="zh-CN" altLang="en-US"/>
            </a:p>
          </p:txBody>
        </p:sp>
        <p:sp>
          <p:nvSpPr>
            <p:cNvPr id="20" name="Freeform 35"/>
            <p:cNvSpPr/>
            <p:nvPr/>
          </p:nvSpPr>
          <p:spPr>
            <a:xfrm>
              <a:off x="1848" y="3832"/>
              <a:ext cx="1408" cy="184"/>
            </a:xfrm>
            <a:custGeom>
              <a:avLst/>
              <a:gdLst/>
              <a:ahLst/>
              <a:cxnLst>
                <a:cxn ang="0">
                  <a:pos x="0" y="184"/>
                </a:cxn>
                <a:cxn ang="0">
                  <a:pos x="1080" y="184"/>
                </a:cxn>
                <a:cxn ang="0">
                  <a:pos x="1080" y="0"/>
                </a:cxn>
                <a:cxn ang="0">
                  <a:pos x="1408" y="0"/>
                </a:cxn>
              </a:cxnLst>
              <a:rect l="0" t="0" r="0" b="0"/>
              <a:pathLst>
                <a:path w="1408" h="184">
                  <a:moveTo>
                    <a:pt x="0" y="184"/>
                  </a:moveTo>
                  <a:lnTo>
                    <a:pt x="1080" y="184"/>
                  </a:lnTo>
                  <a:lnTo>
                    <a:pt x="1080" y="0"/>
                  </a:lnTo>
                  <a:lnTo>
                    <a:pt x="1408" y="0"/>
                  </a:lnTo>
                </a:path>
              </a:pathLst>
            </a:custGeom>
            <a:noFill/>
            <a:ln w="9525" cap="flat" cmpd="sng">
              <a:solidFill>
                <a:schemeClr val="accent2"/>
              </a:solidFill>
              <a:prstDash val="solid"/>
              <a:round/>
              <a:headEnd type="none" w="med" len="med"/>
              <a:tailEnd type="triangle" w="med" len="med"/>
            </a:ln>
          </p:spPr>
          <p:txBody>
            <a:bodyPr/>
            <a:lstStyle/>
            <a:p>
              <a:endParaRPr lang="zh-CN" altLang="en-US"/>
            </a:p>
          </p:txBody>
        </p:sp>
      </p:grpSp>
      <p:sp>
        <p:nvSpPr>
          <p:cNvPr id="21" name="Rectangle 81"/>
          <p:cNvSpPr/>
          <p:nvPr/>
        </p:nvSpPr>
        <p:spPr>
          <a:xfrm>
            <a:off x="9050338" y="5411788"/>
            <a:ext cx="946150" cy="396875"/>
          </a:xfrm>
          <a:prstGeom prst="rect">
            <a:avLst/>
          </a:prstGeom>
          <a:noFill/>
          <a:ln w="9525">
            <a:noFill/>
          </a:ln>
        </p:spPr>
        <p:txBody>
          <a:bodyPr wrap="none" anchor="t">
            <a:spAutoFit/>
          </a:bodyPr>
          <a:lstStyle/>
          <a:p>
            <a:pPr algn="ctr"/>
            <a:r>
              <a:rPr lang="zh-CN" altLang="en-US" dirty="0">
                <a:solidFill>
                  <a:schemeClr val="accent2"/>
                </a:solidFill>
                <a:latin typeface="Arial" panose="020B0604020202020204" pitchFamily="34" charset="0"/>
                <a:ea typeface="微软雅黑" panose="020B0503020204020204" pitchFamily="34" charset="-122"/>
              </a:rPr>
              <a:t>主文件</a:t>
            </a:r>
            <a:endParaRPr lang="zh-CN" altLang="en-US" dirty="0">
              <a:solidFill>
                <a:schemeClr val="accent2"/>
              </a:solidFill>
              <a:latin typeface="Arial" panose="020B0604020202020204" pitchFamily="34" charset="0"/>
              <a:ea typeface="微软雅黑" panose="020B0503020204020204" pitchFamily="34" charset="-122"/>
            </a:endParaRPr>
          </a:p>
        </p:txBody>
      </p:sp>
      <p:sp>
        <p:nvSpPr>
          <p:cNvPr id="22" name="Rectangle 82"/>
          <p:cNvSpPr/>
          <p:nvPr/>
        </p:nvSpPr>
        <p:spPr>
          <a:xfrm>
            <a:off x="2330450" y="5413375"/>
            <a:ext cx="1200150" cy="396875"/>
          </a:xfrm>
          <a:prstGeom prst="rect">
            <a:avLst/>
          </a:prstGeom>
          <a:noFill/>
          <a:ln w="9525">
            <a:noFill/>
          </a:ln>
        </p:spPr>
        <p:txBody>
          <a:bodyPr wrap="none" anchor="t">
            <a:spAutoFit/>
          </a:bodyPr>
          <a:lstStyle/>
          <a:p>
            <a:pPr algn="ctr"/>
            <a:r>
              <a:rPr lang="zh-CN" altLang="en-US" dirty="0">
                <a:solidFill>
                  <a:schemeClr val="accent2"/>
                </a:solidFill>
                <a:latin typeface="Arial" panose="020B0604020202020204" pitchFamily="34" charset="0"/>
                <a:ea typeface="微软雅黑" panose="020B0503020204020204" pitchFamily="34" charset="-122"/>
              </a:rPr>
              <a:t>索引文件</a:t>
            </a:r>
            <a:endParaRPr lang="zh-CN" altLang="en-US" dirty="0">
              <a:solidFill>
                <a:schemeClr val="accent2"/>
              </a:solidFill>
              <a:latin typeface="Arial" panose="020B0604020202020204" pitchFamily="34" charset="0"/>
              <a:ea typeface="微软雅黑" panose="020B0503020204020204" pitchFamily="34" charset="-122"/>
            </a:endParaRPr>
          </a:p>
        </p:txBody>
      </p:sp>
      <p:sp>
        <p:nvSpPr>
          <p:cNvPr id="29" name="Rectangle 7"/>
          <p:cNvSpPr/>
          <p:nvPr/>
        </p:nvSpPr>
        <p:spPr>
          <a:xfrm>
            <a:off x="4132263" y="3921124"/>
            <a:ext cx="1144587" cy="3841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dirty="0">
                <a:solidFill>
                  <a:schemeClr val="accent2"/>
                </a:solidFill>
                <a:latin typeface="微软雅黑" panose="020B0503020204020204" pitchFamily="34" charset="-122"/>
                <a:ea typeface="微软雅黑" panose="020B0503020204020204" pitchFamily="34" charset="-122"/>
              </a:rPr>
              <a:t>pointer</a:t>
            </a:r>
            <a:endParaRPr lang="en-US" altLang="zh-CN"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为什么需要索引与什么是索引 </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33" name="内容占位符 34"/>
          <p:cNvSpPr>
            <a:spLocks noGrp="1"/>
          </p:cNvSpPr>
          <p:nvPr>
            <p:ph idx="1"/>
          </p:nvPr>
        </p:nvSpPr>
        <p:spPr>
          <a:xfrm>
            <a:off x="396875" y="1219200"/>
            <a:ext cx="11453813" cy="4957763"/>
          </a:xfrm>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索引的一般性特点</a:t>
            </a:r>
            <a:endParaRPr lang="en-US" altLang="zh-CN"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t>在一个表上可以针对不同的属性或属性组合建立不同的索引文件，可建立多个索引文件。索引字段的值可以是</a:t>
            </a:r>
            <a:r>
              <a:rPr lang="en-US" altLang="zh-CN" sz="1800" dirty="0"/>
              <a:t>Table</a:t>
            </a:r>
            <a:r>
              <a:rPr lang="zh-CN" altLang="en-US" sz="1800" dirty="0"/>
              <a:t>中的任何一个属性的值或任何多个属性值的组合值</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索引文件比主文件小很多。通过检索一个小的索引文件</a:t>
            </a:r>
            <a:r>
              <a:rPr lang="en-US" altLang="zh-CN" sz="1800" dirty="0"/>
              <a:t>(</a:t>
            </a:r>
            <a:r>
              <a:rPr lang="zh-CN" altLang="en-US" sz="1800" dirty="0"/>
              <a:t>可全部装载进内存</a:t>
            </a:r>
            <a:r>
              <a:rPr lang="en-US" altLang="zh-CN" sz="1800" dirty="0"/>
              <a:t>)</a:t>
            </a:r>
            <a:r>
              <a:rPr lang="zh-CN" altLang="en-US" sz="1800" dirty="0"/>
              <a:t>，快速定位后，再有针对性的读取非常大的主文件中的有关记录</a:t>
            </a:r>
            <a:endParaRPr lang="zh-CN" altLang="en-US" sz="1800" dirty="0"/>
          </a:p>
          <a:p>
            <a:pPr marL="228600" lvl="1">
              <a:lnSpc>
                <a:spcPct val="100000"/>
              </a:lnSpc>
              <a:spcBef>
                <a:spcPts val="1000"/>
              </a:spcBef>
              <a:buFont typeface="Wingdings" panose="05000000000000000000" pitchFamily="2" charset="2"/>
              <a:buChar char="l"/>
            </a:pPr>
            <a:r>
              <a:rPr lang="zh-CN" altLang="en-US" sz="1800" dirty="0"/>
              <a:t>有索引时，更新操作必须同步更新索引文件和主文件。否则</a:t>
            </a:r>
            <a:r>
              <a:rPr lang="en-US" altLang="zh-CN" sz="1800" dirty="0"/>
              <a:t>…</a:t>
            </a:r>
            <a:endParaRPr lang="en-US" altLang="zh-CN" sz="1800" dirty="0"/>
          </a:p>
          <a:p>
            <a:pPr marL="285750" lvl="1" indent="-285750">
              <a:lnSpc>
                <a:spcPct val="100000"/>
              </a:lnSpc>
              <a:spcBef>
                <a:spcPts val="1000"/>
              </a:spcBef>
              <a:buClr>
                <a:schemeClr val="tx1"/>
              </a:buClr>
              <a:buFont typeface="Wingdings" panose="05000000000000000000" pitchFamily="2" charset="2"/>
              <a:buChar char="n"/>
            </a:pPr>
            <a:endParaRPr lang="zh-CN" altLang="en-US" sz="1600" b="1" dirty="0"/>
          </a:p>
          <a:p>
            <a:pPr marL="0" lvl="1" indent="0">
              <a:lnSpc>
                <a:spcPct val="100000"/>
              </a:lnSpc>
              <a:spcBef>
                <a:spcPts val="1000"/>
              </a:spcBef>
              <a:buFont typeface="Wingdings" panose="05000000000000000000" pitchFamily="2" charset="2"/>
              <a:buNone/>
            </a:pPr>
            <a:endParaRPr lang="zh-CN" altLang="en-US" sz="1800" b="1" dirty="0"/>
          </a:p>
        </p:txBody>
      </p:sp>
      <p:pic>
        <p:nvPicPr>
          <p:cNvPr id="2" name="Picture 10"/>
          <p:cNvPicPr>
            <a:picLocks noChangeAspect="1"/>
          </p:cNvPicPr>
          <p:nvPr/>
        </p:nvPicPr>
        <p:blipFill>
          <a:blip r:embed="rId1"/>
          <a:stretch>
            <a:fillRect/>
          </a:stretch>
        </p:blipFill>
        <p:spPr>
          <a:xfrm>
            <a:off x="4719632" y="4340225"/>
            <a:ext cx="1062038" cy="1504950"/>
          </a:xfrm>
          <a:prstGeom prst="rect">
            <a:avLst/>
          </a:prstGeom>
          <a:noFill/>
          <a:ln w="9525">
            <a:noFill/>
          </a:ln>
        </p:spPr>
      </p:pic>
      <p:pic>
        <p:nvPicPr>
          <p:cNvPr id="4" name="Picture 11"/>
          <p:cNvPicPr>
            <a:picLocks noChangeAspect="1"/>
          </p:cNvPicPr>
          <p:nvPr/>
        </p:nvPicPr>
        <p:blipFill>
          <a:blip r:embed="rId2"/>
          <a:stretch>
            <a:fillRect/>
          </a:stretch>
        </p:blipFill>
        <p:spPr>
          <a:xfrm>
            <a:off x="6638920" y="4210050"/>
            <a:ext cx="2479675" cy="1625600"/>
          </a:xfrm>
          <a:prstGeom prst="rect">
            <a:avLst/>
          </a:prstGeom>
          <a:noFill/>
          <a:ln w="9525">
            <a:noFill/>
          </a:ln>
        </p:spPr>
      </p:pic>
      <p:sp>
        <p:nvSpPr>
          <p:cNvPr id="23" name="Text Box 12"/>
          <p:cNvSpPr txBox="1"/>
          <p:nvPr/>
        </p:nvSpPr>
        <p:spPr>
          <a:xfrm>
            <a:off x="9290670" y="5273675"/>
            <a:ext cx="770275" cy="369332"/>
          </a:xfrm>
          <a:prstGeom prst="rect">
            <a:avLst/>
          </a:prstGeom>
          <a:noFill/>
          <a:ln w="9525">
            <a:noFill/>
          </a:ln>
        </p:spPr>
        <p:txBody>
          <a:bodyPr wrap="none" anchor="t">
            <a:spAutoFit/>
          </a:bodyPr>
          <a:lstStyle/>
          <a:p>
            <a:pPr algn="ctr"/>
            <a:r>
              <a:rPr lang="en-US" altLang="zh-CN" b="1" dirty="0">
                <a:solidFill>
                  <a:schemeClr val="accent2"/>
                </a:solidFill>
                <a:latin typeface="Arial" panose="020B0604020202020204" pitchFamily="34" charset="0"/>
                <a:ea typeface="楷体_GB2312" pitchFamily="49" charset="-122"/>
              </a:rPr>
              <a:t>Table</a:t>
            </a:r>
            <a:endParaRPr lang="en-US" altLang="zh-CN" b="1" dirty="0">
              <a:solidFill>
                <a:schemeClr val="accent2"/>
              </a:solidFill>
              <a:latin typeface="Arial" panose="020B0604020202020204" pitchFamily="34" charset="0"/>
              <a:ea typeface="楷体_GB2312" pitchFamily="49" charset="-122"/>
            </a:endParaRPr>
          </a:p>
        </p:txBody>
      </p:sp>
      <p:sp>
        <p:nvSpPr>
          <p:cNvPr id="24" name="Text Box 13"/>
          <p:cNvSpPr txBox="1"/>
          <p:nvPr/>
        </p:nvSpPr>
        <p:spPr>
          <a:xfrm>
            <a:off x="3825872" y="5272088"/>
            <a:ext cx="787395" cy="369332"/>
          </a:xfrm>
          <a:prstGeom prst="rect">
            <a:avLst/>
          </a:prstGeom>
          <a:noFill/>
          <a:ln w="9525">
            <a:noFill/>
          </a:ln>
        </p:spPr>
        <p:txBody>
          <a:bodyPr wrap="none" anchor="t">
            <a:spAutoFit/>
          </a:bodyPr>
          <a:lstStyle/>
          <a:p>
            <a:pPr algn="ctr"/>
            <a:r>
              <a:rPr lang="en-US" altLang="zh-CN" b="1" dirty="0">
                <a:solidFill>
                  <a:schemeClr val="accent2"/>
                </a:solidFill>
                <a:latin typeface="Arial" panose="020B0604020202020204" pitchFamily="34" charset="0"/>
                <a:ea typeface="楷体_GB2312" pitchFamily="49" charset="-122"/>
              </a:rPr>
              <a:t>Index</a:t>
            </a:r>
            <a:endParaRPr lang="en-US" altLang="zh-CN" b="1" dirty="0">
              <a:solidFill>
                <a:schemeClr val="accent2"/>
              </a:solidFill>
              <a:latin typeface="Arial" panose="020B0604020202020204" pitchFamily="34" charset="0"/>
              <a:ea typeface="楷体_GB2312" pitchFamily="49" charset="-122"/>
            </a:endParaRPr>
          </a:p>
        </p:txBody>
      </p:sp>
      <p:grpSp>
        <p:nvGrpSpPr>
          <p:cNvPr id="25" name="Group 23"/>
          <p:cNvGrpSpPr/>
          <p:nvPr/>
        </p:nvGrpSpPr>
        <p:grpSpPr>
          <a:xfrm>
            <a:off x="5649907" y="4546600"/>
            <a:ext cx="1122363" cy="1238250"/>
            <a:chOff x="2003" y="2746"/>
            <a:chExt cx="1340" cy="780"/>
          </a:xfrm>
        </p:grpSpPr>
        <p:sp>
          <p:nvSpPr>
            <p:cNvPr id="26" name="Line 14"/>
            <p:cNvSpPr/>
            <p:nvPr/>
          </p:nvSpPr>
          <p:spPr>
            <a:xfrm>
              <a:off x="2003" y="3418"/>
              <a:ext cx="1332" cy="84"/>
            </a:xfrm>
            <a:prstGeom prst="line">
              <a:avLst/>
            </a:prstGeom>
            <a:ln w="9525" cap="flat" cmpd="sng">
              <a:solidFill>
                <a:srgbClr val="FF0066"/>
              </a:solidFill>
              <a:prstDash val="solid"/>
              <a:round/>
              <a:headEnd type="none" w="med" len="med"/>
              <a:tailEnd type="triangle" w="med" len="med"/>
            </a:ln>
          </p:spPr>
        </p:sp>
        <p:sp>
          <p:nvSpPr>
            <p:cNvPr id="27" name="Line 15"/>
            <p:cNvSpPr/>
            <p:nvPr/>
          </p:nvSpPr>
          <p:spPr>
            <a:xfrm flipV="1">
              <a:off x="2003" y="3410"/>
              <a:ext cx="1336" cy="116"/>
            </a:xfrm>
            <a:prstGeom prst="line">
              <a:avLst/>
            </a:prstGeom>
            <a:ln w="9525" cap="flat" cmpd="sng">
              <a:solidFill>
                <a:srgbClr val="FF0066"/>
              </a:solidFill>
              <a:prstDash val="solid"/>
              <a:round/>
              <a:headEnd type="none" w="med" len="med"/>
              <a:tailEnd type="triangle" w="med" len="med"/>
            </a:ln>
          </p:spPr>
        </p:sp>
        <p:sp>
          <p:nvSpPr>
            <p:cNvPr id="28" name="Line 16"/>
            <p:cNvSpPr/>
            <p:nvPr/>
          </p:nvSpPr>
          <p:spPr>
            <a:xfrm>
              <a:off x="2007" y="3318"/>
              <a:ext cx="1336" cy="0"/>
            </a:xfrm>
            <a:prstGeom prst="line">
              <a:avLst/>
            </a:prstGeom>
            <a:ln w="9525" cap="flat" cmpd="sng">
              <a:solidFill>
                <a:srgbClr val="FF0066"/>
              </a:solidFill>
              <a:prstDash val="solid"/>
              <a:round/>
              <a:headEnd type="none" w="med" len="med"/>
              <a:tailEnd type="triangle" w="med" len="med"/>
            </a:ln>
          </p:spPr>
        </p:sp>
        <p:sp>
          <p:nvSpPr>
            <p:cNvPr id="30" name="Line 17"/>
            <p:cNvSpPr/>
            <p:nvPr/>
          </p:nvSpPr>
          <p:spPr>
            <a:xfrm flipV="1">
              <a:off x="2011" y="2746"/>
              <a:ext cx="1296" cy="484"/>
            </a:xfrm>
            <a:prstGeom prst="line">
              <a:avLst/>
            </a:prstGeom>
            <a:ln w="9525" cap="flat" cmpd="sng">
              <a:solidFill>
                <a:srgbClr val="FF0066"/>
              </a:solidFill>
              <a:prstDash val="solid"/>
              <a:round/>
              <a:headEnd type="none" w="med" len="med"/>
              <a:tailEnd type="triangle" w="med" len="med"/>
            </a:ln>
          </p:spPr>
        </p:sp>
        <p:sp>
          <p:nvSpPr>
            <p:cNvPr id="32" name="Line 18"/>
            <p:cNvSpPr/>
            <p:nvPr/>
          </p:nvSpPr>
          <p:spPr>
            <a:xfrm>
              <a:off x="2007" y="2750"/>
              <a:ext cx="1300" cy="200"/>
            </a:xfrm>
            <a:prstGeom prst="line">
              <a:avLst/>
            </a:prstGeom>
            <a:ln w="9525" cap="flat" cmpd="sng">
              <a:solidFill>
                <a:srgbClr val="FF0066"/>
              </a:solidFill>
              <a:prstDash val="solid"/>
              <a:round/>
              <a:headEnd type="none" w="med" len="med"/>
              <a:tailEnd type="triangle" w="med" len="med"/>
            </a:ln>
          </p:spPr>
        </p:sp>
        <p:sp>
          <p:nvSpPr>
            <p:cNvPr id="34" name="Line 19"/>
            <p:cNvSpPr/>
            <p:nvPr/>
          </p:nvSpPr>
          <p:spPr>
            <a:xfrm>
              <a:off x="2007" y="2858"/>
              <a:ext cx="1296" cy="188"/>
            </a:xfrm>
            <a:prstGeom prst="line">
              <a:avLst/>
            </a:prstGeom>
            <a:ln w="9525" cap="flat" cmpd="sng">
              <a:solidFill>
                <a:srgbClr val="FF0066"/>
              </a:solidFill>
              <a:prstDash val="solid"/>
              <a:round/>
              <a:headEnd type="none" w="med" len="med"/>
              <a:tailEnd type="triangle" w="med" len="med"/>
            </a:ln>
          </p:spPr>
        </p:sp>
        <p:sp>
          <p:nvSpPr>
            <p:cNvPr id="35" name="Line 20"/>
            <p:cNvSpPr/>
            <p:nvPr/>
          </p:nvSpPr>
          <p:spPr>
            <a:xfrm>
              <a:off x="2007" y="2946"/>
              <a:ext cx="1292" cy="192"/>
            </a:xfrm>
            <a:prstGeom prst="line">
              <a:avLst/>
            </a:prstGeom>
            <a:ln w="9525" cap="flat" cmpd="sng">
              <a:solidFill>
                <a:srgbClr val="FF0066"/>
              </a:solidFill>
              <a:prstDash val="solid"/>
              <a:round/>
              <a:headEnd type="none" w="med" len="med"/>
              <a:tailEnd type="triangle" w="med" len="med"/>
            </a:ln>
          </p:spPr>
        </p:sp>
        <p:sp>
          <p:nvSpPr>
            <p:cNvPr id="36" name="Line 21"/>
            <p:cNvSpPr/>
            <p:nvPr/>
          </p:nvSpPr>
          <p:spPr>
            <a:xfrm>
              <a:off x="2011" y="3042"/>
              <a:ext cx="1280" cy="180"/>
            </a:xfrm>
            <a:prstGeom prst="line">
              <a:avLst/>
            </a:prstGeom>
            <a:ln w="9525" cap="flat" cmpd="sng">
              <a:solidFill>
                <a:srgbClr val="FF0066"/>
              </a:solidFill>
              <a:prstDash val="solid"/>
              <a:round/>
              <a:headEnd type="none" w="med" len="med"/>
              <a:tailEnd type="triangle" w="med" len="med"/>
            </a:ln>
          </p:spPr>
        </p:sp>
        <p:sp>
          <p:nvSpPr>
            <p:cNvPr id="37" name="Line 22"/>
            <p:cNvSpPr/>
            <p:nvPr/>
          </p:nvSpPr>
          <p:spPr>
            <a:xfrm flipV="1">
              <a:off x="2011" y="2850"/>
              <a:ext cx="1296" cy="288"/>
            </a:xfrm>
            <a:prstGeom prst="line">
              <a:avLst/>
            </a:prstGeom>
            <a:ln w="9525" cap="flat" cmpd="sng">
              <a:solidFill>
                <a:srgbClr val="FF0066"/>
              </a:solidFill>
              <a:prstDash val="solid"/>
              <a:round/>
              <a:headEnd type="none" w="med" len="med"/>
              <a:tailEnd type="triangle" w="med" len="med"/>
            </a:ln>
          </p:spPr>
        </p:sp>
      </p:grpSp>
      <p:sp>
        <p:nvSpPr>
          <p:cNvPr id="38" name="Text Box 24"/>
          <p:cNvSpPr txBox="1"/>
          <p:nvPr/>
        </p:nvSpPr>
        <p:spPr>
          <a:xfrm>
            <a:off x="2393513" y="4835525"/>
            <a:ext cx="877163" cy="369332"/>
          </a:xfrm>
          <a:prstGeom prst="rect">
            <a:avLst/>
          </a:prstGeom>
          <a:noFill/>
          <a:ln w="9525">
            <a:noFill/>
          </a:ln>
        </p:spPr>
        <p:txBody>
          <a:bodyPr wrap="none" anchor="t">
            <a:spAutoFit/>
          </a:bodyPr>
          <a:lstStyle/>
          <a:p>
            <a:pPr algn="ctr"/>
            <a:r>
              <a:rPr lang="zh-CN" altLang="en-US" b="1" dirty="0">
                <a:solidFill>
                  <a:srgbClr val="CC0000"/>
                </a:solidFill>
                <a:latin typeface="Arial" panose="020B0604020202020204" pitchFamily="34" charset="0"/>
                <a:ea typeface="楷体_GB2312" pitchFamily="49" charset="-122"/>
              </a:rPr>
              <a:t>检索</a:t>
            </a:r>
            <a:r>
              <a:rPr lang="en-US" altLang="zh-CN" b="1" dirty="0">
                <a:solidFill>
                  <a:srgbClr val="CC0000"/>
                </a:solidFill>
                <a:latin typeface="Arial" panose="020B0604020202020204" pitchFamily="34" charset="0"/>
                <a:ea typeface="楷体_GB2312" pitchFamily="49" charset="-122"/>
              </a:rPr>
              <a:t>…</a:t>
            </a:r>
            <a:endParaRPr lang="en-US" altLang="zh-CN" b="1" dirty="0">
              <a:solidFill>
                <a:srgbClr val="CC0000"/>
              </a:solidFill>
              <a:latin typeface="Arial" panose="020B0604020202020204" pitchFamily="34" charset="0"/>
              <a:ea typeface="楷体_GB2312" pitchFamily="49" charset="-122"/>
            </a:endParaRPr>
          </a:p>
        </p:txBody>
      </p:sp>
      <p:sp>
        <p:nvSpPr>
          <p:cNvPr id="39" name="Line 25"/>
          <p:cNvSpPr/>
          <p:nvPr/>
        </p:nvSpPr>
        <p:spPr>
          <a:xfrm>
            <a:off x="3309932" y="4991100"/>
            <a:ext cx="1477963" cy="0"/>
          </a:xfrm>
          <a:prstGeom prst="line">
            <a:avLst/>
          </a:prstGeom>
          <a:ln w="38100" cap="flat" cmpd="sng">
            <a:solidFill>
              <a:srgbClr val="CC0000"/>
            </a:solidFill>
            <a:prstDash val="solid"/>
            <a:round/>
            <a:headEnd type="triangle" w="med" len="med"/>
            <a:tailEnd type="none" w="med" len="med"/>
          </a:ln>
        </p:spPr>
      </p:sp>
      <p:sp>
        <p:nvSpPr>
          <p:cNvPr id="40" name="Freeform 27"/>
          <p:cNvSpPr/>
          <p:nvPr/>
        </p:nvSpPr>
        <p:spPr>
          <a:xfrm>
            <a:off x="2897182" y="5232400"/>
            <a:ext cx="3824288" cy="944563"/>
          </a:xfrm>
          <a:custGeom>
            <a:avLst/>
            <a:gdLst/>
            <a:ahLst/>
            <a:cxnLst>
              <a:cxn ang="0">
                <a:pos x="0" y="0"/>
              </a:cxn>
              <a:cxn ang="0">
                <a:pos x="0" y="595"/>
              </a:cxn>
              <a:cxn ang="0">
                <a:pos x="1910" y="595"/>
              </a:cxn>
              <a:cxn ang="0">
                <a:pos x="2409" y="67"/>
              </a:cxn>
            </a:cxnLst>
            <a:rect l="0" t="0" r="0" b="0"/>
            <a:pathLst>
              <a:path w="2409" h="595">
                <a:moveTo>
                  <a:pt x="0" y="0"/>
                </a:moveTo>
                <a:lnTo>
                  <a:pt x="0" y="595"/>
                </a:lnTo>
                <a:lnTo>
                  <a:pt x="1910" y="595"/>
                </a:lnTo>
                <a:lnTo>
                  <a:pt x="2409" y="67"/>
                </a:lnTo>
              </a:path>
            </a:pathLst>
          </a:custGeom>
          <a:noFill/>
          <a:ln w="38100" cap="flat" cmpd="sng">
            <a:solidFill>
              <a:srgbClr val="CC0000"/>
            </a:solidFill>
            <a:prstDash val="solid"/>
            <a:round/>
            <a:headEnd type="triangle" w="med" len="med"/>
            <a:tailEnd type="none" w="med" len="med"/>
          </a:ln>
        </p:spPr>
        <p:txBody>
          <a:bodyPr/>
          <a:lstStyle/>
          <a:p>
            <a:endParaRPr lang="zh-CN" altLang="en-US" b="1"/>
          </a:p>
        </p:txBody>
      </p:sp>
      <p:sp>
        <p:nvSpPr>
          <p:cNvPr id="41" name="Text Box 28"/>
          <p:cNvSpPr txBox="1"/>
          <p:nvPr/>
        </p:nvSpPr>
        <p:spPr>
          <a:xfrm>
            <a:off x="2395100" y="3744913"/>
            <a:ext cx="877163" cy="369332"/>
          </a:xfrm>
          <a:prstGeom prst="rect">
            <a:avLst/>
          </a:prstGeom>
          <a:noFill/>
          <a:ln w="9525">
            <a:noFill/>
          </a:ln>
        </p:spPr>
        <p:txBody>
          <a:bodyPr wrap="none" anchor="t">
            <a:spAutoFit/>
          </a:bodyPr>
          <a:lstStyle/>
          <a:p>
            <a:pPr algn="ctr"/>
            <a:r>
              <a:rPr lang="zh-CN" altLang="en-US" b="1" dirty="0">
                <a:solidFill>
                  <a:schemeClr val="accent2"/>
                </a:solidFill>
                <a:latin typeface="Arial" panose="020B0604020202020204" pitchFamily="34" charset="0"/>
                <a:ea typeface="楷体_GB2312" pitchFamily="49" charset="-122"/>
              </a:rPr>
              <a:t>更新</a:t>
            </a:r>
            <a:r>
              <a:rPr lang="en-US" altLang="zh-CN" b="1" dirty="0">
                <a:solidFill>
                  <a:schemeClr val="accent2"/>
                </a:solidFill>
                <a:latin typeface="Arial" panose="020B0604020202020204" pitchFamily="34" charset="0"/>
                <a:ea typeface="楷体_GB2312" pitchFamily="49" charset="-122"/>
              </a:rPr>
              <a:t>…</a:t>
            </a:r>
            <a:endParaRPr lang="en-US" altLang="zh-CN" b="1" dirty="0">
              <a:solidFill>
                <a:schemeClr val="accent2"/>
              </a:solidFill>
              <a:latin typeface="Arial" panose="020B0604020202020204" pitchFamily="34" charset="0"/>
              <a:ea typeface="楷体_GB2312" pitchFamily="49" charset="-122"/>
            </a:endParaRPr>
          </a:p>
        </p:txBody>
      </p:sp>
      <p:sp>
        <p:nvSpPr>
          <p:cNvPr id="42" name="Freeform 29"/>
          <p:cNvSpPr/>
          <p:nvPr/>
        </p:nvSpPr>
        <p:spPr>
          <a:xfrm>
            <a:off x="3395657" y="3873500"/>
            <a:ext cx="3498850" cy="827088"/>
          </a:xfrm>
          <a:custGeom>
            <a:avLst/>
            <a:gdLst/>
            <a:ahLst/>
            <a:cxnLst>
              <a:cxn ang="0">
                <a:pos x="0" y="0"/>
              </a:cxn>
              <a:cxn ang="0">
                <a:pos x="1783" y="0"/>
              </a:cxn>
              <a:cxn ang="0">
                <a:pos x="2204" y="521"/>
              </a:cxn>
            </a:cxnLst>
            <a:rect l="0" t="0" r="0" b="0"/>
            <a:pathLst>
              <a:path w="2204" h="521">
                <a:moveTo>
                  <a:pt x="0" y="0"/>
                </a:moveTo>
                <a:lnTo>
                  <a:pt x="1783" y="0"/>
                </a:lnTo>
                <a:lnTo>
                  <a:pt x="2204" y="521"/>
                </a:lnTo>
              </a:path>
            </a:pathLst>
          </a:custGeom>
          <a:noFill/>
          <a:ln w="9525" cap="flat" cmpd="sng">
            <a:solidFill>
              <a:schemeClr val="accent2"/>
            </a:solidFill>
            <a:prstDash val="solid"/>
            <a:round/>
            <a:headEnd type="none" w="med" len="med"/>
            <a:tailEnd type="triangle" w="med" len="med"/>
          </a:ln>
        </p:spPr>
        <p:txBody>
          <a:bodyPr/>
          <a:lstStyle/>
          <a:p>
            <a:endParaRPr lang="zh-CN" altLang="en-US" b="1"/>
          </a:p>
        </p:txBody>
      </p:sp>
      <p:sp>
        <p:nvSpPr>
          <p:cNvPr id="43" name="Freeform 30"/>
          <p:cNvSpPr/>
          <p:nvPr/>
        </p:nvSpPr>
        <p:spPr>
          <a:xfrm>
            <a:off x="3395657" y="4005263"/>
            <a:ext cx="2003425" cy="1189037"/>
          </a:xfrm>
          <a:custGeom>
            <a:avLst/>
            <a:gdLst/>
            <a:ahLst/>
            <a:cxnLst>
              <a:cxn ang="0">
                <a:pos x="0" y="0"/>
              </a:cxn>
              <a:cxn ang="0">
                <a:pos x="832" y="0"/>
              </a:cxn>
              <a:cxn ang="0">
                <a:pos x="1262" y="749"/>
              </a:cxn>
            </a:cxnLst>
            <a:rect l="0" t="0" r="0" b="0"/>
            <a:pathLst>
              <a:path w="1262" h="749">
                <a:moveTo>
                  <a:pt x="0" y="0"/>
                </a:moveTo>
                <a:lnTo>
                  <a:pt x="832" y="0"/>
                </a:lnTo>
                <a:lnTo>
                  <a:pt x="1262" y="749"/>
                </a:lnTo>
              </a:path>
            </a:pathLst>
          </a:custGeom>
          <a:noFill/>
          <a:ln w="9525" cap="flat" cmpd="sng">
            <a:solidFill>
              <a:schemeClr val="accent2"/>
            </a:solidFill>
            <a:prstDash val="solid"/>
            <a:round/>
            <a:headEnd type="none" w="med" len="med"/>
            <a:tailEnd type="triangle" w="med" len="med"/>
          </a:ln>
        </p:spPr>
        <p:txBody>
          <a:bodyPr/>
          <a:lstStyle/>
          <a:p>
            <a:endParaRPr lang="zh-CN" altLang="en-US" b="1"/>
          </a:p>
        </p:txBody>
      </p:sp>
      <p:sp>
        <p:nvSpPr>
          <p:cNvPr id="44" name="Rectangle 32"/>
          <p:cNvSpPr/>
          <p:nvPr/>
        </p:nvSpPr>
        <p:spPr>
          <a:xfrm>
            <a:off x="9327713" y="5627688"/>
            <a:ext cx="877163" cy="369332"/>
          </a:xfrm>
          <a:prstGeom prst="rect">
            <a:avLst/>
          </a:prstGeom>
          <a:noFill/>
          <a:ln w="9525">
            <a:noFill/>
          </a:ln>
        </p:spPr>
        <p:txBody>
          <a:bodyPr wrap="none" anchor="t">
            <a:spAutoFit/>
          </a:bodyPr>
          <a:lstStyle/>
          <a:p>
            <a:pPr algn="ctr"/>
            <a:r>
              <a:rPr lang="zh-CN" altLang="en-US" b="1" dirty="0">
                <a:solidFill>
                  <a:schemeClr val="accent2"/>
                </a:solidFill>
                <a:latin typeface="Arial" panose="020B0604020202020204" pitchFamily="34" charset="0"/>
                <a:ea typeface="微软雅黑" panose="020B0503020204020204" pitchFamily="34" charset="-122"/>
              </a:rPr>
              <a:t>主文件</a:t>
            </a:r>
            <a:endParaRPr lang="zh-CN" altLang="en-US" b="1" dirty="0">
              <a:solidFill>
                <a:schemeClr val="accent2"/>
              </a:solidFill>
              <a:latin typeface="Arial" panose="020B0604020202020204" pitchFamily="34" charset="0"/>
              <a:ea typeface="微软雅黑" panose="020B0503020204020204" pitchFamily="34" charset="-122"/>
            </a:endParaRPr>
          </a:p>
        </p:txBody>
      </p:sp>
      <p:sp>
        <p:nvSpPr>
          <p:cNvPr id="45" name="Rectangle 33"/>
          <p:cNvSpPr/>
          <p:nvPr/>
        </p:nvSpPr>
        <p:spPr>
          <a:xfrm>
            <a:off x="3533809" y="5629275"/>
            <a:ext cx="1107996" cy="369332"/>
          </a:xfrm>
          <a:prstGeom prst="rect">
            <a:avLst/>
          </a:prstGeom>
          <a:noFill/>
          <a:ln w="9525">
            <a:noFill/>
          </a:ln>
        </p:spPr>
        <p:txBody>
          <a:bodyPr wrap="none" anchor="t">
            <a:spAutoFit/>
          </a:bodyPr>
          <a:lstStyle/>
          <a:p>
            <a:pPr algn="ctr"/>
            <a:r>
              <a:rPr lang="zh-CN" altLang="en-US" b="1" dirty="0">
                <a:solidFill>
                  <a:schemeClr val="accent2"/>
                </a:solidFill>
                <a:latin typeface="Arial" panose="020B0604020202020204" pitchFamily="34" charset="0"/>
                <a:ea typeface="微软雅黑" panose="020B0503020204020204" pitchFamily="34" charset="-122"/>
              </a:rPr>
              <a:t>索引文件</a:t>
            </a:r>
            <a:endParaRPr lang="zh-CN" altLang="en-US" b="1" dirty="0">
              <a:solidFill>
                <a:schemeClr val="accent2"/>
              </a:solidFill>
              <a:latin typeface="Arial" panose="020B0604020202020204" pitchFamily="34"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additive="base">
                                        <p:cTn id="11" dur="500" fill="hold"/>
                                        <p:tgtEl>
                                          <p:spTgt spid="42"/>
                                        </p:tgtEl>
                                        <p:attrNameLst>
                                          <p:attrName>ppt_x</p:attrName>
                                        </p:attrNameLst>
                                      </p:cBhvr>
                                      <p:tavLst>
                                        <p:tav tm="0">
                                          <p:val>
                                            <p:strVal val="#ppt_x"/>
                                          </p:val>
                                        </p:tav>
                                        <p:tav tm="100000">
                                          <p:val>
                                            <p:strVal val="#ppt_x"/>
                                          </p:val>
                                        </p:tav>
                                      </p:tavLst>
                                    </p:anim>
                                    <p:anim calcmode="lin" valueType="num">
                                      <p:cBhvr additive="base">
                                        <p:cTn id="12" dur="500" fill="hold"/>
                                        <p:tgtEl>
                                          <p:spTgt spid="4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anim calcmode="lin" valueType="num">
                                      <p:cBhvr additive="base">
                                        <p:cTn id="15" dur="500" fill="hold"/>
                                        <p:tgtEl>
                                          <p:spTgt spid="43"/>
                                        </p:tgtEl>
                                        <p:attrNameLst>
                                          <p:attrName>ppt_x</p:attrName>
                                        </p:attrNameLst>
                                      </p:cBhvr>
                                      <p:tavLst>
                                        <p:tav tm="0">
                                          <p:val>
                                            <p:strVal val="#ppt_x"/>
                                          </p:val>
                                        </p:tav>
                                        <p:tav tm="100000">
                                          <p:val>
                                            <p:strVal val="#ppt_x"/>
                                          </p:val>
                                        </p:tav>
                                      </p:tavLst>
                                    </p:anim>
                                    <p:anim calcmode="lin" valueType="num">
                                      <p:cBhvr additive="base">
                                        <p:cTn id="1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bldLvl="0" animBg="1"/>
      <p:bldP spid="43"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为什么需要索引与什么是索引 </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33" name="内容占位符 34"/>
          <p:cNvSpPr>
            <a:spLocks noGrp="1"/>
          </p:cNvSpPr>
          <p:nvPr>
            <p:ph idx="1"/>
          </p:nvPr>
        </p:nvSpPr>
        <p:spPr>
          <a:xfrm>
            <a:off x="396875" y="1219200"/>
            <a:ext cx="11453813" cy="4957763"/>
          </a:xfrm>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关于索引应用的评价问题</a:t>
            </a:r>
            <a:endParaRPr lang="en-US" altLang="zh-CN" dirty="0">
              <a:latin typeface="微软雅黑" panose="020B0503020204020204" pitchFamily="34" charset="-122"/>
              <a:ea typeface="微软雅黑" panose="020B0503020204020204" pitchFamily="34" charset="-122"/>
            </a:endParaRPr>
          </a:p>
          <a:p>
            <a:pPr marL="285750" lvl="1" indent="-285750">
              <a:lnSpc>
                <a:spcPct val="100000"/>
              </a:lnSpc>
              <a:spcBef>
                <a:spcPts val="1000"/>
              </a:spcBef>
              <a:buClr>
                <a:schemeClr val="tx1"/>
              </a:buClr>
              <a:buFont typeface="Wingdings" panose="05000000000000000000" pitchFamily="2" charset="2"/>
              <a:buChar char="n"/>
            </a:pPr>
            <a:endParaRPr lang="zh-CN" altLang="en-US" sz="1600" b="1" dirty="0"/>
          </a:p>
          <a:p>
            <a:pPr marL="228600" lvl="1">
              <a:lnSpc>
                <a:spcPct val="100000"/>
              </a:lnSpc>
              <a:spcBef>
                <a:spcPts val="1000"/>
              </a:spcBef>
              <a:buFont typeface="Wingdings" panose="05000000000000000000" pitchFamily="2" charset="2"/>
              <a:buChar char="l"/>
            </a:pPr>
            <a:endParaRPr lang="zh-CN" altLang="en-US" sz="1800" b="1" dirty="0"/>
          </a:p>
          <a:p>
            <a:pPr marL="0" lvl="1" indent="0">
              <a:lnSpc>
                <a:spcPct val="110000"/>
              </a:lnSpc>
              <a:spcBef>
                <a:spcPts val="1000"/>
              </a:spcBef>
              <a:buNone/>
            </a:pPr>
            <a:endParaRPr lang="zh-CN" altLang="en-US" sz="1800" b="1" dirty="0">
              <a:solidFill>
                <a:srgbClr val="FF0000"/>
              </a:solidFill>
            </a:endParaRPr>
          </a:p>
          <a:p>
            <a:pPr marL="228600" lvl="1">
              <a:lnSpc>
                <a:spcPct val="110000"/>
              </a:lnSpc>
              <a:spcBef>
                <a:spcPts val="1000"/>
              </a:spcBef>
              <a:buFont typeface="Wingdings" panose="05000000000000000000" pitchFamily="2" charset="2"/>
              <a:buChar char="l"/>
            </a:pPr>
            <a:endParaRPr lang="zh-CN" altLang="en-US" sz="1800" b="1" dirty="0"/>
          </a:p>
          <a:p>
            <a:pPr marL="228600" lvl="1">
              <a:lnSpc>
                <a:spcPct val="110000"/>
              </a:lnSpc>
              <a:spcBef>
                <a:spcPts val="1000"/>
              </a:spcBef>
              <a:buFont typeface="Wingdings" panose="05000000000000000000" pitchFamily="2" charset="2"/>
              <a:buChar char="l"/>
            </a:pPr>
            <a:endParaRPr lang="en-US" altLang="zh-CN" sz="1800" b="1" dirty="0"/>
          </a:p>
          <a:p>
            <a:pPr marL="228600" lvl="1">
              <a:lnSpc>
                <a:spcPct val="110000"/>
              </a:lnSpc>
              <a:spcBef>
                <a:spcPts val="1000"/>
              </a:spcBef>
              <a:buFont typeface="Wingdings" panose="05000000000000000000" pitchFamily="2" charset="2"/>
              <a:buChar char="l"/>
            </a:pPr>
            <a:endParaRPr lang="zh-CN" altLang="en-US" sz="1800" b="1" dirty="0"/>
          </a:p>
          <a:p>
            <a:pPr marL="228600" lvl="1">
              <a:lnSpc>
                <a:spcPct val="110000"/>
              </a:lnSpc>
              <a:spcBef>
                <a:spcPts val="1000"/>
              </a:spcBef>
              <a:buFont typeface="Wingdings" panose="05000000000000000000" pitchFamily="2" charset="2"/>
              <a:buChar char="l"/>
            </a:pPr>
            <a:endParaRPr lang="en-US" altLang="zh-CN" sz="1800" b="1" dirty="0"/>
          </a:p>
          <a:p>
            <a:pPr marL="0" lvl="1" indent="0">
              <a:lnSpc>
                <a:spcPct val="110000"/>
              </a:lnSpc>
              <a:spcBef>
                <a:spcPts val="1000"/>
              </a:spcBef>
              <a:buNone/>
            </a:pPr>
            <a:endParaRPr lang="zh-CN" altLang="en-US" sz="1800" b="1" dirty="0"/>
          </a:p>
          <a:p>
            <a:pPr marL="228600" lvl="1">
              <a:lnSpc>
                <a:spcPct val="100000"/>
              </a:lnSpc>
              <a:spcBef>
                <a:spcPts val="1000"/>
              </a:spcBef>
              <a:buFont typeface="Wingdings" panose="05000000000000000000" pitchFamily="2" charset="2"/>
              <a:buChar char="l"/>
            </a:pPr>
            <a:endParaRPr lang="zh-CN" altLang="en-US" sz="1800" b="1" dirty="0"/>
          </a:p>
        </p:txBody>
      </p:sp>
      <p:sp>
        <p:nvSpPr>
          <p:cNvPr id="8" name="内容占位符 1"/>
          <p:cNvSpPr txBox="1"/>
          <p:nvPr/>
        </p:nvSpPr>
        <p:spPr>
          <a:xfrm>
            <a:off x="404089" y="1850661"/>
            <a:ext cx="5562598" cy="4828096"/>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l"/>
            </a:pPr>
            <a:r>
              <a:rPr lang="en-US" altLang="zh-CN" sz="2600" b="0" dirty="0">
                <a:latin typeface="微软雅黑" panose="020B0503020204020204" pitchFamily="34" charset="-122"/>
                <a:ea typeface="微软雅黑" panose="020B0503020204020204" pitchFamily="34" charset="-122"/>
              </a:rPr>
              <a:t> </a:t>
            </a:r>
            <a:r>
              <a:rPr lang="zh-CN" altLang="en-US" sz="3100" b="0" dirty="0">
                <a:latin typeface="微软雅黑" panose="020B0503020204020204" pitchFamily="34" charset="-122"/>
                <a:ea typeface="微软雅黑" panose="020B0503020204020204" pitchFamily="34" charset="-122"/>
              </a:rPr>
              <a:t>关于索引应用的评价</a:t>
            </a:r>
            <a:br>
              <a:rPr lang="en-US" altLang="zh-CN" b="0" dirty="0"/>
            </a:br>
            <a:r>
              <a:rPr lang="zh-CN" altLang="en-US" sz="2600" b="0" dirty="0">
                <a:latin typeface="微软雅黑" panose="020B0503020204020204" pitchFamily="34" charset="-122"/>
                <a:ea typeface="微软雅黑" panose="020B0503020204020204" pitchFamily="34" charset="-122"/>
              </a:rPr>
              <a:t>索引技术应用使检索效率大幅度提高，但同时其也增加了存储空间、使维护负担加重</a:t>
            </a:r>
            <a:r>
              <a:rPr lang="en-US" altLang="zh-CN" sz="2600" b="0" dirty="0">
                <a:latin typeface="微软雅黑" panose="020B0503020204020204" pitchFamily="34" charset="-122"/>
                <a:ea typeface="微软雅黑" panose="020B0503020204020204" pitchFamily="34" charset="-122"/>
              </a:rPr>
              <a:t>(</a:t>
            </a:r>
            <a:r>
              <a:rPr lang="zh-CN" altLang="en-US" sz="2600" b="0" dirty="0">
                <a:latin typeface="微软雅黑" panose="020B0503020204020204" pitchFamily="34" charset="-122"/>
                <a:ea typeface="微软雅黑" panose="020B0503020204020204" pitchFamily="34" charset="-122"/>
              </a:rPr>
              <a:t>不仅要维护主文件，而且要维护索引文件</a:t>
            </a:r>
            <a:r>
              <a:rPr lang="en-US" altLang="zh-CN" sz="2600" b="0" dirty="0">
                <a:latin typeface="微软雅黑" panose="020B0503020204020204" pitchFamily="34" charset="-122"/>
                <a:ea typeface="微软雅黑" panose="020B0503020204020204" pitchFamily="34" charset="-122"/>
              </a:rPr>
              <a:t>)</a:t>
            </a:r>
            <a:endParaRPr lang="en-US" altLang="zh-CN" sz="2600" b="0" dirty="0">
              <a:latin typeface="微软雅黑" panose="020B0503020204020204" pitchFamily="34" charset="-122"/>
              <a:ea typeface="微软雅黑" panose="020B0503020204020204" pitchFamily="34" charset="-122"/>
            </a:endParaRPr>
          </a:p>
          <a:p>
            <a:pPr>
              <a:lnSpc>
                <a:spcPct val="120000"/>
              </a:lnSpc>
              <a:buFont typeface="Wingdings" panose="05000000000000000000" pitchFamily="2" charset="2"/>
              <a:buChar char="l"/>
            </a:pPr>
            <a:r>
              <a:rPr lang="en-US" altLang="zh-CN" sz="3100" b="0" dirty="0">
                <a:latin typeface="微软雅黑" panose="020B0503020204020204" pitchFamily="34" charset="-122"/>
                <a:ea typeface="微软雅黑" panose="020B0503020204020204" pitchFamily="34" charset="-122"/>
              </a:rPr>
              <a:t> </a:t>
            </a:r>
            <a:r>
              <a:rPr lang="zh-CN" altLang="en-US" sz="3100" b="0" dirty="0">
                <a:latin typeface="微软雅黑" panose="020B0503020204020204" pitchFamily="34" charset="-122"/>
                <a:ea typeface="微软雅黑" panose="020B0503020204020204" pitchFamily="34" charset="-122"/>
              </a:rPr>
              <a:t>衡量索引性能好坏：</a:t>
            </a:r>
            <a:endParaRPr lang="zh-CN" altLang="en-US" sz="3100" b="0" dirty="0">
              <a:latin typeface="微软雅黑" panose="020B0503020204020204" pitchFamily="34" charset="-122"/>
              <a:ea typeface="微软雅黑" panose="020B0503020204020204" pitchFamily="34" charset="-122"/>
            </a:endParaRPr>
          </a:p>
          <a:p>
            <a:pPr indent="0" eaLnBrk="0" hangingPunct="0">
              <a:spcBef>
                <a:spcPct val="35000"/>
              </a:spcBef>
              <a:buClr>
                <a:schemeClr val="tx2"/>
              </a:buClr>
              <a:buSzPct val="90000"/>
              <a:buFont typeface="Wingdings" panose="05000000000000000000" pitchFamily="2" charset="2"/>
              <a:buChar char="ü"/>
            </a:pPr>
            <a:r>
              <a:rPr lang="zh-CN" altLang="en-US" sz="2600" b="0" dirty="0">
                <a:solidFill>
                  <a:srgbClr val="FF0000"/>
                </a:solidFill>
                <a:latin typeface="微软雅黑" panose="020B0503020204020204" pitchFamily="34" charset="-122"/>
                <a:ea typeface="微软雅黑" panose="020B0503020204020204" pitchFamily="34" charset="-122"/>
              </a:rPr>
              <a:t>访问时间</a:t>
            </a:r>
            <a:endParaRPr lang="zh-CN" altLang="en-US" sz="2600" b="0" dirty="0">
              <a:solidFill>
                <a:srgbClr val="FF0000"/>
              </a:solidFill>
              <a:latin typeface="微软雅黑" panose="020B0503020204020204" pitchFamily="34" charset="-122"/>
              <a:ea typeface="微软雅黑" panose="020B0503020204020204" pitchFamily="34" charset="-122"/>
            </a:endParaRPr>
          </a:p>
          <a:p>
            <a:pPr indent="0" eaLnBrk="0" hangingPunct="0">
              <a:spcBef>
                <a:spcPct val="35000"/>
              </a:spcBef>
              <a:buClr>
                <a:schemeClr val="tx2"/>
              </a:buClr>
              <a:buSzPct val="90000"/>
              <a:buFont typeface="Wingdings" panose="05000000000000000000" pitchFamily="2" charset="2"/>
              <a:buChar char="ü"/>
            </a:pPr>
            <a:r>
              <a:rPr lang="zh-CN" altLang="en-US" sz="2600" b="0" dirty="0">
                <a:solidFill>
                  <a:srgbClr val="FF0000"/>
                </a:solidFill>
                <a:latin typeface="微软雅黑" panose="020B0503020204020204" pitchFamily="34" charset="-122"/>
                <a:ea typeface="微软雅黑" panose="020B0503020204020204" pitchFamily="34" charset="-122"/>
              </a:rPr>
              <a:t>插入开销</a:t>
            </a:r>
            <a:endParaRPr lang="zh-CN" altLang="en-US" sz="2600" b="0" dirty="0">
              <a:solidFill>
                <a:srgbClr val="FF0000"/>
              </a:solidFill>
              <a:latin typeface="微软雅黑" panose="020B0503020204020204" pitchFamily="34" charset="-122"/>
              <a:ea typeface="微软雅黑" panose="020B0503020204020204" pitchFamily="34" charset="-122"/>
            </a:endParaRPr>
          </a:p>
          <a:p>
            <a:pPr indent="0" eaLnBrk="0" hangingPunct="0">
              <a:spcBef>
                <a:spcPct val="35000"/>
              </a:spcBef>
              <a:buClr>
                <a:schemeClr val="tx2"/>
              </a:buClr>
              <a:buSzPct val="90000"/>
              <a:buFont typeface="Wingdings" panose="05000000000000000000" pitchFamily="2" charset="2"/>
              <a:buChar char="ü"/>
            </a:pPr>
            <a:r>
              <a:rPr lang="zh-CN" altLang="en-US" sz="2600" b="0" dirty="0">
                <a:solidFill>
                  <a:srgbClr val="FF0000"/>
                </a:solidFill>
                <a:latin typeface="微软雅黑" panose="020B0503020204020204" pitchFamily="34" charset="-122"/>
                <a:ea typeface="微软雅黑" panose="020B0503020204020204" pitchFamily="34" charset="-122"/>
              </a:rPr>
              <a:t>删除开销</a:t>
            </a:r>
            <a:endParaRPr lang="zh-CN" altLang="en-US" sz="2600" b="0" dirty="0">
              <a:solidFill>
                <a:srgbClr val="FF0000"/>
              </a:solidFill>
              <a:latin typeface="微软雅黑" panose="020B0503020204020204" pitchFamily="34" charset="-122"/>
              <a:ea typeface="微软雅黑" panose="020B0503020204020204" pitchFamily="34" charset="-122"/>
            </a:endParaRPr>
          </a:p>
          <a:p>
            <a:pPr indent="0" eaLnBrk="0" hangingPunct="0">
              <a:spcBef>
                <a:spcPct val="35000"/>
              </a:spcBef>
              <a:buClr>
                <a:schemeClr val="tx2"/>
              </a:buClr>
              <a:buSzPct val="90000"/>
              <a:buFont typeface="Wingdings" panose="05000000000000000000" pitchFamily="2" charset="2"/>
              <a:buChar char="ü"/>
            </a:pPr>
            <a:r>
              <a:rPr lang="zh-CN" altLang="en-US" sz="2600" b="0" dirty="0">
                <a:solidFill>
                  <a:srgbClr val="FF0000"/>
                </a:solidFill>
                <a:latin typeface="微软雅黑" panose="020B0503020204020204" pitchFamily="34" charset="-122"/>
                <a:ea typeface="微软雅黑" panose="020B0503020204020204" pitchFamily="34" charset="-122"/>
              </a:rPr>
              <a:t>空间负载  </a:t>
            </a:r>
            <a:endParaRPr lang="zh-CN" altLang="en-US" sz="2600" b="0" dirty="0">
              <a:solidFill>
                <a:srgbClr val="FF0000"/>
              </a:solidFill>
              <a:latin typeface="微软雅黑" panose="020B0503020204020204" pitchFamily="34" charset="-122"/>
              <a:ea typeface="微软雅黑" panose="020B0503020204020204" pitchFamily="34" charset="-122"/>
            </a:endParaRPr>
          </a:p>
          <a:p>
            <a:pPr indent="0" eaLnBrk="0" hangingPunct="0">
              <a:spcBef>
                <a:spcPct val="35000"/>
              </a:spcBef>
              <a:buClr>
                <a:schemeClr val="tx2"/>
              </a:buClr>
              <a:buSzPct val="90000"/>
              <a:buFont typeface="Wingdings" panose="05000000000000000000" pitchFamily="2" charset="2"/>
              <a:buChar char="ü"/>
            </a:pPr>
            <a:r>
              <a:rPr lang="zh-CN" altLang="en-US" sz="2600" b="0" dirty="0">
                <a:solidFill>
                  <a:srgbClr val="FF0000"/>
                </a:solidFill>
                <a:latin typeface="微软雅黑" panose="020B0503020204020204" pitchFamily="34" charset="-122"/>
                <a:ea typeface="微软雅黑" panose="020B0503020204020204" pitchFamily="34" charset="-122"/>
              </a:rPr>
              <a:t>支持存取的有效性</a:t>
            </a:r>
            <a:r>
              <a:rPr lang="en-US" altLang="zh-CN" sz="2600" b="0" dirty="0">
                <a:latin typeface="微软雅黑" panose="020B0503020204020204" pitchFamily="34" charset="-122"/>
                <a:ea typeface="微软雅黑" panose="020B0503020204020204" pitchFamily="34" charset="-122"/>
              </a:rPr>
              <a:t>, </a:t>
            </a:r>
            <a:r>
              <a:rPr lang="zh-CN" altLang="en-US" sz="2600" b="0" dirty="0">
                <a:latin typeface="微软雅黑" panose="020B0503020204020204" pitchFamily="34" charset="-122"/>
                <a:ea typeface="微软雅黑" panose="020B0503020204020204" pitchFamily="34" charset="-122"/>
              </a:rPr>
              <a:t>比如：支持的是属性的限定值</a:t>
            </a:r>
            <a:r>
              <a:rPr lang="en-US" altLang="zh-CN" sz="2600" b="0" dirty="0">
                <a:latin typeface="微软雅黑" panose="020B0503020204020204" pitchFamily="34" charset="-122"/>
                <a:ea typeface="微软雅黑" panose="020B0503020204020204" pitchFamily="34" charset="-122"/>
              </a:rPr>
              <a:t>(</a:t>
            </a:r>
            <a:r>
              <a:rPr lang="zh-CN" altLang="en-US" sz="2600" b="0" dirty="0">
                <a:latin typeface="微软雅黑" panose="020B0503020204020204" pitchFamily="34" charset="-122"/>
                <a:ea typeface="微软雅黑" panose="020B0503020204020204" pitchFamily="34" charset="-122"/>
              </a:rPr>
              <a:t>是否符合单一值</a:t>
            </a:r>
            <a:r>
              <a:rPr lang="en-US" altLang="zh-CN" sz="2600" b="0" dirty="0">
                <a:latin typeface="微软雅黑" panose="020B0503020204020204" pitchFamily="34" charset="-122"/>
                <a:ea typeface="微软雅黑" panose="020B0503020204020204" pitchFamily="34" charset="-122"/>
              </a:rPr>
              <a:t>)</a:t>
            </a:r>
            <a:r>
              <a:rPr lang="zh-CN" altLang="en-US" sz="2600" b="0" dirty="0">
                <a:latin typeface="微软雅黑" panose="020B0503020204020204" pitchFamily="34" charset="-122"/>
                <a:ea typeface="微软雅黑" panose="020B0503020204020204" pitchFamily="34" charset="-122"/>
              </a:rPr>
              <a:t>，还是支持属性的限定范围的值</a:t>
            </a:r>
            <a:r>
              <a:rPr lang="en-US" altLang="zh-CN" sz="2600" b="0" dirty="0">
                <a:latin typeface="微软雅黑" panose="020B0503020204020204" pitchFamily="34" charset="-122"/>
                <a:ea typeface="微软雅黑" panose="020B0503020204020204" pitchFamily="34" charset="-122"/>
              </a:rPr>
              <a:t>(</a:t>
            </a:r>
            <a:r>
              <a:rPr lang="zh-CN" altLang="en-US" sz="2600" b="0" dirty="0">
                <a:latin typeface="微软雅黑" panose="020B0503020204020204" pitchFamily="34" charset="-122"/>
                <a:ea typeface="微软雅黑" panose="020B0503020204020204" pitchFamily="34" charset="-122"/>
              </a:rPr>
              <a:t>是否符合一定范围</a:t>
            </a:r>
            <a:r>
              <a:rPr lang="en-US" altLang="zh-CN" sz="2600" b="0" dirty="0">
                <a:latin typeface="微软雅黑" panose="020B0503020204020204" pitchFamily="34" charset="-122"/>
                <a:ea typeface="微软雅黑" panose="020B0503020204020204" pitchFamily="34" charset="-122"/>
              </a:rPr>
              <a:t>)</a:t>
            </a:r>
            <a:endParaRPr lang="en-US" altLang="zh-CN" sz="2600" b="0" dirty="0">
              <a:latin typeface="微软雅黑" panose="020B0503020204020204" pitchFamily="34" charset="-122"/>
              <a:ea typeface="微软雅黑" panose="020B0503020204020204" pitchFamily="34" charset="-122"/>
            </a:endParaRPr>
          </a:p>
          <a:p>
            <a:endParaRPr kumimoji="1" lang="zh-CN" altLang="en-US" dirty="0"/>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grpSp>
        <p:nvGrpSpPr>
          <p:cNvPr id="10" name="Group 8"/>
          <p:cNvGrpSpPr/>
          <p:nvPr/>
        </p:nvGrpSpPr>
        <p:grpSpPr>
          <a:xfrm>
            <a:off x="7986930" y="2585735"/>
            <a:ext cx="2128837" cy="982305"/>
            <a:chOff x="1100" y="3238"/>
            <a:chExt cx="1494" cy="659"/>
          </a:xfrm>
        </p:grpSpPr>
        <p:sp>
          <p:nvSpPr>
            <p:cNvPr id="11" name="AutoShape 39"/>
            <p:cNvSpPr/>
            <p:nvPr/>
          </p:nvSpPr>
          <p:spPr>
            <a:xfrm>
              <a:off x="1265" y="3268"/>
              <a:ext cx="1153" cy="629"/>
            </a:xfrm>
            <a:prstGeom prst="ellipse">
              <a:avLst/>
            </a:prstGeom>
            <a:solidFill>
              <a:schemeClr val="accent2"/>
            </a:solidFill>
            <a:ln w="9525">
              <a:noFill/>
            </a:ln>
          </p:spPr>
          <p:txBody>
            <a:bodyPr wrap="none" anchor="ctr"/>
            <a:lstStyle/>
            <a:p>
              <a:pPr algn="ctr"/>
              <a:endParaRPr lang="zh-CN" altLang="zh-CN" dirty="0">
                <a:solidFill>
                  <a:srgbClr val="000000"/>
                </a:solidFill>
                <a:latin typeface="微软雅黑" panose="020B0503020204020204" pitchFamily="34" charset="-122"/>
                <a:ea typeface="微软雅黑" panose="020B0503020204020204" pitchFamily="34" charset="-122"/>
              </a:endParaRPr>
            </a:p>
          </p:txBody>
        </p:sp>
        <p:sp>
          <p:nvSpPr>
            <p:cNvPr id="12" name="Oval 40"/>
            <p:cNvSpPr/>
            <p:nvPr/>
          </p:nvSpPr>
          <p:spPr>
            <a:xfrm>
              <a:off x="1310" y="3308"/>
              <a:ext cx="1069" cy="549"/>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微软雅黑" panose="020B0503020204020204" pitchFamily="34" charset="-122"/>
                <a:ea typeface="微软雅黑" panose="020B0503020204020204" pitchFamily="34" charset="-122"/>
              </a:endParaRPr>
            </a:p>
          </p:txBody>
        </p:sp>
        <p:sp>
          <p:nvSpPr>
            <p:cNvPr id="13" name="Text Box 84"/>
            <p:cNvSpPr/>
            <p:nvPr/>
          </p:nvSpPr>
          <p:spPr>
            <a:xfrm>
              <a:off x="1100" y="3238"/>
              <a:ext cx="1494" cy="634"/>
            </a:xfrm>
            <a:prstGeom prst="ellipse">
              <a:avLst/>
            </a:prstGeom>
            <a:noFill/>
            <a:ln w="9525">
              <a:noFill/>
            </a:ln>
          </p:spPr>
          <p:txBody>
            <a:bodyPr anchor="t">
              <a:spAutoFit/>
            </a:bodyPr>
            <a:lstStyle/>
            <a:p>
              <a:pPr algn="ctr">
                <a:spcBef>
                  <a:spcPct val="35000"/>
                </a:spcBef>
              </a:pPr>
              <a:r>
                <a:rPr lang="zh-CN" altLang="en-US" dirty="0">
                  <a:solidFill>
                    <a:schemeClr val="accent2"/>
                  </a:solidFill>
                  <a:latin typeface="微软雅黑" panose="020B0503020204020204" pitchFamily="34" charset="-122"/>
                  <a:ea typeface="微软雅黑" panose="020B0503020204020204" pitchFamily="34" charset="-122"/>
                </a:rPr>
                <a:t>对哪些属性建立索引</a:t>
              </a:r>
              <a:r>
                <a:rPr lang="en-US" altLang="zh-CN" dirty="0">
                  <a:solidFill>
                    <a:schemeClr val="accent2"/>
                  </a:solidFill>
                  <a:latin typeface="微软雅黑" panose="020B0503020204020204" pitchFamily="34" charset="-122"/>
                  <a:ea typeface="微软雅黑" panose="020B0503020204020204" pitchFamily="34" charset="-122"/>
                </a:rPr>
                <a:t>?</a:t>
              </a:r>
              <a:endParaRPr lang="en-US" altLang="zh-CN" dirty="0">
                <a:solidFill>
                  <a:schemeClr val="accent2"/>
                </a:solidFill>
                <a:latin typeface="微软雅黑" panose="020B0503020204020204" pitchFamily="34" charset="-122"/>
                <a:ea typeface="微软雅黑" panose="020B0503020204020204" pitchFamily="34" charset="-122"/>
              </a:endParaRPr>
            </a:p>
          </p:txBody>
        </p:sp>
      </p:grpSp>
      <p:sp>
        <p:nvSpPr>
          <p:cNvPr id="14" name="Text Box 14"/>
          <p:cNvSpPr txBox="1"/>
          <p:nvPr/>
        </p:nvSpPr>
        <p:spPr>
          <a:xfrm>
            <a:off x="6984522" y="3561690"/>
            <a:ext cx="4879083" cy="369332"/>
          </a:xfrm>
          <a:prstGeom prst="rect">
            <a:avLst/>
          </a:prstGeom>
          <a:noFill/>
          <a:ln w="9525">
            <a:noFill/>
          </a:ln>
        </p:spPr>
        <p:txBody>
          <a:bodyPr wrap="square" anchor="t">
            <a:spAutoFit/>
          </a:bodyPr>
          <a:lstStyle/>
          <a:p>
            <a:r>
              <a:rPr lang="en-US" altLang="zh-CN" dirty="0">
                <a:latin typeface="Arial" panose="020B0604020202020204" pitchFamily="34" charset="0"/>
                <a:ea typeface="微软雅黑" panose="020B0503020204020204" pitchFamily="34" charset="-122"/>
              </a:rPr>
              <a:t>SELECT…FROM…WHERE…GROUP BY…</a:t>
            </a:r>
            <a:endParaRPr lang="en-US" altLang="zh-CN" dirty="0">
              <a:latin typeface="Arial" panose="020B0604020202020204" pitchFamily="34" charset="0"/>
              <a:ea typeface="微软雅黑" panose="020B0503020204020204" pitchFamily="34" charset="-122"/>
            </a:endParaRPr>
          </a:p>
        </p:txBody>
      </p:sp>
      <p:sp>
        <p:nvSpPr>
          <p:cNvPr id="15" name="Text Box 12"/>
          <p:cNvSpPr txBox="1"/>
          <p:nvPr/>
        </p:nvSpPr>
        <p:spPr>
          <a:xfrm>
            <a:off x="7781920" y="4248150"/>
            <a:ext cx="2673350" cy="1323439"/>
          </a:xfrm>
          <a:prstGeom prst="rect">
            <a:avLst/>
          </a:prstGeom>
          <a:noFill/>
          <a:ln w="9525">
            <a:noFill/>
          </a:ln>
        </p:spPr>
        <p:txBody>
          <a:bodyPr wrap="square" anchor="t">
            <a:spAutoFit/>
          </a:bodyPr>
          <a:lstStyle/>
          <a:p>
            <a:pPr marL="228600" eaLnBrk="0" hangingPunct="0">
              <a:spcBef>
                <a:spcPct val="35000"/>
              </a:spcBef>
              <a:buClr>
                <a:schemeClr val="tx2"/>
              </a:buClr>
              <a:buSzPct val="90000"/>
            </a:pPr>
            <a:r>
              <a:rPr lang="zh-CN" altLang="en-US" sz="2000" b="1" dirty="0">
                <a:solidFill>
                  <a:srgbClr val="FF0000"/>
                </a:solidFill>
                <a:latin typeface="微软雅黑" panose="020B0503020204020204" pitchFamily="34" charset="-122"/>
                <a:ea typeface="微软雅黑" panose="020B0503020204020204" pitchFamily="34" charset="-122"/>
              </a:rPr>
              <a:t>对经常出现在检索条件、连接条件、分组计算条件中的属性可建立索引</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关于索引相关的概念含义的区分</a:t>
            </a:r>
            <a:endParaRPr lang="en-US" altLang="zh-CN" dirty="0">
              <a:latin typeface="微软雅黑" panose="020B0503020204020204" pitchFamily="34" charset="-122"/>
              <a:ea typeface="微软雅黑" panose="020B0503020204020204" pitchFamily="34" charset="-122"/>
            </a:endParaRPr>
          </a:p>
          <a:p>
            <a:pPr>
              <a:lnSpc>
                <a:spcPct val="130000"/>
              </a:lnSpc>
              <a:buFont typeface="Wingdings" panose="05000000000000000000" pitchFamily="2" charset="2"/>
              <a:buNone/>
            </a:pPr>
            <a:r>
              <a:rPr lang="zh-CN" altLang="en-US" sz="2400" b="0" dirty="0">
                <a:latin typeface="微软雅黑" panose="020B0503020204020204" pitchFamily="34" charset="-122"/>
                <a:ea typeface="微软雅黑" panose="020B0503020204020204" pitchFamily="34" charset="-122"/>
              </a:rPr>
              <a:t>几个概念的澄清</a:t>
            </a:r>
            <a:endParaRPr lang="zh-CN" altLang="en-US" sz="2400" b="0" dirty="0">
              <a:latin typeface="微软雅黑" panose="020B0503020204020204" pitchFamily="34" charset="-122"/>
              <a:ea typeface="微软雅黑" panose="020B0503020204020204" pitchFamily="34" charset="-122"/>
            </a:endParaRPr>
          </a:p>
          <a:p>
            <a:pPr marL="228600" lvl="1">
              <a:lnSpc>
                <a:spcPct val="110000"/>
              </a:lnSpc>
              <a:spcBef>
                <a:spcPts val="1000"/>
              </a:spcBef>
              <a:buFont typeface="Wingdings" panose="05000000000000000000" pitchFamily="2" charset="2"/>
              <a:buChar char="l"/>
            </a:pPr>
            <a:r>
              <a:rPr lang="zh-CN" altLang="en-US" sz="1800" dirty="0"/>
              <a:t>字段、排序字段、索引字段</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solidFill>
                  <a:srgbClr val="FF0000"/>
                </a:solidFill>
              </a:rPr>
              <a:t>码</a:t>
            </a:r>
            <a:r>
              <a:rPr lang="en-US" altLang="zh-CN" sz="1800" dirty="0">
                <a:solidFill>
                  <a:srgbClr val="FF0000"/>
                </a:solidFill>
              </a:rPr>
              <a:t>(Key)</a:t>
            </a:r>
            <a:r>
              <a:rPr lang="zh-CN" altLang="en-US" sz="1800" dirty="0">
                <a:solidFill>
                  <a:srgbClr val="FF0000"/>
                </a:solidFill>
              </a:rPr>
              <a:t>、主码</a:t>
            </a:r>
            <a:r>
              <a:rPr lang="en-US" altLang="zh-CN" sz="1800" dirty="0">
                <a:solidFill>
                  <a:srgbClr val="FF0000"/>
                </a:solidFill>
              </a:rPr>
              <a:t>(Primary Key), </a:t>
            </a:r>
            <a:r>
              <a:rPr lang="zh-CN" altLang="en-US" sz="1800" dirty="0">
                <a:solidFill>
                  <a:srgbClr val="FF0000"/>
                </a:solidFill>
              </a:rPr>
              <a:t>又称为表键</a:t>
            </a:r>
            <a:r>
              <a:rPr lang="en-US" altLang="zh-CN" sz="1800" dirty="0">
                <a:solidFill>
                  <a:srgbClr val="FF0000"/>
                </a:solidFill>
              </a:rPr>
              <a:t>(Table Key)</a:t>
            </a:r>
            <a:r>
              <a:rPr lang="en-US" altLang="zh-CN" sz="1800" dirty="0"/>
              <a:t>---</a:t>
            </a:r>
            <a:r>
              <a:rPr lang="zh-CN" altLang="en-US" sz="1800" dirty="0"/>
              <a:t>具有唯一性和最小性</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solidFill>
                  <a:srgbClr val="FF0000"/>
                </a:solidFill>
              </a:rPr>
              <a:t>排序码</a:t>
            </a:r>
            <a:r>
              <a:rPr lang="en-US" altLang="zh-CN" sz="1800" dirty="0"/>
              <a:t>(Order Key)---</a:t>
            </a:r>
            <a:r>
              <a:rPr lang="zh-CN" altLang="en-US" sz="1800" dirty="0"/>
              <a:t>对主文件进行排序存储的那些属性或属性组 </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solidFill>
                  <a:srgbClr val="FF0000"/>
                </a:solidFill>
              </a:rPr>
              <a:t>索引码</a:t>
            </a:r>
            <a:r>
              <a:rPr lang="en-US" altLang="zh-CN" sz="1800" dirty="0"/>
              <a:t>(Index Key)---</a:t>
            </a:r>
            <a:r>
              <a:rPr lang="zh-CN" altLang="en-US" sz="1800" dirty="0"/>
              <a:t>即索引字段，不一定具有唯一性</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solidFill>
                  <a:srgbClr val="FF0000"/>
                </a:solidFill>
              </a:rPr>
              <a:t>搜索码</a:t>
            </a:r>
            <a:r>
              <a:rPr lang="en-US" altLang="zh-CN" sz="1800" dirty="0"/>
              <a:t>(Search Key)---</a:t>
            </a:r>
            <a:r>
              <a:rPr lang="zh-CN" altLang="en-US" sz="1800" dirty="0"/>
              <a:t>在主文件中查找记录的属性或属性集 </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t>主文件 </a:t>
            </a:r>
            <a:r>
              <a:rPr lang="en-US" altLang="zh-CN" sz="1800" dirty="0"/>
              <a:t>vs. </a:t>
            </a:r>
            <a:r>
              <a:rPr lang="zh-CN" altLang="en-US" sz="1800" dirty="0"/>
              <a:t>索引文件</a:t>
            </a:r>
            <a:endParaRPr lang="zh-CN" altLang="en-US" sz="1800" dirty="0"/>
          </a:p>
          <a:p>
            <a:endParaRPr lang="zh-CN" altLang="en-US"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为什么需要索引与什么是索引 </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grpSp>
        <p:nvGrpSpPr>
          <p:cNvPr id="19" name="Group 4"/>
          <p:cNvGrpSpPr/>
          <p:nvPr/>
        </p:nvGrpSpPr>
        <p:grpSpPr>
          <a:xfrm>
            <a:off x="2838450" y="5305425"/>
            <a:ext cx="2659063" cy="385763"/>
            <a:chOff x="1900" y="2812"/>
            <a:chExt cx="1675" cy="243"/>
          </a:xfrm>
        </p:grpSpPr>
        <p:sp>
          <p:nvSpPr>
            <p:cNvPr id="20" name="Rectangle 5"/>
            <p:cNvSpPr/>
            <p:nvPr/>
          </p:nvSpPr>
          <p:spPr>
            <a:xfrm>
              <a:off x="1900" y="2813"/>
              <a:ext cx="949" cy="24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dirty="0">
                  <a:solidFill>
                    <a:srgbClr val="FF0066"/>
                  </a:solidFill>
                  <a:latin typeface="Arial" panose="020B0604020202020204" pitchFamily="34" charset="0"/>
                  <a:ea typeface="宋体" panose="02010600030101010101" pitchFamily="2" charset="-122"/>
                </a:rPr>
                <a:t>Index-field</a:t>
              </a:r>
              <a:endParaRPr lang="en-US" altLang="zh-CN" sz="1800" dirty="0">
                <a:solidFill>
                  <a:srgbClr val="FF0066"/>
                </a:solidFill>
                <a:latin typeface="Arial" panose="020B0604020202020204" pitchFamily="34" charset="0"/>
                <a:ea typeface="宋体" panose="02010600030101010101" pitchFamily="2" charset="-122"/>
              </a:endParaRPr>
            </a:p>
          </p:txBody>
        </p:sp>
        <p:sp>
          <p:nvSpPr>
            <p:cNvPr id="21" name="Rectangle 6"/>
            <p:cNvSpPr/>
            <p:nvPr/>
          </p:nvSpPr>
          <p:spPr>
            <a:xfrm>
              <a:off x="2829" y="2812"/>
              <a:ext cx="746" cy="24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dirty="0">
                  <a:solidFill>
                    <a:srgbClr val="FF0066"/>
                  </a:solidFill>
                  <a:latin typeface="Arial" panose="020B0604020202020204" pitchFamily="34" charset="0"/>
                  <a:ea typeface="宋体" panose="02010600030101010101" pitchFamily="2" charset="-122"/>
                </a:rPr>
                <a:t>pointer</a:t>
              </a:r>
              <a:endParaRPr lang="en-US" altLang="zh-CN" sz="1800" dirty="0">
                <a:solidFill>
                  <a:srgbClr val="FF0066"/>
                </a:solidFill>
                <a:latin typeface="Arial" panose="020B0604020202020204" pitchFamily="34" charset="0"/>
                <a:ea typeface="宋体" panose="02010600030101010101" pitchFamily="2" charset="-122"/>
              </a:endParaRPr>
            </a:p>
          </p:txBody>
        </p:sp>
      </p:grpSp>
      <p:grpSp>
        <p:nvGrpSpPr>
          <p:cNvPr id="22" name="Group 7"/>
          <p:cNvGrpSpPr/>
          <p:nvPr/>
        </p:nvGrpSpPr>
        <p:grpSpPr>
          <a:xfrm>
            <a:off x="6751638" y="5305425"/>
            <a:ext cx="2659062" cy="385763"/>
            <a:chOff x="1900" y="2812"/>
            <a:chExt cx="1675" cy="243"/>
          </a:xfrm>
        </p:grpSpPr>
        <p:sp>
          <p:nvSpPr>
            <p:cNvPr id="23" name="Rectangle 8"/>
            <p:cNvSpPr/>
            <p:nvPr/>
          </p:nvSpPr>
          <p:spPr>
            <a:xfrm>
              <a:off x="1900" y="2813"/>
              <a:ext cx="949" cy="24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dirty="0">
                  <a:solidFill>
                    <a:srgbClr val="FF0066"/>
                  </a:solidFill>
                  <a:latin typeface="Arial" panose="020B0604020202020204" pitchFamily="34" charset="0"/>
                  <a:ea typeface="宋体" panose="02010600030101010101" pitchFamily="2" charset="-122"/>
                </a:rPr>
                <a:t>Index-key</a:t>
              </a:r>
              <a:endParaRPr lang="en-US" altLang="zh-CN" sz="1800" dirty="0">
                <a:solidFill>
                  <a:srgbClr val="FF0066"/>
                </a:solidFill>
                <a:latin typeface="Arial" panose="020B0604020202020204" pitchFamily="34" charset="0"/>
                <a:ea typeface="宋体" panose="02010600030101010101" pitchFamily="2" charset="-122"/>
              </a:endParaRPr>
            </a:p>
          </p:txBody>
        </p:sp>
        <p:sp>
          <p:nvSpPr>
            <p:cNvPr id="24" name="Rectangle 9"/>
            <p:cNvSpPr/>
            <p:nvPr/>
          </p:nvSpPr>
          <p:spPr>
            <a:xfrm>
              <a:off x="2829" y="2812"/>
              <a:ext cx="746" cy="24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dirty="0">
                  <a:solidFill>
                    <a:srgbClr val="FF0066"/>
                  </a:solidFill>
                  <a:latin typeface="Arial" panose="020B0604020202020204" pitchFamily="34" charset="0"/>
                  <a:ea typeface="宋体" panose="02010600030101010101" pitchFamily="2" charset="-122"/>
                </a:rPr>
                <a:t>pointer</a:t>
              </a:r>
              <a:endParaRPr lang="en-US" altLang="zh-CN" sz="1800" dirty="0">
                <a:solidFill>
                  <a:srgbClr val="FF0066"/>
                </a:solidFill>
                <a:latin typeface="Arial" panose="020B0604020202020204" pitchFamily="34" charset="0"/>
                <a:ea typeface="宋体" panose="02010600030101010101" pitchFamily="2" charset="-122"/>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30000"/>
              </a:lnSpc>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基本知识</a:t>
            </a:r>
            <a:endParaRPr lang="en-US" altLang="zh-CN" dirty="0">
              <a:latin typeface="微软雅黑" panose="020B0503020204020204" pitchFamily="34" charset="-122"/>
              <a:ea typeface="微软雅黑" panose="020B0503020204020204" pitchFamily="34" charset="-122"/>
            </a:endParaRPr>
          </a:p>
          <a:p>
            <a:pPr>
              <a:lnSpc>
                <a:spcPct val="130000"/>
              </a:lnSpc>
              <a:buNone/>
            </a:pPr>
            <a:r>
              <a:rPr lang="en-US" altLang="zh-CN" sz="2000" b="0" dirty="0">
                <a:latin typeface="微软雅黑" panose="020B0503020204020204" pitchFamily="34" charset="-122"/>
                <a:ea typeface="微软雅黑" panose="020B0503020204020204" pitchFamily="34" charset="-122"/>
              </a:rPr>
              <a:t>SQL</a:t>
            </a:r>
            <a:r>
              <a:rPr lang="zh-CN" altLang="en-US" sz="2000" b="0" dirty="0">
                <a:latin typeface="微软雅黑" panose="020B0503020204020204" pitchFamily="34" charset="-122"/>
                <a:ea typeface="微软雅黑" panose="020B0503020204020204" pitchFamily="34" charset="-122"/>
              </a:rPr>
              <a:t>语言关于索引的基本知识</a:t>
            </a:r>
            <a:endParaRPr lang="zh-CN" altLang="en-US" sz="2000" b="0" dirty="0">
              <a:latin typeface="微软雅黑" panose="020B0503020204020204" pitchFamily="34" charset="-122"/>
              <a:ea typeface="微软雅黑" panose="020B0503020204020204" pitchFamily="34" charset="-122"/>
            </a:endParaRPr>
          </a:p>
          <a:p>
            <a:pPr marL="228600" lvl="1">
              <a:lnSpc>
                <a:spcPct val="110000"/>
              </a:lnSpc>
              <a:spcBef>
                <a:spcPts val="1000"/>
              </a:spcBef>
              <a:buFont typeface="Wingdings" panose="05000000000000000000" pitchFamily="2" charset="2"/>
              <a:buChar char="l"/>
            </a:pPr>
            <a:r>
              <a:rPr lang="zh-CN" altLang="en-US" sz="1800" dirty="0"/>
              <a:t>当定义</a:t>
            </a:r>
            <a:r>
              <a:rPr lang="en-US" altLang="zh-CN" sz="1800" dirty="0"/>
              <a:t>Table</a:t>
            </a:r>
            <a:r>
              <a:rPr lang="zh-CN" altLang="en-US" sz="1800" dirty="0"/>
              <a:t>后，如果定义了主键，则系统将自动创建主索引，利用主索引对</a:t>
            </a:r>
            <a:r>
              <a:rPr lang="en-US" altLang="zh-CN" sz="1800" dirty="0"/>
              <a:t>Table</a:t>
            </a:r>
            <a:r>
              <a:rPr lang="zh-CN" altLang="en-US" sz="1800" dirty="0"/>
              <a:t>进行快速定位、检索与更新操作</a:t>
            </a:r>
            <a:r>
              <a:rPr lang="en-US" altLang="zh-CN" sz="1800" dirty="0"/>
              <a:t>;</a:t>
            </a:r>
            <a:endParaRPr lang="en-US" altLang="zh-CN" sz="1800" dirty="0"/>
          </a:p>
          <a:p>
            <a:pPr marL="228600" lvl="1">
              <a:lnSpc>
                <a:spcPct val="110000"/>
              </a:lnSpc>
              <a:spcBef>
                <a:spcPts val="1000"/>
              </a:spcBef>
              <a:buFont typeface="Wingdings" panose="05000000000000000000" pitchFamily="2" charset="2"/>
              <a:buChar char="l"/>
            </a:pPr>
            <a:r>
              <a:rPr lang="zh-CN" altLang="en-US" sz="1800" dirty="0"/>
              <a:t>索引可以由用户创建，也可以由用户撤消</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t>当索引被创建后，无论是主索引，还是用户创建的索引，</a:t>
            </a:r>
            <a:r>
              <a:rPr lang="en-US" altLang="zh-CN" sz="1800" dirty="0"/>
              <a:t>DBMS</a:t>
            </a:r>
            <a:r>
              <a:rPr lang="zh-CN" altLang="en-US" sz="1800" dirty="0"/>
              <a:t>都将自动维护所有的索引，使其与</a:t>
            </a:r>
            <a:r>
              <a:rPr lang="en-US" altLang="zh-CN" sz="1800" dirty="0"/>
              <a:t>Table</a:t>
            </a:r>
            <a:r>
              <a:rPr lang="zh-CN" altLang="en-US" sz="1800" dirty="0"/>
              <a:t>保持一致，即：当一条记录被插入到</a:t>
            </a:r>
            <a:r>
              <a:rPr lang="en-US" altLang="zh-CN" sz="1800" dirty="0"/>
              <a:t>Table</a:t>
            </a:r>
            <a:r>
              <a:rPr lang="zh-CN" altLang="en-US" sz="1800" dirty="0"/>
              <a:t>中后，所有索引也自动的被更新</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t>当</a:t>
            </a:r>
            <a:r>
              <a:rPr lang="en-US" altLang="zh-CN" sz="1800" dirty="0"/>
              <a:t>Table</a:t>
            </a:r>
            <a:r>
              <a:rPr lang="zh-CN" altLang="en-US" sz="1800" dirty="0"/>
              <a:t>被删除后</a:t>
            </a:r>
            <a:r>
              <a:rPr lang="en-US" altLang="zh-CN" sz="1800" dirty="0"/>
              <a:t>(drop table), </a:t>
            </a:r>
            <a:r>
              <a:rPr lang="zh-CN" altLang="en-US" sz="1800" dirty="0"/>
              <a:t>定义在该</a:t>
            </a:r>
            <a:r>
              <a:rPr lang="en-US" altLang="zh-CN" sz="1800" dirty="0"/>
              <a:t>Table</a:t>
            </a:r>
            <a:r>
              <a:rPr lang="zh-CN" altLang="en-US" sz="1800" dirty="0"/>
              <a:t>上的</a:t>
            </a:r>
            <a:r>
              <a:rPr lang="zh-CN" altLang="en-US" sz="1800" dirty="0">
                <a:solidFill>
                  <a:srgbClr val="FF0000"/>
                </a:solidFill>
              </a:rPr>
              <a:t>所有</a:t>
            </a:r>
            <a:r>
              <a:rPr lang="zh-CN" altLang="en-US" sz="1800" dirty="0"/>
              <a:t>索引将自动被撤消</a:t>
            </a:r>
            <a:endParaRPr lang="zh-CN" altLang="en-US" sz="18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-SQL语言中的索引创建与维护</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fontScale="85000" lnSpcReduction="10000"/>
          </a:bodyPr>
          <a:lstStyle/>
          <a:p>
            <a:pPr algn="just">
              <a:lnSpc>
                <a:spcPct val="150000"/>
              </a:lnSpc>
            </a:pPr>
            <a:r>
              <a:rPr lang="en-US" altLang="zh-CN" sz="3000" dirty="0">
                <a:latin typeface="微软雅黑" panose="020B0503020204020204" pitchFamily="34" charset="-122"/>
                <a:ea typeface="微软雅黑" panose="020B0503020204020204" pitchFamily="34" charset="-122"/>
              </a:rPr>
              <a:t>(2) </a:t>
            </a:r>
            <a:r>
              <a:rPr lang="zh-CN" altLang="en-US" sz="3000" dirty="0">
                <a:latin typeface="微软雅黑" panose="020B0503020204020204" pitchFamily="34" charset="-122"/>
                <a:ea typeface="微软雅黑" panose="020B0503020204020204" pitchFamily="34" charset="-122"/>
              </a:rPr>
              <a:t>创建和维护索引的</a:t>
            </a:r>
            <a:r>
              <a:rPr lang="en-US" altLang="zh-CN" sz="3000" dirty="0">
                <a:latin typeface="微软雅黑" panose="020B0503020204020204" pitchFamily="34" charset="-122"/>
                <a:ea typeface="微软雅黑" panose="020B0503020204020204" pitchFamily="34" charset="-122"/>
              </a:rPr>
              <a:t>SQL</a:t>
            </a:r>
            <a:r>
              <a:rPr lang="zh-CN" altLang="en-US" sz="3000" dirty="0">
                <a:latin typeface="微软雅黑" panose="020B0503020204020204" pitchFamily="34" charset="-122"/>
                <a:ea typeface="微软雅黑" panose="020B0503020204020204" pitchFamily="34" charset="-122"/>
              </a:rPr>
              <a:t>语句</a:t>
            </a:r>
            <a:endParaRPr lang="en-US" altLang="zh-CN" sz="3000" dirty="0">
              <a:latin typeface="微软雅黑" panose="020B0503020204020204" pitchFamily="34" charset="-122"/>
              <a:ea typeface="微软雅黑" panose="020B0503020204020204" pitchFamily="34" charset="-122"/>
            </a:endParaRPr>
          </a:p>
          <a:p>
            <a:pPr marL="228600" lvl="1">
              <a:lnSpc>
                <a:spcPct val="110000"/>
              </a:lnSpc>
              <a:spcBef>
                <a:spcPts val="1000"/>
              </a:spcBef>
              <a:buFont typeface="Wingdings" panose="05000000000000000000" pitchFamily="2" charset="2"/>
              <a:buChar char="l"/>
            </a:pPr>
            <a:r>
              <a:rPr lang="zh-CN" altLang="en-US" sz="1800" dirty="0"/>
              <a:t>索引可以由用户在任何属性上创建</a:t>
            </a:r>
            <a:endParaRPr lang="zh-CN" altLang="en-US" sz="1800" dirty="0"/>
          </a:p>
          <a:p>
            <a:pPr marL="0" lvl="1" indent="0">
              <a:lnSpc>
                <a:spcPct val="110000"/>
              </a:lnSpc>
              <a:spcBef>
                <a:spcPts val="1000"/>
              </a:spcBef>
              <a:buNone/>
            </a:pPr>
            <a:r>
              <a:rPr lang="en-US" altLang="zh-CN" sz="1800" dirty="0"/>
              <a:t>    X/OPEN  SQL</a:t>
            </a:r>
            <a:r>
              <a:rPr lang="zh-CN" altLang="en-US" sz="1800" dirty="0"/>
              <a:t>中关于索引的语句</a:t>
            </a:r>
            <a:endParaRPr lang="zh-CN" altLang="en-US" sz="1800" dirty="0"/>
          </a:p>
          <a:p>
            <a:pPr marL="285750" lvl="1" indent="-285750">
              <a:lnSpc>
                <a:spcPct val="110000"/>
              </a:lnSpc>
              <a:spcBef>
                <a:spcPts val="1000"/>
              </a:spcBef>
              <a:buFont typeface="Wingdings" panose="05000000000000000000" pitchFamily="2" charset="2"/>
              <a:buChar char="Ø"/>
            </a:pPr>
            <a:r>
              <a:rPr lang="zh-CN" altLang="en-US" sz="1800" dirty="0"/>
              <a:t>创建索引：</a:t>
            </a:r>
            <a:endParaRPr lang="zh-CN" altLang="en-US" sz="1800" dirty="0"/>
          </a:p>
          <a:p>
            <a:pPr marL="0" lvl="1" indent="0">
              <a:lnSpc>
                <a:spcPct val="110000"/>
              </a:lnSpc>
              <a:spcBef>
                <a:spcPts val="1000"/>
              </a:spcBef>
              <a:buNone/>
            </a:pPr>
            <a:r>
              <a:rPr lang="zh-CN" altLang="en-US" sz="1800" dirty="0"/>
              <a:t>	</a:t>
            </a:r>
            <a:r>
              <a:rPr lang="en-US" altLang="zh-CN" sz="1800" dirty="0">
                <a:solidFill>
                  <a:srgbClr val="EE843C"/>
                </a:solidFill>
              </a:rPr>
              <a:t>CREATE    [unique]   INDEX   </a:t>
            </a:r>
            <a:r>
              <a:rPr lang="en-US" altLang="zh-CN" sz="1800" dirty="0" err="1">
                <a:solidFill>
                  <a:srgbClr val="FF0000"/>
                </a:solidFill>
              </a:rPr>
              <a:t>indexname</a:t>
            </a:r>
            <a:r>
              <a:rPr lang="en-US" altLang="zh-CN" sz="1800" dirty="0">
                <a:solidFill>
                  <a:srgbClr val="FF0000"/>
                </a:solidFill>
              </a:rPr>
              <a:t> </a:t>
            </a:r>
            <a:endParaRPr lang="en-US" altLang="zh-CN" sz="1800" dirty="0">
              <a:solidFill>
                <a:srgbClr val="FF0000"/>
              </a:solidFill>
            </a:endParaRPr>
          </a:p>
          <a:p>
            <a:pPr marL="0" lvl="1" indent="0">
              <a:lnSpc>
                <a:spcPct val="110000"/>
              </a:lnSpc>
              <a:spcBef>
                <a:spcPts val="1000"/>
              </a:spcBef>
              <a:buNone/>
            </a:pPr>
            <a:r>
              <a:rPr lang="en-US" altLang="zh-CN" sz="1800" dirty="0">
                <a:solidFill>
                  <a:srgbClr val="FF0000"/>
                </a:solidFill>
              </a:rPr>
              <a:t>             	      	      </a:t>
            </a:r>
            <a:r>
              <a:rPr lang="en-US" altLang="zh-CN" sz="1800" dirty="0">
                <a:solidFill>
                  <a:srgbClr val="EE843C"/>
                </a:solidFill>
              </a:rPr>
              <a:t>ON</a:t>
            </a:r>
            <a:r>
              <a:rPr lang="en-US" altLang="zh-CN" sz="1800" dirty="0">
                <a:solidFill>
                  <a:srgbClr val="FF0000"/>
                </a:solidFill>
              </a:rPr>
              <a:t>   </a:t>
            </a:r>
            <a:r>
              <a:rPr lang="en-US" altLang="zh-CN" sz="1800" dirty="0" err="1">
                <a:solidFill>
                  <a:srgbClr val="FF0000"/>
                </a:solidFill>
              </a:rPr>
              <a:t>tablename</a:t>
            </a:r>
            <a:r>
              <a:rPr lang="en-US" altLang="zh-CN" sz="1800" dirty="0">
                <a:solidFill>
                  <a:srgbClr val="FF0000"/>
                </a:solidFill>
              </a:rPr>
              <a:t> ( </a:t>
            </a:r>
            <a:r>
              <a:rPr lang="en-US" altLang="zh-CN" sz="1800" dirty="0" err="1">
                <a:solidFill>
                  <a:srgbClr val="FF0000"/>
                </a:solidFill>
              </a:rPr>
              <a:t>colname</a:t>
            </a:r>
            <a:r>
              <a:rPr lang="en-US" altLang="zh-CN" sz="1800" dirty="0">
                <a:solidFill>
                  <a:srgbClr val="FF0000"/>
                </a:solidFill>
              </a:rPr>
              <a:t> [</a:t>
            </a:r>
            <a:r>
              <a:rPr lang="en-US" altLang="zh-CN" sz="1800" dirty="0" err="1">
                <a:solidFill>
                  <a:srgbClr val="FF0000"/>
                </a:solidFill>
              </a:rPr>
              <a:t>asc</a:t>
            </a:r>
            <a:r>
              <a:rPr lang="en-US" altLang="zh-CN" sz="1800" dirty="0">
                <a:solidFill>
                  <a:srgbClr val="FF0000"/>
                </a:solidFill>
              </a:rPr>
              <a:t> | desc]</a:t>
            </a:r>
            <a:endParaRPr lang="en-US" altLang="zh-CN" sz="1800" dirty="0">
              <a:solidFill>
                <a:srgbClr val="FF0000"/>
              </a:solidFill>
            </a:endParaRPr>
          </a:p>
          <a:p>
            <a:pPr marL="0" lvl="1" indent="0">
              <a:lnSpc>
                <a:spcPct val="110000"/>
              </a:lnSpc>
              <a:spcBef>
                <a:spcPts val="1000"/>
              </a:spcBef>
              <a:buNone/>
            </a:pPr>
            <a:r>
              <a:rPr lang="en-US" altLang="zh-CN" sz="1800" dirty="0">
                <a:solidFill>
                  <a:srgbClr val="FF0000"/>
                </a:solidFill>
              </a:rPr>
              <a:t>		                                   {, </a:t>
            </a:r>
            <a:r>
              <a:rPr lang="en-US" altLang="zh-CN" sz="1800" dirty="0" err="1">
                <a:solidFill>
                  <a:srgbClr val="FF0000"/>
                </a:solidFill>
              </a:rPr>
              <a:t>colname</a:t>
            </a:r>
            <a:r>
              <a:rPr lang="en-US" altLang="zh-CN" sz="1800" dirty="0">
                <a:solidFill>
                  <a:srgbClr val="FF0000"/>
                </a:solidFill>
              </a:rPr>
              <a:t> [</a:t>
            </a:r>
            <a:r>
              <a:rPr lang="en-US" altLang="zh-CN" sz="1800" dirty="0" err="1">
                <a:solidFill>
                  <a:srgbClr val="FF0000"/>
                </a:solidFill>
              </a:rPr>
              <a:t>asc</a:t>
            </a:r>
            <a:r>
              <a:rPr lang="en-US" altLang="zh-CN" sz="1800" dirty="0">
                <a:solidFill>
                  <a:srgbClr val="FF0000"/>
                </a:solidFill>
              </a:rPr>
              <a:t> | desc] . . .} );</a:t>
            </a:r>
            <a:endParaRPr lang="en-US" altLang="zh-CN" sz="1800" dirty="0">
              <a:solidFill>
                <a:srgbClr val="FF0000"/>
              </a:solidFill>
            </a:endParaRPr>
          </a:p>
          <a:p>
            <a:pPr marL="228600" lvl="1">
              <a:lnSpc>
                <a:spcPct val="110000"/>
              </a:lnSpc>
              <a:spcBef>
                <a:spcPts val="1000"/>
              </a:spcBef>
              <a:buFont typeface="Wingdings" panose="05000000000000000000" pitchFamily="2" charset="2"/>
              <a:buChar char="l"/>
            </a:pPr>
            <a:r>
              <a:rPr lang="zh-CN" altLang="en-US" sz="1800" dirty="0"/>
              <a:t>示例：在</a:t>
            </a:r>
            <a:r>
              <a:rPr lang="en-US" altLang="zh-CN" sz="1800" dirty="0"/>
              <a:t>student</a:t>
            </a:r>
            <a:r>
              <a:rPr lang="zh-CN" altLang="en-US" sz="1800" dirty="0"/>
              <a:t>表中创建一个基于</a:t>
            </a:r>
            <a:r>
              <a:rPr lang="en-US" altLang="zh-CN" sz="1800" dirty="0" err="1"/>
              <a:t>Sname</a:t>
            </a:r>
            <a:r>
              <a:rPr lang="zh-CN" altLang="en-US" sz="1800" dirty="0"/>
              <a:t>的索引</a:t>
            </a:r>
            <a:endParaRPr lang="zh-CN" altLang="en-US" sz="1800" dirty="0"/>
          </a:p>
          <a:p>
            <a:pPr marL="0" lvl="1" indent="0">
              <a:lnSpc>
                <a:spcPct val="110000"/>
              </a:lnSpc>
              <a:spcBef>
                <a:spcPts val="1000"/>
              </a:spcBef>
              <a:buNone/>
            </a:pPr>
            <a:r>
              <a:rPr lang="zh-CN" altLang="en-US" sz="1800" dirty="0"/>
              <a:t>  	</a:t>
            </a:r>
            <a:r>
              <a:rPr lang="en-US" altLang="zh-CN" sz="1800" dirty="0">
                <a:solidFill>
                  <a:srgbClr val="EE843C"/>
                </a:solidFill>
              </a:rPr>
              <a:t>create   index   </a:t>
            </a:r>
            <a:r>
              <a:rPr lang="en-US" altLang="zh-CN" sz="1800" dirty="0" err="1"/>
              <a:t>idxSname</a:t>
            </a:r>
            <a:r>
              <a:rPr lang="en-US" altLang="zh-CN" sz="1800" dirty="0"/>
              <a:t>   </a:t>
            </a:r>
            <a:r>
              <a:rPr lang="en-US" altLang="zh-CN" sz="1800" dirty="0">
                <a:solidFill>
                  <a:srgbClr val="EE843C"/>
                </a:solidFill>
              </a:rPr>
              <a:t>on</a:t>
            </a:r>
            <a:r>
              <a:rPr lang="en-US" altLang="zh-CN" sz="1800" dirty="0"/>
              <a:t>   student(</a:t>
            </a:r>
            <a:r>
              <a:rPr lang="en-US" altLang="zh-CN" sz="1800" dirty="0" err="1"/>
              <a:t>sname</a:t>
            </a:r>
            <a:r>
              <a:rPr lang="en-US" altLang="zh-CN" sz="1800" dirty="0"/>
              <a:t>);</a:t>
            </a:r>
            <a:endParaRPr lang="en-US" altLang="zh-CN" sz="1800" dirty="0"/>
          </a:p>
          <a:p>
            <a:pPr marL="228600" lvl="1">
              <a:lnSpc>
                <a:spcPct val="110000"/>
              </a:lnSpc>
              <a:spcBef>
                <a:spcPts val="1000"/>
              </a:spcBef>
              <a:buFont typeface="Wingdings" panose="05000000000000000000" pitchFamily="2" charset="2"/>
              <a:buChar char="l"/>
            </a:pPr>
            <a:r>
              <a:rPr lang="zh-CN" altLang="en-US" sz="1800" dirty="0"/>
              <a:t>示例：在</a:t>
            </a:r>
            <a:r>
              <a:rPr lang="en-US" altLang="zh-CN" sz="1800" dirty="0"/>
              <a:t>student</a:t>
            </a:r>
            <a:r>
              <a:rPr lang="zh-CN" altLang="en-US" sz="1800" dirty="0"/>
              <a:t>表中创建一个基于</a:t>
            </a:r>
            <a:r>
              <a:rPr lang="en-US" altLang="zh-CN" sz="1800" dirty="0" err="1"/>
              <a:t>Sname</a:t>
            </a:r>
            <a:r>
              <a:rPr lang="zh-CN" altLang="en-US" sz="1800" dirty="0"/>
              <a:t>和</a:t>
            </a:r>
            <a:r>
              <a:rPr lang="en-US" altLang="zh-CN" sz="1800" dirty="0" err="1"/>
              <a:t>Sclass</a:t>
            </a:r>
            <a:r>
              <a:rPr lang="zh-CN" altLang="en-US" sz="1800" dirty="0"/>
              <a:t>的索引</a:t>
            </a:r>
            <a:endParaRPr lang="zh-CN" altLang="en-US" sz="1800" dirty="0"/>
          </a:p>
          <a:p>
            <a:pPr marL="0" lvl="1" indent="0">
              <a:lnSpc>
                <a:spcPct val="110000"/>
              </a:lnSpc>
              <a:spcBef>
                <a:spcPts val="1000"/>
              </a:spcBef>
              <a:buNone/>
            </a:pPr>
            <a:r>
              <a:rPr lang="zh-CN" altLang="en-US" sz="1800" dirty="0"/>
              <a:t>  	</a:t>
            </a:r>
            <a:r>
              <a:rPr lang="en-US" altLang="zh-CN" sz="1800" dirty="0">
                <a:solidFill>
                  <a:srgbClr val="EE843C"/>
                </a:solidFill>
              </a:rPr>
              <a:t>create   index   </a:t>
            </a:r>
            <a:r>
              <a:rPr lang="en-US" altLang="zh-CN" sz="1800" dirty="0" err="1"/>
              <a:t>idxSnamcl</a:t>
            </a:r>
            <a:r>
              <a:rPr lang="en-US" altLang="zh-CN" sz="1800" dirty="0"/>
              <a:t>   </a:t>
            </a:r>
            <a:r>
              <a:rPr lang="en-US" altLang="zh-CN" sz="1800" dirty="0">
                <a:solidFill>
                  <a:srgbClr val="EE843C"/>
                </a:solidFill>
              </a:rPr>
              <a:t>on</a:t>
            </a:r>
            <a:r>
              <a:rPr lang="en-US" altLang="zh-CN" sz="1800" dirty="0"/>
              <a:t>   student(</a:t>
            </a:r>
            <a:r>
              <a:rPr lang="en-US" altLang="zh-CN" sz="1800" dirty="0" err="1"/>
              <a:t>sname</a:t>
            </a:r>
            <a:r>
              <a:rPr lang="en-US" altLang="zh-CN" sz="1800" dirty="0"/>
              <a:t>, </a:t>
            </a:r>
            <a:r>
              <a:rPr lang="en-US" altLang="zh-CN" sz="1800" dirty="0" err="1"/>
              <a:t>sclass</a:t>
            </a:r>
            <a:r>
              <a:rPr lang="en-US" altLang="zh-CN" sz="1800" dirty="0"/>
              <a:t>);</a:t>
            </a:r>
            <a:endParaRPr lang="en-US" altLang="zh-CN" sz="1800" dirty="0"/>
          </a:p>
          <a:p>
            <a:pPr marL="228600" lvl="1">
              <a:lnSpc>
                <a:spcPct val="110000"/>
              </a:lnSpc>
              <a:spcBef>
                <a:spcPts val="1000"/>
              </a:spcBef>
              <a:buFont typeface="Wingdings" panose="05000000000000000000" pitchFamily="2" charset="2"/>
              <a:buChar char="l"/>
            </a:pPr>
            <a:r>
              <a:rPr lang="zh-CN" altLang="en-US" sz="1800" dirty="0"/>
              <a:t>如某索引不再需要，则可通过撤消命令，撤消用户创建的索引</a:t>
            </a:r>
            <a:endParaRPr lang="zh-CN" altLang="en-US" sz="1800" dirty="0"/>
          </a:p>
          <a:p>
            <a:pPr marL="0" lvl="1" indent="0">
              <a:lnSpc>
                <a:spcPct val="110000"/>
              </a:lnSpc>
              <a:spcBef>
                <a:spcPts val="1000"/>
              </a:spcBef>
              <a:buNone/>
            </a:pPr>
            <a:r>
              <a:rPr lang="zh-CN" altLang="en-US" sz="1800" dirty="0"/>
              <a:t>	</a:t>
            </a:r>
            <a:r>
              <a:rPr lang="en-US" altLang="zh-CN" sz="1800" dirty="0">
                <a:solidFill>
                  <a:srgbClr val="EE843C"/>
                </a:solidFill>
              </a:rPr>
              <a:t>DROP  INDEX   </a:t>
            </a:r>
            <a:r>
              <a:rPr lang="en-US" altLang="zh-CN" sz="1800" dirty="0" err="1">
                <a:solidFill>
                  <a:srgbClr val="FF0000"/>
                </a:solidFill>
              </a:rPr>
              <a:t>indexname</a:t>
            </a:r>
            <a:r>
              <a:rPr lang="en-US" altLang="zh-CN" sz="1800" dirty="0"/>
              <a:t>;</a:t>
            </a:r>
            <a:r>
              <a:rPr lang="en-US" altLang="zh-CN" sz="1200" dirty="0">
                <a:solidFill>
                  <a:schemeClr val="accent2"/>
                </a:solidFill>
                <a:latin typeface="Arial" panose="020B0604020202020204" pitchFamily="34" charset="0"/>
                <a:ea typeface="宋体" panose="02010600030101010101" pitchFamily="2" charset="-122"/>
              </a:rPr>
              <a:t> </a:t>
            </a:r>
            <a:endParaRPr lang="en-US" altLang="zh-CN" sz="1800" dirty="0"/>
          </a:p>
          <a:p>
            <a:pPr marL="228600" lvl="1">
              <a:lnSpc>
                <a:spcPct val="110000"/>
              </a:lnSpc>
              <a:spcBef>
                <a:spcPts val="1000"/>
              </a:spcBef>
              <a:buFont typeface="Wingdings" panose="05000000000000000000" pitchFamily="2" charset="2"/>
              <a:buChar char="l"/>
            </a:pPr>
            <a:endParaRPr lang="en-US" altLang="zh-CN" sz="1800" b="1" dirty="0"/>
          </a:p>
          <a:p>
            <a:pPr marL="228600" lvl="1">
              <a:lnSpc>
                <a:spcPct val="110000"/>
              </a:lnSpc>
              <a:spcBef>
                <a:spcPts val="1000"/>
              </a:spcBef>
              <a:buFont typeface="Wingdings" panose="05000000000000000000" pitchFamily="2" charset="2"/>
              <a:buChar char="l"/>
            </a:pPr>
            <a:endParaRPr lang="zh-CN" altLang="en-US" sz="1800" b="1"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-SQL语言中的索引创建与维护</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4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索引应用要注意效果</a:t>
            </a:r>
            <a:endParaRPr lang="en-US" altLang="zh-CN" sz="2600" dirty="0">
              <a:latin typeface="微软雅黑" panose="020B0503020204020204" pitchFamily="34" charset="-122"/>
              <a:ea typeface="微软雅黑" panose="020B0503020204020204" pitchFamily="34" charset="-122"/>
            </a:endParaRPr>
          </a:p>
          <a:p>
            <a:pPr marL="228600" lvl="1">
              <a:lnSpc>
                <a:spcPct val="110000"/>
              </a:lnSpc>
              <a:spcBef>
                <a:spcPts val="1000"/>
              </a:spcBef>
              <a:buFont typeface="Wingdings" panose="05000000000000000000" pitchFamily="2" charset="2"/>
              <a:buChar char="l"/>
            </a:pPr>
            <a:r>
              <a:rPr lang="zh-CN" altLang="en-US" sz="1800" dirty="0"/>
              <a:t>选择哪些属性创建索引，以及如何创建与维护索引，如何利用索引改善数据库的运行性能，是</a:t>
            </a:r>
            <a:r>
              <a:rPr lang="en-US" altLang="zh-CN" sz="1800" dirty="0"/>
              <a:t>DBA(</a:t>
            </a:r>
            <a:r>
              <a:rPr lang="zh-CN" altLang="en-US" sz="1800" dirty="0"/>
              <a:t>数据库管理员</a:t>
            </a:r>
            <a:r>
              <a:rPr lang="en-US" altLang="zh-CN" sz="1800" dirty="0"/>
              <a:t>)</a:t>
            </a:r>
            <a:r>
              <a:rPr lang="zh-CN" altLang="en-US" sz="1800" dirty="0"/>
              <a:t>的重要职责。</a:t>
            </a:r>
            <a:endParaRPr lang="en-US" altLang="zh-CN" sz="1800" dirty="0"/>
          </a:p>
          <a:p>
            <a:pPr marL="228600" lvl="1">
              <a:lnSpc>
                <a:spcPct val="110000"/>
              </a:lnSpc>
              <a:spcBef>
                <a:spcPts val="1000"/>
              </a:spcBef>
              <a:buFont typeface="Wingdings" panose="05000000000000000000" pitchFamily="2" charset="2"/>
              <a:buChar char="l"/>
            </a:pPr>
            <a:r>
              <a:rPr lang="zh-CN" altLang="en-US" sz="1800" dirty="0"/>
              <a:t>是否建立和在哪些属性上建立索引需要考虑：</a:t>
            </a:r>
            <a:r>
              <a:rPr lang="zh-CN" altLang="en-US" sz="1800" dirty="0">
                <a:solidFill>
                  <a:srgbClr val="FF0000"/>
                </a:solidFill>
              </a:rPr>
              <a:t>访问时间、插入时间、删除时间与空间负载</a:t>
            </a:r>
            <a:r>
              <a:rPr lang="zh-CN" altLang="en-US" sz="1800" dirty="0"/>
              <a:t>。既要改善性能，又要控制代价。</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t>建立索引还需考虑索引的类型：索引如何支持存取的有效性</a:t>
            </a:r>
            <a:r>
              <a:rPr lang="en-US" altLang="zh-CN" sz="1800" dirty="0"/>
              <a:t>, </a:t>
            </a:r>
            <a:r>
              <a:rPr lang="zh-CN" altLang="en-US" sz="1800" dirty="0"/>
              <a:t>比如：支持的是属性的限定值</a:t>
            </a:r>
            <a:r>
              <a:rPr lang="en-US" altLang="zh-CN" sz="1800" dirty="0"/>
              <a:t>(</a:t>
            </a:r>
            <a:r>
              <a:rPr lang="zh-CN" altLang="en-US" sz="1800" dirty="0"/>
              <a:t>是否符合单一值</a:t>
            </a:r>
            <a:r>
              <a:rPr lang="en-US" altLang="zh-CN" sz="1800" dirty="0"/>
              <a:t>)</a:t>
            </a:r>
            <a:r>
              <a:rPr lang="zh-CN" altLang="en-US" sz="1800" dirty="0"/>
              <a:t>，还是支持属性的限定范围的值</a:t>
            </a:r>
            <a:r>
              <a:rPr lang="en-US" altLang="zh-CN" sz="1800" dirty="0"/>
              <a:t>(</a:t>
            </a:r>
            <a:r>
              <a:rPr lang="zh-CN" altLang="en-US" sz="1800" dirty="0"/>
              <a:t>是否符合一定范围</a:t>
            </a:r>
            <a:r>
              <a:rPr lang="en-US" altLang="zh-CN" sz="1800" dirty="0"/>
              <a:t>)</a:t>
            </a:r>
            <a:endParaRPr lang="en-US" altLang="zh-CN" sz="1800" dirty="0"/>
          </a:p>
          <a:p>
            <a:pPr marL="0" lvl="1" indent="0">
              <a:lnSpc>
                <a:spcPct val="110000"/>
              </a:lnSpc>
              <a:spcBef>
                <a:spcPts val="1000"/>
              </a:spcBef>
              <a:buNone/>
            </a:pPr>
            <a:endParaRPr lang="en-US" altLang="zh-CN" sz="1800" b="1" dirty="0"/>
          </a:p>
          <a:p>
            <a:pPr marL="228600" lvl="1">
              <a:lnSpc>
                <a:spcPct val="110000"/>
              </a:lnSpc>
              <a:spcBef>
                <a:spcPts val="1000"/>
              </a:spcBef>
              <a:buFont typeface="Wingdings" panose="05000000000000000000" pitchFamily="2" charset="2"/>
              <a:buChar char="l"/>
            </a:pPr>
            <a:endParaRPr lang="en-US" altLang="zh-CN" sz="1800" b="1" dirty="0"/>
          </a:p>
          <a:p>
            <a:pPr marL="228600" lvl="1">
              <a:lnSpc>
                <a:spcPct val="110000"/>
              </a:lnSpc>
              <a:spcBef>
                <a:spcPts val="1000"/>
              </a:spcBef>
              <a:buFont typeface="Wingdings" panose="05000000000000000000" pitchFamily="2" charset="2"/>
              <a:buChar char="l"/>
            </a:pPr>
            <a:endParaRPr lang="zh-CN" altLang="en-US" sz="1800" b="1"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-SQL语言中的索引创建与维护</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grpSp>
        <p:nvGrpSpPr>
          <p:cNvPr id="2" name="Group 11"/>
          <p:cNvGrpSpPr/>
          <p:nvPr/>
        </p:nvGrpSpPr>
        <p:grpSpPr>
          <a:xfrm>
            <a:off x="3794395" y="4487180"/>
            <a:ext cx="2041525" cy="945504"/>
            <a:chOff x="1105" y="3268"/>
            <a:chExt cx="1494" cy="629"/>
          </a:xfrm>
        </p:grpSpPr>
        <p:sp>
          <p:nvSpPr>
            <p:cNvPr id="3" name="AutoShape 39"/>
            <p:cNvSpPr/>
            <p:nvPr/>
          </p:nvSpPr>
          <p:spPr>
            <a:xfrm>
              <a:off x="1265" y="3268"/>
              <a:ext cx="1153" cy="629"/>
            </a:xfrm>
            <a:prstGeom prst="ellipse">
              <a:avLst/>
            </a:prstGeom>
            <a:solidFill>
              <a:schemeClr val="accent2"/>
            </a:solidFill>
            <a:ln w="9525">
              <a:noFill/>
            </a:ln>
          </p:spPr>
          <p:txBody>
            <a:bodyPr wrap="none" anchor="ctr"/>
            <a:lstStyle/>
            <a:p>
              <a:pPr algn="ctr"/>
              <a:endParaRPr lang="zh-CN" altLang="zh-CN" b="1" dirty="0">
                <a:solidFill>
                  <a:srgbClr val="000000"/>
                </a:solidFill>
                <a:latin typeface="微软雅黑" panose="020B0503020204020204" pitchFamily="34" charset="-122"/>
                <a:ea typeface="微软雅黑" panose="020B0503020204020204" pitchFamily="34" charset="-122"/>
              </a:endParaRPr>
            </a:p>
          </p:txBody>
        </p:sp>
        <p:sp>
          <p:nvSpPr>
            <p:cNvPr id="4" name="Oval 40"/>
            <p:cNvSpPr/>
            <p:nvPr/>
          </p:nvSpPr>
          <p:spPr>
            <a:xfrm>
              <a:off x="1310" y="3308"/>
              <a:ext cx="1069" cy="549"/>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b="1" dirty="0">
                <a:solidFill>
                  <a:srgbClr val="000000"/>
                </a:solidFill>
                <a:latin typeface="微软雅黑" panose="020B0503020204020204" pitchFamily="34" charset="-122"/>
                <a:ea typeface="微软雅黑" panose="020B0503020204020204" pitchFamily="34" charset="-122"/>
              </a:endParaRPr>
            </a:p>
          </p:txBody>
        </p:sp>
        <p:sp>
          <p:nvSpPr>
            <p:cNvPr id="8" name="Text Box 84"/>
            <p:cNvSpPr/>
            <p:nvPr/>
          </p:nvSpPr>
          <p:spPr>
            <a:xfrm>
              <a:off x="1105" y="3280"/>
              <a:ext cx="1494" cy="605"/>
            </a:xfrm>
            <a:prstGeom prst="ellipse">
              <a:avLst/>
            </a:prstGeom>
            <a:noFill/>
            <a:ln w="9525">
              <a:noFill/>
            </a:ln>
          </p:spPr>
          <p:txBody>
            <a:bodyPr anchor="t">
              <a:spAutoFit/>
            </a:bodyPr>
            <a:lstStyle/>
            <a:p>
              <a:pPr algn="ctr">
                <a:spcBef>
                  <a:spcPct val="35000"/>
                </a:spcBef>
              </a:pPr>
              <a:r>
                <a:rPr lang="zh-CN" altLang="en-US" b="1" dirty="0">
                  <a:solidFill>
                    <a:schemeClr val="accent2"/>
                  </a:solidFill>
                  <a:latin typeface="微软雅黑" panose="020B0503020204020204" pitchFamily="34" charset="-122"/>
                  <a:ea typeface="微软雅黑" panose="020B0503020204020204" pitchFamily="34" charset="-122"/>
                </a:rPr>
                <a:t>对哪些属性建立索引</a:t>
              </a:r>
              <a:r>
                <a:rPr lang="en-US" altLang="zh-CN" b="1" dirty="0">
                  <a:solidFill>
                    <a:schemeClr val="accent2"/>
                  </a:solidFill>
                  <a:latin typeface="微软雅黑" panose="020B0503020204020204" pitchFamily="34" charset="-122"/>
                  <a:ea typeface="微软雅黑" panose="020B0503020204020204" pitchFamily="34" charset="-122"/>
                </a:rPr>
                <a:t>?</a:t>
              </a:r>
              <a:endParaRPr lang="en-US" altLang="zh-CN" b="1" dirty="0">
                <a:solidFill>
                  <a:schemeClr val="accent2"/>
                </a:solidFill>
                <a:latin typeface="微软雅黑" panose="020B0503020204020204" pitchFamily="34" charset="-122"/>
                <a:ea typeface="微软雅黑" panose="020B0503020204020204" pitchFamily="34" charset="-122"/>
              </a:endParaRPr>
            </a:p>
          </p:txBody>
        </p:sp>
      </p:grpSp>
      <p:sp>
        <p:nvSpPr>
          <p:cNvPr id="10" name="Text Box 15"/>
          <p:cNvSpPr txBox="1"/>
          <p:nvPr/>
        </p:nvSpPr>
        <p:spPr>
          <a:xfrm>
            <a:off x="5624513" y="4487180"/>
            <a:ext cx="3062287" cy="923330"/>
          </a:xfrm>
          <a:prstGeom prst="rect">
            <a:avLst/>
          </a:prstGeom>
          <a:noFill/>
          <a:ln w="9525">
            <a:noFill/>
          </a:ln>
        </p:spPr>
        <p:txBody>
          <a:bodyPr anchor="t">
            <a:spAutoFit/>
          </a:bodyPr>
          <a:lstStyle/>
          <a:p>
            <a:r>
              <a:rPr lang="zh-CN" altLang="en-US" b="1" dirty="0">
                <a:latin typeface="Times New Roman" panose="02020603050405020304" pitchFamily="18" charset="0"/>
                <a:ea typeface="微软雅黑" panose="020B0503020204020204" pitchFamily="34" charset="-122"/>
              </a:rPr>
              <a:t>对经常出现在检索条件、连接条件、分组计算条件中的属性可建立索引</a:t>
            </a:r>
            <a:endParaRPr lang="zh-CN" altLang="en-US" b="1" dirty="0">
              <a:latin typeface="Times New Roman" panose="02020603050405020304" pitchFamily="18" charset="0"/>
              <a:ea typeface="微软雅黑" panose="020B0503020204020204" pitchFamily="34" charset="-122"/>
            </a:endParaRPr>
          </a:p>
        </p:txBody>
      </p:sp>
      <p:sp>
        <p:nvSpPr>
          <p:cNvPr id="11" name="Text Box 16"/>
          <p:cNvSpPr txBox="1"/>
          <p:nvPr/>
        </p:nvSpPr>
        <p:spPr>
          <a:xfrm>
            <a:off x="3938589" y="5576520"/>
            <a:ext cx="4818062" cy="369332"/>
          </a:xfrm>
          <a:prstGeom prst="rect">
            <a:avLst/>
          </a:prstGeom>
          <a:noFill/>
          <a:ln w="9525">
            <a:noFill/>
          </a:ln>
        </p:spPr>
        <p:txBody>
          <a:bodyPr wrap="square" anchor="t">
            <a:spAutoFit/>
          </a:bodyPr>
          <a:lstStyle/>
          <a:p>
            <a:r>
              <a:rPr lang="en-US" altLang="zh-CN" b="1" dirty="0">
                <a:latin typeface="Arial" panose="020B0604020202020204" pitchFamily="34" charset="0"/>
                <a:ea typeface="微软雅黑" panose="020B0503020204020204" pitchFamily="34" charset="-122"/>
              </a:rPr>
              <a:t>SELECT…FROM…WHERE…GROUP BY…</a:t>
            </a:r>
            <a:endParaRPr lang="en-US" altLang="zh-CN" b="1" dirty="0">
              <a:latin typeface="Arial" panose="020B0604020202020204" pitchFamily="34"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40000"/>
              </a:lnSpc>
            </a:pPr>
            <a:r>
              <a:rPr lang="en-US" altLang="zh-CN" sz="2600" dirty="0">
                <a:latin typeface="微软雅黑" panose="020B0503020204020204" pitchFamily="34" charset="-122"/>
                <a:ea typeface="微软雅黑" panose="020B0503020204020204" pitchFamily="34" charset="-122"/>
              </a:rPr>
              <a:t>(1) </a:t>
            </a:r>
            <a:r>
              <a:rPr lang="zh-CN" altLang="en-US" sz="2600" dirty="0">
                <a:latin typeface="微软雅黑" panose="020B0503020204020204" pitchFamily="34" charset="-122"/>
                <a:ea typeface="微软雅黑" panose="020B0503020204020204" pitchFamily="34" charset="-122"/>
              </a:rPr>
              <a:t>稠密索引与稀疏索引</a:t>
            </a:r>
            <a:endParaRPr lang="en-US" altLang="zh-CN" sz="2600" dirty="0">
              <a:latin typeface="微软雅黑" panose="020B0503020204020204" pitchFamily="34" charset="-122"/>
              <a:ea typeface="微软雅黑" panose="020B0503020204020204" pitchFamily="34" charset="-122"/>
            </a:endParaRPr>
          </a:p>
          <a:p>
            <a:pPr marL="228600" lvl="1">
              <a:lnSpc>
                <a:spcPct val="110000"/>
              </a:lnSpc>
              <a:spcBef>
                <a:spcPts val="1000"/>
              </a:spcBef>
              <a:buFont typeface="Wingdings" panose="05000000000000000000" pitchFamily="2" charset="2"/>
              <a:buChar char="l"/>
            </a:pPr>
            <a:r>
              <a:rPr lang="zh-CN" altLang="en-US" sz="1800" dirty="0"/>
              <a:t>对于主文件中每一个记录</a:t>
            </a:r>
            <a:r>
              <a:rPr lang="en-US" altLang="zh-CN" sz="1800" dirty="0"/>
              <a:t>(</a:t>
            </a:r>
            <a:r>
              <a:rPr lang="zh-CN" altLang="en-US" sz="1800" dirty="0"/>
              <a:t>形成的每一个索引字段值</a:t>
            </a:r>
            <a:r>
              <a:rPr lang="en-US" altLang="zh-CN" sz="1800" dirty="0"/>
              <a:t>)</a:t>
            </a:r>
            <a:r>
              <a:rPr lang="zh-CN" altLang="en-US" sz="1800" dirty="0"/>
              <a:t>，都有一个索引项和它对应，指明该记录所在位置。这样的索引称</a:t>
            </a:r>
            <a:r>
              <a:rPr lang="zh-CN" altLang="en-US" sz="1800" dirty="0">
                <a:solidFill>
                  <a:srgbClr val="FF0000"/>
                </a:solidFill>
              </a:rPr>
              <a:t>稠密索引</a:t>
            </a:r>
            <a:r>
              <a:rPr lang="en-US" altLang="zh-CN" sz="1800" dirty="0">
                <a:solidFill>
                  <a:srgbClr val="FF0000"/>
                </a:solidFill>
              </a:rPr>
              <a:t>(dense index)</a:t>
            </a:r>
            <a:endParaRPr lang="en-US" altLang="zh-CN" sz="1800" dirty="0">
              <a:solidFill>
                <a:srgbClr val="FF0000"/>
              </a:solidFill>
            </a:endParaRPr>
          </a:p>
          <a:p>
            <a:pPr marL="228600" lvl="1">
              <a:lnSpc>
                <a:spcPct val="110000"/>
              </a:lnSpc>
              <a:spcBef>
                <a:spcPts val="1000"/>
              </a:spcBef>
              <a:buFont typeface="Wingdings" panose="05000000000000000000" pitchFamily="2" charset="2"/>
              <a:buChar char="l"/>
            </a:pPr>
            <a:r>
              <a:rPr lang="zh-CN" altLang="en-US" sz="1800" dirty="0"/>
              <a:t>对于主文件中部分记录</a:t>
            </a:r>
            <a:r>
              <a:rPr lang="en-US" altLang="zh-CN" sz="1800" dirty="0"/>
              <a:t>(</a:t>
            </a:r>
            <a:r>
              <a:rPr lang="zh-CN" altLang="en-US" sz="1800" dirty="0"/>
              <a:t>形成的索引字段值</a:t>
            </a:r>
            <a:r>
              <a:rPr lang="en-US" altLang="zh-CN" sz="1800" dirty="0"/>
              <a:t>)</a:t>
            </a:r>
            <a:r>
              <a:rPr lang="zh-CN" altLang="en-US" sz="1800" dirty="0"/>
              <a:t>，有索引项和它对应，这样的索引称</a:t>
            </a:r>
            <a:r>
              <a:rPr lang="zh-CN" altLang="en-US" sz="1800" dirty="0">
                <a:solidFill>
                  <a:srgbClr val="FF0000"/>
                </a:solidFill>
              </a:rPr>
              <a:t>非稠密索引</a:t>
            </a:r>
            <a:r>
              <a:rPr lang="en-US" altLang="zh-CN" sz="1800" dirty="0">
                <a:solidFill>
                  <a:srgbClr val="FF0000"/>
                </a:solidFill>
              </a:rPr>
              <a:t>(</a:t>
            </a:r>
            <a:r>
              <a:rPr lang="en-US" altLang="zh-CN" sz="1800" dirty="0" err="1">
                <a:solidFill>
                  <a:srgbClr val="FF0000"/>
                </a:solidFill>
              </a:rPr>
              <a:t>undense</a:t>
            </a:r>
            <a:r>
              <a:rPr lang="en-US" altLang="zh-CN" sz="1800" dirty="0">
                <a:solidFill>
                  <a:srgbClr val="FF0000"/>
                </a:solidFill>
              </a:rPr>
              <a:t> index</a:t>
            </a:r>
            <a:r>
              <a:rPr lang="en-US" altLang="zh-CN" sz="1800" dirty="0"/>
              <a:t>)</a:t>
            </a:r>
            <a:r>
              <a:rPr lang="zh-CN" altLang="en-US" sz="1800" dirty="0"/>
              <a:t>或</a:t>
            </a:r>
            <a:r>
              <a:rPr lang="zh-CN" altLang="en-US" sz="1800" dirty="0">
                <a:solidFill>
                  <a:srgbClr val="FF0000"/>
                </a:solidFill>
              </a:rPr>
              <a:t>稀疏索引</a:t>
            </a:r>
            <a:r>
              <a:rPr lang="en-US" altLang="zh-CN" sz="1800" dirty="0">
                <a:solidFill>
                  <a:srgbClr val="FF0000"/>
                </a:solidFill>
              </a:rPr>
              <a:t>(sparse index)</a:t>
            </a:r>
            <a:endParaRPr lang="en-US" altLang="zh-CN" sz="1800" dirty="0">
              <a:solidFill>
                <a:srgbClr val="FF0000"/>
              </a:solidFill>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-稠密索引与稀疏索引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pic>
        <p:nvPicPr>
          <p:cNvPr id="2" name="Picture 1031"/>
          <p:cNvPicPr>
            <a:picLocks noChangeAspect="1"/>
          </p:cNvPicPr>
          <p:nvPr/>
        </p:nvPicPr>
        <p:blipFill>
          <a:blip r:embed="rId1">
            <a:clrChange>
              <a:clrFrom>
                <a:srgbClr val="FFFFFF"/>
              </a:clrFrom>
              <a:clrTo>
                <a:srgbClr val="FFFFFF">
                  <a:alpha val="0"/>
                </a:srgbClr>
              </a:clrTo>
            </a:clrChange>
          </a:blip>
          <a:stretch>
            <a:fillRect/>
          </a:stretch>
        </p:blipFill>
        <p:spPr>
          <a:xfrm>
            <a:off x="1645805" y="3859212"/>
            <a:ext cx="3922713" cy="1906588"/>
          </a:xfrm>
          <a:prstGeom prst="rect">
            <a:avLst/>
          </a:prstGeom>
          <a:noFill/>
          <a:ln w="9525">
            <a:noFill/>
          </a:ln>
        </p:spPr>
      </p:pic>
      <p:sp>
        <p:nvSpPr>
          <p:cNvPr id="3" name="Text Box 1032"/>
          <p:cNvSpPr txBox="1"/>
          <p:nvPr/>
        </p:nvSpPr>
        <p:spPr>
          <a:xfrm>
            <a:off x="1568057" y="3429000"/>
            <a:ext cx="1107996" cy="369332"/>
          </a:xfrm>
          <a:prstGeom prst="rect">
            <a:avLst/>
          </a:prstGeom>
          <a:noFill/>
          <a:ln w="9525">
            <a:noFill/>
          </a:ln>
        </p:spPr>
        <p:txBody>
          <a:bodyPr wrap="none" anchor="t">
            <a:spAutoFit/>
          </a:bodyPr>
          <a:lstStyle/>
          <a:p>
            <a:pPr algn="ctr"/>
            <a:r>
              <a:rPr lang="zh-CN" altLang="en-US" b="1" dirty="0">
                <a:solidFill>
                  <a:schemeClr val="accent2"/>
                </a:solidFill>
                <a:latin typeface="Times New Roman" panose="02020603050405020304" pitchFamily="18" charset="0"/>
                <a:ea typeface="微软雅黑" panose="020B0503020204020204" pitchFamily="34" charset="-122"/>
              </a:rPr>
              <a:t>稠密索引</a:t>
            </a:r>
            <a:endParaRPr lang="zh-CN" altLang="en-US" b="1" dirty="0">
              <a:solidFill>
                <a:schemeClr val="accent2"/>
              </a:solidFill>
              <a:latin typeface="Times New Roman" panose="02020603050405020304" pitchFamily="18" charset="0"/>
              <a:ea typeface="微软雅黑" panose="020B0503020204020204" pitchFamily="34" charset="-122"/>
            </a:endParaRPr>
          </a:p>
        </p:txBody>
      </p:sp>
      <p:grpSp>
        <p:nvGrpSpPr>
          <p:cNvPr id="4" name="Group 1033"/>
          <p:cNvGrpSpPr/>
          <p:nvPr/>
        </p:nvGrpSpPr>
        <p:grpSpPr>
          <a:xfrm>
            <a:off x="1510683" y="5429250"/>
            <a:ext cx="1844675" cy="1114425"/>
            <a:chOff x="3795" y="2352"/>
            <a:chExt cx="1483" cy="702"/>
          </a:xfrm>
        </p:grpSpPr>
        <p:sp>
          <p:nvSpPr>
            <p:cNvPr id="8" name="AutoShape 39"/>
            <p:cNvSpPr/>
            <p:nvPr/>
          </p:nvSpPr>
          <p:spPr>
            <a:xfrm>
              <a:off x="3795" y="2352"/>
              <a:ext cx="1471" cy="702"/>
            </a:xfrm>
            <a:prstGeom prst="roundRect">
              <a:avLst>
                <a:gd name="adj" fmla="val 16667"/>
              </a:avLst>
            </a:prstGeom>
            <a:solidFill>
              <a:schemeClr val="accent2"/>
            </a:solidFill>
            <a:ln w="9525">
              <a:noFill/>
            </a:ln>
          </p:spPr>
          <p:txBody>
            <a:bodyPr wrap="none" anchor="ctr"/>
            <a:lstStyle/>
            <a:p>
              <a:pPr algn="ctr"/>
              <a:endParaRPr lang="zh-CN" altLang="zh-CN" sz="1600" b="1" dirty="0">
                <a:solidFill>
                  <a:srgbClr val="000000"/>
                </a:solidFill>
                <a:latin typeface="Arial" panose="020B0604020202020204" pitchFamily="34" charset="0"/>
                <a:ea typeface="微软雅黑" panose="020B0503020204020204" pitchFamily="34" charset="-122"/>
              </a:endParaRPr>
            </a:p>
          </p:txBody>
        </p:sp>
        <p:sp>
          <p:nvSpPr>
            <p:cNvPr id="10" name="Oval 40"/>
            <p:cNvSpPr/>
            <p:nvPr/>
          </p:nvSpPr>
          <p:spPr>
            <a:xfrm>
              <a:off x="3852" y="2397"/>
              <a:ext cx="1365" cy="612"/>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b="1" dirty="0">
                <a:solidFill>
                  <a:srgbClr val="000000"/>
                </a:solidFill>
                <a:latin typeface="Arial" panose="020B0604020202020204" pitchFamily="34" charset="0"/>
                <a:ea typeface="微软雅黑" panose="020B0503020204020204" pitchFamily="34" charset="-122"/>
              </a:endParaRPr>
            </a:p>
          </p:txBody>
        </p:sp>
        <p:sp>
          <p:nvSpPr>
            <p:cNvPr id="11" name="Text Box 84"/>
            <p:cNvSpPr/>
            <p:nvPr/>
          </p:nvSpPr>
          <p:spPr>
            <a:xfrm>
              <a:off x="3799" y="2416"/>
              <a:ext cx="1479" cy="612"/>
            </a:xfrm>
            <a:prstGeom prst="roundRect">
              <a:avLst>
                <a:gd name="adj" fmla="val 16667"/>
              </a:avLst>
            </a:prstGeom>
            <a:noFill/>
            <a:ln w="9525">
              <a:noFill/>
            </a:ln>
          </p:spPr>
          <p:txBody>
            <a:bodyPr anchor="t">
              <a:spAutoFit/>
            </a:bodyPr>
            <a:lstStyle/>
            <a:p>
              <a:pPr algn="ctr">
                <a:spcBef>
                  <a:spcPct val="35000"/>
                </a:spcBef>
              </a:pPr>
              <a:r>
                <a:rPr lang="zh-CN" altLang="en-US" sz="1600" b="1" dirty="0">
                  <a:solidFill>
                    <a:schemeClr val="accent2"/>
                  </a:solidFill>
                  <a:latin typeface="Arial" panose="020B0604020202020204" pitchFamily="34" charset="0"/>
                  <a:ea typeface="微软雅黑" panose="020B0503020204020204" pitchFamily="34" charset="-122"/>
                </a:rPr>
                <a:t>索引文件中包含了主文件对应字段的</a:t>
              </a:r>
              <a:r>
                <a:rPr lang="zh-CN" altLang="en-US" b="1" dirty="0">
                  <a:solidFill>
                    <a:srgbClr val="CC0000"/>
                  </a:solidFill>
                  <a:latin typeface="Arial" panose="020B0604020202020204" pitchFamily="34" charset="0"/>
                  <a:ea typeface="微软雅黑" panose="020B0503020204020204" pitchFamily="34" charset="-122"/>
                </a:rPr>
                <a:t>所有</a:t>
              </a:r>
              <a:r>
                <a:rPr lang="zh-CN" altLang="en-US" sz="1600" b="1" dirty="0">
                  <a:solidFill>
                    <a:schemeClr val="accent2"/>
                  </a:solidFill>
                  <a:latin typeface="Arial" panose="020B0604020202020204" pitchFamily="34" charset="0"/>
                  <a:ea typeface="微软雅黑" panose="020B0503020204020204" pitchFamily="34" charset="-122"/>
                </a:rPr>
                <a:t>不同值</a:t>
              </a:r>
              <a:endParaRPr lang="zh-CN" altLang="en-US" sz="1600" b="1" dirty="0">
                <a:solidFill>
                  <a:schemeClr val="accent2"/>
                </a:solidFill>
                <a:latin typeface="Arial" panose="020B0604020202020204" pitchFamily="34" charset="0"/>
                <a:ea typeface="微软雅黑" panose="020B0503020204020204" pitchFamily="34" charset="-122"/>
              </a:endParaRPr>
            </a:p>
          </p:txBody>
        </p:sp>
      </p:grpSp>
      <p:pic>
        <p:nvPicPr>
          <p:cNvPr id="12" name="Picture 1037"/>
          <p:cNvPicPr>
            <a:picLocks noChangeAspect="1"/>
          </p:cNvPicPr>
          <p:nvPr/>
        </p:nvPicPr>
        <p:blipFill>
          <a:blip r:embed="rId2">
            <a:clrChange>
              <a:clrFrom>
                <a:srgbClr val="FFFFFF"/>
              </a:clrFrom>
              <a:clrTo>
                <a:srgbClr val="FFFFFF">
                  <a:alpha val="0"/>
                </a:srgbClr>
              </a:clrTo>
            </a:clrChange>
          </a:blip>
          <a:stretch>
            <a:fillRect/>
          </a:stretch>
        </p:blipFill>
        <p:spPr>
          <a:xfrm>
            <a:off x="7027430" y="3841750"/>
            <a:ext cx="3813175" cy="1946275"/>
          </a:xfrm>
          <a:prstGeom prst="rect">
            <a:avLst/>
          </a:prstGeom>
          <a:noFill/>
          <a:ln w="9525">
            <a:noFill/>
          </a:ln>
        </p:spPr>
      </p:pic>
      <p:sp>
        <p:nvSpPr>
          <p:cNvPr id="13" name="Text Box 1038"/>
          <p:cNvSpPr txBox="1"/>
          <p:nvPr/>
        </p:nvSpPr>
        <p:spPr>
          <a:xfrm>
            <a:off x="7070332" y="3427412"/>
            <a:ext cx="1107996" cy="369332"/>
          </a:xfrm>
          <a:prstGeom prst="rect">
            <a:avLst/>
          </a:prstGeom>
          <a:noFill/>
          <a:ln w="9525">
            <a:noFill/>
          </a:ln>
        </p:spPr>
        <p:txBody>
          <a:bodyPr wrap="none" anchor="t">
            <a:spAutoFit/>
          </a:bodyPr>
          <a:lstStyle/>
          <a:p>
            <a:pPr algn="ctr"/>
            <a:r>
              <a:rPr lang="zh-CN" altLang="en-US" b="1" dirty="0">
                <a:solidFill>
                  <a:schemeClr val="accent2"/>
                </a:solidFill>
                <a:latin typeface="Times New Roman" panose="02020603050405020304" pitchFamily="18" charset="0"/>
                <a:ea typeface="微软雅黑" panose="020B0503020204020204" pitchFamily="34" charset="-122"/>
              </a:rPr>
              <a:t>稀疏索引</a:t>
            </a:r>
            <a:endParaRPr lang="zh-CN" altLang="en-US" b="1" dirty="0">
              <a:solidFill>
                <a:schemeClr val="accent2"/>
              </a:solidFill>
              <a:latin typeface="Times New Roman" panose="02020603050405020304" pitchFamily="18" charset="0"/>
              <a:ea typeface="微软雅黑" panose="020B0503020204020204" pitchFamily="34" charset="-122"/>
            </a:endParaRPr>
          </a:p>
        </p:txBody>
      </p:sp>
      <p:grpSp>
        <p:nvGrpSpPr>
          <p:cNvPr id="14" name="Group 1039"/>
          <p:cNvGrpSpPr/>
          <p:nvPr/>
        </p:nvGrpSpPr>
        <p:grpSpPr>
          <a:xfrm>
            <a:off x="6711518" y="5410200"/>
            <a:ext cx="1844675" cy="1114425"/>
            <a:chOff x="3795" y="2352"/>
            <a:chExt cx="1483" cy="702"/>
          </a:xfrm>
        </p:grpSpPr>
        <p:sp>
          <p:nvSpPr>
            <p:cNvPr id="15" name="AutoShape 39"/>
            <p:cNvSpPr/>
            <p:nvPr/>
          </p:nvSpPr>
          <p:spPr>
            <a:xfrm>
              <a:off x="3795" y="2352"/>
              <a:ext cx="1471" cy="702"/>
            </a:xfrm>
            <a:prstGeom prst="roundRect">
              <a:avLst>
                <a:gd name="adj" fmla="val 16667"/>
              </a:avLst>
            </a:prstGeom>
            <a:solidFill>
              <a:schemeClr val="accent2"/>
            </a:solidFill>
            <a:ln w="9525">
              <a:noFill/>
            </a:ln>
          </p:spPr>
          <p:txBody>
            <a:bodyPr wrap="none" anchor="ctr"/>
            <a:lstStyle/>
            <a:p>
              <a:pPr algn="ctr"/>
              <a:endParaRPr lang="zh-CN" altLang="zh-CN" sz="1600" b="1" dirty="0">
                <a:solidFill>
                  <a:srgbClr val="000000"/>
                </a:solidFill>
                <a:latin typeface="Arial" panose="020B0604020202020204" pitchFamily="34" charset="0"/>
                <a:ea typeface="微软雅黑" panose="020B0503020204020204" pitchFamily="34" charset="-122"/>
              </a:endParaRPr>
            </a:p>
          </p:txBody>
        </p:sp>
        <p:sp>
          <p:nvSpPr>
            <p:cNvPr id="16" name="Oval 40"/>
            <p:cNvSpPr/>
            <p:nvPr/>
          </p:nvSpPr>
          <p:spPr>
            <a:xfrm>
              <a:off x="3852" y="2397"/>
              <a:ext cx="1365" cy="612"/>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b="1" dirty="0">
                <a:solidFill>
                  <a:srgbClr val="000000"/>
                </a:solidFill>
                <a:latin typeface="Arial" panose="020B0604020202020204" pitchFamily="34" charset="0"/>
                <a:ea typeface="微软雅黑" panose="020B0503020204020204" pitchFamily="34" charset="-122"/>
              </a:endParaRPr>
            </a:p>
          </p:txBody>
        </p:sp>
        <p:sp>
          <p:nvSpPr>
            <p:cNvPr id="17" name="Text Box 84"/>
            <p:cNvSpPr/>
            <p:nvPr/>
          </p:nvSpPr>
          <p:spPr>
            <a:xfrm>
              <a:off x="3799" y="2416"/>
              <a:ext cx="1479" cy="612"/>
            </a:xfrm>
            <a:prstGeom prst="roundRect">
              <a:avLst>
                <a:gd name="adj" fmla="val 16667"/>
              </a:avLst>
            </a:prstGeom>
            <a:noFill/>
            <a:ln w="9525">
              <a:noFill/>
            </a:ln>
          </p:spPr>
          <p:txBody>
            <a:bodyPr anchor="t">
              <a:spAutoFit/>
            </a:bodyPr>
            <a:lstStyle/>
            <a:p>
              <a:pPr algn="ctr">
                <a:spcBef>
                  <a:spcPct val="35000"/>
                </a:spcBef>
              </a:pPr>
              <a:r>
                <a:rPr lang="zh-CN" altLang="en-US" sz="1600" b="1" dirty="0">
                  <a:solidFill>
                    <a:schemeClr val="accent2"/>
                  </a:solidFill>
                  <a:latin typeface="Arial" panose="020B0604020202020204" pitchFamily="34" charset="0"/>
                  <a:ea typeface="微软雅黑" panose="020B0503020204020204" pitchFamily="34" charset="-122"/>
                </a:rPr>
                <a:t>索引文件中包含了主文件对应字段的</a:t>
              </a:r>
              <a:r>
                <a:rPr lang="zh-CN" altLang="en-US" b="1" dirty="0">
                  <a:solidFill>
                    <a:srgbClr val="CC0000"/>
                  </a:solidFill>
                  <a:latin typeface="Arial" panose="020B0604020202020204" pitchFamily="34" charset="0"/>
                  <a:ea typeface="微软雅黑" panose="020B0503020204020204" pitchFamily="34" charset="-122"/>
                </a:rPr>
                <a:t>部分</a:t>
              </a:r>
              <a:r>
                <a:rPr lang="zh-CN" altLang="en-US" sz="1600" b="1" dirty="0">
                  <a:solidFill>
                    <a:schemeClr val="accent2"/>
                  </a:solidFill>
                  <a:latin typeface="Arial" panose="020B0604020202020204" pitchFamily="34" charset="0"/>
                  <a:ea typeface="微软雅黑" panose="020B0503020204020204" pitchFamily="34" charset="-122"/>
                </a:rPr>
                <a:t>不同值</a:t>
              </a:r>
              <a:endParaRPr lang="zh-CN" altLang="en-US" sz="1600" b="1" dirty="0">
                <a:solidFill>
                  <a:schemeClr val="accent2"/>
                </a:solidFill>
                <a:latin typeface="Arial" panose="020B0604020202020204" pitchFamily="34" charset="0"/>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4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稀疏索引如何定位记录</a:t>
            </a:r>
            <a:endParaRPr lang="en-US" altLang="zh-CN" sz="2600" dirty="0">
              <a:latin typeface="微软雅黑" panose="020B0503020204020204" pitchFamily="34" charset="-122"/>
              <a:ea typeface="微软雅黑" panose="020B0503020204020204" pitchFamily="34" charset="-122"/>
            </a:endParaRPr>
          </a:p>
          <a:p>
            <a:pPr marL="228600" lvl="1">
              <a:lnSpc>
                <a:spcPct val="110000"/>
              </a:lnSpc>
              <a:spcBef>
                <a:spcPts val="1000"/>
              </a:spcBef>
              <a:buFont typeface="Wingdings" panose="05000000000000000000" pitchFamily="2" charset="2"/>
              <a:buChar char="l"/>
            </a:pPr>
            <a:r>
              <a:rPr lang="zh-CN" altLang="en-US" sz="1800" dirty="0"/>
              <a:t>定位索引字段值为 </a:t>
            </a:r>
            <a:r>
              <a:rPr lang="en-US" altLang="zh-CN" sz="1800" dirty="0"/>
              <a:t>K</a:t>
            </a:r>
            <a:r>
              <a:rPr lang="zh-CN" altLang="en-US" sz="1800" dirty="0"/>
              <a:t>的记录，需要 </a:t>
            </a:r>
            <a:endParaRPr lang="zh-CN" altLang="en-US" sz="1800" dirty="0"/>
          </a:p>
          <a:p>
            <a:pPr marL="285750" lvl="1" indent="-285750">
              <a:lnSpc>
                <a:spcPct val="110000"/>
              </a:lnSpc>
              <a:spcBef>
                <a:spcPts val="1000"/>
              </a:spcBef>
              <a:buFont typeface="Wingdings" panose="05000000000000000000" pitchFamily="2" charset="2"/>
              <a:buChar char="ü"/>
            </a:pPr>
            <a:r>
              <a:rPr lang="zh-CN" altLang="en-US" sz="1600" dirty="0"/>
              <a:t>首先找相邻的小于</a:t>
            </a:r>
            <a:r>
              <a:rPr lang="en-US" altLang="zh-CN" sz="1600" dirty="0"/>
              <a:t>K</a:t>
            </a:r>
            <a:r>
              <a:rPr lang="zh-CN" altLang="en-US" sz="1600" dirty="0"/>
              <a:t>的最大索引字段值所对应的索引项</a:t>
            </a:r>
            <a:endParaRPr lang="zh-CN" altLang="en-US" sz="1600" dirty="0"/>
          </a:p>
          <a:p>
            <a:pPr marL="285750" lvl="1" indent="-285750">
              <a:lnSpc>
                <a:spcPct val="110000"/>
              </a:lnSpc>
              <a:spcBef>
                <a:spcPts val="1000"/>
              </a:spcBef>
              <a:buFont typeface="Wingdings" panose="05000000000000000000" pitchFamily="2" charset="2"/>
              <a:buChar char="ü"/>
            </a:pPr>
            <a:r>
              <a:rPr lang="zh-CN" altLang="en-US" sz="1600" dirty="0"/>
              <a:t>从该索引项所对应的记录开始顺序进行</a:t>
            </a:r>
            <a:r>
              <a:rPr lang="en-US" altLang="zh-CN" sz="1600" dirty="0"/>
              <a:t>Table</a:t>
            </a:r>
            <a:r>
              <a:rPr lang="zh-CN" altLang="en-US" sz="1600" dirty="0"/>
              <a:t>的检索</a:t>
            </a:r>
            <a:endParaRPr lang="zh-CN" altLang="en-US" sz="1600" dirty="0"/>
          </a:p>
          <a:p>
            <a:pPr marL="228600" lvl="1">
              <a:lnSpc>
                <a:spcPct val="110000"/>
              </a:lnSpc>
              <a:spcBef>
                <a:spcPts val="1000"/>
              </a:spcBef>
              <a:buFont typeface="Wingdings" panose="05000000000000000000" pitchFamily="2" charset="2"/>
              <a:buChar char="l"/>
            </a:pPr>
            <a:r>
              <a:rPr lang="zh-CN" altLang="en-US" sz="1800" dirty="0"/>
              <a:t>稀疏索引的使用要求</a:t>
            </a:r>
            <a:r>
              <a:rPr lang="en-US" altLang="zh-CN" sz="1800" dirty="0"/>
              <a:t>—</a:t>
            </a:r>
            <a:r>
              <a:rPr lang="zh-CN" altLang="en-US" sz="1800" dirty="0"/>
              <a:t>主文件必须是按对应索引字段属性排序存储</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t>相比稠密索引：空间占用更少，维护任务更轻，但速度更慢</a:t>
            </a:r>
            <a:endParaRPr lang="zh-CN" altLang="en-US" sz="1800" dirty="0"/>
          </a:p>
          <a:p>
            <a:pPr marL="228600" lvl="1">
              <a:lnSpc>
                <a:spcPct val="110000"/>
              </a:lnSpc>
              <a:spcBef>
                <a:spcPts val="1000"/>
              </a:spcBef>
              <a:buFont typeface="Wingdings" panose="05000000000000000000" pitchFamily="2" charset="2"/>
              <a:buChar char="l"/>
            </a:pPr>
            <a:r>
              <a:rPr lang="zh-CN" altLang="en-US" sz="1800" dirty="0"/>
              <a:t>平衡</a:t>
            </a:r>
            <a:r>
              <a:rPr lang="en-US" altLang="zh-CN" sz="1800" dirty="0"/>
              <a:t>: </a:t>
            </a:r>
            <a:r>
              <a:rPr lang="zh-CN" altLang="en-US" sz="1800" dirty="0"/>
              <a:t>索引项不指向记录指针，而是指向记录所在存储块的指针，即每一存储块有一个索引项，而不是每条记录有一索引项</a:t>
            </a:r>
            <a:r>
              <a:rPr lang="en-US" altLang="zh-CN" sz="1800" dirty="0"/>
              <a:t>----</a:t>
            </a:r>
            <a:r>
              <a:rPr lang="zh-CN" altLang="en-US" sz="1800" dirty="0">
                <a:solidFill>
                  <a:srgbClr val="FF0000"/>
                </a:solidFill>
              </a:rPr>
              <a:t>主索引</a:t>
            </a:r>
            <a:endParaRPr lang="zh-CN" altLang="en-US" sz="1800" dirty="0">
              <a:solidFill>
                <a:srgbClr val="FF0000"/>
              </a:solidFill>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-稠密索引与稀疏索引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pic>
        <p:nvPicPr>
          <p:cNvPr id="18" name="Picture 6"/>
          <p:cNvPicPr>
            <a:picLocks noChangeAspect="1"/>
          </p:cNvPicPr>
          <p:nvPr/>
        </p:nvPicPr>
        <p:blipFill>
          <a:blip r:embed="rId1">
            <a:clrChange>
              <a:clrFrom>
                <a:srgbClr val="FFFFFF"/>
              </a:clrFrom>
              <a:clrTo>
                <a:srgbClr val="FFFFFF">
                  <a:alpha val="0"/>
                </a:srgbClr>
              </a:clrTo>
            </a:clrChange>
          </a:blip>
          <a:stretch>
            <a:fillRect/>
          </a:stretch>
        </p:blipFill>
        <p:spPr>
          <a:xfrm>
            <a:off x="4929188" y="4636366"/>
            <a:ext cx="4429125" cy="1946275"/>
          </a:xfrm>
          <a:prstGeom prst="rect">
            <a:avLst/>
          </a:prstGeom>
          <a:noFill/>
          <a:ln w="9525">
            <a:noFill/>
          </a:ln>
        </p:spPr>
      </p:pic>
      <p:sp>
        <p:nvSpPr>
          <p:cNvPr id="19" name="Text Box 8"/>
          <p:cNvSpPr txBox="1"/>
          <p:nvPr/>
        </p:nvSpPr>
        <p:spPr>
          <a:xfrm>
            <a:off x="3730665" y="4796704"/>
            <a:ext cx="1107996" cy="369332"/>
          </a:xfrm>
          <a:prstGeom prst="rect">
            <a:avLst/>
          </a:prstGeom>
          <a:noFill/>
          <a:ln w="9525">
            <a:noFill/>
          </a:ln>
        </p:spPr>
        <p:txBody>
          <a:bodyPr wrap="none" anchor="t">
            <a:spAutoFit/>
          </a:bodyPr>
          <a:lstStyle/>
          <a:p>
            <a:pPr algn="ctr"/>
            <a:r>
              <a:rPr lang="zh-CN" altLang="en-US" b="1" dirty="0">
                <a:solidFill>
                  <a:schemeClr val="accent2"/>
                </a:solidFill>
                <a:latin typeface="Times New Roman" panose="02020603050405020304" pitchFamily="18" charset="0"/>
                <a:ea typeface="微软雅黑" panose="020B0503020204020204" pitchFamily="34" charset="-122"/>
              </a:rPr>
              <a:t>稀疏索引</a:t>
            </a:r>
            <a:endParaRPr lang="zh-CN" altLang="en-US" b="1" dirty="0">
              <a:solidFill>
                <a:schemeClr val="accent2"/>
              </a:solidFill>
              <a:latin typeface="Times New Roman" panose="02020603050405020304" pitchFamily="18" charset="0"/>
              <a:ea typeface="微软雅黑" panose="020B0503020204020204" pitchFamily="34" charset="-122"/>
            </a:endParaRPr>
          </a:p>
        </p:txBody>
      </p:sp>
      <p:grpSp>
        <p:nvGrpSpPr>
          <p:cNvPr id="20" name="Group 43"/>
          <p:cNvGrpSpPr/>
          <p:nvPr/>
        </p:nvGrpSpPr>
        <p:grpSpPr>
          <a:xfrm>
            <a:off x="2555875" y="5512666"/>
            <a:ext cx="3586163" cy="846138"/>
            <a:chOff x="3795" y="2352"/>
            <a:chExt cx="1477" cy="702"/>
          </a:xfrm>
        </p:grpSpPr>
        <p:sp>
          <p:nvSpPr>
            <p:cNvPr id="21" name="AutoShape 39"/>
            <p:cNvSpPr/>
            <p:nvPr/>
          </p:nvSpPr>
          <p:spPr>
            <a:xfrm>
              <a:off x="3795" y="2352"/>
              <a:ext cx="1471" cy="702"/>
            </a:xfrm>
            <a:prstGeom prst="roundRect">
              <a:avLst>
                <a:gd name="adj" fmla="val 16667"/>
              </a:avLst>
            </a:prstGeom>
            <a:solidFill>
              <a:schemeClr val="accent2"/>
            </a:solidFill>
            <a:ln w="9525">
              <a:noFill/>
            </a:ln>
          </p:spPr>
          <p:txBody>
            <a:bodyPr wrap="none" anchor="ctr"/>
            <a:lstStyle/>
            <a:p>
              <a:pPr algn="ctr"/>
              <a:endParaRPr lang="zh-CN" altLang="zh-CN" sz="1600" b="1" dirty="0">
                <a:solidFill>
                  <a:srgbClr val="000000"/>
                </a:solidFill>
                <a:latin typeface="Arial" panose="020B0604020202020204" pitchFamily="34" charset="0"/>
                <a:ea typeface="微软雅黑" panose="020B0503020204020204" pitchFamily="34" charset="-122"/>
              </a:endParaRPr>
            </a:p>
          </p:txBody>
        </p:sp>
        <p:sp>
          <p:nvSpPr>
            <p:cNvPr id="22" name="Oval 40"/>
            <p:cNvSpPr/>
            <p:nvPr/>
          </p:nvSpPr>
          <p:spPr>
            <a:xfrm>
              <a:off x="3852" y="2397"/>
              <a:ext cx="1365" cy="612"/>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b="1" dirty="0">
                <a:solidFill>
                  <a:srgbClr val="000000"/>
                </a:solidFill>
                <a:latin typeface="Arial" panose="020B0604020202020204" pitchFamily="34" charset="0"/>
                <a:ea typeface="微软雅黑" panose="020B0503020204020204" pitchFamily="34" charset="-122"/>
              </a:endParaRPr>
            </a:p>
          </p:txBody>
        </p:sp>
        <p:sp>
          <p:nvSpPr>
            <p:cNvPr id="23" name="Text Box 84"/>
            <p:cNvSpPr/>
            <p:nvPr/>
          </p:nvSpPr>
          <p:spPr>
            <a:xfrm>
              <a:off x="3802" y="2421"/>
              <a:ext cx="1470" cy="537"/>
            </a:xfrm>
            <a:prstGeom prst="roundRect">
              <a:avLst>
                <a:gd name="adj" fmla="val 16667"/>
              </a:avLst>
            </a:prstGeom>
            <a:noFill/>
            <a:ln w="9525">
              <a:noFill/>
            </a:ln>
          </p:spPr>
          <p:txBody>
            <a:bodyPr anchor="t">
              <a:spAutoFit/>
            </a:bodyPr>
            <a:lstStyle/>
            <a:p>
              <a:pPr algn="ctr">
                <a:spcBef>
                  <a:spcPct val="35000"/>
                </a:spcBef>
              </a:pPr>
              <a:r>
                <a:rPr lang="zh-CN" altLang="en-US" sz="1600" b="1" dirty="0">
                  <a:solidFill>
                    <a:schemeClr val="accent2"/>
                  </a:solidFill>
                  <a:latin typeface="Arial" panose="020B0604020202020204" pitchFamily="34" charset="0"/>
                  <a:ea typeface="微软雅黑" panose="020B0503020204020204" pitchFamily="34" charset="-122"/>
                </a:rPr>
                <a:t>索引文件中不存在搜索码的值，不代表主文件中没有对应搜索码的记录</a:t>
              </a:r>
              <a:endParaRPr lang="zh-CN" altLang="en-US" sz="1600" b="1" dirty="0">
                <a:solidFill>
                  <a:schemeClr val="accent2"/>
                </a:solidFill>
                <a:latin typeface="Arial" panose="020B0604020202020204" pitchFamily="34" charset="0"/>
                <a:ea typeface="微软雅黑" panose="020B0503020204020204" pitchFamily="34" charset="-122"/>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4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稠密索引如何定位记录</a:t>
            </a:r>
            <a:endParaRPr lang="en-US" altLang="zh-CN" sz="2600" dirty="0">
              <a:latin typeface="微软雅黑" panose="020B0503020204020204" pitchFamily="34" charset="-122"/>
              <a:ea typeface="微软雅黑" panose="020B0503020204020204" pitchFamily="34" charset="-122"/>
            </a:endParaRPr>
          </a:p>
          <a:p>
            <a:pPr>
              <a:lnSpc>
                <a:spcPct val="130000"/>
              </a:lnSpc>
              <a:buNone/>
            </a:pPr>
            <a:r>
              <a:rPr lang="zh-CN" altLang="en-US" sz="2000" b="0" dirty="0">
                <a:latin typeface="微软雅黑" panose="020B0503020204020204" pitchFamily="34" charset="-122"/>
                <a:ea typeface="微软雅黑" panose="020B0503020204020204" pitchFamily="34" charset="-122"/>
              </a:rPr>
              <a:t>候选键属性的稠密索引</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先查索引，然后再依据索引读主文件 </a:t>
            </a:r>
            <a:endParaRPr lang="zh-CN" altLang="en-US" sz="2000" b="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-稠密索引与稀疏索引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grpSp>
        <p:nvGrpSpPr>
          <p:cNvPr id="2" name="Group 119"/>
          <p:cNvGrpSpPr/>
          <p:nvPr/>
        </p:nvGrpSpPr>
        <p:grpSpPr>
          <a:xfrm>
            <a:off x="2475182" y="2405331"/>
            <a:ext cx="6721475" cy="846137"/>
            <a:chOff x="824" y="1231"/>
            <a:chExt cx="4234" cy="533"/>
          </a:xfrm>
        </p:grpSpPr>
        <p:sp>
          <p:nvSpPr>
            <p:cNvPr id="3" name="AutoShape 39"/>
            <p:cNvSpPr/>
            <p:nvPr/>
          </p:nvSpPr>
          <p:spPr>
            <a:xfrm>
              <a:off x="824" y="1231"/>
              <a:ext cx="4234" cy="533"/>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4" name="Oval 40"/>
            <p:cNvSpPr/>
            <p:nvPr/>
          </p:nvSpPr>
          <p:spPr>
            <a:xfrm>
              <a:off x="893" y="1265"/>
              <a:ext cx="4097" cy="465"/>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8" name="Text Box 84"/>
            <p:cNvSpPr/>
            <p:nvPr/>
          </p:nvSpPr>
          <p:spPr>
            <a:xfrm>
              <a:off x="824" y="1298"/>
              <a:ext cx="4234" cy="399"/>
            </a:xfrm>
            <a:prstGeom prst="roundRect">
              <a:avLst>
                <a:gd name="adj" fmla="val 16667"/>
              </a:avLst>
            </a:prstGeom>
            <a:noFill/>
            <a:ln w="9525">
              <a:noFill/>
            </a:ln>
          </p:spPr>
          <p:txBody>
            <a:bodyPr anchor="t">
              <a:spAutoFit/>
            </a:bodyPr>
            <a:lstStyle/>
            <a:p>
              <a:pPr algn="ctr">
                <a:spcBef>
                  <a:spcPct val="35000"/>
                </a:spcBef>
              </a:pPr>
              <a:r>
                <a:rPr lang="zh-CN" altLang="en-US" sz="1600" dirty="0">
                  <a:solidFill>
                    <a:schemeClr val="accent2"/>
                  </a:solidFill>
                  <a:latin typeface="Arial" panose="020B0604020202020204" pitchFamily="34" charset="0"/>
                  <a:ea typeface="微软雅黑" panose="020B0503020204020204" pitchFamily="34" charset="-122"/>
                </a:rPr>
                <a:t>无论是候选键属性的稠密索引，还是非候选键属性的稠密索引：索引文件中不存在搜索码的值，就代表着主文件中没有对应搜索码的记录</a:t>
              </a:r>
              <a:endParaRPr lang="zh-CN" altLang="en-US" sz="1600" dirty="0">
                <a:solidFill>
                  <a:schemeClr val="accent2"/>
                </a:solidFill>
                <a:latin typeface="Arial" panose="020B0604020202020204" pitchFamily="34" charset="0"/>
                <a:ea typeface="微软雅黑" panose="020B0503020204020204" pitchFamily="34" charset="-122"/>
              </a:endParaRPr>
            </a:p>
          </p:txBody>
        </p:sp>
      </p:grpSp>
      <p:grpSp>
        <p:nvGrpSpPr>
          <p:cNvPr id="10" name="Group 118"/>
          <p:cNvGrpSpPr/>
          <p:nvPr/>
        </p:nvGrpSpPr>
        <p:grpSpPr>
          <a:xfrm>
            <a:off x="2295794" y="3357830"/>
            <a:ext cx="7080250" cy="3012353"/>
            <a:chOff x="909" y="1723"/>
            <a:chExt cx="4375" cy="2107"/>
          </a:xfrm>
        </p:grpSpPr>
        <p:pic>
          <p:nvPicPr>
            <p:cNvPr id="11" name="Picture 105"/>
            <p:cNvPicPr>
              <a:picLocks noChangeAspect="1"/>
            </p:cNvPicPr>
            <p:nvPr/>
          </p:nvPicPr>
          <p:blipFill>
            <a:blip r:embed="rId1"/>
            <a:stretch>
              <a:fillRect/>
            </a:stretch>
          </p:blipFill>
          <p:spPr>
            <a:xfrm>
              <a:off x="909" y="1738"/>
              <a:ext cx="1126" cy="2090"/>
            </a:xfrm>
            <a:prstGeom prst="rect">
              <a:avLst/>
            </a:prstGeom>
            <a:noFill/>
            <a:ln w="9525">
              <a:noFill/>
            </a:ln>
          </p:spPr>
        </p:pic>
        <p:pic>
          <p:nvPicPr>
            <p:cNvPr id="12" name="Picture 106"/>
            <p:cNvPicPr>
              <a:picLocks noChangeAspect="1"/>
            </p:cNvPicPr>
            <p:nvPr/>
          </p:nvPicPr>
          <p:blipFill>
            <a:blip r:embed="rId2"/>
            <a:stretch>
              <a:fillRect/>
            </a:stretch>
          </p:blipFill>
          <p:spPr>
            <a:xfrm>
              <a:off x="2876" y="1723"/>
              <a:ext cx="2408" cy="2107"/>
            </a:xfrm>
            <a:prstGeom prst="rect">
              <a:avLst/>
            </a:prstGeom>
            <a:noFill/>
            <a:ln w="9525">
              <a:noFill/>
            </a:ln>
          </p:spPr>
        </p:pic>
        <p:grpSp>
          <p:nvGrpSpPr>
            <p:cNvPr id="13" name="Group 117"/>
            <p:cNvGrpSpPr/>
            <p:nvPr/>
          </p:nvGrpSpPr>
          <p:grpSpPr>
            <a:xfrm>
              <a:off x="1915" y="1843"/>
              <a:ext cx="986" cy="1850"/>
              <a:chOff x="1939" y="1843"/>
              <a:chExt cx="755" cy="1850"/>
            </a:xfrm>
          </p:grpSpPr>
          <p:sp>
            <p:nvSpPr>
              <p:cNvPr id="14" name="Line 107"/>
              <p:cNvSpPr/>
              <p:nvPr/>
            </p:nvSpPr>
            <p:spPr>
              <a:xfrm>
                <a:off x="1939" y="1843"/>
                <a:ext cx="753" cy="0"/>
              </a:xfrm>
              <a:prstGeom prst="line">
                <a:avLst/>
              </a:prstGeom>
              <a:ln w="9525" cap="flat" cmpd="sng">
                <a:solidFill>
                  <a:srgbClr val="CC0000"/>
                </a:solidFill>
                <a:prstDash val="solid"/>
                <a:round/>
                <a:headEnd type="none" w="med" len="med"/>
                <a:tailEnd type="triangle" w="med" len="med"/>
              </a:ln>
            </p:spPr>
          </p:sp>
          <p:sp>
            <p:nvSpPr>
              <p:cNvPr id="15" name="Line 108"/>
              <p:cNvSpPr/>
              <p:nvPr/>
            </p:nvSpPr>
            <p:spPr>
              <a:xfrm>
                <a:off x="1939" y="2096"/>
                <a:ext cx="753" cy="0"/>
              </a:xfrm>
              <a:prstGeom prst="line">
                <a:avLst/>
              </a:prstGeom>
              <a:ln w="9525" cap="flat" cmpd="sng">
                <a:solidFill>
                  <a:srgbClr val="CC0000"/>
                </a:solidFill>
                <a:prstDash val="solid"/>
                <a:round/>
                <a:headEnd type="none" w="med" len="med"/>
                <a:tailEnd type="triangle" w="med" len="med"/>
              </a:ln>
            </p:spPr>
          </p:sp>
          <p:sp>
            <p:nvSpPr>
              <p:cNvPr id="16" name="Line 109"/>
              <p:cNvSpPr/>
              <p:nvPr/>
            </p:nvSpPr>
            <p:spPr>
              <a:xfrm>
                <a:off x="1939" y="2331"/>
                <a:ext cx="753" cy="0"/>
              </a:xfrm>
              <a:prstGeom prst="line">
                <a:avLst/>
              </a:prstGeom>
              <a:ln w="9525" cap="flat" cmpd="sng">
                <a:solidFill>
                  <a:srgbClr val="CC0000"/>
                </a:solidFill>
                <a:prstDash val="solid"/>
                <a:round/>
                <a:headEnd type="none" w="med" len="med"/>
                <a:tailEnd type="triangle" w="med" len="med"/>
              </a:ln>
            </p:spPr>
          </p:sp>
          <p:sp>
            <p:nvSpPr>
              <p:cNvPr id="17" name="Line 110"/>
              <p:cNvSpPr/>
              <p:nvPr/>
            </p:nvSpPr>
            <p:spPr>
              <a:xfrm>
                <a:off x="1940" y="2548"/>
                <a:ext cx="753" cy="0"/>
              </a:xfrm>
              <a:prstGeom prst="line">
                <a:avLst/>
              </a:prstGeom>
              <a:ln w="9525" cap="flat" cmpd="sng">
                <a:solidFill>
                  <a:srgbClr val="CC0000"/>
                </a:solidFill>
                <a:prstDash val="solid"/>
                <a:round/>
                <a:headEnd type="none" w="med" len="med"/>
                <a:tailEnd type="triangle" w="med" len="med"/>
              </a:ln>
            </p:spPr>
          </p:sp>
          <p:sp>
            <p:nvSpPr>
              <p:cNvPr id="24" name="Line 111"/>
              <p:cNvSpPr/>
              <p:nvPr/>
            </p:nvSpPr>
            <p:spPr>
              <a:xfrm>
                <a:off x="1939" y="2771"/>
                <a:ext cx="753" cy="0"/>
              </a:xfrm>
              <a:prstGeom prst="line">
                <a:avLst/>
              </a:prstGeom>
              <a:ln w="9525" cap="flat" cmpd="sng">
                <a:solidFill>
                  <a:srgbClr val="CC0000"/>
                </a:solidFill>
                <a:prstDash val="solid"/>
                <a:round/>
                <a:headEnd type="none" w="med" len="med"/>
                <a:tailEnd type="triangle" w="med" len="med"/>
              </a:ln>
            </p:spPr>
          </p:sp>
          <p:sp>
            <p:nvSpPr>
              <p:cNvPr id="25" name="Line 112"/>
              <p:cNvSpPr/>
              <p:nvPr/>
            </p:nvSpPr>
            <p:spPr>
              <a:xfrm>
                <a:off x="1940" y="3024"/>
                <a:ext cx="753" cy="0"/>
              </a:xfrm>
              <a:prstGeom prst="line">
                <a:avLst/>
              </a:prstGeom>
              <a:ln w="9525" cap="flat" cmpd="sng">
                <a:solidFill>
                  <a:srgbClr val="CC0000"/>
                </a:solidFill>
                <a:prstDash val="solid"/>
                <a:round/>
                <a:headEnd type="none" w="med" len="med"/>
                <a:tailEnd type="triangle" w="med" len="med"/>
              </a:ln>
            </p:spPr>
          </p:sp>
          <p:sp>
            <p:nvSpPr>
              <p:cNvPr id="26" name="Line 113"/>
              <p:cNvSpPr/>
              <p:nvPr/>
            </p:nvSpPr>
            <p:spPr>
              <a:xfrm>
                <a:off x="1940" y="3259"/>
                <a:ext cx="753" cy="0"/>
              </a:xfrm>
              <a:prstGeom prst="line">
                <a:avLst/>
              </a:prstGeom>
              <a:ln w="9525" cap="flat" cmpd="sng">
                <a:solidFill>
                  <a:srgbClr val="CC0000"/>
                </a:solidFill>
                <a:prstDash val="solid"/>
                <a:round/>
                <a:headEnd type="none" w="med" len="med"/>
                <a:tailEnd type="triangle" w="med" len="med"/>
              </a:ln>
            </p:spPr>
          </p:sp>
          <p:sp>
            <p:nvSpPr>
              <p:cNvPr id="27" name="Line 114"/>
              <p:cNvSpPr/>
              <p:nvPr/>
            </p:nvSpPr>
            <p:spPr>
              <a:xfrm>
                <a:off x="1940" y="3476"/>
                <a:ext cx="753" cy="0"/>
              </a:xfrm>
              <a:prstGeom prst="line">
                <a:avLst/>
              </a:prstGeom>
              <a:ln w="9525" cap="flat" cmpd="sng">
                <a:solidFill>
                  <a:srgbClr val="CC0000"/>
                </a:solidFill>
                <a:prstDash val="solid"/>
                <a:round/>
                <a:headEnd type="none" w="med" len="med"/>
                <a:tailEnd type="triangle" w="med" len="med"/>
              </a:ln>
            </p:spPr>
          </p:sp>
          <p:sp>
            <p:nvSpPr>
              <p:cNvPr id="28" name="Line 115"/>
              <p:cNvSpPr/>
              <p:nvPr/>
            </p:nvSpPr>
            <p:spPr>
              <a:xfrm>
                <a:off x="1941" y="3693"/>
                <a:ext cx="753" cy="0"/>
              </a:xfrm>
              <a:prstGeom prst="line">
                <a:avLst/>
              </a:prstGeom>
              <a:ln w="9525" cap="flat" cmpd="sng">
                <a:solidFill>
                  <a:srgbClr val="CC0000"/>
                </a:solidFill>
                <a:prstDash val="solid"/>
                <a:round/>
                <a:headEnd type="none" w="med" len="med"/>
                <a:tailEnd type="triangle" w="med" len="med"/>
              </a:ln>
            </p:spPr>
          </p:sp>
        </p:gr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4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稠密索引如何定位记录</a:t>
            </a:r>
            <a:endParaRPr lang="en-US" altLang="zh-CN" sz="2600" dirty="0">
              <a:latin typeface="微软雅黑" panose="020B0503020204020204" pitchFamily="34" charset="-122"/>
              <a:ea typeface="微软雅黑" panose="020B0503020204020204" pitchFamily="34" charset="-122"/>
            </a:endParaRPr>
          </a:p>
          <a:p>
            <a:pPr>
              <a:lnSpc>
                <a:spcPct val="130000"/>
              </a:lnSpc>
              <a:buNone/>
            </a:pPr>
            <a:r>
              <a:rPr lang="zh-CN" altLang="en-US" sz="2000" b="0" dirty="0">
                <a:latin typeface="Arial" panose="020B0604020202020204" pitchFamily="34" charset="0"/>
                <a:ea typeface="微软雅黑" panose="020B0503020204020204" pitchFamily="34" charset="-122"/>
              </a:rPr>
              <a:t>非候选键属性的稠密索引（</a:t>
            </a:r>
            <a:r>
              <a:rPr lang="en-US" altLang="zh-CN" sz="2000" b="0" dirty="0">
                <a:latin typeface="Arial" panose="020B0604020202020204" pitchFamily="34" charset="0"/>
                <a:ea typeface="微软雅黑" panose="020B0503020204020204" pitchFamily="34" charset="-122"/>
              </a:rPr>
              <a:t>I</a:t>
            </a:r>
            <a:r>
              <a:rPr lang="zh-CN" altLang="en-US" sz="2000" b="0" dirty="0">
                <a:latin typeface="Arial" panose="020B0604020202020204" pitchFamily="34" charset="0"/>
                <a:ea typeface="微软雅黑" panose="020B0503020204020204" pitchFamily="34" charset="-122"/>
              </a:rPr>
              <a:t>）</a:t>
            </a:r>
            <a:endParaRPr lang="zh-CN" altLang="en-US" sz="2000" b="0" dirty="0">
              <a:latin typeface="Arial" panose="020B0604020202020204" pitchFamily="34" charset="0"/>
              <a:ea typeface="微软雅黑" panose="020B0503020204020204" pitchFamily="34" charset="-122"/>
            </a:endParaRPr>
          </a:p>
          <a:p>
            <a:pPr>
              <a:lnSpc>
                <a:spcPct val="130000"/>
              </a:lnSpc>
              <a:buNone/>
            </a:pP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-稠密索引与稀疏索引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pic>
        <p:nvPicPr>
          <p:cNvPr id="18" name="Picture 3"/>
          <p:cNvPicPr>
            <a:picLocks noChangeAspect="1"/>
          </p:cNvPicPr>
          <p:nvPr/>
        </p:nvPicPr>
        <p:blipFill>
          <a:blip r:embed="rId1">
            <a:clrChange>
              <a:clrFrom>
                <a:srgbClr val="FFFFFF"/>
              </a:clrFrom>
              <a:clrTo>
                <a:srgbClr val="FFFFFF">
                  <a:alpha val="0"/>
                </a:srgbClr>
              </a:clrTo>
            </a:clrChange>
          </a:blip>
          <a:stretch>
            <a:fillRect/>
          </a:stretch>
        </p:blipFill>
        <p:spPr>
          <a:xfrm>
            <a:off x="2474981" y="2341707"/>
            <a:ext cx="6983412" cy="3468687"/>
          </a:xfrm>
          <a:prstGeom prst="rect">
            <a:avLst/>
          </a:prstGeom>
          <a:noFill/>
          <a:ln w="9525">
            <a:noFill/>
          </a:ln>
        </p:spPr>
      </p:pic>
      <p:grpSp>
        <p:nvGrpSpPr>
          <p:cNvPr id="19" name="Group 4"/>
          <p:cNvGrpSpPr/>
          <p:nvPr/>
        </p:nvGrpSpPr>
        <p:grpSpPr>
          <a:xfrm>
            <a:off x="6040506" y="5892944"/>
            <a:ext cx="3106737" cy="785813"/>
            <a:chOff x="1265" y="3268"/>
            <a:chExt cx="1161" cy="629"/>
          </a:xfrm>
        </p:grpSpPr>
        <p:sp>
          <p:nvSpPr>
            <p:cNvPr id="20"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b="1" dirty="0">
                <a:solidFill>
                  <a:srgbClr val="000000"/>
                </a:solidFill>
                <a:latin typeface="Arial" panose="020B0604020202020204" pitchFamily="34" charset="0"/>
                <a:ea typeface="宋体" panose="02010600030101010101" pitchFamily="2" charset="-122"/>
              </a:endParaRPr>
            </a:p>
          </p:txBody>
        </p:sp>
        <p:sp>
          <p:nvSpPr>
            <p:cNvPr id="21"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b="1" dirty="0">
                <a:solidFill>
                  <a:srgbClr val="000000"/>
                </a:solidFill>
                <a:latin typeface="Arial" panose="020B0604020202020204" pitchFamily="34" charset="0"/>
                <a:ea typeface="宋体" panose="02010600030101010101" pitchFamily="2" charset="-122"/>
              </a:endParaRPr>
            </a:p>
          </p:txBody>
        </p:sp>
        <p:sp>
          <p:nvSpPr>
            <p:cNvPr id="22" name="Text Box 84"/>
            <p:cNvSpPr/>
            <p:nvPr/>
          </p:nvSpPr>
          <p:spPr>
            <a:xfrm>
              <a:off x="1266" y="3296"/>
              <a:ext cx="1160" cy="561"/>
            </a:xfrm>
            <a:prstGeom prst="roundRect">
              <a:avLst>
                <a:gd name="adj" fmla="val 16667"/>
              </a:avLst>
            </a:prstGeom>
            <a:noFill/>
            <a:ln w="9525">
              <a:noFill/>
            </a:ln>
          </p:spPr>
          <p:txBody>
            <a:bodyPr anchor="t">
              <a:spAutoFit/>
            </a:bodyPr>
            <a:lstStyle/>
            <a:p>
              <a:pPr algn="ctr">
                <a:spcBef>
                  <a:spcPct val="35000"/>
                </a:spcBef>
              </a:pPr>
              <a:r>
                <a:rPr lang="zh-CN" altLang="en-US" sz="1600" b="1" dirty="0">
                  <a:solidFill>
                    <a:schemeClr val="accent2"/>
                  </a:solidFill>
                  <a:latin typeface="Arial" panose="020B0604020202020204" pitchFamily="34" charset="0"/>
                  <a:ea typeface="华文中宋" panose="02010600040101010101" pitchFamily="2" charset="-122"/>
                </a:rPr>
                <a:t>主文件按索引字段</a:t>
              </a:r>
              <a:r>
                <a:rPr lang="zh-CN" altLang="en-US" b="1" dirty="0">
                  <a:solidFill>
                    <a:srgbClr val="CC0000"/>
                  </a:solidFill>
                  <a:latin typeface="Arial" panose="020B0604020202020204" pitchFamily="34" charset="0"/>
                  <a:ea typeface="华文中宋" panose="02010600040101010101" pitchFamily="2" charset="-122"/>
                </a:rPr>
                <a:t>排序</a:t>
              </a:r>
              <a:r>
                <a:rPr lang="zh-CN" altLang="en-US" sz="1600" b="1" dirty="0">
                  <a:solidFill>
                    <a:schemeClr val="accent2"/>
                  </a:solidFill>
                  <a:latin typeface="Arial" panose="020B0604020202020204" pitchFamily="34" charset="0"/>
                  <a:ea typeface="华文中宋" panose="02010600040101010101" pitchFamily="2" charset="-122"/>
                </a:rPr>
                <a:t>且索引字段不是候选键</a:t>
              </a:r>
              <a:endParaRPr lang="zh-CN" altLang="en-US" sz="1600" b="1" dirty="0">
                <a:solidFill>
                  <a:schemeClr val="accent2"/>
                </a:solidFill>
                <a:latin typeface="Arial" panose="020B0604020202020204" pitchFamily="34" charset="0"/>
                <a:ea typeface="华文中宋" panose="02010600040101010101" pitchFamily="2" charset="-122"/>
              </a:endParaRPr>
            </a:p>
          </p:txBody>
        </p:sp>
      </p:grpSp>
      <p:grpSp>
        <p:nvGrpSpPr>
          <p:cNvPr id="23" name="Group 8"/>
          <p:cNvGrpSpPr/>
          <p:nvPr/>
        </p:nvGrpSpPr>
        <p:grpSpPr>
          <a:xfrm>
            <a:off x="2436881" y="5118244"/>
            <a:ext cx="2190750" cy="800100"/>
            <a:chOff x="1265" y="3268"/>
            <a:chExt cx="1159" cy="629"/>
          </a:xfrm>
        </p:grpSpPr>
        <p:sp>
          <p:nvSpPr>
            <p:cNvPr id="29"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b="1" dirty="0">
                <a:solidFill>
                  <a:srgbClr val="000000"/>
                </a:solidFill>
                <a:latin typeface="Arial" panose="020B0604020202020204" pitchFamily="34" charset="0"/>
                <a:ea typeface="宋体" panose="02010600030101010101" pitchFamily="2" charset="-122"/>
              </a:endParaRPr>
            </a:p>
          </p:txBody>
        </p:sp>
        <p:sp>
          <p:nvSpPr>
            <p:cNvPr id="30"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b="1" dirty="0">
                <a:solidFill>
                  <a:srgbClr val="000000"/>
                </a:solidFill>
                <a:latin typeface="Arial" panose="020B0604020202020204" pitchFamily="34" charset="0"/>
                <a:ea typeface="宋体" panose="02010600030101010101" pitchFamily="2" charset="-122"/>
              </a:endParaRPr>
            </a:p>
          </p:txBody>
        </p:sp>
        <p:sp>
          <p:nvSpPr>
            <p:cNvPr id="32" name="Text Box 84"/>
            <p:cNvSpPr/>
            <p:nvPr/>
          </p:nvSpPr>
          <p:spPr>
            <a:xfrm>
              <a:off x="1270" y="3298"/>
              <a:ext cx="1154" cy="551"/>
            </a:xfrm>
            <a:prstGeom prst="roundRect">
              <a:avLst>
                <a:gd name="adj" fmla="val 16667"/>
              </a:avLst>
            </a:prstGeom>
            <a:noFill/>
            <a:ln w="9525">
              <a:noFill/>
            </a:ln>
          </p:spPr>
          <p:txBody>
            <a:bodyPr anchor="t">
              <a:spAutoFit/>
            </a:bodyPr>
            <a:lstStyle/>
            <a:p>
              <a:pPr algn="ctr">
                <a:spcBef>
                  <a:spcPct val="35000"/>
                </a:spcBef>
              </a:pPr>
              <a:r>
                <a:rPr lang="zh-CN" altLang="en-US" sz="1600" b="1" dirty="0">
                  <a:solidFill>
                    <a:schemeClr val="accent2"/>
                  </a:solidFill>
                  <a:latin typeface="Arial" panose="020B0604020202020204" pitchFamily="34" charset="0"/>
                  <a:ea typeface="华文中宋" panose="02010600040101010101" pitchFamily="2" charset="-122"/>
                </a:rPr>
                <a:t>索引文件中索引字段值是</a:t>
              </a:r>
              <a:r>
                <a:rPr lang="zh-CN" altLang="en-US" b="1" dirty="0">
                  <a:solidFill>
                    <a:srgbClr val="CC0000"/>
                  </a:solidFill>
                  <a:latin typeface="Arial" panose="020B0604020202020204" pitchFamily="34" charset="0"/>
                  <a:ea typeface="华文中宋" panose="02010600040101010101" pitchFamily="2" charset="-122"/>
                </a:rPr>
                <a:t>不</a:t>
              </a:r>
              <a:r>
                <a:rPr lang="zh-CN" altLang="en-US" sz="1600" b="1" dirty="0">
                  <a:solidFill>
                    <a:schemeClr val="accent2"/>
                  </a:solidFill>
                  <a:latin typeface="Arial" panose="020B0604020202020204" pitchFamily="34" charset="0"/>
                  <a:ea typeface="华文中宋" panose="02010600040101010101" pitchFamily="2" charset="-122"/>
                </a:rPr>
                <a:t>重复的</a:t>
              </a:r>
              <a:endParaRPr lang="zh-CN" altLang="en-US" sz="1600" b="1" dirty="0">
                <a:solidFill>
                  <a:schemeClr val="accent2"/>
                </a:solidFill>
                <a:latin typeface="Arial" panose="020B0604020202020204" pitchFamily="34" charset="0"/>
                <a:ea typeface="华文中宋" panose="02010600040101010101" pitchFamily="2" charset="-122"/>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4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稠密索引如何定位记录</a:t>
            </a:r>
            <a:endParaRPr lang="en-US" altLang="zh-CN" sz="2600" dirty="0">
              <a:latin typeface="微软雅黑" panose="020B0503020204020204" pitchFamily="34" charset="-122"/>
              <a:ea typeface="微软雅黑" panose="020B0503020204020204" pitchFamily="34" charset="-122"/>
            </a:endParaRPr>
          </a:p>
          <a:p>
            <a:pPr>
              <a:lnSpc>
                <a:spcPct val="130000"/>
              </a:lnSpc>
              <a:buNone/>
            </a:pPr>
            <a:r>
              <a:rPr lang="zh-CN" altLang="en-US" sz="2000" b="0" dirty="0">
                <a:latin typeface="Arial" panose="020B0604020202020204" pitchFamily="34" charset="0"/>
                <a:ea typeface="微软雅黑" panose="020B0503020204020204" pitchFamily="34" charset="-122"/>
              </a:rPr>
              <a:t>非候选键属性的稠密索引（</a:t>
            </a:r>
            <a:r>
              <a:rPr lang="en-US" altLang="zh-CN" sz="2000" b="0" dirty="0">
                <a:latin typeface="Arial" panose="020B0604020202020204" pitchFamily="34" charset="0"/>
                <a:ea typeface="微软雅黑" panose="020B0503020204020204" pitchFamily="34" charset="-122"/>
              </a:rPr>
              <a:t>II</a:t>
            </a:r>
            <a:r>
              <a:rPr lang="zh-CN" altLang="en-US" sz="2000" b="0" dirty="0">
                <a:latin typeface="Arial" panose="020B0604020202020204" pitchFamily="34" charset="0"/>
                <a:ea typeface="微软雅黑" panose="020B0503020204020204" pitchFamily="34" charset="-122"/>
              </a:rPr>
              <a:t>）</a:t>
            </a:r>
            <a:endParaRPr lang="zh-CN" altLang="en-US" sz="2000" b="0" dirty="0">
              <a:latin typeface="Arial" panose="020B0604020202020204" pitchFamily="34" charset="0"/>
              <a:ea typeface="微软雅黑" panose="020B0503020204020204" pitchFamily="34" charset="-122"/>
            </a:endParaRPr>
          </a:p>
          <a:p>
            <a:pPr>
              <a:lnSpc>
                <a:spcPct val="130000"/>
              </a:lnSpc>
              <a:buNone/>
            </a:pP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-稠密索引与稀疏索引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pic>
        <p:nvPicPr>
          <p:cNvPr id="2" name="Picture 5"/>
          <p:cNvPicPr>
            <a:picLocks noChangeAspect="1"/>
          </p:cNvPicPr>
          <p:nvPr/>
        </p:nvPicPr>
        <p:blipFill>
          <a:blip r:embed="rId1">
            <a:clrChange>
              <a:clrFrom>
                <a:srgbClr val="FFFFFF"/>
              </a:clrFrom>
              <a:clrTo>
                <a:srgbClr val="FFFFFF">
                  <a:alpha val="0"/>
                </a:srgbClr>
              </a:clrTo>
            </a:clrChange>
          </a:blip>
          <a:stretch>
            <a:fillRect/>
          </a:stretch>
        </p:blipFill>
        <p:spPr>
          <a:xfrm>
            <a:off x="2580917" y="2334407"/>
            <a:ext cx="6697657" cy="3263983"/>
          </a:xfrm>
          <a:prstGeom prst="rect">
            <a:avLst/>
          </a:prstGeom>
          <a:noFill/>
          <a:ln w="9525">
            <a:noFill/>
          </a:ln>
        </p:spPr>
      </p:pic>
      <p:grpSp>
        <p:nvGrpSpPr>
          <p:cNvPr id="3" name="Group 15"/>
          <p:cNvGrpSpPr/>
          <p:nvPr/>
        </p:nvGrpSpPr>
        <p:grpSpPr>
          <a:xfrm>
            <a:off x="2738438" y="5643202"/>
            <a:ext cx="1471612" cy="1016000"/>
            <a:chOff x="1265" y="3268"/>
            <a:chExt cx="1166" cy="640"/>
          </a:xfrm>
        </p:grpSpPr>
        <p:sp>
          <p:nvSpPr>
            <p:cNvPr id="4"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b="1" dirty="0">
                <a:solidFill>
                  <a:srgbClr val="000000"/>
                </a:solidFill>
                <a:latin typeface="Arial" panose="020B0604020202020204" pitchFamily="34" charset="0"/>
                <a:ea typeface="宋体" panose="02010600030101010101" pitchFamily="2" charset="-122"/>
              </a:endParaRPr>
            </a:p>
          </p:txBody>
        </p:sp>
        <p:sp>
          <p:nvSpPr>
            <p:cNvPr id="8"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b="1" dirty="0">
                <a:solidFill>
                  <a:srgbClr val="000000"/>
                </a:solidFill>
                <a:latin typeface="Arial" panose="020B0604020202020204" pitchFamily="34" charset="0"/>
                <a:ea typeface="宋体" panose="02010600030101010101" pitchFamily="2" charset="-122"/>
              </a:endParaRPr>
            </a:p>
          </p:txBody>
        </p:sp>
        <p:sp>
          <p:nvSpPr>
            <p:cNvPr id="10" name="Text Box 84"/>
            <p:cNvSpPr/>
            <p:nvPr/>
          </p:nvSpPr>
          <p:spPr>
            <a:xfrm>
              <a:off x="1265" y="3296"/>
              <a:ext cx="1166" cy="612"/>
            </a:xfrm>
            <a:prstGeom prst="roundRect">
              <a:avLst>
                <a:gd name="adj" fmla="val 16667"/>
              </a:avLst>
            </a:prstGeom>
            <a:noFill/>
            <a:ln w="9525">
              <a:noFill/>
            </a:ln>
          </p:spPr>
          <p:txBody>
            <a:bodyPr anchor="t">
              <a:spAutoFit/>
            </a:bodyPr>
            <a:lstStyle/>
            <a:p>
              <a:pPr algn="ctr">
                <a:spcBef>
                  <a:spcPct val="35000"/>
                </a:spcBef>
              </a:pPr>
              <a:r>
                <a:rPr lang="zh-CN" altLang="en-US" sz="1600" b="1" dirty="0">
                  <a:solidFill>
                    <a:schemeClr val="accent2"/>
                  </a:solidFill>
                  <a:latin typeface="Arial" panose="020B0604020202020204" pitchFamily="34" charset="0"/>
                  <a:ea typeface="华文中宋" panose="02010600040101010101" pitchFamily="2" charset="-122"/>
                </a:rPr>
                <a:t>索引文件中索引字段值是</a:t>
              </a:r>
              <a:r>
                <a:rPr lang="zh-CN" altLang="en-US" b="1" dirty="0">
                  <a:solidFill>
                    <a:srgbClr val="CC0000"/>
                  </a:solidFill>
                  <a:latin typeface="Arial" panose="020B0604020202020204" pitchFamily="34" charset="0"/>
                  <a:ea typeface="华文中宋" panose="02010600040101010101" pitchFamily="2" charset="-122"/>
                </a:rPr>
                <a:t>有</a:t>
              </a:r>
              <a:r>
                <a:rPr lang="zh-CN" altLang="en-US" sz="1600" b="1" dirty="0">
                  <a:solidFill>
                    <a:schemeClr val="accent2"/>
                  </a:solidFill>
                  <a:latin typeface="Arial" panose="020B0604020202020204" pitchFamily="34" charset="0"/>
                  <a:ea typeface="华文中宋" panose="02010600040101010101" pitchFamily="2" charset="-122"/>
                </a:rPr>
                <a:t>重复的</a:t>
              </a:r>
              <a:endParaRPr lang="zh-CN" altLang="en-US" sz="1600" b="1" dirty="0">
                <a:solidFill>
                  <a:schemeClr val="accent2"/>
                </a:solidFill>
                <a:latin typeface="Arial" panose="020B0604020202020204" pitchFamily="34" charset="0"/>
                <a:ea typeface="华文中宋" panose="02010600040101010101" pitchFamily="2" charset="-122"/>
              </a:endParaRPr>
            </a:p>
          </p:txBody>
        </p:sp>
      </p:grpSp>
      <p:grpSp>
        <p:nvGrpSpPr>
          <p:cNvPr id="11" name="Group 19"/>
          <p:cNvGrpSpPr/>
          <p:nvPr/>
        </p:nvGrpSpPr>
        <p:grpSpPr>
          <a:xfrm>
            <a:off x="6600825" y="5628915"/>
            <a:ext cx="1849438" cy="1016000"/>
            <a:chOff x="1265" y="3268"/>
            <a:chExt cx="1165" cy="640"/>
          </a:xfrm>
        </p:grpSpPr>
        <p:sp>
          <p:nvSpPr>
            <p:cNvPr id="12"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b="1" dirty="0">
                <a:solidFill>
                  <a:srgbClr val="000000"/>
                </a:solidFill>
                <a:latin typeface="Arial" panose="020B0604020202020204" pitchFamily="34" charset="0"/>
                <a:ea typeface="宋体" panose="02010600030101010101" pitchFamily="2" charset="-122"/>
              </a:endParaRPr>
            </a:p>
          </p:txBody>
        </p:sp>
        <p:sp>
          <p:nvSpPr>
            <p:cNvPr id="13"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b="1" dirty="0">
                <a:solidFill>
                  <a:srgbClr val="000000"/>
                </a:solidFill>
                <a:latin typeface="Arial" panose="020B0604020202020204" pitchFamily="34" charset="0"/>
                <a:ea typeface="宋体" panose="02010600030101010101" pitchFamily="2" charset="-122"/>
              </a:endParaRPr>
            </a:p>
          </p:txBody>
        </p:sp>
        <p:sp>
          <p:nvSpPr>
            <p:cNvPr id="14" name="Text Box 84"/>
            <p:cNvSpPr/>
            <p:nvPr/>
          </p:nvSpPr>
          <p:spPr>
            <a:xfrm>
              <a:off x="1265" y="3296"/>
              <a:ext cx="1165" cy="612"/>
            </a:xfrm>
            <a:prstGeom prst="roundRect">
              <a:avLst>
                <a:gd name="adj" fmla="val 16667"/>
              </a:avLst>
            </a:prstGeom>
            <a:noFill/>
            <a:ln w="9525">
              <a:noFill/>
            </a:ln>
          </p:spPr>
          <p:txBody>
            <a:bodyPr anchor="t">
              <a:spAutoFit/>
            </a:bodyPr>
            <a:lstStyle/>
            <a:p>
              <a:pPr algn="ctr">
                <a:spcBef>
                  <a:spcPct val="35000"/>
                </a:spcBef>
              </a:pPr>
              <a:r>
                <a:rPr lang="zh-CN" altLang="en-US" sz="1600" b="1" dirty="0">
                  <a:solidFill>
                    <a:schemeClr val="accent2"/>
                  </a:solidFill>
                  <a:latin typeface="Arial" panose="020B0604020202020204" pitchFamily="34" charset="0"/>
                  <a:ea typeface="华文中宋" panose="02010600040101010101" pitchFamily="2" charset="-122"/>
                </a:rPr>
                <a:t>主文件</a:t>
              </a:r>
              <a:r>
                <a:rPr lang="zh-CN" altLang="en-US" b="1" dirty="0">
                  <a:solidFill>
                    <a:srgbClr val="CC0000"/>
                  </a:solidFill>
                  <a:latin typeface="Arial" panose="020B0604020202020204" pitchFamily="34" charset="0"/>
                  <a:ea typeface="华文中宋" panose="02010600040101010101" pitchFamily="2" charset="-122"/>
                </a:rPr>
                <a:t>未</a:t>
              </a:r>
              <a:r>
                <a:rPr lang="zh-CN" altLang="en-US" sz="1600" b="1" dirty="0">
                  <a:solidFill>
                    <a:schemeClr val="accent2"/>
                  </a:solidFill>
                  <a:latin typeface="Arial" panose="020B0604020202020204" pitchFamily="34" charset="0"/>
                  <a:ea typeface="华文中宋" panose="02010600040101010101" pitchFamily="2" charset="-122"/>
                </a:rPr>
                <a:t>按索引字段排序且索引字段不是候选键</a:t>
              </a:r>
              <a:endParaRPr lang="zh-CN" altLang="en-US" sz="1600" b="1" dirty="0">
                <a:solidFill>
                  <a:schemeClr val="accent2"/>
                </a:solidFill>
                <a:latin typeface="Arial" panose="020B0604020202020204" pitchFamily="34" charset="0"/>
                <a:ea typeface="华文中宋" panose="02010600040101010101" pitchFamily="2" charset="-122"/>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4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稠密索引如何定位记录</a:t>
            </a:r>
            <a:endParaRPr lang="en-US" altLang="zh-CN" sz="2600" dirty="0">
              <a:latin typeface="微软雅黑" panose="020B0503020204020204" pitchFamily="34" charset="-122"/>
              <a:ea typeface="微软雅黑" panose="020B0503020204020204" pitchFamily="34" charset="-122"/>
            </a:endParaRPr>
          </a:p>
          <a:p>
            <a:pPr>
              <a:lnSpc>
                <a:spcPct val="130000"/>
              </a:lnSpc>
              <a:buNone/>
            </a:pPr>
            <a:r>
              <a:rPr lang="zh-CN" altLang="en-US" sz="2000" b="0" dirty="0">
                <a:latin typeface="Arial" panose="020B0604020202020204" pitchFamily="34" charset="0"/>
                <a:ea typeface="微软雅黑" panose="020B0503020204020204" pitchFamily="34" charset="-122"/>
              </a:rPr>
              <a:t>非候选键属性的稠密索引（</a:t>
            </a:r>
            <a:r>
              <a:rPr lang="en-US" altLang="zh-CN" sz="2000" b="0" dirty="0">
                <a:latin typeface="Arial" panose="020B0604020202020204" pitchFamily="34" charset="0"/>
                <a:ea typeface="微软雅黑" panose="020B0503020204020204" pitchFamily="34" charset="-122"/>
              </a:rPr>
              <a:t>III</a:t>
            </a:r>
            <a:r>
              <a:rPr lang="zh-CN" altLang="en-US" sz="2000" b="0" dirty="0">
                <a:latin typeface="Arial" panose="020B0604020202020204" pitchFamily="34" charset="0"/>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 </a:t>
            </a:r>
            <a:endParaRPr lang="zh-CN" altLang="en-US" sz="2000" b="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-稠密索引与稀疏索引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pic>
        <p:nvPicPr>
          <p:cNvPr id="15" name="Picture 4"/>
          <p:cNvPicPr>
            <a:picLocks noChangeAspect="1"/>
          </p:cNvPicPr>
          <p:nvPr/>
        </p:nvPicPr>
        <p:blipFill>
          <a:blip r:embed="rId1">
            <a:clrChange>
              <a:clrFrom>
                <a:srgbClr val="FFFFFF"/>
              </a:clrFrom>
              <a:clrTo>
                <a:srgbClr val="FFFFFF">
                  <a:alpha val="0"/>
                </a:srgbClr>
              </a:clrTo>
            </a:clrChange>
          </a:blip>
          <a:stretch>
            <a:fillRect/>
          </a:stretch>
        </p:blipFill>
        <p:spPr>
          <a:xfrm>
            <a:off x="2214563" y="2439988"/>
            <a:ext cx="7137400" cy="3009900"/>
          </a:xfrm>
          <a:prstGeom prst="rect">
            <a:avLst/>
          </a:prstGeom>
          <a:noFill/>
          <a:ln w="9525">
            <a:noFill/>
          </a:ln>
        </p:spPr>
      </p:pic>
      <p:grpSp>
        <p:nvGrpSpPr>
          <p:cNvPr id="16" name="Group 23"/>
          <p:cNvGrpSpPr/>
          <p:nvPr/>
        </p:nvGrpSpPr>
        <p:grpSpPr>
          <a:xfrm>
            <a:off x="2786063" y="5030788"/>
            <a:ext cx="1698625" cy="985837"/>
            <a:chOff x="1265" y="3268"/>
            <a:chExt cx="1164" cy="629"/>
          </a:xfrm>
        </p:grpSpPr>
        <p:sp>
          <p:nvSpPr>
            <p:cNvPr id="17"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b="1" dirty="0">
                <a:solidFill>
                  <a:srgbClr val="000000"/>
                </a:solidFill>
                <a:latin typeface="Arial" panose="020B0604020202020204" pitchFamily="34" charset="0"/>
                <a:ea typeface="宋体" panose="02010600030101010101" pitchFamily="2" charset="-122"/>
              </a:endParaRPr>
            </a:p>
          </p:txBody>
        </p:sp>
        <p:sp>
          <p:nvSpPr>
            <p:cNvPr id="18"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b="1" dirty="0">
                <a:solidFill>
                  <a:srgbClr val="000000"/>
                </a:solidFill>
                <a:latin typeface="Arial" panose="020B0604020202020204" pitchFamily="34" charset="0"/>
                <a:ea typeface="宋体" panose="02010600030101010101" pitchFamily="2" charset="-122"/>
              </a:endParaRPr>
            </a:p>
          </p:txBody>
        </p:sp>
        <p:sp>
          <p:nvSpPr>
            <p:cNvPr id="19" name="Text Box 84"/>
            <p:cNvSpPr/>
            <p:nvPr/>
          </p:nvSpPr>
          <p:spPr>
            <a:xfrm>
              <a:off x="1265" y="3297"/>
              <a:ext cx="1164" cy="587"/>
            </a:xfrm>
            <a:prstGeom prst="roundRect">
              <a:avLst>
                <a:gd name="adj" fmla="val 16667"/>
              </a:avLst>
            </a:prstGeom>
            <a:noFill/>
            <a:ln w="9525">
              <a:noFill/>
            </a:ln>
          </p:spPr>
          <p:txBody>
            <a:bodyPr anchor="t">
              <a:spAutoFit/>
            </a:bodyPr>
            <a:lstStyle/>
            <a:p>
              <a:pPr algn="ctr">
                <a:spcBef>
                  <a:spcPct val="35000"/>
                </a:spcBef>
              </a:pPr>
              <a:r>
                <a:rPr lang="zh-CN" altLang="en-US" sz="1600" b="1" dirty="0">
                  <a:solidFill>
                    <a:schemeClr val="accent2"/>
                  </a:solidFill>
                  <a:latin typeface="Arial" panose="020B0604020202020204" pitchFamily="34" charset="0"/>
                  <a:ea typeface="华文中宋" panose="02010600040101010101" pitchFamily="2" charset="-122"/>
                </a:rPr>
                <a:t>引入指针桶处理非候选键索引的多记录情况</a:t>
              </a:r>
              <a:endParaRPr lang="zh-CN" altLang="en-US" sz="1600" b="1" dirty="0">
                <a:solidFill>
                  <a:schemeClr val="accent2"/>
                </a:solidFill>
                <a:latin typeface="Arial" panose="020B0604020202020204" pitchFamily="34" charset="0"/>
                <a:ea typeface="华文中宋" panose="02010600040101010101" pitchFamily="2" charset="-122"/>
              </a:endParaRPr>
            </a:p>
          </p:txBody>
        </p:sp>
      </p:grpSp>
      <p:grpSp>
        <p:nvGrpSpPr>
          <p:cNvPr id="20" name="Group 27"/>
          <p:cNvGrpSpPr/>
          <p:nvPr/>
        </p:nvGrpSpPr>
        <p:grpSpPr>
          <a:xfrm>
            <a:off x="6519863" y="5408613"/>
            <a:ext cx="1849437" cy="1016000"/>
            <a:chOff x="1265" y="3268"/>
            <a:chExt cx="1165" cy="640"/>
          </a:xfrm>
        </p:grpSpPr>
        <p:sp>
          <p:nvSpPr>
            <p:cNvPr id="21"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b="1" dirty="0">
                <a:solidFill>
                  <a:srgbClr val="000000"/>
                </a:solidFill>
                <a:latin typeface="Arial" panose="020B0604020202020204" pitchFamily="34" charset="0"/>
                <a:ea typeface="宋体" panose="02010600030101010101" pitchFamily="2" charset="-122"/>
              </a:endParaRPr>
            </a:p>
          </p:txBody>
        </p:sp>
        <p:sp>
          <p:nvSpPr>
            <p:cNvPr id="22"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b="1" dirty="0">
                <a:solidFill>
                  <a:srgbClr val="000000"/>
                </a:solidFill>
                <a:latin typeface="Arial" panose="020B0604020202020204" pitchFamily="34" charset="0"/>
                <a:ea typeface="宋体" panose="02010600030101010101" pitchFamily="2" charset="-122"/>
              </a:endParaRPr>
            </a:p>
          </p:txBody>
        </p:sp>
        <p:sp>
          <p:nvSpPr>
            <p:cNvPr id="23" name="Text Box 84"/>
            <p:cNvSpPr/>
            <p:nvPr/>
          </p:nvSpPr>
          <p:spPr>
            <a:xfrm>
              <a:off x="1265" y="3296"/>
              <a:ext cx="1165" cy="612"/>
            </a:xfrm>
            <a:prstGeom prst="roundRect">
              <a:avLst>
                <a:gd name="adj" fmla="val 16667"/>
              </a:avLst>
            </a:prstGeom>
            <a:noFill/>
            <a:ln w="9525">
              <a:noFill/>
            </a:ln>
          </p:spPr>
          <p:txBody>
            <a:bodyPr anchor="t">
              <a:spAutoFit/>
            </a:bodyPr>
            <a:lstStyle/>
            <a:p>
              <a:pPr algn="ctr">
                <a:spcBef>
                  <a:spcPct val="35000"/>
                </a:spcBef>
              </a:pPr>
              <a:r>
                <a:rPr lang="zh-CN" altLang="en-US" sz="1600" b="1" dirty="0">
                  <a:solidFill>
                    <a:schemeClr val="accent2"/>
                  </a:solidFill>
                  <a:latin typeface="Arial" panose="020B0604020202020204" pitchFamily="34" charset="0"/>
                  <a:ea typeface="华文中宋" panose="02010600040101010101" pitchFamily="2" charset="-122"/>
                </a:rPr>
                <a:t>主文件</a:t>
              </a:r>
              <a:r>
                <a:rPr lang="zh-CN" altLang="en-US" b="1" dirty="0">
                  <a:solidFill>
                    <a:srgbClr val="CC0000"/>
                  </a:solidFill>
                  <a:latin typeface="Arial" panose="020B0604020202020204" pitchFamily="34" charset="0"/>
                  <a:ea typeface="华文中宋" panose="02010600040101010101" pitchFamily="2" charset="-122"/>
                </a:rPr>
                <a:t>未</a:t>
              </a:r>
              <a:r>
                <a:rPr lang="zh-CN" altLang="en-US" sz="1600" b="1" dirty="0">
                  <a:solidFill>
                    <a:schemeClr val="accent2"/>
                  </a:solidFill>
                  <a:latin typeface="Arial" panose="020B0604020202020204" pitchFamily="34" charset="0"/>
                  <a:ea typeface="华文中宋" panose="02010600040101010101" pitchFamily="2" charset="-122"/>
                </a:rPr>
                <a:t>按索引字段排序且索引字段不是候选键</a:t>
              </a:r>
              <a:endParaRPr lang="zh-CN" altLang="en-US" sz="1600" b="1" dirty="0">
                <a:solidFill>
                  <a:schemeClr val="accent2"/>
                </a:solidFill>
                <a:latin typeface="Arial" panose="020B0604020202020204" pitchFamily="34" charset="0"/>
                <a:ea typeface="华文中宋" panose="02010600040101010101" pitchFamily="2" charset="-122"/>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4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稠密索引如何定位记录</a:t>
            </a:r>
            <a:endParaRPr lang="en-US" altLang="zh-CN" sz="2600" dirty="0">
              <a:latin typeface="微软雅黑" panose="020B0503020204020204" pitchFamily="34" charset="-122"/>
              <a:ea typeface="微软雅黑" panose="020B0503020204020204" pitchFamily="34" charset="-122"/>
            </a:endParaRPr>
          </a:p>
          <a:p>
            <a:pPr>
              <a:lnSpc>
                <a:spcPct val="130000"/>
              </a:lnSpc>
              <a:buFont typeface="Wingdings" panose="05000000000000000000" pitchFamily="2" charset="2"/>
              <a:buNone/>
            </a:pPr>
            <a:r>
              <a:rPr lang="zh-CN" altLang="en-US" sz="2000" b="0" dirty="0">
                <a:latin typeface="Arial" panose="020B0604020202020204" pitchFamily="34" charset="0"/>
                <a:ea typeface="微软雅黑" panose="020B0503020204020204" pitchFamily="34" charset="-122"/>
              </a:rPr>
              <a:t>非候选键属性的稠密索引的三种情况之对比</a:t>
            </a:r>
            <a:endParaRPr lang="zh-CN" altLang="en-US" sz="2000" b="0" dirty="0">
              <a:latin typeface="Arial" panose="020B0604020202020204" pitchFamily="34" charset="0"/>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-稠密索引与稀疏索引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pic>
        <p:nvPicPr>
          <p:cNvPr id="24" name="Picture 3"/>
          <p:cNvPicPr>
            <a:picLocks noChangeAspect="1"/>
          </p:cNvPicPr>
          <p:nvPr/>
        </p:nvPicPr>
        <p:blipFill>
          <a:blip r:embed="rId1">
            <a:clrChange>
              <a:clrFrom>
                <a:srgbClr val="FFFFFF"/>
              </a:clrFrom>
              <a:clrTo>
                <a:srgbClr val="FFFFFF">
                  <a:alpha val="0"/>
                </a:srgbClr>
              </a:clrTo>
            </a:clrChange>
          </a:blip>
          <a:stretch>
            <a:fillRect/>
          </a:stretch>
        </p:blipFill>
        <p:spPr>
          <a:xfrm>
            <a:off x="965068" y="3152433"/>
            <a:ext cx="3862387" cy="1801813"/>
          </a:xfrm>
          <a:prstGeom prst="rect">
            <a:avLst/>
          </a:prstGeom>
          <a:noFill/>
          <a:ln w="9525">
            <a:noFill/>
          </a:ln>
        </p:spPr>
      </p:pic>
      <p:grpSp>
        <p:nvGrpSpPr>
          <p:cNvPr id="25" name="Group 7"/>
          <p:cNvGrpSpPr/>
          <p:nvPr/>
        </p:nvGrpSpPr>
        <p:grpSpPr>
          <a:xfrm>
            <a:off x="2849289" y="4984753"/>
            <a:ext cx="1868358" cy="883893"/>
            <a:chOff x="1265" y="3268"/>
            <a:chExt cx="1165" cy="629"/>
          </a:xfrm>
        </p:grpSpPr>
        <p:sp>
          <p:nvSpPr>
            <p:cNvPr id="26"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400" b="1" dirty="0">
                <a:solidFill>
                  <a:srgbClr val="000000"/>
                </a:solidFill>
                <a:latin typeface="Arial" panose="020B0604020202020204" pitchFamily="34" charset="0"/>
                <a:ea typeface="宋体" panose="02010600030101010101" pitchFamily="2" charset="-122"/>
              </a:endParaRPr>
            </a:p>
          </p:txBody>
        </p:sp>
        <p:sp>
          <p:nvSpPr>
            <p:cNvPr id="27"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400" b="1" dirty="0">
                <a:solidFill>
                  <a:srgbClr val="000000"/>
                </a:solidFill>
                <a:latin typeface="Arial" panose="020B0604020202020204" pitchFamily="34" charset="0"/>
                <a:ea typeface="宋体" panose="02010600030101010101" pitchFamily="2" charset="-122"/>
              </a:endParaRPr>
            </a:p>
          </p:txBody>
        </p:sp>
        <p:sp>
          <p:nvSpPr>
            <p:cNvPr id="28" name="Text Box 84"/>
            <p:cNvSpPr/>
            <p:nvPr/>
          </p:nvSpPr>
          <p:spPr>
            <a:xfrm>
              <a:off x="1265" y="3296"/>
              <a:ext cx="1165" cy="536"/>
            </a:xfrm>
            <a:prstGeom prst="roundRect">
              <a:avLst>
                <a:gd name="adj" fmla="val 16667"/>
              </a:avLst>
            </a:prstGeom>
            <a:noFill/>
            <a:ln w="9525">
              <a:noFill/>
            </a:ln>
          </p:spPr>
          <p:txBody>
            <a:bodyPr anchor="t">
              <a:spAutoFit/>
            </a:bodyPr>
            <a:lstStyle/>
            <a:p>
              <a:pPr algn="ctr">
                <a:spcBef>
                  <a:spcPct val="35000"/>
                </a:spcBef>
              </a:pPr>
              <a:r>
                <a:rPr lang="zh-CN" altLang="en-US" sz="1400" b="1" dirty="0">
                  <a:solidFill>
                    <a:schemeClr val="accent2"/>
                  </a:solidFill>
                  <a:latin typeface="Arial" panose="020B0604020202020204" pitchFamily="34" charset="0"/>
                  <a:ea typeface="华文中宋" panose="02010600040101010101" pitchFamily="2" charset="-122"/>
                </a:rPr>
                <a:t>主文件按索引字段</a:t>
              </a:r>
              <a:r>
                <a:rPr lang="zh-CN" altLang="en-US" sz="1600" b="1" dirty="0">
                  <a:solidFill>
                    <a:srgbClr val="CC0000"/>
                  </a:solidFill>
                  <a:latin typeface="Arial" panose="020B0604020202020204" pitchFamily="34" charset="0"/>
                  <a:ea typeface="华文中宋" panose="02010600040101010101" pitchFamily="2" charset="-122"/>
                </a:rPr>
                <a:t>排序</a:t>
              </a:r>
              <a:r>
                <a:rPr lang="zh-CN" altLang="en-US" sz="1400" b="1" dirty="0">
                  <a:solidFill>
                    <a:schemeClr val="accent2"/>
                  </a:solidFill>
                  <a:latin typeface="Arial" panose="020B0604020202020204" pitchFamily="34" charset="0"/>
                  <a:ea typeface="华文中宋" panose="02010600040101010101" pitchFamily="2" charset="-122"/>
                </a:rPr>
                <a:t>且索引字段不是候选键</a:t>
              </a:r>
              <a:endParaRPr lang="zh-CN" altLang="en-US" sz="1400" b="1" dirty="0">
                <a:solidFill>
                  <a:schemeClr val="accent2"/>
                </a:solidFill>
                <a:latin typeface="Arial" panose="020B0604020202020204" pitchFamily="34" charset="0"/>
                <a:ea typeface="华文中宋" panose="02010600040101010101" pitchFamily="2" charset="-122"/>
              </a:endParaRPr>
            </a:p>
          </p:txBody>
        </p:sp>
      </p:grpSp>
      <p:grpSp>
        <p:nvGrpSpPr>
          <p:cNvPr id="29" name="Group 11"/>
          <p:cNvGrpSpPr/>
          <p:nvPr/>
        </p:nvGrpSpPr>
        <p:grpSpPr>
          <a:xfrm>
            <a:off x="828759" y="4654236"/>
            <a:ext cx="1483295" cy="883893"/>
            <a:chOff x="1265" y="3268"/>
            <a:chExt cx="1153" cy="629"/>
          </a:xfrm>
        </p:grpSpPr>
        <p:sp>
          <p:nvSpPr>
            <p:cNvPr id="30"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400" b="1" dirty="0">
                <a:solidFill>
                  <a:srgbClr val="000000"/>
                </a:solidFill>
                <a:latin typeface="Arial" panose="020B0604020202020204" pitchFamily="34" charset="0"/>
                <a:ea typeface="宋体" panose="02010600030101010101" pitchFamily="2" charset="-122"/>
              </a:endParaRPr>
            </a:p>
          </p:txBody>
        </p:sp>
        <p:sp>
          <p:nvSpPr>
            <p:cNvPr id="32"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400" b="1" dirty="0">
                <a:solidFill>
                  <a:srgbClr val="000000"/>
                </a:solidFill>
                <a:latin typeface="Arial" panose="020B0604020202020204" pitchFamily="34" charset="0"/>
                <a:ea typeface="宋体" panose="02010600030101010101" pitchFamily="2" charset="-122"/>
              </a:endParaRPr>
            </a:p>
          </p:txBody>
        </p:sp>
        <p:sp>
          <p:nvSpPr>
            <p:cNvPr id="33" name="Text Box 84"/>
            <p:cNvSpPr/>
            <p:nvPr/>
          </p:nvSpPr>
          <p:spPr>
            <a:xfrm>
              <a:off x="1265" y="3296"/>
              <a:ext cx="1153" cy="536"/>
            </a:xfrm>
            <a:prstGeom prst="roundRect">
              <a:avLst>
                <a:gd name="adj" fmla="val 16667"/>
              </a:avLst>
            </a:prstGeom>
            <a:noFill/>
            <a:ln w="9525">
              <a:noFill/>
            </a:ln>
          </p:spPr>
          <p:txBody>
            <a:bodyPr wrap="square" anchor="t">
              <a:spAutoFit/>
            </a:bodyPr>
            <a:lstStyle/>
            <a:p>
              <a:pPr algn="ctr">
                <a:spcBef>
                  <a:spcPct val="35000"/>
                </a:spcBef>
              </a:pPr>
              <a:r>
                <a:rPr lang="zh-CN" altLang="en-US" sz="1400" b="1" dirty="0">
                  <a:solidFill>
                    <a:schemeClr val="accent2"/>
                  </a:solidFill>
                  <a:latin typeface="Arial" panose="020B0604020202020204" pitchFamily="34" charset="0"/>
                  <a:ea typeface="华文中宋" panose="02010600040101010101" pitchFamily="2" charset="-122"/>
                </a:rPr>
                <a:t>索引文件中索引字段值是</a:t>
              </a:r>
              <a:r>
                <a:rPr lang="zh-CN" altLang="en-US" sz="1600" b="1" dirty="0">
                  <a:solidFill>
                    <a:srgbClr val="CC0000"/>
                  </a:solidFill>
                  <a:latin typeface="Arial" panose="020B0604020202020204" pitchFamily="34" charset="0"/>
                  <a:ea typeface="华文中宋" panose="02010600040101010101" pitchFamily="2" charset="-122"/>
                </a:rPr>
                <a:t>不</a:t>
              </a:r>
              <a:r>
                <a:rPr lang="zh-CN" altLang="en-US" sz="1400" b="1" dirty="0">
                  <a:solidFill>
                    <a:schemeClr val="accent2"/>
                  </a:solidFill>
                  <a:latin typeface="Arial" panose="020B0604020202020204" pitchFamily="34" charset="0"/>
                  <a:ea typeface="华文中宋" panose="02010600040101010101" pitchFamily="2" charset="-122"/>
                </a:rPr>
                <a:t>重复的</a:t>
              </a:r>
              <a:endParaRPr lang="zh-CN" altLang="en-US" sz="1400" b="1" dirty="0">
                <a:solidFill>
                  <a:schemeClr val="accent2"/>
                </a:solidFill>
                <a:latin typeface="Arial" panose="020B0604020202020204" pitchFamily="34" charset="0"/>
                <a:ea typeface="华文中宋" panose="02010600040101010101" pitchFamily="2" charset="-122"/>
              </a:endParaRPr>
            </a:p>
          </p:txBody>
        </p:sp>
      </p:grpSp>
      <p:pic>
        <p:nvPicPr>
          <p:cNvPr id="34" name="Picture 4"/>
          <p:cNvPicPr>
            <a:picLocks noChangeAspect="1"/>
          </p:cNvPicPr>
          <p:nvPr/>
        </p:nvPicPr>
        <p:blipFill>
          <a:blip r:embed="rId2">
            <a:clrChange>
              <a:clrFrom>
                <a:srgbClr val="FFFFFF"/>
              </a:clrFrom>
              <a:clrTo>
                <a:srgbClr val="FFFFFF">
                  <a:alpha val="0"/>
                </a:srgbClr>
              </a:clrTo>
            </a:clrChange>
          </a:blip>
          <a:stretch>
            <a:fillRect/>
          </a:stretch>
        </p:blipFill>
        <p:spPr>
          <a:xfrm>
            <a:off x="6785842" y="1218858"/>
            <a:ext cx="4279926" cy="1804843"/>
          </a:xfrm>
          <a:prstGeom prst="rect">
            <a:avLst/>
          </a:prstGeom>
          <a:noFill/>
          <a:ln w="9525">
            <a:noFill/>
          </a:ln>
        </p:spPr>
      </p:pic>
      <p:pic>
        <p:nvPicPr>
          <p:cNvPr id="35" name="Picture 5"/>
          <p:cNvPicPr>
            <a:picLocks noChangeAspect="1"/>
          </p:cNvPicPr>
          <p:nvPr/>
        </p:nvPicPr>
        <p:blipFill>
          <a:blip r:embed="rId3">
            <a:clrChange>
              <a:clrFrom>
                <a:srgbClr val="FFFFFF"/>
              </a:clrFrom>
              <a:clrTo>
                <a:srgbClr val="FFFFFF">
                  <a:alpha val="0"/>
                </a:srgbClr>
              </a:clrTo>
            </a:clrChange>
          </a:blip>
          <a:stretch>
            <a:fillRect/>
          </a:stretch>
        </p:blipFill>
        <p:spPr>
          <a:xfrm>
            <a:off x="6962466" y="3937342"/>
            <a:ext cx="3752850" cy="1828800"/>
          </a:xfrm>
          <a:prstGeom prst="rect">
            <a:avLst/>
          </a:prstGeom>
          <a:noFill/>
          <a:ln w="9525">
            <a:noFill/>
          </a:ln>
        </p:spPr>
      </p:pic>
      <p:grpSp>
        <p:nvGrpSpPr>
          <p:cNvPr id="36" name="Group 15"/>
          <p:cNvGrpSpPr/>
          <p:nvPr/>
        </p:nvGrpSpPr>
        <p:grpSpPr>
          <a:xfrm>
            <a:off x="6443979" y="5826209"/>
            <a:ext cx="1706445" cy="754164"/>
            <a:chOff x="1265" y="3268"/>
            <a:chExt cx="1153" cy="543"/>
          </a:xfrm>
        </p:grpSpPr>
        <p:sp>
          <p:nvSpPr>
            <p:cNvPr id="37" name="AutoShape 39"/>
            <p:cNvSpPr/>
            <p:nvPr/>
          </p:nvSpPr>
          <p:spPr>
            <a:xfrm>
              <a:off x="1265" y="3268"/>
              <a:ext cx="1153" cy="500"/>
            </a:xfrm>
            <a:prstGeom prst="roundRect">
              <a:avLst>
                <a:gd name="adj" fmla="val 16667"/>
              </a:avLst>
            </a:prstGeom>
            <a:solidFill>
              <a:schemeClr val="accent2"/>
            </a:solidFill>
            <a:ln w="9525">
              <a:noFill/>
            </a:ln>
          </p:spPr>
          <p:txBody>
            <a:bodyPr wrap="none" anchor="ctr"/>
            <a:lstStyle/>
            <a:p>
              <a:pPr algn="ctr"/>
              <a:endParaRPr lang="zh-CN" altLang="zh-CN" sz="1400" dirty="0">
                <a:solidFill>
                  <a:srgbClr val="000000"/>
                </a:solidFill>
                <a:latin typeface="Arial" panose="020B0604020202020204" pitchFamily="34" charset="0"/>
                <a:ea typeface="宋体" panose="02010600030101010101" pitchFamily="2" charset="-122"/>
              </a:endParaRPr>
            </a:p>
          </p:txBody>
        </p:sp>
        <p:sp>
          <p:nvSpPr>
            <p:cNvPr id="38" name="Oval 40"/>
            <p:cNvSpPr/>
            <p:nvPr/>
          </p:nvSpPr>
          <p:spPr>
            <a:xfrm>
              <a:off x="1310" y="3308"/>
              <a:ext cx="1075" cy="416"/>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400" dirty="0">
                <a:solidFill>
                  <a:srgbClr val="000000"/>
                </a:solidFill>
                <a:latin typeface="Arial" panose="020B0604020202020204" pitchFamily="34" charset="0"/>
                <a:ea typeface="宋体" panose="02010600030101010101" pitchFamily="2" charset="-122"/>
              </a:endParaRPr>
            </a:p>
          </p:txBody>
        </p:sp>
        <p:sp>
          <p:nvSpPr>
            <p:cNvPr id="39" name="Text Box 84"/>
            <p:cNvSpPr/>
            <p:nvPr/>
          </p:nvSpPr>
          <p:spPr>
            <a:xfrm>
              <a:off x="1265" y="3296"/>
              <a:ext cx="1153" cy="515"/>
            </a:xfrm>
            <a:prstGeom prst="roundRect">
              <a:avLst>
                <a:gd name="adj" fmla="val 16667"/>
              </a:avLst>
            </a:prstGeom>
            <a:noFill/>
            <a:ln w="9525">
              <a:noFill/>
            </a:ln>
          </p:spPr>
          <p:txBody>
            <a:bodyPr wrap="square" anchor="t">
              <a:spAutoFit/>
            </a:bodyPr>
            <a:lstStyle/>
            <a:p>
              <a:pPr algn="ctr">
                <a:spcBef>
                  <a:spcPct val="35000"/>
                </a:spcBef>
              </a:pPr>
              <a:r>
                <a:rPr lang="zh-CN" altLang="en-US" sz="1400" dirty="0">
                  <a:solidFill>
                    <a:schemeClr val="accent2"/>
                  </a:solidFill>
                  <a:latin typeface="Arial" panose="020B0604020202020204" pitchFamily="34" charset="0"/>
                  <a:ea typeface="华文中宋" panose="02010600040101010101" pitchFamily="2" charset="-122"/>
                </a:rPr>
                <a:t>索引文件中索引字段值是</a:t>
              </a:r>
              <a:r>
                <a:rPr lang="zh-CN" altLang="en-US" sz="1400" dirty="0">
                  <a:solidFill>
                    <a:srgbClr val="CC0000"/>
                  </a:solidFill>
                  <a:latin typeface="Arial" panose="020B0604020202020204" pitchFamily="34" charset="0"/>
                  <a:ea typeface="华文中宋" panose="02010600040101010101" pitchFamily="2" charset="-122"/>
                </a:rPr>
                <a:t>有</a:t>
              </a:r>
              <a:r>
                <a:rPr lang="zh-CN" altLang="en-US" sz="1400" dirty="0">
                  <a:solidFill>
                    <a:schemeClr val="accent2"/>
                  </a:solidFill>
                  <a:latin typeface="Arial" panose="020B0604020202020204" pitchFamily="34" charset="0"/>
                  <a:ea typeface="华文中宋" panose="02010600040101010101" pitchFamily="2" charset="-122"/>
                </a:rPr>
                <a:t>重复的</a:t>
              </a:r>
              <a:endParaRPr lang="zh-CN" altLang="en-US" sz="1400" dirty="0">
                <a:solidFill>
                  <a:schemeClr val="accent2"/>
                </a:solidFill>
                <a:latin typeface="Arial" panose="020B0604020202020204" pitchFamily="34" charset="0"/>
                <a:ea typeface="华文中宋" panose="02010600040101010101" pitchFamily="2" charset="-122"/>
              </a:endParaRPr>
            </a:p>
          </p:txBody>
        </p:sp>
      </p:grpSp>
      <p:grpSp>
        <p:nvGrpSpPr>
          <p:cNvPr id="40" name="Group 19"/>
          <p:cNvGrpSpPr/>
          <p:nvPr/>
        </p:nvGrpSpPr>
        <p:grpSpPr>
          <a:xfrm>
            <a:off x="9099540" y="5862297"/>
            <a:ext cx="1935608" cy="857984"/>
            <a:chOff x="1265" y="3268"/>
            <a:chExt cx="1153" cy="591"/>
          </a:xfrm>
        </p:grpSpPr>
        <p:sp>
          <p:nvSpPr>
            <p:cNvPr id="41" name="AutoShape 39"/>
            <p:cNvSpPr/>
            <p:nvPr/>
          </p:nvSpPr>
          <p:spPr>
            <a:xfrm>
              <a:off x="1265" y="3268"/>
              <a:ext cx="1130" cy="569"/>
            </a:xfrm>
            <a:prstGeom prst="roundRect">
              <a:avLst>
                <a:gd name="adj" fmla="val 16667"/>
              </a:avLst>
            </a:prstGeom>
            <a:solidFill>
              <a:schemeClr val="accent2"/>
            </a:solidFill>
            <a:ln w="9525">
              <a:noFill/>
            </a:ln>
          </p:spPr>
          <p:txBody>
            <a:bodyPr wrap="none" anchor="ctr"/>
            <a:lstStyle/>
            <a:p>
              <a:pPr algn="ctr"/>
              <a:endParaRPr lang="zh-CN" altLang="zh-CN" sz="1400" dirty="0">
                <a:solidFill>
                  <a:srgbClr val="000000"/>
                </a:solidFill>
                <a:latin typeface="Arial" panose="020B0604020202020204" pitchFamily="34" charset="0"/>
                <a:ea typeface="宋体" panose="02010600030101010101" pitchFamily="2" charset="-122"/>
              </a:endParaRPr>
            </a:p>
          </p:txBody>
        </p:sp>
        <p:sp>
          <p:nvSpPr>
            <p:cNvPr id="42" name="Oval 40"/>
            <p:cNvSpPr/>
            <p:nvPr/>
          </p:nvSpPr>
          <p:spPr>
            <a:xfrm>
              <a:off x="1310" y="3308"/>
              <a:ext cx="1045" cy="475"/>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400" dirty="0">
                <a:solidFill>
                  <a:srgbClr val="000000"/>
                </a:solidFill>
                <a:latin typeface="Arial" panose="020B0604020202020204" pitchFamily="34" charset="0"/>
                <a:ea typeface="宋体" panose="02010600030101010101" pitchFamily="2" charset="-122"/>
              </a:endParaRPr>
            </a:p>
          </p:txBody>
        </p:sp>
        <p:sp>
          <p:nvSpPr>
            <p:cNvPr id="43" name="Text Box 84"/>
            <p:cNvSpPr/>
            <p:nvPr/>
          </p:nvSpPr>
          <p:spPr>
            <a:xfrm>
              <a:off x="1265" y="3296"/>
              <a:ext cx="1153" cy="563"/>
            </a:xfrm>
            <a:prstGeom prst="roundRect">
              <a:avLst>
                <a:gd name="adj" fmla="val 16667"/>
              </a:avLst>
            </a:prstGeom>
            <a:noFill/>
            <a:ln w="9525">
              <a:noFill/>
            </a:ln>
          </p:spPr>
          <p:txBody>
            <a:bodyPr wrap="square" anchor="t">
              <a:spAutoFit/>
            </a:bodyPr>
            <a:lstStyle/>
            <a:p>
              <a:pPr algn="ctr">
                <a:spcBef>
                  <a:spcPct val="35000"/>
                </a:spcBef>
              </a:pPr>
              <a:r>
                <a:rPr lang="zh-CN" altLang="en-US" sz="1400" dirty="0">
                  <a:solidFill>
                    <a:schemeClr val="accent2"/>
                  </a:solidFill>
                  <a:latin typeface="Arial" panose="020B0604020202020204" pitchFamily="34" charset="0"/>
                  <a:ea typeface="华文中宋" panose="02010600040101010101" pitchFamily="2" charset="-122"/>
                </a:rPr>
                <a:t>主文件</a:t>
              </a:r>
              <a:r>
                <a:rPr lang="zh-CN" altLang="en-US" sz="1400" dirty="0">
                  <a:solidFill>
                    <a:srgbClr val="CC0000"/>
                  </a:solidFill>
                  <a:latin typeface="Arial" panose="020B0604020202020204" pitchFamily="34" charset="0"/>
                  <a:ea typeface="华文中宋" panose="02010600040101010101" pitchFamily="2" charset="-122"/>
                </a:rPr>
                <a:t>未</a:t>
              </a:r>
              <a:r>
                <a:rPr lang="zh-CN" altLang="en-US" sz="1400" dirty="0">
                  <a:solidFill>
                    <a:schemeClr val="accent2"/>
                  </a:solidFill>
                  <a:latin typeface="Arial" panose="020B0604020202020204" pitchFamily="34" charset="0"/>
                  <a:ea typeface="华文中宋" panose="02010600040101010101" pitchFamily="2" charset="-122"/>
                </a:rPr>
                <a:t>按索引字段排序且索引字段不是候选键</a:t>
              </a:r>
              <a:endParaRPr lang="zh-CN" altLang="en-US" sz="1400" dirty="0">
                <a:solidFill>
                  <a:schemeClr val="accent2"/>
                </a:solidFill>
                <a:latin typeface="Arial" panose="020B0604020202020204" pitchFamily="34" charset="0"/>
                <a:ea typeface="华文中宋" panose="02010600040101010101" pitchFamily="2" charset="-122"/>
              </a:endParaRPr>
            </a:p>
          </p:txBody>
        </p:sp>
      </p:grpSp>
      <p:grpSp>
        <p:nvGrpSpPr>
          <p:cNvPr id="44" name="Group 23"/>
          <p:cNvGrpSpPr/>
          <p:nvPr/>
        </p:nvGrpSpPr>
        <p:grpSpPr>
          <a:xfrm>
            <a:off x="6288087" y="2659746"/>
            <a:ext cx="1722725" cy="838200"/>
            <a:chOff x="1265" y="3268"/>
            <a:chExt cx="1164" cy="629"/>
          </a:xfrm>
        </p:grpSpPr>
        <p:sp>
          <p:nvSpPr>
            <p:cNvPr id="45"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46"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47" name="Text Box 84"/>
            <p:cNvSpPr/>
            <p:nvPr/>
          </p:nvSpPr>
          <p:spPr>
            <a:xfrm>
              <a:off x="1265" y="3297"/>
              <a:ext cx="1164" cy="521"/>
            </a:xfrm>
            <a:prstGeom prst="roundRect">
              <a:avLst>
                <a:gd name="adj" fmla="val 16667"/>
              </a:avLst>
            </a:prstGeom>
            <a:noFill/>
            <a:ln w="9525">
              <a:noFill/>
            </a:ln>
          </p:spPr>
          <p:txBody>
            <a:bodyPr anchor="t">
              <a:spAutoFit/>
            </a:bodyPr>
            <a:lstStyle/>
            <a:p>
              <a:pPr algn="ctr">
                <a:spcBef>
                  <a:spcPct val="35000"/>
                </a:spcBef>
              </a:pPr>
              <a:r>
                <a:rPr lang="zh-CN" altLang="en-US" sz="1400" dirty="0">
                  <a:solidFill>
                    <a:schemeClr val="accent2"/>
                  </a:solidFill>
                  <a:latin typeface="Arial" panose="020B0604020202020204" pitchFamily="34" charset="0"/>
                  <a:ea typeface="华文中宋" panose="02010600040101010101" pitchFamily="2" charset="-122"/>
                </a:rPr>
                <a:t>引入指针桶处理非候选键索引的多记录情况</a:t>
              </a:r>
              <a:endParaRPr lang="zh-CN" altLang="en-US" sz="1400" dirty="0">
                <a:solidFill>
                  <a:schemeClr val="accent2"/>
                </a:solidFill>
                <a:latin typeface="Arial" panose="020B0604020202020204" pitchFamily="34" charset="0"/>
                <a:ea typeface="华文中宋" panose="02010600040101010101" pitchFamily="2" charset="-122"/>
              </a:endParaRPr>
            </a:p>
          </p:txBody>
        </p:sp>
      </p:grpSp>
      <p:grpSp>
        <p:nvGrpSpPr>
          <p:cNvPr id="48" name="Group 27"/>
          <p:cNvGrpSpPr/>
          <p:nvPr/>
        </p:nvGrpSpPr>
        <p:grpSpPr>
          <a:xfrm>
            <a:off x="9071420" y="3023701"/>
            <a:ext cx="1849438" cy="861253"/>
            <a:chOff x="1265" y="3268"/>
            <a:chExt cx="1153" cy="683"/>
          </a:xfrm>
        </p:grpSpPr>
        <p:sp>
          <p:nvSpPr>
            <p:cNvPr id="49" name="AutoShape 39"/>
            <p:cNvSpPr/>
            <p:nvPr/>
          </p:nvSpPr>
          <p:spPr>
            <a:xfrm>
              <a:off x="1265" y="3268"/>
              <a:ext cx="1153" cy="683"/>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50" name="Oval 40"/>
            <p:cNvSpPr/>
            <p:nvPr/>
          </p:nvSpPr>
          <p:spPr>
            <a:xfrm>
              <a:off x="1310" y="3308"/>
              <a:ext cx="1072" cy="58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51" name="Text Box 84"/>
            <p:cNvSpPr/>
            <p:nvPr/>
          </p:nvSpPr>
          <p:spPr>
            <a:xfrm>
              <a:off x="1265" y="3296"/>
              <a:ext cx="1129" cy="655"/>
            </a:xfrm>
            <a:prstGeom prst="roundRect">
              <a:avLst>
                <a:gd name="adj" fmla="val 16667"/>
              </a:avLst>
            </a:prstGeom>
            <a:noFill/>
            <a:ln w="9525">
              <a:noFill/>
            </a:ln>
          </p:spPr>
          <p:txBody>
            <a:bodyPr wrap="square" anchor="t">
              <a:spAutoFit/>
            </a:bodyPr>
            <a:lstStyle/>
            <a:p>
              <a:pPr algn="ctr">
                <a:spcBef>
                  <a:spcPct val="35000"/>
                </a:spcBef>
              </a:pPr>
              <a:r>
                <a:rPr lang="zh-CN" altLang="en-US" sz="1400" dirty="0">
                  <a:solidFill>
                    <a:schemeClr val="accent2"/>
                  </a:solidFill>
                  <a:latin typeface="Arial" panose="020B0604020202020204" pitchFamily="34" charset="0"/>
                  <a:ea typeface="华文中宋" panose="02010600040101010101" pitchFamily="2" charset="-122"/>
                </a:rPr>
                <a:t>主文件</a:t>
              </a:r>
              <a:r>
                <a:rPr lang="zh-CN" altLang="en-US" sz="1400" dirty="0">
                  <a:solidFill>
                    <a:srgbClr val="CC0000"/>
                  </a:solidFill>
                  <a:latin typeface="Arial" panose="020B0604020202020204" pitchFamily="34" charset="0"/>
                  <a:ea typeface="华文中宋" panose="02010600040101010101" pitchFamily="2" charset="-122"/>
                </a:rPr>
                <a:t>未</a:t>
              </a:r>
              <a:r>
                <a:rPr lang="zh-CN" altLang="en-US" sz="1400" dirty="0">
                  <a:solidFill>
                    <a:schemeClr val="accent2"/>
                  </a:solidFill>
                  <a:latin typeface="Arial" panose="020B0604020202020204" pitchFamily="34" charset="0"/>
                  <a:ea typeface="华文中宋" panose="02010600040101010101" pitchFamily="2" charset="-122"/>
                </a:rPr>
                <a:t>按索引字段排序且索引字段不是候选键</a:t>
              </a:r>
              <a:endParaRPr lang="zh-CN" altLang="en-US" sz="1400" dirty="0">
                <a:solidFill>
                  <a:schemeClr val="accent2"/>
                </a:solidFill>
                <a:latin typeface="Arial" panose="020B0604020202020204" pitchFamily="34" charset="0"/>
                <a:ea typeface="华文中宋" panose="02010600040101010101" pitchFamily="2" charset="-122"/>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40000"/>
              </a:lnSpc>
            </a:pPr>
            <a:r>
              <a:rPr lang="en-US" altLang="zh-CN" sz="2600" dirty="0">
                <a:latin typeface="微软雅黑" panose="020B0503020204020204" pitchFamily="34" charset="-122"/>
                <a:ea typeface="微软雅黑" panose="020B0503020204020204" pitchFamily="34" charset="-122"/>
              </a:rPr>
              <a:t>(1) </a:t>
            </a:r>
            <a:r>
              <a:rPr lang="zh-CN" altLang="en-US" sz="2600" dirty="0">
                <a:latin typeface="微软雅黑" panose="020B0503020204020204" pitchFamily="34" charset="-122"/>
                <a:ea typeface="微软雅黑" panose="020B0503020204020204" pitchFamily="34" charset="-122"/>
              </a:rPr>
              <a:t>主索引</a:t>
            </a:r>
            <a:endParaRPr lang="en-US" altLang="zh-CN"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t>主索引通常是对每一存储块有一个索引项，索引项的总数和存储表所占的存储块数目相同，存储表的每一存储块的第一条记录，又称为锚记录</a:t>
            </a:r>
            <a:r>
              <a:rPr lang="en-US" altLang="zh-CN" sz="2000" b="0" dirty="0"/>
              <a:t>(anchor record), </a:t>
            </a:r>
            <a:r>
              <a:rPr lang="zh-CN" altLang="en-US" sz="2000" b="0" dirty="0"/>
              <a:t>或简称为块锚</a:t>
            </a:r>
            <a:r>
              <a:rPr lang="en-US" altLang="zh-CN" sz="2000" b="0" dirty="0"/>
              <a:t>(block anchor)</a:t>
            </a:r>
            <a:endParaRPr lang="zh-CN" altLang="en-US" sz="2000" b="0" dirty="0"/>
          </a:p>
          <a:p>
            <a:pPr marL="228600" lvl="1">
              <a:lnSpc>
                <a:spcPct val="100000"/>
              </a:lnSpc>
              <a:spcBef>
                <a:spcPts val="1000"/>
              </a:spcBef>
              <a:buFont typeface="Wingdings" panose="05000000000000000000" pitchFamily="2" charset="2"/>
              <a:buChar char="l"/>
            </a:pPr>
            <a:r>
              <a:rPr lang="zh-CN" altLang="en-US" sz="1800" dirty="0">
                <a:solidFill>
                  <a:srgbClr val="FF0000"/>
                </a:solidFill>
              </a:rPr>
              <a:t>主索引的索引字段值为块锚的索引字段值，而指针指向其所在的存储块。</a:t>
            </a:r>
            <a:endParaRPr lang="zh-CN" altLang="en-US" sz="1800" dirty="0">
              <a:solidFill>
                <a:srgbClr val="FF0000"/>
              </a:solidFill>
            </a:endParaRPr>
          </a:p>
          <a:p>
            <a:pPr>
              <a:lnSpc>
                <a:spcPct val="100000"/>
              </a:lnSpc>
              <a:buFont typeface="Wingdings" panose="05000000000000000000" pitchFamily="2" charset="2"/>
              <a:buChar char="l"/>
            </a:pPr>
            <a:r>
              <a:rPr lang="zh-CN" altLang="en-US" sz="1800" b="0" dirty="0"/>
              <a:t>主索引是按索引字段值进行排序的一个有序文件，通常建立在有序主文件的基于主码的排序字段上，即主索引的索引字段与主文件的排序码</a:t>
            </a:r>
            <a:r>
              <a:rPr lang="en-US" altLang="zh-CN" sz="1800" b="0" dirty="0"/>
              <a:t>(</a:t>
            </a:r>
            <a:r>
              <a:rPr lang="zh-CN" altLang="en-US" sz="1800" b="0" dirty="0"/>
              <a:t>通常为主码</a:t>
            </a:r>
            <a:r>
              <a:rPr lang="en-US" altLang="zh-CN" sz="1800" b="0" dirty="0"/>
              <a:t>)</a:t>
            </a:r>
            <a:r>
              <a:rPr lang="zh-CN" altLang="en-US" sz="1800" b="0" dirty="0"/>
              <a:t>有对应关系</a:t>
            </a:r>
            <a:endParaRPr lang="zh-CN" altLang="en-US" sz="1800" b="0" dirty="0"/>
          </a:p>
          <a:p>
            <a:pPr>
              <a:lnSpc>
                <a:spcPct val="100000"/>
              </a:lnSpc>
              <a:buFont typeface="Wingdings" panose="05000000000000000000" pitchFamily="2" charset="2"/>
              <a:buChar char="l"/>
            </a:pPr>
            <a:r>
              <a:rPr lang="zh-CN" altLang="en-US" sz="1800" b="0" dirty="0">
                <a:solidFill>
                  <a:srgbClr val="FF0000"/>
                </a:solidFill>
              </a:rPr>
              <a:t>主索引是稀疏索引。</a:t>
            </a:r>
            <a:endParaRPr lang="zh-CN" altLang="en-US" sz="1800" b="0" dirty="0">
              <a:solidFill>
                <a:srgbClr val="FF0000"/>
              </a:solidFill>
            </a:endParaRPr>
          </a:p>
          <a:p>
            <a:pPr marL="228600" lvl="1">
              <a:lnSpc>
                <a:spcPct val="110000"/>
              </a:lnSpc>
              <a:spcBef>
                <a:spcPts val="1000"/>
              </a:spcBef>
              <a:buFont typeface="Wingdings" panose="05000000000000000000" pitchFamily="2" charset="2"/>
              <a:buChar char="l"/>
            </a:pPr>
            <a:endParaRPr lang="zh-CN" altLang="en-US" sz="1800" b="1"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-主索引与辅助索引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pic>
        <p:nvPicPr>
          <p:cNvPr id="18" name="Picture 7"/>
          <p:cNvPicPr>
            <a:picLocks noChangeAspect="1"/>
          </p:cNvPicPr>
          <p:nvPr/>
        </p:nvPicPr>
        <p:blipFill>
          <a:blip r:embed="rId1"/>
          <a:stretch>
            <a:fillRect/>
          </a:stretch>
        </p:blipFill>
        <p:spPr>
          <a:xfrm>
            <a:off x="6097153" y="4381500"/>
            <a:ext cx="2979737" cy="547688"/>
          </a:xfrm>
          <a:prstGeom prst="rect">
            <a:avLst/>
          </a:prstGeom>
          <a:noFill/>
          <a:ln w="9525">
            <a:noFill/>
          </a:ln>
        </p:spPr>
      </p:pic>
      <p:pic>
        <p:nvPicPr>
          <p:cNvPr id="19" name="Picture 8"/>
          <p:cNvPicPr>
            <a:picLocks noChangeAspect="1"/>
          </p:cNvPicPr>
          <p:nvPr/>
        </p:nvPicPr>
        <p:blipFill>
          <a:blip r:embed="rId2"/>
          <a:stretch>
            <a:fillRect/>
          </a:stretch>
        </p:blipFill>
        <p:spPr>
          <a:xfrm>
            <a:off x="6097153" y="5180013"/>
            <a:ext cx="2979737" cy="547687"/>
          </a:xfrm>
          <a:prstGeom prst="rect">
            <a:avLst/>
          </a:prstGeom>
          <a:noFill/>
          <a:ln w="9525">
            <a:noFill/>
          </a:ln>
        </p:spPr>
      </p:pic>
      <p:pic>
        <p:nvPicPr>
          <p:cNvPr id="20" name="Picture 9"/>
          <p:cNvPicPr>
            <a:picLocks noChangeAspect="1"/>
          </p:cNvPicPr>
          <p:nvPr/>
        </p:nvPicPr>
        <p:blipFill>
          <a:blip r:embed="rId3"/>
          <a:stretch>
            <a:fillRect/>
          </a:stretch>
        </p:blipFill>
        <p:spPr>
          <a:xfrm>
            <a:off x="6097153" y="5978525"/>
            <a:ext cx="2979737" cy="542925"/>
          </a:xfrm>
          <a:prstGeom prst="rect">
            <a:avLst/>
          </a:prstGeom>
          <a:noFill/>
          <a:ln w="9525">
            <a:noFill/>
          </a:ln>
        </p:spPr>
      </p:pic>
      <p:pic>
        <p:nvPicPr>
          <p:cNvPr id="21" name="Picture 10"/>
          <p:cNvPicPr>
            <a:picLocks noChangeAspect="1"/>
          </p:cNvPicPr>
          <p:nvPr/>
        </p:nvPicPr>
        <p:blipFill>
          <a:blip r:embed="rId4"/>
          <a:stretch>
            <a:fillRect/>
          </a:stretch>
        </p:blipFill>
        <p:spPr>
          <a:xfrm>
            <a:off x="6090803" y="4048125"/>
            <a:ext cx="2990850" cy="195263"/>
          </a:xfrm>
          <a:prstGeom prst="rect">
            <a:avLst/>
          </a:prstGeom>
          <a:noFill/>
          <a:ln w="9525">
            <a:noFill/>
          </a:ln>
        </p:spPr>
      </p:pic>
      <p:pic>
        <p:nvPicPr>
          <p:cNvPr id="22" name="Picture 11"/>
          <p:cNvPicPr>
            <a:picLocks noChangeAspect="1"/>
          </p:cNvPicPr>
          <p:nvPr/>
        </p:nvPicPr>
        <p:blipFill>
          <a:blip r:embed="rId5"/>
          <a:stretch>
            <a:fillRect/>
          </a:stretch>
        </p:blipFill>
        <p:spPr>
          <a:xfrm>
            <a:off x="3390465" y="5180013"/>
            <a:ext cx="1058863" cy="534987"/>
          </a:xfrm>
          <a:prstGeom prst="rect">
            <a:avLst/>
          </a:prstGeom>
          <a:noFill/>
          <a:ln w="9525">
            <a:noFill/>
          </a:ln>
        </p:spPr>
      </p:pic>
      <p:pic>
        <p:nvPicPr>
          <p:cNvPr id="23" name="Picture 12"/>
          <p:cNvPicPr>
            <a:picLocks noChangeAspect="1"/>
          </p:cNvPicPr>
          <p:nvPr/>
        </p:nvPicPr>
        <p:blipFill>
          <a:blip r:embed="rId6"/>
          <a:stretch>
            <a:fillRect/>
          </a:stretch>
        </p:blipFill>
        <p:spPr>
          <a:xfrm>
            <a:off x="3387290" y="4876800"/>
            <a:ext cx="1066800" cy="180975"/>
          </a:xfrm>
          <a:prstGeom prst="rect">
            <a:avLst/>
          </a:prstGeom>
          <a:noFill/>
          <a:ln w="9525">
            <a:noFill/>
          </a:ln>
        </p:spPr>
      </p:pic>
      <p:sp>
        <p:nvSpPr>
          <p:cNvPr id="24" name="Freeform 13"/>
          <p:cNvSpPr/>
          <p:nvPr/>
        </p:nvSpPr>
        <p:spPr>
          <a:xfrm>
            <a:off x="4363603" y="4476750"/>
            <a:ext cx="1816100" cy="793750"/>
          </a:xfrm>
          <a:custGeom>
            <a:avLst/>
            <a:gdLst/>
            <a:ahLst/>
            <a:cxnLst>
              <a:cxn ang="0">
                <a:pos x="0" y="500"/>
              </a:cxn>
              <a:cxn ang="0">
                <a:pos x="415" y="398"/>
              </a:cxn>
              <a:cxn ang="0">
                <a:pos x="720" y="93"/>
              </a:cxn>
              <a:cxn ang="0">
                <a:pos x="1093" y="0"/>
              </a:cxn>
            </a:cxnLst>
            <a:rect l="0" t="0" r="0" b="0"/>
            <a:pathLst>
              <a:path w="1093" h="500">
                <a:moveTo>
                  <a:pt x="0" y="500"/>
                </a:moveTo>
                <a:cubicBezTo>
                  <a:pt x="69" y="483"/>
                  <a:pt x="295" y="466"/>
                  <a:pt x="415" y="398"/>
                </a:cubicBezTo>
                <a:cubicBezTo>
                  <a:pt x="535" y="330"/>
                  <a:pt x="607" y="159"/>
                  <a:pt x="720" y="93"/>
                </a:cubicBezTo>
                <a:cubicBezTo>
                  <a:pt x="833" y="27"/>
                  <a:pt x="963" y="6"/>
                  <a:pt x="1093" y="0"/>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25" name="Freeform 14"/>
          <p:cNvSpPr/>
          <p:nvPr/>
        </p:nvSpPr>
        <p:spPr>
          <a:xfrm>
            <a:off x="4363603" y="5619750"/>
            <a:ext cx="1801812" cy="457200"/>
          </a:xfrm>
          <a:custGeom>
            <a:avLst/>
            <a:gdLst/>
            <a:ahLst/>
            <a:cxnLst>
              <a:cxn ang="0">
                <a:pos x="0" y="0"/>
              </a:cxn>
              <a:cxn ang="0">
                <a:pos x="449" y="59"/>
              </a:cxn>
              <a:cxn ang="0">
                <a:pos x="729" y="237"/>
              </a:cxn>
              <a:cxn ang="0">
                <a:pos x="1135" y="288"/>
              </a:cxn>
            </a:cxnLst>
            <a:rect l="0" t="0" r="0" b="0"/>
            <a:pathLst>
              <a:path w="1135" h="288">
                <a:moveTo>
                  <a:pt x="0" y="0"/>
                </a:moveTo>
                <a:cubicBezTo>
                  <a:pt x="75" y="10"/>
                  <a:pt x="328" y="20"/>
                  <a:pt x="449" y="59"/>
                </a:cubicBezTo>
                <a:cubicBezTo>
                  <a:pt x="570" y="98"/>
                  <a:pt x="615" y="199"/>
                  <a:pt x="729" y="237"/>
                </a:cubicBezTo>
                <a:cubicBezTo>
                  <a:pt x="843" y="275"/>
                  <a:pt x="1051" y="278"/>
                  <a:pt x="1135" y="288"/>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26" name="Freeform 15"/>
          <p:cNvSpPr/>
          <p:nvPr/>
        </p:nvSpPr>
        <p:spPr>
          <a:xfrm>
            <a:off x="4350903" y="5238750"/>
            <a:ext cx="1814512" cy="222250"/>
          </a:xfrm>
          <a:custGeom>
            <a:avLst/>
            <a:gdLst/>
            <a:ahLst/>
            <a:cxnLst>
              <a:cxn ang="0">
                <a:pos x="0" y="130"/>
              </a:cxn>
              <a:cxn ang="0">
                <a:pos x="339" y="122"/>
              </a:cxn>
              <a:cxn ang="0">
                <a:pos x="686" y="20"/>
              </a:cxn>
              <a:cxn ang="0">
                <a:pos x="1143" y="3"/>
              </a:cxn>
            </a:cxnLst>
            <a:rect l="0" t="0" r="0" b="0"/>
            <a:pathLst>
              <a:path w="1143" h="140">
                <a:moveTo>
                  <a:pt x="0" y="130"/>
                </a:moveTo>
                <a:cubicBezTo>
                  <a:pt x="112" y="135"/>
                  <a:pt x="225" y="140"/>
                  <a:pt x="339" y="122"/>
                </a:cubicBezTo>
                <a:cubicBezTo>
                  <a:pt x="453" y="104"/>
                  <a:pt x="552" y="40"/>
                  <a:pt x="686" y="20"/>
                </a:cubicBezTo>
                <a:cubicBezTo>
                  <a:pt x="820" y="0"/>
                  <a:pt x="981" y="1"/>
                  <a:pt x="1143" y="3"/>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27" name="Text Box 16"/>
          <p:cNvSpPr txBox="1"/>
          <p:nvPr/>
        </p:nvSpPr>
        <p:spPr>
          <a:xfrm>
            <a:off x="2626878" y="5767388"/>
            <a:ext cx="2111375" cy="336550"/>
          </a:xfrm>
          <a:prstGeom prst="rect">
            <a:avLst/>
          </a:prstGeom>
          <a:noFill/>
          <a:ln w="9525">
            <a:noFill/>
          </a:ln>
        </p:spPr>
        <p:txBody>
          <a:bodyPr wrap="none" anchor="t">
            <a:spAutoFit/>
          </a:bodyPr>
          <a:lstStyle/>
          <a:p>
            <a:pPr algn="ctr"/>
            <a:r>
              <a:rPr lang="zh-CN" altLang="en-US" sz="1600" dirty="0">
                <a:latin typeface="微软雅黑" panose="020B0503020204020204" pitchFamily="34" charset="-122"/>
                <a:ea typeface="微软雅黑" panose="020B0503020204020204" pitchFamily="34" charset="-122"/>
              </a:rPr>
              <a:t>块锚主码值     块指针</a:t>
            </a:r>
            <a:endParaRPr lang="zh-CN" altLang="en-US" sz="1600" dirty="0">
              <a:latin typeface="微软雅黑" panose="020B0503020204020204" pitchFamily="34" charset="-122"/>
              <a:ea typeface="微软雅黑" panose="020B0503020204020204" pitchFamily="34" charset="-122"/>
            </a:endParaRPr>
          </a:p>
        </p:txBody>
      </p:sp>
      <p:sp>
        <p:nvSpPr>
          <p:cNvPr id="28" name="Text Box 17"/>
          <p:cNvSpPr txBox="1"/>
          <p:nvPr/>
        </p:nvSpPr>
        <p:spPr>
          <a:xfrm>
            <a:off x="3090428" y="4287838"/>
            <a:ext cx="1708150" cy="457200"/>
          </a:xfrm>
          <a:prstGeom prst="rect">
            <a:avLst/>
          </a:prstGeom>
          <a:noFill/>
          <a:ln w="9525">
            <a:noFill/>
          </a:ln>
        </p:spPr>
        <p:txBody>
          <a:bodyPr wrap="none" anchor="t">
            <a:spAutoFit/>
          </a:bodyPr>
          <a:lstStyle/>
          <a:p>
            <a:pPr algn="ctr"/>
            <a:r>
              <a:rPr lang="zh-CN" altLang="en-US" sz="2400" dirty="0">
                <a:solidFill>
                  <a:schemeClr val="accent2"/>
                </a:solidFill>
                <a:latin typeface="Times New Roman" panose="02020603050405020304" pitchFamily="18" charset="0"/>
                <a:ea typeface="微软雅黑" panose="020B0503020204020204" pitchFamily="34" charset="-122"/>
              </a:rPr>
              <a:t>主索引文件</a:t>
            </a:r>
            <a:endParaRPr lang="zh-CN" altLang="en-US" sz="2400" dirty="0">
              <a:solidFill>
                <a:schemeClr val="accent2"/>
              </a:solidFill>
              <a:latin typeface="Times New Roman" panose="02020603050405020304" pitchFamily="18" charset="0"/>
              <a:ea typeface="微软雅黑" panose="020B0503020204020204" pitchFamily="34" charset="-122"/>
            </a:endParaRPr>
          </a:p>
        </p:txBody>
      </p:sp>
      <p:sp>
        <p:nvSpPr>
          <p:cNvPr id="29" name="Text Box 18"/>
          <p:cNvSpPr txBox="1"/>
          <p:nvPr/>
        </p:nvSpPr>
        <p:spPr>
          <a:xfrm>
            <a:off x="6979803" y="3562350"/>
            <a:ext cx="1098550" cy="457200"/>
          </a:xfrm>
          <a:prstGeom prst="rect">
            <a:avLst/>
          </a:prstGeom>
          <a:noFill/>
          <a:ln w="9525">
            <a:noFill/>
          </a:ln>
        </p:spPr>
        <p:txBody>
          <a:bodyPr wrap="none" anchor="t">
            <a:spAutoFit/>
          </a:bodyPr>
          <a:lstStyle/>
          <a:p>
            <a:pPr algn="ctr"/>
            <a:r>
              <a:rPr lang="zh-CN" altLang="en-US" sz="2400" dirty="0">
                <a:solidFill>
                  <a:schemeClr val="accent2"/>
                </a:solidFill>
                <a:latin typeface="Times New Roman" panose="02020603050405020304" pitchFamily="18" charset="0"/>
                <a:ea typeface="微软雅黑" panose="020B0503020204020204" pitchFamily="34" charset="-122"/>
              </a:rPr>
              <a:t>主文件</a:t>
            </a:r>
            <a:endParaRPr lang="zh-CN" altLang="en-US" sz="2400" dirty="0">
              <a:solidFill>
                <a:schemeClr val="accent2"/>
              </a:solidFill>
              <a:latin typeface="Times New Roman" panose="02020603050405020304" pitchFamily="18"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ppt_x"/>
                                          </p:val>
                                        </p:tav>
                                        <p:tav tm="100000">
                                          <p:val>
                                            <p:strVal val="#ppt_x"/>
                                          </p:val>
                                        </p:tav>
                                      </p:tavLst>
                                    </p:anim>
                                    <p:anim calcmode="lin" valueType="num">
                                      <p:cBhvr additive="base">
                                        <p:cTn id="16" dur="500" fill="hold"/>
                                        <p:tgtEl>
                                          <p:spTgt spid="2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anim calcmode="lin" valueType="num">
                                      <p:cBhvr additive="base">
                                        <p:cTn id="23" dur="500" fill="hold"/>
                                        <p:tgtEl>
                                          <p:spTgt spid="29"/>
                                        </p:tgtEl>
                                        <p:attrNameLst>
                                          <p:attrName>ppt_x</p:attrName>
                                        </p:attrNameLst>
                                      </p:cBhvr>
                                      <p:tavLst>
                                        <p:tav tm="0">
                                          <p:val>
                                            <p:strVal val="#ppt_x"/>
                                          </p:val>
                                        </p:tav>
                                        <p:tav tm="100000">
                                          <p:val>
                                            <p:strVal val="#ppt_x"/>
                                          </p:val>
                                        </p:tav>
                                      </p:tavLst>
                                    </p:anim>
                                    <p:anim calcmode="lin" valueType="num">
                                      <p:cBhvr additive="base">
                                        <p:cTn id="2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additive="base">
                                        <p:cTn id="29" dur="500" fill="hold"/>
                                        <p:tgtEl>
                                          <p:spTgt spid="22"/>
                                        </p:tgtEl>
                                        <p:attrNameLst>
                                          <p:attrName>ppt_x</p:attrName>
                                        </p:attrNameLst>
                                      </p:cBhvr>
                                      <p:tavLst>
                                        <p:tav tm="0">
                                          <p:val>
                                            <p:strVal val="#ppt_x"/>
                                          </p:val>
                                        </p:tav>
                                        <p:tav tm="100000">
                                          <p:val>
                                            <p:strVal val="#ppt_x"/>
                                          </p:val>
                                        </p:tav>
                                      </p:tavLst>
                                    </p:anim>
                                    <p:anim calcmode="lin" valueType="num">
                                      <p:cBhvr additive="base">
                                        <p:cTn id="30" dur="500" fill="hold"/>
                                        <p:tgtEl>
                                          <p:spTgt spid="22"/>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ppt_x"/>
                                          </p:val>
                                        </p:tav>
                                        <p:tav tm="100000">
                                          <p:val>
                                            <p:strVal val="#ppt_x"/>
                                          </p:val>
                                        </p:tav>
                                      </p:tavLst>
                                    </p:anim>
                                    <p:anim calcmode="lin" valueType="num">
                                      <p:cBhvr additive="base">
                                        <p:cTn id="34" dur="500" fill="hold"/>
                                        <p:tgtEl>
                                          <p:spTgt spid="2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500" fill="hold"/>
                                        <p:tgtEl>
                                          <p:spTgt spid="24"/>
                                        </p:tgtEl>
                                        <p:attrNameLst>
                                          <p:attrName>ppt_x</p:attrName>
                                        </p:attrNameLst>
                                      </p:cBhvr>
                                      <p:tavLst>
                                        <p:tav tm="0">
                                          <p:val>
                                            <p:strVal val="#ppt_x"/>
                                          </p:val>
                                        </p:tav>
                                        <p:tav tm="100000">
                                          <p:val>
                                            <p:strVal val="#ppt_x"/>
                                          </p:val>
                                        </p:tav>
                                      </p:tavLst>
                                    </p:anim>
                                    <p:anim calcmode="lin" valueType="num">
                                      <p:cBhvr additive="base">
                                        <p:cTn id="38" dur="500" fill="hold"/>
                                        <p:tgtEl>
                                          <p:spTgt spid="2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500" fill="hold"/>
                                        <p:tgtEl>
                                          <p:spTgt spid="25"/>
                                        </p:tgtEl>
                                        <p:attrNameLst>
                                          <p:attrName>ppt_x</p:attrName>
                                        </p:attrNameLst>
                                      </p:cBhvr>
                                      <p:tavLst>
                                        <p:tav tm="0">
                                          <p:val>
                                            <p:strVal val="#ppt_x"/>
                                          </p:val>
                                        </p:tav>
                                        <p:tav tm="100000">
                                          <p:val>
                                            <p:strVal val="#ppt_x"/>
                                          </p:val>
                                        </p:tav>
                                      </p:tavLst>
                                    </p:anim>
                                    <p:anim calcmode="lin" valueType="num">
                                      <p:cBhvr additive="base">
                                        <p:cTn id="42" dur="500" fill="hold"/>
                                        <p:tgtEl>
                                          <p:spTgt spid="25"/>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 calcmode="lin" valueType="num">
                                      <p:cBhvr additive="base">
                                        <p:cTn id="45" dur="500" fill="hold"/>
                                        <p:tgtEl>
                                          <p:spTgt spid="26"/>
                                        </p:tgtEl>
                                        <p:attrNameLst>
                                          <p:attrName>ppt_x</p:attrName>
                                        </p:attrNameLst>
                                      </p:cBhvr>
                                      <p:tavLst>
                                        <p:tav tm="0">
                                          <p:val>
                                            <p:strVal val="#ppt_x"/>
                                          </p:val>
                                        </p:tav>
                                        <p:tav tm="100000">
                                          <p:val>
                                            <p:strVal val="#ppt_x"/>
                                          </p:val>
                                        </p:tav>
                                      </p:tavLst>
                                    </p:anim>
                                    <p:anim calcmode="lin" valueType="num">
                                      <p:cBhvr additive="base">
                                        <p:cTn id="46" dur="500" fill="hold"/>
                                        <p:tgtEl>
                                          <p:spTgt spid="26"/>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additive="base">
                                        <p:cTn id="49" dur="500" fill="hold"/>
                                        <p:tgtEl>
                                          <p:spTgt spid="27"/>
                                        </p:tgtEl>
                                        <p:attrNameLst>
                                          <p:attrName>ppt_x</p:attrName>
                                        </p:attrNameLst>
                                      </p:cBhvr>
                                      <p:tavLst>
                                        <p:tav tm="0">
                                          <p:val>
                                            <p:strVal val="#ppt_x"/>
                                          </p:val>
                                        </p:tav>
                                        <p:tav tm="100000">
                                          <p:val>
                                            <p:strVal val="#ppt_x"/>
                                          </p:val>
                                        </p:tav>
                                      </p:tavLst>
                                    </p:anim>
                                    <p:anim calcmode="lin" valueType="num">
                                      <p:cBhvr additive="base">
                                        <p:cTn id="50" dur="500" fill="hold"/>
                                        <p:tgtEl>
                                          <p:spTgt spid="27"/>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 calcmode="lin" valueType="num">
                                      <p:cBhvr additive="base">
                                        <p:cTn id="53" dur="500" fill="hold"/>
                                        <p:tgtEl>
                                          <p:spTgt spid="28"/>
                                        </p:tgtEl>
                                        <p:attrNameLst>
                                          <p:attrName>ppt_x</p:attrName>
                                        </p:attrNameLst>
                                      </p:cBhvr>
                                      <p:tavLst>
                                        <p:tav tm="0">
                                          <p:val>
                                            <p:strVal val="#ppt_x"/>
                                          </p:val>
                                        </p:tav>
                                        <p:tav tm="100000">
                                          <p:val>
                                            <p:strVal val="#ppt_x"/>
                                          </p:val>
                                        </p:tav>
                                      </p:tavLst>
                                    </p:anim>
                                    <p:anim calcmode="lin" valueType="num">
                                      <p:cBhvr additive="base">
                                        <p:cTn id="5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5" grpId="0" bldLvl="0" animBg="1"/>
      <p:bldP spid="26" grpId="0" bldLvl="0" animBg="1"/>
      <p:bldP spid="27" grpId="0"/>
      <p:bldP spid="28" grpId="0"/>
      <p:bldP spid="2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4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辅助索引</a:t>
            </a:r>
            <a:endParaRPr lang="en-US" altLang="zh-CN"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t>辅助索引 是定义在主文件的任一或多个非排序字段上的辅助存储结构。</a:t>
            </a:r>
            <a:endParaRPr lang="zh-CN" altLang="en-US" sz="2000" b="0" dirty="0"/>
          </a:p>
          <a:p>
            <a:pPr>
              <a:lnSpc>
                <a:spcPct val="100000"/>
              </a:lnSpc>
              <a:buFont typeface="Wingdings" panose="05000000000000000000" pitchFamily="2" charset="2"/>
              <a:buChar char="l"/>
            </a:pPr>
            <a:r>
              <a:rPr lang="zh-CN" altLang="en-US" sz="1800" b="0" dirty="0"/>
              <a:t>辅助索引通常是对某一非排序字段上的每一个不同值有一个索引项：索引字段即是该字段的不同值，而指针则指向包含该记录的块或该记录本身；</a:t>
            </a:r>
            <a:endParaRPr lang="zh-CN" altLang="en-US" sz="1800" b="0" dirty="0"/>
          </a:p>
          <a:p>
            <a:pPr>
              <a:lnSpc>
                <a:spcPct val="100000"/>
              </a:lnSpc>
              <a:buFont typeface="Wingdings" panose="05000000000000000000" pitchFamily="2" charset="2"/>
              <a:buChar char="l"/>
            </a:pPr>
            <a:r>
              <a:rPr lang="zh-CN" altLang="en-US" sz="1800" b="0" dirty="0"/>
              <a:t>当非排序字段为索引字段时，如该字段值不唯一，则要采用一个类似链表的结构来保存包含该字段值的所有记录的位置。</a:t>
            </a:r>
            <a:endParaRPr lang="zh-CN" altLang="en-US" sz="1800" b="0" dirty="0"/>
          </a:p>
          <a:p>
            <a:pPr>
              <a:lnSpc>
                <a:spcPct val="100000"/>
              </a:lnSpc>
              <a:buFont typeface="Wingdings" panose="05000000000000000000" pitchFamily="2" charset="2"/>
              <a:buChar char="l"/>
            </a:pPr>
            <a:r>
              <a:rPr lang="zh-CN" altLang="en-US" sz="1800" b="0" dirty="0"/>
              <a:t>辅助索引是稠密索引，其检索效率有时相当高。</a:t>
            </a:r>
            <a:endParaRPr lang="zh-CN" altLang="en-US" sz="1800" b="0" dirty="0"/>
          </a:p>
          <a:p>
            <a:pPr>
              <a:lnSpc>
                <a:spcPct val="100000"/>
              </a:lnSpc>
              <a:buFont typeface="Wingdings" panose="05000000000000000000" pitchFamily="2" charset="2"/>
              <a:buChar char="l"/>
            </a:pPr>
            <a:endParaRPr lang="zh-CN" altLang="en-US" sz="1800" b="0" dirty="0">
              <a:solidFill>
                <a:srgbClr val="FF0000"/>
              </a:solidFill>
            </a:endParaRPr>
          </a:p>
          <a:p>
            <a:pPr marL="228600" lvl="1">
              <a:lnSpc>
                <a:spcPct val="110000"/>
              </a:lnSpc>
              <a:spcBef>
                <a:spcPts val="1000"/>
              </a:spcBef>
              <a:buFont typeface="Wingdings" panose="05000000000000000000" pitchFamily="2" charset="2"/>
              <a:buChar char="l"/>
            </a:pPr>
            <a:endParaRPr lang="zh-CN" altLang="en-US" sz="1800" b="1"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-主索引与辅助索引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9" name="内容占位符 5"/>
          <p:cNvSpPr txBox="1"/>
          <p:nvPr/>
        </p:nvSpPr>
        <p:spPr>
          <a:xfrm>
            <a:off x="6262255" y="175454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pic>
        <p:nvPicPr>
          <p:cNvPr id="2" name="Picture 8"/>
          <p:cNvPicPr>
            <a:picLocks noChangeAspect="1"/>
          </p:cNvPicPr>
          <p:nvPr/>
        </p:nvPicPr>
        <p:blipFill>
          <a:blip r:embed="rId1">
            <a:clrChange>
              <a:clrFrom>
                <a:srgbClr val="FFFFFF"/>
              </a:clrFrom>
              <a:clrTo>
                <a:srgbClr val="FFFFFF">
                  <a:alpha val="0"/>
                </a:srgbClr>
              </a:clrTo>
            </a:clrChange>
          </a:blip>
          <a:stretch>
            <a:fillRect/>
          </a:stretch>
        </p:blipFill>
        <p:spPr>
          <a:xfrm>
            <a:off x="2952750" y="4129232"/>
            <a:ext cx="6045200" cy="2549525"/>
          </a:xfrm>
          <a:prstGeom prst="rect">
            <a:avLst/>
          </a:prstGeom>
          <a:noFill/>
          <a:ln w="9525">
            <a:noFill/>
          </a:ln>
        </p:spPr>
      </p:pic>
      <p:sp>
        <p:nvSpPr>
          <p:cNvPr id="3" name="Text Box 10"/>
          <p:cNvSpPr txBox="1"/>
          <p:nvPr/>
        </p:nvSpPr>
        <p:spPr>
          <a:xfrm>
            <a:off x="2374900" y="4326082"/>
            <a:ext cx="549275" cy="1920875"/>
          </a:xfrm>
          <a:prstGeom prst="rect">
            <a:avLst/>
          </a:prstGeom>
          <a:noFill/>
          <a:ln w="9525">
            <a:noFill/>
          </a:ln>
        </p:spPr>
        <p:txBody>
          <a:bodyPr vert="eaVert" wrap="none" anchor="t">
            <a:spAutoFit/>
          </a:bodyPr>
          <a:lstStyle/>
          <a:p>
            <a:pPr algn="ctr"/>
            <a:r>
              <a:rPr lang="zh-CN" altLang="en-US" sz="2400" dirty="0">
                <a:solidFill>
                  <a:schemeClr val="accent2"/>
                </a:solidFill>
                <a:latin typeface="Times New Roman" panose="02020603050405020304" pitchFamily="18" charset="0"/>
                <a:ea typeface="微软雅黑" panose="020B0503020204020204" pitchFamily="34" charset="-122"/>
              </a:rPr>
              <a:t>辅助索引文件</a:t>
            </a:r>
            <a:endParaRPr lang="zh-CN" altLang="en-US" sz="2400" dirty="0">
              <a:solidFill>
                <a:schemeClr val="accent2"/>
              </a:solidFill>
              <a:latin typeface="Times New Roman" panose="02020603050405020304" pitchFamily="18" charset="0"/>
              <a:ea typeface="微软雅黑" panose="020B0503020204020204" pitchFamily="34" charset="-122"/>
            </a:endParaRPr>
          </a:p>
        </p:txBody>
      </p:sp>
      <p:sp>
        <p:nvSpPr>
          <p:cNvPr id="4" name="Text Box 11"/>
          <p:cNvSpPr txBox="1"/>
          <p:nvPr/>
        </p:nvSpPr>
        <p:spPr>
          <a:xfrm>
            <a:off x="9055100" y="4872182"/>
            <a:ext cx="549275" cy="1006475"/>
          </a:xfrm>
          <a:prstGeom prst="rect">
            <a:avLst/>
          </a:prstGeom>
          <a:noFill/>
          <a:ln w="9525">
            <a:noFill/>
          </a:ln>
        </p:spPr>
        <p:txBody>
          <a:bodyPr vert="eaVert" wrap="none" anchor="t">
            <a:spAutoFit/>
          </a:bodyPr>
          <a:lstStyle/>
          <a:p>
            <a:pPr algn="ctr"/>
            <a:r>
              <a:rPr lang="zh-CN" altLang="en-US" sz="2400" dirty="0">
                <a:solidFill>
                  <a:schemeClr val="accent2"/>
                </a:solidFill>
                <a:latin typeface="Times New Roman" panose="02020603050405020304" pitchFamily="18" charset="0"/>
                <a:ea typeface="微软雅黑" panose="020B0503020204020204" pitchFamily="34" charset="-122"/>
              </a:rPr>
              <a:t>主文件</a:t>
            </a:r>
            <a:endParaRPr lang="zh-CN" altLang="en-US" sz="2400" dirty="0">
              <a:solidFill>
                <a:schemeClr val="accent2"/>
              </a:solidFill>
              <a:latin typeface="Times New Roman" panose="02020603050405020304" pitchFamily="18"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gn="just">
              <a:lnSpc>
                <a:spcPct val="14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主索引 </a:t>
            </a:r>
            <a:r>
              <a:rPr lang="en-US" altLang="zh-CN" sz="2600" dirty="0">
                <a:latin typeface="微软雅黑" panose="020B0503020204020204" pitchFamily="34" charset="-122"/>
                <a:ea typeface="微软雅黑" panose="020B0503020204020204" pitchFamily="34" charset="-122"/>
              </a:rPr>
              <a:t>vs. </a:t>
            </a:r>
            <a:r>
              <a:rPr lang="zh-CN" altLang="en-US" sz="2600" dirty="0">
                <a:latin typeface="微软雅黑" panose="020B0503020204020204" pitchFamily="34" charset="-122"/>
                <a:ea typeface="微软雅黑" panose="020B0503020204020204" pitchFamily="34" charset="-122"/>
              </a:rPr>
              <a:t>辅助索引</a:t>
            </a:r>
            <a:endParaRPr lang="en-US" altLang="zh-CN" sz="2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sz="1800" b="0" dirty="0"/>
              <a:t>一个主文件仅可以有一个主索引，但可以有多个辅助索引</a:t>
            </a:r>
            <a:endParaRPr lang="zh-CN" altLang="en-US" sz="1800" b="0" dirty="0"/>
          </a:p>
          <a:p>
            <a:pPr>
              <a:lnSpc>
                <a:spcPct val="100000"/>
              </a:lnSpc>
              <a:buFont typeface="Wingdings" panose="05000000000000000000" pitchFamily="2" charset="2"/>
              <a:buChar char="l"/>
            </a:pPr>
            <a:r>
              <a:rPr lang="zh-CN" altLang="en-US" sz="1800" b="0" dirty="0"/>
              <a:t>主索引通常建立于主码</a:t>
            </a:r>
            <a:r>
              <a:rPr lang="en-US" altLang="zh-CN" sz="1800" b="0" dirty="0"/>
              <a:t>/</a:t>
            </a:r>
            <a:r>
              <a:rPr lang="zh-CN" altLang="en-US" sz="1800" b="0" dirty="0"/>
              <a:t>排序码上面；辅助索引建立于其他属性上面</a:t>
            </a:r>
            <a:endParaRPr lang="zh-CN" altLang="en-US" sz="1800" b="0" dirty="0"/>
          </a:p>
          <a:p>
            <a:pPr>
              <a:lnSpc>
                <a:spcPct val="100000"/>
              </a:lnSpc>
              <a:buFont typeface="Wingdings" panose="05000000000000000000" pitchFamily="2" charset="2"/>
              <a:buChar char="l"/>
            </a:pPr>
            <a:r>
              <a:rPr lang="zh-CN" altLang="en-US" sz="1800" b="0" dirty="0"/>
              <a:t>可以利用主索引重新组织主文件数据，但辅助索引不能改变主文件数据</a:t>
            </a:r>
            <a:endParaRPr lang="zh-CN" altLang="en-US" sz="1800" b="0" dirty="0"/>
          </a:p>
          <a:p>
            <a:pPr>
              <a:lnSpc>
                <a:spcPct val="100000"/>
              </a:lnSpc>
              <a:buFont typeface="Wingdings" panose="05000000000000000000" pitchFamily="2" charset="2"/>
              <a:buChar char="l"/>
            </a:pPr>
            <a:r>
              <a:rPr lang="zh-CN" altLang="en-US" sz="1800" b="0" dirty="0"/>
              <a:t>主索引是稀疏索引，辅助索引是稠密索引</a:t>
            </a:r>
            <a:endParaRPr lang="zh-CN" altLang="en-US" sz="1800" b="0" dirty="0"/>
          </a:p>
          <a:p>
            <a:pPr>
              <a:lnSpc>
                <a:spcPct val="100000"/>
              </a:lnSpc>
              <a:buFont typeface="Wingdings" panose="05000000000000000000" pitchFamily="2" charset="2"/>
              <a:buChar char="l"/>
            </a:pPr>
            <a:endParaRPr lang="zh-CN" altLang="en-US" sz="1800" b="0" dirty="0"/>
          </a:p>
          <a:p>
            <a:pPr>
              <a:lnSpc>
                <a:spcPct val="100000"/>
              </a:lnSpc>
              <a:buFont typeface="Wingdings" panose="05000000000000000000" pitchFamily="2" charset="2"/>
              <a:buChar char="l"/>
            </a:pPr>
            <a:endParaRPr lang="zh-CN" altLang="en-US" sz="1800" b="0" dirty="0">
              <a:solidFill>
                <a:srgbClr val="FF0000"/>
              </a:solidFill>
            </a:endParaRPr>
          </a:p>
          <a:p>
            <a:pPr marL="228600" lvl="1">
              <a:lnSpc>
                <a:spcPct val="100000"/>
              </a:lnSpc>
              <a:spcBef>
                <a:spcPts val="1000"/>
              </a:spcBef>
              <a:buFont typeface="Wingdings" panose="05000000000000000000" pitchFamily="2" charset="2"/>
              <a:buChar char="l"/>
            </a:pPr>
            <a:endParaRPr lang="zh-CN" altLang="en-US" sz="1800" b="1"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-主索引与辅助索引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9" name="内容占位符 5"/>
          <p:cNvSpPr txBox="1"/>
          <p:nvPr/>
        </p:nvSpPr>
        <p:spPr>
          <a:xfrm>
            <a:off x="6262255" y="1925995"/>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p:txBody>
      </p:sp>
      <p:pic>
        <p:nvPicPr>
          <p:cNvPr id="8" name="Picture 5"/>
          <p:cNvPicPr>
            <a:picLocks noChangeAspect="1"/>
          </p:cNvPicPr>
          <p:nvPr/>
        </p:nvPicPr>
        <p:blipFill>
          <a:blip r:embed="rId1"/>
          <a:stretch>
            <a:fillRect/>
          </a:stretch>
        </p:blipFill>
        <p:spPr>
          <a:xfrm>
            <a:off x="8743950" y="2720253"/>
            <a:ext cx="2979738" cy="547688"/>
          </a:xfrm>
          <a:prstGeom prst="rect">
            <a:avLst/>
          </a:prstGeom>
          <a:noFill/>
          <a:ln w="9525">
            <a:noFill/>
          </a:ln>
        </p:spPr>
      </p:pic>
      <p:pic>
        <p:nvPicPr>
          <p:cNvPr id="10" name="Picture 6"/>
          <p:cNvPicPr>
            <a:picLocks noChangeAspect="1"/>
          </p:cNvPicPr>
          <p:nvPr/>
        </p:nvPicPr>
        <p:blipFill>
          <a:blip r:embed="rId2"/>
          <a:stretch>
            <a:fillRect/>
          </a:stretch>
        </p:blipFill>
        <p:spPr>
          <a:xfrm>
            <a:off x="8743950" y="3518766"/>
            <a:ext cx="2979738" cy="547687"/>
          </a:xfrm>
          <a:prstGeom prst="rect">
            <a:avLst/>
          </a:prstGeom>
          <a:noFill/>
          <a:ln w="9525">
            <a:noFill/>
          </a:ln>
        </p:spPr>
      </p:pic>
      <p:pic>
        <p:nvPicPr>
          <p:cNvPr id="11" name="Picture 7"/>
          <p:cNvPicPr>
            <a:picLocks noChangeAspect="1"/>
          </p:cNvPicPr>
          <p:nvPr/>
        </p:nvPicPr>
        <p:blipFill>
          <a:blip r:embed="rId3"/>
          <a:stretch>
            <a:fillRect/>
          </a:stretch>
        </p:blipFill>
        <p:spPr>
          <a:xfrm>
            <a:off x="8743950" y="4317278"/>
            <a:ext cx="2979738" cy="542925"/>
          </a:xfrm>
          <a:prstGeom prst="rect">
            <a:avLst/>
          </a:prstGeom>
          <a:noFill/>
          <a:ln w="9525">
            <a:noFill/>
          </a:ln>
        </p:spPr>
      </p:pic>
      <p:pic>
        <p:nvPicPr>
          <p:cNvPr id="12" name="Picture 8"/>
          <p:cNvPicPr>
            <a:picLocks noChangeAspect="1"/>
          </p:cNvPicPr>
          <p:nvPr/>
        </p:nvPicPr>
        <p:blipFill>
          <a:blip r:embed="rId4"/>
          <a:stretch>
            <a:fillRect/>
          </a:stretch>
        </p:blipFill>
        <p:spPr>
          <a:xfrm>
            <a:off x="8737600" y="2444028"/>
            <a:ext cx="2990850" cy="195263"/>
          </a:xfrm>
          <a:prstGeom prst="rect">
            <a:avLst/>
          </a:prstGeom>
          <a:noFill/>
          <a:ln w="9525">
            <a:noFill/>
          </a:ln>
        </p:spPr>
      </p:pic>
      <p:pic>
        <p:nvPicPr>
          <p:cNvPr id="13" name="Picture 9"/>
          <p:cNvPicPr>
            <a:picLocks noChangeAspect="1"/>
          </p:cNvPicPr>
          <p:nvPr/>
        </p:nvPicPr>
        <p:blipFill>
          <a:blip r:embed="rId5"/>
          <a:stretch>
            <a:fillRect/>
          </a:stretch>
        </p:blipFill>
        <p:spPr>
          <a:xfrm>
            <a:off x="6062663" y="3582266"/>
            <a:ext cx="1058862" cy="534987"/>
          </a:xfrm>
          <a:prstGeom prst="rect">
            <a:avLst/>
          </a:prstGeom>
          <a:noFill/>
          <a:ln w="9525">
            <a:noFill/>
          </a:ln>
        </p:spPr>
      </p:pic>
      <p:pic>
        <p:nvPicPr>
          <p:cNvPr id="14" name="Picture 10"/>
          <p:cNvPicPr>
            <a:picLocks noChangeAspect="1"/>
          </p:cNvPicPr>
          <p:nvPr/>
        </p:nvPicPr>
        <p:blipFill>
          <a:blip r:embed="rId6"/>
          <a:stretch>
            <a:fillRect/>
          </a:stretch>
        </p:blipFill>
        <p:spPr>
          <a:xfrm>
            <a:off x="6059488" y="3279053"/>
            <a:ext cx="1066800" cy="180975"/>
          </a:xfrm>
          <a:prstGeom prst="rect">
            <a:avLst/>
          </a:prstGeom>
          <a:noFill/>
          <a:ln w="9525">
            <a:noFill/>
          </a:ln>
        </p:spPr>
      </p:pic>
      <p:grpSp>
        <p:nvGrpSpPr>
          <p:cNvPr id="15" name="Group 17"/>
          <p:cNvGrpSpPr/>
          <p:nvPr/>
        </p:nvGrpSpPr>
        <p:grpSpPr>
          <a:xfrm>
            <a:off x="6902450" y="2879003"/>
            <a:ext cx="1895475" cy="1600200"/>
            <a:chOff x="1274" y="2432"/>
            <a:chExt cx="1152" cy="1008"/>
          </a:xfrm>
        </p:grpSpPr>
        <p:sp>
          <p:nvSpPr>
            <p:cNvPr id="16" name="Freeform 11"/>
            <p:cNvSpPr/>
            <p:nvPr/>
          </p:nvSpPr>
          <p:spPr>
            <a:xfrm>
              <a:off x="1282" y="2432"/>
              <a:ext cx="1144" cy="500"/>
            </a:xfrm>
            <a:custGeom>
              <a:avLst/>
              <a:gdLst/>
              <a:ahLst/>
              <a:cxnLst>
                <a:cxn ang="0">
                  <a:pos x="0" y="500"/>
                </a:cxn>
                <a:cxn ang="0">
                  <a:pos x="415" y="398"/>
                </a:cxn>
                <a:cxn ang="0">
                  <a:pos x="720" y="93"/>
                </a:cxn>
                <a:cxn ang="0">
                  <a:pos x="1093" y="0"/>
                </a:cxn>
              </a:cxnLst>
              <a:rect l="0" t="0" r="0" b="0"/>
              <a:pathLst>
                <a:path w="1093" h="500">
                  <a:moveTo>
                    <a:pt x="0" y="500"/>
                  </a:moveTo>
                  <a:cubicBezTo>
                    <a:pt x="69" y="483"/>
                    <a:pt x="295" y="466"/>
                    <a:pt x="415" y="398"/>
                  </a:cubicBezTo>
                  <a:cubicBezTo>
                    <a:pt x="535" y="330"/>
                    <a:pt x="607" y="159"/>
                    <a:pt x="720" y="93"/>
                  </a:cubicBezTo>
                  <a:cubicBezTo>
                    <a:pt x="833" y="27"/>
                    <a:pt x="963" y="6"/>
                    <a:pt x="1093" y="0"/>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7" name="Freeform 12"/>
            <p:cNvSpPr/>
            <p:nvPr/>
          </p:nvSpPr>
          <p:spPr>
            <a:xfrm>
              <a:off x="1282" y="3152"/>
              <a:ext cx="1135" cy="288"/>
            </a:xfrm>
            <a:custGeom>
              <a:avLst/>
              <a:gdLst/>
              <a:ahLst/>
              <a:cxnLst>
                <a:cxn ang="0">
                  <a:pos x="0" y="0"/>
                </a:cxn>
                <a:cxn ang="0">
                  <a:pos x="449" y="59"/>
                </a:cxn>
                <a:cxn ang="0">
                  <a:pos x="729" y="237"/>
                </a:cxn>
                <a:cxn ang="0">
                  <a:pos x="1135" y="288"/>
                </a:cxn>
              </a:cxnLst>
              <a:rect l="0" t="0" r="0" b="0"/>
              <a:pathLst>
                <a:path w="1135" h="288">
                  <a:moveTo>
                    <a:pt x="0" y="0"/>
                  </a:moveTo>
                  <a:cubicBezTo>
                    <a:pt x="75" y="10"/>
                    <a:pt x="328" y="20"/>
                    <a:pt x="449" y="59"/>
                  </a:cubicBezTo>
                  <a:cubicBezTo>
                    <a:pt x="570" y="98"/>
                    <a:pt x="615" y="199"/>
                    <a:pt x="729" y="237"/>
                  </a:cubicBezTo>
                  <a:cubicBezTo>
                    <a:pt x="843" y="275"/>
                    <a:pt x="1051" y="278"/>
                    <a:pt x="1135" y="288"/>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8" name="Freeform 13"/>
            <p:cNvSpPr/>
            <p:nvPr/>
          </p:nvSpPr>
          <p:spPr>
            <a:xfrm>
              <a:off x="1274" y="2912"/>
              <a:ext cx="1143" cy="140"/>
            </a:xfrm>
            <a:custGeom>
              <a:avLst/>
              <a:gdLst/>
              <a:ahLst/>
              <a:cxnLst>
                <a:cxn ang="0">
                  <a:pos x="0" y="130"/>
                </a:cxn>
                <a:cxn ang="0">
                  <a:pos x="339" y="122"/>
                </a:cxn>
                <a:cxn ang="0">
                  <a:pos x="686" y="20"/>
                </a:cxn>
                <a:cxn ang="0">
                  <a:pos x="1143" y="3"/>
                </a:cxn>
              </a:cxnLst>
              <a:rect l="0" t="0" r="0" b="0"/>
              <a:pathLst>
                <a:path w="1143" h="140">
                  <a:moveTo>
                    <a:pt x="0" y="130"/>
                  </a:moveTo>
                  <a:cubicBezTo>
                    <a:pt x="112" y="135"/>
                    <a:pt x="225" y="140"/>
                    <a:pt x="339" y="122"/>
                  </a:cubicBezTo>
                  <a:cubicBezTo>
                    <a:pt x="453" y="104"/>
                    <a:pt x="552" y="40"/>
                    <a:pt x="686" y="20"/>
                  </a:cubicBezTo>
                  <a:cubicBezTo>
                    <a:pt x="820" y="0"/>
                    <a:pt x="981" y="1"/>
                    <a:pt x="1143" y="3"/>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grpSp>
      <p:sp>
        <p:nvSpPr>
          <p:cNvPr id="20" name="Text Box 16"/>
          <p:cNvSpPr txBox="1"/>
          <p:nvPr/>
        </p:nvSpPr>
        <p:spPr>
          <a:xfrm>
            <a:off x="9780156" y="4993553"/>
            <a:ext cx="877163" cy="369332"/>
          </a:xfrm>
          <a:prstGeom prst="rect">
            <a:avLst/>
          </a:prstGeom>
          <a:noFill/>
          <a:ln w="9525">
            <a:noFill/>
          </a:ln>
        </p:spPr>
        <p:txBody>
          <a:bodyPr wrap="none"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主文件</a:t>
            </a:r>
            <a:endParaRPr lang="zh-CN" altLang="en-US" dirty="0">
              <a:solidFill>
                <a:schemeClr val="accent2"/>
              </a:solidFill>
              <a:latin typeface="Times New Roman" panose="02020603050405020304" pitchFamily="18" charset="0"/>
              <a:ea typeface="微软雅黑" panose="020B0503020204020204" pitchFamily="34" charset="-122"/>
            </a:endParaRPr>
          </a:p>
        </p:txBody>
      </p:sp>
      <p:pic>
        <p:nvPicPr>
          <p:cNvPr id="21" name="Picture 18"/>
          <p:cNvPicPr>
            <a:picLocks noChangeAspect="1"/>
          </p:cNvPicPr>
          <p:nvPr/>
        </p:nvPicPr>
        <p:blipFill>
          <a:blip r:embed="rId7"/>
          <a:stretch>
            <a:fillRect/>
          </a:stretch>
        </p:blipFill>
        <p:spPr>
          <a:xfrm>
            <a:off x="5130800" y="4580803"/>
            <a:ext cx="747713" cy="2173288"/>
          </a:xfrm>
          <a:prstGeom prst="rect">
            <a:avLst/>
          </a:prstGeom>
          <a:noFill/>
          <a:ln w="9525">
            <a:noFill/>
          </a:ln>
        </p:spPr>
      </p:pic>
      <p:pic>
        <p:nvPicPr>
          <p:cNvPr id="22" name="Picture 19"/>
          <p:cNvPicPr>
            <a:picLocks noChangeAspect="1"/>
          </p:cNvPicPr>
          <p:nvPr/>
        </p:nvPicPr>
        <p:blipFill>
          <a:blip r:embed="rId8"/>
          <a:stretch>
            <a:fillRect/>
          </a:stretch>
        </p:blipFill>
        <p:spPr>
          <a:xfrm>
            <a:off x="3255278" y="5195888"/>
            <a:ext cx="1219200" cy="1114425"/>
          </a:xfrm>
          <a:prstGeom prst="rect">
            <a:avLst/>
          </a:prstGeom>
          <a:noFill/>
          <a:ln w="9525">
            <a:noFill/>
          </a:ln>
        </p:spPr>
      </p:pic>
      <p:sp>
        <p:nvSpPr>
          <p:cNvPr id="23" name="Freeform 22"/>
          <p:cNvSpPr/>
          <p:nvPr/>
        </p:nvSpPr>
        <p:spPr>
          <a:xfrm>
            <a:off x="4463278" y="5030860"/>
            <a:ext cx="657313" cy="844622"/>
          </a:xfrm>
          <a:custGeom>
            <a:avLst/>
            <a:gdLst/>
            <a:ahLst/>
            <a:cxnLst>
              <a:cxn ang="0">
                <a:pos x="0" y="348"/>
              </a:cxn>
              <a:cxn ang="0">
                <a:pos x="172" y="237"/>
              </a:cxn>
              <a:cxn ang="0">
                <a:pos x="273" y="35"/>
              </a:cxn>
              <a:cxn ang="0">
                <a:pos x="395" y="25"/>
              </a:cxn>
            </a:cxnLst>
            <a:rect l="0" t="0" r="0" b="0"/>
            <a:pathLst>
              <a:path w="395" h="348">
                <a:moveTo>
                  <a:pt x="0" y="348"/>
                </a:moveTo>
                <a:cubicBezTo>
                  <a:pt x="63" y="318"/>
                  <a:pt x="127" y="289"/>
                  <a:pt x="172" y="237"/>
                </a:cubicBezTo>
                <a:cubicBezTo>
                  <a:pt x="217" y="185"/>
                  <a:pt x="236" y="70"/>
                  <a:pt x="273" y="35"/>
                </a:cubicBezTo>
                <a:cubicBezTo>
                  <a:pt x="310" y="0"/>
                  <a:pt x="352" y="12"/>
                  <a:pt x="395" y="25"/>
                </a:cubicBezTo>
              </a:path>
            </a:pathLst>
          </a:custGeom>
          <a:noFill/>
          <a:ln w="9525" cap="flat" cmpd="sng">
            <a:solidFill>
              <a:srgbClr val="CC0000"/>
            </a:solidFill>
            <a:prstDash val="solid"/>
            <a:round/>
            <a:headEnd type="none" w="med" len="med"/>
            <a:tailEnd type="triangle" w="med" len="med"/>
          </a:ln>
        </p:spPr>
        <p:txBody>
          <a:bodyPr/>
          <a:lstStyle/>
          <a:p>
            <a:endParaRPr lang="zh-CN" altLang="en-US"/>
          </a:p>
        </p:txBody>
      </p:sp>
      <p:sp>
        <p:nvSpPr>
          <p:cNvPr id="24" name="Freeform 23"/>
          <p:cNvSpPr/>
          <p:nvPr/>
        </p:nvSpPr>
        <p:spPr>
          <a:xfrm>
            <a:off x="4431528" y="5875482"/>
            <a:ext cx="706438" cy="63500"/>
          </a:xfrm>
          <a:custGeom>
            <a:avLst/>
            <a:gdLst/>
            <a:ahLst/>
            <a:cxnLst>
              <a:cxn ang="0">
                <a:pos x="0" y="0"/>
              </a:cxn>
              <a:cxn ang="0">
                <a:pos x="273" y="40"/>
              </a:cxn>
              <a:cxn ang="0">
                <a:pos x="445" y="0"/>
              </a:cxn>
            </a:cxnLst>
            <a:rect l="0" t="0" r="0" b="0"/>
            <a:pathLst>
              <a:path w="445" h="40">
                <a:moveTo>
                  <a:pt x="0" y="0"/>
                </a:moveTo>
                <a:cubicBezTo>
                  <a:pt x="45" y="7"/>
                  <a:pt x="199" y="40"/>
                  <a:pt x="273" y="40"/>
                </a:cubicBezTo>
                <a:cubicBezTo>
                  <a:pt x="347" y="40"/>
                  <a:pt x="409" y="8"/>
                  <a:pt x="445" y="0"/>
                </a:cubicBezTo>
              </a:path>
            </a:pathLst>
          </a:custGeom>
          <a:noFill/>
          <a:ln w="9525" cap="flat" cmpd="sng">
            <a:solidFill>
              <a:srgbClr val="CC0000"/>
            </a:solidFill>
            <a:prstDash val="solid"/>
            <a:round/>
            <a:headEnd type="none" w="med" len="med"/>
            <a:tailEnd type="triangle" w="med" len="med"/>
          </a:ln>
        </p:spPr>
        <p:txBody>
          <a:bodyPr/>
          <a:lstStyle/>
          <a:p>
            <a:endParaRPr lang="zh-CN" altLang="en-US"/>
          </a:p>
        </p:txBody>
      </p:sp>
      <p:sp>
        <p:nvSpPr>
          <p:cNvPr id="25" name="Freeform 24"/>
          <p:cNvSpPr/>
          <p:nvPr/>
        </p:nvSpPr>
        <p:spPr>
          <a:xfrm>
            <a:off x="4468470" y="5880425"/>
            <a:ext cx="697624" cy="642451"/>
          </a:xfrm>
          <a:custGeom>
            <a:avLst/>
            <a:gdLst/>
            <a:ahLst/>
            <a:cxnLst>
              <a:cxn ang="0">
                <a:pos x="0" y="0"/>
              </a:cxn>
              <a:cxn ang="0">
                <a:pos x="162" y="344"/>
              </a:cxn>
              <a:cxn ang="0">
                <a:pos x="425" y="475"/>
              </a:cxn>
            </a:cxnLst>
            <a:rect l="0" t="0" r="0" b="0"/>
            <a:pathLst>
              <a:path w="425" h="475">
                <a:moveTo>
                  <a:pt x="0" y="0"/>
                </a:moveTo>
                <a:cubicBezTo>
                  <a:pt x="27" y="57"/>
                  <a:pt x="91" y="265"/>
                  <a:pt x="162" y="344"/>
                </a:cubicBezTo>
                <a:cubicBezTo>
                  <a:pt x="233" y="423"/>
                  <a:pt x="370" y="448"/>
                  <a:pt x="425" y="475"/>
                </a:cubicBezTo>
              </a:path>
            </a:pathLst>
          </a:custGeom>
          <a:noFill/>
          <a:ln w="9525" cap="flat" cmpd="sng">
            <a:solidFill>
              <a:srgbClr val="CC0000"/>
            </a:solidFill>
            <a:prstDash val="solid"/>
            <a:round/>
            <a:headEnd type="none" w="med" len="med"/>
            <a:tailEnd type="triangle" w="med" len="med"/>
          </a:ln>
        </p:spPr>
        <p:txBody>
          <a:bodyPr/>
          <a:lstStyle/>
          <a:p>
            <a:endParaRPr lang="zh-CN" altLang="en-US"/>
          </a:p>
        </p:txBody>
      </p:sp>
      <p:sp>
        <p:nvSpPr>
          <p:cNvPr id="26" name="Freeform 40"/>
          <p:cNvSpPr/>
          <p:nvPr/>
        </p:nvSpPr>
        <p:spPr>
          <a:xfrm>
            <a:off x="5746750" y="2807566"/>
            <a:ext cx="3090863" cy="1873250"/>
          </a:xfrm>
          <a:custGeom>
            <a:avLst/>
            <a:gdLst/>
            <a:ahLst/>
            <a:cxnLst>
              <a:cxn ang="0">
                <a:pos x="0" y="1152"/>
              </a:cxn>
              <a:cxn ang="0">
                <a:pos x="896" y="1152"/>
              </a:cxn>
              <a:cxn ang="0">
                <a:pos x="1920" y="0"/>
              </a:cxn>
            </a:cxnLst>
            <a:rect l="0" t="0" r="0" b="0"/>
            <a:pathLst>
              <a:path w="1920" h="1152">
                <a:moveTo>
                  <a:pt x="0" y="1152"/>
                </a:moveTo>
                <a:lnTo>
                  <a:pt x="896" y="1152"/>
                </a:lnTo>
                <a:lnTo>
                  <a:pt x="1920" y="0"/>
                </a:lnTo>
              </a:path>
            </a:pathLst>
          </a:custGeom>
          <a:noFill/>
          <a:ln w="28575" cap="flat" cmpd="sng">
            <a:solidFill>
              <a:schemeClr val="accent2"/>
            </a:solidFill>
            <a:prstDash val="solid"/>
            <a:round/>
            <a:headEnd type="none" w="med" len="med"/>
            <a:tailEnd type="triangle" w="med" len="med"/>
          </a:ln>
        </p:spPr>
        <p:txBody>
          <a:bodyPr/>
          <a:lstStyle/>
          <a:p>
            <a:endParaRPr lang="zh-CN" altLang="en-US"/>
          </a:p>
        </p:txBody>
      </p:sp>
      <p:sp>
        <p:nvSpPr>
          <p:cNvPr id="27" name="Freeform 41"/>
          <p:cNvSpPr/>
          <p:nvPr/>
        </p:nvSpPr>
        <p:spPr>
          <a:xfrm>
            <a:off x="5730875" y="3577503"/>
            <a:ext cx="3151188" cy="1350963"/>
          </a:xfrm>
          <a:custGeom>
            <a:avLst/>
            <a:gdLst/>
            <a:ahLst/>
            <a:cxnLst>
              <a:cxn ang="0">
                <a:pos x="0" y="805"/>
              </a:cxn>
              <a:cxn ang="0">
                <a:pos x="960" y="805"/>
              </a:cxn>
              <a:cxn ang="0">
                <a:pos x="1966" y="0"/>
              </a:cxn>
            </a:cxnLst>
            <a:rect l="0" t="0" r="0" b="0"/>
            <a:pathLst>
              <a:path w="1966" h="805">
                <a:moveTo>
                  <a:pt x="0" y="805"/>
                </a:moveTo>
                <a:lnTo>
                  <a:pt x="960" y="805"/>
                </a:lnTo>
                <a:lnTo>
                  <a:pt x="1966" y="0"/>
                </a:lnTo>
              </a:path>
            </a:pathLst>
          </a:custGeom>
          <a:noFill/>
          <a:ln w="28575" cap="flat" cmpd="sng">
            <a:solidFill>
              <a:schemeClr val="accent2"/>
            </a:solidFill>
            <a:prstDash val="solid"/>
            <a:round/>
            <a:headEnd type="none" w="med" len="med"/>
            <a:tailEnd type="triangle" w="med" len="med"/>
          </a:ln>
        </p:spPr>
        <p:txBody>
          <a:bodyPr/>
          <a:lstStyle/>
          <a:p>
            <a:endParaRPr lang="zh-CN" altLang="en-US"/>
          </a:p>
        </p:txBody>
      </p:sp>
      <p:sp>
        <p:nvSpPr>
          <p:cNvPr id="28" name="Freeform 42"/>
          <p:cNvSpPr/>
          <p:nvPr/>
        </p:nvSpPr>
        <p:spPr>
          <a:xfrm>
            <a:off x="5745163" y="4753841"/>
            <a:ext cx="3149600" cy="420687"/>
          </a:xfrm>
          <a:custGeom>
            <a:avLst/>
            <a:gdLst/>
            <a:ahLst/>
            <a:cxnLst>
              <a:cxn ang="0">
                <a:pos x="0" y="256"/>
              </a:cxn>
              <a:cxn ang="0">
                <a:pos x="1088" y="265"/>
              </a:cxn>
              <a:cxn ang="0">
                <a:pos x="1984" y="0"/>
              </a:cxn>
            </a:cxnLst>
            <a:rect l="0" t="0" r="0" b="0"/>
            <a:pathLst>
              <a:path w="1984" h="265">
                <a:moveTo>
                  <a:pt x="0" y="256"/>
                </a:moveTo>
                <a:lnTo>
                  <a:pt x="1088" y="265"/>
                </a:lnTo>
                <a:lnTo>
                  <a:pt x="1984" y="0"/>
                </a:lnTo>
              </a:path>
            </a:pathLst>
          </a:custGeom>
          <a:noFill/>
          <a:ln w="28575" cap="flat" cmpd="sng">
            <a:solidFill>
              <a:schemeClr val="accent2"/>
            </a:solidFill>
            <a:prstDash val="solid"/>
            <a:round/>
            <a:headEnd type="none" w="med" len="med"/>
            <a:tailEnd type="triangle" w="med" len="med"/>
          </a:ln>
        </p:spPr>
        <p:txBody>
          <a:bodyPr/>
          <a:lstStyle/>
          <a:p>
            <a:endParaRPr lang="zh-CN" altLang="en-US"/>
          </a:p>
        </p:txBody>
      </p:sp>
      <p:sp>
        <p:nvSpPr>
          <p:cNvPr id="29" name="Freeform 43"/>
          <p:cNvSpPr/>
          <p:nvPr/>
        </p:nvSpPr>
        <p:spPr>
          <a:xfrm>
            <a:off x="5688013" y="3171103"/>
            <a:ext cx="3178175" cy="2265363"/>
          </a:xfrm>
          <a:custGeom>
            <a:avLst/>
            <a:gdLst/>
            <a:ahLst/>
            <a:cxnLst>
              <a:cxn ang="0">
                <a:pos x="0" y="1427"/>
              </a:cxn>
              <a:cxn ang="0">
                <a:pos x="1262" y="1427"/>
              </a:cxn>
              <a:cxn ang="0">
                <a:pos x="1262" y="247"/>
              </a:cxn>
              <a:cxn ang="0">
                <a:pos x="2002" y="0"/>
              </a:cxn>
            </a:cxnLst>
            <a:rect l="0" t="0" r="0" b="0"/>
            <a:pathLst>
              <a:path w="2002" h="1427">
                <a:moveTo>
                  <a:pt x="0" y="1427"/>
                </a:moveTo>
                <a:lnTo>
                  <a:pt x="1262" y="1427"/>
                </a:lnTo>
                <a:lnTo>
                  <a:pt x="1262" y="247"/>
                </a:lnTo>
                <a:lnTo>
                  <a:pt x="2002" y="0"/>
                </a:lnTo>
              </a:path>
            </a:pathLst>
          </a:custGeom>
          <a:noFill/>
          <a:ln w="28575" cap="flat" cmpd="sng">
            <a:solidFill>
              <a:srgbClr val="33CC33"/>
            </a:solidFill>
            <a:prstDash val="solid"/>
            <a:round/>
            <a:headEnd type="none" w="med" len="med"/>
            <a:tailEnd type="triangle" w="med" len="med"/>
          </a:ln>
        </p:spPr>
        <p:txBody>
          <a:bodyPr/>
          <a:lstStyle/>
          <a:p>
            <a:endParaRPr lang="zh-CN" altLang="en-US"/>
          </a:p>
        </p:txBody>
      </p:sp>
      <p:sp>
        <p:nvSpPr>
          <p:cNvPr id="30" name="Freeform 44"/>
          <p:cNvSpPr/>
          <p:nvPr/>
        </p:nvSpPr>
        <p:spPr>
          <a:xfrm>
            <a:off x="5702300" y="3780703"/>
            <a:ext cx="3163888" cy="1901825"/>
          </a:xfrm>
          <a:custGeom>
            <a:avLst/>
            <a:gdLst/>
            <a:ahLst/>
            <a:cxnLst>
              <a:cxn ang="0">
                <a:pos x="0" y="1198"/>
              </a:cxn>
              <a:cxn ang="0">
                <a:pos x="1444" y="1189"/>
              </a:cxn>
              <a:cxn ang="0">
                <a:pos x="1436" y="37"/>
              </a:cxn>
              <a:cxn ang="0">
                <a:pos x="2057" y="0"/>
              </a:cxn>
            </a:cxnLst>
            <a:rect l="0" t="0" r="0" b="0"/>
            <a:pathLst>
              <a:path w="2057" h="1198">
                <a:moveTo>
                  <a:pt x="0" y="1198"/>
                </a:moveTo>
                <a:lnTo>
                  <a:pt x="1444" y="1189"/>
                </a:lnTo>
                <a:lnTo>
                  <a:pt x="1436" y="37"/>
                </a:lnTo>
                <a:lnTo>
                  <a:pt x="2057" y="0"/>
                </a:lnTo>
              </a:path>
            </a:pathLst>
          </a:custGeom>
          <a:noFill/>
          <a:ln w="28575" cap="flat" cmpd="sng">
            <a:solidFill>
              <a:srgbClr val="33CC33"/>
            </a:solidFill>
            <a:prstDash val="solid"/>
            <a:round/>
            <a:headEnd type="none" w="med" len="med"/>
            <a:tailEnd type="triangle" w="med" len="med"/>
          </a:ln>
        </p:spPr>
        <p:txBody>
          <a:bodyPr/>
          <a:lstStyle/>
          <a:p>
            <a:endParaRPr lang="zh-CN" altLang="en-US"/>
          </a:p>
        </p:txBody>
      </p:sp>
      <p:sp>
        <p:nvSpPr>
          <p:cNvPr id="31" name="Freeform 46"/>
          <p:cNvSpPr/>
          <p:nvPr/>
        </p:nvSpPr>
        <p:spPr>
          <a:xfrm>
            <a:off x="5716588" y="3955328"/>
            <a:ext cx="3149600" cy="1974850"/>
          </a:xfrm>
          <a:custGeom>
            <a:avLst/>
            <a:gdLst/>
            <a:ahLst/>
            <a:cxnLst>
              <a:cxn ang="0">
                <a:pos x="0" y="1344"/>
              </a:cxn>
              <a:cxn ang="0">
                <a:pos x="1564" y="1354"/>
              </a:cxn>
              <a:cxn ang="0">
                <a:pos x="1545" y="92"/>
              </a:cxn>
              <a:cxn ang="0">
                <a:pos x="1984" y="0"/>
              </a:cxn>
            </a:cxnLst>
            <a:rect l="0" t="0" r="0" b="0"/>
            <a:pathLst>
              <a:path w="1984" h="1354">
                <a:moveTo>
                  <a:pt x="0" y="1344"/>
                </a:moveTo>
                <a:lnTo>
                  <a:pt x="1564" y="1354"/>
                </a:lnTo>
                <a:lnTo>
                  <a:pt x="1545" y="92"/>
                </a:lnTo>
                <a:lnTo>
                  <a:pt x="1984" y="0"/>
                </a:lnTo>
              </a:path>
            </a:pathLst>
          </a:custGeom>
          <a:noFill/>
          <a:ln w="28575" cap="flat" cmpd="sng">
            <a:solidFill>
              <a:srgbClr val="33CC33"/>
            </a:solidFill>
            <a:prstDash val="solid"/>
            <a:round/>
            <a:headEnd type="none" w="med" len="med"/>
            <a:tailEnd type="triangle" w="med" len="med"/>
          </a:ln>
        </p:spPr>
        <p:txBody>
          <a:bodyPr/>
          <a:lstStyle/>
          <a:p>
            <a:endParaRPr lang="zh-CN" altLang="en-US"/>
          </a:p>
        </p:txBody>
      </p:sp>
      <p:sp>
        <p:nvSpPr>
          <p:cNvPr id="32" name="Freeform 47"/>
          <p:cNvSpPr/>
          <p:nvPr/>
        </p:nvSpPr>
        <p:spPr>
          <a:xfrm>
            <a:off x="5761038" y="4579216"/>
            <a:ext cx="3076575" cy="1538287"/>
          </a:xfrm>
          <a:custGeom>
            <a:avLst/>
            <a:gdLst/>
            <a:ahLst/>
            <a:cxnLst>
              <a:cxn ang="0">
                <a:pos x="0" y="969"/>
              </a:cxn>
              <a:cxn ang="0">
                <a:pos x="1645" y="960"/>
              </a:cxn>
              <a:cxn ang="0">
                <a:pos x="1636" y="37"/>
              </a:cxn>
              <a:cxn ang="0">
                <a:pos x="1938" y="0"/>
              </a:cxn>
            </a:cxnLst>
            <a:rect l="0" t="0" r="0" b="0"/>
            <a:pathLst>
              <a:path w="1938" h="969">
                <a:moveTo>
                  <a:pt x="0" y="969"/>
                </a:moveTo>
                <a:lnTo>
                  <a:pt x="1645" y="960"/>
                </a:lnTo>
                <a:lnTo>
                  <a:pt x="1636" y="37"/>
                </a:lnTo>
                <a:lnTo>
                  <a:pt x="1938" y="0"/>
                </a:lnTo>
              </a:path>
            </a:pathLst>
          </a:custGeom>
          <a:noFill/>
          <a:ln w="28575" cap="flat" cmpd="sng">
            <a:solidFill>
              <a:srgbClr val="33CC33"/>
            </a:solidFill>
            <a:prstDash val="solid"/>
            <a:round/>
            <a:headEnd type="none" w="med" len="med"/>
            <a:tailEnd type="triangle" w="med" len="med"/>
          </a:ln>
        </p:spPr>
        <p:txBody>
          <a:bodyPr/>
          <a:lstStyle/>
          <a:p>
            <a:endParaRPr lang="zh-CN" altLang="en-US"/>
          </a:p>
        </p:txBody>
      </p:sp>
      <p:sp>
        <p:nvSpPr>
          <p:cNvPr id="33" name="Freeform 48"/>
          <p:cNvSpPr/>
          <p:nvPr/>
        </p:nvSpPr>
        <p:spPr>
          <a:xfrm>
            <a:off x="5745163" y="3012353"/>
            <a:ext cx="3163887" cy="3395663"/>
          </a:xfrm>
          <a:custGeom>
            <a:avLst/>
            <a:gdLst/>
            <a:ahLst/>
            <a:cxnLst>
              <a:cxn ang="0">
                <a:pos x="0" y="2139"/>
              </a:cxn>
              <a:cxn ang="0">
                <a:pos x="1051" y="2139"/>
              </a:cxn>
              <a:cxn ang="0">
                <a:pos x="1042" y="201"/>
              </a:cxn>
              <a:cxn ang="0">
                <a:pos x="1993" y="0"/>
              </a:cxn>
            </a:cxnLst>
            <a:rect l="0" t="0" r="0" b="0"/>
            <a:pathLst>
              <a:path w="1993" h="2139">
                <a:moveTo>
                  <a:pt x="0" y="2139"/>
                </a:moveTo>
                <a:lnTo>
                  <a:pt x="1051" y="2139"/>
                </a:lnTo>
                <a:lnTo>
                  <a:pt x="1042" y="201"/>
                </a:lnTo>
                <a:lnTo>
                  <a:pt x="1993" y="0"/>
                </a:lnTo>
              </a:path>
            </a:pathLst>
          </a:custGeom>
          <a:noFill/>
          <a:ln w="28575" cap="flat" cmpd="sng">
            <a:solidFill>
              <a:srgbClr val="666633"/>
            </a:solidFill>
            <a:prstDash val="solid"/>
            <a:round/>
            <a:headEnd type="none" w="med" len="med"/>
            <a:tailEnd type="triangle" w="med" len="med"/>
          </a:ln>
        </p:spPr>
        <p:txBody>
          <a:bodyPr/>
          <a:lstStyle/>
          <a:p>
            <a:endParaRPr lang="zh-CN" altLang="en-US"/>
          </a:p>
        </p:txBody>
      </p:sp>
      <p:sp>
        <p:nvSpPr>
          <p:cNvPr id="34" name="Freeform 49"/>
          <p:cNvSpPr/>
          <p:nvPr/>
        </p:nvSpPr>
        <p:spPr>
          <a:xfrm>
            <a:off x="5764213" y="4418878"/>
            <a:ext cx="3090862" cy="2206625"/>
          </a:xfrm>
          <a:custGeom>
            <a:avLst/>
            <a:gdLst/>
            <a:ahLst/>
            <a:cxnLst>
              <a:cxn ang="0">
                <a:pos x="0" y="1408"/>
              </a:cxn>
              <a:cxn ang="0">
                <a:pos x="1892" y="1408"/>
              </a:cxn>
              <a:cxn ang="0">
                <a:pos x="1883" y="18"/>
              </a:cxn>
              <a:cxn ang="0">
                <a:pos x="2121" y="0"/>
              </a:cxn>
            </a:cxnLst>
            <a:rect l="0" t="0" r="0" b="0"/>
            <a:pathLst>
              <a:path w="2121" h="1408">
                <a:moveTo>
                  <a:pt x="0" y="1408"/>
                </a:moveTo>
                <a:lnTo>
                  <a:pt x="1892" y="1408"/>
                </a:lnTo>
                <a:lnTo>
                  <a:pt x="1883" y="18"/>
                </a:lnTo>
                <a:lnTo>
                  <a:pt x="2121" y="0"/>
                </a:lnTo>
              </a:path>
            </a:pathLst>
          </a:custGeom>
          <a:noFill/>
          <a:ln w="28575" cap="flat" cmpd="sng">
            <a:solidFill>
              <a:srgbClr val="666633"/>
            </a:solidFill>
            <a:prstDash val="solid"/>
            <a:round/>
            <a:headEnd type="none" w="med" len="med"/>
            <a:tailEnd type="triangle" w="med" len="med"/>
          </a:ln>
        </p:spPr>
        <p:txBody>
          <a:bodyPr/>
          <a:lstStyle/>
          <a:p>
            <a:endParaRPr lang="zh-CN" altLang="en-US"/>
          </a:p>
        </p:txBody>
      </p:sp>
      <p:sp>
        <p:nvSpPr>
          <p:cNvPr id="35" name="Text Box 50"/>
          <p:cNvSpPr txBox="1"/>
          <p:nvPr/>
        </p:nvSpPr>
        <p:spPr>
          <a:xfrm>
            <a:off x="3063963" y="6355021"/>
            <a:ext cx="1569660" cy="369332"/>
          </a:xfrm>
          <a:prstGeom prst="rect">
            <a:avLst/>
          </a:prstGeom>
          <a:noFill/>
          <a:ln w="9525">
            <a:noFill/>
          </a:ln>
        </p:spPr>
        <p:txBody>
          <a:bodyPr wrap="none"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辅助索引文件</a:t>
            </a:r>
            <a:endParaRPr lang="zh-CN" altLang="en-US" dirty="0">
              <a:solidFill>
                <a:schemeClr val="accent2"/>
              </a:solidFill>
              <a:latin typeface="Times New Roman" panose="02020603050405020304" pitchFamily="18" charset="0"/>
              <a:ea typeface="微软雅黑" panose="020B0503020204020204" pitchFamily="34" charset="-122"/>
            </a:endParaRPr>
          </a:p>
        </p:txBody>
      </p:sp>
      <p:grpSp>
        <p:nvGrpSpPr>
          <p:cNvPr id="36" name="Group 52"/>
          <p:cNvGrpSpPr/>
          <p:nvPr/>
        </p:nvGrpSpPr>
        <p:grpSpPr>
          <a:xfrm>
            <a:off x="4528453" y="3621231"/>
            <a:ext cx="1724025" cy="793750"/>
            <a:chOff x="1100" y="3243"/>
            <a:chExt cx="1494" cy="654"/>
          </a:xfrm>
        </p:grpSpPr>
        <p:sp>
          <p:nvSpPr>
            <p:cNvPr id="37" name="AutoShape 39"/>
            <p:cNvSpPr/>
            <p:nvPr/>
          </p:nvSpPr>
          <p:spPr>
            <a:xfrm>
              <a:off x="1265" y="3268"/>
              <a:ext cx="1153" cy="629"/>
            </a:xfrm>
            <a:prstGeom prst="ellipse">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38" name="Oval 40"/>
            <p:cNvSpPr/>
            <p:nvPr/>
          </p:nvSpPr>
          <p:spPr>
            <a:xfrm>
              <a:off x="1310" y="3308"/>
              <a:ext cx="1069" cy="549"/>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39" name="Text Box 84"/>
            <p:cNvSpPr/>
            <p:nvPr/>
          </p:nvSpPr>
          <p:spPr>
            <a:xfrm>
              <a:off x="1100" y="3243"/>
              <a:ext cx="1494" cy="573"/>
            </a:xfrm>
            <a:prstGeom prst="ellipse">
              <a:avLst/>
            </a:prstGeom>
            <a:noFill/>
            <a:ln w="9525">
              <a:noFill/>
            </a:ln>
          </p:spPr>
          <p:txBody>
            <a:bodyPr anchor="t">
              <a:spAutoFit/>
            </a:bodyPr>
            <a:lstStyle/>
            <a:p>
              <a:pPr algn="ctr">
                <a:spcBef>
                  <a:spcPct val="35000"/>
                </a:spcBef>
              </a:pPr>
              <a:r>
                <a:rPr lang="zh-CN" altLang="en-US" sz="1400" dirty="0">
                  <a:solidFill>
                    <a:schemeClr val="accent2"/>
                  </a:solidFill>
                  <a:latin typeface="Arial" panose="020B0604020202020204" pitchFamily="34" charset="0"/>
                  <a:ea typeface="微软雅黑" panose="020B0503020204020204" pitchFamily="34" charset="-122"/>
                </a:rPr>
                <a:t>主索引指针指向块地址</a:t>
              </a:r>
              <a:endParaRPr lang="zh-CN" altLang="en-US" sz="1400" dirty="0">
                <a:solidFill>
                  <a:schemeClr val="accent2"/>
                </a:solidFill>
                <a:latin typeface="Arial" panose="020B0604020202020204" pitchFamily="34" charset="0"/>
                <a:ea typeface="微软雅黑" panose="020B0503020204020204" pitchFamily="34" charset="-122"/>
              </a:endParaRPr>
            </a:p>
          </p:txBody>
        </p:sp>
      </p:grpSp>
      <p:grpSp>
        <p:nvGrpSpPr>
          <p:cNvPr id="40" name="Group 56"/>
          <p:cNvGrpSpPr/>
          <p:nvPr/>
        </p:nvGrpSpPr>
        <p:grpSpPr>
          <a:xfrm>
            <a:off x="8508854" y="5591763"/>
            <a:ext cx="1795463" cy="1063898"/>
            <a:chOff x="1121" y="3268"/>
            <a:chExt cx="1493" cy="673"/>
          </a:xfrm>
        </p:grpSpPr>
        <p:sp>
          <p:nvSpPr>
            <p:cNvPr id="41" name="AutoShape 39"/>
            <p:cNvSpPr/>
            <p:nvPr/>
          </p:nvSpPr>
          <p:spPr>
            <a:xfrm>
              <a:off x="1265" y="3268"/>
              <a:ext cx="1153" cy="629"/>
            </a:xfrm>
            <a:prstGeom prst="ellipse">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42" name="Oval 40"/>
            <p:cNvSpPr/>
            <p:nvPr/>
          </p:nvSpPr>
          <p:spPr>
            <a:xfrm>
              <a:off x="1310" y="3308"/>
              <a:ext cx="1069" cy="549"/>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微软雅黑" panose="020B0503020204020204" pitchFamily="34" charset="-122"/>
              </a:endParaRPr>
            </a:p>
          </p:txBody>
        </p:sp>
        <p:sp>
          <p:nvSpPr>
            <p:cNvPr id="43" name="Text Box 84"/>
            <p:cNvSpPr/>
            <p:nvPr/>
          </p:nvSpPr>
          <p:spPr>
            <a:xfrm>
              <a:off x="1121" y="3284"/>
              <a:ext cx="1493" cy="657"/>
            </a:xfrm>
            <a:prstGeom prst="ellipse">
              <a:avLst/>
            </a:prstGeom>
            <a:noFill/>
            <a:ln w="9525">
              <a:noFill/>
            </a:ln>
          </p:spPr>
          <p:txBody>
            <a:bodyPr anchor="t">
              <a:spAutoFit/>
            </a:bodyPr>
            <a:lstStyle/>
            <a:p>
              <a:pPr algn="ctr">
                <a:spcBef>
                  <a:spcPct val="35000"/>
                </a:spcBef>
              </a:pPr>
              <a:r>
                <a:rPr lang="zh-CN" altLang="en-US" sz="1400" dirty="0">
                  <a:solidFill>
                    <a:schemeClr val="accent2"/>
                  </a:solidFill>
                  <a:latin typeface="Arial" panose="020B0604020202020204" pitchFamily="34" charset="0"/>
                  <a:ea typeface="微软雅黑" panose="020B0503020204020204" pitchFamily="34" charset="-122"/>
                </a:rPr>
                <a:t>辅助索引指针不能仅指向块地址</a:t>
              </a:r>
              <a:endParaRPr lang="zh-CN" altLang="en-US" sz="1400" dirty="0">
                <a:solidFill>
                  <a:schemeClr val="accent2"/>
                </a:solidFill>
                <a:latin typeface="Arial" panose="020B0604020202020204" pitchFamily="34" charset="0"/>
                <a:ea typeface="微软雅黑" panose="020B0503020204020204" pitchFamily="34" charset="-122"/>
              </a:endParaRPr>
            </a:p>
          </p:txBody>
        </p:sp>
      </p:grpSp>
      <p:sp>
        <p:nvSpPr>
          <p:cNvPr id="44" name="Text Box 15"/>
          <p:cNvSpPr txBox="1"/>
          <p:nvPr/>
        </p:nvSpPr>
        <p:spPr>
          <a:xfrm>
            <a:off x="5948866" y="4145106"/>
            <a:ext cx="1338828" cy="369332"/>
          </a:xfrm>
          <a:prstGeom prst="rect">
            <a:avLst/>
          </a:prstGeom>
          <a:noFill/>
          <a:ln w="9525">
            <a:noFill/>
          </a:ln>
        </p:spPr>
        <p:txBody>
          <a:bodyPr wrap="none"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主索引文件</a:t>
            </a:r>
            <a:endParaRPr lang="zh-CN" altLang="en-US" dirty="0">
              <a:solidFill>
                <a:schemeClr val="accent2"/>
              </a:solidFill>
              <a:latin typeface="Times New Roman" panose="02020603050405020304" pitchFamily="18"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ppt_x"/>
                                          </p:val>
                                        </p:tav>
                                        <p:tav tm="100000">
                                          <p:val>
                                            <p:strVal val="#ppt_x"/>
                                          </p:val>
                                        </p:tav>
                                      </p:tavLst>
                                    </p:anim>
                                    <p:anim calcmode="lin" valueType="num">
                                      <p:cBhvr additive="base">
                                        <p:cTn id="22" dur="500" fill="hold"/>
                                        <p:tgtEl>
                                          <p:spTgt spid="2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ppt_x"/>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ppt_x"/>
                                          </p:val>
                                        </p:tav>
                                        <p:tav tm="100000">
                                          <p:val>
                                            <p:strVal val="#ppt_x"/>
                                          </p:val>
                                        </p:tav>
                                      </p:tavLst>
                                    </p:anim>
                                    <p:anim calcmode="lin" valueType="num">
                                      <p:cBhvr additive="base">
                                        <p:cTn id="34" dur="500" fill="hold"/>
                                        <p:tgtEl>
                                          <p:spTgt spid="24"/>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ppt_x"/>
                                          </p:val>
                                        </p:tav>
                                        <p:tav tm="100000">
                                          <p:val>
                                            <p:strVal val="#ppt_x"/>
                                          </p:val>
                                        </p:tav>
                                      </p:tavLst>
                                    </p:anim>
                                    <p:anim calcmode="lin" valueType="num">
                                      <p:cBhvr additive="base">
                                        <p:cTn id="38" dur="500" fill="hold"/>
                                        <p:tgtEl>
                                          <p:spTgt spid="25"/>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 calcmode="lin" valueType="num">
                                      <p:cBhvr additive="base">
                                        <p:cTn id="41" dur="500" fill="hold"/>
                                        <p:tgtEl>
                                          <p:spTgt spid="35"/>
                                        </p:tgtEl>
                                        <p:attrNameLst>
                                          <p:attrName>ppt_x</p:attrName>
                                        </p:attrNameLst>
                                      </p:cBhvr>
                                      <p:tavLst>
                                        <p:tav tm="0">
                                          <p:val>
                                            <p:strVal val="#ppt_x"/>
                                          </p:val>
                                        </p:tav>
                                        <p:tav tm="100000">
                                          <p:val>
                                            <p:strVal val="#ppt_x"/>
                                          </p:val>
                                        </p:tav>
                                      </p:tavLst>
                                    </p:anim>
                                    <p:anim calcmode="lin" valueType="num">
                                      <p:cBhvr additive="base">
                                        <p:cTn id="42" dur="500" fill="hold"/>
                                        <p:tgtEl>
                                          <p:spTgt spid="35"/>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 calcmode="lin" valueType="num">
                                      <p:cBhvr additive="base">
                                        <p:cTn id="45" dur="500" fill="hold"/>
                                        <p:tgtEl>
                                          <p:spTgt spid="34"/>
                                        </p:tgtEl>
                                        <p:attrNameLst>
                                          <p:attrName>ppt_x</p:attrName>
                                        </p:attrNameLst>
                                      </p:cBhvr>
                                      <p:tavLst>
                                        <p:tav tm="0">
                                          <p:val>
                                            <p:strVal val="#ppt_x"/>
                                          </p:val>
                                        </p:tav>
                                        <p:tav tm="100000">
                                          <p:val>
                                            <p:strVal val="#ppt_x"/>
                                          </p:val>
                                        </p:tav>
                                      </p:tavLst>
                                    </p:anim>
                                    <p:anim calcmode="lin" valueType="num">
                                      <p:cBhvr additive="base">
                                        <p:cTn id="46" dur="500" fill="hold"/>
                                        <p:tgtEl>
                                          <p:spTgt spid="34"/>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additive="base">
                                        <p:cTn id="49" dur="500" fill="hold"/>
                                        <p:tgtEl>
                                          <p:spTgt spid="33"/>
                                        </p:tgtEl>
                                        <p:attrNameLst>
                                          <p:attrName>ppt_x</p:attrName>
                                        </p:attrNameLst>
                                      </p:cBhvr>
                                      <p:tavLst>
                                        <p:tav tm="0">
                                          <p:val>
                                            <p:strVal val="#ppt_x"/>
                                          </p:val>
                                        </p:tav>
                                        <p:tav tm="100000">
                                          <p:val>
                                            <p:strVal val="#ppt_x"/>
                                          </p:val>
                                        </p:tav>
                                      </p:tavLst>
                                    </p:anim>
                                    <p:anim calcmode="lin" valueType="num">
                                      <p:cBhvr additive="base">
                                        <p:cTn id="50" dur="500" fill="hold"/>
                                        <p:tgtEl>
                                          <p:spTgt spid="33"/>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 calcmode="lin" valueType="num">
                                      <p:cBhvr additive="base">
                                        <p:cTn id="53" dur="500" fill="hold"/>
                                        <p:tgtEl>
                                          <p:spTgt spid="32"/>
                                        </p:tgtEl>
                                        <p:attrNameLst>
                                          <p:attrName>ppt_x</p:attrName>
                                        </p:attrNameLst>
                                      </p:cBhvr>
                                      <p:tavLst>
                                        <p:tav tm="0">
                                          <p:val>
                                            <p:strVal val="#ppt_x"/>
                                          </p:val>
                                        </p:tav>
                                        <p:tav tm="100000">
                                          <p:val>
                                            <p:strVal val="#ppt_x"/>
                                          </p:val>
                                        </p:tav>
                                      </p:tavLst>
                                    </p:anim>
                                    <p:anim calcmode="lin" valueType="num">
                                      <p:cBhvr additive="base">
                                        <p:cTn id="54" dur="500" fill="hold"/>
                                        <p:tgtEl>
                                          <p:spTgt spid="32"/>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 calcmode="lin" valueType="num">
                                      <p:cBhvr additive="base">
                                        <p:cTn id="57" dur="500" fill="hold"/>
                                        <p:tgtEl>
                                          <p:spTgt spid="31"/>
                                        </p:tgtEl>
                                        <p:attrNameLst>
                                          <p:attrName>ppt_x</p:attrName>
                                        </p:attrNameLst>
                                      </p:cBhvr>
                                      <p:tavLst>
                                        <p:tav tm="0">
                                          <p:val>
                                            <p:strVal val="#ppt_x"/>
                                          </p:val>
                                        </p:tav>
                                        <p:tav tm="100000">
                                          <p:val>
                                            <p:strVal val="#ppt_x"/>
                                          </p:val>
                                        </p:tav>
                                      </p:tavLst>
                                    </p:anim>
                                    <p:anim calcmode="lin" valueType="num">
                                      <p:cBhvr additive="base">
                                        <p:cTn id="58" dur="500" fill="hold"/>
                                        <p:tgtEl>
                                          <p:spTgt spid="31"/>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additive="base">
                                        <p:cTn id="61" dur="500" fill="hold"/>
                                        <p:tgtEl>
                                          <p:spTgt spid="30"/>
                                        </p:tgtEl>
                                        <p:attrNameLst>
                                          <p:attrName>ppt_x</p:attrName>
                                        </p:attrNameLst>
                                      </p:cBhvr>
                                      <p:tavLst>
                                        <p:tav tm="0">
                                          <p:val>
                                            <p:strVal val="#ppt_x"/>
                                          </p:val>
                                        </p:tav>
                                        <p:tav tm="100000">
                                          <p:val>
                                            <p:strVal val="#ppt_x"/>
                                          </p:val>
                                        </p:tav>
                                      </p:tavLst>
                                    </p:anim>
                                    <p:anim calcmode="lin" valueType="num">
                                      <p:cBhvr additive="base">
                                        <p:cTn id="62" dur="500" fill="hold"/>
                                        <p:tgtEl>
                                          <p:spTgt spid="30"/>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 calcmode="lin" valueType="num">
                                      <p:cBhvr additive="base">
                                        <p:cTn id="65" dur="500" fill="hold"/>
                                        <p:tgtEl>
                                          <p:spTgt spid="29"/>
                                        </p:tgtEl>
                                        <p:attrNameLst>
                                          <p:attrName>ppt_x</p:attrName>
                                        </p:attrNameLst>
                                      </p:cBhvr>
                                      <p:tavLst>
                                        <p:tav tm="0">
                                          <p:val>
                                            <p:strVal val="#ppt_x"/>
                                          </p:val>
                                        </p:tav>
                                        <p:tav tm="100000">
                                          <p:val>
                                            <p:strVal val="#ppt_x"/>
                                          </p:val>
                                        </p:tav>
                                      </p:tavLst>
                                    </p:anim>
                                    <p:anim calcmode="lin" valueType="num">
                                      <p:cBhvr additive="base">
                                        <p:cTn id="66" dur="500" fill="hold"/>
                                        <p:tgtEl>
                                          <p:spTgt spid="2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cBhvr additive="base">
                                        <p:cTn id="69" dur="500" fill="hold"/>
                                        <p:tgtEl>
                                          <p:spTgt spid="28"/>
                                        </p:tgtEl>
                                        <p:attrNameLst>
                                          <p:attrName>ppt_x</p:attrName>
                                        </p:attrNameLst>
                                      </p:cBhvr>
                                      <p:tavLst>
                                        <p:tav tm="0">
                                          <p:val>
                                            <p:strVal val="#ppt_x"/>
                                          </p:val>
                                        </p:tav>
                                        <p:tav tm="100000">
                                          <p:val>
                                            <p:strVal val="#ppt_x"/>
                                          </p:val>
                                        </p:tav>
                                      </p:tavLst>
                                    </p:anim>
                                    <p:anim calcmode="lin" valueType="num">
                                      <p:cBhvr additive="base">
                                        <p:cTn id="70" dur="500" fill="hold"/>
                                        <p:tgtEl>
                                          <p:spTgt spid="28"/>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 calcmode="lin" valueType="num">
                                      <p:cBhvr additive="base">
                                        <p:cTn id="73" dur="500" fill="hold"/>
                                        <p:tgtEl>
                                          <p:spTgt spid="27"/>
                                        </p:tgtEl>
                                        <p:attrNameLst>
                                          <p:attrName>ppt_x</p:attrName>
                                        </p:attrNameLst>
                                      </p:cBhvr>
                                      <p:tavLst>
                                        <p:tav tm="0">
                                          <p:val>
                                            <p:strVal val="#ppt_x"/>
                                          </p:val>
                                        </p:tav>
                                        <p:tav tm="100000">
                                          <p:val>
                                            <p:strVal val="#ppt_x"/>
                                          </p:val>
                                        </p:tav>
                                      </p:tavLst>
                                    </p:anim>
                                    <p:anim calcmode="lin" valueType="num">
                                      <p:cBhvr additive="base">
                                        <p:cTn id="74" dur="500" fill="hold"/>
                                        <p:tgtEl>
                                          <p:spTgt spid="27"/>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 calcmode="lin" valueType="num">
                                      <p:cBhvr additive="base">
                                        <p:cTn id="77" dur="500" fill="hold"/>
                                        <p:tgtEl>
                                          <p:spTgt spid="26"/>
                                        </p:tgtEl>
                                        <p:attrNameLst>
                                          <p:attrName>ppt_x</p:attrName>
                                        </p:attrNameLst>
                                      </p:cBhvr>
                                      <p:tavLst>
                                        <p:tav tm="0">
                                          <p:val>
                                            <p:strVal val="#ppt_x"/>
                                          </p:val>
                                        </p:tav>
                                        <p:tav tm="100000">
                                          <p:val>
                                            <p:strVal val="#ppt_x"/>
                                          </p:val>
                                        </p:tav>
                                      </p:tavLst>
                                    </p:anim>
                                    <p:anim calcmode="lin" valueType="num">
                                      <p:cBhvr additive="base">
                                        <p:cTn id="7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40"/>
                                        </p:tgtEl>
                                        <p:attrNameLst>
                                          <p:attrName>style.visibility</p:attrName>
                                        </p:attrNameLst>
                                      </p:cBhvr>
                                      <p:to>
                                        <p:strVal val="visible"/>
                                      </p:to>
                                    </p:set>
                                    <p:anim calcmode="lin" valueType="num">
                                      <p:cBhvr additive="base">
                                        <p:cTn id="83" dur="500" fill="hold"/>
                                        <p:tgtEl>
                                          <p:spTgt spid="40"/>
                                        </p:tgtEl>
                                        <p:attrNameLst>
                                          <p:attrName>ppt_x</p:attrName>
                                        </p:attrNameLst>
                                      </p:cBhvr>
                                      <p:tavLst>
                                        <p:tav tm="0">
                                          <p:val>
                                            <p:strVal val="#ppt_x"/>
                                          </p:val>
                                        </p:tav>
                                        <p:tav tm="100000">
                                          <p:val>
                                            <p:strVal val="#ppt_x"/>
                                          </p:val>
                                        </p:tav>
                                      </p:tavLst>
                                    </p:anim>
                                    <p:anim calcmode="lin" valueType="num">
                                      <p:cBhvr additive="base">
                                        <p:cTn id="84" dur="500" fill="hold"/>
                                        <p:tgtEl>
                                          <p:spTgt spid="40"/>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36"/>
                                        </p:tgtEl>
                                        <p:attrNameLst>
                                          <p:attrName>style.visibility</p:attrName>
                                        </p:attrNameLst>
                                      </p:cBhvr>
                                      <p:to>
                                        <p:strVal val="visible"/>
                                      </p:to>
                                    </p:set>
                                    <p:anim calcmode="lin" valueType="num">
                                      <p:cBhvr additive="base">
                                        <p:cTn id="87" dur="500" fill="hold"/>
                                        <p:tgtEl>
                                          <p:spTgt spid="36"/>
                                        </p:tgtEl>
                                        <p:attrNameLst>
                                          <p:attrName>ppt_x</p:attrName>
                                        </p:attrNameLst>
                                      </p:cBhvr>
                                      <p:tavLst>
                                        <p:tav tm="0">
                                          <p:val>
                                            <p:strVal val="#ppt_x"/>
                                          </p:val>
                                        </p:tav>
                                        <p:tav tm="100000">
                                          <p:val>
                                            <p:strVal val="#ppt_x"/>
                                          </p:val>
                                        </p:tav>
                                      </p:tavLst>
                                    </p:anim>
                                    <p:anim calcmode="lin" valueType="num">
                                      <p:cBhvr additive="base">
                                        <p:cTn id="88" dur="500" fill="hold"/>
                                        <p:tgtEl>
                                          <p:spTgt spid="36"/>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anim calcmode="lin" valueType="num">
                                      <p:cBhvr additive="base">
                                        <p:cTn id="91" dur="500" fill="hold"/>
                                        <p:tgtEl>
                                          <p:spTgt spid="44"/>
                                        </p:tgtEl>
                                        <p:attrNameLst>
                                          <p:attrName>ppt_x</p:attrName>
                                        </p:attrNameLst>
                                      </p:cBhvr>
                                      <p:tavLst>
                                        <p:tav tm="0">
                                          <p:val>
                                            <p:strVal val="#ppt_x"/>
                                          </p:val>
                                        </p:tav>
                                        <p:tav tm="100000">
                                          <p:val>
                                            <p:strVal val="#ppt_x"/>
                                          </p:val>
                                        </p:tav>
                                      </p:tavLst>
                                    </p:anim>
                                    <p:anim calcmode="lin" valueType="num">
                                      <p:cBhvr additive="base">
                                        <p:cTn id="92"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P spid="25" grpId="0" bldLvl="0" animBg="1"/>
      <p:bldP spid="26" grpId="0" bldLvl="0" animBg="1"/>
      <p:bldP spid="27" grpId="0" bldLvl="0" animBg="1"/>
      <p:bldP spid="28" grpId="0" bldLvl="0" animBg="1"/>
      <p:bldP spid="29" grpId="0" bldLvl="0" animBg="1"/>
      <p:bldP spid="30" grpId="0" bldLvl="0" animBg="1"/>
      <p:bldP spid="31" grpId="0" bldLvl="0" animBg="1"/>
      <p:bldP spid="32" grpId="0" bldLvl="0" animBg="1"/>
      <p:bldP spid="33" grpId="0" bldLvl="0" animBg="1"/>
      <p:bldP spid="34" grpId="0" bldLvl="0" animBg="1"/>
      <p:bldP spid="35" grpId="0"/>
      <p:bldP spid="4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40000"/>
              </a:lnSpc>
            </a:pPr>
            <a:r>
              <a:rPr lang="en-US" altLang="zh-CN" sz="2600" dirty="0">
                <a:latin typeface="微软雅黑" panose="020B0503020204020204" pitchFamily="34" charset="-122"/>
                <a:ea typeface="微软雅黑" panose="020B0503020204020204" pitchFamily="34" charset="-122"/>
              </a:rPr>
              <a:t>(1) </a:t>
            </a:r>
            <a:r>
              <a:rPr lang="zh-CN" altLang="en-US" sz="2600" dirty="0">
                <a:latin typeface="微软雅黑" panose="020B0503020204020204" pitchFamily="34" charset="-122"/>
                <a:ea typeface="微软雅黑" panose="020B0503020204020204" pitchFamily="34" charset="-122"/>
              </a:rPr>
              <a:t>聚簇索引和非聚簇索引</a:t>
            </a:r>
            <a:endParaRPr lang="zh-CN" altLang="en-US" sz="2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b="0" dirty="0">
              <a:solidFill>
                <a:srgbClr val="FF0000"/>
              </a:solidFill>
            </a:endParaRPr>
          </a:p>
          <a:p>
            <a:pPr marL="228600" lvl="1">
              <a:lnSpc>
                <a:spcPct val="100000"/>
              </a:lnSpc>
              <a:spcBef>
                <a:spcPts val="1000"/>
              </a:spcBef>
              <a:buFont typeface="Wingdings" panose="05000000000000000000" pitchFamily="2" charset="2"/>
              <a:buChar char="l"/>
            </a:pPr>
            <a:endParaRPr lang="zh-CN" altLang="en-US" sz="1800" b="1"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-其他类型的索引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4" name="内容占位符 1"/>
          <p:cNvSpPr txBox="1"/>
          <p:nvPr/>
        </p:nvSpPr>
        <p:spPr>
          <a:xfrm>
            <a:off x="408411" y="1797896"/>
            <a:ext cx="5562598" cy="482809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b="0" dirty="0">
                <a:latin typeface="微软雅黑" panose="020B0503020204020204" pitchFamily="34" charset="-122"/>
                <a:ea typeface="微软雅黑" panose="020B0503020204020204" pitchFamily="34" charset="-122"/>
              </a:rPr>
              <a:t>聚簇索引是指索引中邻近的记录在主文件中也是临近存储的。</a:t>
            </a:r>
            <a:br>
              <a:rPr lang="en-US" altLang="zh-CN" dirty="0"/>
            </a:br>
            <a:endParaRPr kumimoji="1" lang="zh-CN" altLang="en-US" dirty="0"/>
          </a:p>
        </p:txBody>
      </p:sp>
      <p:sp>
        <p:nvSpPr>
          <p:cNvPr id="19" name="内容占位符 5"/>
          <p:cNvSpPr txBox="1"/>
          <p:nvPr/>
        </p:nvSpPr>
        <p:spPr>
          <a:xfrm>
            <a:off x="6282317" y="1817792"/>
            <a:ext cx="5562598" cy="48280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非聚簇索引是指索引中邻近的记录在主文件中不一定是邻近存储的。</a:t>
            </a:r>
            <a:endParaRPr lang="zh-CN" altLang="en-US" sz="2000" dirty="0">
              <a:latin typeface="微软雅黑" panose="020B0503020204020204" pitchFamily="34" charset="-122"/>
              <a:ea typeface="微软雅黑" panose="020B0503020204020204" pitchFamily="34" charset="-122"/>
            </a:endParaRPr>
          </a:p>
        </p:txBody>
      </p:sp>
      <p:grpSp>
        <p:nvGrpSpPr>
          <p:cNvPr id="59" name="Group 48"/>
          <p:cNvGrpSpPr/>
          <p:nvPr/>
        </p:nvGrpSpPr>
        <p:grpSpPr>
          <a:xfrm>
            <a:off x="380422" y="2814108"/>
            <a:ext cx="5353050" cy="2705100"/>
            <a:chOff x="418" y="535"/>
            <a:chExt cx="3372" cy="1704"/>
          </a:xfrm>
        </p:grpSpPr>
        <p:pic>
          <p:nvPicPr>
            <p:cNvPr id="60" name="Picture 2"/>
            <p:cNvPicPr>
              <a:picLocks noChangeAspect="1"/>
            </p:cNvPicPr>
            <p:nvPr/>
          </p:nvPicPr>
          <p:blipFill>
            <a:blip r:embed="rId1"/>
            <a:stretch>
              <a:fillRect/>
            </a:stretch>
          </p:blipFill>
          <p:spPr>
            <a:xfrm>
              <a:off x="695" y="1499"/>
              <a:ext cx="663" cy="337"/>
            </a:xfrm>
            <a:prstGeom prst="rect">
              <a:avLst/>
            </a:prstGeom>
            <a:noFill/>
            <a:ln w="9525">
              <a:noFill/>
            </a:ln>
          </p:spPr>
        </p:pic>
        <p:pic>
          <p:nvPicPr>
            <p:cNvPr id="61" name="Picture 3"/>
            <p:cNvPicPr>
              <a:picLocks noChangeAspect="1"/>
            </p:cNvPicPr>
            <p:nvPr/>
          </p:nvPicPr>
          <p:blipFill>
            <a:blip r:embed="rId2"/>
            <a:stretch>
              <a:fillRect/>
            </a:stretch>
          </p:blipFill>
          <p:spPr>
            <a:xfrm>
              <a:off x="1884" y="786"/>
              <a:ext cx="1884" cy="123"/>
            </a:xfrm>
            <a:prstGeom prst="rect">
              <a:avLst/>
            </a:prstGeom>
            <a:noFill/>
            <a:ln w="9525">
              <a:noFill/>
            </a:ln>
          </p:spPr>
        </p:pic>
        <p:pic>
          <p:nvPicPr>
            <p:cNvPr id="62" name="Picture 4"/>
            <p:cNvPicPr>
              <a:picLocks noChangeAspect="1"/>
            </p:cNvPicPr>
            <p:nvPr/>
          </p:nvPicPr>
          <p:blipFill>
            <a:blip r:embed="rId3"/>
            <a:stretch>
              <a:fillRect/>
            </a:stretch>
          </p:blipFill>
          <p:spPr>
            <a:xfrm>
              <a:off x="1884" y="999"/>
              <a:ext cx="1859" cy="342"/>
            </a:xfrm>
            <a:prstGeom prst="rect">
              <a:avLst/>
            </a:prstGeom>
            <a:noFill/>
            <a:ln w="9525">
              <a:noFill/>
            </a:ln>
          </p:spPr>
        </p:pic>
        <p:pic>
          <p:nvPicPr>
            <p:cNvPr id="63" name="Picture 5"/>
            <p:cNvPicPr>
              <a:picLocks noChangeAspect="1"/>
            </p:cNvPicPr>
            <p:nvPr/>
          </p:nvPicPr>
          <p:blipFill>
            <a:blip r:embed="rId4"/>
            <a:stretch>
              <a:fillRect/>
            </a:stretch>
          </p:blipFill>
          <p:spPr>
            <a:xfrm>
              <a:off x="1884" y="1416"/>
              <a:ext cx="1859" cy="338"/>
            </a:xfrm>
            <a:prstGeom prst="rect">
              <a:avLst/>
            </a:prstGeom>
            <a:noFill/>
            <a:ln w="9525">
              <a:noFill/>
            </a:ln>
          </p:spPr>
        </p:pic>
        <p:pic>
          <p:nvPicPr>
            <p:cNvPr id="64" name="Picture 6"/>
            <p:cNvPicPr>
              <a:picLocks noChangeAspect="1"/>
            </p:cNvPicPr>
            <p:nvPr/>
          </p:nvPicPr>
          <p:blipFill>
            <a:blip r:embed="rId5"/>
            <a:stretch>
              <a:fillRect/>
            </a:stretch>
          </p:blipFill>
          <p:spPr>
            <a:xfrm>
              <a:off x="1884" y="1813"/>
              <a:ext cx="1859" cy="342"/>
            </a:xfrm>
            <a:prstGeom prst="rect">
              <a:avLst/>
            </a:prstGeom>
            <a:noFill/>
            <a:ln w="9525">
              <a:noFill/>
            </a:ln>
          </p:spPr>
        </p:pic>
        <p:sp>
          <p:nvSpPr>
            <p:cNvPr id="65" name="Freeform 9"/>
            <p:cNvSpPr/>
            <p:nvPr/>
          </p:nvSpPr>
          <p:spPr>
            <a:xfrm>
              <a:off x="1308" y="1184"/>
              <a:ext cx="558" cy="372"/>
            </a:xfrm>
            <a:custGeom>
              <a:avLst/>
              <a:gdLst/>
              <a:ahLst/>
              <a:cxnLst>
                <a:cxn ang="0">
                  <a:pos x="0" y="500"/>
                </a:cxn>
                <a:cxn ang="0">
                  <a:pos x="415" y="398"/>
                </a:cxn>
                <a:cxn ang="0">
                  <a:pos x="720" y="93"/>
                </a:cxn>
                <a:cxn ang="0">
                  <a:pos x="1093" y="0"/>
                </a:cxn>
              </a:cxnLst>
              <a:rect l="0" t="0" r="0" b="0"/>
              <a:pathLst>
                <a:path w="1093" h="500">
                  <a:moveTo>
                    <a:pt x="0" y="500"/>
                  </a:moveTo>
                  <a:cubicBezTo>
                    <a:pt x="69" y="483"/>
                    <a:pt x="295" y="466"/>
                    <a:pt x="415" y="398"/>
                  </a:cubicBezTo>
                  <a:cubicBezTo>
                    <a:pt x="535" y="330"/>
                    <a:pt x="607" y="159"/>
                    <a:pt x="720" y="93"/>
                  </a:cubicBezTo>
                  <a:cubicBezTo>
                    <a:pt x="833" y="27"/>
                    <a:pt x="963" y="6"/>
                    <a:pt x="1093" y="0"/>
                  </a:cubicBezTo>
                </a:path>
              </a:pathLst>
            </a:custGeom>
            <a:noFill/>
            <a:ln w="9525" cap="flat" cmpd="sng">
              <a:solidFill>
                <a:srgbClr val="FF0066"/>
              </a:solidFill>
              <a:prstDash val="solid"/>
              <a:round/>
              <a:headEnd type="none" w="med" len="med"/>
              <a:tailEnd type="triangle" w="med" len="med"/>
            </a:ln>
          </p:spPr>
          <p:txBody>
            <a:bodyPr/>
            <a:lstStyle/>
            <a:p>
              <a:endParaRPr lang="zh-CN" altLang="en-US" dirty="0"/>
            </a:p>
          </p:txBody>
        </p:sp>
        <p:sp>
          <p:nvSpPr>
            <p:cNvPr id="66" name="Freeform 10"/>
            <p:cNvSpPr/>
            <p:nvPr/>
          </p:nvSpPr>
          <p:spPr>
            <a:xfrm>
              <a:off x="1308" y="1800"/>
              <a:ext cx="540" cy="100"/>
            </a:xfrm>
            <a:custGeom>
              <a:avLst/>
              <a:gdLst/>
              <a:ahLst/>
              <a:cxnLst>
                <a:cxn ang="0">
                  <a:pos x="0" y="0"/>
                </a:cxn>
                <a:cxn ang="0">
                  <a:pos x="449" y="59"/>
                </a:cxn>
                <a:cxn ang="0">
                  <a:pos x="729" y="237"/>
                </a:cxn>
                <a:cxn ang="0">
                  <a:pos x="1135" y="288"/>
                </a:cxn>
              </a:cxnLst>
              <a:rect l="0" t="0" r="0" b="0"/>
              <a:pathLst>
                <a:path w="1135" h="288">
                  <a:moveTo>
                    <a:pt x="0" y="0"/>
                  </a:moveTo>
                  <a:cubicBezTo>
                    <a:pt x="75" y="10"/>
                    <a:pt x="328" y="20"/>
                    <a:pt x="449" y="59"/>
                  </a:cubicBezTo>
                  <a:cubicBezTo>
                    <a:pt x="570" y="98"/>
                    <a:pt x="615" y="199"/>
                    <a:pt x="729" y="237"/>
                  </a:cubicBezTo>
                  <a:cubicBezTo>
                    <a:pt x="843" y="275"/>
                    <a:pt x="1051" y="278"/>
                    <a:pt x="1135" y="288"/>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67" name="Freeform 11"/>
            <p:cNvSpPr/>
            <p:nvPr/>
          </p:nvSpPr>
          <p:spPr>
            <a:xfrm>
              <a:off x="1300" y="1570"/>
              <a:ext cx="562" cy="97"/>
            </a:xfrm>
            <a:custGeom>
              <a:avLst/>
              <a:gdLst/>
              <a:ahLst/>
              <a:cxnLst>
                <a:cxn ang="0">
                  <a:pos x="0" y="130"/>
                </a:cxn>
                <a:cxn ang="0">
                  <a:pos x="339" y="122"/>
                </a:cxn>
                <a:cxn ang="0">
                  <a:pos x="686" y="20"/>
                </a:cxn>
                <a:cxn ang="0">
                  <a:pos x="1143" y="3"/>
                </a:cxn>
              </a:cxnLst>
              <a:rect l="0" t="0" r="0" b="0"/>
              <a:pathLst>
                <a:path w="1143" h="140">
                  <a:moveTo>
                    <a:pt x="0" y="130"/>
                  </a:moveTo>
                  <a:cubicBezTo>
                    <a:pt x="112" y="135"/>
                    <a:pt x="225" y="140"/>
                    <a:pt x="339" y="122"/>
                  </a:cubicBezTo>
                  <a:cubicBezTo>
                    <a:pt x="453" y="104"/>
                    <a:pt x="552" y="40"/>
                    <a:pt x="686" y="20"/>
                  </a:cubicBezTo>
                  <a:cubicBezTo>
                    <a:pt x="820" y="0"/>
                    <a:pt x="981" y="1"/>
                    <a:pt x="1143" y="3"/>
                  </a:cubicBezTo>
                </a:path>
              </a:pathLst>
            </a:custGeom>
            <a:noFill/>
            <a:ln w="9525" cap="flat" cmpd="sng">
              <a:solidFill>
                <a:srgbClr val="FF0066"/>
              </a:solidFill>
              <a:prstDash val="solid"/>
              <a:round/>
              <a:headEnd type="none" w="med" len="med"/>
              <a:tailEnd type="triangle" w="med" len="med"/>
            </a:ln>
          </p:spPr>
          <p:txBody>
            <a:bodyPr/>
            <a:lstStyle/>
            <a:p>
              <a:endParaRPr lang="zh-CN" altLang="en-US" dirty="0"/>
            </a:p>
          </p:txBody>
        </p:sp>
        <p:sp>
          <p:nvSpPr>
            <p:cNvPr id="68" name="Text Box 12"/>
            <p:cNvSpPr txBox="1"/>
            <p:nvPr/>
          </p:nvSpPr>
          <p:spPr>
            <a:xfrm>
              <a:off x="418" y="1984"/>
              <a:ext cx="1330" cy="212"/>
            </a:xfrm>
            <a:prstGeom prst="rect">
              <a:avLst/>
            </a:prstGeom>
            <a:noFill/>
            <a:ln w="9525">
              <a:noFill/>
            </a:ln>
          </p:spPr>
          <p:txBody>
            <a:bodyPr wrap="none" anchor="t">
              <a:spAutoFit/>
            </a:bodyPr>
            <a:lstStyle/>
            <a:p>
              <a:pPr algn="ctr"/>
              <a:r>
                <a:rPr lang="zh-CN" altLang="en-US" sz="1600" dirty="0">
                  <a:solidFill>
                    <a:schemeClr val="accent2"/>
                  </a:solidFill>
                  <a:latin typeface="微软雅黑" panose="020B0503020204020204" pitchFamily="34" charset="-122"/>
                  <a:ea typeface="微软雅黑" panose="020B0503020204020204" pitchFamily="34" charset="-122"/>
                </a:rPr>
                <a:t>聚簇字段值     块指针</a:t>
              </a:r>
              <a:endParaRPr lang="zh-CN" altLang="en-US" sz="1600" dirty="0">
                <a:solidFill>
                  <a:schemeClr val="accent2"/>
                </a:solidFill>
                <a:latin typeface="微软雅黑" panose="020B0503020204020204" pitchFamily="34" charset="-122"/>
                <a:ea typeface="微软雅黑" panose="020B0503020204020204" pitchFamily="34" charset="-122"/>
              </a:endParaRPr>
            </a:p>
          </p:txBody>
        </p:sp>
        <p:sp>
          <p:nvSpPr>
            <p:cNvPr id="69" name="Text Box 13"/>
            <p:cNvSpPr txBox="1"/>
            <p:nvPr/>
          </p:nvSpPr>
          <p:spPr>
            <a:xfrm>
              <a:off x="496" y="1044"/>
              <a:ext cx="1076" cy="250"/>
            </a:xfrm>
            <a:prstGeom prst="rect">
              <a:avLst/>
            </a:prstGeom>
            <a:noFill/>
            <a:ln w="9525">
              <a:noFill/>
            </a:ln>
          </p:spPr>
          <p:txBody>
            <a:bodyPr wrap="none" anchor="t">
              <a:spAutoFit/>
            </a:bodyPr>
            <a:lstStyle/>
            <a:p>
              <a:pPr algn="ctr"/>
              <a:r>
                <a:rPr lang="zh-CN" altLang="en-US" dirty="0">
                  <a:solidFill>
                    <a:schemeClr val="accent2"/>
                  </a:solidFill>
                  <a:latin typeface="微软雅黑" panose="020B0503020204020204" pitchFamily="34" charset="-122"/>
                  <a:ea typeface="微软雅黑" panose="020B0503020204020204" pitchFamily="34" charset="-122"/>
                </a:rPr>
                <a:t>聚簇索引文件</a:t>
              </a:r>
              <a:endParaRPr lang="zh-CN" altLang="en-US" dirty="0">
                <a:solidFill>
                  <a:schemeClr val="accent2"/>
                </a:solidFill>
                <a:latin typeface="微软雅黑" panose="020B0503020204020204" pitchFamily="34" charset="-122"/>
                <a:ea typeface="微软雅黑" panose="020B0503020204020204" pitchFamily="34" charset="-122"/>
              </a:endParaRPr>
            </a:p>
          </p:txBody>
        </p:sp>
        <p:sp>
          <p:nvSpPr>
            <p:cNvPr id="70" name="Text Box 14"/>
            <p:cNvSpPr txBox="1"/>
            <p:nvPr/>
          </p:nvSpPr>
          <p:spPr>
            <a:xfrm>
              <a:off x="2521" y="535"/>
              <a:ext cx="596" cy="250"/>
            </a:xfrm>
            <a:prstGeom prst="rect">
              <a:avLst/>
            </a:prstGeom>
            <a:noFill/>
            <a:ln w="9525">
              <a:noFill/>
            </a:ln>
          </p:spPr>
          <p:txBody>
            <a:bodyPr wrap="none" anchor="t">
              <a:spAutoFit/>
            </a:bodyPr>
            <a:lstStyle/>
            <a:p>
              <a:pPr algn="ctr"/>
              <a:r>
                <a:rPr lang="zh-CN" altLang="en-US" dirty="0">
                  <a:solidFill>
                    <a:schemeClr val="accent2"/>
                  </a:solidFill>
                  <a:latin typeface="微软雅黑" panose="020B0503020204020204" pitchFamily="34" charset="-122"/>
                  <a:ea typeface="微软雅黑" panose="020B0503020204020204" pitchFamily="34" charset="-122"/>
                </a:rPr>
                <a:t>主文件</a:t>
              </a:r>
              <a:endParaRPr lang="zh-CN" altLang="en-US" dirty="0">
                <a:solidFill>
                  <a:schemeClr val="accent2"/>
                </a:solidFill>
                <a:latin typeface="微软雅黑" panose="020B0503020204020204" pitchFamily="34" charset="-122"/>
                <a:ea typeface="微软雅黑" panose="020B0503020204020204" pitchFamily="34" charset="-122"/>
              </a:endParaRPr>
            </a:p>
          </p:txBody>
        </p:sp>
        <p:pic>
          <p:nvPicPr>
            <p:cNvPr id="71" name="Picture 15"/>
            <p:cNvPicPr>
              <a:picLocks noChangeAspect="1"/>
            </p:cNvPicPr>
            <p:nvPr/>
          </p:nvPicPr>
          <p:blipFill>
            <a:blip r:embed="rId6"/>
            <a:stretch>
              <a:fillRect/>
            </a:stretch>
          </p:blipFill>
          <p:spPr>
            <a:xfrm>
              <a:off x="695" y="1308"/>
              <a:ext cx="681" cy="120"/>
            </a:xfrm>
            <a:prstGeom prst="rect">
              <a:avLst/>
            </a:prstGeom>
            <a:noFill/>
            <a:ln w="9525">
              <a:noFill/>
            </a:ln>
          </p:spPr>
        </p:pic>
        <p:sp>
          <p:nvSpPr>
            <p:cNvPr id="72" name="Oval 17"/>
            <p:cNvSpPr/>
            <p:nvPr/>
          </p:nvSpPr>
          <p:spPr>
            <a:xfrm>
              <a:off x="3338" y="885"/>
              <a:ext cx="452" cy="1354"/>
            </a:xfrm>
            <a:prstGeom prst="ellipse">
              <a:avLst/>
            </a:prstGeom>
            <a:noFill/>
            <a:ln w="9525" cap="flat" cmpd="sng">
              <a:solidFill>
                <a:schemeClr val="tx1"/>
              </a:solidFill>
              <a:prstDash val="solid"/>
              <a:round/>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grpSp>
      <p:grpSp>
        <p:nvGrpSpPr>
          <p:cNvPr id="73" name="Group 53"/>
          <p:cNvGrpSpPr/>
          <p:nvPr/>
        </p:nvGrpSpPr>
        <p:grpSpPr>
          <a:xfrm>
            <a:off x="2793837" y="5479520"/>
            <a:ext cx="2291358" cy="693546"/>
            <a:chOff x="1260" y="3268"/>
            <a:chExt cx="1172" cy="629"/>
          </a:xfrm>
        </p:grpSpPr>
        <p:sp>
          <p:nvSpPr>
            <p:cNvPr id="74"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75"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76" name="Text Box 84"/>
            <p:cNvSpPr/>
            <p:nvPr/>
          </p:nvSpPr>
          <p:spPr>
            <a:xfrm>
              <a:off x="1260" y="3294"/>
              <a:ext cx="1172" cy="591"/>
            </a:xfrm>
            <a:prstGeom prst="roundRect">
              <a:avLst>
                <a:gd name="adj" fmla="val 16667"/>
              </a:avLst>
            </a:prstGeom>
            <a:noFill/>
            <a:ln w="9525">
              <a:noFill/>
            </a:ln>
          </p:spPr>
          <p:txBody>
            <a:bodyPr wrap="square" anchor="t">
              <a:spAutoFit/>
            </a:bodyPr>
            <a:lstStyle/>
            <a:p>
              <a:pPr algn="ctr">
                <a:spcBef>
                  <a:spcPct val="35000"/>
                </a:spcBef>
              </a:pPr>
              <a:r>
                <a:rPr lang="zh-CN" altLang="en-US" sz="1600" dirty="0">
                  <a:solidFill>
                    <a:schemeClr val="accent2"/>
                  </a:solidFill>
                  <a:latin typeface="Arial" panose="020B0604020202020204" pitchFamily="34" charset="0"/>
                  <a:ea typeface="华文中宋" panose="02010600040101010101" pitchFamily="2" charset="-122"/>
                </a:rPr>
                <a:t>主文件基于“非主码的字段”</a:t>
              </a:r>
              <a:r>
                <a:rPr lang="en-US" altLang="zh-CN" sz="1600" dirty="0">
                  <a:solidFill>
                    <a:schemeClr val="accent2"/>
                  </a:solidFill>
                  <a:latin typeface="Arial" panose="020B0604020202020204" pitchFamily="34" charset="0"/>
                  <a:ea typeface="华文中宋" panose="02010600040101010101" pitchFamily="2" charset="-122"/>
                </a:rPr>
                <a:t>T#</a:t>
              </a:r>
              <a:r>
                <a:rPr lang="zh-CN" altLang="en-US" sz="1600" dirty="0">
                  <a:solidFill>
                    <a:schemeClr val="accent2"/>
                  </a:solidFill>
                  <a:latin typeface="Arial" panose="020B0604020202020204" pitchFamily="34" charset="0"/>
                  <a:ea typeface="华文中宋" panose="02010600040101010101" pitchFamily="2" charset="-122"/>
                </a:rPr>
                <a:t>排序存储</a:t>
              </a:r>
              <a:endParaRPr lang="zh-CN" altLang="en-US" sz="1600" dirty="0">
                <a:solidFill>
                  <a:schemeClr val="accent2"/>
                </a:solidFill>
                <a:latin typeface="Arial" panose="020B0604020202020204" pitchFamily="34" charset="0"/>
                <a:ea typeface="华文中宋" panose="02010600040101010101" pitchFamily="2" charset="-122"/>
              </a:endParaRPr>
            </a:p>
          </p:txBody>
        </p:sp>
      </p:grpSp>
      <p:grpSp>
        <p:nvGrpSpPr>
          <p:cNvPr id="77" name="Group 57"/>
          <p:cNvGrpSpPr/>
          <p:nvPr/>
        </p:nvGrpSpPr>
        <p:grpSpPr>
          <a:xfrm>
            <a:off x="347085" y="2856971"/>
            <a:ext cx="2309812" cy="688975"/>
            <a:chOff x="1265" y="3268"/>
            <a:chExt cx="1164" cy="629"/>
          </a:xfrm>
        </p:grpSpPr>
        <p:sp>
          <p:nvSpPr>
            <p:cNvPr id="78"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79"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80" name="Text Box 84"/>
            <p:cNvSpPr/>
            <p:nvPr/>
          </p:nvSpPr>
          <p:spPr>
            <a:xfrm>
              <a:off x="1265" y="3297"/>
              <a:ext cx="1164" cy="591"/>
            </a:xfrm>
            <a:prstGeom prst="roundRect">
              <a:avLst>
                <a:gd name="adj" fmla="val 16667"/>
              </a:avLst>
            </a:prstGeom>
            <a:noFill/>
            <a:ln w="9525">
              <a:noFill/>
            </a:ln>
          </p:spPr>
          <p:txBody>
            <a:bodyPr anchor="t">
              <a:spAutoFit/>
            </a:bodyPr>
            <a:lstStyle/>
            <a:p>
              <a:pPr algn="ctr">
                <a:spcBef>
                  <a:spcPct val="35000"/>
                </a:spcBef>
              </a:pPr>
              <a:r>
                <a:rPr lang="en-US" altLang="zh-CN" sz="1600" dirty="0">
                  <a:solidFill>
                    <a:schemeClr val="accent2"/>
                  </a:solidFill>
                  <a:latin typeface="Arial" panose="020B0604020202020204" pitchFamily="34" charset="0"/>
                  <a:ea typeface="华文中宋" panose="02010600040101010101" pitchFamily="2" charset="-122"/>
                </a:rPr>
                <a:t>T#</a:t>
              </a:r>
              <a:r>
                <a:rPr lang="zh-CN" altLang="en-US" sz="1600" dirty="0">
                  <a:solidFill>
                    <a:schemeClr val="accent2"/>
                  </a:solidFill>
                  <a:latin typeface="Arial" panose="020B0604020202020204" pitchFamily="34" charset="0"/>
                  <a:ea typeface="华文中宋" panose="02010600040101010101" pitchFamily="2" charset="-122"/>
                </a:rPr>
                <a:t>是“非主码字段”，有重复值，排序存储 </a:t>
              </a:r>
              <a:endParaRPr lang="zh-CN" altLang="en-US" sz="1600" dirty="0">
                <a:solidFill>
                  <a:schemeClr val="accent2"/>
                </a:solidFill>
                <a:latin typeface="Arial" panose="020B0604020202020204" pitchFamily="34" charset="0"/>
                <a:ea typeface="华文中宋" panose="02010600040101010101" pitchFamily="2" charset="-122"/>
              </a:endParaRPr>
            </a:p>
          </p:txBody>
        </p:sp>
      </p:grpSp>
      <p:grpSp>
        <p:nvGrpSpPr>
          <p:cNvPr id="111" name="Group 50"/>
          <p:cNvGrpSpPr/>
          <p:nvPr/>
        </p:nvGrpSpPr>
        <p:grpSpPr>
          <a:xfrm>
            <a:off x="6278777" y="2999038"/>
            <a:ext cx="5519738" cy="2998645"/>
            <a:chOff x="1363" y="2298"/>
            <a:chExt cx="3477" cy="2002"/>
          </a:xfrm>
        </p:grpSpPr>
        <p:grpSp>
          <p:nvGrpSpPr>
            <p:cNvPr id="112" name="Group 47"/>
            <p:cNvGrpSpPr/>
            <p:nvPr/>
          </p:nvGrpSpPr>
          <p:grpSpPr>
            <a:xfrm>
              <a:off x="1363" y="2298"/>
              <a:ext cx="3437" cy="2002"/>
              <a:chOff x="1363" y="2298"/>
              <a:chExt cx="3437" cy="2002"/>
            </a:xfrm>
          </p:grpSpPr>
          <p:pic>
            <p:nvPicPr>
              <p:cNvPr id="114" name="Picture 43"/>
              <p:cNvPicPr>
                <a:picLocks noChangeAspect="1"/>
              </p:cNvPicPr>
              <p:nvPr/>
            </p:nvPicPr>
            <p:blipFill>
              <a:blip r:embed="rId7"/>
              <a:stretch>
                <a:fillRect/>
              </a:stretch>
            </p:blipFill>
            <p:spPr>
              <a:xfrm>
                <a:off x="1693" y="2966"/>
                <a:ext cx="705" cy="1107"/>
              </a:xfrm>
              <a:prstGeom prst="rect">
                <a:avLst/>
              </a:prstGeom>
              <a:noFill/>
              <a:ln w="9525">
                <a:noFill/>
              </a:ln>
            </p:spPr>
          </p:pic>
          <p:sp>
            <p:nvSpPr>
              <p:cNvPr id="115" name="Text Box 26"/>
              <p:cNvSpPr txBox="1"/>
              <p:nvPr/>
            </p:nvSpPr>
            <p:spPr>
              <a:xfrm>
                <a:off x="1363" y="4074"/>
                <a:ext cx="1395" cy="226"/>
              </a:xfrm>
              <a:prstGeom prst="rect">
                <a:avLst/>
              </a:prstGeom>
              <a:noFill/>
              <a:ln w="9525">
                <a:noFill/>
              </a:ln>
            </p:spPr>
            <p:txBody>
              <a:bodyPr wrap="none" anchor="t">
                <a:spAutoFit/>
              </a:bodyPr>
              <a:lstStyle/>
              <a:p>
                <a:pPr algn="ctr"/>
                <a:r>
                  <a:rPr lang="zh-CN" altLang="en-US" sz="1600" dirty="0">
                    <a:solidFill>
                      <a:schemeClr val="accent2"/>
                    </a:solidFill>
                    <a:latin typeface="微软雅黑" panose="020B0503020204020204" pitchFamily="34" charset="-122"/>
                    <a:ea typeface="微软雅黑" panose="020B0503020204020204" pitchFamily="34" charset="-122"/>
                  </a:rPr>
                  <a:t>索引字段值   记录指针</a:t>
                </a:r>
                <a:endParaRPr lang="zh-CN" altLang="en-US" sz="1600" dirty="0">
                  <a:solidFill>
                    <a:schemeClr val="accent2"/>
                  </a:solidFill>
                  <a:latin typeface="微软雅黑" panose="020B0503020204020204" pitchFamily="34" charset="-122"/>
                  <a:ea typeface="微软雅黑" panose="020B0503020204020204" pitchFamily="34" charset="-122"/>
                </a:endParaRPr>
              </a:p>
            </p:txBody>
          </p:sp>
          <p:sp>
            <p:nvSpPr>
              <p:cNvPr id="116" name="Text Box 27"/>
              <p:cNvSpPr txBox="1"/>
              <p:nvPr/>
            </p:nvSpPr>
            <p:spPr>
              <a:xfrm>
                <a:off x="1427" y="2547"/>
                <a:ext cx="1236" cy="265"/>
              </a:xfrm>
              <a:prstGeom prst="rect">
                <a:avLst/>
              </a:prstGeom>
              <a:noFill/>
              <a:ln w="9525">
                <a:noFill/>
              </a:ln>
            </p:spPr>
            <p:txBody>
              <a:bodyPr wrap="none" anchor="t">
                <a:spAutoFit/>
              </a:bodyPr>
              <a:lstStyle/>
              <a:p>
                <a:pPr algn="ctr"/>
                <a:r>
                  <a:rPr lang="zh-CN" altLang="en-US" dirty="0">
                    <a:solidFill>
                      <a:schemeClr val="accent2"/>
                    </a:solidFill>
                    <a:latin typeface="微软雅黑" panose="020B0503020204020204" pitchFamily="34" charset="-122"/>
                    <a:ea typeface="微软雅黑" panose="020B0503020204020204" pitchFamily="34" charset="-122"/>
                  </a:rPr>
                  <a:t>非聚簇索引文件</a:t>
                </a:r>
                <a:endParaRPr lang="zh-CN" altLang="en-US" dirty="0">
                  <a:solidFill>
                    <a:schemeClr val="accent2"/>
                  </a:solidFill>
                  <a:latin typeface="微软雅黑" panose="020B0503020204020204" pitchFamily="34" charset="-122"/>
                  <a:ea typeface="微软雅黑" panose="020B0503020204020204" pitchFamily="34" charset="-122"/>
                </a:endParaRPr>
              </a:p>
            </p:txBody>
          </p:sp>
          <p:pic>
            <p:nvPicPr>
              <p:cNvPr id="117" name="Picture 29"/>
              <p:cNvPicPr>
                <a:picLocks noChangeAspect="1"/>
              </p:cNvPicPr>
              <p:nvPr/>
            </p:nvPicPr>
            <p:blipFill>
              <a:blip r:embed="rId8"/>
              <a:stretch>
                <a:fillRect/>
              </a:stretch>
            </p:blipFill>
            <p:spPr>
              <a:xfrm>
                <a:off x="1695" y="2828"/>
                <a:ext cx="681" cy="120"/>
              </a:xfrm>
              <a:prstGeom prst="rect">
                <a:avLst/>
              </a:prstGeom>
              <a:noFill/>
              <a:ln w="9525">
                <a:noFill/>
              </a:ln>
            </p:spPr>
          </p:pic>
          <p:pic>
            <p:nvPicPr>
              <p:cNvPr id="118" name="Picture 31"/>
              <p:cNvPicPr>
                <a:picLocks noChangeAspect="1"/>
              </p:cNvPicPr>
              <p:nvPr/>
            </p:nvPicPr>
            <p:blipFill>
              <a:blip r:embed="rId9"/>
              <a:stretch>
                <a:fillRect/>
              </a:stretch>
            </p:blipFill>
            <p:spPr>
              <a:xfrm>
                <a:off x="2920" y="2778"/>
                <a:ext cx="1877" cy="345"/>
              </a:xfrm>
              <a:prstGeom prst="rect">
                <a:avLst/>
              </a:prstGeom>
              <a:noFill/>
              <a:ln w="9525">
                <a:noFill/>
              </a:ln>
            </p:spPr>
          </p:pic>
          <p:pic>
            <p:nvPicPr>
              <p:cNvPr id="119" name="Picture 32"/>
              <p:cNvPicPr>
                <a:picLocks noChangeAspect="1"/>
              </p:cNvPicPr>
              <p:nvPr/>
            </p:nvPicPr>
            <p:blipFill>
              <a:blip r:embed="rId10"/>
              <a:stretch>
                <a:fillRect/>
              </a:stretch>
            </p:blipFill>
            <p:spPr>
              <a:xfrm>
                <a:off x="2920" y="3181"/>
                <a:ext cx="1877" cy="345"/>
              </a:xfrm>
              <a:prstGeom prst="rect">
                <a:avLst/>
              </a:prstGeom>
              <a:noFill/>
              <a:ln w="9525">
                <a:noFill/>
              </a:ln>
            </p:spPr>
          </p:pic>
          <p:pic>
            <p:nvPicPr>
              <p:cNvPr id="120" name="Picture 33"/>
              <p:cNvPicPr>
                <a:picLocks noChangeAspect="1"/>
              </p:cNvPicPr>
              <p:nvPr/>
            </p:nvPicPr>
            <p:blipFill>
              <a:blip r:embed="rId11"/>
              <a:stretch>
                <a:fillRect/>
              </a:stretch>
            </p:blipFill>
            <p:spPr>
              <a:xfrm>
                <a:off x="2920" y="3584"/>
                <a:ext cx="1877" cy="342"/>
              </a:xfrm>
              <a:prstGeom prst="rect">
                <a:avLst/>
              </a:prstGeom>
              <a:noFill/>
              <a:ln w="9525">
                <a:noFill/>
              </a:ln>
            </p:spPr>
          </p:pic>
          <p:pic>
            <p:nvPicPr>
              <p:cNvPr id="121" name="Picture 34"/>
              <p:cNvPicPr>
                <a:picLocks noChangeAspect="1"/>
              </p:cNvPicPr>
              <p:nvPr/>
            </p:nvPicPr>
            <p:blipFill>
              <a:blip r:embed="rId12"/>
              <a:stretch>
                <a:fillRect/>
              </a:stretch>
            </p:blipFill>
            <p:spPr>
              <a:xfrm>
                <a:off x="2916" y="2568"/>
                <a:ext cx="1884" cy="123"/>
              </a:xfrm>
              <a:prstGeom prst="rect">
                <a:avLst/>
              </a:prstGeom>
              <a:noFill/>
              <a:ln w="9525">
                <a:noFill/>
              </a:ln>
            </p:spPr>
          </p:pic>
          <p:sp>
            <p:nvSpPr>
              <p:cNvPr id="122" name="Text Box 35"/>
              <p:cNvSpPr txBox="1"/>
              <p:nvPr/>
            </p:nvSpPr>
            <p:spPr>
              <a:xfrm>
                <a:off x="3965" y="2298"/>
                <a:ext cx="596" cy="265"/>
              </a:xfrm>
              <a:prstGeom prst="rect">
                <a:avLst/>
              </a:prstGeom>
              <a:noFill/>
              <a:ln w="9525">
                <a:noFill/>
              </a:ln>
            </p:spPr>
            <p:txBody>
              <a:bodyPr wrap="none" anchor="t">
                <a:spAutoFit/>
              </a:bodyPr>
              <a:lstStyle/>
              <a:p>
                <a:pPr algn="ctr"/>
                <a:r>
                  <a:rPr lang="zh-CN" altLang="en-US" dirty="0">
                    <a:solidFill>
                      <a:schemeClr val="accent2"/>
                    </a:solidFill>
                    <a:latin typeface="微软雅黑" panose="020B0503020204020204" pitchFamily="34" charset="-122"/>
                    <a:ea typeface="微软雅黑" panose="020B0503020204020204" pitchFamily="34" charset="-122"/>
                  </a:rPr>
                  <a:t>主文件</a:t>
                </a:r>
                <a:endParaRPr lang="zh-CN" altLang="en-US" dirty="0">
                  <a:solidFill>
                    <a:schemeClr val="accent2"/>
                  </a:solidFill>
                  <a:latin typeface="微软雅黑" panose="020B0503020204020204" pitchFamily="34" charset="-122"/>
                  <a:ea typeface="微软雅黑" panose="020B0503020204020204" pitchFamily="34" charset="-122"/>
                </a:endParaRPr>
              </a:p>
            </p:txBody>
          </p:sp>
          <p:sp>
            <p:nvSpPr>
              <p:cNvPr id="123" name="Freeform 23"/>
              <p:cNvSpPr/>
              <p:nvPr/>
            </p:nvSpPr>
            <p:spPr>
              <a:xfrm>
                <a:off x="2241" y="2831"/>
                <a:ext cx="655" cy="211"/>
              </a:xfrm>
              <a:custGeom>
                <a:avLst/>
                <a:gdLst/>
                <a:ahLst/>
                <a:cxnLst>
                  <a:cxn ang="0">
                    <a:pos x="0" y="500"/>
                  </a:cxn>
                  <a:cxn ang="0">
                    <a:pos x="415" y="398"/>
                  </a:cxn>
                  <a:cxn ang="0">
                    <a:pos x="720" y="93"/>
                  </a:cxn>
                  <a:cxn ang="0">
                    <a:pos x="1093" y="0"/>
                  </a:cxn>
                </a:cxnLst>
                <a:rect l="0" t="0" r="0" b="0"/>
                <a:pathLst>
                  <a:path w="1093" h="500">
                    <a:moveTo>
                      <a:pt x="0" y="500"/>
                    </a:moveTo>
                    <a:cubicBezTo>
                      <a:pt x="69" y="483"/>
                      <a:pt x="295" y="466"/>
                      <a:pt x="415" y="398"/>
                    </a:cubicBezTo>
                    <a:cubicBezTo>
                      <a:pt x="535" y="330"/>
                      <a:pt x="607" y="159"/>
                      <a:pt x="720" y="93"/>
                    </a:cubicBezTo>
                    <a:cubicBezTo>
                      <a:pt x="833" y="27"/>
                      <a:pt x="963" y="6"/>
                      <a:pt x="1093" y="0"/>
                    </a:cubicBezTo>
                  </a:path>
                </a:pathLst>
              </a:custGeom>
              <a:noFill/>
              <a:ln w="9525" cap="flat" cmpd="sng">
                <a:solidFill>
                  <a:srgbClr val="FF0066"/>
                </a:solidFill>
                <a:prstDash val="solid"/>
                <a:round/>
                <a:headEnd type="none" w="med" len="med"/>
                <a:tailEnd type="triangle" w="med" len="med"/>
              </a:ln>
            </p:spPr>
            <p:txBody>
              <a:bodyPr/>
              <a:lstStyle/>
              <a:p>
                <a:endParaRPr lang="zh-CN" altLang="en-US" dirty="0"/>
              </a:p>
            </p:txBody>
          </p:sp>
          <p:sp>
            <p:nvSpPr>
              <p:cNvPr id="124" name="Freeform 37"/>
              <p:cNvSpPr/>
              <p:nvPr/>
            </p:nvSpPr>
            <p:spPr>
              <a:xfrm>
                <a:off x="2256" y="3187"/>
                <a:ext cx="641" cy="75"/>
              </a:xfrm>
              <a:custGeom>
                <a:avLst/>
                <a:gdLst/>
                <a:ahLst/>
                <a:cxnLst>
                  <a:cxn ang="0">
                    <a:pos x="0" y="0"/>
                  </a:cxn>
                  <a:cxn ang="0">
                    <a:pos x="470" y="19"/>
                  </a:cxn>
                  <a:cxn ang="0">
                    <a:pos x="912" y="77"/>
                  </a:cxn>
                  <a:cxn ang="0">
                    <a:pos x="1315" y="48"/>
                  </a:cxn>
                </a:cxnLst>
                <a:rect l="0" t="0" r="0" b="0"/>
                <a:pathLst>
                  <a:path w="1315" h="82">
                    <a:moveTo>
                      <a:pt x="0" y="0"/>
                    </a:moveTo>
                    <a:cubicBezTo>
                      <a:pt x="159" y="3"/>
                      <a:pt x="318" y="6"/>
                      <a:pt x="470" y="19"/>
                    </a:cubicBezTo>
                    <a:cubicBezTo>
                      <a:pt x="622" y="32"/>
                      <a:pt x="771" y="72"/>
                      <a:pt x="912" y="77"/>
                    </a:cubicBezTo>
                    <a:cubicBezTo>
                      <a:pt x="1053" y="82"/>
                      <a:pt x="1184" y="65"/>
                      <a:pt x="1315" y="48"/>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25" name="Freeform 38"/>
              <p:cNvSpPr/>
              <p:nvPr/>
            </p:nvSpPr>
            <p:spPr>
              <a:xfrm>
                <a:off x="2266" y="3249"/>
                <a:ext cx="641" cy="577"/>
              </a:xfrm>
              <a:custGeom>
                <a:avLst/>
                <a:gdLst/>
                <a:ahLst/>
                <a:cxnLst>
                  <a:cxn ang="0">
                    <a:pos x="0" y="53"/>
                  </a:cxn>
                  <a:cxn ang="0">
                    <a:pos x="259" y="82"/>
                  </a:cxn>
                  <a:cxn ang="0">
                    <a:pos x="720" y="543"/>
                  </a:cxn>
                  <a:cxn ang="0">
                    <a:pos x="1315" y="619"/>
                  </a:cxn>
                </a:cxnLst>
                <a:rect l="0" t="0" r="0" b="0"/>
                <a:pathLst>
                  <a:path w="1315" h="633">
                    <a:moveTo>
                      <a:pt x="0" y="53"/>
                    </a:moveTo>
                    <a:cubicBezTo>
                      <a:pt x="69" y="26"/>
                      <a:pt x="139" y="0"/>
                      <a:pt x="259" y="82"/>
                    </a:cubicBezTo>
                    <a:cubicBezTo>
                      <a:pt x="379" y="164"/>
                      <a:pt x="544" y="453"/>
                      <a:pt x="720" y="543"/>
                    </a:cubicBezTo>
                    <a:cubicBezTo>
                      <a:pt x="896" y="633"/>
                      <a:pt x="1105" y="626"/>
                      <a:pt x="1315" y="619"/>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26" name="Freeform 39"/>
              <p:cNvSpPr/>
              <p:nvPr/>
            </p:nvSpPr>
            <p:spPr>
              <a:xfrm>
                <a:off x="2275" y="3047"/>
                <a:ext cx="623" cy="366"/>
              </a:xfrm>
              <a:custGeom>
                <a:avLst/>
                <a:gdLst/>
                <a:ahLst/>
                <a:cxnLst>
                  <a:cxn ang="0">
                    <a:pos x="0" y="418"/>
                  </a:cxn>
                  <a:cxn ang="0">
                    <a:pos x="403" y="456"/>
                  </a:cxn>
                  <a:cxn ang="0">
                    <a:pos x="672" y="341"/>
                  </a:cxn>
                  <a:cxn ang="0">
                    <a:pos x="1123" y="53"/>
                  </a:cxn>
                  <a:cxn ang="0">
                    <a:pos x="1277" y="24"/>
                  </a:cxn>
                </a:cxnLst>
                <a:rect l="0" t="0" r="0" b="0"/>
                <a:pathLst>
                  <a:path w="1277" h="469">
                    <a:moveTo>
                      <a:pt x="0" y="418"/>
                    </a:moveTo>
                    <a:cubicBezTo>
                      <a:pt x="67" y="424"/>
                      <a:pt x="291" y="469"/>
                      <a:pt x="403" y="456"/>
                    </a:cubicBezTo>
                    <a:cubicBezTo>
                      <a:pt x="515" y="443"/>
                      <a:pt x="552" y="408"/>
                      <a:pt x="672" y="341"/>
                    </a:cubicBezTo>
                    <a:cubicBezTo>
                      <a:pt x="792" y="274"/>
                      <a:pt x="1022" y="106"/>
                      <a:pt x="1123" y="53"/>
                    </a:cubicBezTo>
                    <a:cubicBezTo>
                      <a:pt x="1224" y="0"/>
                      <a:pt x="1250" y="12"/>
                      <a:pt x="1277" y="24"/>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27" name="Freeform 40"/>
              <p:cNvSpPr/>
              <p:nvPr/>
            </p:nvSpPr>
            <p:spPr>
              <a:xfrm>
                <a:off x="2285" y="3349"/>
                <a:ext cx="637" cy="234"/>
              </a:xfrm>
              <a:custGeom>
                <a:avLst/>
                <a:gdLst/>
                <a:ahLst/>
                <a:cxnLst>
                  <a:cxn ang="0">
                    <a:pos x="0" y="221"/>
                  </a:cxn>
                  <a:cxn ang="0">
                    <a:pos x="374" y="278"/>
                  </a:cxn>
                  <a:cxn ang="0">
                    <a:pos x="902" y="57"/>
                  </a:cxn>
                  <a:cxn ang="0">
                    <a:pos x="1305" y="0"/>
                  </a:cxn>
                </a:cxnLst>
                <a:rect l="0" t="0" r="0" b="0"/>
                <a:pathLst>
                  <a:path w="1305" h="305">
                    <a:moveTo>
                      <a:pt x="0" y="221"/>
                    </a:moveTo>
                    <a:cubicBezTo>
                      <a:pt x="112" y="263"/>
                      <a:pt x="224" y="305"/>
                      <a:pt x="374" y="278"/>
                    </a:cubicBezTo>
                    <a:cubicBezTo>
                      <a:pt x="524" y="251"/>
                      <a:pt x="747" y="103"/>
                      <a:pt x="902" y="57"/>
                    </a:cubicBezTo>
                    <a:cubicBezTo>
                      <a:pt x="1057" y="11"/>
                      <a:pt x="1181" y="5"/>
                      <a:pt x="1305" y="0"/>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28" name="Freeform 41"/>
              <p:cNvSpPr/>
              <p:nvPr/>
            </p:nvSpPr>
            <p:spPr>
              <a:xfrm>
                <a:off x="2304" y="3456"/>
                <a:ext cx="623" cy="222"/>
              </a:xfrm>
              <a:custGeom>
                <a:avLst/>
                <a:gdLst/>
                <a:ahLst/>
                <a:cxnLst>
                  <a:cxn ang="0">
                    <a:pos x="0" y="240"/>
                  </a:cxn>
                  <a:cxn ang="0">
                    <a:pos x="317" y="269"/>
                  </a:cxn>
                  <a:cxn ang="0">
                    <a:pos x="883" y="48"/>
                  </a:cxn>
                  <a:cxn ang="0">
                    <a:pos x="1277" y="0"/>
                  </a:cxn>
                </a:cxnLst>
                <a:rect l="0" t="0" r="0" b="0"/>
                <a:pathLst>
                  <a:path w="1277" h="301">
                    <a:moveTo>
                      <a:pt x="0" y="240"/>
                    </a:moveTo>
                    <a:cubicBezTo>
                      <a:pt x="85" y="270"/>
                      <a:pt x="170" y="301"/>
                      <a:pt x="317" y="269"/>
                    </a:cubicBezTo>
                    <a:cubicBezTo>
                      <a:pt x="464" y="237"/>
                      <a:pt x="723" y="93"/>
                      <a:pt x="883" y="48"/>
                    </a:cubicBezTo>
                    <a:cubicBezTo>
                      <a:pt x="1043" y="3"/>
                      <a:pt x="1160" y="1"/>
                      <a:pt x="1277" y="0"/>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29" name="Freeform 44"/>
              <p:cNvSpPr/>
              <p:nvPr/>
            </p:nvSpPr>
            <p:spPr>
              <a:xfrm>
                <a:off x="2294" y="3734"/>
                <a:ext cx="623" cy="99"/>
              </a:xfrm>
              <a:custGeom>
                <a:avLst/>
                <a:gdLst/>
                <a:ahLst/>
                <a:cxnLst>
                  <a:cxn ang="0">
                    <a:pos x="0" y="0"/>
                  </a:cxn>
                  <a:cxn ang="0">
                    <a:pos x="596" y="106"/>
                  </a:cxn>
                  <a:cxn ang="0">
                    <a:pos x="960" y="20"/>
                  </a:cxn>
                  <a:cxn ang="0">
                    <a:pos x="1277" y="10"/>
                  </a:cxn>
                </a:cxnLst>
                <a:rect l="0" t="0" r="0" b="0"/>
                <a:pathLst>
                  <a:path w="1277" h="109">
                    <a:moveTo>
                      <a:pt x="0" y="0"/>
                    </a:moveTo>
                    <a:cubicBezTo>
                      <a:pt x="218" y="51"/>
                      <a:pt x="436" y="103"/>
                      <a:pt x="596" y="106"/>
                    </a:cubicBezTo>
                    <a:cubicBezTo>
                      <a:pt x="756" y="109"/>
                      <a:pt x="847" y="36"/>
                      <a:pt x="960" y="20"/>
                    </a:cubicBezTo>
                    <a:cubicBezTo>
                      <a:pt x="1073" y="4"/>
                      <a:pt x="1175" y="7"/>
                      <a:pt x="1277" y="10"/>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30" name="Freeform 45"/>
              <p:cNvSpPr/>
              <p:nvPr/>
            </p:nvSpPr>
            <p:spPr>
              <a:xfrm>
                <a:off x="2304" y="2896"/>
                <a:ext cx="623" cy="896"/>
              </a:xfrm>
              <a:custGeom>
                <a:avLst/>
                <a:gdLst/>
                <a:ahLst/>
                <a:cxnLst>
                  <a:cxn ang="0">
                    <a:pos x="0" y="983"/>
                  </a:cxn>
                  <a:cxn ang="0">
                    <a:pos x="422" y="810"/>
                  </a:cxn>
                  <a:cxn ang="0">
                    <a:pos x="806" y="129"/>
                  </a:cxn>
                  <a:cxn ang="0">
                    <a:pos x="1306" y="33"/>
                  </a:cxn>
                </a:cxnLst>
                <a:rect l="0" t="0" r="0" b="0"/>
                <a:pathLst>
                  <a:path w="1306" h="983">
                    <a:moveTo>
                      <a:pt x="0" y="983"/>
                    </a:moveTo>
                    <a:cubicBezTo>
                      <a:pt x="70" y="954"/>
                      <a:pt x="288" y="952"/>
                      <a:pt x="422" y="810"/>
                    </a:cubicBezTo>
                    <a:cubicBezTo>
                      <a:pt x="556" y="668"/>
                      <a:pt x="659" y="258"/>
                      <a:pt x="806" y="129"/>
                    </a:cubicBezTo>
                    <a:cubicBezTo>
                      <a:pt x="953" y="0"/>
                      <a:pt x="1136" y="1"/>
                      <a:pt x="1306" y="33"/>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131" name="Freeform 46"/>
              <p:cNvSpPr/>
              <p:nvPr/>
            </p:nvSpPr>
            <p:spPr>
              <a:xfrm>
                <a:off x="2304" y="3619"/>
                <a:ext cx="618" cy="342"/>
              </a:xfrm>
              <a:custGeom>
                <a:avLst/>
                <a:gdLst/>
                <a:ahLst/>
                <a:cxnLst>
                  <a:cxn ang="0">
                    <a:pos x="0" y="375"/>
                  </a:cxn>
                  <a:cxn ang="0">
                    <a:pos x="490" y="317"/>
                  </a:cxn>
                  <a:cxn ang="0">
                    <a:pos x="845" y="58"/>
                  </a:cxn>
                  <a:cxn ang="0">
                    <a:pos x="1267" y="0"/>
                  </a:cxn>
                </a:cxnLst>
                <a:rect l="0" t="0" r="0" b="0"/>
                <a:pathLst>
                  <a:path w="1267" h="375">
                    <a:moveTo>
                      <a:pt x="0" y="375"/>
                    </a:moveTo>
                    <a:cubicBezTo>
                      <a:pt x="174" y="372"/>
                      <a:pt x="349" y="370"/>
                      <a:pt x="490" y="317"/>
                    </a:cubicBezTo>
                    <a:cubicBezTo>
                      <a:pt x="631" y="264"/>
                      <a:pt x="715" y="111"/>
                      <a:pt x="845" y="58"/>
                    </a:cubicBezTo>
                    <a:cubicBezTo>
                      <a:pt x="975" y="5"/>
                      <a:pt x="1121" y="2"/>
                      <a:pt x="1267" y="0"/>
                    </a:cubicBez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grpSp>
        <p:sp>
          <p:nvSpPr>
            <p:cNvPr id="113" name="Oval 49"/>
            <p:cNvSpPr/>
            <p:nvPr/>
          </p:nvSpPr>
          <p:spPr>
            <a:xfrm>
              <a:off x="4399" y="2668"/>
              <a:ext cx="441" cy="1296"/>
            </a:xfrm>
            <a:prstGeom prst="ellipse">
              <a:avLst/>
            </a:prstGeom>
            <a:noFill/>
            <a:ln w="9525" cap="flat" cmpd="sng">
              <a:solidFill>
                <a:schemeClr val="tx1"/>
              </a:solidFill>
              <a:prstDash val="solid"/>
              <a:round/>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grpSp>
      <p:grpSp>
        <p:nvGrpSpPr>
          <p:cNvPr id="132" name="Group 61"/>
          <p:cNvGrpSpPr/>
          <p:nvPr/>
        </p:nvGrpSpPr>
        <p:grpSpPr>
          <a:xfrm>
            <a:off x="9041234" y="5563296"/>
            <a:ext cx="2611016" cy="673593"/>
            <a:chOff x="1255" y="3268"/>
            <a:chExt cx="1179" cy="629"/>
          </a:xfrm>
        </p:grpSpPr>
        <p:sp>
          <p:nvSpPr>
            <p:cNvPr id="133"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34"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35" name="Text Box 84"/>
            <p:cNvSpPr/>
            <p:nvPr/>
          </p:nvSpPr>
          <p:spPr>
            <a:xfrm>
              <a:off x="1255" y="3292"/>
              <a:ext cx="1179" cy="570"/>
            </a:xfrm>
            <a:prstGeom prst="roundRect">
              <a:avLst>
                <a:gd name="adj" fmla="val 16667"/>
              </a:avLst>
            </a:prstGeom>
            <a:noFill/>
            <a:ln w="9525">
              <a:noFill/>
            </a:ln>
          </p:spPr>
          <p:txBody>
            <a:bodyPr anchor="t">
              <a:spAutoFit/>
            </a:bodyPr>
            <a:lstStyle/>
            <a:p>
              <a:pPr algn="ctr">
                <a:spcBef>
                  <a:spcPct val="35000"/>
                </a:spcBef>
              </a:pPr>
              <a:r>
                <a:rPr lang="zh-CN" altLang="en-US" sz="1600" dirty="0">
                  <a:solidFill>
                    <a:schemeClr val="accent2"/>
                  </a:solidFill>
                  <a:latin typeface="Arial" panose="020B0604020202020204" pitchFamily="34" charset="0"/>
                  <a:ea typeface="华文中宋" panose="02010600040101010101" pitchFamily="2" charset="-122"/>
                </a:rPr>
                <a:t>主文件没有基于“非主码的字段”</a:t>
              </a:r>
              <a:r>
                <a:rPr lang="en-US" altLang="zh-CN" sz="1600" dirty="0">
                  <a:solidFill>
                    <a:schemeClr val="accent2"/>
                  </a:solidFill>
                  <a:latin typeface="Arial" panose="020B0604020202020204" pitchFamily="34" charset="0"/>
                  <a:ea typeface="华文中宋" panose="02010600040101010101" pitchFamily="2" charset="-122"/>
                </a:rPr>
                <a:t>T#</a:t>
              </a:r>
              <a:r>
                <a:rPr lang="zh-CN" altLang="en-US" sz="1600" dirty="0">
                  <a:solidFill>
                    <a:schemeClr val="accent2"/>
                  </a:solidFill>
                  <a:latin typeface="Arial" panose="020B0604020202020204" pitchFamily="34" charset="0"/>
                  <a:ea typeface="华文中宋" panose="02010600040101010101" pitchFamily="2" charset="-122"/>
                </a:rPr>
                <a:t>排序存储</a:t>
              </a:r>
              <a:endParaRPr lang="zh-CN" altLang="en-US" sz="1600" dirty="0">
                <a:solidFill>
                  <a:schemeClr val="accent2"/>
                </a:solidFill>
                <a:latin typeface="Arial" panose="020B0604020202020204" pitchFamily="34" charset="0"/>
                <a:ea typeface="华文中宋" panose="02010600040101010101" pitchFamily="2" charset="-122"/>
              </a:endParaRPr>
            </a:p>
          </p:txBody>
        </p:sp>
      </p:grpSp>
      <p:grpSp>
        <p:nvGrpSpPr>
          <p:cNvPr id="136" name="Group 65"/>
          <p:cNvGrpSpPr/>
          <p:nvPr/>
        </p:nvGrpSpPr>
        <p:grpSpPr>
          <a:xfrm>
            <a:off x="6256972" y="2699585"/>
            <a:ext cx="2587412" cy="686517"/>
            <a:chOff x="1254" y="3268"/>
            <a:chExt cx="1187" cy="629"/>
          </a:xfrm>
        </p:grpSpPr>
        <p:sp>
          <p:nvSpPr>
            <p:cNvPr id="137"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38"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39" name="Text Box 84"/>
            <p:cNvSpPr/>
            <p:nvPr/>
          </p:nvSpPr>
          <p:spPr>
            <a:xfrm>
              <a:off x="1254" y="3290"/>
              <a:ext cx="1187" cy="566"/>
            </a:xfrm>
            <a:prstGeom prst="roundRect">
              <a:avLst>
                <a:gd name="adj" fmla="val 16667"/>
              </a:avLst>
            </a:prstGeom>
            <a:noFill/>
            <a:ln w="9525">
              <a:noFill/>
            </a:ln>
          </p:spPr>
          <p:txBody>
            <a:bodyPr anchor="t">
              <a:spAutoFit/>
            </a:bodyPr>
            <a:lstStyle/>
            <a:p>
              <a:pPr algn="ctr">
                <a:spcBef>
                  <a:spcPct val="35000"/>
                </a:spcBef>
              </a:pPr>
              <a:r>
                <a:rPr lang="en-US" altLang="zh-CN" sz="1600" dirty="0">
                  <a:solidFill>
                    <a:schemeClr val="accent2"/>
                  </a:solidFill>
                  <a:latin typeface="Arial" panose="020B0604020202020204" pitchFamily="34" charset="0"/>
                  <a:ea typeface="华文中宋" panose="02010600040101010101" pitchFamily="2" charset="-122"/>
                </a:rPr>
                <a:t>T#</a:t>
              </a:r>
              <a:r>
                <a:rPr lang="zh-CN" altLang="en-US" sz="1600" dirty="0">
                  <a:solidFill>
                    <a:schemeClr val="accent2"/>
                  </a:solidFill>
                  <a:latin typeface="Arial" panose="020B0604020202020204" pitchFamily="34" charset="0"/>
                  <a:ea typeface="华文中宋" panose="02010600040101010101" pitchFamily="2" charset="-122"/>
                </a:rPr>
                <a:t>是“非主码字段”，有重复值，排序存储 </a:t>
              </a:r>
              <a:endParaRPr lang="zh-CN" altLang="en-US" sz="1600" dirty="0">
                <a:solidFill>
                  <a:schemeClr val="accent2"/>
                </a:solidFill>
                <a:latin typeface="Arial" panose="020B0604020202020204" pitchFamily="34" charset="0"/>
                <a:ea typeface="华文中宋" panose="02010600040101010101" pitchFamily="2" charset="-122"/>
              </a:endParaRPr>
            </a:p>
          </p:txBody>
        </p:sp>
      </p:grpSp>
      <p:sp>
        <p:nvSpPr>
          <p:cNvPr id="140" name="Line 80"/>
          <p:cNvSpPr/>
          <p:nvPr/>
        </p:nvSpPr>
        <p:spPr>
          <a:xfrm>
            <a:off x="5999584" y="1934060"/>
            <a:ext cx="65857" cy="4581040"/>
          </a:xfrm>
          <a:prstGeom prst="line">
            <a:avLst/>
          </a:prstGeom>
          <a:ln w="76200" cap="flat" cmpd="sng">
            <a:solidFill>
              <a:schemeClr val="tx1"/>
            </a:solidFill>
            <a:prstDash val="sysDot"/>
            <a:roun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500" fill="hold"/>
                                        <p:tgtEl>
                                          <p:spTgt spid="73"/>
                                        </p:tgtEl>
                                        <p:attrNameLst>
                                          <p:attrName>ppt_x</p:attrName>
                                        </p:attrNameLst>
                                      </p:cBhvr>
                                      <p:tavLst>
                                        <p:tav tm="0">
                                          <p:val>
                                            <p:strVal val="#ppt_x"/>
                                          </p:val>
                                        </p:tav>
                                        <p:tav tm="100000">
                                          <p:val>
                                            <p:strVal val="#ppt_x"/>
                                          </p:val>
                                        </p:tav>
                                      </p:tavLst>
                                    </p:anim>
                                    <p:anim calcmode="lin" valueType="num">
                                      <p:cBhvr additive="base">
                                        <p:cTn id="8"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7"/>
                                        </p:tgtEl>
                                        <p:attrNameLst>
                                          <p:attrName>style.visibility</p:attrName>
                                        </p:attrNameLst>
                                      </p:cBhvr>
                                      <p:to>
                                        <p:strVal val="visible"/>
                                      </p:to>
                                    </p:set>
                                    <p:anim calcmode="lin" valueType="num">
                                      <p:cBhvr additive="base">
                                        <p:cTn id="13" dur="500" fill="hold"/>
                                        <p:tgtEl>
                                          <p:spTgt spid="77"/>
                                        </p:tgtEl>
                                        <p:attrNameLst>
                                          <p:attrName>ppt_x</p:attrName>
                                        </p:attrNameLst>
                                      </p:cBhvr>
                                      <p:tavLst>
                                        <p:tav tm="0">
                                          <p:val>
                                            <p:strVal val="#ppt_x"/>
                                          </p:val>
                                        </p:tav>
                                        <p:tav tm="100000">
                                          <p:val>
                                            <p:strVal val="#ppt_x"/>
                                          </p:val>
                                        </p:tav>
                                      </p:tavLst>
                                    </p:anim>
                                    <p:anim calcmode="lin" valueType="num">
                                      <p:cBhvr additive="base">
                                        <p:cTn id="14"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2"/>
                                        </p:tgtEl>
                                        <p:attrNameLst>
                                          <p:attrName>style.visibility</p:attrName>
                                        </p:attrNameLst>
                                      </p:cBhvr>
                                      <p:to>
                                        <p:strVal val="visible"/>
                                      </p:to>
                                    </p:set>
                                    <p:anim calcmode="lin" valueType="num">
                                      <p:cBhvr additive="base">
                                        <p:cTn id="19" dur="500" fill="hold"/>
                                        <p:tgtEl>
                                          <p:spTgt spid="132"/>
                                        </p:tgtEl>
                                        <p:attrNameLst>
                                          <p:attrName>ppt_x</p:attrName>
                                        </p:attrNameLst>
                                      </p:cBhvr>
                                      <p:tavLst>
                                        <p:tav tm="0">
                                          <p:val>
                                            <p:strVal val="#ppt_x"/>
                                          </p:val>
                                        </p:tav>
                                        <p:tav tm="100000">
                                          <p:val>
                                            <p:strVal val="#ppt_x"/>
                                          </p:val>
                                        </p:tav>
                                      </p:tavLst>
                                    </p:anim>
                                    <p:anim calcmode="lin" valueType="num">
                                      <p:cBhvr additive="base">
                                        <p:cTn id="20" dur="500" fill="hold"/>
                                        <p:tgtEl>
                                          <p:spTgt spid="13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6"/>
                                        </p:tgtEl>
                                        <p:attrNameLst>
                                          <p:attrName>style.visibility</p:attrName>
                                        </p:attrNameLst>
                                      </p:cBhvr>
                                      <p:to>
                                        <p:strVal val="visible"/>
                                      </p:to>
                                    </p:set>
                                    <p:anim calcmode="lin" valueType="num">
                                      <p:cBhvr additive="base">
                                        <p:cTn id="25" dur="500" fill="hold"/>
                                        <p:tgtEl>
                                          <p:spTgt spid="136"/>
                                        </p:tgtEl>
                                        <p:attrNameLst>
                                          <p:attrName>ppt_x</p:attrName>
                                        </p:attrNameLst>
                                      </p:cBhvr>
                                      <p:tavLst>
                                        <p:tav tm="0">
                                          <p:val>
                                            <p:strVal val="#ppt_x"/>
                                          </p:val>
                                        </p:tav>
                                        <p:tav tm="100000">
                                          <p:val>
                                            <p:strVal val="#ppt_x"/>
                                          </p:val>
                                        </p:tav>
                                      </p:tavLst>
                                    </p:anim>
                                    <p:anim calcmode="lin" valueType="num">
                                      <p:cBhvr additive="base">
                                        <p:cTn id="26" dur="500" fill="hold"/>
                                        <p:tgtEl>
                                          <p:spTgt spid="1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lnSpcReduction="10000"/>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(1) </a:t>
            </a:r>
            <a:r>
              <a:rPr lang="zh-CN" altLang="en-US" sz="2600" dirty="0">
                <a:latin typeface="微软雅黑" panose="020B0503020204020204" pitchFamily="34" charset="-122"/>
                <a:ea typeface="微软雅黑" panose="020B0503020204020204" pitchFamily="34" charset="-122"/>
              </a:rPr>
              <a:t>聚簇索引和非聚簇索引</a:t>
            </a:r>
            <a:endParaRPr lang="zh-CN" altLang="en-US" sz="2600" dirty="0">
              <a:latin typeface="微软雅黑" panose="020B0503020204020204" pitchFamily="34" charset="-122"/>
              <a:ea typeface="微软雅黑" panose="020B0503020204020204" pitchFamily="34" charset="-122"/>
            </a:endParaRPr>
          </a:p>
          <a:p>
            <a:pPr marL="0" indent="0">
              <a:buNone/>
            </a:pPr>
            <a:r>
              <a:rPr lang="zh-CN" altLang="en-US" sz="2000" b="0" dirty="0"/>
              <a:t>聚簇索引</a:t>
            </a:r>
            <a:r>
              <a:rPr lang="en-US" altLang="zh-CN" sz="2000" b="0" dirty="0"/>
              <a:t>—</a:t>
            </a:r>
            <a:r>
              <a:rPr lang="zh-CN" altLang="en-US" sz="2000" b="0" dirty="0"/>
              <a:t>是指索引中邻近的记录在主文件中也是临近存储的；      </a:t>
            </a:r>
            <a:endParaRPr lang="zh-CN" altLang="en-US" sz="2000" b="0" dirty="0"/>
          </a:p>
          <a:p>
            <a:pPr marL="0" indent="0">
              <a:buNone/>
            </a:pPr>
            <a:r>
              <a:rPr lang="zh-CN" altLang="en-US" sz="2000" b="0" dirty="0"/>
              <a:t>非聚簇索引</a:t>
            </a:r>
            <a:r>
              <a:rPr lang="en-US" altLang="zh-CN" sz="2000" b="0" dirty="0"/>
              <a:t>—</a:t>
            </a:r>
            <a:r>
              <a:rPr lang="zh-CN" altLang="en-US" sz="2000" b="0" dirty="0"/>
              <a:t>是指索引中邻近的记录在主文件中不一定是邻近存储的。</a:t>
            </a:r>
            <a:endParaRPr lang="zh-CN" altLang="en-US" sz="2000" b="0" dirty="0"/>
          </a:p>
          <a:p>
            <a:pPr>
              <a:lnSpc>
                <a:spcPct val="100000"/>
              </a:lnSpc>
              <a:buFont typeface="Wingdings" panose="05000000000000000000" pitchFamily="2" charset="2"/>
              <a:buChar char="l"/>
            </a:pPr>
            <a:r>
              <a:rPr lang="zh-CN" altLang="en-US" sz="1900" b="0" dirty="0"/>
              <a:t>如果主文件的某一</a:t>
            </a:r>
            <a:r>
              <a:rPr lang="zh-CN" altLang="en-US" sz="1900" b="0" dirty="0">
                <a:solidFill>
                  <a:srgbClr val="FF0000"/>
                </a:solidFill>
              </a:rPr>
              <a:t>排序</a:t>
            </a:r>
            <a:r>
              <a:rPr lang="zh-CN" altLang="en-US" sz="1900" b="0" dirty="0"/>
              <a:t>字段</a:t>
            </a:r>
            <a:r>
              <a:rPr lang="zh-CN" altLang="en-US" sz="1900" b="0" dirty="0">
                <a:solidFill>
                  <a:srgbClr val="FF0000"/>
                </a:solidFill>
              </a:rPr>
              <a:t>不是主码</a:t>
            </a:r>
            <a:r>
              <a:rPr lang="zh-CN" altLang="en-US" sz="1900" b="0" dirty="0"/>
              <a:t>，则该字段上每个记录取值便不唯一，此时该字段被称为</a:t>
            </a:r>
            <a:r>
              <a:rPr lang="zh-CN" altLang="en-US" sz="1900" b="0" dirty="0">
                <a:solidFill>
                  <a:srgbClr val="FF0000"/>
                </a:solidFill>
              </a:rPr>
              <a:t>聚簇字段；聚簇索引通常是定义在聚簇字段上。</a:t>
            </a:r>
            <a:endParaRPr lang="zh-CN" altLang="en-US" sz="1900" b="0" dirty="0">
              <a:solidFill>
                <a:srgbClr val="FF0000"/>
              </a:solidFill>
            </a:endParaRPr>
          </a:p>
          <a:p>
            <a:pPr>
              <a:lnSpc>
                <a:spcPct val="100000"/>
              </a:lnSpc>
              <a:buFont typeface="Wingdings" panose="05000000000000000000" pitchFamily="2" charset="2"/>
              <a:buChar char="l"/>
            </a:pPr>
            <a:r>
              <a:rPr lang="zh-CN" altLang="en-US" sz="1900" b="0" dirty="0"/>
              <a:t>聚簇索引通常是对聚簇字段上的每一个不同值有一个索引项（索引项的总数和主文件中聚簇字段上不同值的数目相同），索引字段即是聚簇字段的不同值，由于有相同聚簇字段值的记录可能存储于若干块中，则索引项的指针指向其中的第一个块。</a:t>
            </a:r>
            <a:endParaRPr lang="zh-CN" altLang="en-US" sz="1900" b="0" dirty="0"/>
          </a:p>
          <a:p>
            <a:pPr>
              <a:lnSpc>
                <a:spcPct val="100000"/>
              </a:lnSpc>
              <a:buFont typeface="Wingdings" panose="05000000000000000000" pitchFamily="2" charset="2"/>
              <a:buChar char="l"/>
            </a:pPr>
            <a:r>
              <a:rPr lang="zh-CN" altLang="en-US" sz="1900" b="0" dirty="0"/>
              <a:t>一个主文件只能有一个聚簇索引文件，但可以有多个非聚簇索引文件</a:t>
            </a:r>
            <a:endParaRPr lang="zh-CN" altLang="en-US" sz="1900" b="0" dirty="0"/>
          </a:p>
          <a:p>
            <a:pPr>
              <a:lnSpc>
                <a:spcPct val="100000"/>
              </a:lnSpc>
              <a:buFont typeface="Wingdings" panose="05000000000000000000" pitchFamily="2" charset="2"/>
              <a:buChar char="l"/>
            </a:pPr>
            <a:r>
              <a:rPr lang="zh-CN" altLang="en-US" sz="1900" b="0" dirty="0"/>
              <a:t>主索引通常是聚簇索引</a:t>
            </a:r>
            <a:r>
              <a:rPr lang="en-US" altLang="zh-CN" sz="1900" b="0" dirty="0"/>
              <a:t>(</a:t>
            </a:r>
            <a:r>
              <a:rPr lang="zh-CN" altLang="en-US" sz="1900" b="0" dirty="0"/>
              <a:t>但其索引项总数不一定和主文件中聚簇字段上不同值的数目相同，其和主文件存储块数目相同</a:t>
            </a:r>
            <a:r>
              <a:rPr lang="en-US" altLang="zh-CN" sz="1900" b="0" dirty="0"/>
              <a:t>)</a:t>
            </a:r>
            <a:r>
              <a:rPr lang="zh-CN" altLang="en-US" sz="1900" b="0" dirty="0"/>
              <a:t>；辅助索引通常是非聚簇索引。</a:t>
            </a:r>
            <a:endParaRPr lang="zh-CN" altLang="en-US" sz="1900" b="0" dirty="0"/>
          </a:p>
          <a:p>
            <a:pPr>
              <a:lnSpc>
                <a:spcPct val="100000"/>
              </a:lnSpc>
              <a:buFont typeface="Wingdings" panose="05000000000000000000" pitchFamily="2" charset="2"/>
              <a:buChar char="l"/>
            </a:pPr>
            <a:r>
              <a:rPr lang="zh-CN" altLang="en-US" sz="1900" b="0" dirty="0"/>
              <a:t>主索引</a:t>
            </a:r>
            <a:r>
              <a:rPr lang="en-US" altLang="zh-CN" sz="1900" b="0" dirty="0"/>
              <a:t>/</a:t>
            </a:r>
            <a:r>
              <a:rPr lang="zh-CN" altLang="en-US" sz="1900" b="0" dirty="0"/>
              <a:t>聚簇索引是能够决定记录存储位置的索引；而非聚簇索引则只能用于查询，指出已存储记录的位置。</a:t>
            </a:r>
            <a:endParaRPr lang="zh-CN" altLang="en-US" sz="1900" b="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-其他类型的索引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倒排索引</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1800" b="0" dirty="0"/>
              <a:t>正排：一个文档包含了哪些词汇</a:t>
            </a:r>
            <a:r>
              <a:rPr lang="en-US" altLang="zh-CN" sz="1800" b="0" dirty="0"/>
              <a:t>? </a:t>
            </a:r>
            <a:r>
              <a:rPr lang="en-US" altLang="zh-CN" sz="1800" b="0" dirty="0">
                <a:solidFill>
                  <a:srgbClr val="FF0000"/>
                </a:solidFill>
              </a:rPr>
              <a:t>#Doc1, { Word1,Word2,… }</a:t>
            </a:r>
            <a:endParaRPr lang="en-US" altLang="zh-CN" sz="1800" b="0" dirty="0">
              <a:solidFill>
                <a:srgbClr val="FF0000"/>
              </a:solidFill>
            </a:endParaRPr>
          </a:p>
          <a:p>
            <a:pPr marL="0" indent="0">
              <a:lnSpc>
                <a:spcPct val="100000"/>
              </a:lnSpc>
              <a:buNone/>
            </a:pPr>
            <a:r>
              <a:rPr lang="zh-CN" altLang="en-US" sz="1800" b="0" dirty="0"/>
              <a:t>倒排：一个词汇包含在哪些文档中？ </a:t>
            </a:r>
            <a:r>
              <a:rPr lang="en-US" altLang="zh-CN" sz="1800" b="0" dirty="0">
                <a:solidFill>
                  <a:srgbClr val="FF0000"/>
                </a:solidFill>
              </a:rPr>
              <a:t>Word1, { #Doc1, #Doc2, … }</a:t>
            </a:r>
            <a:endParaRPr lang="en-US" altLang="zh-CN" sz="1800" b="0" dirty="0">
              <a:solidFill>
                <a:srgbClr val="FF0000"/>
              </a:solidFill>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-其他类型的索引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pic>
        <p:nvPicPr>
          <p:cNvPr id="2" name="Picture 3"/>
          <p:cNvPicPr>
            <a:picLocks noChangeAspect="1"/>
          </p:cNvPicPr>
          <p:nvPr/>
        </p:nvPicPr>
        <p:blipFill>
          <a:blip r:embed="rId1">
            <a:clrChange>
              <a:clrFrom>
                <a:srgbClr val="FFFFFF"/>
              </a:clrFrom>
              <a:clrTo>
                <a:srgbClr val="FFFFFF">
                  <a:alpha val="0"/>
                </a:srgbClr>
              </a:clrTo>
            </a:clrChange>
          </a:blip>
          <a:stretch>
            <a:fillRect/>
          </a:stretch>
        </p:blipFill>
        <p:spPr>
          <a:xfrm>
            <a:off x="1812930" y="2680039"/>
            <a:ext cx="3089699" cy="3635944"/>
          </a:xfrm>
          <a:prstGeom prst="rect">
            <a:avLst/>
          </a:prstGeom>
          <a:noFill/>
          <a:ln w="9525">
            <a:noFill/>
          </a:ln>
        </p:spPr>
      </p:pic>
      <p:sp>
        <p:nvSpPr>
          <p:cNvPr id="4" name="Text Box 4"/>
          <p:cNvSpPr txBox="1"/>
          <p:nvPr/>
        </p:nvSpPr>
        <p:spPr>
          <a:xfrm>
            <a:off x="1670120" y="6367954"/>
            <a:ext cx="3281362" cy="338554"/>
          </a:xfrm>
          <a:prstGeom prst="rect">
            <a:avLst/>
          </a:prstGeom>
          <a:solidFill>
            <a:schemeClr val="tx2">
              <a:alpha val="85881"/>
            </a:schemeClr>
          </a:solidFill>
          <a:ln w="9525">
            <a:noFill/>
          </a:ln>
        </p:spPr>
        <p:txBody>
          <a:bodyPr wrap="square" anchor="t">
            <a:spAutoFit/>
          </a:bodyPr>
          <a:lstStyle/>
          <a:p>
            <a:r>
              <a:rPr lang="zh-CN" altLang="en-US" sz="1600" dirty="0">
                <a:solidFill>
                  <a:schemeClr val="bg1"/>
                </a:solidFill>
                <a:latin typeface="微软雅黑" panose="020B0503020204020204" pitchFamily="34" charset="-122"/>
                <a:ea typeface="微软雅黑" panose="020B0503020204020204" pitchFamily="34" charset="-122"/>
              </a:rPr>
              <a:t>怎样按照关键词找到相应的文档呢</a:t>
            </a:r>
            <a:r>
              <a:rPr lang="en-US" altLang="zh-CN" sz="1600" dirty="0">
                <a:solidFill>
                  <a:schemeClr val="bg1"/>
                </a:solidFill>
                <a:latin typeface="微软雅黑" panose="020B0503020204020204" pitchFamily="34" charset="-122"/>
                <a:ea typeface="微软雅黑" panose="020B0503020204020204" pitchFamily="34" charset="-122"/>
              </a:rPr>
              <a:t>?</a:t>
            </a: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8" name="Text Box 5"/>
          <p:cNvSpPr txBox="1"/>
          <p:nvPr/>
        </p:nvSpPr>
        <p:spPr>
          <a:xfrm>
            <a:off x="5107335" y="3908425"/>
            <a:ext cx="938212" cy="523220"/>
          </a:xfrm>
          <a:prstGeom prst="rect">
            <a:avLst/>
          </a:prstGeom>
          <a:solidFill>
            <a:schemeClr val="tx2"/>
          </a:solidFill>
          <a:ln w="9525">
            <a:noFill/>
          </a:ln>
        </p:spPr>
        <p:txBody>
          <a:bodyPr wrap="square" anchor="t">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对所有文档建立</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9" name="Freeform 6"/>
          <p:cNvSpPr/>
          <p:nvPr/>
        </p:nvSpPr>
        <p:spPr>
          <a:xfrm>
            <a:off x="4951482" y="2819400"/>
            <a:ext cx="1680563" cy="763583"/>
          </a:xfrm>
          <a:custGeom>
            <a:avLst/>
            <a:gdLst/>
            <a:ahLst/>
            <a:cxnLst>
              <a:cxn ang="0">
                <a:pos x="815" y="1168"/>
              </a:cxn>
              <a:cxn ang="0">
                <a:pos x="512" y="826"/>
              </a:cxn>
              <a:cxn ang="0">
                <a:pos x="477" y="256"/>
              </a:cxn>
              <a:cxn ang="0">
                <a:pos x="0" y="0"/>
              </a:cxn>
            </a:cxnLst>
            <a:rect l="0" t="0" r="0" b="0"/>
            <a:pathLst>
              <a:path w="815" h="1168">
                <a:moveTo>
                  <a:pt x="815" y="1168"/>
                </a:moveTo>
                <a:cubicBezTo>
                  <a:pt x="766" y="1111"/>
                  <a:pt x="568" y="978"/>
                  <a:pt x="512" y="826"/>
                </a:cubicBezTo>
                <a:cubicBezTo>
                  <a:pt x="456" y="674"/>
                  <a:pt x="562" y="394"/>
                  <a:pt x="477" y="256"/>
                </a:cubicBezTo>
                <a:cubicBezTo>
                  <a:pt x="393" y="118"/>
                  <a:pt x="196" y="58"/>
                  <a:pt x="0" y="0"/>
                </a:cubicBezTo>
              </a:path>
            </a:pathLst>
          </a:custGeom>
          <a:noFill/>
          <a:ln w="38100" cap="flat" cmpd="sng">
            <a:solidFill>
              <a:schemeClr val="tx1"/>
            </a:solidFill>
            <a:prstDash val="solid"/>
            <a:round/>
            <a:headEnd type="none" w="med" len="med"/>
            <a:tailEnd type="triangle" w="med" len="med"/>
          </a:ln>
        </p:spPr>
        <p:txBody>
          <a:bodyPr/>
          <a:lstStyle/>
          <a:p>
            <a:endParaRPr lang="zh-CN" altLang="en-US"/>
          </a:p>
        </p:txBody>
      </p:sp>
      <p:sp>
        <p:nvSpPr>
          <p:cNvPr id="10" name="Line 7"/>
          <p:cNvSpPr/>
          <p:nvPr/>
        </p:nvSpPr>
        <p:spPr>
          <a:xfrm flipV="1">
            <a:off x="4867622" y="4457700"/>
            <a:ext cx="1806228" cy="4763"/>
          </a:xfrm>
          <a:prstGeom prst="line">
            <a:avLst/>
          </a:prstGeom>
          <a:ln w="28575" cap="flat" cmpd="sng">
            <a:solidFill>
              <a:schemeClr val="tx1"/>
            </a:solidFill>
            <a:prstDash val="solid"/>
            <a:round/>
            <a:headEnd type="none" w="med" len="med"/>
            <a:tailEnd type="triangle" w="med" len="med"/>
          </a:ln>
        </p:spPr>
      </p:sp>
      <p:sp>
        <p:nvSpPr>
          <p:cNvPr id="11" name="Freeform 8"/>
          <p:cNvSpPr/>
          <p:nvPr/>
        </p:nvSpPr>
        <p:spPr>
          <a:xfrm>
            <a:off x="9622895" y="3051297"/>
            <a:ext cx="941388" cy="796925"/>
          </a:xfrm>
          <a:custGeom>
            <a:avLst/>
            <a:gdLst/>
            <a:ahLst/>
            <a:cxnLst>
              <a:cxn ang="0">
                <a:pos x="933" y="0"/>
              </a:cxn>
              <a:cxn ang="0">
                <a:pos x="479" y="170"/>
              </a:cxn>
              <a:cxn ang="0">
                <a:pos x="252" y="519"/>
              </a:cxn>
              <a:cxn ang="0">
                <a:pos x="0" y="632"/>
              </a:cxn>
            </a:cxnLst>
            <a:rect l="0" t="0" r="0" b="0"/>
            <a:pathLst>
              <a:path w="933" h="632">
                <a:moveTo>
                  <a:pt x="933" y="0"/>
                </a:moveTo>
                <a:cubicBezTo>
                  <a:pt x="763" y="42"/>
                  <a:pt x="593" y="84"/>
                  <a:pt x="479" y="170"/>
                </a:cubicBezTo>
                <a:cubicBezTo>
                  <a:pt x="365" y="256"/>
                  <a:pt x="332" y="442"/>
                  <a:pt x="252" y="519"/>
                </a:cubicBezTo>
                <a:cubicBezTo>
                  <a:pt x="172" y="596"/>
                  <a:pt x="86" y="614"/>
                  <a:pt x="0" y="632"/>
                </a:cubicBezTo>
              </a:path>
            </a:pathLst>
          </a:custGeom>
          <a:noFill/>
          <a:ln w="152400" cap="flat" cmpd="sng">
            <a:solidFill>
              <a:schemeClr val="tx1"/>
            </a:solidFill>
            <a:prstDash val="solid"/>
            <a:round/>
            <a:headEnd type="none" w="med" len="med"/>
            <a:tailEnd type="triangle" w="med" len="med"/>
          </a:ln>
        </p:spPr>
        <p:txBody>
          <a:bodyPr/>
          <a:lstStyle/>
          <a:p>
            <a:endParaRPr lang="zh-CN" altLang="en-US"/>
          </a:p>
        </p:txBody>
      </p:sp>
      <p:sp>
        <p:nvSpPr>
          <p:cNvPr id="12" name="Text Box 9"/>
          <p:cNvSpPr txBox="1"/>
          <p:nvPr/>
        </p:nvSpPr>
        <p:spPr>
          <a:xfrm>
            <a:off x="10285670" y="3357625"/>
            <a:ext cx="1327150" cy="366712"/>
          </a:xfrm>
          <a:prstGeom prst="rect">
            <a:avLst/>
          </a:prstGeom>
          <a:noFill/>
          <a:ln w="9525">
            <a:noFill/>
          </a:ln>
        </p:spPr>
        <p:txBody>
          <a:bodyPr wrap="none" anchor="t">
            <a:spAutoFit/>
          </a:bodyPr>
          <a:lstStyle/>
          <a:p>
            <a:r>
              <a:rPr lang="zh-CN" altLang="en-US" sz="1800" dirty="0">
                <a:latin typeface="微软雅黑" panose="020B0503020204020204" pitchFamily="34" charset="-122"/>
                <a:ea typeface="微软雅黑" panose="020B0503020204020204" pitchFamily="34" charset="-122"/>
              </a:rPr>
              <a:t>关键词查询</a:t>
            </a:r>
            <a:endParaRPr lang="zh-CN" altLang="en-US" sz="1800" dirty="0">
              <a:latin typeface="微软雅黑" panose="020B0503020204020204" pitchFamily="34" charset="-122"/>
              <a:ea typeface="微软雅黑" panose="020B0503020204020204" pitchFamily="34" charset="-122"/>
            </a:endParaRPr>
          </a:p>
        </p:txBody>
      </p:sp>
      <p:sp>
        <p:nvSpPr>
          <p:cNvPr id="13" name="Text Box 10"/>
          <p:cNvSpPr txBox="1"/>
          <p:nvPr/>
        </p:nvSpPr>
        <p:spPr>
          <a:xfrm>
            <a:off x="5344747" y="3031514"/>
            <a:ext cx="569913" cy="517525"/>
          </a:xfrm>
          <a:prstGeom prst="rect">
            <a:avLst/>
          </a:prstGeom>
          <a:solidFill>
            <a:schemeClr val="tx2"/>
          </a:solidFill>
          <a:ln w="9525">
            <a:noFill/>
          </a:ln>
        </p:spPr>
        <p:txBody>
          <a:bodyPr anchor="t">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查找文档</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nvGrpSpPr>
          <p:cNvPr id="14" name="Group 11"/>
          <p:cNvGrpSpPr/>
          <p:nvPr/>
        </p:nvGrpSpPr>
        <p:grpSpPr>
          <a:xfrm>
            <a:off x="6657445" y="3194225"/>
            <a:ext cx="2965450" cy="1900238"/>
            <a:chOff x="3271" y="3065"/>
            <a:chExt cx="1868" cy="1197"/>
          </a:xfrm>
        </p:grpSpPr>
        <p:pic>
          <p:nvPicPr>
            <p:cNvPr id="15" name="Picture 12"/>
            <p:cNvPicPr>
              <a:picLocks noChangeAspect="1"/>
            </p:cNvPicPr>
            <p:nvPr/>
          </p:nvPicPr>
          <p:blipFill>
            <a:blip r:embed="rId2">
              <a:clrChange>
                <a:clrFrom>
                  <a:srgbClr val="FFFFFF"/>
                </a:clrFrom>
                <a:clrTo>
                  <a:srgbClr val="FFFFFF">
                    <a:alpha val="0"/>
                  </a:srgbClr>
                </a:clrTo>
              </a:clrChange>
            </a:blip>
            <a:stretch>
              <a:fillRect/>
            </a:stretch>
          </p:blipFill>
          <p:spPr>
            <a:xfrm>
              <a:off x="3271" y="3266"/>
              <a:ext cx="1868" cy="996"/>
            </a:xfrm>
            <a:prstGeom prst="rect">
              <a:avLst/>
            </a:prstGeom>
            <a:noFill/>
            <a:ln w="9525">
              <a:noFill/>
            </a:ln>
          </p:spPr>
        </p:pic>
        <p:sp>
          <p:nvSpPr>
            <p:cNvPr id="16" name="Rectangle 13"/>
            <p:cNvSpPr/>
            <p:nvPr/>
          </p:nvSpPr>
          <p:spPr>
            <a:xfrm>
              <a:off x="3271" y="3065"/>
              <a:ext cx="1564" cy="212"/>
            </a:xfrm>
            <a:prstGeom prst="rect">
              <a:avLst/>
            </a:prstGeom>
            <a:solidFill>
              <a:schemeClr val="tx2"/>
            </a:solidFill>
            <a:ln w="9525">
              <a:noFill/>
            </a:ln>
          </p:spPr>
          <p:txBody>
            <a:bodyPr wrap="none" anchor="t">
              <a:spAutoFit/>
            </a:bodyPr>
            <a:lstStyle/>
            <a:p>
              <a:pPr eaLnBrk="0" hangingPunct="0"/>
              <a:r>
                <a:rPr lang="zh-CN" altLang="en-US" sz="1600" dirty="0">
                  <a:solidFill>
                    <a:schemeClr val="bg1"/>
                  </a:solidFill>
                  <a:latin typeface="微软雅黑" panose="020B0503020204020204" pitchFamily="34" charset="-122"/>
                  <a:ea typeface="微软雅黑" panose="020B0503020204020204" pitchFamily="34" charset="-122"/>
                </a:rPr>
                <a:t>关键词索引表</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倒排索引</a:t>
              </a:r>
              <a:endParaRPr lang="zh-CN" altLang="en-US" sz="1600" dirty="0">
                <a:solidFill>
                  <a:schemeClr val="bg1"/>
                </a:solidFill>
                <a:latin typeface="微软雅黑" panose="020B0503020204020204" pitchFamily="34" charset="-122"/>
                <a:ea typeface="微软雅黑" panose="020B0503020204020204" pitchFamily="34" charset="-122"/>
              </a:endParaRPr>
            </a:p>
          </p:txBody>
        </p:sp>
      </p:grpSp>
      <p:grpSp>
        <p:nvGrpSpPr>
          <p:cNvPr id="17" name="Group 49"/>
          <p:cNvGrpSpPr/>
          <p:nvPr/>
        </p:nvGrpSpPr>
        <p:grpSpPr>
          <a:xfrm>
            <a:off x="6657445" y="5144564"/>
            <a:ext cx="2965450" cy="1478936"/>
            <a:chOff x="3346" y="3181"/>
            <a:chExt cx="2067" cy="1043"/>
          </a:xfrm>
        </p:grpSpPr>
        <p:sp>
          <p:nvSpPr>
            <p:cNvPr id="18" name="Rectangle 48"/>
            <p:cNvSpPr/>
            <p:nvPr/>
          </p:nvSpPr>
          <p:spPr>
            <a:xfrm>
              <a:off x="3346" y="3181"/>
              <a:ext cx="2067" cy="1043"/>
            </a:xfrm>
            <a:prstGeom prst="rect">
              <a:avLst/>
            </a:prstGeom>
            <a:solidFill>
              <a:srgbClr val="FFFF66"/>
            </a:solidFill>
            <a:ln w="9525">
              <a:noFill/>
            </a:ln>
          </p:spPr>
          <p:txBody>
            <a:bodyPr anchor="ctr">
              <a:spAutoFit/>
            </a:bodyPr>
            <a:lstStyle/>
            <a:p>
              <a:endParaRPr lang="zh-CN" altLang="en-US" dirty="0">
                <a:latin typeface="Times New Roman" panose="02020603050405020304" pitchFamily="18" charset="0"/>
                <a:ea typeface="楷体_GB2312" pitchFamily="49" charset="-122"/>
              </a:endParaRPr>
            </a:p>
          </p:txBody>
        </p:sp>
        <p:grpSp>
          <p:nvGrpSpPr>
            <p:cNvPr id="19" name="Group 47"/>
            <p:cNvGrpSpPr/>
            <p:nvPr/>
          </p:nvGrpSpPr>
          <p:grpSpPr>
            <a:xfrm>
              <a:off x="3411" y="3234"/>
              <a:ext cx="1918" cy="922"/>
              <a:chOff x="2378" y="3344"/>
              <a:chExt cx="1918" cy="922"/>
            </a:xfrm>
          </p:grpSpPr>
          <p:pic>
            <p:nvPicPr>
              <p:cNvPr id="20" name="Picture 32"/>
              <p:cNvPicPr>
                <a:picLocks noChangeAspect="1"/>
              </p:cNvPicPr>
              <p:nvPr/>
            </p:nvPicPr>
            <p:blipFill>
              <a:blip r:embed="rId3"/>
              <a:stretch>
                <a:fillRect/>
              </a:stretch>
            </p:blipFill>
            <p:spPr>
              <a:xfrm>
                <a:off x="3431" y="3344"/>
                <a:ext cx="618" cy="922"/>
              </a:xfrm>
              <a:prstGeom prst="rect">
                <a:avLst/>
              </a:prstGeom>
              <a:noFill/>
              <a:ln w="9525">
                <a:noFill/>
              </a:ln>
            </p:spPr>
          </p:pic>
          <p:pic>
            <p:nvPicPr>
              <p:cNvPr id="21" name="Picture 33"/>
              <p:cNvPicPr>
                <a:picLocks noChangeAspect="1"/>
              </p:cNvPicPr>
              <p:nvPr/>
            </p:nvPicPr>
            <p:blipFill>
              <a:blip r:embed="rId4"/>
              <a:stretch>
                <a:fillRect/>
              </a:stretch>
            </p:blipFill>
            <p:spPr>
              <a:xfrm>
                <a:off x="2378" y="3514"/>
                <a:ext cx="804" cy="686"/>
              </a:xfrm>
              <a:prstGeom prst="rect">
                <a:avLst/>
              </a:prstGeom>
              <a:noFill/>
              <a:ln w="9525">
                <a:noFill/>
              </a:ln>
            </p:spPr>
          </p:pic>
          <p:sp>
            <p:nvSpPr>
              <p:cNvPr id="22" name="Line 34"/>
              <p:cNvSpPr/>
              <p:nvPr/>
            </p:nvSpPr>
            <p:spPr>
              <a:xfrm flipV="1">
                <a:off x="3081" y="3401"/>
                <a:ext cx="402" cy="439"/>
              </a:xfrm>
              <a:prstGeom prst="line">
                <a:avLst/>
              </a:prstGeom>
              <a:ln w="9525" cap="flat" cmpd="sng">
                <a:solidFill>
                  <a:schemeClr val="tx1"/>
                </a:solidFill>
                <a:prstDash val="solid"/>
                <a:round/>
                <a:headEnd type="none" w="med" len="med"/>
                <a:tailEnd type="triangle" w="med" len="med"/>
              </a:ln>
            </p:spPr>
          </p:sp>
          <p:sp>
            <p:nvSpPr>
              <p:cNvPr id="23" name="Line 35"/>
              <p:cNvSpPr/>
              <p:nvPr/>
            </p:nvSpPr>
            <p:spPr>
              <a:xfrm flipV="1">
                <a:off x="3081" y="3721"/>
                <a:ext cx="412" cy="274"/>
              </a:xfrm>
              <a:prstGeom prst="line">
                <a:avLst/>
              </a:prstGeom>
              <a:ln w="9525" cap="flat" cmpd="sng">
                <a:solidFill>
                  <a:schemeClr val="tx1"/>
                </a:solidFill>
                <a:prstDash val="solid"/>
                <a:round/>
                <a:headEnd type="none" w="med" len="med"/>
                <a:tailEnd type="triangle" w="med" len="med"/>
              </a:ln>
            </p:spPr>
          </p:sp>
          <p:sp>
            <p:nvSpPr>
              <p:cNvPr id="24" name="Line 36"/>
              <p:cNvSpPr/>
              <p:nvPr/>
            </p:nvSpPr>
            <p:spPr>
              <a:xfrm>
                <a:off x="3081" y="4087"/>
                <a:ext cx="393" cy="36"/>
              </a:xfrm>
              <a:prstGeom prst="line">
                <a:avLst/>
              </a:prstGeom>
              <a:ln w="9525" cap="flat" cmpd="sng">
                <a:solidFill>
                  <a:schemeClr val="tx1"/>
                </a:solidFill>
                <a:prstDash val="solid"/>
                <a:round/>
                <a:headEnd type="none" w="med" len="med"/>
                <a:tailEnd type="triangle" w="med" len="med"/>
              </a:ln>
            </p:spPr>
          </p:sp>
          <p:sp>
            <p:nvSpPr>
              <p:cNvPr id="25" name="Line 37"/>
              <p:cNvSpPr/>
              <p:nvPr/>
            </p:nvSpPr>
            <p:spPr>
              <a:xfrm>
                <a:off x="3955" y="3401"/>
                <a:ext cx="338" cy="0"/>
              </a:xfrm>
              <a:prstGeom prst="line">
                <a:avLst/>
              </a:prstGeom>
              <a:ln w="9525" cap="flat" cmpd="sng">
                <a:solidFill>
                  <a:schemeClr val="tx1"/>
                </a:solidFill>
                <a:prstDash val="solid"/>
                <a:round/>
                <a:headEnd type="none" w="med" len="med"/>
                <a:tailEnd type="triangle" w="med" len="med"/>
              </a:ln>
            </p:spPr>
          </p:sp>
          <p:sp>
            <p:nvSpPr>
              <p:cNvPr id="26" name="Line 38"/>
              <p:cNvSpPr/>
              <p:nvPr/>
            </p:nvSpPr>
            <p:spPr>
              <a:xfrm>
                <a:off x="3955" y="3501"/>
                <a:ext cx="338" cy="0"/>
              </a:xfrm>
              <a:prstGeom prst="line">
                <a:avLst/>
              </a:prstGeom>
              <a:ln w="9525" cap="flat" cmpd="sng">
                <a:solidFill>
                  <a:schemeClr val="tx1"/>
                </a:solidFill>
                <a:prstDash val="solid"/>
                <a:round/>
                <a:headEnd type="none" w="med" len="med"/>
                <a:tailEnd type="triangle" w="med" len="med"/>
              </a:ln>
            </p:spPr>
          </p:sp>
          <p:sp>
            <p:nvSpPr>
              <p:cNvPr id="27" name="Line 39"/>
              <p:cNvSpPr/>
              <p:nvPr/>
            </p:nvSpPr>
            <p:spPr>
              <a:xfrm>
                <a:off x="3956" y="3602"/>
                <a:ext cx="338" cy="0"/>
              </a:xfrm>
              <a:prstGeom prst="line">
                <a:avLst/>
              </a:prstGeom>
              <a:ln w="9525" cap="flat" cmpd="sng">
                <a:solidFill>
                  <a:schemeClr val="tx1"/>
                </a:solidFill>
                <a:prstDash val="solid"/>
                <a:round/>
                <a:headEnd type="none" w="med" len="med"/>
                <a:tailEnd type="triangle" w="med" len="med"/>
              </a:ln>
            </p:spPr>
          </p:sp>
          <p:sp>
            <p:nvSpPr>
              <p:cNvPr id="28" name="Line 40"/>
              <p:cNvSpPr/>
              <p:nvPr/>
            </p:nvSpPr>
            <p:spPr>
              <a:xfrm>
                <a:off x="3956" y="3702"/>
                <a:ext cx="338" cy="0"/>
              </a:xfrm>
              <a:prstGeom prst="line">
                <a:avLst/>
              </a:prstGeom>
              <a:ln w="9525" cap="flat" cmpd="sng">
                <a:solidFill>
                  <a:schemeClr val="tx1"/>
                </a:solidFill>
                <a:prstDash val="solid"/>
                <a:round/>
                <a:headEnd type="none" w="med" len="med"/>
                <a:tailEnd type="triangle" w="med" len="med"/>
              </a:ln>
            </p:spPr>
          </p:sp>
          <p:sp>
            <p:nvSpPr>
              <p:cNvPr id="29" name="Line 41"/>
              <p:cNvSpPr/>
              <p:nvPr/>
            </p:nvSpPr>
            <p:spPr>
              <a:xfrm>
                <a:off x="3956" y="3803"/>
                <a:ext cx="338" cy="0"/>
              </a:xfrm>
              <a:prstGeom prst="line">
                <a:avLst/>
              </a:prstGeom>
              <a:ln w="9525" cap="flat" cmpd="sng">
                <a:solidFill>
                  <a:schemeClr val="tx1"/>
                </a:solidFill>
                <a:prstDash val="solid"/>
                <a:round/>
                <a:headEnd type="none" w="med" len="med"/>
                <a:tailEnd type="triangle" w="med" len="med"/>
              </a:ln>
            </p:spPr>
          </p:sp>
          <p:sp>
            <p:nvSpPr>
              <p:cNvPr id="30" name="Line 42"/>
              <p:cNvSpPr/>
              <p:nvPr/>
            </p:nvSpPr>
            <p:spPr>
              <a:xfrm>
                <a:off x="3957" y="3904"/>
                <a:ext cx="338" cy="0"/>
              </a:xfrm>
              <a:prstGeom prst="line">
                <a:avLst/>
              </a:prstGeom>
              <a:ln w="9525" cap="flat" cmpd="sng">
                <a:solidFill>
                  <a:schemeClr val="tx1"/>
                </a:solidFill>
                <a:prstDash val="solid"/>
                <a:round/>
                <a:headEnd type="none" w="med" len="med"/>
                <a:tailEnd type="triangle" w="med" len="med"/>
              </a:ln>
            </p:spPr>
          </p:sp>
          <p:sp>
            <p:nvSpPr>
              <p:cNvPr id="31" name="Line 43"/>
              <p:cNvSpPr/>
              <p:nvPr/>
            </p:nvSpPr>
            <p:spPr>
              <a:xfrm>
                <a:off x="3957" y="4004"/>
                <a:ext cx="338" cy="0"/>
              </a:xfrm>
              <a:prstGeom prst="line">
                <a:avLst/>
              </a:prstGeom>
              <a:ln w="9525" cap="flat" cmpd="sng">
                <a:solidFill>
                  <a:schemeClr val="tx1"/>
                </a:solidFill>
                <a:prstDash val="solid"/>
                <a:round/>
                <a:headEnd type="none" w="med" len="med"/>
                <a:tailEnd type="triangle" w="med" len="med"/>
              </a:ln>
            </p:spPr>
          </p:sp>
          <p:sp>
            <p:nvSpPr>
              <p:cNvPr id="32" name="Line 44"/>
              <p:cNvSpPr/>
              <p:nvPr/>
            </p:nvSpPr>
            <p:spPr>
              <a:xfrm>
                <a:off x="3957" y="4105"/>
                <a:ext cx="338" cy="0"/>
              </a:xfrm>
              <a:prstGeom prst="line">
                <a:avLst/>
              </a:prstGeom>
              <a:ln w="9525" cap="flat" cmpd="sng">
                <a:solidFill>
                  <a:schemeClr val="tx1"/>
                </a:solidFill>
                <a:prstDash val="solid"/>
                <a:round/>
                <a:headEnd type="none" w="med" len="med"/>
                <a:tailEnd type="triangle" w="med" len="med"/>
              </a:ln>
            </p:spPr>
          </p:sp>
          <p:sp>
            <p:nvSpPr>
              <p:cNvPr id="33" name="Line 45"/>
              <p:cNvSpPr/>
              <p:nvPr/>
            </p:nvSpPr>
            <p:spPr>
              <a:xfrm>
                <a:off x="3958" y="4206"/>
                <a:ext cx="338" cy="0"/>
              </a:xfrm>
              <a:prstGeom prst="line">
                <a:avLst/>
              </a:prstGeom>
              <a:ln w="9525" cap="flat" cmpd="sng">
                <a:solidFill>
                  <a:schemeClr val="tx1"/>
                </a:solidFill>
                <a:prstDash val="solid"/>
                <a:round/>
                <a:headEnd type="none" w="med" len="med"/>
                <a:tailEnd type="triangl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1" grpId="0" bldLvl="0" animBg="1"/>
      <p:bldP spid="12" grpId="0"/>
      <p:bldP spid="13"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其他结构索引</a:t>
            </a:r>
            <a:endParaRPr lang="zh-CN" altLang="en-US" sz="2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sz="1900" b="0" dirty="0"/>
              <a:t> 多级索引：当索引项比较多时，可以对索引再建立索引，依此类推，形成多级索引</a:t>
            </a:r>
            <a:endParaRPr lang="zh-CN" altLang="en-US" sz="1900" b="0" dirty="0"/>
          </a:p>
          <a:p>
            <a:pPr marL="342900" lvl="1" indent="-342900">
              <a:lnSpc>
                <a:spcPct val="100000"/>
              </a:lnSpc>
              <a:spcBef>
                <a:spcPts val="1000"/>
              </a:spcBef>
              <a:buFont typeface="Wingdings" panose="05000000000000000000" pitchFamily="2" charset="2"/>
              <a:buChar char="ü"/>
            </a:pPr>
            <a:r>
              <a:rPr lang="zh-CN" altLang="en-US" sz="1800" dirty="0"/>
              <a:t> 常见的多级索引形式，如</a:t>
            </a:r>
            <a:r>
              <a:rPr lang="en-US" altLang="zh-CN" sz="1800" dirty="0"/>
              <a:t>B</a:t>
            </a:r>
            <a:r>
              <a:rPr lang="zh-CN" altLang="en-US" sz="1800" dirty="0"/>
              <a:t>树</a:t>
            </a:r>
            <a:r>
              <a:rPr lang="en-US" altLang="zh-CN" sz="1800" dirty="0"/>
              <a:t>/B+</a:t>
            </a:r>
            <a:r>
              <a:rPr lang="zh-CN" altLang="en-US" sz="1800" dirty="0"/>
              <a:t>树索引，以树型数据结构来组织索引项等</a:t>
            </a:r>
            <a:endParaRPr lang="zh-CN" altLang="en-US" sz="1800" dirty="0"/>
          </a:p>
          <a:p>
            <a:pPr>
              <a:lnSpc>
                <a:spcPct val="100000"/>
              </a:lnSpc>
              <a:buFont typeface="Wingdings" panose="05000000000000000000" pitchFamily="2" charset="2"/>
              <a:buChar char="l"/>
            </a:pPr>
            <a:r>
              <a:rPr lang="en-US" altLang="zh-CN" sz="1900" b="0" dirty="0"/>
              <a:t> </a:t>
            </a:r>
            <a:r>
              <a:rPr lang="zh-CN" altLang="en-US" sz="1900" b="0" dirty="0"/>
              <a:t>多属性索引：索引字段由</a:t>
            </a:r>
            <a:r>
              <a:rPr lang="en-US" altLang="zh-CN" sz="1900" b="0" dirty="0"/>
              <a:t>Table</a:t>
            </a:r>
            <a:r>
              <a:rPr lang="zh-CN" altLang="en-US" sz="1900" b="0" dirty="0"/>
              <a:t>的多个属性值组合在一起形成的索引</a:t>
            </a:r>
            <a:endParaRPr lang="zh-CN" altLang="en-US" sz="1900" b="0" dirty="0"/>
          </a:p>
          <a:p>
            <a:pPr>
              <a:lnSpc>
                <a:spcPct val="100000"/>
              </a:lnSpc>
              <a:buFont typeface="Wingdings" panose="05000000000000000000" pitchFamily="2" charset="2"/>
              <a:buChar char="l"/>
            </a:pPr>
            <a:r>
              <a:rPr lang="zh-CN" altLang="en-US" sz="1900" b="0" dirty="0"/>
              <a:t> 散列索引：使用散列技术组织的索引</a:t>
            </a:r>
            <a:endParaRPr lang="zh-CN" altLang="en-US" sz="1900" b="0" dirty="0"/>
          </a:p>
          <a:p>
            <a:pPr>
              <a:lnSpc>
                <a:spcPct val="100000"/>
              </a:lnSpc>
              <a:buFont typeface="Wingdings" panose="05000000000000000000" pitchFamily="2" charset="2"/>
              <a:buChar char="l"/>
            </a:pPr>
            <a:r>
              <a:rPr lang="zh-CN" altLang="en-US" sz="1900" b="0" dirty="0"/>
              <a:t> 网格索引</a:t>
            </a:r>
            <a:r>
              <a:rPr lang="en-US" altLang="zh-CN" sz="1900" b="0" dirty="0"/>
              <a:t>(Grid file)</a:t>
            </a:r>
            <a:r>
              <a:rPr lang="zh-CN" altLang="en-US" sz="1900" b="0" dirty="0"/>
              <a:t>：使用多索引字段进行交叉联合定位与检索</a:t>
            </a:r>
            <a:endParaRPr lang="zh-CN" altLang="en-US" sz="1900" b="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-其他类型的索引</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pic>
        <p:nvPicPr>
          <p:cNvPr id="34" name="Picture 3"/>
          <p:cNvPicPr>
            <a:picLocks noChangeAspect="1"/>
          </p:cNvPicPr>
          <p:nvPr/>
        </p:nvPicPr>
        <p:blipFill>
          <a:blip r:embed="rId1"/>
          <a:stretch>
            <a:fillRect/>
          </a:stretch>
        </p:blipFill>
        <p:spPr>
          <a:xfrm>
            <a:off x="4019550" y="3884029"/>
            <a:ext cx="4314825" cy="2839178"/>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(1) </a:t>
            </a:r>
            <a:r>
              <a:rPr lang="zh-CN" altLang="en-US" sz="2600" dirty="0">
                <a:latin typeface="微软雅黑" panose="020B0503020204020204" pitchFamily="34" charset="-122"/>
                <a:ea typeface="微软雅黑" panose="020B0503020204020204" pitchFamily="34" charset="-122"/>
              </a:rPr>
              <a:t>多级索引</a:t>
            </a:r>
            <a:endParaRPr lang="zh-CN" altLang="en-US" sz="2600" dirty="0">
              <a:latin typeface="微软雅黑" panose="020B0503020204020204" pitchFamily="34" charset="-122"/>
              <a:ea typeface="微软雅黑" panose="020B0503020204020204" pitchFamily="34" charset="-122"/>
            </a:endParaRPr>
          </a:p>
          <a:p>
            <a:pPr marL="0" indent="0">
              <a:buNone/>
            </a:pPr>
            <a:r>
              <a:rPr lang="zh-CN" altLang="en-US" sz="2000" b="0" dirty="0"/>
              <a:t>多级索引：当索引项比较多时，可以对索引再建立索引，依此类推，形成多级索引。</a:t>
            </a:r>
            <a:endParaRPr lang="zh-CN" altLang="en-US" sz="2000" b="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7" name="灯片编号占位符 6"/>
          <p:cNvSpPr>
            <a:spLocks noGrp="1"/>
          </p:cNvSpPr>
          <p:nvPr>
            <p:ph type="sldNum" sz="quarter" idx="12"/>
          </p:nvPr>
        </p:nvSpPr>
        <p:spPr/>
        <p:txBody>
          <a:bodyPr/>
          <a:lstStyle/>
          <a:p>
            <a:fld id="{FB891F7F-8655-44AE-A6FF-53AD9F2B6B87}" type="slidenum">
              <a:rPr lang="zh-CN" altLang="en-US" smtClean="0"/>
            </a:fld>
            <a:endParaRPr lang="zh-CN" altLang="en-US" dirty="0"/>
          </a:p>
        </p:txBody>
      </p:sp>
      <p:pic>
        <p:nvPicPr>
          <p:cNvPr id="2" name="Picture 5"/>
          <p:cNvPicPr>
            <a:picLocks noChangeAspect="1"/>
          </p:cNvPicPr>
          <p:nvPr/>
        </p:nvPicPr>
        <p:blipFill>
          <a:blip r:embed="rId1"/>
          <a:srcRect l="17699" t="591" r="17699" b="885"/>
          <a:stretch>
            <a:fillRect/>
          </a:stretch>
        </p:blipFill>
        <p:spPr>
          <a:xfrm>
            <a:off x="3022600" y="2976563"/>
            <a:ext cx="5942013" cy="3509962"/>
          </a:xfrm>
          <a:prstGeom prst="rect">
            <a:avLst/>
          </a:prstGeom>
          <a:noFill/>
          <a:ln w="38100" cap="flat" cmpd="dbl">
            <a:solidFill>
              <a:schemeClr val="tx2"/>
            </a:solidFill>
            <a:prstDash val="solid"/>
            <a:miter/>
            <a:headEnd type="none" w="med" len="med"/>
            <a:tailEnd type="none" w="med" len="med"/>
          </a:ln>
        </p:spPr>
      </p:pic>
      <p:sp>
        <p:nvSpPr>
          <p:cNvPr id="4" name="Text Box 12"/>
          <p:cNvSpPr txBox="1"/>
          <p:nvPr/>
        </p:nvSpPr>
        <p:spPr>
          <a:xfrm>
            <a:off x="7887856" y="2522538"/>
            <a:ext cx="877163" cy="369332"/>
          </a:xfrm>
          <a:prstGeom prst="rect">
            <a:avLst/>
          </a:prstGeom>
          <a:noFill/>
          <a:ln w="9525">
            <a:noFill/>
          </a:ln>
        </p:spPr>
        <p:txBody>
          <a:bodyPr wrap="none" anchor="t">
            <a:spAutoFit/>
          </a:bodyPr>
          <a:lstStyle/>
          <a:p>
            <a:pPr algn="ctr"/>
            <a:r>
              <a:rPr lang="zh-CN" altLang="en-US" b="1" dirty="0">
                <a:solidFill>
                  <a:srgbClr val="FF0000"/>
                </a:solidFill>
                <a:latin typeface="Times New Roman" panose="02020603050405020304" pitchFamily="18" charset="0"/>
                <a:ea typeface="微软雅黑" panose="020B0503020204020204" pitchFamily="34" charset="-122"/>
              </a:rPr>
              <a:t>主文件</a:t>
            </a:r>
            <a:endParaRPr lang="zh-CN" altLang="en-US" b="1" dirty="0">
              <a:solidFill>
                <a:srgbClr val="FF0000"/>
              </a:solidFill>
              <a:latin typeface="Times New Roman" panose="02020603050405020304" pitchFamily="18" charset="0"/>
              <a:ea typeface="微软雅黑" panose="020B0503020204020204" pitchFamily="34" charset="-122"/>
            </a:endParaRPr>
          </a:p>
        </p:txBody>
      </p:sp>
      <p:sp>
        <p:nvSpPr>
          <p:cNvPr id="8" name="Text Box 13"/>
          <p:cNvSpPr txBox="1"/>
          <p:nvPr/>
        </p:nvSpPr>
        <p:spPr>
          <a:xfrm>
            <a:off x="5258783" y="2513013"/>
            <a:ext cx="1569660" cy="369332"/>
          </a:xfrm>
          <a:prstGeom prst="rect">
            <a:avLst/>
          </a:prstGeom>
          <a:noFill/>
          <a:ln w="9525">
            <a:noFill/>
          </a:ln>
        </p:spPr>
        <p:txBody>
          <a:bodyPr wrap="none" anchor="t">
            <a:spAutoFit/>
          </a:bodyPr>
          <a:lstStyle/>
          <a:p>
            <a:pPr algn="ctr"/>
            <a:r>
              <a:rPr lang="zh-CN" altLang="en-US" b="1" dirty="0">
                <a:solidFill>
                  <a:srgbClr val="FF0000"/>
                </a:solidFill>
                <a:latin typeface="Times New Roman" panose="02020603050405020304" pitchFamily="18" charset="0"/>
                <a:ea typeface="微软雅黑" panose="020B0503020204020204" pitchFamily="34" charset="-122"/>
              </a:rPr>
              <a:t>一级索引文件</a:t>
            </a:r>
            <a:endParaRPr lang="zh-CN" altLang="en-US" b="1" dirty="0">
              <a:solidFill>
                <a:srgbClr val="FF0000"/>
              </a:solidFill>
              <a:latin typeface="Times New Roman" panose="02020603050405020304" pitchFamily="18" charset="0"/>
              <a:ea typeface="微软雅黑" panose="020B0503020204020204" pitchFamily="34" charset="-122"/>
            </a:endParaRPr>
          </a:p>
        </p:txBody>
      </p:sp>
      <p:sp>
        <p:nvSpPr>
          <p:cNvPr id="9" name="Text Box 14"/>
          <p:cNvSpPr txBox="1"/>
          <p:nvPr/>
        </p:nvSpPr>
        <p:spPr>
          <a:xfrm>
            <a:off x="2871183" y="2517775"/>
            <a:ext cx="1569660" cy="369332"/>
          </a:xfrm>
          <a:prstGeom prst="rect">
            <a:avLst/>
          </a:prstGeom>
          <a:noFill/>
          <a:ln w="9525">
            <a:noFill/>
          </a:ln>
        </p:spPr>
        <p:txBody>
          <a:bodyPr wrap="none" anchor="t">
            <a:spAutoFit/>
          </a:bodyPr>
          <a:lstStyle/>
          <a:p>
            <a:pPr algn="ctr"/>
            <a:r>
              <a:rPr lang="zh-CN" altLang="en-US" b="1" dirty="0">
                <a:solidFill>
                  <a:srgbClr val="FF0000"/>
                </a:solidFill>
                <a:latin typeface="Times New Roman" panose="02020603050405020304" pitchFamily="18" charset="0"/>
                <a:ea typeface="微软雅黑" panose="020B0503020204020204" pitchFamily="34" charset="-122"/>
              </a:rPr>
              <a:t>二级索引文件</a:t>
            </a:r>
            <a:endParaRPr lang="zh-CN" altLang="en-US" b="1" dirty="0">
              <a:solidFill>
                <a:srgbClr val="FF0000"/>
              </a:solidFill>
              <a:latin typeface="Times New Roman" panose="02020603050405020304" pitchFamily="18" charset="0"/>
              <a:ea typeface="微软雅黑" panose="020B0503020204020204" pitchFamily="34" charset="-122"/>
            </a:endParaRPr>
          </a:p>
        </p:txBody>
      </p:sp>
      <p:grpSp>
        <p:nvGrpSpPr>
          <p:cNvPr id="10" name="Group 15"/>
          <p:cNvGrpSpPr/>
          <p:nvPr/>
        </p:nvGrpSpPr>
        <p:grpSpPr>
          <a:xfrm>
            <a:off x="3392488" y="5497512"/>
            <a:ext cx="3435350" cy="748559"/>
            <a:chOff x="1265" y="3268"/>
            <a:chExt cx="1157" cy="643"/>
          </a:xfrm>
        </p:grpSpPr>
        <p:sp>
          <p:nvSpPr>
            <p:cNvPr id="11"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800" b="1" dirty="0">
                <a:solidFill>
                  <a:srgbClr val="000000"/>
                </a:solidFill>
                <a:latin typeface="Arial" panose="020B0604020202020204" pitchFamily="34" charset="0"/>
                <a:ea typeface="微软雅黑" panose="020B0503020204020204" pitchFamily="34" charset="-122"/>
              </a:endParaRPr>
            </a:p>
          </p:txBody>
        </p:sp>
        <p:sp>
          <p:nvSpPr>
            <p:cNvPr id="12"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800" b="1" dirty="0">
                <a:solidFill>
                  <a:srgbClr val="000000"/>
                </a:solidFill>
                <a:latin typeface="Arial" panose="020B0604020202020204" pitchFamily="34" charset="0"/>
                <a:ea typeface="微软雅黑" panose="020B0503020204020204" pitchFamily="34" charset="-122"/>
              </a:endParaRPr>
            </a:p>
          </p:txBody>
        </p:sp>
        <p:sp>
          <p:nvSpPr>
            <p:cNvPr id="13" name="Text Box 84"/>
            <p:cNvSpPr/>
            <p:nvPr/>
          </p:nvSpPr>
          <p:spPr>
            <a:xfrm>
              <a:off x="1268" y="3297"/>
              <a:ext cx="1154" cy="614"/>
            </a:xfrm>
            <a:prstGeom prst="roundRect">
              <a:avLst>
                <a:gd name="adj" fmla="val 16667"/>
              </a:avLst>
            </a:prstGeom>
            <a:noFill/>
            <a:ln w="9525">
              <a:noFill/>
            </a:ln>
          </p:spPr>
          <p:txBody>
            <a:bodyPr anchor="t">
              <a:spAutoFit/>
            </a:bodyPr>
            <a:lstStyle/>
            <a:p>
              <a:pPr algn="ctr">
                <a:spcBef>
                  <a:spcPct val="35000"/>
                </a:spcBef>
              </a:pPr>
              <a:r>
                <a:rPr lang="zh-CN" altLang="en-US" sz="1800" b="1" dirty="0">
                  <a:solidFill>
                    <a:schemeClr val="accent2"/>
                  </a:solidFill>
                  <a:latin typeface="Arial" panose="020B0604020202020204" pitchFamily="34" charset="0"/>
                  <a:ea typeface="微软雅黑" panose="020B0503020204020204" pitchFamily="34" charset="-122"/>
                </a:rPr>
                <a:t>当某级索引不能一次性装入内存时，可对其再建立索引</a:t>
              </a:r>
              <a:endParaRPr lang="zh-CN" altLang="en-US" sz="1800" b="1" dirty="0">
                <a:solidFill>
                  <a:schemeClr val="accent2"/>
                </a:solidFill>
                <a:latin typeface="Arial" panose="020B0604020202020204" pitchFamily="34" charset="0"/>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 B+</a:t>
            </a:r>
            <a:r>
              <a:rPr lang="zh-CN" altLang="en-US" sz="2600" dirty="0">
                <a:latin typeface="微软雅黑" panose="020B0503020204020204" pitchFamily="34" charset="-122"/>
                <a:ea typeface="微软雅黑" panose="020B0503020204020204" pitchFamily="34" charset="-122"/>
              </a:rPr>
              <a:t>树的基本概念</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en-US" altLang="zh-CN" sz="2000" b="0" dirty="0"/>
              <a:t>B+</a:t>
            </a:r>
            <a:r>
              <a:rPr lang="zh-CN" altLang="en-US" sz="2000" b="0" dirty="0"/>
              <a:t>树索引：一种以树型数据结构来组织索引项的多级索引</a:t>
            </a:r>
            <a:endParaRPr lang="zh-CN" altLang="en-US" sz="2000" b="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7" name="灯片编号占位符 6"/>
          <p:cNvSpPr>
            <a:spLocks noGrp="1"/>
          </p:cNvSpPr>
          <p:nvPr>
            <p:ph type="sldNum" sz="quarter" idx="12"/>
          </p:nvPr>
        </p:nvSpPr>
        <p:spPr>
          <a:xfrm>
            <a:off x="7070740" y="5521505"/>
            <a:ext cx="2743200" cy="365125"/>
          </a:xfrm>
        </p:spPr>
        <p:txBody>
          <a:bodyPr/>
          <a:lstStyle/>
          <a:p>
            <a:fld id="{FB891F7F-8655-44AE-A6FF-53AD9F2B6B87}" type="slidenum">
              <a:rPr lang="zh-CN" altLang="en-US" smtClean="0"/>
            </a:fld>
            <a:endParaRPr lang="zh-CN" altLang="en-US" dirty="0"/>
          </a:p>
        </p:txBody>
      </p:sp>
      <p:pic>
        <p:nvPicPr>
          <p:cNvPr id="14" name="Picture 4"/>
          <p:cNvPicPr>
            <a:picLocks noChangeAspect="1"/>
          </p:cNvPicPr>
          <p:nvPr/>
        </p:nvPicPr>
        <p:blipFill>
          <a:blip r:embed="rId1"/>
          <a:srcRect l="365" t="44904" r="546" b="45145"/>
          <a:stretch>
            <a:fillRect/>
          </a:stretch>
        </p:blipFill>
        <p:spPr>
          <a:xfrm>
            <a:off x="1993900" y="2335213"/>
            <a:ext cx="7843838" cy="631825"/>
          </a:xfrm>
          <a:prstGeom prst="rect">
            <a:avLst/>
          </a:prstGeom>
          <a:noFill/>
          <a:ln w="38100" cap="flat" cmpd="dbl">
            <a:solidFill>
              <a:schemeClr val="tx2"/>
            </a:solidFill>
            <a:prstDash val="solid"/>
            <a:miter/>
            <a:headEnd type="none" w="med" len="med"/>
            <a:tailEnd type="none" w="med" len="med"/>
          </a:ln>
        </p:spPr>
      </p:pic>
      <p:pic>
        <p:nvPicPr>
          <p:cNvPr id="15" name="Picture 5"/>
          <p:cNvPicPr>
            <a:picLocks noChangeAspect="1"/>
          </p:cNvPicPr>
          <p:nvPr/>
        </p:nvPicPr>
        <p:blipFill>
          <a:blip r:embed="rId2"/>
          <a:srcRect l="603" t="30812" r="401" b="31081"/>
          <a:stretch>
            <a:fillRect/>
          </a:stretch>
        </p:blipFill>
        <p:spPr>
          <a:xfrm>
            <a:off x="1626402" y="3071812"/>
            <a:ext cx="4481513" cy="1744663"/>
          </a:xfrm>
          <a:prstGeom prst="rect">
            <a:avLst/>
          </a:prstGeom>
          <a:noFill/>
          <a:ln w="38100" cap="flat" cmpd="dbl">
            <a:solidFill>
              <a:schemeClr val="tx2"/>
            </a:solidFill>
            <a:prstDash val="solid"/>
            <a:miter/>
            <a:headEnd type="none" w="med" len="med"/>
            <a:tailEnd type="none" w="med" len="med"/>
          </a:ln>
        </p:spPr>
      </p:pic>
      <p:pic>
        <p:nvPicPr>
          <p:cNvPr id="16" name="Picture 6"/>
          <p:cNvPicPr>
            <a:picLocks noChangeAspect="1"/>
          </p:cNvPicPr>
          <p:nvPr/>
        </p:nvPicPr>
        <p:blipFill>
          <a:blip r:embed="rId3"/>
          <a:srcRect l="415" t="26244" r="415" b="26796"/>
          <a:stretch>
            <a:fillRect/>
          </a:stretch>
        </p:blipFill>
        <p:spPr>
          <a:xfrm>
            <a:off x="1631165" y="5094287"/>
            <a:ext cx="4492625" cy="1595438"/>
          </a:xfrm>
          <a:prstGeom prst="rect">
            <a:avLst/>
          </a:prstGeom>
          <a:noFill/>
          <a:ln w="38100" cap="flat" cmpd="dbl">
            <a:solidFill>
              <a:schemeClr val="tx2"/>
            </a:solidFill>
            <a:prstDash val="solid"/>
            <a:miter/>
            <a:headEnd type="none" w="med" len="med"/>
            <a:tailEnd type="none" w="med" len="med"/>
          </a:ln>
        </p:spPr>
      </p:pic>
      <mc:AlternateContent xmlns:mc="http://schemas.openxmlformats.org/markup-compatibility/2006">
        <mc:Choice xmlns:a14="http://schemas.microsoft.com/office/drawing/2010/main" Requires="a14">
          <p:sp>
            <p:nvSpPr>
              <p:cNvPr id="17" name="Text Box 8"/>
              <p:cNvSpPr txBox="1"/>
              <p:nvPr/>
            </p:nvSpPr>
            <p:spPr>
              <a:xfrm>
                <a:off x="6612669" y="3096580"/>
                <a:ext cx="4196563" cy="1222642"/>
              </a:xfrm>
              <a:prstGeom prst="rect">
                <a:avLst/>
              </a:prstGeom>
              <a:noFill/>
              <a:ln w="9525">
                <a:noFill/>
              </a:ln>
            </p:spPr>
            <p:txBody>
              <a:bodyPr wrap="square" anchor="t">
                <a:spAutoFit/>
              </a:bodyPr>
              <a:lstStyle/>
              <a:p>
                <a:r>
                  <a:rPr lang="zh-CN" altLang="en-US" dirty="0">
                    <a:latin typeface="Times New Roman" panose="02020603050405020304" pitchFamily="18" charset="0"/>
                    <a:ea typeface="微软雅黑" panose="020B0503020204020204" pitchFamily="34" charset="-122"/>
                  </a:rPr>
                  <a:t>一块中索引项的组织</a:t>
                </a:r>
                <a:endParaRPr lang="zh-CN" altLang="en-US" dirty="0">
                  <a:latin typeface="Times New Roman" panose="02020603050405020304" pitchFamily="18" charset="0"/>
                  <a:ea typeface="微软雅黑" panose="020B0503020204020204" pitchFamily="34" charset="-122"/>
                </a:endParaRPr>
              </a:p>
              <a:p>
                <a:pPr>
                  <a:buChar char="•"/>
                </a:pPr>
                <a14:m>
                  <m:oMath xmlns:m="http://schemas.openxmlformats.org/officeDocument/2006/math">
                    <m:sSub>
                      <m:sSubPr>
                        <m:ctrlPr>
                          <a:rPr lang="en-US" altLang="zh-CN" b="0" i="1" dirty="0" smtClean="0">
                            <a:solidFill>
                              <a:schemeClr val="tx1"/>
                            </a:solidFill>
                            <a:latin typeface="Cambria Math" panose="02040503050406030204" pitchFamily="18" charset="0"/>
                          </a:rPr>
                        </m:ctrlPr>
                      </m:sSubPr>
                      <m:e>
                        <m:r>
                          <a:rPr lang="en-US" altLang="zh-CN" b="0" i="1" dirty="0" smtClean="0">
                            <a:solidFill>
                              <a:schemeClr val="tx1"/>
                            </a:solidFill>
                            <a:latin typeface="Cambria Math" panose="02040503050406030204" pitchFamily="18" charset="0"/>
                          </a:rPr>
                          <m:t>𝐾</m:t>
                        </m:r>
                      </m:e>
                      <m:sub>
                        <m:r>
                          <a:rPr lang="en-US" altLang="zh-CN" b="0" i="1" dirty="0">
                            <a:solidFill>
                              <a:schemeClr val="tx1"/>
                            </a:solidFill>
                            <a:latin typeface="Cambria Math" panose="02040503050406030204" pitchFamily="18" charset="0"/>
                          </a:rPr>
                          <m:t>𝑖</m:t>
                        </m:r>
                      </m:sub>
                    </m:sSub>
                  </m:oMath>
                </a14:m>
                <a:r>
                  <a:rPr lang="en-US" altLang="zh-CN" b="0" dirty="0">
                    <a:solidFill>
                      <a:schemeClr val="tx1"/>
                    </a:solidFill>
                    <a:latin typeface="微软雅黑" panose="020B0503020204020204" pitchFamily="34" charset="-122"/>
                    <a:ea typeface="微软雅黑" panose="020B0503020204020204" pitchFamily="34" charset="-122"/>
                  </a:rPr>
                  <a:t>—</a:t>
                </a:r>
                <a:r>
                  <a:rPr lang="zh-CN" altLang="en-US" b="0" dirty="0">
                    <a:solidFill>
                      <a:schemeClr val="tx1"/>
                    </a:solidFill>
                    <a:latin typeface="Times New Roman" panose="02020603050405020304" pitchFamily="18" charset="0"/>
                    <a:ea typeface="微软雅黑" panose="020B0503020204020204" pitchFamily="34" charset="-122"/>
                  </a:rPr>
                  <a:t>索引字段值</a:t>
                </a:r>
                <a:endParaRPr lang="zh-CN" altLang="en-US" b="0" dirty="0">
                  <a:solidFill>
                    <a:schemeClr val="tx1"/>
                  </a:solidFill>
                  <a:latin typeface="Times New Roman" panose="02020603050405020304" pitchFamily="18" charset="0"/>
                  <a:ea typeface="微软雅黑" panose="020B0503020204020204" pitchFamily="34" charset="-122"/>
                </a:endParaRPr>
              </a:p>
              <a:p>
                <a:pPr>
                  <a:buChar char="•"/>
                </a:pPr>
                <a14:m>
                  <m:oMath xmlns:m="http://schemas.openxmlformats.org/officeDocument/2006/math">
                    <m:sSub>
                      <m:sSubPr>
                        <m:ctrlPr>
                          <a:rPr lang="en-US" altLang="zh-CN" b="0" i="1" dirty="0" smtClean="0">
                            <a:solidFill>
                              <a:schemeClr val="tx1"/>
                            </a:solidFill>
                            <a:latin typeface="Cambria Math" panose="02040503050406030204" pitchFamily="18" charset="0"/>
                          </a:rPr>
                        </m:ctrlPr>
                      </m:sSubPr>
                      <m:e>
                        <m:r>
                          <a:rPr lang="en-US" altLang="zh-CN" b="0" i="1" dirty="0">
                            <a:solidFill>
                              <a:schemeClr val="tx1"/>
                            </a:solidFill>
                            <a:latin typeface="Cambria Math" panose="02040503050406030204" pitchFamily="18" charset="0"/>
                          </a:rPr>
                          <m:t>𝑃</m:t>
                        </m:r>
                      </m:e>
                      <m:sub>
                        <m:r>
                          <a:rPr lang="en-US" altLang="zh-CN" b="0" i="1" dirty="0">
                            <a:solidFill>
                              <a:schemeClr val="tx1"/>
                            </a:solidFill>
                            <a:latin typeface="Cambria Math" panose="02040503050406030204" pitchFamily="18" charset="0"/>
                          </a:rPr>
                          <m:t>𝑗</m:t>
                        </m:r>
                      </m:sub>
                    </m:sSub>
                  </m:oMath>
                </a14:m>
                <a:r>
                  <a:rPr lang="en-US" altLang="zh-CN" b="0" dirty="0">
                    <a:solidFill>
                      <a:schemeClr val="tx1"/>
                    </a:solidFill>
                    <a:latin typeface="微软雅黑" panose="020B0503020204020204" pitchFamily="34" charset="-122"/>
                    <a:ea typeface="微软雅黑" panose="020B0503020204020204" pitchFamily="34" charset="-122"/>
                  </a:rPr>
                  <a:t>—</a:t>
                </a:r>
                <a:r>
                  <a:rPr lang="zh-CN" altLang="en-US" b="0" dirty="0">
                    <a:solidFill>
                      <a:schemeClr val="tx1"/>
                    </a:solidFill>
                    <a:latin typeface="Times New Roman" panose="02020603050405020304" pitchFamily="18" charset="0"/>
                    <a:ea typeface="微软雅黑" panose="020B0503020204020204" pitchFamily="34" charset="-122"/>
                  </a:rPr>
                  <a:t>指针，指向</a:t>
                </a:r>
                <a:r>
                  <a:rPr lang="zh-CN" altLang="en-US" b="0" dirty="0">
                    <a:latin typeface="Times New Roman" panose="02020603050405020304" pitchFamily="18" charset="0"/>
                    <a:ea typeface="微软雅黑" panose="020B0503020204020204" pitchFamily="34" charset="-122"/>
                  </a:rPr>
                  <a:t>索引块或数据块或</a:t>
                </a:r>
                <a:r>
                  <a:rPr lang="zh-CN" altLang="en-US" dirty="0">
                    <a:solidFill>
                      <a:schemeClr val="accent2"/>
                    </a:solidFill>
                    <a:latin typeface="Times New Roman" panose="02020603050405020304" pitchFamily="18" charset="0"/>
                    <a:ea typeface="微软雅黑" panose="020B0503020204020204" pitchFamily="34" charset="-122"/>
                  </a:rPr>
                  <a:t>数据块中记录的指针</a:t>
                </a:r>
                <a:endParaRPr lang="zh-CN" altLang="en-US" dirty="0">
                  <a:solidFill>
                    <a:schemeClr val="accent2"/>
                  </a:solidFill>
                  <a:latin typeface="Times New Roman" panose="02020603050405020304" pitchFamily="18" charset="0"/>
                  <a:ea typeface="微软雅黑" panose="020B0503020204020204" pitchFamily="34" charset="-122"/>
                </a:endParaRPr>
              </a:p>
            </p:txBody>
          </p:sp>
        </mc:Choice>
        <mc:Fallback>
          <p:sp>
            <p:nvSpPr>
              <p:cNvPr id="17" name="Text Box 8"/>
              <p:cNvSpPr txBox="1">
                <a:spLocks noRot="1" noChangeAspect="1" noMove="1" noResize="1" noEditPoints="1" noAdjustHandles="1" noChangeArrowheads="1" noChangeShapeType="1" noTextEdit="1"/>
              </p:cNvSpPr>
              <p:nvPr/>
            </p:nvSpPr>
            <p:spPr>
              <a:xfrm>
                <a:off x="6612669" y="3096580"/>
                <a:ext cx="4196563" cy="1222642"/>
              </a:xfrm>
              <a:prstGeom prst="rect">
                <a:avLst/>
              </a:prstGeom>
              <a:blipFill rotWithShape="1">
                <a:blip r:embed="rId4"/>
                <a:stretch>
                  <a:fillRect l="-10" t="-26" r="6" b="48"/>
                </a:stretch>
              </a:blipFill>
              <a:ln w="9525">
                <a:noFill/>
              </a:ln>
            </p:spPr>
            <p:txBody>
              <a:bodyPr/>
              <a:lstStyle/>
              <a:p>
                <a:r>
                  <a:rPr lang="zh-CN" altLang="en-US">
                    <a:noFill/>
                  </a:rPr>
                  <a:t> </a:t>
                </a:r>
              </a:p>
            </p:txBody>
          </p:sp>
        </mc:Fallback>
      </mc:AlternateContent>
      <p:sp>
        <p:nvSpPr>
          <p:cNvPr id="18" name="Text Box 9"/>
          <p:cNvSpPr txBox="1"/>
          <p:nvPr/>
        </p:nvSpPr>
        <p:spPr>
          <a:xfrm>
            <a:off x="2356603" y="3047025"/>
            <a:ext cx="946150" cy="396875"/>
          </a:xfrm>
          <a:prstGeom prst="rect">
            <a:avLst/>
          </a:prstGeom>
          <a:noFill/>
          <a:ln w="9525">
            <a:noFill/>
          </a:ln>
        </p:spPr>
        <p:txBody>
          <a:bodyPr wrap="none" anchor="t">
            <a:spAutoFit/>
          </a:bodyPr>
          <a:lstStyle/>
          <a:p>
            <a:pPr algn="ctr"/>
            <a:r>
              <a:rPr lang="zh-CN" altLang="en-US" dirty="0">
                <a:solidFill>
                  <a:srgbClr val="CC0000"/>
                </a:solidFill>
                <a:latin typeface="Times New Roman" panose="02020603050405020304" pitchFamily="18" charset="0"/>
                <a:ea typeface="微软雅黑" panose="020B0503020204020204" pitchFamily="34" charset="-122"/>
              </a:rPr>
              <a:t>根结点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9" name="Text Box 10"/>
          <p:cNvSpPr txBox="1"/>
          <p:nvPr/>
        </p:nvSpPr>
        <p:spPr>
          <a:xfrm>
            <a:off x="1440616" y="3710600"/>
            <a:ext cx="1200150" cy="396875"/>
          </a:xfrm>
          <a:prstGeom prst="rect">
            <a:avLst/>
          </a:prstGeom>
          <a:noFill/>
          <a:ln w="9525">
            <a:noFill/>
          </a:ln>
        </p:spPr>
        <p:txBody>
          <a:bodyPr wrap="none" anchor="t">
            <a:spAutoFit/>
          </a:bodyPr>
          <a:lstStyle/>
          <a:p>
            <a:pPr algn="ctr"/>
            <a:r>
              <a:rPr lang="zh-CN" altLang="en-US" dirty="0">
                <a:solidFill>
                  <a:srgbClr val="CC0000"/>
                </a:solidFill>
                <a:latin typeface="Times New Roman" panose="02020603050405020304" pitchFamily="18" charset="0"/>
                <a:ea typeface="微软雅黑" panose="020B0503020204020204" pitchFamily="34" charset="-122"/>
              </a:rPr>
              <a:t>非叶结点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20" name="Text Box 11"/>
          <p:cNvSpPr txBox="1"/>
          <p:nvPr/>
        </p:nvSpPr>
        <p:spPr>
          <a:xfrm>
            <a:off x="500816" y="4475775"/>
            <a:ext cx="1200150" cy="396875"/>
          </a:xfrm>
          <a:prstGeom prst="rect">
            <a:avLst/>
          </a:prstGeom>
          <a:noFill/>
          <a:ln w="9525">
            <a:noFill/>
          </a:ln>
        </p:spPr>
        <p:txBody>
          <a:bodyPr wrap="none" anchor="t">
            <a:spAutoFit/>
          </a:bodyPr>
          <a:lstStyle/>
          <a:p>
            <a:pPr algn="ctr"/>
            <a:r>
              <a:rPr lang="zh-CN" altLang="en-US" dirty="0">
                <a:solidFill>
                  <a:srgbClr val="CC0000"/>
                </a:solidFill>
                <a:latin typeface="Times New Roman" panose="02020603050405020304" pitchFamily="18" charset="0"/>
                <a:ea typeface="微软雅黑" panose="020B0503020204020204" pitchFamily="34" charset="-122"/>
              </a:rPr>
              <a:t>叶子结点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21" name="Text Box 12"/>
          <p:cNvSpPr txBox="1"/>
          <p:nvPr/>
        </p:nvSpPr>
        <p:spPr>
          <a:xfrm>
            <a:off x="5671352" y="3114675"/>
            <a:ext cx="488950" cy="1108075"/>
          </a:xfrm>
          <a:prstGeom prst="rect">
            <a:avLst/>
          </a:prstGeom>
          <a:noFill/>
          <a:ln w="9525">
            <a:noFill/>
          </a:ln>
        </p:spPr>
        <p:txBody>
          <a:bodyPr vert="eaVert" wrap="none" anchor="t">
            <a:spAutoFit/>
          </a:bodyPr>
          <a:lstStyle/>
          <a:p>
            <a:pPr algn="ctr"/>
            <a:r>
              <a:rPr lang="zh-CN" altLang="en-US" dirty="0">
                <a:solidFill>
                  <a:srgbClr val="CC0000"/>
                </a:solidFill>
                <a:latin typeface="Times New Roman" panose="02020603050405020304" pitchFamily="18" charset="0"/>
                <a:ea typeface="微软雅黑" panose="020B0503020204020204" pitchFamily="34" charset="-122"/>
              </a:rPr>
              <a:t>索引文件</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22" name="Text Box 13"/>
          <p:cNvSpPr txBox="1"/>
          <p:nvPr/>
        </p:nvSpPr>
        <p:spPr>
          <a:xfrm>
            <a:off x="263322" y="5062115"/>
            <a:ext cx="1338828" cy="646331"/>
          </a:xfrm>
          <a:prstGeom prst="rect">
            <a:avLst/>
          </a:prstGeom>
          <a:noFill/>
          <a:ln w="9525">
            <a:noFill/>
          </a:ln>
        </p:spPr>
        <p:txBody>
          <a:bodyPr wrap="none" anchor="t">
            <a:spAutoFit/>
          </a:bodyPr>
          <a:lstStyle/>
          <a:p>
            <a:pPr algn="ctr"/>
            <a:r>
              <a:rPr lang="zh-CN" altLang="en-US" dirty="0">
                <a:solidFill>
                  <a:srgbClr val="CC0000"/>
                </a:solidFill>
                <a:latin typeface="Times New Roman" panose="02020603050405020304" pitchFamily="18" charset="0"/>
                <a:ea typeface="微软雅黑" panose="020B0503020204020204" pitchFamily="34" charset="-122"/>
              </a:rPr>
              <a:t>索引文件</a:t>
            </a:r>
            <a:endParaRPr lang="en-US" altLang="zh-CN" dirty="0">
              <a:solidFill>
                <a:srgbClr val="CC0000"/>
              </a:solidFill>
              <a:latin typeface="Times New Roman" panose="02020603050405020304" pitchFamily="18" charset="0"/>
              <a:ea typeface="微软雅黑" panose="020B0503020204020204" pitchFamily="34" charset="-122"/>
            </a:endParaRPr>
          </a:p>
          <a:p>
            <a:pPr algn="ctr"/>
            <a:r>
              <a:rPr lang="zh-CN" altLang="en-US" dirty="0">
                <a:solidFill>
                  <a:srgbClr val="CC0000"/>
                </a:solidFill>
                <a:latin typeface="Times New Roman" panose="02020603050405020304" pitchFamily="18" charset="0"/>
                <a:ea typeface="微软雅黑" panose="020B0503020204020204" pitchFamily="34" charset="-122"/>
              </a:rPr>
              <a:t>的叶子结点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23" name="Text Box 14"/>
          <p:cNvSpPr txBox="1"/>
          <p:nvPr/>
        </p:nvSpPr>
        <p:spPr>
          <a:xfrm>
            <a:off x="2824965" y="6073775"/>
            <a:ext cx="1708150" cy="396875"/>
          </a:xfrm>
          <a:prstGeom prst="rect">
            <a:avLst/>
          </a:prstGeom>
          <a:noFill/>
          <a:ln w="9525">
            <a:noFill/>
          </a:ln>
        </p:spPr>
        <p:txBody>
          <a:bodyPr wrap="none" anchor="t">
            <a:spAutoFit/>
          </a:bodyPr>
          <a:lstStyle/>
          <a:p>
            <a:pPr algn="ctr"/>
            <a:r>
              <a:rPr lang="zh-CN" altLang="en-US" dirty="0">
                <a:solidFill>
                  <a:srgbClr val="CC0000"/>
                </a:solidFill>
                <a:latin typeface="Times New Roman" panose="02020603050405020304" pitchFamily="18" charset="0"/>
                <a:ea typeface="微软雅黑" panose="020B0503020204020204" pitchFamily="34" charset="-122"/>
              </a:rPr>
              <a:t>主文件数据块</a:t>
            </a:r>
            <a:endParaRPr lang="zh-CN" altLang="en-US" dirty="0">
              <a:solidFill>
                <a:srgbClr val="CC0000"/>
              </a:solidFill>
              <a:latin typeface="Times New Roman" panose="02020603050405020304" pitchFamily="18" charset="0"/>
              <a:ea typeface="微软雅黑" panose="020B0503020204020204" pitchFamily="34" charset="-122"/>
            </a:endParaRPr>
          </a:p>
        </p:txBody>
      </p:sp>
      <p:grpSp>
        <p:nvGrpSpPr>
          <p:cNvPr id="24" name="Group 15"/>
          <p:cNvGrpSpPr/>
          <p:nvPr/>
        </p:nvGrpSpPr>
        <p:grpSpPr>
          <a:xfrm>
            <a:off x="6690917" y="4635500"/>
            <a:ext cx="3430588" cy="1497013"/>
            <a:chOff x="1265" y="3268"/>
            <a:chExt cx="1155" cy="629"/>
          </a:xfrm>
        </p:grpSpPr>
        <p:sp>
          <p:nvSpPr>
            <p:cNvPr id="25"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26"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27" name="Text Box 84"/>
            <p:cNvSpPr/>
            <p:nvPr/>
          </p:nvSpPr>
          <p:spPr>
            <a:xfrm>
              <a:off x="1267" y="3297"/>
              <a:ext cx="1153" cy="595"/>
            </a:xfrm>
            <a:prstGeom prst="roundRect">
              <a:avLst>
                <a:gd name="adj" fmla="val 16667"/>
              </a:avLst>
            </a:prstGeom>
            <a:noFill/>
            <a:ln w="9525">
              <a:noFill/>
            </a:ln>
          </p:spPr>
          <p:txBody>
            <a:bodyPr anchor="t">
              <a:spAutoFit/>
            </a:bodyPr>
            <a:lstStyle/>
            <a:p>
              <a:pPr>
                <a:spcBef>
                  <a:spcPct val="35000"/>
                </a:spcBef>
                <a:buChar char="•"/>
              </a:pPr>
              <a:r>
                <a:rPr lang="zh-CN" altLang="en-US" sz="1800" dirty="0">
                  <a:solidFill>
                    <a:schemeClr val="accent2"/>
                  </a:solidFill>
                  <a:latin typeface="Arial" panose="020B0604020202020204" pitchFamily="34" charset="0"/>
                  <a:ea typeface="微软雅黑" panose="020B0503020204020204" pitchFamily="34" charset="-122"/>
                </a:rPr>
                <a:t>能够自动保持与主文件大小相适应的树的层次</a:t>
              </a:r>
              <a:endParaRPr lang="zh-CN" altLang="en-US" sz="1800" dirty="0">
                <a:solidFill>
                  <a:schemeClr val="accent2"/>
                </a:solidFill>
                <a:latin typeface="Arial" panose="020B0604020202020204" pitchFamily="34" charset="0"/>
                <a:ea typeface="微软雅黑" panose="020B0503020204020204" pitchFamily="34" charset="-122"/>
              </a:endParaRPr>
            </a:p>
            <a:p>
              <a:pPr>
                <a:spcBef>
                  <a:spcPct val="35000"/>
                </a:spcBef>
                <a:buChar char="•"/>
              </a:pPr>
              <a:r>
                <a:rPr lang="zh-CN" altLang="en-US" sz="1800" dirty="0">
                  <a:solidFill>
                    <a:schemeClr val="accent2"/>
                  </a:solidFill>
                  <a:latin typeface="Arial" panose="020B0604020202020204" pitchFamily="34" charset="0"/>
                  <a:ea typeface="微软雅黑" panose="020B0503020204020204" pitchFamily="34" charset="-122"/>
                </a:rPr>
                <a:t>每个索引块的指针利用率都在</a:t>
              </a:r>
              <a:r>
                <a:rPr lang="en-US" altLang="zh-CN" sz="1800" dirty="0">
                  <a:solidFill>
                    <a:schemeClr val="accent2"/>
                  </a:solidFill>
                  <a:latin typeface="Arial" panose="020B0604020202020204" pitchFamily="34" charset="0"/>
                  <a:ea typeface="微软雅黑" panose="020B0503020204020204" pitchFamily="34" charset="-122"/>
                </a:rPr>
                <a:t>50%-100%</a:t>
              </a:r>
              <a:r>
                <a:rPr lang="zh-CN" altLang="en-US" sz="1800" dirty="0">
                  <a:solidFill>
                    <a:schemeClr val="accent2"/>
                  </a:solidFill>
                  <a:latin typeface="Arial" panose="020B0604020202020204" pitchFamily="34" charset="0"/>
                  <a:ea typeface="微软雅黑" panose="020B0503020204020204" pitchFamily="34" charset="-122"/>
                </a:rPr>
                <a:t>之间</a:t>
              </a:r>
              <a:endParaRPr lang="zh-CN" altLang="en-US" sz="1800" dirty="0">
                <a:solidFill>
                  <a:schemeClr val="accent2"/>
                </a:solidFill>
                <a:latin typeface="Arial" panose="020B0604020202020204" pitchFamily="34" charset="0"/>
                <a:ea typeface="微软雅黑" panose="020B0503020204020204" pitchFamily="34" charset="-122"/>
              </a:endParaRPr>
            </a:p>
          </p:txBody>
        </p:sp>
      </p:grpSp>
      <p:grpSp>
        <p:nvGrpSpPr>
          <p:cNvPr id="28" name="Group 19"/>
          <p:cNvGrpSpPr/>
          <p:nvPr/>
        </p:nvGrpSpPr>
        <p:grpSpPr>
          <a:xfrm>
            <a:off x="9964342" y="5091113"/>
            <a:ext cx="1298575" cy="1046162"/>
            <a:chOff x="3368" y="3555"/>
            <a:chExt cx="836" cy="705"/>
          </a:xfrm>
        </p:grpSpPr>
        <p:sp>
          <p:nvSpPr>
            <p:cNvPr id="29"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0" name="Oval 40"/>
            <p:cNvSpPr/>
            <p:nvPr/>
          </p:nvSpPr>
          <p:spPr>
            <a:xfrm>
              <a:off x="3437" y="3613"/>
              <a:ext cx="698" cy="588"/>
            </a:xfrm>
            <a:prstGeom prst="ellipse">
              <a:avLst/>
            </a:prstGeom>
            <a:solidFill>
              <a:srgbClr val="006600"/>
            </a:solidFill>
            <a:ln w="28575" cap="flat" cmpd="sng">
              <a:solidFill>
                <a:srgbClr val="FFFFFF"/>
              </a:solidFill>
              <a:prstDash val="solid"/>
              <a:round/>
              <a:headEnd type="none" w="med" len="med"/>
              <a:tailEnd type="none" w="med" len="med"/>
            </a:ln>
          </p:spPr>
          <p:txBody>
            <a:bodyPr wrap="none" anchor="ctr"/>
            <a:lstStyle/>
            <a:p>
              <a:pPr algn="ctr"/>
              <a:endParaRPr lang="zh-CN" altLang="zh-CN" sz="1800" dirty="0">
                <a:solidFill>
                  <a:srgbClr val="000000"/>
                </a:solidFill>
                <a:latin typeface="微软雅黑" panose="020B0503020204020204" pitchFamily="34" charset="-122"/>
                <a:ea typeface="微软雅黑" panose="020B0503020204020204" pitchFamily="34" charset="-122"/>
              </a:endParaRPr>
            </a:p>
          </p:txBody>
        </p:sp>
        <p:sp>
          <p:nvSpPr>
            <p:cNvPr id="31" name="Text Box 84"/>
            <p:cNvSpPr txBox="1"/>
            <p:nvPr/>
          </p:nvSpPr>
          <p:spPr>
            <a:xfrm>
              <a:off x="3440" y="3686"/>
              <a:ext cx="692" cy="432"/>
            </a:xfrm>
            <a:prstGeom prst="rect">
              <a:avLst/>
            </a:prstGeom>
            <a:noFill/>
            <a:ln w="9525">
              <a:noFill/>
            </a:ln>
          </p:spPr>
          <p:txBody>
            <a:bodyPr anchor="t">
              <a:spAutoFit/>
            </a:bodyPr>
            <a:lstStyle/>
            <a:p>
              <a:pPr algn="ctr">
                <a:spcBef>
                  <a:spcPct val="35000"/>
                </a:spcBef>
              </a:pPr>
              <a:r>
                <a:rPr lang="zh-CN" altLang="en-US" sz="1800" dirty="0">
                  <a:solidFill>
                    <a:srgbClr val="FFFFFF"/>
                  </a:solidFill>
                  <a:latin typeface="微软雅黑" panose="020B0503020204020204" pitchFamily="34" charset="-122"/>
                  <a:ea typeface="微软雅黑" panose="020B0503020204020204" pitchFamily="34" charset="-122"/>
                </a:rPr>
                <a:t>怎样实现呢？</a:t>
              </a:r>
              <a:endParaRPr lang="zh-CN" altLang="en-US" sz="1800" dirty="0">
                <a:solidFill>
                  <a:srgbClr val="FFFFFF"/>
                </a:solidFill>
                <a:latin typeface="微软雅黑" panose="020B0503020204020204" pitchFamily="34" charset="-122"/>
                <a:ea typeface="微软雅黑" panose="020B0503020204020204" pitchFamily="34" charset="-122"/>
              </a:endParaRPr>
            </a:p>
          </p:txBody>
        </p:sp>
      </p:gr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ppt_x"/>
                                          </p:val>
                                        </p:tav>
                                        <p:tav tm="100000">
                                          <p:val>
                                            <p:strVal val="#ppt_x"/>
                                          </p:val>
                                        </p:tav>
                                      </p:tavLst>
                                    </p:anim>
                                    <p:anim calcmode="lin" valueType="num">
                                      <p:cBhvr additive="base">
                                        <p:cTn id="2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 calcmode="lin" valueType="num">
                                      <p:cBhvr additive="base">
                                        <p:cTn id="45" dur="500" fill="hold"/>
                                        <p:tgtEl>
                                          <p:spTgt spid="22"/>
                                        </p:tgtEl>
                                        <p:attrNameLst>
                                          <p:attrName>ppt_x</p:attrName>
                                        </p:attrNameLst>
                                      </p:cBhvr>
                                      <p:tavLst>
                                        <p:tav tm="0">
                                          <p:val>
                                            <p:strVal val="#ppt_x"/>
                                          </p:val>
                                        </p:tav>
                                        <p:tav tm="100000">
                                          <p:val>
                                            <p:strVal val="#ppt_x"/>
                                          </p:val>
                                        </p:tav>
                                      </p:tavLst>
                                    </p:anim>
                                    <p:anim calcmode="lin" valueType="num">
                                      <p:cBhvr additive="base">
                                        <p:cTn id="46" dur="500" fill="hold"/>
                                        <p:tgtEl>
                                          <p:spTgt spid="22"/>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500" fill="hold"/>
                                        <p:tgtEl>
                                          <p:spTgt spid="23"/>
                                        </p:tgtEl>
                                        <p:attrNameLst>
                                          <p:attrName>ppt_x</p:attrName>
                                        </p:attrNameLst>
                                      </p:cBhvr>
                                      <p:tavLst>
                                        <p:tav tm="0">
                                          <p:val>
                                            <p:strVal val="#ppt_x"/>
                                          </p:val>
                                        </p:tav>
                                        <p:tav tm="100000">
                                          <p:val>
                                            <p:strVal val="#ppt_x"/>
                                          </p:val>
                                        </p:tav>
                                      </p:tavLst>
                                    </p:anim>
                                    <p:anim calcmode="lin" valueType="num">
                                      <p:cBhvr additive="base">
                                        <p:cTn id="5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ppt_x"/>
                                          </p:val>
                                        </p:tav>
                                        <p:tav tm="100000">
                                          <p:val>
                                            <p:strVal val="#ppt_x"/>
                                          </p:val>
                                        </p:tav>
                                      </p:tavLst>
                                    </p:anim>
                                    <p:anim calcmode="lin" valueType="num">
                                      <p:cBhvr additive="base">
                                        <p:cTn id="56" dur="500" fill="hold"/>
                                        <p:tgtEl>
                                          <p:spTgt spid="24"/>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anim calcmode="lin" valueType="num">
                                      <p:cBhvr additive="base">
                                        <p:cTn id="59" dur="500" fill="hold"/>
                                        <p:tgtEl>
                                          <p:spTgt spid="28"/>
                                        </p:tgtEl>
                                        <p:attrNameLst>
                                          <p:attrName>ppt_x</p:attrName>
                                        </p:attrNameLst>
                                      </p:cBhvr>
                                      <p:tavLst>
                                        <p:tav tm="0">
                                          <p:val>
                                            <p:strVal val="#ppt_x"/>
                                          </p:val>
                                        </p:tav>
                                        <p:tav tm="100000">
                                          <p:val>
                                            <p:strVal val="#ppt_x"/>
                                          </p:val>
                                        </p:tav>
                                      </p:tavLst>
                                    </p:anim>
                                    <p:anim calcmode="lin" valueType="num">
                                      <p:cBhvr additive="base">
                                        <p:cTn id="6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P spid="2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B+</a:t>
            </a:r>
            <a:r>
              <a:rPr lang="zh-CN" altLang="en-US" sz="2600" dirty="0">
                <a:latin typeface="微软雅黑" panose="020B0503020204020204" pitchFamily="34" charset="-122"/>
                <a:ea typeface="微软雅黑" panose="020B0503020204020204" pitchFamily="34" charset="-122"/>
              </a:rPr>
              <a:t>树的存储约定</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t>一块中存放多少个索引项</a:t>
            </a:r>
            <a:r>
              <a:rPr lang="en-US" altLang="zh-CN" sz="2000" b="0" dirty="0"/>
              <a:t>(n</a:t>
            </a:r>
            <a:r>
              <a:rPr lang="zh-CN" altLang="en-US" sz="2000" b="0" dirty="0"/>
              <a:t>的大小</a:t>
            </a:r>
            <a:r>
              <a:rPr lang="en-US" altLang="zh-CN" sz="2000" b="0" dirty="0"/>
              <a:t>)</a:t>
            </a:r>
            <a:r>
              <a:rPr lang="zh-CN" altLang="en-US" sz="2000" b="0" dirty="0"/>
              <a:t>？</a:t>
            </a:r>
            <a:endParaRPr lang="zh-CN" altLang="en-US" sz="2000" b="0" dirty="0"/>
          </a:p>
          <a:p>
            <a:pPr marL="0" indent="0">
              <a:lnSpc>
                <a:spcPct val="100000"/>
              </a:lnSpc>
              <a:buNone/>
            </a:pPr>
            <a:endParaRPr lang="zh-CN" altLang="en-US" sz="22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mc:AlternateContent xmlns:mc="http://schemas.openxmlformats.org/markup-compatibility/2006">
        <mc:Choice xmlns:a14="http://schemas.microsoft.com/office/drawing/2010/main" Requires="a14">
          <p:sp>
            <p:nvSpPr>
              <p:cNvPr id="17" name="Text Box 8"/>
              <p:cNvSpPr txBox="1"/>
              <p:nvPr/>
            </p:nvSpPr>
            <p:spPr>
              <a:xfrm>
                <a:off x="1236656" y="3186281"/>
                <a:ext cx="4681544" cy="1328569"/>
              </a:xfrm>
              <a:prstGeom prst="rect">
                <a:avLst/>
              </a:prstGeom>
              <a:noFill/>
              <a:ln w="9525">
                <a:noFill/>
              </a:ln>
            </p:spPr>
            <p:txBody>
              <a:bodyPr wrap="square" anchor="t">
                <a:spAutoFit/>
              </a:bodyPr>
              <a:lstStyle/>
              <a:p>
                <a:pPr marL="228600" indent="-228600">
                  <a:spcBef>
                    <a:spcPts val="1000"/>
                  </a:spcBef>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有</a:t>
                </a:r>
                <a:r>
                  <a:rPr lang="en-US" altLang="zh-CN" dirty="0">
                    <a:latin typeface="微软雅黑" panose="020B0503020204020204" pitchFamily="34" charset="-122"/>
                    <a:ea typeface="微软雅黑" panose="020B0503020204020204" pitchFamily="34" charset="-122"/>
                  </a:rPr>
                  <a:t>n-1</a:t>
                </a:r>
                <a:r>
                  <a:rPr lang="zh-CN" altLang="en-US" dirty="0">
                    <a:latin typeface="微软雅黑" panose="020B0503020204020204" pitchFamily="34" charset="-122"/>
                    <a:ea typeface="微软雅黑" panose="020B0503020204020204" pitchFamily="34" charset="-122"/>
                  </a:rPr>
                  <a:t>个索引项</a:t>
                </a:r>
                <a:r>
                  <a:rPr lang="en-US" altLang="zh-CN" dirty="0">
                    <a:solidFill>
                      <a:srgbClr val="FF0000"/>
                    </a:solidFill>
                    <a:latin typeface="微软雅黑" panose="020B0503020204020204" pitchFamily="34" charset="-122"/>
                    <a:ea typeface="微软雅黑" panose="020B0503020204020204" pitchFamily="34" charset="-122"/>
                  </a:rPr>
                  <a:t>(&lt;</a:t>
                </a:r>
                <a:r>
                  <a:rPr lang="zh-CN" altLang="en-US" dirty="0">
                    <a:solidFill>
                      <a:srgbClr val="FF0000"/>
                    </a:solidFill>
                    <a:latin typeface="微软雅黑" panose="020B0503020204020204" pitchFamily="34" charset="-122"/>
                    <a:ea typeface="微软雅黑" panose="020B0503020204020204" pitchFamily="34" charset="-122"/>
                  </a:rPr>
                  <a:t>索引字段值</a:t>
                </a:r>
                <a14:m>
                  <m:oMath xmlns:m="http://schemas.openxmlformats.org/officeDocument/2006/math">
                    <m:sSub>
                      <m:sSubPr>
                        <m:ctrlPr>
                          <a:rPr lang="en-US" altLang="zh-CN" i="1" dirty="0" smtClean="0">
                            <a:solidFill>
                              <a:srgbClr val="FF0000"/>
                            </a:solidFill>
                            <a:latin typeface="Cambria Math" panose="02040503050406030204" pitchFamily="18" charset="0"/>
                          </a:rPr>
                        </m:ctrlPr>
                      </m:sSubPr>
                      <m:e>
                        <m:r>
                          <a:rPr lang="en-US" altLang="zh-CN" b="0" i="1" dirty="0" smtClean="0">
                            <a:solidFill>
                              <a:srgbClr val="FF0000"/>
                            </a:solidFill>
                            <a:latin typeface="Cambria Math" panose="02040503050406030204" pitchFamily="18" charset="0"/>
                          </a:rPr>
                          <m:t>𝐾</m:t>
                        </m:r>
                      </m:e>
                      <m:sub>
                        <m:r>
                          <a:rPr lang="en-US" altLang="zh-CN" i="1" dirty="0">
                            <a:solidFill>
                              <a:srgbClr val="FF0000"/>
                            </a:solidFill>
                            <a:latin typeface="Cambria Math" panose="02040503050406030204" pitchFamily="18" charset="0"/>
                          </a:rPr>
                          <m:t>𝑖</m:t>
                        </m:r>
                      </m:sub>
                    </m:sSub>
                  </m:oMath>
                </a14:m>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指针</a:t>
                </a:r>
                <a14:m>
                  <m:oMath xmlns:m="http://schemas.openxmlformats.org/officeDocument/2006/math">
                    <m:sSub>
                      <m:sSubPr>
                        <m:ctrlPr>
                          <a:rPr lang="en-US" altLang="zh-CN" i="1" dirty="0">
                            <a:solidFill>
                              <a:srgbClr val="FF0000"/>
                            </a:solidFill>
                            <a:latin typeface="Cambria Math" panose="02040503050406030204" pitchFamily="18" charset="0"/>
                          </a:rPr>
                        </m:ctrlPr>
                      </m:sSubPr>
                      <m:e>
                        <m:r>
                          <a:rPr lang="en-US" altLang="zh-CN" b="0" i="1" dirty="0" smtClean="0">
                            <a:solidFill>
                              <a:srgbClr val="FF0000"/>
                            </a:solidFill>
                            <a:latin typeface="Cambria Math" panose="02040503050406030204" pitchFamily="18" charset="0"/>
                          </a:rPr>
                          <m:t>𝑃</m:t>
                        </m:r>
                      </m:e>
                      <m:sub>
                        <m:r>
                          <a:rPr lang="en-US" altLang="zh-CN" i="1" dirty="0">
                            <a:solidFill>
                              <a:srgbClr val="FF0000"/>
                            </a:solidFill>
                            <a:latin typeface="Cambria Math" panose="02040503050406030204" pitchFamily="18" charset="0"/>
                          </a:rPr>
                          <m:t>𝑖</m:t>
                        </m:r>
                      </m:sub>
                    </m:sSub>
                    <m:r>
                      <a:rPr lang="en-US" altLang="zh-CN" i="1" dirty="0">
                        <a:solidFill>
                          <a:srgbClr val="FF0000"/>
                        </a:solidFill>
                        <a:latin typeface="Cambria Math" panose="02040503050406030204" pitchFamily="18" charset="0"/>
                      </a:rPr>
                      <m:t> </m:t>
                    </m:r>
                  </m:oMath>
                </a14:m>
                <a:r>
                  <a:rPr lang="en-US" altLang="zh-CN" dirty="0">
                    <a:solidFill>
                      <a:srgbClr val="FF0000"/>
                    </a:solidFill>
                    <a:latin typeface="微软雅黑" panose="020B0503020204020204" pitchFamily="34" charset="-122"/>
                    <a:ea typeface="微软雅黑" panose="020B0503020204020204" pitchFamily="34" charset="-122"/>
                  </a:rPr>
                  <a:t>&gt;)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个指针</a:t>
                </a:r>
                <a:r>
                  <a:rPr lang="en-US" altLang="zh-CN" dirty="0">
                    <a:solidFill>
                      <a:srgbClr val="FF0000"/>
                    </a:solidFill>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i="1" dirty="0">
                            <a:solidFill>
                              <a:srgbClr val="FF0000"/>
                            </a:solidFill>
                            <a:latin typeface="Cambria Math" panose="02040503050406030204" pitchFamily="18" charset="0"/>
                          </a:rPr>
                        </m:ctrlPr>
                      </m:sSubPr>
                      <m:e>
                        <m:r>
                          <a:rPr lang="en-US" altLang="zh-CN" b="0" i="1" dirty="0" smtClean="0">
                            <a:solidFill>
                              <a:srgbClr val="FF0000"/>
                            </a:solidFill>
                            <a:latin typeface="Cambria Math" panose="02040503050406030204" pitchFamily="18" charset="0"/>
                          </a:rPr>
                          <m:t>𝑃</m:t>
                        </m:r>
                      </m:e>
                      <m:sub>
                        <m:r>
                          <a:rPr lang="en-US" altLang="zh-CN" b="0" i="1" dirty="0" smtClean="0">
                            <a:solidFill>
                              <a:srgbClr val="FF0000"/>
                            </a:solidFill>
                            <a:latin typeface="Cambria Math" panose="02040503050406030204" pitchFamily="18" charset="0"/>
                          </a:rPr>
                          <m:t>𝑛</m:t>
                        </m:r>
                      </m:sub>
                    </m:sSub>
                  </m:oMath>
                </a14:m>
                <a:r>
                  <a:rPr lang="en-US" altLang="zh-CN" dirty="0">
                    <a:solidFill>
                      <a:srgbClr val="FF0000"/>
                    </a:solidFill>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28600" indent="-228600">
                  <a:spcBef>
                    <a:spcPts val="1000"/>
                  </a:spcBef>
                  <a:buFont typeface="Wingdings" panose="05000000000000000000" pitchFamily="2" charset="2"/>
                  <a:buChar char="l"/>
                </a:pPr>
                <a:r>
                  <a:rPr lang="zh-CN" altLang="en-US" dirty="0">
                    <a:solidFill>
                      <a:schemeClr val="tx1"/>
                    </a:solidFill>
                    <a:latin typeface="微软雅黑" panose="020B0503020204020204" pitchFamily="34" charset="-122"/>
                    <a:ea typeface="微软雅黑" panose="020B0503020204020204" pitchFamily="34" charset="-122"/>
                  </a:rPr>
                  <a:t>索引字段值</a:t>
                </a:r>
                <a:r>
                  <a:rPr lang="en-US" altLang="zh-CN" dirty="0">
                    <a:solidFill>
                      <a:schemeClr val="tx1"/>
                    </a:solidFill>
                    <a:latin typeface="微软雅黑" panose="020B0503020204020204" pitchFamily="34" charset="-122"/>
                    <a:ea typeface="微软雅黑" panose="020B0503020204020204" pitchFamily="34" charset="-122"/>
                  </a:rPr>
                  <a:t>x</a:t>
                </a:r>
                <a:r>
                  <a:rPr lang="zh-CN" altLang="en-US" dirty="0">
                    <a:solidFill>
                      <a:schemeClr val="tx1"/>
                    </a:solidFill>
                    <a:latin typeface="微软雅黑" panose="020B0503020204020204" pitchFamily="34" charset="-122"/>
                    <a:ea typeface="微软雅黑" panose="020B0503020204020204" pitchFamily="34" charset="-122"/>
                  </a:rPr>
                  <a:t>在</a:t>
                </a:r>
                <a14:m>
                  <m:oMath xmlns:m="http://schemas.openxmlformats.org/officeDocument/2006/math">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𝐾</m:t>
                        </m:r>
                      </m:e>
                      <m:sub>
                        <m:r>
                          <a:rPr lang="en-US" altLang="zh-CN" i="1" dirty="0">
                            <a:solidFill>
                              <a:schemeClr val="tx1"/>
                            </a:solidFill>
                            <a:latin typeface="Cambria Math" panose="02040503050406030204" pitchFamily="18" charset="0"/>
                          </a:rPr>
                          <m:t>𝑖</m:t>
                        </m:r>
                      </m:sub>
                    </m:sSub>
                    <m:r>
                      <a:rPr lang="en-US" altLang="zh-CN" b="0" i="1" dirty="0" smtClean="0">
                        <a:solidFill>
                          <a:schemeClr val="tx1"/>
                        </a:solidFill>
                        <a:latin typeface="Cambria Math" panose="02040503050406030204" pitchFamily="18" charset="0"/>
                      </a:rPr>
                      <m:t>−</m:t>
                    </m:r>
                    <m:r>
                      <a:rPr lang="en-US" altLang="zh-CN" b="0" i="1" dirty="0" smtClean="0">
                        <a:solidFill>
                          <a:schemeClr val="tx1"/>
                        </a:solidFill>
                        <a:latin typeface="Cambria Math" panose="02040503050406030204" pitchFamily="18" charset="0"/>
                      </a:rPr>
                      <m:t>1</m:t>
                    </m:r>
                    <m:r>
                      <a:rPr lang="en-US" altLang="zh-CN" b="0" i="1" dirty="0" smtClean="0">
                        <a:solidFill>
                          <a:schemeClr val="tx1"/>
                        </a:solidFill>
                        <a:latin typeface="Cambria Math" panose="02040503050406030204" pitchFamily="18" charset="0"/>
                      </a:rPr>
                      <m:t>≤</m:t>
                    </m:r>
                    <m:r>
                      <a:rPr lang="en-US" altLang="zh-CN" b="0" i="1" dirty="0" smtClean="0">
                        <a:solidFill>
                          <a:schemeClr val="tx1"/>
                        </a:solidFill>
                        <a:latin typeface="Cambria Math" panose="02040503050406030204" pitchFamily="18" charset="0"/>
                      </a:rPr>
                      <m:t>𝑋</m:t>
                    </m:r>
                    <m:r>
                      <a:rPr lang="en-US" altLang="zh-CN" b="0" i="1" dirty="0" smtClean="0">
                        <a:solidFill>
                          <a:schemeClr val="tx1"/>
                        </a:solidFill>
                        <a:latin typeface="Cambria Math" panose="02040503050406030204" pitchFamily="18" charset="0"/>
                      </a:rPr>
                      <m:t>&lt;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𝐾</m:t>
                        </m:r>
                      </m:e>
                      <m:sub>
                        <m:r>
                          <a:rPr lang="en-US" altLang="zh-CN" i="1" dirty="0">
                            <a:solidFill>
                              <a:schemeClr val="tx1"/>
                            </a:solidFill>
                            <a:latin typeface="Cambria Math" panose="02040503050406030204" pitchFamily="18" charset="0"/>
                          </a:rPr>
                          <m:t>𝑖</m:t>
                        </m:r>
                      </m:sub>
                    </m:sSub>
                  </m:oMath>
                </a14:m>
                <a:r>
                  <a:rPr lang="zh-CN" altLang="en-US" dirty="0">
                    <a:solidFill>
                      <a:schemeClr val="tx1"/>
                    </a:solidFill>
                    <a:latin typeface="微软雅黑" panose="020B0503020204020204" pitchFamily="34" charset="-122"/>
                    <a:ea typeface="微软雅黑" panose="020B0503020204020204" pitchFamily="34" charset="-122"/>
                  </a:rPr>
                  <a:t>的由</a:t>
                </a:r>
                <a14:m>
                  <m:oMath xmlns:m="http://schemas.openxmlformats.org/officeDocument/2006/math">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𝑃</m:t>
                        </m:r>
                      </m:e>
                      <m:sub>
                        <m:r>
                          <a:rPr lang="en-US" altLang="zh-CN" i="1" dirty="0">
                            <a:solidFill>
                              <a:schemeClr val="tx1"/>
                            </a:solidFill>
                            <a:latin typeface="Cambria Math" panose="02040503050406030204" pitchFamily="18" charset="0"/>
                          </a:rPr>
                          <m:t>𝑖</m:t>
                        </m:r>
                      </m:sub>
                    </m:sSub>
                  </m:oMath>
                </a14:m>
                <a:r>
                  <a:rPr lang="zh-CN" altLang="en-US" dirty="0">
                    <a:solidFill>
                      <a:schemeClr val="tx1"/>
                    </a:solidFill>
                    <a:latin typeface="微软雅黑" panose="020B0503020204020204" pitchFamily="34" charset="-122"/>
                    <a:ea typeface="微软雅黑" panose="020B0503020204020204" pitchFamily="34" charset="-122"/>
                  </a:rPr>
                  <a:t>指向；而</a:t>
                </a:r>
                <a14:m>
                  <m:oMath xmlns:m="http://schemas.openxmlformats.org/officeDocument/2006/math">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𝐾</m:t>
                        </m:r>
                      </m:e>
                      <m:sub>
                        <m:r>
                          <a:rPr lang="en-US" altLang="zh-CN" i="1" dirty="0">
                            <a:solidFill>
                              <a:schemeClr val="tx1"/>
                            </a:solidFill>
                            <a:latin typeface="Cambria Math" panose="02040503050406030204" pitchFamily="18" charset="0"/>
                          </a:rPr>
                          <m:t>𝑖</m:t>
                        </m:r>
                      </m:sub>
                    </m:sSub>
                    <m:r>
                      <a:rPr lang="en-US" altLang="zh-CN" b="0" i="1" dirty="0" smtClean="0">
                        <a:solidFill>
                          <a:schemeClr val="tx1"/>
                        </a:solidFill>
                        <a:latin typeface="Cambria Math" panose="02040503050406030204" pitchFamily="18" charset="0"/>
                      </a:rPr>
                      <m:t>≤</m:t>
                    </m:r>
                    <m:r>
                      <a:rPr lang="en-US" altLang="zh-CN" b="0" i="1" dirty="0" smtClean="0">
                        <a:solidFill>
                          <a:schemeClr val="tx1"/>
                        </a:solidFill>
                        <a:latin typeface="Cambria Math" panose="02040503050406030204" pitchFamily="18" charset="0"/>
                      </a:rPr>
                      <m:t>𝑋</m:t>
                    </m:r>
                    <m:r>
                      <a:rPr lang="en-US" altLang="zh-CN" b="0" i="1" dirty="0" smtClean="0">
                        <a:solidFill>
                          <a:schemeClr val="tx1"/>
                        </a:solidFill>
                        <a:latin typeface="Cambria Math" panose="02040503050406030204" pitchFamily="18" charset="0"/>
                      </a:rPr>
                      <m:t>&lt;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𝐾</m:t>
                        </m:r>
                      </m:e>
                      <m:sub>
                        <m:r>
                          <a:rPr lang="en-US" altLang="zh-CN" i="1" dirty="0">
                            <a:solidFill>
                              <a:schemeClr val="tx1"/>
                            </a:solidFill>
                            <a:latin typeface="Cambria Math" panose="02040503050406030204" pitchFamily="18" charset="0"/>
                          </a:rPr>
                          <m:t>𝑖</m:t>
                        </m:r>
                      </m:sub>
                    </m:sSub>
                    <m:r>
                      <a:rPr lang="en-US" altLang="zh-CN" b="0" i="1" dirty="0" smtClean="0">
                        <a:solidFill>
                          <a:schemeClr val="tx1"/>
                        </a:solidFill>
                        <a:latin typeface="Cambria Math" panose="02040503050406030204" pitchFamily="18" charset="0"/>
                      </a:rPr>
                      <m:t>+</m:t>
                    </m:r>
                    <m:r>
                      <a:rPr lang="en-US" altLang="zh-CN" b="0" i="1" dirty="0" smtClean="0">
                        <a:solidFill>
                          <a:schemeClr val="tx1"/>
                        </a:solidFill>
                        <a:latin typeface="Cambria Math" panose="02040503050406030204" pitchFamily="18" charset="0"/>
                      </a:rPr>
                      <m:t>1</m:t>
                    </m:r>
                  </m:oMath>
                </a14:m>
                <a:r>
                  <a:rPr lang="zh-CN" altLang="en-US" dirty="0">
                    <a:solidFill>
                      <a:schemeClr val="tx1"/>
                    </a:solidFill>
                    <a:latin typeface="微软雅黑" panose="020B0503020204020204" pitchFamily="34" charset="-122"/>
                    <a:ea typeface="微软雅黑" panose="020B0503020204020204" pitchFamily="34" charset="-122"/>
                  </a:rPr>
                  <a:t>的由</a:t>
                </a:r>
                <a14:m>
                  <m:oMath xmlns:m="http://schemas.openxmlformats.org/officeDocument/2006/math">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𝑃</m:t>
                        </m:r>
                      </m:e>
                      <m:sub>
                        <m:r>
                          <a:rPr lang="en-US" altLang="zh-CN" i="1" dirty="0">
                            <a:solidFill>
                              <a:schemeClr val="tx1"/>
                            </a:solidFill>
                            <a:latin typeface="Cambria Math" panose="02040503050406030204" pitchFamily="18" charset="0"/>
                          </a:rPr>
                          <m:t>𝑖</m:t>
                        </m:r>
                      </m:sub>
                    </m:sSub>
                    <m:r>
                      <a:rPr lang="en-US" altLang="zh-CN" b="0" i="1" dirty="0" smtClean="0">
                        <a:solidFill>
                          <a:schemeClr val="tx1"/>
                        </a:solidFill>
                        <a:latin typeface="Cambria Math" panose="02040503050406030204" pitchFamily="18" charset="0"/>
                      </a:rPr>
                      <m:t>+</m:t>
                    </m:r>
                    <m:r>
                      <a:rPr lang="en-US" altLang="zh-CN" b="0" i="1" dirty="0" smtClean="0">
                        <a:solidFill>
                          <a:schemeClr val="tx1"/>
                        </a:solidFill>
                        <a:latin typeface="Cambria Math" panose="02040503050406030204" pitchFamily="18" charset="0"/>
                      </a:rPr>
                      <m:t>1</m:t>
                    </m:r>
                  </m:oMath>
                </a14:m>
                <a:r>
                  <a:rPr lang="zh-CN" altLang="en-US" dirty="0">
                    <a:solidFill>
                      <a:schemeClr val="tx1"/>
                    </a:solidFill>
                    <a:latin typeface="微软雅黑" panose="020B0503020204020204" pitchFamily="34" charset="-122"/>
                    <a:ea typeface="微软雅黑" panose="020B0503020204020204" pitchFamily="34" charset="-122"/>
                  </a:rPr>
                  <a:t>指向。</a:t>
                </a:r>
                <a:endParaRPr lang="zh-CN" altLang="en-US" dirty="0">
                  <a:solidFill>
                    <a:schemeClr val="tx1"/>
                  </a:solidFill>
                  <a:latin typeface="微软雅黑" panose="020B0503020204020204" pitchFamily="34" charset="-122"/>
                  <a:ea typeface="微软雅黑" panose="020B0503020204020204" pitchFamily="34" charset="-122"/>
                </a:endParaRPr>
              </a:p>
            </p:txBody>
          </p:sp>
        </mc:Choice>
        <mc:Fallback>
          <p:sp>
            <p:nvSpPr>
              <p:cNvPr id="17" name="Text Box 8"/>
              <p:cNvSpPr txBox="1">
                <a:spLocks noRot="1" noChangeAspect="1" noMove="1" noResize="1" noEditPoints="1" noAdjustHandles="1" noChangeArrowheads="1" noChangeShapeType="1" noTextEdit="1"/>
              </p:cNvSpPr>
              <p:nvPr/>
            </p:nvSpPr>
            <p:spPr>
              <a:xfrm>
                <a:off x="1236656" y="3186281"/>
                <a:ext cx="4681544" cy="1328569"/>
              </a:xfrm>
              <a:prstGeom prst="rect">
                <a:avLst/>
              </a:prstGeom>
              <a:blipFill rotWithShape="1">
                <a:blip r:embed="rId1"/>
                <a:stretch>
                  <a:fillRect l="-7" t="-37" r="-1546"/>
                </a:stretch>
              </a:blipFill>
              <a:ln w="9525">
                <a:noFill/>
              </a:ln>
            </p:spPr>
            <p:txBody>
              <a:bodyPr/>
              <a:lstStyle/>
              <a:p>
                <a:r>
                  <a:rPr lang="zh-CN" altLang="en-US">
                    <a:noFill/>
                  </a:rPr>
                  <a:t> </a:t>
                </a:r>
              </a:p>
            </p:txBody>
          </p:sp>
        </mc:Fallback>
      </mc:AlternateContent>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pic>
        <p:nvPicPr>
          <p:cNvPr id="2" name="Picture 3"/>
          <p:cNvPicPr>
            <a:picLocks noChangeAspect="1"/>
          </p:cNvPicPr>
          <p:nvPr/>
        </p:nvPicPr>
        <p:blipFill>
          <a:blip r:embed="rId2"/>
          <a:srcRect l="365" t="44904" r="546" b="45145"/>
          <a:stretch>
            <a:fillRect/>
          </a:stretch>
        </p:blipFill>
        <p:spPr>
          <a:xfrm>
            <a:off x="1511300" y="2363619"/>
            <a:ext cx="7843838" cy="631825"/>
          </a:xfrm>
          <a:prstGeom prst="rect">
            <a:avLst/>
          </a:prstGeom>
          <a:noFill/>
          <a:ln w="38100" cap="flat" cmpd="dbl">
            <a:solidFill>
              <a:schemeClr val="tx2"/>
            </a:solidFill>
            <a:prstDash val="solid"/>
            <a:miter/>
            <a:headEnd type="none" w="med" len="med"/>
            <a:tailEnd type="none" w="med" len="med"/>
          </a:ln>
        </p:spPr>
      </p:pic>
      <p:pic>
        <p:nvPicPr>
          <p:cNvPr id="4" name="Picture 24"/>
          <p:cNvPicPr>
            <a:picLocks noChangeAspect="1"/>
          </p:cNvPicPr>
          <p:nvPr/>
        </p:nvPicPr>
        <p:blipFill>
          <a:blip r:embed="rId3"/>
          <a:srcRect l="603" t="30812" r="401" b="31081"/>
          <a:stretch>
            <a:fillRect/>
          </a:stretch>
        </p:blipFill>
        <p:spPr>
          <a:xfrm>
            <a:off x="1485900" y="4651992"/>
            <a:ext cx="4176712" cy="1625600"/>
          </a:xfrm>
          <a:prstGeom prst="rect">
            <a:avLst/>
          </a:prstGeom>
          <a:noFill/>
          <a:ln w="38100" cap="flat" cmpd="dbl">
            <a:solidFill>
              <a:schemeClr val="tx2"/>
            </a:solidFill>
            <a:prstDash val="solid"/>
            <a:miter/>
            <a:headEnd type="none" w="med" len="med"/>
            <a:tailEnd type="none" w="med" len="med"/>
          </a:ln>
        </p:spPr>
      </p:pic>
      <p:grpSp>
        <p:nvGrpSpPr>
          <p:cNvPr id="8" name="Group 27"/>
          <p:cNvGrpSpPr/>
          <p:nvPr/>
        </p:nvGrpSpPr>
        <p:grpSpPr>
          <a:xfrm>
            <a:off x="6751349" y="3811586"/>
            <a:ext cx="3881437" cy="1981200"/>
            <a:chOff x="3127" y="2007"/>
            <a:chExt cx="2445" cy="1248"/>
          </a:xfrm>
        </p:grpSpPr>
        <p:sp>
          <p:nvSpPr>
            <p:cNvPr id="9" name="Rectangle 19"/>
            <p:cNvSpPr/>
            <p:nvPr/>
          </p:nvSpPr>
          <p:spPr>
            <a:xfrm>
              <a:off x="3127" y="2007"/>
              <a:ext cx="2445" cy="1157"/>
            </a:xfrm>
            <a:prstGeom prst="rect">
              <a:avLst/>
            </a:prstGeom>
            <a:solidFill>
              <a:schemeClr val="bg1"/>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10" name="Text Box 18"/>
            <p:cNvSpPr txBox="1"/>
            <p:nvPr/>
          </p:nvSpPr>
          <p:spPr>
            <a:xfrm>
              <a:off x="3177" y="2045"/>
              <a:ext cx="2348" cy="1210"/>
            </a:xfrm>
            <a:prstGeom prst="rect">
              <a:avLst/>
            </a:prstGeom>
            <a:noFill/>
            <a:ln w="9525">
              <a:noFill/>
            </a:ln>
          </p:spPr>
          <p:txBody>
            <a:bodyPr wrap="none" anchor="t">
              <a:spAutoFit/>
            </a:bodyPr>
            <a:lstStyle/>
            <a:p>
              <a:r>
                <a:rPr lang="zh-CN" altLang="en-US" dirty="0">
                  <a:latin typeface="Times New Roman" panose="02020603050405020304" pitchFamily="18" charset="0"/>
                  <a:ea typeface="微软雅黑" panose="020B0503020204020204" pitchFamily="34" charset="-122"/>
                </a:rPr>
                <a:t>示例  </a:t>
              </a:r>
              <a:r>
                <a:rPr lang="zh-CN" altLang="en-US" b="0" dirty="0">
                  <a:latin typeface="Times New Roman" panose="02020603050405020304" pitchFamily="18" charset="0"/>
                  <a:ea typeface="微软雅黑" panose="020B0503020204020204" pitchFamily="34" charset="-122"/>
                </a:rPr>
                <a:t>存储块 </a:t>
              </a:r>
              <a:r>
                <a:rPr lang="en-US" altLang="zh-CN" b="0" dirty="0">
                  <a:latin typeface="Times New Roman" panose="02020603050405020304" pitchFamily="18" charset="0"/>
                  <a:ea typeface="微软雅黑" panose="020B0503020204020204" pitchFamily="34" charset="-122"/>
                </a:rPr>
                <a:t>= 4096 Byte</a:t>
              </a:r>
              <a:endParaRPr lang="en-US" altLang="zh-CN" b="0" dirty="0">
                <a:latin typeface="Times New Roman" panose="02020603050405020304" pitchFamily="18" charset="0"/>
                <a:ea typeface="微软雅黑" panose="020B0503020204020204" pitchFamily="34" charset="-122"/>
              </a:endParaRPr>
            </a:p>
            <a:p>
              <a:r>
                <a:rPr lang="en-US" altLang="zh-CN" b="0" dirty="0">
                  <a:latin typeface="Times New Roman" panose="02020603050405020304" pitchFamily="18" charset="0"/>
                  <a:ea typeface="微软雅黑" panose="020B0503020204020204" pitchFamily="34" charset="-122"/>
                </a:rPr>
                <a:t>          </a:t>
              </a:r>
              <a:r>
                <a:rPr lang="zh-CN" altLang="en-US" b="0" dirty="0">
                  <a:latin typeface="Times New Roman" panose="02020603050405020304" pitchFamily="18" charset="0"/>
                  <a:ea typeface="微软雅黑" panose="020B0503020204020204" pitchFamily="34" charset="-122"/>
                </a:rPr>
                <a:t>整数型索引字段值</a:t>
              </a:r>
              <a:r>
                <a:rPr lang="en-US" altLang="zh-CN" b="0" dirty="0">
                  <a:latin typeface="Times New Roman" panose="02020603050405020304" pitchFamily="18" charset="0"/>
                  <a:ea typeface="微软雅黑" panose="020B0503020204020204" pitchFamily="34" charset="-122"/>
                </a:rPr>
                <a:t>= 4 Byte</a:t>
              </a:r>
              <a:endParaRPr lang="en-US" altLang="zh-CN" b="0" dirty="0">
                <a:latin typeface="Times New Roman" panose="02020603050405020304" pitchFamily="18" charset="0"/>
                <a:ea typeface="微软雅黑" panose="020B0503020204020204" pitchFamily="34" charset="-122"/>
              </a:endParaRPr>
            </a:p>
            <a:p>
              <a:r>
                <a:rPr lang="en-US" altLang="zh-CN" b="0" dirty="0">
                  <a:latin typeface="Times New Roman" panose="02020603050405020304" pitchFamily="18" charset="0"/>
                  <a:ea typeface="微软雅黑" panose="020B0503020204020204" pitchFamily="34" charset="-122"/>
                </a:rPr>
                <a:t>          </a:t>
              </a:r>
              <a:r>
                <a:rPr lang="zh-CN" altLang="en-US" b="0" dirty="0">
                  <a:latin typeface="Times New Roman" panose="02020603050405020304" pitchFamily="18" charset="0"/>
                  <a:ea typeface="微软雅黑" panose="020B0503020204020204" pitchFamily="34" charset="-122"/>
                </a:rPr>
                <a:t>指针 </a:t>
              </a:r>
              <a:r>
                <a:rPr lang="en-US" altLang="zh-CN" b="0" dirty="0">
                  <a:latin typeface="Times New Roman" panose="02020603050405020304" pitchFamily="18" charset="0"/>
                  <a:ea typeface="微软雅黑" panose="020B0503020204020204" pitchFamily="34" charset="-122"/>
                </a:rPr>
                <a:t>= 8 Byte</a:t>
              </a:r>
              <a:endParaRPr lang="en-US" altLang="zh-CN" b="0" dirty="0">
                <a:latin typeface="Times New Roman" panose="02020603050405020304" pitchFamily="18" charset="0"/>
                <a:ea typeface="微软雅黑" panose="020B0503020204020204" pitchFamily="34" charset="-122"/>
              </a:endParaRPr>
            </a:p>
            <a:p>
              <a:r>
                <a:rPr lang="zh-CN" altLang="en-US" b="0" dirty="0">
                  <a:latin typeface="Times New Roman" panose="02020603050405020304" pitchFamily="18" charset="0"/>
                  <a:ea typeface="微软雅黑" panose="020B0503020204020204" pitchFamily="34" charset="-122"/>
                </a:rPr>
                <a:t>则：</a:t>
              </a:r>
              <a:r>
                <a:rPr lang="en-US" altLang="zh-CN" b="0" dirty="0">
                  <a:latin typeface="Times New Roman" panose="02020603050405020304" pitchFamily="18" charset="0"/>
                  <a:ea typeface="微软雅黑" panose="020B0503020204020204" pitchFamily="34" charset="-122"/>
                </a:rPr>
                <a:t>n</a:t>
              </a:r>
              <a:r>
                <a:rPr lang="zh-CN" altLang="en-US" b="0" dirty="0">
                  <a:latin typeface="Times New Roman" panose="02020603050405020304" pitchFamily="18" charset="0"/>
                  <a:ea typeface="微软雅黑" panose="020B0503020204020204" pitchFamily="34" charset="-122"/>
                </a:rPr>
                <a:t>应满足 </a:t>
              </a:r>
              <a:r>
                <a:rPr lang="en-US" altLang="zh-CN" dirty="0">
                  <a:latin typeface="Times New Roman" panose="02020603050405020304" pitchFamily="18" charset="0"/>
                  <a:ea typeface="微软雅黑" panose="020B0503020204020204" pitchFamily="34" charset="-122"/>
                </a:rPr>
                <a:t>4(n-1)+8n&lt;=4096</a:t>
              </a:r>
              <a:endParaRPr lang="en-US" altLang="zh-CN"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	n</a:t>
              </a:r>
              <a:r>
                <a:rPr lang="zh-CN" altLang="en-US" dirty="0">
                  <a:latin typeface="Times New Roman" panose="02020603050405020304" pitchFamily="18" charset="0"/>
                  <a:ea typeface="微软雅黑" panose="020B0503020204020204" pitchFamily="34" charset="-122"/>
                </a:rPr>
                <a:t>取最大值</a:t>
              </a:r>
              <a:endParaRPr lang="zh-CN" altLang="en-US" dirty="0">
                <a:latin typeface="Times New Roman" panose="02020603050405020304" pitchFamily="18" charset="0"/>
                <a:ea typeface="微软雅黑" panose="020B0503020204020204" pitchFamily="34" charset="-122"/>
              </a:endParaRPr>
            </a:p>
            <a:p>
              <a:r>
                <a:rPr lang="zh-CN" altLang="en-US" dirty="0">
                  <a:solidFill>
                    <a:srgbClr val="CC0000"/>
                  </a:solidFill>
                  <a:latin typeface="Arial" panose="020B0604020202020204" pitchFamily="34" charset="0"/>
                  <a:ea typeface="微软雅黑" panose="020B0503020204020204" pitchFamily="34" charset="-122"/>
                </a:rPr>
                <a:t> 	</a:t>
              </a:r>
              <a:r>
                <a:rPr lang="en-US" altLang="zh-CN" dirty="0">
                  <a:solidFill>
                    <a:srgbClr val="CC0000"/>
                  </a:solidFill>
                  <a:latin typeface="Arial" panose="020B0604020202020204" pitchFamily="34" charset="0"/>
                  <a:ea typeface="微软雅黑" panose="020B0503020204020204" pitchFamily="34" charset="-122"/>
                </a:rPr>
                <a:t>n=341</a:t>
              </a:r>
              <a:endParaRPr lang="en-US" altLang="zh-CN" dirty="0">
                <a:solidFill>
                  <a:srgbClr val="CC0000"/>
                </a:solidFill>
                <a:latin typeface="Arial" panose="020B0604020202020204" pitchFamily="34" charset="0"/>
                <a:ea typeface="微软雅黑" panose="020B0503020204020204" pitchFamily="34" charset="-122"/>
              </a:endParaRPr>
            </a:p>
          </p:txBody>
        </p:sp>
      </p:grpSp>
      <p:sp>
        <p:nvSpPr>
          <p:cNvPr id="7" name="灯片编号占位符 6"/>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B+</a:t>
            </a:r>
            <a:r>
              <a:rPr lang="zh-CN" altLang="en-US" sz="2600" dirty="0">
                <a:latin typeface="微软雅黑" panose="020B0503020204020204" pitchFamily="34" charset="-122"/>
                <a:ea typeface="微软雅黑" panose="020B0503020204020204" pitchFamily="34" charset="-122"/>
              </a:rPr>
              <a:t>树的存储约定</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t>叶结点和非叶节点的指针指向什么？</a:t>
            </a:r>
            <a:endParaRPr lang="en-US" altLang="zh-CN" sz="2000" b="0" dirty="0"/>
          </a:p>
          <a:p>
            <a:pPr>
              <a:lnSpc>
                <a:spcPct val="100000"/>
              </a:lnSpc>
              <a:buFont typeface="Wingdings" panose="05000000000000000000" pitchFamily="2" charset="2"/>
              <a:buChar char="l"/>
            </a:pPr>
            <a:r>
              <a:rPr lang="zh-CN" altLang="en-US" sz="1800" b="0" dirty="0"/>
              <a:t>非叶结点指针指向索引块，叶结点指针指向主文件的数据块或数据记录</a:t>
            </a:r>
            <a:endParaRPr lang="zh-CN" altLang="en-US" sz="1800" b="0" dirty="0"/>
          </a:p>
          <a:p>
            <a:pPr>
              <a:lnSpc>
                <a:spcPct val="100000"/>
              </a:lnSpc>
              <a:buFont typeface="Wingdings" panose="05000000000000000000" pitchFamily="2" charset="2"/>
              <a:buChar char="l"/>
            </a:pPr>
            <a:r>
              <a:rPr lang="zh-CN" altLang="en-US" sz="1800" b="0" dirty="0"/>
              <a:t>叶结点的最后一个指针可能不同于它的其他指针</a:t>
            </a:r>
            <a:r>
              <a:rPr lang="en-US" altLang="zh-CN" sz="1800" b="0" dirty="0"/>
              <a:t>---</a:t>
            </a:r>
            <a:r>
              <a:rPr lang="zh-CN" altLang="en-US" sz="1800" b="0" dirty="0"/>
              <a:t>始终指向其下一个数据块</a:t>
            </a:r>
            <a:endParaRPr lang="zh-CN" altLang="en-US" sz="1800" b="0" dirty="0"/>
          </a:p>
          <a:p>
            <a:pPr marL="0" indent="0">
              <a:lnSpc>
                <a:spcPct val="100000"/>
              </a:lnSpc>
              <a:buNone/>
            </a:pPr>
            <a:endParaRPr lang="zh-CN" altLang="en-US" sz="2200" dirty="0"/>
          </a:p>
          <a:p>
            <a:pPr marL="0" indent="0">
              <a:lnSpc>
                <a:spcPct val="100000"/>
              </a:lnSpc>
              <a:buNone/>
            </a:pPr>
            <a:endParaRPr lang="zh-CN" altLang="en-US" sz="2200" dirty="0"/>
          </a:p>
          <a:p>
            <a:pPr marL="0" indent="0">
              <a:lnSpc>
                <a:spcPct val="100000"/>
              </a:lnSpc>
              <a:buNone/>
            </a:pPr>
            <a:endParaRPr lang="zh-CN" altLang="en-US" sz="22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1" name="Rectangle 58"/>
          <p:cNvSpPr/>
          <p:nvPr/>
        </p:nvSpPr>
        <p:spPr>
          <a:xfrm>
            <a:off x="480218" y="3333750"/>
            <a:ext cx="4457701" cy="2794613"/>
          </a:xfrm>
          <a:prstGeom prst="rect">
            <a:avLst/>
          </a:prstGeom>
          <a:solidFill>
            <a:schemeClr val="bg1"/>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grpSp>
        <p:nvGrpSpPr>
          <p:cNvPr id="12" name="Group 33"/>
          <p:cNvGrpSpPr/>
          <p:nvPr/>
        </p:nvGrpSpPr>
        <p:grpSpPr>
          <a:xfrm>
            <a:off x="1537494" y="3420088"/>
            <a:ext cx="2049463" cy="1058863"/>
            <a:chOff x="856" y="1440"/>
            <a:chExt cx="1291" cy="667"/>
          </a:xfrm>
        </p:grpSpPr>
        <p:sp>
          <p:nvSpPr>
            <p:cNvPr id="13" name="Rectangle 3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4" name="Line 3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5" name="Line 3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6" name="Line 3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8" name="Line 3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9" name="Line 3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0" name="Line 4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21" name="Text Box 41"/>
          <p:cNvSpPr txBox="1"/>
          <p:nvPr/>
        </p:nvSpPr>
        <p:spPr>
          <a:xfrm>
            <a:off x="1596232" y="3447076"/>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14</a:t>
            </a:r>
            <a:endParaRPr lang="en-US" altLang="zh-CN" sz="2400" dirty="0">
              <a:latin typeface="微软雅黑" panose="020B0503020204020204" pitchFamily="34" charset="-122"/>
              <a:ea typeface="微软雅黑" panose="020B0503020204020204" pitchFamily="34" charset="-122"/>
            </a:endParaRPr>
          </a:p>
        </p:txBody>
      </p:sp>
      <p:sp>
        <p:nvSpPr>
          <p:cNvPr id="22" name="Text Box 42"/>
          <p:cNvSpPr txBox="1"/>
          <p:nvPr/>
        </p:nvSpPr>
        <p:spPr>
          <a:xfrm>
            <a:off x="2321719" y="3440726"/>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52</a:t>
            </a:r>
            <a:endParaRPr lang="en-US" altLang="zh-CN" sz="2400" dirty="0">
              <a:latin typeface="微软雅黑" panose="020B0503020204020204" pitchFamily="34" charset="-122"/>
              <a:ea typeface="微软雅黑" panose="020B0503020204020204" pitchFamily="34" charset="-122"/>
            </a:endParaRPr>
          </a:p>
        </p:txBody>
      </p:sp>
      <p:sp>
        <p:nvSpPr>
          <p:cNvPr id="23" name="Text Box 43"/>
          <p:cNvSpPr txBox="1"/>
          <p:nvPr/>
        </p:nvSpPr>
        <p:spPr>
          <a:xfrm>
            <a:off x="3007519" y="3440726"/>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78</a:t>
            </a:r>
            <a:endParaRPr lang="en-US" altLang="zh-CN" sz="2400" dirty="0">
              <a:latin typeface="微软雅黑" panose="020B0503020204020204" pitchFamily="34" charset="-122"/>
              <a:ea typeface="微软雅黑" panose="020B0503020204020204" pitchFamily="34" charset="-122"/>
            </a:endParaRPr>
          </a:p>
        </p:txBody>
      </p:sp>
      <p:sp>
        <p:nvSpPr>
          <p:cNvPr id="24" name="Line 44"/>
          <p:cNvSpPr/>
          <p:nvPr/>
        </p:nvSpPr>
        <p:spPr>
          <a:xfrm flipH="1">
            <a:off x="1250157" y="4210663"/>
            <a:ext cx="469900" cy="679450"/>
          </a:xfrm>
          <a:prstGeom prst="line">
            <a:avLst/>
          </a:prstGeom>
          <a:ln w="9525" cap="flat" cmpd="sng">
            <a:solidFill>
              <a:srgbClr val="FF0066"/>
            </a:solidFill>
            <a:prstDash val="solid"/>
            <a:round/>
            <a:headEnd type="none" w="med" len="med"/>
            <a:tailEnd type="triangle" w="med" len="med"/>
          </a:ln>
        </p:spPr>
      </p:sp>
      <p:sp>
        <p:nvSpPr>
          <p:cNvPr id="25" name="Text Box 45"/>
          <p:cNvSpPr txBox="1"/>
          <p:nvPr/>
        </p:nvSpPr>
        <p:spPr>
          <a:xfrm>
            <a:off x="350044" y="4921863"/>
            <a:ext cx="1216025" cy="825500"/>
          </a:xfrm>
          <a:prstGeom prst="rect">
            <a:avLst/>
          </a:prstGeom>
          <a:noFill/>
          <a:ln w="9525">
            <a:noFill/>
          </a:ln>
        </p:spPr>
        <p:txBody>
          <a:bodyPr anchor="t">
            <a:spAutoFit/>
          </a:bodyPr>
          <a:lstStyle/>
          <a:p>
            <a:pPr algn="ctr"/>
            <a:r>
              <a:rPr lang="zh-CN" altLang="en-US" sz="1600" dirty="0">
                <a:latin typeface="微软雅黑" panose="020B0503020204020204" pitchFamily="34" charset="-122"/>
                <a:ea typeface="微软雅黑" panose="020B0503020204020204" pitchFamily="34" charset="-122"/>
              </a:rPr>
              <a:t>指向键值</a:t>
            </a:r>
            <a:r>
              <a:rPr lang="en-US" altLang="zh-CN" sz="1600" dirty="0">
                <a:latin typeface="微软雅黑" panose="020B0503020204020204" pitchFamily="34" charset="-122"/>
                <a:ea typeface="微软雅黑" panose="020B0503020204020204" pitchFamily="34" charset="-122"/>
              </a:rPr>
              <a:t>K&lt;14</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索引块</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26" name="Line 46"/>
          <p:cNvSpPr/>
          <p:nvPr/>
        </p:nvSpPr>
        <p:spPr>
          <a:xfrm>
            <a:off x="2305844" y="4177326"/>
            <a:ext cx="0" cy="744537"/>
          </a:xfrm>
          <a:prstGeom prst="line">
            <a:avLst/>
          </a:prstGeom>
          <a:ln w="9525" cap="flat" cmpd="sng">
            <a:solidFill>
              <a:srgbClr val="FF0066"/>
            </a:solidFill>
            <a:prstDash val="solid"/>
            <a:round/>
            <a:headEnd type="none" w="med" len="med"/>
            <a:tailEnd type="triangle" w="med" len="med"/>
          </a:ln>
        </p:spPr>
      </p:sp>
      <p:sp>
        <p:nvSpPr>
          <p:cNvPr id="27" name="Text Box 47"/>
          <p:cNvSpPr txBox="1"/>
          <p:nvPr/>
        </p:nvSpPr>
        <p:spPr>
          <a:xfrm>
            <a:off x="1626394" y="4915513"/>
            <a:ext cx="1216025" cy="825500"/>
          </a:xfrm>
          <a:prstGeom prst="rect">
            <a:avLst/>
          </a:prstGeom>
          <a:noFill/>
          <a:ln w="9525">
            <a:noFill/>
          </a:ln>
        </p:spPr>
        <p:txBody>
          <a:bodyPr anchor="t">
            <a:spAutoFit/>
          </a:bodyPr>
          <a:lstStyle/>
          <a:p>
            <a:pPr algn="ctr"/>
            <a:r>
              <a:rPr lang="zh-CN" altLang="en-US" sz="1600" dirty="0">
                <a:latin typeface="微软雅黑" panose="020B0503020204020204" pitchFamily="34" charset="-122"/>
                <a:ea typeface="微软雅黑" panose="020B0503020204020204" pitchFamily="34" charset="-122"/>
              </a:rPr>
              <a:t>指向键值</a:t>
            </a:r>
            <a:endParaRPr lang="zh-CN" altLang="en-US" sz="1600" dirty="0">
              <a:latin typeface="微软雅黑" panose="020B0503020204020204" pitchFamily="34" charset="-122"/>
              <a:ea typeface="微软雅黑" panose="020B0503020204020204" pitchFamily="34" charset="-122"/>
            </a:endParaRPr>
          </a:p>
          <a:p>
            <a:pPr algn="ctr"/>
            <a:r>
              <a:rPr lang="en-US" altLang="zh-CN" sz="1600" dirty="0">
                <a:latin typeface="微软雅黑" panose="020B0503020204020204" pitchFamily="34" charset="-122"/>
                <a:ea typeface="微软雅黑" panose="020B0503020204020204" pitchFamily="34" charset="-122"/>
              </a:rPr>
              <a:t>14</a:t>
            </a:r>
            <a:r>
              <a:rPr lang="en-US" altLang="zh-CN" sz="16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1600" dirty="0">
                <a:latin typeface="微软雅黑" panose="020B0503020204020204" pitchFamily="34" charset="-122"/>
                <a:ea typeface="微软雅黑" panose="020B0503020204020204" pitchFamily="34" charset="-122"/>
              </a:rPr>
              <a:t>K&lt;52</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索引块</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28" name="Line 48"/>
          <p:cNvSpPr/>
          <p:nvPr/>
        </p:nvSpPr>
        <p:spPr>
          <a:xfrm>
            <a:off x="2829719" y="4202726"/>
            <a:ext cx="392113" cy="693737"/>
          </a:xfrm>
          <a:prstGeom prst="line">
            <a:avLst/>
          </a:prstGeom>
          <a:ln w="9525" cap="flat" cmpd="sng">
            <a:solidFill>
              <a:srgbClr val="FF0066"/>
            </a:solidFill>
            <a:prstDash val="solid"/>
            <a:round/>
            <a:headEnd type="none" w="med" len="med"/>
            <a:tailEnd type="triangle" w="med" len="med"/>
          </a:ln>
        </p:spPr>
      </p:sp>
      <p:sp>
        <p:nvSpPr>
          <p:cNvPr id="29" name="Text Box 49"/>
          <p:cNvSpPr txBox="1"/>
          <p:nvPr/>
        </p:nvSpPr>
        <p:spPr>
          <a:xfrm>
            <a:off x="2924969" y="4936151"/>
            <a:ext cx="1216025" cy="825500"/>
          </a:xfrm>
          <a:prstGeom prst="rect">
            <a:avLst/>
          </a:prstGeom>
          <a:noFill/>
          <a:ln w="9525">
            <a:noFill/>
          </a:ln>
        </p:spPr>
        <p:txBody>
          <a:bodyPr anchor="t">
            <a:spAutoFit/>
          </a:bodyPr>
          <a:lstStyle/>
          <a:p>
            <a:pPr algn="ctr"/>
            <a:r>
              <a:rPr lang="zh-CN" altLang="en-US" sz="1600" dirty="0">
                <a:latin typeface="微软雅黑" panose="020B0503020204020204" pitchFamily="34" charset="-122"/>
                <a:ea typeface="微软雅黑" panose="020B0503020204020204" pitchFamily="34" charset="-122"/>
              </a:rPr>
              <a:t>指向键值</a:t>
            </a:r>
            <a:r>
              <a:rPr lang="en-US" altLang="zh-CN" sz="1600" dirty="0">
                <a:latin typeface="微软雅黑" panose="020B0503020204020204" pitchFamily="34" charset="-122"/>
                <a:ea typeface="微软雅黑" panose="020B0503020204020204" pitchFamily="34" charset="-122"/>
              </a:rPr>
              <a:t>52</a:t>
            </a:r>
            <a:r>
              <a:rPr lang="en-US" altLang="zh-CN" sz="1600"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1600" dirty="0">
                <a:latin typeface="微软雅黑" panose="020B0503020204020204" pitchFamily="34" charset="-122"/>
                <a:ea typeface="微软雅黑" panose="020B0503020204020204" pitchFamily="34" charset="-122"/>
              </a:rPr>
              <a:t>K&lt;78</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索引块</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30" name="Line 50"/>
          <p:cNvSpPr/>
          <p:nvPr/>
        </p:nvSpPr>
        <p:spPr>
          <a:xfrm flipV="1">
            <a:off x="3353594" y="4210663"/>
            <a:ext cx="558801" cy="6350"/>
          </a:xfrm>
          <a:prstGeom prst="line">
            <a:avLst/>
          </a:prstGeom>
          <a:ln w="9525" cap="flat" cmpd="sng">
            <a:solidFill>
              <a:srgbClr val="FF0066"/>
            </a:solidFill>
            <a:prstDash val="solid"/>
            <a:round/>
            <a:headEnd type="none" w="med" len="med"/>
            <a:tailEnd type="triangle" w="med" len="med"/>
          </a:ln>
        </p:spPr>
      </p:sp>
      <p:sp>
        <p:nvSpPr>
          <p:cNvPr id="31" name="Text Box 51"/>
          <p:cNvSpPr txBox="1"/>
          <p:nvPr/>
        </p:nvSpPr>
        <p:spPr>
          <a:xfrm>
            <a:off x="3775868" y="3882051"/>
            <a:ext cx="1216025" cy="825500"/>
          </a:xfrm>
          <a:prstGeom prst="rect">
            <a:avLst/>
          </a:prstGeom>
          <a:noFill/>
          <a:ln w="9525">
            <a:noFill/>
          </a:ln>
        </p:spPr>
        <p:txBody>
          <a:bodyPr anchor="t">
            <a:spAutoFit/>
          </a:bodyPr>
          <a:lstStyle/>
          <a:p>
            <a:pPr algn="ctr"/>
            <a:r>
              <a:rPr lang="zh-CN" altLang="en-US" sz="1600" dirty="0">
                <a:latin typeface="微软雅黑" panose="020B0503020204020204" pitchFamily="34" charset="-122"/>
                <a:ea typeface="微软雅黑" panose="020B0503020204020204" pitchFamily="34" charset="-122"/>
              </a:rPr>
              <a:t>指向键值</a:t>
            </a:r>
            <a:r>
              <a:rPr lang="en-US" altLang="zh-CN" sz="1600" dirty="0">
                <a:latin typeface="微软雅黑" panose="020B0503020204020204" pitchFamily="34" charset="-122"/>
                <a:ea typeface="微软雅黑" panose="020B0503020204020204" pitchFamily="34" charset="-122"/>
              </a:rPr>
              <a:t>K</a:t>
            </a:r>
            <a:r>
              <a:rPr lang="en-US" altLang="zh-CN" sz="1600" dirty="0">
                <a:latin typeface="方正兰亭超细黑简体" panose="02000000000000000000" pitchFamily="2" charset="-122"/>
                <a:ea typeface="方正兰亭超细黑简体" panose="02000000000000000000" pitchFamily="2" charset="-122"/>
              </a:rPr>
              <a:t> </a:t>
            </a:r>
            <a:r>
              <a:rPr lang="en-US" altLang="zh-CN" sz="1600" dirty="0">
                <a:latin typeface="方正兰亭超细黑简体" panose="02000000000000000000" pitchFamily="2" charset="-122"/>
                <a:ea typeface="方正兰亭超细黑简体" panose="02000000000000000000" pitchFamily="2" charset="-122"/>
                <a:sym typeface="Symbol" panose="05050102010706020507" pitchFamily="18" charset="2"/>
              </a:rPr>
              <a:t></a:t>
            </a:r>
            <a:r>
              <a:rPr lang="en-US" altLang="zh-CN" sz="1600" dirty="0">
                <a:latin typeface="微软雅黑" panose="020B0503020204020204" pitchFamily="34" charset="-122"/>
                <a:ea typeface="微软雅黑" panose="020B0503020204020204" pitchFamily="34" charset="-122"/>
              </a:rPr>
              <a:t>78</a:t>
            </a:r>
            <a:r>
              <a:rPr lang="zh-CN" altLang="en-US" sz="1600" dirty="0">
                <a:latin typeface="微软雅黑" panose="020B0503020204020204" pitchFamily="34" charset="-122"/>
                <a:ea typeface="微软雅黑" panose="020B0503020204020204" pitchFamily="34" charset="-122"/>
              </a:rPr>
              <a:t>的索引块</a:t>
            </a:r>
            <a:endParaRPr lang="zh-CN" altLang="en-US" sz="1600" dirty="0">
              <a:latin typeface="微软雅黑" panose="020B0503020204020204" pitchFamily="34" charset="-122"/>
              <a:ea typeface="微软雅黑" panose="020B0503020204020204" pitchFamily="34" charset="-122"/>
            </a:endParaRPr>
          </a:p>
        </p:txBody>
      </p:sp>
      <p:sp>
        <p:nvSpPr>
          <p:cNvPr id="33" name="Text Box 52"/>
          <p:cNvSpPr txBox="1"/>
          <p:nvPr/>
        </p:nvSpPr>
        <p:spPr>
          <a:xfrm>
            <a:off x="1478757" y="5741013"/>
            <a:ext cx="1912938" cy="396875"/>
          </a:xfrm>
          <a:prstGeom prst="rect">
            <a:avLst/>
          </a:prstGeom>
          <a:noFill/>
          <a:ln w="9525">
            <a:noFill/>
          </a:ln>
        </p:spPr>
        <p:txBody>
          <a:bodyPr wrap="none" anchor="t">
            <a:spAutoFit/>
          </a:bodyPr>
          <a:lstStyle/>
          <a:p>
            <a:pPr algn="ctr"/>
            <a:r>
              <a:rPr lang="zh-CN" altLang="en-US" dirty="0">
                <a:latin typeface="微软雅黑" panose="020B0503020204020204" pitchFamily="34" charset="-122"/>
                <a:ea typeface="微软雅黑" panose="020B0503020204020204" pitchFamily="34" charset="-122"/>
              </a:rPr>
              <a:t>非叶结点</a:t>
            </a:r>
            <a:r>
              <a:rPr lang="en-US" altLang="zh-CN" dirty="0">
                <a:latin typeface="微软雅黑" panose="020B0503020204020204" pitchFamily="34" charset="-122"/>
                <a:ea typeface="微软雅黑" panose="020B0503020204020204" pitchFamily="34" charset="-122"/>
              </a:rPr>
              <a:t>(n=3)</a:t>
            </a:r>
            <a:endParaRPr lang="en-US" altLang="zh-CN" dirty="0">
              <a:latin typeface="微软雅黑" panose="020B0503020204020204" pitchFamily="34" charset="-122"/>
              <a:ea typeface="微软雅黑" panose="020B0503020204020204" pitchFamily="34" charset="-122"/>
            </a:endParaRPr>
          </a:p>
        </p:txBody>
      </p:sp>
      <p:sp>
        <p:nvSpPr>
          <p:cNvPr id="34" name="Rectangle 59"/>
          <p:cNvSpPr/>
          <p:nvPr/>
        </p:nvSpPr>
        <p:spPr>
          <a:xfrm>
            <a:off x="5027609" y="3333750"/>
            <a:ext cx="4236247" cy="2804138"/>
          </a:xfrm>
          <a:prstGeom prst="rect">
            <a:avLst/>
          </a:prstGeom>
          <a:solidFill>
            <a:schemeClr val="bg1"/>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grpSp>
        <p:nvGrpSpPr>
          <p:cNvPr id="35" name="Group 20"/>
          <p:cNvGrpSpPr/>
          <p:nvPr/>
        </p:nvGrpSpPr>
        <p:grpSpPr>
          <a:xfrm>
            <a:off x="6161086" y="3608026"/>
            <a:ext cx="2049462" cy="1058862"/>
            <a:chOff x="856" y="1440"/>
            <a:chExt cx="1291" cy="667"/>
          </a:xfrm>
        </p:grpSpPr>
        <p:sp>
          <p:nvSpPr>
            <p:cNvPr id="36" name="Rectangle 1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7" name="Line 14"/>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38" name="Line 15"/>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39" name="Line 16"/>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0" name="Line 17"/>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1" name="Line 18"/>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2" name="Line 19"/>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43" name="Text Box 21"/>
          <p:cNvSpPr txBox="1"/>
          <p:nvPr/>
        </p:nvSpPr>
        <p:spPr>
          <a:xfrm>
            <a:off x="6219823" y="3635013"/>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57</a:t>
            </a:r>
            <a:endParaRPr lang="en-US" altLang="zh-CN" sz="2400" dirty="0">
              <a:latin typeface="微软雅黑" panose="020B0503020204020204" pitchFamily="34" charset="-122"/>
              <a:ea typeface="微软雅黑" panose="020B0503020204020204" pitchFamily="34" charset="-122"/>
            </a:endParaRPr>
          </a:p>
        </p:txBody>
      </p:sp>
      <p:sp>
        <p:nvSpPr>
          <p:cNvPr id="44" name="Text Box 22"/>
          <p:cNvSpPr txBox="1"/>
          <p:nvPr/>
        </p:nvSpPr>
        <p:spPr>
          <a:xfrm>
            <a:off x="6945311" y="3628663"/>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81</a:t>
            </a:r>
            <a:endParaRPr lang="en-US" altLang="zh-CN" sz="2400" dirty="0">
              <a:latin typeface="微软雅黑" panose="020B0503020204020204" pitchFamily="34" charset="-122"/>
              <a:ea typeface="微软雅黑" panose="020B0503020204020204" pitchFamily="34" charset="-122"/>
            </a:endParaRPr>
          </a:p>
        </p:txBody>
      </p:sp>
      <p:sp>
        <p:nvSpPr>
          <p:cNvPr id="45" name="Text Box 23"/>
          <p:cNvSpPr txBox="1"/>
          <p:nvPr/>
        </p:nvSpPr>
        <p:spPr>
          <a:xfrm>
            <a:off x="7631111" y="3628663"/>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95</a:t>
            </a:r>
            <a:endParaRPr lang="en-US" altLang="zh-CN" sz="2400" dirty="0">
              <a:latin typeface="微软雅黑" panose="020B0503020204020204" pitchFamily="34" charset="-122"/>
              <a:ea typeface="微软雅黑" panose="020B0503020204020204" pitchFamily="34" charset="-122"/>
            </a:endParaRPr>
          </a:p>
        </p:txBody>
      </p:sp>
      <p:sp>
        <p:nvSpPr>
          <p:cNvPr id="46" name="Line 24"/>
          <p:cNvSpPr/>
          <p:nvPr/>
        </p:nvSpPr>
        <p:spPr>
          <a:xfrm flipH="1">
            <a:off x="5873748" y="4398601"/>
            <a:ext cx="469900" cy="679450"/>
          </a:xfrm>
          <a:prstGeom prst="line">
            <a:avLst/>
          </a:prstGeom>
          <a:ln w="9525" cap="flat" cmpd="sng">
            <a:solidFill>
              <a:srgbClr val="FF0066"/>
            </a:solidFill>
            <a:prstDash val="solid"/>
            <a:round/>
            <a:headEnd type="none" w="med" len="med"/>
            <a:tailEnd type="triangle" w="med" len="med"/>
          </a:ln>
        </p:spPr>
      </p:sp>
      <p:sp>
        <p:nvSpPr>
          <p:cNvPr id="47" name="Text Box 25"/>
          <p:cNvSpPr txBox="1"/>
          <p:nvPr/>
        </p:nvSpPr>
        <p:spPr>
          <a:xfrm>
            <a:off x="4973636" y="5038363"/>
            <a:ext cx="1216025" cy="825500"/>
          </a:xfrm>
          <a:prstGeom prst="rect">
            <a:avLst/>
          </a:prstGeom>
          <a:noFill/>
          <a:ln w="9525">
            <a:noFill/>
          </a:ln>
        </p:spPr>
        <p:txBody>
          <a:bodyPr anchor="t">
            <a:spAutoFit/>
          </a:bodyPr>
          <a:lstStyle/>
          <a:p>
            <a:r>
              <a:rPr lang="zh-CN" altLang="en-US" sz="1600" dirty="0">
                <a:latin typeface="微软雅黑" panose="020B0503020204020204" pitchFamily="34" charset="-122"/>
                <a:ea typeface="微软雅黑" panose="020B0503020204020204" pitchFamily="34" charset="-122"/>
              </a:rPr>
              <a:t>指向键值为</a:t>
            </a:r>
            <a:r>
              <a:rPr lang="en-US" altLang="zh-CN" sz="1600" dirty="0">
                <a:latin typeface="微软雅黑" panose="020B0503020204020204" pitchFamily="34" charset="-122"/>
                <a:ea typeface="微软雅黑" panose="020B0503020204020204" pitchFamily="34" charset="-122"/>
              </a:rPr>
              <a:t>57</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主文件记录</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48" name="Line 26"/>
          <p:cNvSpPr/>
          <p:nvPr/>
        </p:nvSpPr>
        <p:spPr>
          <a:xfrm>
            <a:off x="6929436" y="4365263"/>
            <a:ext cx="0" cy="744538"/>
          </a:xfrm>
          <a:prstGeom prst="line">
            <a:avLst/>
          </a:prstGeom>
          <a:ln w="9525" cap="flat" cmpd="sng">
            <a:solidFill>
              <a:srgbClr val="FF0066"/>
            </a:solidFill>
            <a:prstDash val="solid"/>
            <a:round/>
            <a:headEnd type="none" w="med" len="med"/>
            <a:tailEnd type="triangle" w="med" len="med"/>
          </a:ln>
        </p:spPr>
      </p:sp>
      <p:sp>
        <p:nvSpPr>
          <p:cNvPr id="49" name="Text Box 27"/>
          <p:cNvSpPr txBox="1"/>
          <p:nvPr/>
        </p:nvSpPr>
        <p:spPr>
          <a:xfrm>
            <a:off x="6249986" y="5032013"/>
            <a:ext cx="1216025" cy="825500"/>
          </a:xfrm>
          <a:prstGeom prst="rect">
            <a:avLst/>
          </a:prstGeom>
          <a:noFill/>
          <a:ln w="9525">
            <a:noFill/>
          </a:ln>
        </p:spPr>
        <p:txBody>
          <a:bodyPr anchor="t">
            <a:spAutoFit/>
          </a:bodyPr>
          <a:lstStyle/>
          <a:p>
            <a:r>
              <a:rPr lang="zh-CN" altLang="en-US" sz="1600" dirty="0">
                <a:latin typeface="微软雅黑" panose="020B0503020204020204" pitchFamily="34" charset="-122"/>
                <a:ea typeface="微软雅黑" panose="020B0503020204020204" pitchFamily="34" charset="-122"/>
              </a:rPr>
              <a:t>指向键值为</a:t>
            </a:r>
            <a:r>
              <a:rPr lang="en-US" altLang="zh-CN" sz="1600" dirty="0">
                <a:latin typeface="微软雅黑" panose="020B0503020204020204" pitchFamily="34" charset="-122"/>
                <a:ea typeface="微软雅黑" panose="020B0503020204020204" pitchFamily="34" charset="-122"/>
              </a:rPr>
              <a:t>81</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主文件记录</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50" name="Line 28"/>
          <p:cNvSpPr/>
          <p:nvPr/>
        </p:nvSpPr>
        <p:spPr>
          <a:xfrm>
            <a:off x="7453311" y="4390663"/>
            <a:ext cx="392112" cy="693738"/>
          </a:xfrm>
          <a:prstGeom prst="line">
            <a:avLst/>
          </a:prstGeom>
          <a:ln w="9525" cap="flat" cmpd="sng">
            <a:solidFill>
              <a:srgbClr val="FF0066"/>
            </a:solidFill>
            <a:prstDash val="solid"/>
            <a:round/>
            <a:headEnd type="none" w="med" len="med"/>
            <a:tailEnd type="triangle" w="med" len="med"/>
          </a:ln>
        </p:spPr>
      </p:sp>
      <p:sp>
        <p:nvSpPr>
          <p:cNvPr id="51" name="Text Box 29"/>
          <p:cNvSpPr txBox="1"/>
          <p:nvPr/>
        </p:nvSpPr>
        <p:spPr>
          <a:xfrm>
            <a:off x="7548561" y="5052651"/>
            <a:ext cx="1216025" cy="825500"/>
          </a:xfrm>
          <a:prstGeom prst="rect">
            <a:avLst/>
          </a:prstGeom>
          <a:noFill/>
          <a:ln w="9525">
            <a:noFill/>
          </a:ln>
        </p:spPr>
        <p:txBody>
          <a:bodyPr anchor="t">
            <a:spAutoFit/>
          </a:bodyPr>
          <a:lstStyle/>
          <a:p>
            <a:r>
              <a:rPr lang="zh-CN" altLang="en-US" sz="1600" dirty="0">
                <a:latin typeface="微软雅黑" panose="020B0503020204020204" pitchFamily="34" charset="-122"/>
                <a:ea typeface="微软雅黑" panose="020B0503020204020204" pitchFamily="34" charset="-122"/>
              </a:rPr>
              <a:t>指向键值为</a:t>
            </a:r>
            <a:r>
              <a:rPr lang="en-US" altLang="zh-CN" sz="1600" dirty="0">
                <a:latin typeface="微软雅黑" panose="020B0503020204020204" pitchFamily="34" charset="-122"/>
                <a:ea typeface="微软雅黑" panose="020B0503020204020204" pitchFamily="34" charset="-122"/>
              </a:rPr>
              <a:t>95</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主文件记录</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52" name="Line 30"/>
          <p:cNvSpPr/>
          <p:nvPr/>
        </p:nvSpPr>
        <p:spPr>
          <a:xfrm flipV="1">
            <a:off x="7977187" y="4398601"/>
            <a:ext cx="558800" cy="6350"/>
          </a:xfrm>
          <a:prstGeom prst="line">
            <a:avLst/>
          </a:prstGeom>
          <a:ln w="9525" cap="flat" cmpd="sng">
            <a:solidFill>
              <a:srgbClr val="FF0066"/>
            </a:solidFill>
            <a:prstDash val="solid"/>
            <a:round/>
            <a:headEnd type="none" w="med" len="med"/>
            <a:tailEnd type="triangle" w="med" len="med"/>
          </a:ln>
        </p:spPr>
      </p:sp>
      <p:sp>
        <p:nvSpPr>
          <p:cNvPr id="53" name="Text Box 31"/>
          <p:cNvSpPr txBox="1"/>
          <p:nvPr/>
        </p:nvSpPr>
        <p:spPr>
          <a:xfrm>
            <a:off x="8401844" y="3904275"/>
            <a:ext cx="982662" cy="1069975"/>
          </a:xfrm>
          <a:prstGeom prst="rect">
            <a:avLst/>
          </a:prstGeom>
          <a:noFill/>
          <a:ln w="9525">
            <a:noFill/>
          </a:ln>
        </p:spPr>
        <p:txBody>
          <a:bodyPr anchor="t">
            <a:spAutoFit/>
          </a:bodyPr>
          <a:lstStyle/>
          <a:p>
            <a:pPr algn="ctr"/>
            <a:r>
              <a:rPr lang="zh-CN" altLang="en-US" sz="1600" dirty="0">
                <a:latin typeface="微软雅黑" panose="020B0503020204020204" pitchFamily="34" charset="-122"/>
                <a:ea typeface="微软雅黑" panose="020B0503020204020204" pitchFamily="34" charset="-122"/>
              </a:rPr>
              <a:t>指向按顺序的</a:t>
            </a:r>
            <a:r>
              <a:rPr lang="zh-CN" altLang="en-US" sz="1600" dirty="0">
                <a:solidFill>
                  <a:srgbClr val="CC0000"/>
                </a:solidFill>
                <a:latin typeface="微软雅黑" panose="020B0503020204020204" pitchFamily="34" charset="-122"/>
                <a:ea typeface="微软雅黑" panose="020B0503020204020204" pitchFamily="34" charset="-122"/>
              </a:rPr>
              <a:t>下一个叶结点</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54" name="Text Box 32"/>
          <p:cNvSpPr txBox="1"/>
          <p:nvPr/>
        </p:nvSpPr>
        <p:spPr>
          <a:xfrm>
            <a:off x="6343648" y="5825763"/>
            <a:ext cx="1658937" cy="396875"/>
          </a:xfrm>
          <a:prstGeom prst="rect">
            <a:avLst/>
          </a:prstGeom>
          <a:noFill/>
          <a:ln w="9525">
            <a:noFill/>
          </a:ln>
        </p:spPr>
        <p:txBody>
          <a:bodyPr wrap="none" anchor="t">
            <a:spAutoFit/>
          </a:bodyPr>
          <a:lstStyle/>
          <a:p>
            <a:pPr algn="ctr"/>
            <a:r>
              <a:rPr lang="zh-CN" altLang="en-US" dirty="0">
                <a:latin typeface="微软雅黑" panose="020B0503020204020204" pitchFamily="34" charset="-122"/>
                <a:ea typeface="微软雅黑" panose="020B0503020204020204" pitchFamily="34" charset="-122"/>
              </a:rPr>
              <a:t>叶结点</a:t>
            </a:r>
            <a:r>
              <a:rPr lang="en-US" altLang="zh-CN" dirty="0">
                <a:latin typeface="微软雅黑" panose="020B0503020204020204" pitchFamily="34" charset="-122"/>
                <a:ea typeface="微软雅黑" panose="020B0503020204020204" pitchFamily="34" charset="-122"/>
              </a:rPr>
              <a:t>(n=3)</a:t>
            </a:r>
            <a:endParaRPr lang="en-US" altLang="zh-CN" dirty="0">
              <a:latin typeface="微软雅黑" panose="020B0503020204020204" pitchFamily="34" charset="-122"/>
              <a:ea typeface="微软雅黑" panose="020B0503020204020204" pitchFamily="34" charset="-122"/>
            </a:endParaRPr>
          </a:p>
        </p:txBody>
      </p:sp>
      <p:sp>
        <p:nvSpPr>
          <p:cNvPr id="55" name="Rectangle 56"/>
          <p:cNvSpPr/>
          <p:nvPr/>
        </p:nvSpPr>
        <p:spPr>
          <a:xfrm>
            <a:off x="9498396" y="3688786"/>
            <a:ext cx="2408244" cy="2058577"/>
          </a:xfrm>
          <a:prstGeom prst="rect">
            <a:avLst/>
          </a:prstGeom>
          <a:noFill/>
          <a:ln w="9525">
            <a:noFill/>
          </a:ln>
        </p:spPr>
        <p:txBody>
          <a:bodyPr wrap="square" anchor="t">
            <a:spAutoFit/>
          </a:bodyPr>
          <a:lstStyle/>
          <a:p>
            <a:pPr>
              <a:lnSpc>
                <a:spcPct val="120000"/>
              </a:lnSpc>
              <a:buChar char="•"/>
            </a:pPr>
            <a:r>
              <a:rPr lang="zh-CN" altLang="en-US" dirty="0">
                <a:latin typeface="微软雅黑" panose="020B0503020204020204" pitchFamily="34" charset="-122"/>
                <a:ea typeface="微软雅黑" panose="020B0503020204020204" pitchFamily="34" charset="-122"/>
              </a:rPr>
              <a:t>一索引块实际使用的索引</a:t>
            </a:r>
            <a:r>
              <a:rPr lang="zh-CN" altLang="en-US" dirty="0">
                <a:solidFill>
                  <a:srgbClr val="CC0000"/>
                </a:solidFill>
                <a:latin typeface="微软雅黑" panose="020B0503020204020204" pitchFamily="34" charset="-122"/>
                <a:ea typeface="微软雅黑" panose="020B0503020204020204" pitchFamily="34" charset="-122"/>
              </a:rPr>
              <a:t>指针个数</a:t>
            </a:r>
            <a:r>
              <a:rPr lang="en-US" altLang="zh-CN" dirty="0">
                <a:solidFill>
                  <a:srgbClr val="CC0000"/>
                </a:solidFill>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，满足</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根结点除外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algn="ctr">
              <a:lnSpc>
                <a:spcPct val="120000"/>
              </a:lnSpc>
            </a:pPr>
            <a:r>
              <a:rPr lang="en-US" altLang="zh-CN" dirty="0">
                <a:solidFill>
                  <a:srgbClr val="CC0000"/>
                </a:solidFill>
                <a:latin typeface="微软雅黑" panose="020B0503020204020204" pitchFamily="34" charset="-122"/>
                <a:ea typeface="微软雅黑" panose="020B0503020204020204" pitchFamily="34" charset="-122"/>
              </a:rPr>
              <a:t>n/2 </a:t>
            </a:r>
            <a:r>
              <a:rPr lang="en-US" altLang="zh-CN" dirty="0">
                <a:solidFill>
                  <a:srgbClr val="CC000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dirty="0">
                <a:solidFill>
                  <a:srgbClr val="CC0000"/>
                </a:solidFill>
                <a:latin typeface="微软雅黑" panose="020B0503020204020204" pitchFamily="34" charset="-122"/>
                <a:ea typeface="微软雅黑" panose="020B0503020204020204" pitchFamily="34" charset="-122"/>
              </a:rPr>
              <a:t>d </a:t>
            </a:r>
            <a:r>
              <a:rPr lang="en-US" altLang="zh-CN" dirty="0">
                <a:solidFill>
                  <a:srgbClr val="CC000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dirty="0">
                <a:solidFill>
                  <a:srgbClr val="CC0000"/>
                </a:solidFill>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a:lnSpc>
                <a:spcPct val="120000"/>
              </a:lnSpc>
              <a:buChar char="•"/>
            </a:pPr>
            <a:r>
              <a:rPr lang="zh-CN" altLang="en-US" dirty="0">
                <a:latin typeface="微软雅黑" panose="020B0503020204020204" pitchFamily="34" charset="-122"/>
                <a:ea typeface="微软雅黑" panose="020B0503020204020204" pitchFamily="34" charset="-122"/>
              </a:rPr>
              <a:t>根结点至少</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个指针被使用。</a:t>
            </a:r>
            <a:endParaRPr lang="zh-CN" altLang="en-US"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ppt_x"/>
                                          </p:val>
                                        </p:tav>
                                        <p:tav tm="100000">
                                          <p:val>
                                            <p:strVal val="#ppt_x"/>
                                          </p:val>
                                        </p:tav>
                                      </p:tavLst>
                                    </p:anim>
                                    <p:anim calcmode="lin" valueType="num">
                                      <p:cBhvr additive="base">
                                        <p:cTn id="16" dur="500" fill="hold"/>
                                        <p:tgtEl>
                                          <p:spTgt spid="2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additive="base">
                                        <p:cTn id="35" dur="500" fill="hold"/>
                                        <p:tgtEl>
                                          <p:spTgt spid="26"/>
                                        </p:tgtEl>
                                        <p:attrNameLst>
                                          <p:attrName>ppt_x</p:attrName>
                                        </p:attrNameLst>
                                      </p:cBhvr>
                                      <p:tavLst>
                                        <p:tav tm="0">
                                          <p:val>
                                            <p:strVal val="#ppt_x"/>
                                          </p:val>
                                        </p:tav>
                                        <p:tav tm="100000">
                                          <p:val>
                                            <p:strVal val="#ppt_x"/>
                                          </p:val>
                                        </p:tav>
                                      </p:tavLst>
                                    </p:anim>
                                    <p:anim calcmode="lin" valueType="num">
                                      <p:cBhvr additive="base">
                                        <p:cTn id="36" dur="500" fill="hold"/>
                                        <p:tgtEl>
                                          <p:spTgt spid="2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anim calcmode="lin" valueType="num">
                                      <p:cBhvr additive="base">
                                        <p:cTn id="39" dur="500" fill="hold"/>
                                        <p:tgtEl>
                                          <p:spTgt spid="27"/>
                                        </p:tgtEl>
                                        <p:attrNameLst>
                                          <p:attrName>ppt_x</p:attrName>
                                        </p:attrNameLst>
                                      </p:cBhvr>
                                      <p:tavLst>
                                        <p:tav tm="0">
                                          <p:val>
                                            <p:strVal val="#ppt_x"/>
                                          </p:val>
                                        </p:tav>
                                        <p:tav tm="100000">
                                          <p:val>
                                            <p:strVal val="#ppt_x"/>
                                          </p:val>
                                        </p:tav>
                                      </p:tavLst>
                                    </p:anim>
                                    <p:anim calcmode="lin" valueType="num">
                                      <p:cBhvr additive="base">
                                        <p:cTn id="40" dur="500" fill="hold"/>
                                        <p:tgtEl>
                                          <p:spTgt spid="27"/>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 calcmode="lin" valueType="num">
                                      <p:cBhvr additive="base">
                                        <p:cTn id="43" dur="500" fill="hold"/>
                                        <p:tgtEl>
                                          <p:spTgt spid="28"/>
                                        </p:tgtEl>
                                        <p:attrNameLst>
                                          <p:attrName>ppt_x</p:attrName>
                                        </p:attrNameLst>
                                      </p:cBhvr>
                                      <p:tavLst>
                                        <p:tav tm="0">
                                          <p:val>
                                            <p:strVal val="#ppt_x"/>
                                          </p:val>
                                        </p:tav>
                                        <p:tav tm="100000">
                                          <p:val>
                                            <p:strVal val="#ppt_x"/>
                                          </p:val>
                                        </p:tav>
                                      </p:tavLst>
                                    </p:anim>
                                    <p:anim calcmode="lin" valueType="num">
                                      <p:cBhvr additive="base">
                                        <p:cTn id="44" dur="500" fill="hold"/>
                                        <p:tgtEl>
                                          <p:spTgt spid="2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additive="base">
                                        <p:cTn id="47" dur="500" fill="hold"/>
                                        <p:tgtEl>
                                          <p:spTgt spid="29"/>
                                        </p:tgtEl>
                                        <p:attrNameLst>
                                          <p:attrName>ppt_x</p:attrName>
                                        </p:attrNameLst>
                                      </p:cBhvr>
                                      <p:tavLst>
                                        <p:tav tm="0">
                                          <p:val>
                                            <p:strVal val="#ppt_x"/>
                                          </p:val>
                                        </p:tav>
                                        <p:tav tm="100000">
                                          <p:val>
                                            <p:strVal val="#ppt_x"/>
                                          </p:val>
                                        </p:tav>
                                      </p:tavLst>
                                    </p:anim>
                                    <p:anim calcmode="lin" valueType="num">
                                      <p:cBhvr additive="base">
                                        <p:cTn id="48" dur="500" fill="hold"/>
                                        <p:tgtEl>
                                          <p:spTgt spid="29"/>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anim calcmode="lin" valueType="num">
                                      <p:cBhvr additive="base">
                                        <p:cTn id="51" dur="500" fill="hold"/>
                                        <p:tgtEl>
                                          <p:spTgt spid="30"/>
                                        </p:tgtEl>
                                        <p:attrNameLst>
                                          <p:attrName>ppt_x</p:attrName>
                                        </p:attrNameLst>
                                      </p:cBhvr>
                                      <p:tavLst>
                                        <p:tav tm="0">
                                          <p:val>
                                            <p:strVal val="#ppt_x"/>
                                          </p:val>
                                        </p:tav>
                                        <p:tav tm="100000">
                                          <p:val>
                                            <p:strVal val="#ppt_x"/>
                                          </p:val>
                                        </p:tav>
                                      </p:tavLst>
                                    </p:anim>
                                    <p:anim calcmode="lin" valueType="num">
                                      <p:cBhvr additive="base">
                                        <p:cTn id="52" dur="500" fill="hold"/>
                                        <p:tgtEl>
                                          <p:spTgt spid="3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 calcmode="lin" valueType="num">
                                      <p:cBhvr additive="base">
                                        <p:cTn id="55" dur="500" fill="hold"/>
                                        <p:tgtEl>
                                          <p:spTgt spid="31"/>
                                        </p:tgtEl>
                                        <p:attrNameLst>
                                          <p:attrName>ppt_x</p:attrName>
                                        </p:attrNameLst>
                                      </p:cBhvr>
                                      <p:tavLst>
                                        <p:tav tm="0">
                                          <p:val>
                                            <p:strVal val="#ppt_x"/>
                                          </p:val>
                                        </p:tav>
                                        <p:tav tm="100000">
                                          <p:val>
                                            <p:strVal val="#ppt_x"/>
                                          </p:val>
                                        </p:tav>
                                      </p:tavLst>
                                    </p:anim>
                                    <p:anim calcmode="lin" valueType="num">
                                      <p:cBhvr additive="base">
                                        <p:cTn id="56" dur="500" fill="hold"/>
                                        <p:tgtEl>
                                          <p:spTgt spid="31"/>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 calcmode="lin" valueType="num">
                                      <p:cBhvr additive="base">
                                        <p:cTn id="59" dur="500" fill="hold"/>
                                        <p:tgtEl>
                                          <p:spTgt spid="33"/>
                                        </p:tgtEl>
                                        <p:attrNameLst>
                                          <p:attrName>ppt_x</p:attrName>
                                        </p:attrNameLst>
                                      </p:cBhvr>
                                      <p:tavLst>
                                        <p:tav tm="0">
                                          <p:val>
                                            <p:strVal val="#ppt_x"/>
                                          </p:val>
                                        </p:tav>
                                        <p:tav tm="100000">
                                          <p:val>
                                            <p:strVal val="#ppt_x"/>
                                          </p:val>
                                        </p:tav>
                                      </p:tavLst>
                                    </p:anim>
                                    <p:anim calcmode="lin" valueType="num">
                                      <p:cBhvr additive="base">
                                        <p:cTn id="6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4"/>
                                        </p:tgtEl>
                                        <p:attrNameLst>
                                          <p:attrName>style.visibility</p:attrName>
                                        </p:attrNameLst>
                                      </p:cBhvr>
                                      <p:to>
                                        <p:strVal val="visible"/>
                                      </p:to>
                                    </p:set>
                                    <p:anim calcmode="lin" valueType="num">
                                      <p:cBhvr additive="base">
                                        <p:cTn id="65" dur="500" fill="hold"/>
                                        <p:tgtEl>
                                          <p:spTgt spid="34"/>
                                        </p:tgtEl>
                                        <p:attrNameLst>
                                          <p:attrName>ppt_x</p:attrName>
                                        </p:attrNameLst>
                                      </p:cBhvr>
                                      <p:tavLst>
                                        <p:tav tm="0">
                                          <p:val>
                                            <p:strVal val="#ppt_x"/>
                                          </p:val>
                                        </p:tav>
                                        <p:tav tm="100000">
                                          <p:val>
                                            <p:strVal val="#ppt_x"/>
                                          </p:val>
                                        </p:tav>
                                      </p:tavLst>
                                    </p:anim>
                                    <p:anim calcmode="lin" valueType="num">
                                      <p:cBhvr additive="base">
                                        <p:cTn id="66" dur="500" fill="hold"/>
                                        <p:tgtEl>
                                          <p:spTgt spid="34"/>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35"/>
                                        </p:tgtEl>
                                        <p:attrNameLst>
                                          <p:attrName>style.visibility</p:attrName>
                                        </p:attrNameLst>
                                      </p:cBhvr>
                                      <p:to>
                                        <p:strVal val="visible"/>
                                      </p:to>
                                    </p:set>
                                    <p:anim calcmode="lin" valueType="num">
                                      <p:cBhvr additive="base">
                                        <p:cTn id="69" dur="500" fill="hold"/>
                                        <p:tgtEl>
                                          <p:spTgt spid="35"/>
                                        </p:tgtEl>
                                        <p:attrNameLst>
                                          <p:attrName>ppt_x</p:attrName>
                                        </p:attrNameLst>
                                      </p:cBhvr>
                                      <p:tavLst>
                                        <p:tav tm="0">
                                          <p:val>
                                            <p:strVal val="#ppt_x"/>
                                          </p:val>
                                        </p:tav>
                                        <p:tav tm="100000">
                                          <p:val>
                                            <p:strVal val="#ppt_x"/>
                                          </p:val>
                                        </p:tav>
                                      </p:tavLst>
                                    </p:anim>
                                    <p:anim calcmode="lin" valueType="num">
                                      <p:cBhvr additive="base">
                                        <p:cTn id="70" dur="500" fill="hold"/>
                                        <p:tgtEl>
                                          <p:spTgt spid="35"/>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43"/>
                                        </p:tgtEl>
                                        <p:attrNameLst>
                                          <p:attrName>style.visibility</p:attrName>
                                        </p:attrNameLst>
                                      </p:cBhvr>
                                      <p:to>
                                        <p:strVal val="visible"/>
                                      </p:to>
                                    </p:set>
                                    <p:anim calcmode="lin" valueType="num">
                                      <p:cBhvr additive="base">
                                        <p:cTn id="73" dur="500" fill="hold"/>
                                        <p:tgtEl>
                                          <p:spTgt spid="43"/>
                                        </p:tgtEl>
                                        <p:attrNameLst>
                                          <p:attrName>ppt_x</p:attrName>
                                        </p:attrNameLst>
                                      </p:cBhvr>
                                      <p:tavLst>
                                        <p:tav tm="0">
                                          <p:val>
                                            <p:strVal val="#ppt_x"/>
                                          </p:val>
                                        </p:tav>
                                        <p:tav tm="100000">
                                          <p:val>
                                            <p:strVal val="#ppt_x"/>
                                          </p:val>
                                        </p:tav>
                                      </p:tavLst>
                                    </p:anim>
                                    <p:anim calcmode="lin" valueType="num">
                                      <p:cBhvr additive="base">
                                        <p:cTn id="74" dur="500" fill="hold"/>
                                        <p:tgtEl>
                                          <p:spTgt spid="43"/>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 calcmode="lin" valueType="num">
                                      <p:cBhvr additive="base">
                                        <p:cTn id="77" dur="500" fill="hold"/>
                                        <p:tgtEl>
                                          <p:spTgt spid="44"/>
                                        </p:tgtEl>
                                        <p:attrNameLst>
                                          <p:attrName>ppt_x</p:attrName>
                                        </p:attrNameLst>
                                      </p:cBhvr>
                                      <p:tavLst>
                                        <p:tav tm="0">
                                          <p:val>
                                            <p:strVal val="#ppt_x"/>
                                          </p:val>
                                        </p:tav>
                                        <p:tav tm="100000">
                                          <p:val>
                                            <p:strVal val="#ppt_x"/>
                                          </p:val>
                                        </p:tav>
                                      </p:tavLst>
                                    </p:anim>
                                    <p:anim calcmode="lin" valueType="num">
                                      <p:cBhvr additive="base">
                                        <p:cTn id="78" dur="500" fill="hold"/>
                                        <p:tgtEl>
                                          <p:spTgt spid="44"/>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 calcmode="lin" valueType="num">
                                      <p:cBhvr additive="base">
                                        <p:cTn id="81" dur="500" fill="hold"/>
                                        <p:tgtEl>
                                          <p:spTgt spid="45"/>
                                        </p:tgtEl>
                                        <p:attrNameLst>
                                          <p:attrName>ppt_x</p:attrName>
                                        </p:attrNameLst>
                                      </p:cBhvr>
                                      <p:tavLst>
                                        <p:tav tm="0">
                                          <p:val>
                                            <p:strVal val="#ppt_x"/>
                                          </p:val>
                                        </p:tav>
                                        <p:tav tm="100000">
                                          <p:val>
                                            <p:strVal val="#ppt_x"/>
                                          </p:val>
                                        </p:tav>
                                      </p:tavLst>
                                    </p:anim>
                                    <p:anim calcmode="lin" valueType="num">
                                      <p:cBhvr additive="base">
                                        <p:cTn id="82" dur="500" fill="hold"/>
                                        <p:tgtEl>
                                          <p:spTgt spid="45"/>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46"/>
                                        </p:tgtEl>
                                        <p:attrNameLst>
                                          <p:attrName>style.visibility</p:attrName>
                                        </p:attrNameLst>
                                      </p:cBhvr>
                                      <p:to>
                                        <p:strVal val="visible"/>
                                      </p:to>
                                    </p:set>
                                    <p:anim calcmode="lin" valueType="num">
                                      <p:cBhvr additive="base">
                                        <p:cTn id="85" dur="500" fill="hold"/>
                                        <p:tgtEl>
                                          <p:spTgt spid="46"/>
                                        </p:tgtEl>
                                        <p:attrNameLst>
                                          <p:attrName>ppt_x</p:attrName>
                                        </p:attrNameLst>
                                      </p:cBhvr>
                                      <p:tavLst>
                                        <p:tav tm="0">
                                          <p:val>
                                            <p:strVal val="#ppt_x"/>
                                          </p:val>
                                        </p:tav>
                                        <p:tav tm="100000">
                                          <p:val>
                                            <p:strVal val="#ppt_x"/>
                                          </p:val>
                                        </p:tav>
                                      </p:tavLst>
                                    </p:anim>
                                    <p:anim calcmode="lin" valueType="num">
                                      <p:cBhvr additive="base">
                                        <p:cTn id="86" dur="500" fill="hold"/>
                                        <p:tgtEl>
                                          <p:spTgt spid="46"/>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47"/>
                                        </p:tgtEl>
                                        <p:attrNameLst>
                                          <p:attrName>style.visibility</p:attrName>
                                        </p:attrNameLst>
                                      </p:cBhvr>
                                      <p:to>
                                        <p:strVal val="visible"/>
                                      </p:to>
                                    </p:set>
                                    <p:anim calcmode="lin" valueType="num">
                                      <p:cBhvr additive="base">
                                        <p:cTn id="89" dur="500" fill="hold"/>
                                        <p:tgtEl>
                                          <p:spTgt spid="47"/>
                                        </p:tgtEl>
                                        <p:attrNameLst>
                                          <p:attrName>ppt_x</p:attrName>
                                        </p:attrNameLst>
                                      </p:cBhvr>
                                      <p:tavLst>
                                        <p:tav tm="0">
                                          <p:val>
                                            <p:strVal val="#ppt_x"/>
                                          </p:val>
                                        </p:tav>
                                        <p:tav tm="100000">
                                          <p:val>
                                            <p:strVal val="#ppt_x"/>
                                          </p:val>
                                        </p:tav>
                                      </p:tavLst>
                                    </p:anim>
                                    <p:anim calcmode="lin" valueType="num">
                                      <p:cBhvr additive="base">
                                        <p:cTn id="90" dur="500" fill="hold"/>
                                        <p:tgtEl>
                                          <p:spTgt spid="47"/>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48"/>
                                        </p:tgtEl>
                                        <p:attrNameLst>
                                          <p:attrName>style.visibility</p:attrName>
                                        </p:attrNameLst>
                                      </p:cBhvr>
                                      <p:to>
                                        <p:strVal val="visible"/>
                                      </p:to>
                                    </p:set>
                                    <p:anim calcmode="lin" valueType="num">
                                      <p:cBhvr additive="base">
                                        <p:cTn id="93" dur="500" fill="hold"/>
                                        <p:tgtEl>
                                          <p:spTgt spid="48"/>
                                        </p:tgtEl>
                                        <p:attrNameLst>
                                          <p:attrName>ppt_x</p:attrName>
                                        </p:attrNameLst>
                                      </p:cBhvr>
                                      <p:tavLst>
                                        <p:tav tm="0">
                                          <p:val>
                                            <p:strVal val="#ppt_x"/>
                                          </p:val>
                                        </p:tav>
                                        <p:tav tm="100000">
                                          <p:val>
                                            <p:strVal val="#ppt_x"/>
                                          </p:val>
                                        </p:tav>
                                      </p:tavLst>
                                    </p:anim>
                                    <p:anim calcmode="lin" valueType="num">
                                      <p:cBhvr additive="base">
                                        <p:cTn id="94" dur="500" fill="hold"/>
                                        <p:tgtEl>
                                          <p:spTgt spid="48"/>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49"/>
                                        </p:tgtEl>
                                        <p:attrNameLst>
                                          <p:attrName>style.visibility</p:attrName>
                                        </p:attrNameLst>
                                      </p:cBhvr>
                                      <p:to>
                                        <p:strVal val="visible"/>
                                      </p:to>
                                    </p:set>
                                    <p:anim calcmode="lin" valueType="num">
                                      <p:cBhvr additive="base">
                                        <p:cTn id="97" dur="500" fill="hold"/>
                                        <p:tgtEl>
                                          <p:spTgt spid="49"/>
                                        </p:tgtEl>
                                        <p:attrNameLst>
                                          <p:attrName>ppt_x</p:attrName>
                                        </p:attrNameLst>
                                      </p:cBhvr>
                                      <p:tavLst>
                                        <p:tav tm="0">
                                          <p:val>
                                            <p:strVal val="#ppt_x"/>
                                          </p:val>
                                        </p:tav>
                                        <p:tav tm="100000">
                                          <p:val>
                                            <p:strVal val="#ppt_x"/>
                                          </p:val>
                                        </p:tav>
                                      </p:tavLst>
                                    </p:anim>
                                    <p:anim calcmode="lin" valueType="num">
                                      <p:cBhvr additive="base">
                                        <p:cTn id="98" dur="500" fill="hold"/>
                                        <p:tgtEl>
                                          <p:spTgt spid="49"/>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50"/>
                                        </p:tgtEl>
                                        <p:attrNameLst>
                                          <p:attrName>style.visibility</p:attrName>
                                        </p:attrNameLst>
                                      </p:cBhvr>
                                      <p:to>
                                        <p:strVal val="visible"/>
                                      </p:to>
                                    </p:set>
                                    <p:anim calcmode="lin" valueType="num">
                                      <p:cBhvr additive="base">
                                        <p:cTn id="101" dur="500" fill="hold"/>
                                        <p:tgtEl>
                                          <p:spTgt spid="50"/>
                                        </p:tgtEl>
                                        <p:attrNameLst>
                                          <p:attrName>ppt_x</p:attrName>
                                        </p:attrNameLst>
                                      </p:cBhvr>
                                      <p:tavLst>
                                        <p:tav tm="0">
                                          <p:val>
                                            <p:strVal val="#ppt_x"/>
                                          </p:val>
                                        </p:tav>
                                        <p:tav tm="100000">
                                          <p:val>
                                            <p:strVal val="#ppt_x"/>
                                          </p:val>
                                        </p:tav>
                                      </p:tavLst>
                                    </p:anim>
                                    <p:anim calcmode="lin" valueType="num">
                                      <p:cBhvr additive="base">
                                        <p:cTn id="102" dur="500" fill="hold"/>
                                        <p:tgtEl>
                                          <p:spTgt spid="50"/>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51"/>
                                        </p:tgtEl>
                                        <p:attrNameLst>
                                          <p:attrName>style.visibility</p:attrName>
                                        </p:attrNameLst>
                                      </p:cBhvr>
                                      <p:to>
                                        <p:strVal val="visible"/>
                                      </p:to>
                                    </p:set>
                                    <p:anim calcmode="lin" valueType="num">
                                      <p:cBhvr additive="base">
                                        <p:cTn id="105" dur="500" fill="hold"/>
                                        <p:tgtEl>
                                          <p:spTgt spid="51"/>
                                        </p:tgtEl>
                                        <p:attrNameLst>
                                          <p:attrName>ppt_x</p:attrName>
                                        </p:attrNameLst>
                                      </p:cBhvr>
                                      <p:tavLst>
                                        <p:tav tm="0">
                                          <p:val>
                                            <p:strVal val="#ppt_x"/>
                                          </p:val>
                                        </p:tav>
                                        <p:tav tm="100000">
                                          <p:val>
                                            <p:strVal val="#ppt_x"/>
                                          </p:val>
                                        </p:tav>
                                      </p:tavLst>
                                    </p:anim>
                                    <p:anim calcmode="lin" valueType="num">
                                      <p:cBhvr additive="base">
                                        <p:cTn id="106" dur="500" fill="hold"/>
                                        <p:tgtEl>
                                          <p:spTgt spid="51"/>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52"/>
                                        </p:tgtEl>
                                        <p:attrNameLst>
                                          <p:attrName>style.visibility</p:attrName>
                                        </p:attrNameLst>
                                      </p:cBhvr>
                                      <p:to>
                                        <p:strVal val="visible"/>
                                      </p:to>
                                    </p:set>
                                    <p:anim calcmode="lin" valueType="num">
                                      <p:cBhvr additive="base">
                                        <p:cTn id="109" dur="500" fill="hold"/>
                                        <p:tgtEl>
                                          <p:spTgt spid="52"/>
                                        </p:tgtEl>
                                        <p:attrNameLst>
                                          <p:attrName>ppt_x</p:attrName>
                                        </p:attrNameLst>
                                      </p:cBhvr>
                                      <p:tavLst>
                                        <p:tav tm="0">
                                          <p:val>
                                            <p:strVal val="#ppt_x"/>
                                          </p:val>
                                        </p:tav>
                                        <p:tav tm="100000">
                                          <p:val>
                                            <p:strVal val="#ppt_x"/>
                                          </p:val>
                                        </p:tav>
                                      </p:tavLst>
                                    </p:anim>
                                    <p:anim calcmode="lin" valueType="num">
                                      <p:cBhvr additive="base">
                                        <p:cTn id="110" dur="500" fill="hold"/>
                                        <p:tgtEl>
                                          <p:spTgt spid="52"/>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anim calcmode="lin" valueType="num">
                                      <p:cBhvr additive="base">
                                        <p:cTn id="113" dur="500" fill="hold"/>
                                        <p:tgtEl>
                                          <p:spTgt spid="53"/>
                                        </p:tgtEl>
                                        <p:attrNameLst>
                                          <p:attrName>ppt_x</p:attrName>
                                        </p:attrNameLst>
                                      </p:cBhvr>
                                      <p:tavLst>
                                        <p:tav tm="0">
                                          <p:val>
                                            <p:strVal val="#ppt_x"/>
                                          </p:val>
                                        </p:tav>
                                        <p:tav tm="100000">
                                          <p:val>
                                            <p:strVal val="#ppt_x"/>
                                          </p:val>
                                        </p:tav>
                                      </p:tavLst>
                                    </p:anim>
                                    <p:anim calcmode="lin" valueType="num">
                                      <p:cBhvr additive="base">
                                        <p:cTn id="114" dur="500" fill="hold"/>
                                        <p:tgtEl>
                                          <p:spTgt spid="53"/>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54"/>
                                        </p:tgtEl>
                                        <p:attrNameLst>
                                          <p:attrName>style.visibility</p:attrName>
                                        </p:attrNameLst>
                                      </p:cBhvr>
                                      <p:to>
                                        <p:strVal val="visible"/>
                                      </p:to>
                                    </p:set>
                                    <p:anim calcmode="lin" valueType="num">
                                      <p:cBhvr additive="base">
                                        <p:cTn id="117" dur="500" fill="hold"/>
                                        <p:tgtEl>
                                          <p:spTgt spid="54"/>
                                        </p:tgtEl>
                                        <p:attrNameLst>
                                          <p:attrName>ppt_x</p:attrName>
                                        </p:attrNameLst>
                                      </p:cBhvr>
                                      <p:tavLst>
                                        <p:tav tm="0">
                                          <p:val>
                                            <p:strVal val="#ppt_x"/>
                                          </p:val>
                                        </p:tav>
                                        <p:tav tm="100000">
                                          <p:val>
                                            <p:strVal val="#ppt_x"/>
                                          </p:val>
                                        </p:tav>
                                      </p:tavLst>
                                    </p:anim>
                                    <p:anim calcmode="lin" valueType="num">
                                      <p:cBhvr additive="base">
                                        <p:cTn id="118"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55"/>
                                        </p:tgtEl>
                                        <p:attrNameLst>
                                          <p:attrName>style.visibility</p:attrName>
                                        </p:attrNameLst>
                                      </p:cBhvr>
                                      <p:to>
                                        <p:strVal val="visible"/>
                                      </p:to>
                                    </p:set>
                                    <p:anim calcmode="lin" valueType="num">
                                      <p:cBhvr additive="base">
                                        <p:cTn id="123" dur="500" fill="hold"/>
                                        <p:tgtEl>
                                          <p:spTgt spid="55"/>
                                        </p:tgtEl>
                                        <p:attrNameLst>
                                          <p:attrName>ppt_x</p:attrName>
                                        </p:attrNameLst>
                                      </p:cBhvr>
                                      <p:tavLst>
                                        <p:tav tm="0">
                                          <p:val>
                                            <p:strVal val="#ppt_x"/>
                                          </p:val>
                                        </p:tav>
                                        <p:tav tm="100000">
                                          <p:val>
                                            <p:strVal val="#ppt_x"/>
                                          </p:val>
                                        </p:tav>
                                      </p:tavLst>
                                    </p:anim>
                                    <p:anim calcmode="lin" valueType="num">
                                      <p:cBhvr additive="base">
                                        <p:cTn id="124"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1" grpId="0"/>
      <p:bldP spid="22" grpId="0"/>
      <p:bldP spid="23" grpId="0"/>
      <p:bldP spid="25" grpId="0"/>
      <p:bldP spid="27" grpId="0"/>
      <p:bldP spid="29" grpId="0"/>
      <p:bldP spid="31" grpId="0"/>
      <p:bldP spid="33" grpId="0"/>
      <p:bldP spid="34" grpId="0" bldLvl="0" animBg="1"/>
      <p:bldP spid="43" grpId="0"/>
      <p:bldP spid="44" grpId="0"/>
      <p:bldP spid="45" grpId="0"/>
      <p:bldP spid="47" grpId="0"/>
      <p:bldP spid="49" grpId="0"/>
      <p:bldP spid="51" grpId="0"/>
      <p:bldP spid="53" grpId="0"/>
      <p:bldP spid="54" grpId="0"/>
      <p:bldP spid="5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B+</a:t>
            </a:r>
            <a:r>
              <a:rPr lang="zh-CN" altLang="en-US" sz="2600" dirty="0">
                <a:latin typeface="微软雅黑" panose="020B0503020204020204" pitchFamily="34" charset="-122"/>
                <a:ea typeface="微软雅黑" panose="020B0503020204020204" pitchFamily="34" charset="-122"/>
              </a:rPr>
              <a:t>树的存储约定</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t>索引字段值重复出现于叶结点和非叶结点；</a:t>
            </a:r>
            <a:endParaRPr lang="zh-CN" altLang="en-US" sz="2200" b="0" dirty="0"/>
          </a:p>
          <a:p>
            <a:pPr marL="0" indent="0">
              <a:lnSpc>
                <a:spcPct val="100000"/>
              </a:lnSpc>
              <a:buNone/>
            </a:pPr>
            <a:endParaRPr lang="zh-CN" altLang="en-US" sz="2200" dirty="0"/>
          </a:p>
          <a:p>
            <a:pPr marL="0" indent="0">
              <a:lnSpc>
                <a:spcPct val="100000"/>
              </a:lnSpc>
              <a:buNone/>
            </a:pPr>
            <a:endParaRPr lang="zh-CN" altLang="en-US" sz="22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2" name="Group 158"/>
          <p:cNvGrpSpPr/>
          <p:nvPr/>
        </p:nvGrpSpPr>
        <p:grpSpPr>
          <a:xfrm>
            <a:off x="309372" y="2325688"/>
            <a:ext cx="8940800" cy="3859212"/>
            <a:chOff x="92" y="1144"/>
            <a:chExt cx="5632" cy="2431"/>
          </a:xfrm>
        </p:grpSpPr>
        <p:grpSp>
          <p:nvGrpSpPr>
            <p:cNvPr id="4" name="Group 157"/>
            <p:cNvGrpSpPr/>
            <p:nvPr/>
          </p:nvGrpSpPr>
          <p:grpSpPr>
            <a:xfrm>
              <a:off x="92" y="1144"/>
              <a:ext cx="5632" cy="2431"/>
              <a:chOff x="0" y="1162"/>
              <a:chExt cx="5632" cy="2431"/>
            </a:xfrm>
          </p:grpSpPr>
          <p:sp>
            <p:nvSpPr>
              <p:cNvPr id="8" name="Rectangle 155"/>
              <p:cNvSpPr/>
              <p:nvPr/>
            </p:nvSpPr>
            <p:spPr>
              <a:xfrm>
                <a:off x="0" y="1162"/>
                <a:ext cx="5632" cy="2431"/>
              </a:xfrm>
              <a:prstGeom prst="rect">
                <a:avLst/>
              </a:prstGeom>
              <a:solidFill>
                <a:schemeClr val="bg1"/>
              </a:solidFill>
              <a:ln w="9525" cap="flat" cmpd="sng">
                <a:solidFill>
                  <a:schemeClr val="tx1"/>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grpSp>
            <p:nvGrpSpPr>
              <p:cNvPr id="9" name="Group 6"/>
              <p:cNvGrpSpPr/>
              <p:nvPr/>
            </p:nvGrpSpPr>
            <p:grpSpPr>
              <a:xfrm>
                <a:off x="1977" y="1219"/>
                <a:ext cx="780" cy="438"/>
                <a:chOff x="856" y="1440"/>
                <a:chExt cx="1291" cy="667"/>
              </a:xfrm>
            </p:grpSpPr>
            <p:sp>
              <p:nvSpPr>
                <p:cNvPr id="170" name="Rectangle 7"/>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71" name="Line 8"/>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72" name="Line 9"/>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73" name="Line 10"/>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74" name="Line 11"/>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75" name="Line 12"/>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76" name="Line 13"/>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10" name="Text Box 14"/>
              <p:cNvSpPr txBox="1"/>
              <p:nvPr/>
            </p:nvSpPr>
            <p:spPr>
              <a:xfrm>
                <a:off x="1932" y="1213"/>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17" name="Group 21"/>
              <p:cNvGrpSpPr/>
              <p:nvPr/>
            </p:nvGrpSpPr>
            <p:grpSpPr>
              <a:xfrm>
                <a:off x="1150" y="1958"/>
                <a:ext cx="780" cy="438"/>
                <a:chOff x="856" y="1440"/>
                <a:chExt cx="1291" cy="667"/>
              </a:xfrm>
            </p:grpSpPr>
            <p:sp>
              <p:nvSpPr>
                <p:cNvPr id="163" name="Rectangle 2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64" name="Line 2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65" name="Line 2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66" name="Line 2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67" name="Line 2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68" name="Line 2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69" name="Line 2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6" name="Group 29"/>
              <p:cNvGrpSpPr/>
              <p:nvPr/>
            </p:nvGrpSpPr>
            <p:grpSpPr>
              <a:xfrm>
                <a:off x="3385" y="1958"/>
                <a:ext cx="780" cy="438"/>
                <a:chOff x="856" y="1440"/>
                <a:chExt cx="1291" cy="667"/>
              </a:xfrm>
            </p:grpSpPr>
            <p:sp>
              <p:nvSpPr>
                <p:cNvPr id="156"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57" name="Line 3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58" name="Line 3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59" name="Line 3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60" name="Line 3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61" name="Line 3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62" name="Line 3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7" name="Group 37"/>
              <p:cNvGrpSpPr/>
              <p:nvPr/>
            </p:nvGrpSpPr>
            <p:grpSpPr>
              <a:xfrm>
                <a:off x="105" y="2922"/>
                <a:ext cx="780" cy="438"/>
                <a:chOff x="856" y="1440"/>
                <a:chExt cx="1291" cy="667"/>
              </a:xfrm>
            </p:grpSpPr>
            <p:sp>
              <p:nvSpPr>
                <p:cNvPr id="149" name="Rectangle 3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50" name="Line 3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51" name="Line 4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52" name="Line 4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53" name="Line 4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54" name="Line 4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55" name="Line 4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8" name="Group 45"/>
              <p:cNvGrpSpPr/>
              <p:nvPr/>
            </p:nvGrpSpPr>
            <p:grpSpPr>
              <a:xfrm>
                <a:off x="1041" y="2922"/>
                <a:ext cx="780" cy="438"/>
                <a:chOff x="856" y="1440"/>
                <a:chExt cx="1291" cy="667"/>
              </a:xfrm>
            </p:grpSpPr>
            <p:sp>
              <p:nvSpPr>
                <p:cNvPr id="142" name="Rectangle 4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43" name="Line 4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44" name="Line 4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45" name="Line 4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46" name="Line 5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47" name="Line 5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48" name="Line 5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9" name="Group 53"/>
              <p:cNvGrpSpPr/>
              <p:nvPr/>
            </p:nvGrpSpPr>
            <p:grpSpPr>
              <a:xfrm>
                <a:off x="1977" y="2922"/>
                <a:ext cx="780" cy="438"/>
                <a:chOff x="856" y="1440"/>
                <a:chExt cx="1291" cy="667"/>
              </a:xfrm>
            </p:grpSpPr>
            <p:sp>
              <p:nvSpPr>
                <p:cNvPr id="135" name="Rectangle 5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36" name="Line 5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37" name="Line 5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38" name="Line 5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39" name="Line 5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40" name="Line 5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41" name="Line 6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60" name="Group 61"/>
              <p:cNvGrpSpPr/>
              <p:nvPr/>
            </p:nvGrpSpPr>
            <p:grpSpPr>
              <a:xfrm>
                <a:off x="2913" y="2922"/>
                <a:ext cx="780" cy="438"/>
                <a:chOff x="856" y="1440"/>
                <a:chExt cx="1291" cy="667"/>
              </a:xfrm>
            </p:grpSpPr>
            <p:sp>
              <p:nvSpPr>
                <p:cNvPr id="128" name="Rectangle 6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29" name="Line 6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30" name="Line 6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31" name="Line 6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32" name="Line 6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33" name="Line 6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34" name="Line 6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61" name="Group 69"/>
              <p:cNvGrpSpPr/>
              <p:nvPr/>
            </p:nvGrpSpPr>
            <p:grpSpPr>
              <a:xfrm>
                <a:off x="3849" y="2922"/>
                <a:ext cx="780" cy="438"/>
                <a:chOff x="856" y="1440"/>
                <a:chExt cx="1291" cy="667"/>
              </a:xfrm>
            </p:grpSpPr>
            <p:sp>
              <p:nvSpPr>
                <p:cNvPr id="121" name="Rectangle 7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22" name="Line 7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23" name="Line 7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24" name="Line 7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25" name="Line 7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26" name="Line 7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27" name="Line 7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62" name="Group 77"/>
              <p:cNvGrpSpPr/>
              <p:nvPr/>
            </p:nvGrpSpPr>
            <p:grpSpPr>
              <a:xfrm>
                <a:off x="4786" y="2922"/>
                <a:ext cx="780" cy="438"/>
                <a:chOff x="856" y="1440"/>
                <a:chExt cx="1291" cy="667"/>
              </a:xfrm>
            </p:grpSpPr>
            <p:sp>
              <p:nvSpPr>
                <p:cNvPr id="114" name="Rectangle 7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15" name="Line 7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16" name="Line 8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17" name="Line 8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18" name="Line 8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19" name="Line 8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20" name="Line 8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63" name="Text Box 85"/>
              <p:cNvSpPr txBox="1"/>
              <p:nvPr/>
            </p:nvSpPr>
            <p:spPr>
              <a:xfrm>
                <a:off x="1114" y="1946"/>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64" name="Text Box 86"/>
              <p:cNvSpPr txBox="1"/>
              <p:nvPr/>
            </p:nvSpPr>
            <p:spPr>
              <a:xfrm>
                <a:off x="81" y="2904"/>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65" name="Text Box 87"/>
              <p:cNvSpPr txBox="1"/>
              <p:nvPr/>
            </p:nvSpPr>
            <p:spPr>
              <a:xfrm>
                <a:off x="321" y="2904"/>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66" name="Text Box 88"/>
              <p:cNvSpPr txBox="1"/>
              <p:nvPr/>
            </p:nvSpPr>
            <p:spPr>
              <a:xfrm>
                <a:off x="635" y="2904"/>
                <a:ext cx="25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67" name="Text Box 89"/>
              <p:cNvSpPr txBox="1"/>
              <p:nvPr/>
            </p:nvSpPr>
            <p:spPr>
              <a:xfrm>
                <a:off x="993" y="2904"/>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68" name="Text Box 90"/>
              <p:cNvSpPr txBox="1"/>
              <p:nvPr/>
            </p:nvSpPr>
            <p:spPr>
              <a:xfrm>
                <a:off x="1233" y="2904"/>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11</a:t>
                </a:r>
                <a:endParaRPr lang="en-US" altLang="zh-CN" sz="1800" dirty="0">
                  <a:latin typeface="Times New Roman" panose="02020603050405020304" pitchFamily="18" charset="0"/>
                  <a:ea typeface="楷体_GB2312" pitchFamily="49" charset="-122"/>
                </a:endParaRPr>
              </a:p>
            </p:txBody>
          </p:sp>
          <p:sp>
            <p:nvSpPr>
              <p:cNvPr id="69" name="Text Box 92"/>
              <p:cNvSpPr txBox="1"/>
              <p:nvPr/>
            </p:nvSpPr>
            <p:spPr>
              <a:xfrm>
                <a:off x="1929" y="2916"/>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70" name="Text Box 93"/>
              <p:cNvSpPr txBox="1"/>
              <p:nvPr/>
            </p:nvSpPr>
            <p:spPr>
              <a:xfrm>
                <a:off x="2193" y="2916"/>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71" name="Text Box 94"/>
              <p:cNvSpPr txBox="1"/>
              <p:nvPr/>
            </p:nvSpPr>
            <p:spPr>
              <a:xfrm>
                <a:off x="2483" y="2916"/>
                <a:ext cx="277"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72" name="Text Box 95"/>
              <p:cNvSpPr txBox="1"/>
              <p:nvPr/>
            </p:nvSpPr>
            <p:spPr>
              <a:xfrm>
                <a:off x="2873" y="2908"/>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73" name="Text Box 96"/>
              <p:cNvSpPr txBox="1"/>
              <p:nvPr/>
            </p:nvSpPr>
            <p:spPr>
              <a:xfrm>
                <a:off x="3137" y="2908"/>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74" name="Text Box 98"/>
              <p:cNvSpPr txBox="1"/>
              <p:nvPr/>
            </p:nvSpPr>
            <p:spPr>
              <a:xfrm>
                <a:off x="3826" y="2912"/>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75" name="Text Box 99"/>
              <p:cNvSpPr txBox="1"/>
              <p:nvPr/>
            </p:nvSpPr>
            <p:spPr>
              <a:xfrm>
                <a:off x="4090" y="2912"/>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76" name="Text Box 100"/>
              <p:cNvSpPr txBox="1"/>
              <p:nvPr/>
            </p:nvSpPr>
            <p:spPr>
              <a:xfrm>
                <a:off x="4380" y="2912"/>
                <a:ext cx="277"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77" name="Text Box 101"/>
              <p:cNvSpPr txBox="1"/>
              <p:nvPr/>
            </p:nvSpPr>
            <p:spPr>
              <a:xfrm>
                <a:off x="4748" y="2912"/>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78" name="Text Box 102"/>
              <p:cNvSpPr txBox="1"/>
              <p:nvPr/>
            </p:nvSpPr>
            <p:spPr>
              <a:xfrm>
                <a:off x="5012" y="2912"/>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79" name="Text Box 104"/>
              <p:cNvSpPr txBox="1"/>
              <p:nvPr/>
            </p:nvSpPr>
            <p:spPr>
              <a:xfrm>
                <a:off x="3342" y="1941"/>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80" name="Text Box 105"/>
              <p:cNvSpPr txBox="1"/>
              <p:nvPr/>
            </p:nvSpPr>
            <p:spPr>
              <a:xfrm>
                <a:off x="3606" y="1941"/>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81" name="Text Box 106"/>
              <p:cNvSpPr txBox="1"/>
              <p:nvPr/>
            </p:nvSpPr>
            <p:spPr>
              <a:xfrm>
                <a:off x="3896" y="1941"/>
                <a:ext cx="277"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82" name="Line 107"/>
              <p:cNvSpPr/>
              <p:nvPr/>
            </p:nvSpPr>
            <p:spPr>
              <a:xfrm>
                <a:off x="4103" y="2311"/>
                <a:ext cx="864" cy="601"/>
              </a:xfrm>
              <a:prstGeom prst="line">
                <a:avLst/>
              </a:prstGeom>
              <a:ln w="9525" cap="flat" cmpd="sng">
                <a:solidFill>
                  <a:srgbClr val="FF0066"/>
                </a:solidFill>
                <a:prstDash val="solid"/>
                <a:round/>
                <a:headEnd type="none" w="med" len="med"/>
                <a:tailEnd type="triangle" w="med" len="med"/>
              </a:ln>
            </p:spPr>
          </p:sp>
          <p:sp>
            <p:nvSpPr>
              <p:cNvPr id="83" name="Line 108"/>
              <p:cNvSpPr/>
              <p:nvPr/>
            </p:nvSpPr>
            <p:spPr>
              <a:xfrm>
                <a:off x="3872" y="2303"/>
                <a:ext cx="173" cy="625"/>
              </a:xfrm>
              <a:prstGeom prst="line">
                <a:avLst/>
              </a:prstGeom>
              <a:ln w="9525" cap="flat" cmpd="sng">
                <a:solidFill>
                  <a:srgbClr val="FF0066"/>
                </a:solidFill>
                <a:prstDash val="solid"/>
                <a:round/>
                <a:headEnd type="none" w="med" len="med"/>
                <a:tailEnd type="triangle" w="med" len="med"/>
              </a:ln>
            </p:spPr>
          </p:sp>
          <p:sp>
            <p:nvSpPr>
              <p:cNvPr id="84" name="Line 109"/>
              <p:cNvSpPr/>
              <p:nvPr/>
            </p:nvSpPr>
            <p:spPr>
              <a:xfrm flipH="1">
                <a:off x="3124" y="2311"/>
                <a:ext cx="559" cy="601"/>
              </a:xfrm>
              <a:prstGeom prst="line">
                <a:avLst/>
              </a:prstGeom>
              <a:ln w="9525" cap="flat" cmpd="sng">
                <a:solidFill>
                  <a:srgbClr val="FF0066"/>
                </a:solidFill>
                <a:prstDash val="solid"/>
                <a:round/>
                <a:headEnd type="none" w="med" len="med"/>
                <a:tailEnd type="triangle" w="med" len="med"/>
              </a:ln>
            </p:spPr>
          </p:sp>
          <p:sp>
            <p:nvSpPr>
              <p:cNvPr id="85" name="Line 110"/>
              <p:cNvSpPr/>
              <p:nvPr/>
            </p:nvSpPr>
            <p:spPr>
              <a:xfrm flipH="1">
                <a:off x="2350" y="2319"/>
                <a:ext cx="1078" cy="593"/>
              </a:xfrm>
              <a:prstGeom prst="line">
                <a:avLst/>
              </a:prstGeom>
              <a:ln w="9525" cap="flat" cmpd="sng">
                <a:solidFill>
                  <a:srgbClr val="FF0066"/>
                </a:solidFill>
                <a:prstDash val="solid"/>
                <a:round/>
                <a:headEnd type="none" w="med" len="med"/>
                <a:tailEnd type="triangle" w="med" len="med"/>
              </a:ln>
            </p:spPr>
          </p:sp>
          <p:sp>
            <p:nvSpPr>
              <p:cNvPr id="86" name="Line 111"/>
              <p:cNvSpPr/>
              <p:nvPr/>
            </p:nvSpPr>
            <p:spPr>
              <a:xfrm flipH="1">
                <a:off x="1264" y="2311"/>
                <a:ext cx="156" cy="601"/>
              </a:xfrm>
              <a:prstGeom prst="line">
                <a:avLst/>
              </a:prstGeom>
              <a:ln w="9525" cap="flat" cmpd="sng">
                <a:solidFill>
                  <a:srgbClr val="FF0066"/>
                </a:solidFill>
                <a:prstDash val="solid"/>
                <a:round/>
                <a:headEnd type="none" w="med" len="med"/>
                <a:tailEnd type="triangle" w="med" len="med"/>
              </a:ln>
            </p:spPr>
          </p:sp>
          <p:sp>
            <p:nvSpPr>
              <p:cNvPr id="87" name="Line 112"/>
              <p:cNvSpPr/>
              <p:nvPr/>
            </p:nvSpPr>
            <p:spPr>
              <a:xfrm flipH="1">
                <a:off x="408" y="2294"/>
                <a:ext cx="848" cy="626"/>
              </a:xfrm>
              <a:prstGeom prst="line">
                <a:avLst/>
              </a:prstGeom>
              <a:ln w="9525" cap="flat" cmpd="sng">
                <a:solidFill>
                  <a:srgbClr val="FF0066"/>
                </a:solidFill>
                <a:prstDash val="solid"/>
                <a:round/>
                <a:headEnd type="none" w="med" len="med"/>
                <a:tailEnd type="triangle" w="med" len="med"/>
              </a:ln>
            </p:spPr>
          </p:sp>
          <p:grpSp>
            <p:nvGrpSpPr>
              <p:cNvPr id="88" name="Group 156"/>
              <p:cNvGrpSpPr/>
              <p:nvPr/>
            </p:nvGrpSpPr>
            <p:grpSpPr>
              <a:xfrm>
                <a:off x="1461" y="1579"/>
                <a:ext cx="2033" cy="378"/>
                <a:chOff x="1461" y="1332"/>
                <a:chExt cx="2033" cy="625"/>
              </a:xfrm>
            </p:grpSpPr>
            <p:sp>
              <p:nvSpPr>
                <p:cNvPr id="112" name="Line 113"/>
                <p:cNvSpPr/>
                <p:nvPr/>
              </p:nvSpPr>
              <p:spPr>
                <a:xfrm flipH="1">
                  <a:off x="1461" y="1332"/>
                  <a:ext cx="593" cy="625"/>
                </a:xfrm>
                <a:prstGeom prst="line">
                  <a:avLst/>
                </a:prstGeom>
                <a:ln w="9525" cap="flat" cmpd="sng">
                  <a:solidFill>
                    <a:srgbClr val="FF0066"/>
                  </a:solidFill>
                  <a:prstDash val="solid"/>
                  <a:round/>
                  <a:headEnd type="none" w="med" len="med"/>
                  <a:tailEnd type="triangle" w="med" len="med"/>
                </a:ln>
              </p:spPr>
            </p:sp>
            <p:sp>
              <p:nvSpPr>
                <p:cNvPr id="113" name="Line 114"/>
                <p:cNvSpPr/>
                <p:nvPr/>
              </p:nvSpPr>
              <p:spPr>
                <a:xfrm>
                  <a:off x="2260" y="1348"/>
                  <a:ext cx="1234" cy="601"/>
                </a:xfrm>
                <a:prstGeom prst="line">
                  <a:avLst/>
                </a:prstGeom>
                <a:ln w="9525" cap="flat" cmpd="sng">
                  <a:solidFill>
                    <a:srgbClr val="FF0066"/>
                  </a:solidFill>
                  <a:prstDash val="solid"/>
                  <a:round/>
                  <a:headEnd type="none" w="med" len="med"/>
                  <a:tailEnd type="triangle" w="med" len="med"/>
                </a:ln>
              </p:spPr>
            </p:sp>
          </p:grpSp>
          <p:sp>
            <p:nvSpPr>
              <p:cNvPr id="89" name="Line 115"/>
              <p:cNvSpPr/>
              <p:nvPr/>
            </p:nvSpPr>
            <p:spPr>
              <a:xfrm>
                <a:off x="104" y="2623"/>
                <a:ext cx="5480" cy="0"/>
              </a:xfrm>
              <a:prstGeom prst="line">
                <a:avLst/>
              </a:prstGeom>
              <a:ln w="9525" cap="flat" cmpd="sng">
                <a:solidFill>
                  <a:srgbClr val="FF0066"/>
                </a:solidFill>
                <a:prstDash val="dash"/>
                <a:round/>
                <a:headEnd type="none" w="med" len="med"/>
                <a:tailEnd type="none" w="med" len="med"/>
              </a:ln>
            </p:spPr>
          </p:sp>
          <p:sp>
            <p:nvSpPr>
              <p:cNvPr id="90" name="Text Box 117"/>
              <p:cNvSpPr txBox="1"/>
              <p:nvPr/>
            </p:nvSpPr>
            <p:spPr>
              <a:xfrm>
                <a:off x="5009" y="2640"/>
                <a:ext cx="564" cy="192"/>
              </a:xfrm>
              <a:prstGeom prst="rect">
                <a:avLst/>
              </a:prstGeom>
              <a:noFill/>
              <a:ln w="9525">
                <a:noFill/>
              </a:ln>
            </p:spPr>
            <p:txBody>
              <a:bodyPr wrap="none" anchor="t">
                <a:spAutoFit/>
              </a:bodyPr>
              <a:lstStyle/>
              <a:p>
                <a:pPr algn="ctr"/>
                <a:r>
                  <a:rPr lang="zh-CN" altLang="en-US" sz="1400" dirty="0">
                    <a:latin typeface="Times New Roman" panose="02020603050405020304" pitchFamily="18" charset="0"/>
                    <a:ea typeface="微软雅黑" panose="020B0503020204020204" pitchFamily="34" charset="-122"/>
                  </a:rPr>
                  <a:t>叶子结点</a:t>
                </a:r>
                <a:endParaRPr lang="zh-CN" altLang="en-US" sz="1400" dirty="0">
                  <a:latin typeface="Times New Roman" panose="02020603050405020304" pitchFamily="18" charset="0"/>
                  <a:ea typeface="微软雅黑" panose="020B0503020204020204" pitchFamily="34" charset="-122"/>
                </a:endParaRPr>
              </a:p>
            </p:txBody>
          </p:sp>
          <p:sp>
            <p:nvSpPr>
              <p:cNvPr id="91" name="Text Box 118"/>
              <p:cNvSpPr txBox="1"/>
              <p:nvPr/>
            </p:nvSpPr>
            <p:spPr>
              <a:xfrm>
                <a:off x="5011" y="2408"/>
                <a:ext cx="564" cy="192"/>
              </a:xfrm>
              <a:prstGeom prst="rect">
                <a:avLst/>
              </a:prstGeom>
              <a:noFill/>
              <a:ln w="9525">
                <a:noFill/>
              </a:ln>
            </p:spPr>
            <p:txBody>
              <a:bodyPr wrap="none" anchor="t">
                <a:spAutoFit/>
              </a:bodyPr>
              <a:lstStyle/>
              <a:p>
                <a:pPr algn="ctr"/>
                <a:r>
                  <a:rPr lang="zh-CN" altLang="en-US" sz="1400" dirty="0">
                    <a:latin typeface="Times New Roman" panose="02020603050405020304" pitchFamily="18" charset="0"/>
                    <a:ea typeface="微软雅黑" panose="020B0503020204020204" pitchFamily="34" charset="-122"/>
                  </a:rPr>
                  <a:t>非叶结点</a:t>
                </a:r>
                <a:endParaRPr lang="zh-CN" altLang="en-US" sz="1400" dirty="0">
                  <a:latin typeface="Times New Roman" panose="02020603050405020304" pitchFamily="18" charset="0"/>
                  <a:ea typeface="微软雅黑" panose="020B0503020204020204" pitchFamily="34" charset="-122"/>
                </a:endParaRPr>
              </a:p>
            </p:txBody>
          </p:sp>
          <p:sp>
            <p:nvSpPr>
              <p:cNvPr id="92" name="Line 119"/>
              <p:cNvSpPr/>
              <p:nvPr/>
            </p:nvSpPr>
            <p:spPr>
              <a:xfrm>
                <a:off x="202" y="3274"/>
                <a:ext cx="0" cy="230"/>
              </a:xfrm>
              <a:prstGeom prst="line">
                <a:avLst/>
              </a:prstGeom>
              <a:ln w="9525" cap="flat" cmpd="sng">
                <a:solidFill>
                  <a:srgbClr val="FF0066"/>
                </a:solidFill>
                <a:prstDash val="solid"/>
                <a:round/>
                <a:headEnd type="none" w="med" len="med"/>
                <a:tailEnd type="triangle" w="med" len="med"/>
              </a:ln>
            </p:spPr>
          </p:sp>
          <p:sp>
            <p:nvSpPr>
              <p:cNvPr id="93" name="Line 120"/>
              <p:cNvSpPr/>
              <p:nvPr/>
            </p:nvSpPr>
            <p:spPr>
              <a:xfrm>
                <a:off x="378" y="3274"/>
                <a:ext cx="0" cy="230"/>
              </a:xfrm>
              <a:prstGeom prst="line">
                <a:avLst/>
              </a:prstGeom>
              <a:ln w="9525" cap="flat" cmpd="sng">
                <a:solidFill>
                  <a:srgbClr val="FF0066"/>
                </a:solidFill>
                <a:prstDash val="solid"/>
                <a:round/>
                <a:headEnd type="none" w="med" len="med"/>
                <a:tailEnd type="triangle" w="med" len="med"/>
              </a:ln>
            </p:spPr>
          </p:sp>
          <p:sp>
            <p:nvSpPr>
              <p:cNvPr id="94" name="Line 121"/>
              <p:cNvSpPr/>
              <p:nvPr/>
            </p:nvSpPr>
            <p:spPr>
              <a:xfrm>
                <a:off x="578" y="3274"/>
                <a:ext cx="0" cy="230"/>
              </a:xfrm>
              <a:prstGeom prst="line">
                <a:avLst/>
              </a:prstGeom>
              <a:ln w="9525" cap="flat" cmpd="sng">
                <a:solidFill>
                  <a:srgbClr val="FF0066"/>
                </a:solidFill>
                <a:prstDash val="solid"/>
                <a:round/>
                <a:headEnd type="none" w="med" len="med"/>
                <a:tailEnd type="triangle" w="med" len="med"/>
              </a:ln>
            </p:spPr>
          </p:sp>
          <p:sp>
            <p:nvSpPr>
              <p:cNvPr id="95" name="Line 122"/>
              <p:cNvSpPr/>
              <p:nvPr/>
            </p:nvSpPr>
            <p:spPr>
              <a:xfrm>
                <a:off x="803" y="3257"/>
                <a:ext cx="238" cy="0"/>
              </a:xfrm>
              <a:prstGeom prst="line">
                <a:avLst/>
              </a:prstGeom>
              <a:ln w="9525" cap="flat" cmpd="sng">
                <a:solidFill>
                  <a:srgbClr val="FF0066"/>
                </a:solidFill>
                <a:prstDash val="solid"/>
                <a:round/>
                <a:headEnd type="none" w="med" len="med"/>
                <a:tailEnd type="triangle" w="med" len="med"/>
              </a:ln>
            </p:spPr>
          </p:sp>
          <p:sp>
            <p:nvSpPr>
              <p:cNvPr id="96" name="Line 123"/>
              <p:cNvSpPr/>
              <p:nvPr/>
            </p:nvSpPr>
            <p:spPr>
              <a:xfrm>
                <a:off x="1130" y="3274"/>
                <a:ext cx="0" cy="230"/>
              </a:xfrm>
              <a:prstGeom prst="line">
                <a:avLst/>
              </a:prstGeom>
              <a:ln w="9525" cap="flat" cmpd="sng">
                <a:solidFill>
                  <a:srgbClr val="FF0066"/>
                </a:solidFill>
                <a:prstDash val="solid"/>
                <a:round/>
                <a:headEnd type="none" w="med" len="med"/>
                <a:tailEnd type="triangle" w="med" len="med"/>
              </a:ln>
            </p:spPr>
          </p:sp>
          <p:sp>
            <p:nvSpPr>
              <p:cNvPr id="97" name="Line 124"/>
              <p:cNvSpPr/>
              <p:nvPr/>
            </p:nvSpPr>
            <p:spPr>
              <a:xfrm>
                <a:off x="1306" y="3274"/>
                <a:ext cx="0" cy="230"/>
              </a:xfrm>
              <a:prstGeom prst="line">
                <a:avLst/>
              </a:prstGeom>
              <a:ln w="9525" cap="flat" cmpd="sng">
                <a:solidFill>
                  <a:srgbClr val="FF0066"/>
                </a:solidFill>
                <a:prstDash val="solid"/>
                <a:round/>
                <a:headEnd type="none" w="med" len="med"/>
                <a:tailEnd type="triangle" w="med" len="med"/>
              </a:ln>
            </p:spPr>
          </p:sp>
          <p:sp>
            <p:nvSpPr>
              <p:cNvPr id="98" name="Line 126"/>
              <p:cNvSpPr/>
              <p:nvPr/>
            </p:nvSpPr>
            <p:spPr>
              <a:xfrm>
                <a:off x="1731" y="3265"/>
                <a:ext cx="238" cy="0"/>
              </a:xfrm>
              <a:prstGeom prst="line">
                <a:avLst/>
              </a:prstGeom>
              <a:ln w="9525" cap="flat" cmpd="sng">
                <a:solidFill>
                  <a:srgbClr val="FF0066"/>
                </a:solidFill>
                <a:prstDash val="solid"/>
                <a:round/>
                <a:headEnd type="none" w="med" len="med"/>
                <a:tailEnd type="triangle" w="med" len="med"/>
              </a:ln>
            </p:spPr>
          </p:sp>
          <p:sp>
            <p:nvSpPr>
              <p:cNvPr id="99" name="Line 127"/>
              <p:cNvSpPr/>
              <p:nvPr/>
            </p:nvSpPr>
            <p:spPr>
              <a:xfrm>
                <a:off x="2074" y="3274"/>
                <a:ext cx="0" cy="230"/>
              </a:xfrm>
              <a:prstGeom prst="line">
                <a:avLst/>
              </a:prstGeom>
              <a:ln w="9525" cap="flat" cmpd="sng">
                <a:solidFill>
                  <a:srgbClr val="FF0066"/>
                </a:solidFill>
                <a:prstDash val="solid"/>
                <a:round/>
                <a:headEnd type="none" w="med" len="med"/>
                <a:tailEnd type="triangle" w="med" len="med"/>
              </a:ln>
            </p:spPr>
          </p:sp>
          <p:sp>
            <p:nvSpPr>
              <p:cNvPr id="100" name="Line 128"/>
              <p:cNvSpPr/>
              <p:nvPr/>
            </p:nvSpPr>
            <p:spPr>
              <a:xfrm>
                <a:off x="2258" y="3274"/>
                <a:ext cx="0" cy="230"/>
              </a:xfrm>
              <a:prstGeom prst="line">
                <a:avLst/>
              </a:prstGeom>
              <a:ln w="9525" cap="flat" cmpd="sng">
                <a:solidFill>
                  <a:srgbClr val="FF0066"/>
                </a:solidFill>
                <a:prstDash val="solid"/>
                <a:round/>
                <a:headEnd type="none" w="med" len="med"/>
                <a:tailEnd type="triangle" w="med" len="med"/>
              </a:ln>
            </p:spPr>
          </p:sp>
          <p:sp>
            <p:nvSpPr>
              <p:cNvPr id="101" name="Line 129"/>
              <p:cNvSpPr/>
              <p:nvPr/>
            </p:nvSpPr>
            <p:spPr>
              <a:xfrm>
                <a:off x="2450" y="3274"/>
                <a:ext cx="0" cy="230"/>
              </a:xfrm>
              <a:prstGeom prst="line">
                <a:avLst/>
              </a:prstGeom>
              <a:ln w="9525" cap="flat" cmpd="sng">
                <a:solidFill>
                  <a:srgbClr val="FF0066"/>
                </a:solidFill>
                <a:prstDash val="solid"/>
                <a:round/>
                <a:headEnd type="none" w="med" len="med"/>
                <a:tailEnd type="triangle" w="med" len="med"/>
              </a:ln>
            </p:spPr>
          </p:sp>
          <p:sp>
            <p:nvSpPr>
              <p:cNvPr id="102" name="Line 130"/>
              <p:cNvSpPr/>
              <p:nvPr/>
            </p:nvSpPr>
            <p:spPr>
              <a:xfrm>
                <a:off x="2675" y="3265"/>
                <a:ext cx="238" cy="0"/>
              </a:xfrm>
              <a:prstGeom prst="line">
                <a:avLst/>
              </a:prstGeom>
              <a:ln w="9525" cap="flat" cmpd="sng">
                <a:solidFill>
                  <a:srgbClr val="FF0066"/>
                </a:solidFill>
                <a:prstDash val="solid"/>
                <a:round/>
                <a:headEnd type="none" w="med" len="med"/>
                <a:tailEnd type="triangle" w="med" len="med"/>
              </a:ln>
            </p:spPr>
          </p:sp>
          <p:sp>
            <p:nvSpPr>
              <p:cNvPr id="103" name="Line 131"/>
              <p:cNvSpPr/>
              <p:nvPr/>
            </p:nvSpPr>
            <p:spPr>
              <a:xfrm>
                <a:off x="3002" y="3274"/>
                <a:ext cx="0" cy="230"/>
              </a:xfrm>
              <a:prstGeom prst="line">
                <a:avLst/>
              </a:prstGeom>
              <a:ln w="9525" cap="flat" cmpd="sng">
                <a:solidFill>
                  <a:srgbClr val="FF0066"/>
                </a:solidFill>
                <a:prstDash val="solid"/>
                <a:round/>
                <a:headEnd type="none" w="med" len="med"/>
                <a:tailEnd type="triangle" w="med" len="med"/>
              </a:ln>
            </p:spPr>
          </p:sp>
          <p:sp>
            <p:nvSpPr>
              <p:cNvPr id="104" name="Line 132"/>
              <p:cNvSpPr/>
              <p:nvPr/>
            </p:nvSpPr>
            <p:spPr>
              <a:xfrm>
                <a:off x="3178" y="3274"/>
                <a:ext cx="0" cy="230"/>
              </a:xfrm>
              <a:prstGeom prst="line">
                <a:avLst/>
              </a:prstGeom>
              <a:ln w="9525" cap="flat" cmpd="sng">
                <a:solidFill>
                  <a:srgbClr val="FF0066"/>
                </a:solidFill>
                <a:prstDash val="solid"/>
                <a:round/>
                <a:headEnd type="none" w="med" len="med"/>
                <a:tailEnd type="triangle" w="med" len="med"/>
              </a:ln>
            </p:spPr>
          </p:sp>
          <p:sp>
            <p:nvSpPr>
              <p:cNvPr id="105" name="Line 134"/>
              <p:cNvSpPr/>
              <p:nvPr/>
            </p:nvSpPr>
            <p:spPr>
              <a:xfrm>
                <a:off x="3603" y="3265"/>
                <a:ext cx="238" cy="0"/>
              </a:xfrm>
              <a:prstGeom prst="line">
                <a:avLst/>
              </a:prstGeom>
              <a:ln w="9525" cap="flat" cmpd="sng">
                <a:solidFill>
                  <a:srgbClr val="FF0066"/>
                </a:solidFill>
                <a:prstDash val="solid"/>
                <a:round/>
                <a:headEnd type="none" w="med" len="med"/>
                <a:tailEnd type="triangle" w="med" len="med"/>
              </a:ln>
            </p:spPr>
          </p:sp>
          <p:sp>
            <p:nvSpPr>
              <p:cNvPr id="106" name="Line 135"/>
              <p:cNvSpPr/>
              <p:nvPr/>
            </p:nvSpPr>
            <p:spPr>
              <a:xfrm>
                <a:off x="3954" y="3274"/>
                <a:ext cx="0" cy="230"/>
              </a:xfrm>
              <a:prstGeom prst="line">
                <a:avLst/>
              </a:prstGeom>
              <a:ln w="9525" cap="flat" cmpd="sng">
                <a:solidFill>
                  <a:srgbClr val="FF0066"/>
                </a:solidFill>
                <a:prstDash val="solid"/>
                <a:round/>
                <a:headEnd type="none" w="med" len="med"/>
                <a:tailEnd type="triangle" w="med" len="med"/>
              </a:ln>
            </p:spPr>
          </p:sp>
          <p:sp>
            <p:nvSpPr>
              <p:cNvPr id="107" name="Line 136"/>
              <p:cNvSpPr/>
              <p:nvPr/>
            </p:nvSpPr>
            <p:spPr>
              <a:xfrm>
                <a:off x="4130" y="3274"/>
                <a:ext cx="0" cy="230"/>
              </a:xfrm>
              <a:prstGeom prst="line">
                <a:avLst/>
              </a:prstGeom>
              <a:ln w="9525" cap="flat" cmpd="sng">
                <a:solidFill>
                  <a:srgbClr val="FF0066"/>
                </a:solidFill>
                <a:prstDash val="solid"/>
                <a:round/>
                <a:headEnd type="none" w="med" len="med"/>
                <a:tailEnd type="triangle" w="med" len="med"/>
              </a:ln>
            </p:spPr>
          </p:sp>
          <p:sp>
            <p:nvSpPr>
              <p:cNvPr id="108" name="Line 137"/>
              <p:cNvSpPr/>
              <p:nvPr/>
            </p:nvSpPr>
            <p:spPr>
              <a:xfrm>
                <a:off x="4330" y="3274"/>
                <a:ext cx="0" cy="230"/>
              </a:xfrm>
              <a:prstGeom prst="line">
                <a:avLst/>
              </a:prstGeom>
              <a:ln w="9525" cap="flat" cmpd="sng">
                <a:solidFill>
                  <a:srgbClr val="FF0066"/>
                </a:solidFill>
                <a:prstDash val="solid"/>
                <a:round/>
                <a:headEnd type="none" w="med" len="med"/>
                <a:tailEnd type="triangle" w="med" len="med"/>
              </a:ln>
            </p:spPr>
          </p:sp>
          <p:sp>
            <p:nvSpPr>
              <p:cNvPr id="109" name="Line 138"/>
              <p:cNvSpPr/>
              <p:nvPr/>
            </p:nvSpPr>
            <p:spPr>
              <a:xfrm>
                <a:off x="4555" y="3265"/>
                <a:ext cx="238" cy="0"/>
              </a:xfrm>
              <a:prstGeom prst="line">
                <a:avLst/>
              </a:prstGeom>
              <a:ln w="9525" cap="flat" cmpd="sng">
                <a:solidFill>
                  <a:srgbClr val="FF0066"/>
                </a:solidFill>
                <a:prstDash val="solid"/>
                <a:round/>
                <a:headEnd type="none" w="med" len="med"/>
                <a:tailEnd type="triangle" w="med" len="med"/>
              </a:ln>
            </p:spPr>
          </p:sp>
          <p:sp>
            <p:nvSpPr>
              <p:cNvPr id="110" name="Line 139"/>
              <p:cNvSpPr/>
              <p:nvPr/>
            </p:nvSpPr>
            <p:spPr>
              <a:xfrm>
                <a:off x="4882" y="3266"/>
                <a:ext cx="0" cy="230"/>
              </a:xfrm>
              <a:prstGeom prst="line">
                <a:avLst/>
              </a:prstGeom>
              <a:ln w="9525" cap="flat" cmpd="sng">
                <a:solidFill>
                  <a:srgbClr val="FF0066"/>
                </a:solidFill>
                <a:prstDash val="solid"/>
                <a:round/>
                <a:headEnd type="none" w="med" len="med"/>
                <a:tailEnd type="triangle" w="med" len="med"/>
              </a:ln>
            </p:spPr>
          </p:sp>
          <p:sp>
            <p:nvSpPr>
              <p:cNvPr id="111" name="Line 140"/>
              <p:cNvSpPr/>
              <p:nvPr/>
            </p:nvSpPr>
            <p:spPr>
              <a:xfrm>
                <a:off x="5058" y="3266"/>
                <a:ext cx="0" cy="230"/>
              </a:xfrm>
              <a:prstGeom prst="line">
                <a:avLst/>
              </a:prstGeom>
              <a:ln w="9525" cap="flat" cmpd="sng">
                <a:solidFill>
                  <a:srgbClr val="FF0066"/>
                </a:solidFill>
                <a:prstDash val="solid"/>
                <a:round/>
                <a:headEnd type="none" w="med" len="med"/>
                <a:tailEnd type="triangle" w="med" len="med"/>
              </a:ln>
            </p:spPr>
          </p:sp>
        </p:grpSp>
        <p:sp>
          <p:nvSpPr>
            <p:cNvPr id="7" name="Text Box 116"/>
            <p:cNvSpPr txBox="1"/>
            <p:nvPr/>
          </p:nvSpPr>
          <p:spPr>
            <a:xfrm>
              <a:off x="131" y="1163"/>
              <a:ext cx="1368" cy="250"/>
            </a:xfrm>
            <a:prstGeom prst="rect">
              <a:avLst/>
            </a:prstGeom>
            <a:noFill/>
            <a:ln w="9525">
              <a:noFill/>
            </a:ln>
          </p:spPr>
          <p:txBody>
            <a:bodyPr wrap="none" anchor="t">
              <a:spAutoFit/>
            </a:bodyPr>
            <a:lstStyle/>
            <a:p>
              <a:pPr algn="ctr"/>
              <a:r>
                <a:rPr lang="en-US" altLang="zh-CN" dirty="0">
                  <a:latin typeface="Arial" panose="020B0604020202020204" pitchFamily="34" charset="0"/>
                  <a:ea typeface="楷体_GB2312" pitchFamily="49" charset="-122"/>
                </a:rPr>
                <a:t>B+Tree(n=3)</a:t>
              </a:r>
              <a:r>
                <a:rPr lang="zh-CN" altLang="en-US" dirty="0">
                  <a:latin typeface="Arial" panose="020B0604020202020204" pitchFamily="34" charset="0"/>
                  <a:ea typeface="楷体_GB2312" pitchFamily="49" charset="-122"/>
                </a:rPr>
                <a:t>示例</a:t>
              </a:r>
              <a:endParaRPr lang="zh-CN" altLang="en-US" dirty="0">
                <a:latin typeface="Arial" panose="020B0604020202020204" pitchFamily="34" charset="0"/>
                <a:ea typeface="楷体_GB2312" pitchFamily="49" charset="-122"/>
              </a:endParaRPr>
            </a:p>
          </p:txBody>
        </p:sp>
      </p:grpSp>
      <p:sp>
        <p:nvSpPr>
          <p:cNvPr id="177" name="Rectangle 154"/>
          <p:cNvSpPr/>
          <p:nvPr/>
        </p:nvSpPr>
        <p:spPr>
          <a:xfrm>
            <a:off x="9471437" y="4019317"/>
            <a:ext cx="2367343" cy="1916445"/>
          </a:xfrm>
          <a:prstGeom prst="rect">
            <a:avLst/>
          </a:prstGeom>
          <a:noFill/>
          <a:ln w="9525">
            <a:noFill/>
          </a:ln>
        </p:spPr>
        <p:txBody>
          <a:bodyPr wrap="square" anchor="t">
            <a:spAutoFit/>
          </a:bodyPr>
          <a:lstStyle/>
          <a:p>
            <a:pPr>
              <a:spcBef>
                <a:spcPct val="20000"/>
              </a:spcBef>
              <a:buChar char="•"/>
            </a:pPr>
            <a:r>
              <a:rPr lang="zh-CN" altLang="en-US" dirty="0">
                <a:latin typeface="微软雅黑" panose="020B0503020204020204" pitchFamily="34" charset="-122"/>
                <a:ea typeface="微软雅黑" panose="020B0503020204020204" pitchFamily="34" charset="-122"/>
              </a:rPr>
              <a:t>指向主文件的指针</a:t>
            </a:r>
            <a:r>
              <a:rPr lang="zh-CN" altLang="en-US" dirty="0">
                <a:solidFill>
                  <a:srgbClr val="CC0000"/>
                </a:solidFill>
                <a:latin typeface="微软雅黑" panose="020B0503020204020204" pitchFamily="34" charset="-122"/>
                <a:ea typeface="微软雅黑" panose="020B0503020204020204" pitchFamily="34" charset="-122"/>
              </a:rPr>
              <a:t>仅出现</a:t>
            </a:r>
            <a:r>
              <a:rPr lang="zh-CN" altLang="en-US" dirty="0">
                <a:latin typeface="微软雅黑" panose="020B0503020204020204" pitchFamily="34" charset="-122"/>
                <a:ea typeface="微软雅黑" panose="020B0503020204020204" pitchFamily="34" charset="-122"/>
              </a:rPr>
              <a:t>于叶结点；</a:t>
            </a:r>
            <a:endParaRPr lang="zh-CN" altLang="en-US" dirty="0">
              <a:latin typeface="微软雅黑" panose="020B0503020204020204" pitchFamily="34" charset="-122"/>
              <a:ea typeface="微软雅黑" panose="020B0503020204020204" pitchFamily="34" charset="-122"/>
            </a:endParaRPr>
          </a:p>
          <a:p>
            <a:pPr>
              <a:spcBef>
                <a:spcPct val="20000"/>
              </a:spcBef>
              <a:buChar char="•"/>
            </a:pPr>
            <a:r>
              <a:rPr lang="zh-CN" altLang="en-US" dirty="0">
                <a:latin typeface="微软雅黑" panose="020B0503020204020204" pitchFamily="34" charset="-122"/>
                <a:ea typeface="微软雅黑" panose="020B0503020204020204" pitchFamily="34" charset="-122"/>
              </a:rPr>
              <a:t>所有叶结点即</a:t>
            </a:r>
            <a:r>
              <a:rPr lang="zh-CN" altLang="en-US" dirty="0">
                <a:solidFill>
                  <a:srgbClr val="CC0000"/>
                </a:solidFill>
                <a:latin typeface="微软雅黑" panose="020B0503020204020204" pitchFamily="34" charset="-122"/>
                <a:ea typeface="微软雅黑" panose="020B0503020204020204" pitchFamily="34" charset="-122"/>
              </a:rPr>
              <a:t>可覆盖所有</a:t>
            </a:r>
            <a:r>
              <a:rPr lang="zh-CN" altLang="en-US" dirty="0">
                <a:latin typeface="微软雅黑" panose="020B0503020204020204" pitchFamily="34" charset="-122"/>
                <a:ea typeface="微软雅黑" panose="020B0503020204020204" pitchFamily="34" charset="-122"/>
              </a:rPr>
              <a:t>键值的索引；</a:t>
            </a:r>
            <a:endParaRPr lang="zh-CN" altLang="en-US" dirty="0">
              <a:latin typeface="微软雅黑" panose="020B0503020204020204" pitchFamily="34" charset="-122"/>
              <a:ea typeface="微软雅黑" panose="020B0503020204020204" pitchFamily="34" charset="-122"/>
            </a:endParaRPr>
          </a:p>
          <a:p>
            <a:pPr>
              <a:spcBef>
                <a:spcPct val="20000"/>
              </a:spcBef>
              <a:buChar char="•"/>
            </a:pPr>
            <a:r>
              <a:rPr lang="zh-CN" altLang="en-US" dirty="0">
                <a:latin typeface="微软雅黑" panose="020B0503020204020204" pitchFamily="34" charset="-122"/>
                <a:ea typeface="微软雅黑" panose="020B0503020204020204" pitchFamily="34" charset="-122"/>
              </a:rPr>
              <a:t>索引字段值在叶结点中是按顺序排列的；</a:t>
            </a:r>
            <a:endParaRPr lang="zh-CN" altLang="en-US" dirty="0">
              <a:latin typeface="微软雅黑" panose="020B0503020204020204" pitchFamily="34" charset="-122"/>
              <a:ea typeface="微软雅黑" panose="020B0503020204020204" pitchFamily="34" charset="-122"/>
            </a:endParaRPr>
          </a:p>
        </p:txBody>
      </p:sp>
      <p:grpSp>
        <p:nvGrpSpPr>
          <p:cNvPr id="178" name="Group 160"/>
          <p:cNvGrpSpPr/>
          <p:nvPr/>
        </p:nvGrpSpPr>
        <p:grpSpPr>
          <a:xfrm>
            <a:off x="9297189" y="2427288"/>
            <a:ext cx="2743200" cy="1143000"/>
            <a:chOff x="1265" y="3268"/>
            <a:chExt cx="1154" cy="629"/>
          </a:xfrm>
        </p:grpSpPr>
        <p:sp>
          <p:nvSpPr>
            <p:cNvPr id="179"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80"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81" name="Text Box 84"/>
            <p:cNvSpPr/>
            <p:nvPr/>
          </p:nvSpPr>
          <p:spPr>
            <a:xfrm>
              <a:off x="1269" y="3299"/>
              <a:ext cx="1150" cy="553"/>
            </a:xfrm>
            <a:prstGeom prst="roundRect">
              <a:avLst>
                <a:gd name="adj" fmla="val 16667"/>
              </a:avLst>
            </a:prstGeom>
            <a:noFill/>
            <a:ln w="9525">
              <a:noFill/>
            </a:ln>
          </p:spPr>
          <p:txBody>
            <a:bodyPr anchor="t">
              <a:spAutoFit/>
            </a:bodyPr>
            <a:lstStyle/>
            <a:p>
              <a:pPr>
                <a:spcBef>
                  <a:spcPct val="35000"/>
                </a:spcBef>
              </a:pPr>
              <a:r>
                <a:rPr lang="zh-CN" altLang="en-US" sz="1800" dirty="0">
                  <a:solidFill>
                    <a:schemeClr val="accent2"/>
                  </a:solidFill>
                  <a:latin typeface="Arial" panose="020B0604020202020204" pitchFamily="34" charset="0"/>
                  <a:ea typeface="微软雅黑" panose="020B0503020204020204" pitchFamily="34" charset="-122"/>
                </a:rPr>
                <a:t>仅叶结点块的集合就是主文件完整的索引，即：最低一级</a:t>
              </a:r>
              <a:r>
                <a:rPr lang="en-US" altLang="zh-CN" sz="1800" dirty="0">
                  <a:solidFill>
                    <a:schemeClr val="accent2"/>
                  </a:solidFill>
                  <a:latin typeface="Arial" panose="020B0604020202020204" pitchFamily="34" charset="0"/>
                  <a:ea typeface="微软雅黑" panose="020B0503020204020204" pitchFamily="34" charset="-122"/>
                </a:rPr>
                <a:t>(</a:t>
              </a:r>
              <a:r>
                <a:rPr lang="zh-CN" altLang="en-US" sz="1800" dirty="0">
                  <a:solidFill>
                    <a:schemeClr val="accent2"/>
                  </a:solidFill>
                  <a:latin typeface="Arial" panose="020B0604020202020204" pitchFamily="34" charset="0"/>
                  <a:ea typeface="微软雅黑" panose="020B0503020204020204" pitchFamily="34" charset="-122"/>
                </a:rPr>
                <a:t>或一层</a:t>
              </a:r>
              <a:r>
                <a:rPr lang="en-US" altLang="zh-CN" sz="1800" dirty="0">
                  <a:solidFill>
                    <a:schemeClr val="accent2"/>
                  </a:solidFill>
                  <a:latin typeface="Arial" panose="020B0604020202020204" pitchFamily="34" charset="0"/>
                  <a:ea typeface="微软雅黑" panose="020B0503020204020204" pitchFamily="34" charset="-122"/>
                </a:rPr>
                <a:t>)</a:t>
              </a:r>
              <a:r>
                <a:rPr lang="zh-CN" altLang="en-US" sz="1800" dirty="0">
                  <a:solidFill>
                    <a:schemeClr val="accent2"/>
                  </a:solidFill>
                  <a:latin typeface="Arial" panose="020B0604020202020204" pitchFamily="34" charset="0"/>
                  <a:ea typeface="微软雅黑" panose="020B0503020204020204" pitchFamily="34" charset="-122"/>
                </a:rPr>
                <a:t>索引</a:t>
              </a:r>
              <a:endParaRPr lang="zh-CN" altLang="en-US" sz="1800" dirty="0">
                <a:solidFill>
                  <a:schemeClr val="accent2"/>
                </a:solidFill>
                <a:latin typeface="Arial" panose="020B0604020202020204" pitchFamily="34" charset="0"/>
                <a:ea typeface="微软雅黑" panose="020B0503020204020204" pitchFamily="34" charset="-122"/>
              </a:endParaRPr>
            </a:p>
          </p:txBody>
        </p:sp>
      </p:grpSp>
      <p:sp>
        <p:nvSpPr>
          <p:cNvPr id="11" name="灯片编号占位符 10"/>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anim calcmode="lin" valueType="num">
                                      <p:cBhvr additive="base">
                                        <p:cTn id="7" dur="500" fill="hold"/>
                                        <p:tgtEl>
                                          <p:spTgt spid="178"/>
                                        </p:tgtEl>
                                        <p:attrNameLst>
                                          <p:attrName>ppt_x</p:attrName>
                                        </p:attrNameLst>
                                      </p:cBhvr>
                                      <p:tavLst>
                                        <p:tav tm="0">
                                          <p:val>
                                            <p:strVal val="#ppt_x"/>
                                          </p:val>
                                        </p:tav>
                                        <p:tav tm="100000">
                                          <p:val>
                                            <p:strVal val="#ppt_x"/>
                                          </p:val>
                                        </p:tav>
                                      </p:tavLst>
                                    </p:anim>
                                    <p:anim calcmode="lin" valueType="num">
                                      <p:cBhvr additive="base">
                                        <p:cTn id="8" dur="500" fill="hold"/>
                                        <p:tgtEl>
                                          <p:spTgt spid="1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B+</a:t>
            </a:r>
            <a:r>
              <a:rPr lang="zh-CN" altLang="en-US" sz="2600" dirty="0">
                <a:latin typeface="微软雅黑" panose="020B0503020204020204" pitchFamily="34" charset="-122"/>
                <a:ea typeface="微软雅黑" panose="020B0503020204020204" pitchFamily="34" charset="-122"/>
              </a:rPr>
              <a:t>树的存储约定</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t>级数</a:t>
            </a:r>
            <a:r>
              <a:rPr lang="en-US" altLang="zh-CN" sz="2000" b="0" dirty="0"/>
              <a:t>(</a:t>
            </a:r>
            <a:r>
              <a:rPr lang="zh-CN" altLang="en-US" sz="2000" b="0" dirty="0"/>
              <a:t>或层数</a:t>
            </a:r>
            <a:r>
              <a:rPr lang="en-US" altLang="zh-CN" sz="2000" b="0" dirty="0"/>
              <a:t>)</a:t>
            </a:r>
            <a:r>
              <a:rPr lang="zh-CN" altLang="en-US" sz="2000" b="0" dirty="0"/>
              <a:t>相同</a:t>
            </a:r>
            <a:r>
              <a:rPr lang="en-US" altLang="zh-CN" sz="2000" b="0" dirty="0"/>
              <a:t>--</a:t>
            </a:r>
            <a:r>
              <a:rPr lang="zh-CN" altLang="en-US" sz="2000" b="0" dirty="0"/>
              <a:t>平衡。如何保证</a:t>
            </a:r>
            <a:r>
              <a:rPr lang="en-US" altLang="zh-CN" sz="2000" b="0" dirty="0"/>
              <a:t>?</a:t>
            </a:r>
            <a:endParaRPr lang="en-US" altLang="zh-CN" sz="2000" b="0" dirty="0"/>
          </a:p>
          <a:p>
            <a:pPr>
              <a:lnSpc>
                <a:spcPct val="100000"/>
              </a:lnSpc>
              <a:buFont typeface="Wingdings" panose="05000000000000000000" pitchFamily="2" charset="2"/>
              <a:buChar char="l"/>
            </a:pPr>
            <a:r>
              <a:rPr lang="zh-CN" altLang="en-US" sz="1800" b="0" dirty="0"/>
              <a:t>插入</a:t>
            </a:r>
            <a:r>
              <a:rPr lang="en-US" altLang="zh-CN" sz="1800" b="0" dirty="0"/>
              <a:t>/</a:t>
            </a:r>
            <a:r>
              <a:rPr lang="zh-CN" altLang="en-US" sz="1800" b="0" dirty="0"/>
              <a:t>删除记录时，伴随着结点的分裂与合并；</a:t>
            </a:r>
            <a:endParaRPr lang="zh-CN" altLang="en-US" sz="1800" b="0" dirty="0"/>
          </a:p>
          <a:p>
            <a:pPr>
              <a:lnSpc>
                <a:spcPct val="100000"/>
              </a:lnSpc>
              <a:buFont typeface="Wingdings" panose="05000000000000000000" pitchFamily="2" charset="2"/>
              <a:buChar char="l"/>
            </a:pPr>
            <a:r>
              <a:rPr lang="zh-CN" altLang="en-US" sz="1800" b="0" dirty="0"/>
              <a:t>分裂与合并将调整部分结点块中的索引项</a:t>
            </a:r>
            <a:endParaRPr lang="zh-CN" altLang="en-US" sz="2400" b="0" dirty="0"/>
          </a:p>
          <a:p>
            <a:pPr marL="0" indent="0">
              <a:lnSpc>
                <a:spcPct val="100000"/>
              </a:lnSpc>
              <a:buNone/>
            </a:pPr>
            <a:endParaRPr lang="zh-CN" altLang="en-US" sz="2200" dirty="0"/>
          </a:p>
          <a:p>
            <a:pPr marL="0" indent="0">
              <a:lnSpc>
                <a:spcPct val="100000"/>
              </a:lnSpc>
              <a:buNone/>
            </a:pPr>
            <a:endParaRPr lang="zh-CN" altLang="en-US" sz="22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11" name="Group 5"/>
          <p:cNvGrpSpPr/>
          <p:nvPr/>
        </p:nvGrpSpPr>
        <p:grpSpPr>
          <a:xfrm>
            <a:off x="468708" y="3112851"/>
            <a:ext cx="7273515" cy="3291158"/>
            <a:chOff x="92" y="1144"/>
            <a:chExt cx="5644" cy="2431"/>
          </a:xfrm>
        </p:grpSpPr>
        <p:grpSp>
          <p:nvGrpSpPr>
            <p:cNvPr id="12" name="Group 6"/>
            <p:cNvGrpSpPr/>
            <p:nvPr/>
          </p:nvGrpSpPr>
          <p:grpSpPr>
            <a:xfrm>
              <a:off x="92" y="1144"/>
              <a:ext cx="5644" cy="2431"/>
              <a:chOff x="0" y="1162"/>
              <a:chExt cx="5644" cy="2431"/>
            </a:xfrm>
          </p:grpSpPr>
          <p:sp>
            <p:nvSpPr>
              <p:cNvPr id="14" name="Rectangle 7"/>
              <p:cNvSpPr/>
              <p:nvPr/>
            </p:nvSpPr>
            <p:spPr>
              <a:xfrm>
                <a:off x="0" y="1162"/>
                <a:ext cx="5632" cy="2431"/>
              </a:xfrm>
              <a:prstGeom prst="rect">
                <a:avLst/>
              </a:prstGeom>
              <a:solidFill>
                <a:schemeClr val="bg1"/>
              </a:solidFill>
              <a:ln w="9525" cap="flat" cmpd="sng">
                <a:solidFill>
                  <a:schemeClr val="tx1"/>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grpSp>
            <p:nvGrpSpPr>
              <p:cNvPr id="15" name="Group 8"/>
              <p:cNvGrpSpPr/>
              <p:nvPr/>
            </p:nvGrpSpPr>
            <p:grpSpPr>
              <a:xfrm>
                <a:off x="1977" y="1219"/>
                <a:ext cx="780" cy="438"/>
                <a:chOff x="856" y="1440"/>
                <a:chExt cx="1291" cy="667"/>
              </a:xfrm>
            </p:grpSpPr>
            <p:sp>
              <p:nvSpPr>
                <p:cNvPr id="260" name="Rectangle 9"/>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61" name="Line 10"/>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62" name="Line 11"/>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63" name="Line 12"/>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64" name="Line 13"/>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65" name="Line 14"/>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66" name="Line 15"/>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16" name="Text Box 16"/>
              <p:cNvSpPr txBox="1"/>
              <p:nvPr/>
            </p:nvSpPr>
            <p:spPr>
              <a:xfrm>
                <a:off x="1932" y="1213"/>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18" name="Group 17"/>
              <p:cNvGrpSpPr/>
              <p:nvPr/>
            </p:nvGrpSpPr>
            <p:grpSpPr>
              <a:xfrm>
                <a:off x="1150" y="1958"/>
                <a:ext cx="780" cy="438"/>
                <a:chOff x="856" y="1440"/>
                <a:chExt cx="1291" cy="667"/>
              </a:xfrm>
            </p:grpSpPr>
            <p:sp>
              <p:nvSpPr>
                <p:cNvPr id="253" name="Rectangle 1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54" name="Line 1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55" name="Line 2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56" name="Line 2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57" name="Line 2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58" name="Line 2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59" name="Line 2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9" name="Group 25"/>
              <p:cNvGrpSpPr/>
              <p:nvPr/>
            </p:nvGrpSpPr>
            <p:grpSpPr>
              <a:xfrm>
                <a:off x="3385" y="1958"/>
                <a:ext cx="780" cy="438"/>
                <a:chOff x="856" y="1440"/>
                <a:chExt cx="1291" cy="667"/>
              </a:xfrm>
            </p:grpSpPr>
            <p:sp>
              <p:nvSpPr>
                <p:cNvPr id="246" name="Rectangle 2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47" name="Line 2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48" name="Line 2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49" name="Line 2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50" name="Line 3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51" name="Line 3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52" name="Line 3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0" name="Group 33"/>
              <p:cNvGrpSpPr/>
              <p:nvPr/>
            </p:nvGrpSpPr>
            <p:grpSpPr>
              <a:xfrm>
                <a:off x="105" y="2922"/>
                <a:ext cx="780" cy="438"/>
                <a:chOff x="856" y="1440"/>
                <a:chExt cx="1291" cy="667"/>
              </a:xfrm>
            </p:grpSpPr>
            <p:sp>
              <p:nvSpPr>
                <p:cNvPr id="239" name="Rectangle 3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40" name="Line 3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41" name="Line 3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42" name="Line 3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43" name="Line 3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44" name="Line 3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45" name="Line 4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1" name="Group 41"/>
              <p:cNvGrpSpPr/>
              <p:nvPr/>
            </p:nvGrpSpPr>
            <p:grpSpPr>
              <a:xfrm>
                <a:off x="1041" y="2922"/>
                <a:ext cx="780" cy="438"/>
                <a:chOff x="856" y="1440"/>
                <a:chExt cx="1291" cy="667"/>
              </a:xfrm>
            </p:grpSpPr>
            <p:sp>
              <p:nvSpPr>
                <p:cNvPr id="232" name="Rectangle 4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33" name="Line 4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34" name="Line 4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35" name="Line 4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36" name="Line 4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37" name="Line 4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38" name="Line 4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2" name="Group 49"/>
              <p:cNvGrpSpPr/>
              <p:nvPr/>
            </p:nvGrpSpPr>
            <p:grpSpPr>
              <a:xfrm>
                <a:off x="1977" y="2922"/>
                <a:ext cx="780" cy="438"/>
                <a:chOff x="856" y="1440"/>
                <a:chExt cx="1291" cy="667"/>
              </a:xfrm>
            </p:grpSpPr>
            <p:sp>
              <p:nvSpPr>
                <p:cNvPr id="225" name="Rectangle 5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26" name="Line 5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27" name="Line 5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28" name="Line 5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29" name="Line 5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30" name="Line 5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31" name="Line 5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3" name="Group 57"/>
              <p:cNvGrpSpPr/>
              <p:nvPr/>
            </p:nvGrpSpPr>
            <p:grpSpPr>
              <a:xfrm>
                <a:off x="2913" y="2922"/>
                <a:ext cx="780" cy="438"/>
                <a:chOff x="856" y="1440"/>
                <a:chExt cx="1291" cy="667"/>
              </a:xfrm>
            </p:grpSpPr>
            <p:sp>
              <p:nvSpPr>
                <p:cNvPr id="218" name="Rectangle 5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19" name="Line 5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20" name="Line 6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21" name="Line 6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22" name="Line 6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23" name="Line 6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24" name="Line 6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4" name="Group 65"/>
              <p:cNvGrpSpPr/>
              <p:nvPr/>
            </p:nvGrpSpPr>
            <p:grpSpPr>
              <a:xfrm>
                <a:off x="3849" y="2922"/>
                <a:ext cx="780" cy="438"/>
                <a:chOff x="856" y="1440"/>
                <a:chExt cx="1291" cy="667"/>
              </a:xfrm>
            </p:grpSpPr>
            <p:sp>
              <p:nvSpPr>
                <p:cNvPr id="211" name="Rectangle 6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12" name="Line 6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13" name="Line 6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14" name="Line 6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15" name="Line 7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16" name="Line 7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17" name="Line 7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5" name="Group 73"/>
              <p:cNvGrpSpPr/>
              <p:nvPr/>
            </p:nvGrpSpPr>
            <p:grpSpPr>
              <a:xfrm>
                <a:off x="4786" y="2922"/>
                <a:ext cx="780" cy="438"/>
                <a:chOff x="856" y="1440"/>
                <a:chExt cx="1291" cy="667"/>
              </a:xfrm>
            </p:grpSpPr>
            <p:sp>
              <p:nvSpPr>
                <p:cNvPr id="204" name="Rectangle 7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05" name="Line 7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06" name="Line 7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07" name="Line 7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08" name="Line 7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09" name="Line 7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10" name="Line 8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26" name="Text Box 81"/>
              <p:cNvSpPr txBox="1"/>
              <p:nvPr/>
            </p:nvSpPr>
            <p:spPr>
              <a:xfrm>
                <a:off x="1114" y="1946"/>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27" name="Text Box 82"/>
              <p:cNvSpPr txBox="1"/>
              <p:nvPr/>
            </p:nvSpPr>
            <p:spPr>
              <a:xfrm>
                <a:off x="81" y="2904"/>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28" name="Text Box 83"/>
              <p:cNvSpPr txBox="1"/>
              <p:nvPr/>
            </p:nvSpPr>
            <p:spPr>
              <a:xfrm>
                <a:off x="321" y="2904"/>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29" name="Text Box 84"/>
              <p:cNvSpPr txBox="1"/>
              <p:nvPr/>
            </p:nvSpPr>
            <p:spPr>
              <a:xfrm>
                <a:off x="635" y="2904"/>
                <a:ext cx="25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30" name="Text Box 85"/>
              <p:cNvSpPr txBox="1"/>
              <p:nvPr/>
            </p:nvSpPr>
            <p:spPr>
              <a:xfrm>
                <a:off x="993" y="2904"/>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31" name="Text Box 86"/>
              <p:cNvSpPr txBox="1"/>
              <p:nvPr/>
            </p:nvSpPr>
            <p:spPr>
              <a:xfrm>
                <a:off x="1233" y="2904"/>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11</a:t>
                </a:r>
                <a:endParaRPr lang="en-US" altLang="zh-CN" sz="1800" dirty="0">
                  <a:latin typeface="Times New Roman" panose="02020603050405020304" pitchFamily="18" charset="0"/>
                  <a:ea typeface="楷体_GB2312" pitchFamily="49" charset="-122"/>
                </a:endParaRPr>
              </a:p>
            </p:txBody>
          </p:sp>
          <p:sp>
            <p:nvSpPr>
              <p:cNvPr id="33" name="Text Box 87"/>
              <p:cNvSpPr txBox="1"/>
              <p:nvPr/>
            </p:nvSpPr>
            <p:spPr>
              <a:xfrm>
                <a:off x="1929" y="2916"/>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34" name="Text Box 88"/>
              <p:cNvSpPr txBox="1"/>
              <p:nvPr/>
            </p:nvSpPr>
            <p:spPr>
              <a:xfrm>
                <a:off x="2193" y="2916"/>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35" name="Text Box 89"/>
              <p:cNvSpPr txBox="1"/>
              <p:nvPr/>
            </p:nvSpPr>
            <p:spPr>
              <a:xfrm>
                <a:off x="2483" y="2916"/>
                <a:ext cx="277"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36" name="Text Box 90"/>
              <p:cNvSpPr txBox="1"/>
              <p:nvPr/>
            </p:nvSpPr>
            <p:spPr>
              <a:xfrm>
                <a:off x="2873" y="2908"/>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37" name="Text Box 91"/>
              <p:cNvSpPr txBox="1"/>
              <p:nvPr/>
            </p:nvSpPr>
            <p:spPr>
              <a:xfrm>
                <a:off x="3137" y="2908"/>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38" name="Text Box 92"/>
              <p:cNvSpPr txBox="1"/>
              <p:nvPr/>
            </p:nvSpPr>
            <p:spPr>
              <a:xfrm>
                <a:off x="3826" y="2912"/>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39" name="Text Box 93"/>
              <p:cNvSpPr txBox="1"/>
              <p:nvPr/>
            </p:nvSpPr>
            <p:spPr>
              <a:xfrm>
                <a:off x="4090" y="2912"/>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40" name="Text Box 94"/>
              <p:cNvSpPr txBox="1"/>
              <p:nvPr/>
            </p:nvSpPr>
            <p:spPr>
              <a:xfrm>
                <a:off x="4380" y="2912"/>
                <a:ext cx="277"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41" name="Text Box 95"/>
              <p:cNvSpPr txBox="1"/>
              <p:nvPr/>
            </p:nvSpPr>
            <p:spPr>
              <a:xfrm>
                <a:off x="4748" y="2912"/>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42" name="Text Box 96"/>
              <p:cNvSpPr txBox="1"/>
              <p:nvPr/>
            </p:nvSpPr>
            <p:spPr>
              <a:xfrm>
                <a:off x="5012" y="2912"/>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43" name="Text Box 97"/>
              <p:cNvSpPr txBox="1"/>
              <p:nvPr/>
            </p:nvSpPr>
            <p:spPr>
              <a:xfrm>
                <a:off x="3342" y="1941"/>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44" name="Text Box 98"/>
              <p:cNvSpPr txBox="1"/>
              <p:nvPr/>
            </p:nvSpPr>
            <p:spPr>
              <a:xfrm>
                <a:off x="3606" y="1941"/>
                <a:ext cx="342"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45" name="Text Box 99"/>
              <p:cNvSpPr txBox="1"/>
              <p:nvPr/>
            </p:nvSpPr>
            <p:spPr>
              <a:xfrm>
                <a:off x="3896" y="1941"/>
                <a:ext cx="277" cy="231"/>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46" name="Line 100"/>
              <p:cNvSpPr/>
              <p:nvPr/>
            </p:nvSpPr>
            <p:spPr>
              <a:xfrm>
                <a:off x="4103" y="2311"/>
                <a:ext cx="864" cy="601"/>
              </a:xfrm>
              <a:prstGeom prst="line">
                <a:avLst/>
              </a:prstGeom>
              <a:ln w="9525" cap="flat" cmpd="sng">
                <a:solidFill>
                  <a:srgbClr val="FF0066"/>
                </a:solidFill>
                <a:prstDash val="solid"/>
                <a:round/>
                <a:headEnd type="none" w="med" len="med"/>
                <a:tailEnd type="triangle" w="med" len="med"/>
              </a:ln>
            </p:spPr>
          </p:sp>
          <p:sp>
            <p:nvSpPr>
              <p:cNvPr id="47" name="Line 101"/>
              <p:cNvSpPr/>
              <p:nvPr/>
            </p:nvSpPr>
            <p:spPr>
              <a:xfrm>
                <a:off x="3872" y="2303"/>
                <a:ext cx="173" cy="625"/>
              </a:xfrm>
              <a:prstGeom prst="line">
                <a:avLst/>
              </a:prstGeom>
              <a:ln w="9525" cap="flat" cmpd="sng">
                <a:solidFill>
                  <a:srgbClr val="FF0066"/>
                </a:solidFill>
                <a:prstDash val="solid"/>
                <a:round/>
                <a:headEnd type="none" w="med" len="med"/>
                <a:tailEnd type="triangle" w="med" len="med"/>
              </a:ln>
            </p:spPr>
          </p:sp>
          <p:sp>
            <p:nvSpPr>
              <p:cNvPr id="48" name="Line 102"/>
              <p:cNvSpPr/>
              <p:nvPr/>
            </p:nvSpPr>
            <p:spPr>
              <a:xfrm flipH="1">
                <a:off x="3124" y="2311"/>
                <a:ext cx="559" cy="601"/>
              </a:xfrm>
              <a:prstGeom prst="line">
                <a:avLst/>
              </a:prstGeom>
              <a:ln w="9525" cap="flat" cmpd="sng">
                <a:solidFill>
                  <a:srgbClr val="FF0066"/>
                </a:solidFill>
                <a:prstDash val="solid"/>
                <a:round/>
                <a:headEnd type="none" w="med" len="med"/>
                <a:tailEnd type="triangle" w="med" len="med"/>
              </a:ln>
            </p:spPr>
          </p:sp>
          <p:sp>
            <p:nvSpPr>
              <p:cNvPr id="49" name="Line 103"/>
              <p:cNvSpPr/>
              <p:nvPr/>
            </p:nvSpPr>
            <p:spPr>
              <a:xfrm flipH="1">
                <a:off x="2350" y="2319"/>
                <a:ext cx="1078" cy="593"/>
              </a:xfrm>
              <a:prstGeom prst="line">
                <a:avLst/>
              </a:prstGeom>
              <a:ln w="9525" cap="flat" cmpd="sng">
                <a:solidFill>
                  <a:srgbClr val="FF0066"/>
                </a:solidFill>
                <a:prstDash val="solid"/>
                <a:round/>
                <a:headEnd type="none" w="med" len="med"/>
                <a:tailEnd type="triangle" w="med" len="med"/>
              </a:ln>
            </p:spPr>
          </p:sp>
          <p:sp>
            <p:nvSpPr>
              <p:cNvPr id="50" name="Line 104"/>
              <p:cNvSpPr/>
              <p:nvPr/>
            </p:nvSpPr>
            <p:spPr>
              <a:xfrm flipH="1">
                <a:off x="1264" y="2311"/>
                <a:ext cx="156" cy="601"/>
              </a:xfrm>
              <a:prstGeom prst="line">
                <a:avLst/>
              </a:prstGeom>
              <a:ln w="9525" cap="flat" cmpd="sng">
                <a:solidFill>
                  <a:srgbClr val="FF0066"/>
                </a:solidFill>
                <a:prstDash val="solid"/>
                <a:round/>
                <a:headEnd type="none" w="med" len="med"/>
                <a:tailEnd type="triangle" w="med" len="med"/>
              </a:ln>
            </p:spPr>
          </p:sp>
          <p:sp>
            <p:nvSpPr>
              <p:cNvPr id="51" name="Line 105"/>
              <p:cNvSpPr/>
              <p:nvPr/>
            </p:nvSpPr>
            <p:spPr>
              <a:xfrm flipH="1">
                <a:off x="408" y="2294"/>
                <a:ext cx="848" cy="626"/>
              </a:xfrm>
              <a:prstGeom prst="line">
                <a:avLst/>
              </a:prstGeom>
              <a:ln w="9525" cap="flat" cmpd="sng">
                <a:solidFill>
                  <a:srgbClr val="FF0066"/>
                </a:solidFill>
                <a:prstDash val="solid"/>
                <a:round/>
                <a:headEnd type="none" w="med" len="med"/>
                <a:tailEnd type="triangle" w="med" len="med"/>
              </a:ln>
            </p:spPr>
          </p:sp>
          <p:grpSp>
            <p:nvGrpSpPr>
              <p:cNvPr id="52" name="Group 106"/>
              <p:cNvGrpSpPr/>
              <p:nvPr/>
            </p:nvGrpSpPr>
            <p:grpSpPr>
              <a:xfrm>
                <a:off x="1461" y="1579"/>
                <a:ext cx="2033" cy="378"/>
                <a:chOff x="1461" y="1332"/>
                <a:chExt cx="2033" cy="625"/>
              </a:xfrm>
            </p:grpSpPr>
            <p:sp>
              <p:nvSpPr>
                <p:cNvPr id="202" name="Line 107"/>
                <p:cNvSpPr/>
                <p:nvPr/>
              </p:nvSpPr>
              <p:spPr>
                <a:xfrm flipH="1">
                  <a:off x="1461" y="1332"/>
                  <a:ext cx="593" cy="625"/>
                </a:xfrm>
                <a:prstGeom prst="line">
                  <a:avLst/>
                </a:prstGeom>
                <a:ln w="9525" cap="flat" cmpd="sng">
                  <a:solidFill>
                    <a:srgbClr val="FF0066"/>
                  </a:solidFill>
                  <a:prstDash val="solid"/>
                  <a:round/>
                  <a:headEnd type="none" w="med" len="med"/>
                  <a:tailEnd type="triangle" w="med" len="med"/>
                </a:ln>
              </p:spPr>
            </p:sp>
            <p:sp>
              <p:nvSpPr>
                <p:cNvPr id="203" name="Line 108"/>
                <p:cNvSpPr/>
                <p:nvPr/>
              </p:nvSpPr>
              <p:spPr>
                <a:xfrm>
                  <a:off x="2260" y="1348"/>
                  <a:ext cx="1234" cy="601"/>
                </a:xfrm>
                <a:prstGeom prst="line">
                  <a:avLst/>
                </a:prstGeom>
                <a:ln w="9525" cap="flat" cmpd="sng">
                  <a:solidFill>
                    <a:srgbClr val="FF0066"/>
                  </a:solidFill>
                  <a:prstDash val="solid"/>
                  <a:round/>
                  <a:headEnd type="none" w="med" len="med"/>
                  <a:tailEnd type="triangle" w="med" len="med"/>
                </a:ln>
              </p:spPr>
            </p:sp>
          </p:grpSp>
          <p:sp>
            <p:nvSpPr>
              <p:cNvPr id="53" name="Line 109"/>
              <p:cNvSpPr/>
              <p:nvPr/>
            </p:nvSpPr>
            <p:spPr>
              <a:xfrm>
                <a:off x="104" y="2623"/>
                <a:ext cx="5480" cy="0"/>
              </a:xfrm>
              <a:prstGeom prst="line">
                <a:avLst/>
              </a:prstGeom>
              <a:ln w="9525" cap="flat" cmpd="sng">
                <a:solidFill>
                  <a:srgbClr val="FF0066"/>
                </a:solidFill>
                <a:prstDash val="dash"/>
                <a:round/>
                <a:headEnd type="none" w="med" len="med"/>
                <a:tailEnd type="none" w="med" len="med"/>
              </a:ln>
            </p:spPr>
          </p:sp>
          <p:sp>
            <p:nvSpPr>
              <p:cNvPr id="54" name="Text Box 110"/>
              <p:cNvSpPr txBox="1"/>
              <p:nvPr/>
            </p:nvSpPr>
            <p:spPr>
              <a:xfrm>
                <a:off x="4941" y="2640"/>
                <a:ext cx="701" cy="227"/>
              </a:xfrm>
              <a:prstGeom prst="rect">
                <a:avLst/>
              </a:prstGeom>
              <a:noFill/>
              <a:ln w="9525">
                <a:noFill/>
              </a:ln>
            </p:spPr>
            <p:txBody>
              <a:bodyPr wrap="none" anchor="t">
                <a:spAutoFit/>
              </a:bodyPr>
              <a:lstStyle/>
              <a:p>
                <a:pPr algn="ctr"/>
                <a:r>
                  <a:rPr lang="zh-CN" altLang="en-US" sz="1400" b="1" dirty="0">
                    <a:latin typeface="Times New Roman" panose="02020603050405020304" pitchFamily="18" charset="0"/>
                    <a:ea typeface="微软雅黑" panose="020B0503020204020204" pitchFamily="34" charset="-122"/>
                  </a:rPr>
                  <a:t>叶子结点</a:t>
                </a:r>
                <a:endParaRPr lang="zh-CN" altLang="en-US" sz="1400" b="1" dirty="0">
                  <a:latin typeface="Times New Roman" panose="02020603050405020304" pitchFamily="18" charset="0"/>
                  <a:ea typeface="微软雅黑" panose="020B0503020204020204" pitchFamily="34" charset="-122"/>
                </a:endParaRPr>
              </a:p>
            </p:txBody>
          </p:sp>
          <p:sp>
            <p:nvSpPr>
              <p:cNvPr id="55" name="Text Box 111"/>
              <p:cNvSpPr txBox="1"/>
              <p:nvPr/>
            </p:nvSpPr>
            <p:spPr>
              <a:xfrm>
                <a:off x="4943" y="2408"/>
                <a:ext cx="701" cy="227"/>
              </a:xfrm>
              <a:prstGeom prst="rect">
                <a:avLst/>
              </a:prstGeom>
              <a:noFill/>
              <a:ln w="9525">
                <a:noFill/>
              </a:ln>
            </p:spPr>
            <p:txBody>
              <a:bodyPr wrap="none" anchor="t">
                <a:spAutoFit/>
              </a:bodyPr>
              <a:lstStyle/>
              <a:p>
                <a:pPr algn="ctr"/>
                <a:r>
                  <a:rPr lang="zh-CN" altLang="en-US" sz="1400" b="1" dirty="0">
                    <a:latin typeface="Times New Roman" panose="02020603050405020304" pitchFamily="18" charset="0"/>
                    <a:ea typeface="微软雅黑" panose="020B0503020204020204" pitchFamily="34" charset="-122"/>
                  </a:rPr>
                  <a:t>非叶结点</a:t>
                </a:r>
                <a:endParaRPr lang="zh-CN" altLang="en-US" sz="1400" b="1" dirty="0">
                  <a:latin typeface="Times New Roman" panose="02020603050405020304" pitchFamily="18" charset="0"/>
                  <a:ea typeface="微软雅黑" panose="020B0503020204020204" pitchFamily="34" charset="-122"/>
                </a:endParaRPr>
              </a:p>
            </p:txBody>
          </p:sp>
          <p:sp>
            <p:nvSpPr>
              <p:cNvPr id="182" name="Line 112"/>
              <p:cNvSpPr/>
              <p:nvPr/>
            </p:nvSpPr>
            <p:spPr>
              <a:xfrm>
                <a:off x="202" y="3274"/>
                <a:ext cx="0" cy="230"/>
              </a:xfrm>
              <a:prstGeom prst="line">
                <a:avLst/>
              </a:prstGeom>
              <a:ln w="9525" cap="flat" cmpd="sng">
                <a:solidFill>
                  <a:srgbClr val="FF0066"/>
                </a:solidFill>
                <a:prstDash val="solid"/>
                <a:round/>
                <a:headEnd type="none" w="med" len="med"/>
                <a:tailEnd type="triangle" w="med" len="med"/>
              </a:ln>
            </p:spPr>
          </p:sp>
          <p:sp>
            <p:nvSpPr>
              <p:cNvPr id="183" name="Line 113"/>
              <p:cNvSpPr/>
              <p:nvPr/>
            </p:nvSpPr>
            <p:spPr>
              <a:xfrm>
                <a:off x="378" y="3274"/>
                <a:ext cx="0" cy="230"/>
              </a:xfrm>
              <a:prstGeom prst="line">
                <a:avLst/>
              </a:prstGeom>
              <a:ln w="9525" cap="flat" cmpd="sng">
                <a:solidFill>
                  <a:srgbClr val="FF0066"/>
                </a:solidFill>
                <a:prstDash val="solid"/>
                <a:round/>
                <a:headEnd type="none" w="med" len="med"/>
                <a:tailEnd type="triangle" w="med" len="med"/>
              </a:ln>
            </p:spPr>
          </p:sp>
          <p:sp>
            <p:nvSpPr>
              <p:cNvPr id="184" name="Line 114"/>
              <p:cNvSpPr/>
              <p:nvPr/>
            </p:nvSpPr>
            <p:spPr>
              <a:xfrm>
                <a:off x="578" y="3274"/>
                <a:ext cx="0" cy="230"/>
              </a:xfrm>
              <a:prstGeom prst="line">
                <a:avLst/>
              </a:prstGeom>
              <a:ln w="9525" cap="flat" cmpd="sng">
                <a:solidFill>
                  <a:srgbClr val="FF0066"/>
                </a:solidFill>
                <a:prstDash val="solid"/>
                <a:round/>
                <a:headEnd type="none" w="med" len="med"/>
                <a:tailEnd type="triangle" w="med" len="med"/>
              </a:ln>
            </p:spPr>
          </p:sp>
          <p:sp>
            <p:nvSpPr>
              <p:cNvPr id="185" name="Line 115"/>
              <p:cNvSpPr/>
              <p:nvPr/>
            </p:nvSpPr>
            <p:spPr>
              <a:xfrm>
                <a:off x="803" y="3257"/>
                <a:ext cx="238" cy="0"/>
              </a:xfrm>
              <a:prstGeom prst="line">
                <a:avLst/>
              </a:prstGeom>
              <a:ln w="9525" cap="flat" cmpd="sng">
                <a:solidFill>
                  <a:srgbClr val="FF0066"/>
                </a:solidFill>
                <a:prstDash val="solid"/>
                <a:round/>
                <a:headEnd type="none" w="med" len="med"/>
                <a:tailEnd type="triangle" w="med" len="med"/>
              </a:ln>
            </p:spPr>
          </p:sp>
          <p:sp>
            <p:nvSpPr>
              <p:cNvPr id="186" name="Line 116"/>
              <p:cNvSpPr/>
              <p:nvPr/>
            </p:nvSpPr>
            <p:spPr>
              <a:xfrm>
                <a:off x="1130" y="3274"/>
                <a:ext cx="0" cy="230"/>
              </a:xfrm>
              <a:prstGeom prst="line">
                <a:avLst/>
              </a:prstGeom>
              <a:ln w="9525" cap="flat" cmpd="sng">
                <a:solidFill>
                  <a:srgbClr val="FF0066"/>
                </a:solidFill>
                <a:prstDash val="solid"/>
                <a:round/>
                <a:headEnd type="none" w="med" len="med"/>
                <a:tailEnd type="triangle" w="med" len="med"/>
              </a:ln>
            </p:spPr>
          </p:sp>
          <p:sp>
            <p:nvSpPr>
              <p:cNvPr id="187" name="Line 117"/>
              <p:cNvSpPr/>
              <p:nvPr/>
            </p:nvSpPr>
            <p:spPr>
              <a:xfrm>
                <a:off x="1306" y="3274"/>
                <a:ext cx="0" cy="230"/>
              </a:xfrm>
              <a:prstGeom prst="line">
                <a:avLst/>
              </a:prstGeom>
              <a:ln w="9525" cap="flat" cmpd="sng">
                <a:solidFill>
                  <a:srgbClr val="FF0066"/>
                </a:solidFill>
                <a:prstDash val="solid"/>
                <a:round/>
                <a:headEnd type="none" w="med" len="med"/>
                <a:tailEnd type="triangle" w="med" len="med"/>
              </a:ln>
            </p:spPr>
          </p:sp>
          <p:sp>
            <p:nvSpPr>
              <p:cNvPr id="188" name="Line 118"/>
              <p:cNvSpPr/>
              <p:nvPr/>
            </p:nvSpPr>
            <p:spPr>
              <a:xfrm>
                <a:off x="1731" y="3265"/>
                <a:ext cx="238" cy="0"/>
              </a:xfrm>
              <a:prstGeom prst="line">
                <a:avLst/>
              </a:prstGeom>
              <a:ln w="9525" cap="flat" cmpd="sng">
                <a:solidFill>
                  <a:srgbClr val="FF0066"/>
                </a:solidFill>
                <a:prstDash val="solid"/>
                <a:round/>
                <a:headEnd type="none" w="med" len="med"/>
                <a:tailEnd type="triangle" w="med" len="med"/>
              </a:ln>
            </p:spPr>
          </p:sp>
          <p:sp>
            <p:nvSpPr>
              <p:cNvPr id="189" name="Line 119"/>
              <p:cNvSpPr/>
              <p:nvPr/>
            </p:nvSpPr>
            <p:spPr>
              <a:xfrm>
                <a:off x="2074" y="3274"/>
                <a:ext cx="0" cy="230"/>
              </a:xfrm>
              <a:prstGeom prst="line">
                <a:avLst/>
              </a:prstGeom>
              <a:ln w="9525" cap="flat" cmpd="sng">
                <a:solidFill>
                  <a:srgbClr val="FF0066"/>
                </a:solidFill>
                <a:prstDash val="solid"/>
                <a:round/>
                <a:headEnd type="none" w="med" len="med"/>
                <a:tailEnd type="triangle" w="med" len="med"/>
              </a:ln>
            </p:spPr>
          </p:sp>
          <p:sp>
            <p:nvSpPr>
              <p:cNvPr id="190" name="Line 120"/>
              <p:cNvSpPr/>
              <p:nvPr/>
            </p:nvSpPr>
            <p:spPr>
              <a:xfrm>
                <a:off x="2258" y="3274"/>
                <a:ext cx="0" cy="230"/>
              </a:xfrm>
              <a:prstGeom prst="line">
                <a:avLst/>
              </a:prstGeom>
              <a:ln w="9525" cap="flat" cmpd="sng">
                <a:solidFill>
                  <a:srgbClr val="FF0066"/>
                </a:solidFill>
                <a:prstDash val="solid"/>
                <a:round/>
                <a:headEnd type="none" w="med" len="med"/>
                <a:tailEnd type="triangle" w="med" len="med"/>
              </a:ln>
            </p:spPr>
          </p:sp>
          <p:sp>
            <p:nvSpPr>
              <p:cNvPr id="191" name="Line 121"/>
              <p:cNvSpPr/>
              <p:nvPr/>
            </p:nvSpPr>
            <p:spPr>
              <a:xfrm>
                <a:off x="2450" y="3274"/>
                <a:ext cx="0" cy="230"/>
              </a:xfrm>
              <a:prstGeom prst="line">
                <a:avLst/>
              </a:prstGeom>
              <a:ln w="9525" cap="flat" cmpd="sng">
                <a:solidFill>
                  <a:srgbClr val="FF0066"/>
                </a:solidFill>
                <a:prstDash val="solid"/>
                <a:round/>
                <a:headEnd type="none" w="med" len="med"/>
                <a:tailEnd type="triangle" w="med" len="med"/>
              </a:ln>
            </p:spPr>
          </p:sp>
          <p:sp>
            <p:nvSpPr>
              <p:cNvPr id="192" name="Line 122"/>
              <p:cNvSpPr/>
              <p:nvPr/>
            </p:nvSpPr>
            <p:spPr>
              <a:xfrm>
                <a:off x="2675" y="3265"/>
                <a:ext cx="238" cy="0"/>
              </a:xfrm>
              <a:prstGeom prst="line">
                <a:avLst/>
              </a:prstGeom>
              <a:ln w="9525" cap="flat" cmpd="sng">
                <a:solidFill>
                  <a:srgbClr val="FF0066"/>
                </a:solidFill>
                <a:prstDash val="solid"/>
                <a:round/>
                <a:headEnd type="none" w="med" len="med"/>
                <a:tailEnd type="triangle" w="med" len="med"/>
              </a:ln>
            </p:spPr>
          </p:sp>
          <p:sp>
            <p:nvSpPr>
              <p:cNvPr id="193" name="Line 123"/>
              <p:cNvSpPr/>
              <p:nvPr/>
            </p:nvSpPr>
            <p:spPr>
              <a:xfrm>
                <a:off x="3002" y="3274"/>
                <a:ext cx="0" cy="230"/>
              </a:xfrm>
              <a:prstGeom prst="line">
                <a:avLst/>
              </a:prstGeom>
              <a:ln w="9525" cap="flat" cmpd="sng">
                <a:solidFill>
                  <a:srgbClr val="FF0066"/>
                </a:solidFill>
                <a:prstDash val="solid"/>
                <a:round/>
                <a:headEnd type="none" w="med" len="med"/>
                <a:tailEnd type="triangle" w="med" len="med"/>
              </a:ln>
            </p:spPr>
          </p:sp>
          <p:sp>
            <p:nvSpPr>
              <p:cNvPr id="194" name="Line 124"/>
              <p:cNvSpPr/>
              <p:nvPr/>
            </p:nvSpPr>
            <p:spPr>
              <a:xfrm>
                <a:off x="3178" y="3274"/>
                <a:ext cx="0" cy="230"/>
              </a:xfrm>
              <a:prstGeom prst="line">
                <a:avLst/>
              </a:prstGeom>
              <a:ln w="9525" cap="flat" cmpd="sng">
                <a:solidFill>
                  <a:srgbClr val="FF0066"/>
                </a:solidFill>
                <a:prstDash val="solid"/>
                <a:round/>
                <a:headEnd type="none" w="med" len="med"/>
                <a:tailEnd type="triangle" w="med" len="med"/>
              </a:ln>
            </p:spPr>
          </p:sp>
          <p:sp>
            <p:nvSpPr>
              <p:cNvPr id="195" name="Line 125"/>
              <p:cNvSpPr/>
              <p:nvPr/>
            </p:nvSpPr>
            <p:spPr>
              <a:xfrm>
                <a:off x="3603" y="3265"/>
                <a:ext cx="238" cy="0"/>
              </a:xfrm>
              <a:prstGeom prst="line">
                <a:avLst/>
              </a:prstGeom>
              <a:ln w="9525" cap="flat" cmpd="sng">
                <a:solidFill>
                  <a:srgbClr val="FF0066"/>
                </a:solidFill>
                <a:prstDash val="solid"/>
                <a:round/>
                <a:headEnd type="none" w="med" len="med"/>
                <a:tailEnd type="triangle" w="med" len="med"/>
              </a:ln>
            </p:spPr>
          </p:sp>
          <p:sp>
            <p:nvSpPr>
              <p:cNvPr id="196" name="Line 126"/>
              <p:cNvSpPr/>
              <p:nvPr/>
            </p:nvSpPr>
            <p:spPr>
              <a:xfrm>
                <a:off x="3954" y="3274"/>
                <a:ext cx="0" cy="230"/>
              </a:xfrm>
              <a:prstGeom prst="line">
                <a:avLst/>
              </a:prstGeom>
              <a:ln w="9525" cap="flat" cmpd="sng">
                <a:solidFill>
                  <a:srgbClr val="FF0066"/>
                </a:solidFill>
                <a:prstDash val="solid"/>
                <a:round/>
                <a:headEnd type="none" w="med" len="med"/>
                <a:tailEnd type="triangle" w="med" len="med"/>
              </a:ln>
            </p:spPr>
          </p:sp>
          <p:sp>
            <p:nvSpPr>
              <p:cNvPr id="197" name="Line 127"/>
              <p:cNvSpPr/>
              <p:nvPr/>
            </p:nvSpPr>
            <p:spPr>
              <a:xfrm>
                <a:off x="4130" y="3274"/>
                <a:ext cx="0" cy="230"/>
              </a:xfrm>
              <a:prstGeom prst="line">
                <a:avLst/>
              </a:prstGeom>
              <a:ln w="9525" cap="flat" cmpd="sng">
                <a:solidFill>
                  <a:srgbClr val="FF0066"/>
                </a:solidFill>
                <a:prstDash val="solid"/>
                <a:round/>
                <a:headEnd type="none" w="med" len="med"/>
                <a:tailEnd type="triangle" w="med" len="med"/>
              </a:ln>
            </p:spPr>
          </p:sp>
          <p:sp>
            <p:nvSpPr>
              <p:cNvPr id="198" name="Line 128"/>
              <p:cNvSpPr/>
              <p:nvPr/>
            </p:nvSpPr>
            <p:spPr>
              <a:xfrm>
                <a:off x="4330" y="3274"/>
                <a:ext cx="0" cy="230"/>
              </a:xfrm>
              <a:prstGeom prst="line">
                <a:avLst/>
              </a:prstGeom>
              <a:ln w="9525" cap="flat" cmpd="sng">
                <a:solidFill>
                  <a:srgbClr val="FF0066"/>
                </a:solidFill>
                <a:prstDash val="solid"/>
                <a:round/>
                <a:headEnd type="none" w="med" len="med"/>
                <a:tailEnd type="triangle" w="med" len="med"/>
              </a:ln>
            </p:spPr>
          </p:sp>
          <p:sp>
            <p:nvSpPr>
              <p:cNvPr id="199" name="Line 129"/>
              <p:cNvSpPr/>
              <p:nvPr/>
            </p:nvSpPr>
            <p:spPr>
              <a:xfrm>
                <a:off x="4555" y="3265"/>
                <a:ext cx="238" cy="0"/>
              </a:xfrm>
              <a:prstGeom prst="line">
                <a:avLst/>
              </a:prstGeom>
              <a:ln w="9525" cap="flat" cmpd="sng">
                <a:solidFill>
                  <a:srgbClr val="FF0066"/>
                </a:solidFill>
                <a:prstDash val="solid"/>
                <a:round/>
                <a:headEnd type="none" w="med" len="med"/>
                <a:tailEnd type="triangle" w="med" len="med"/>
              </a:ln>
            </p:spPr>
          </p:sp>
          <p:sp>
            <p:nvSpPr>
              <p:cNvPr id="200" name="Line 130"/>
              <p:cNvSpPr/>
              <p:nvPr/>
            </p:nvSpPr>
            <p:spPr>
              <a:xfrm>
                <a:off x="4882" y="3266"/>
                <a:ext cx="0" cy="230"/>
              </a:xfrm>
              <a:prstGeom prst="line">
                <a:avLst/>
              </a:prstGeom>
              <a:ln w="9525" cap="flat" cmpd="sng">
                <a:solidFill>
                  <a:srgbClr val="FF0066"/>
                </a:solidFill>
                <a:prstDash val="solid"/>
                <a:round/>
                <a:headEnd type="none" w="med" len="med"/>
                <a:tailEnd type="triangle" w="med" len="med"/>
              </a:ln>
            </p:spPr>
          </p:sp>
          <p:sp>
            <p:nvSpPr>
              <p:cNvPr id="201" name="Line 131"/>
              <p:cNvSpPr/>
              <p:nvPr/>
            </p:nvSpPr>
            <p:spPr>
              <a:xfrm>
                <a:off x="5058" y="3266"/>
                <a:ext cx="0" cy="230"/>
              </a:xfrm>
              <a:prstGeom prst="line">
                <a:avLst/>
              </a:prstGeom>
              <a:ln w="9525" cap="flat" cmpd="sng">
                <a:solidFill>
                  <a:srgbClr val="FF0066"/>
                </a:solidFill>
                <a:prstDash val="solid"/>
                <a:round/>
                <a:headEnd type="none" w="med" len="med"/>
                <a:tailEnd type="triangle" w="med" len="med"/>
              </a:ln>
            </p:spPr>
          </p:sp>
        </p:grpSp>
        <p:sp>
          <p:nvSpPr>
            <p:cNvPr id="13" name="Text Box 132"/>
            <p:cNvSpPr txBox="1"/>
            <p:nvPr/>
          </p:nvSpPr>
          <p:spPr>
            <a:xfrm>
              <a:off x="131" y="1163"/>
              <a:ext cx="1368" cy="250"/>
            </a:xfrm>
            <a:prstGeom prst="rect">
              <a:avLst/>
            </a:prstGeom>
            <a:noFill/>
            <a:ln w="9525">
              <a:noFill/>
            </a:ln>
          </p:spPr>
          <p:txBody>
            <a:bodyPr wrap="none" anchor="t">
              <a:spAutoFit/>
            </a:bodyPr>
            <a:lstStyle/>
            <a:p>
              <a:pPr algn="ctr"/>
              <a:r>
                <a:rPr lang="en-US" altLang="zh-CN" dirty="0">
                  <a:latin typeface="Arial" panose="020B0604020202020204" pitchFamily="34" charset="0"/>
                  <a:ea typeface="楷体_GB2312" pitchFamily="49" charset="-122"/>
                </a:rPr>
                <a:t>B+Tree(n=3)</a:t>
              </a:r>
              <a:r>
                <a:rPr lang="zh-CN" altLang="en-US" dirty="0">
                  <a:latin typeface="Arial" panose="020B0604020202020204" pitchFamily="34" charset="0"/>
                  <a:ea typeface="楷体_GB2312" pitchFamily="49" charset="-122"/>
                </a:rPr>
                <a:t>示例</a:t>
              </a:r>
              <a:endParaRPr lang="zh-CN" altLang="en-US" dirty="0">
                <a:latin typeface="Arial" panose="020B0604020202020204" pitchFamily="34" charset="0"/>
                <a:ea typeface="楷体_GB2312" pitchFamily="49" charset="-122"/>
              </a:endParaRPr>
            </a:p>
          </p:txBody>
        </p:sp>
      </p:grpSp>
      <p:grpSp>
        <p:nvGrpSpPr>
          <p:cNvPr id="267" name="Group 141"/>
          <p:cNvGrpSpPr/>
          <p:nvPr/>
        </p:nvGrpSpPr>
        <p:grpSpPr>
          <a:xfrm>
            <a:off x="5569106" y="2781897"/>
            <a:ext cx="1298575" cy="1046162"/>
            <a:chOff x="3368" y="3555"/>
            <a:chExt cx="836" cy="705"/>
          </a:xfrm>
        </p:grpSpPr>
        <p:sp>
          <p:nvSpPr>
            <p:cNvPr id="268"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32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69" name="Oval 40"/>
            <p:cNvSpPr/>
            <p:nvPr/>
          </p:nvSpPr>
          <p:spPr>
            <a:xfrm>
              <a:off x="3437" y="3613"/>
              <a:ext cx="698" cy="588"/>
            </a:xfrm>
            <a:prstGeom prst="ellipse">
              <a:avLst/>
            </a:prstGeom>
            <a:solidFill>
              <a:srgbClr val="006600"/>
            </a:solidFill>
            <a:ln w="28575" cap="flat" cmpd="sng">
              <a:solidFill>
                <a:srgbClr val="FFFFFF"/>
              </a:solidFill>
              <a:prstDash val="solid"/>
              <a:round/>
              <a:headEnd type="none" w="med" len="med"/>
              <a:tailEnd type="none" w="med" len="med"/>
            </a:ln>
          </p:spPr>
          <p:txBody>
            <a:bodyPr wrap="none" anchor="ctr"/>
            <a:lstStyle/>
            <a:p>
              <a:pPr algn="ctr"/>
              <a:endParaRPr lang="zh-CN" altLang="zh-CN" sz="3200" dirty="0">
                <a:solidFill>
                  <a:srgbClr val="000000"/>
                </a:solidFill>
                <a:latin typeface="微软雅黑" panose="020B0503020204020204" pitchFamily="34" charset="-122"/>
                <a:ea typeface="微软雅黑" panose="020B0503020204020204" pitchFamily="34" charset="-122"/>
              </a:endParaRPr>
            </a:p>
          </p:txBody>
        </p:sp>
        <p:sp>
          <p:nvSpPr>
            <p:cNvPr id="270" name="Text Box 84"/>
            <p:cNvSpPr txBox="1"/>
            <p:nvPr/>
          </p:nvSpPr>
          <p:spPr>
            <a:xfrm>
              <a:off x="3440" y="3686"/>
              <a:ext cx="692" cy="390"/>
            </a:xfrm>
            <a:prstGeom prst="rect">
              <a:avLst/>
            </a:prstGeom>
            <a:noFill/>
            <a:ln w="9525">
              <a:noFill/>
            </a:ln>
          </p:spPr>
          <p:txBody>
            <a:bodyPr anchor="t">
              <a:spAutoFit/>
            </a:bodyPr>
            <a:lstStyle/>
            <a:p>
              <a:pPr algn="ctr">
                <a:spcBef>
                  <a:spcPct val="35000"/>
                </a:spcBef>
              </a:pPr>
              <a:r>
                <a:rPr lang="zh-CN" altLang="en-US" sz="3200" dirty="0">
                  <a:solidFill>
                    <a:srgbClr val="FFFFFF"/>
                  </a:solidFill>
                  <a:latin typeface="微软雅黑" panose="020B0503020204020204" pitchFamily="34" charset="-122"/>
                  <a:ea typeface="微软雅黑" panose="020B0503020204020204" pitchFamily="34" charset="-122"/>
                </a:rPr>
                <a:t>分裂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grpSp>
      <p:grpSp>
        <p:nvGrpSpPr>
          <p:cNvPr id="271" name="Group 145"/>
          <p:cNvGrpSpPr/>
          <p:nvPr/>
        </p:nvGrpSpPr>
        <p:grpSpPr>
          <a:xfrm>
            <a:off x="6793069" y="2767609"/>
            <a:ext cx="1298575" cy="1046163"/>
            <a:chOff x="3368" y="3555"/>
            <a:chExt cx="836" cy="705"/>
          </a:xfrm>
        </p:grpSpPr>
        <p:sp>
          <p:nvSpPr>
            <p:cNvPr id="272"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32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73" name="Oval 40"/>
            <p:cNvSpPr/>
            <p:nvPr/>
          </p:nvSpPr>
          <p:spPr>
            <a:xfrm>
              <a:off x="3437" y="3613"/>
              <a:ext cx="698" cy="588"/>
            </a:xfrm>
            <a:prstGeom prst="ellipse">
              <a:avLst/>
            </a:prstGeom>
            <a:solidFill>
              <a:srgbClr val="006600"/>
            </a:solidFill>
            <a:ln w="28575" cap="flat" cmpd="sng">
              <a:solidFill>
                <a:srgbClr val="FFFFFF"/>
              </a:solidFill>
              <a:prstDash val="solid"/>
              <a:round/>
              <a:headEnd type="none" w="med" len="med"/>
              <a:tailEnd type="none" w="med" len="med"/>
            </a:ln>
          </p:spPr>
          <p:txBody>
            <a:bodyPr wrap="none" anchor="ctr"/>
            <a:lstStyle/>
            <a:p>
              <a:pPr algn="ctr"/>
              <a:endParaRPr lang="zh-CN" altLang="zh-CN" sz="3200" dirty="0">
                <a:solidFill>
                  <a:srgbClr val="000000"/>
                </a:solidFill>
                <a:latin typeface="微软雅黑" panose="020B0503020204020204" pitchFamily="34" charset="-122"/>
                <a:ea typeface="微软雅黑" panose="020B0503020204020204" pitchFamily="34" charset="-122"/>
              </a:endParaRPr>
            </a:p>
          </p:txBody>
        </p:sp>
        <p:sp>
          <p:nvSpPr>
            <p:cNvPr id="274" name="Text Box 84"/>
            <p:cNvSpPr txBox="1"/>
            <p:nvPr/>
          </p:nvSpPr>
          <p:spPr>
            <a:xfrm>
              <a:off x="3440" y="3686"/>
              <a:ext cx="692" cy="390"/>
            </a:xfrm>
            <a:prstGeom prst="rect">
              <a:avLst/>
            </a:prstGeom>
            <a:noFill/>
            <a:ln w="9525">
              <a:noFill/>
            </a:ln>
          </p:spPr>
          <p:txBody>
            <a:bodyPr anchor="t">
              <a:spAutoFit/>
            </a:bodyPr>
            <a:lstStyle/>
            <a:p>
              <a:pPr algn="ctr">
                <a:spcBef>
                  <a:spcPct val="35000"/>
                </a:spcBef>
              </a:pPr>
              <a:r>
                <a:rPr lang="zh-CN" altLang="en-US" sz="3200" dirty="0">
                  <a:solidFill>
                    <a:srgbClr val="FFFFFF"/>
                  </a:solidFill>
                  <a:latin typeface="微软雅黑" panose="020B0503020204020204" pitchFamily="34" charset="-122"/>
                  <a:ea typeface="微软雅黑" panose="020B0503020204020204" pitchFamily="34" charset="-122"/>
                </a:rPr>
                <a:t>合并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grpSp>
      <p:grpSp>
        <p:nvGrpSpPr>
          <p:cNvPr id="275" name="Group 133"/>
          <p:cNvGrpSpPr/>
          <p:nvPr/>
        </p:nvGrpSpPr>
        <p:grpSpPr>
          <a:xfrm>
            <a:off x="8616766" y="3273318"/>
            <a:ext cx="2908300" cy="1497012"/>
            <a:chOff x="1265" y="3268"/>
            <a:chExt cx="1155" cy="629"/>
          </a:xfrm>
        </p:grpSpPr>
        <p:sp>
          <p:nvSpPr>
            <p:cNvPr id="276"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277"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278" name="Text Box 84"/>
            <p:cNvSpPr/>
            <p:nvPr/>
          </p:nvSpPr>
          <p:spPr>
            <a:xfrm>
              <a:off x="1267" y="3297"/>
              <a:ext cx="1153" cy="595"/>
            </a:xfrm>
            <a:prstGeom prst="roundRect">
              <a:avLst>
                <a:gd name="adj" fmla="val 16667"/>
              </a:avLst>
            </a:prstGeom>
            <a:noFill/>
            <a:ln w="9525">
              <a:noFill/>
            </a:ln>
          </p:spPr>
          <p:txBody>
            <a:bodyPr anchor="t">
              <a:spAutoFit/>
            </a:bodyPr>
            <a:lstStyle/>
            <a:p>
              <a:pPr>
                <a:spcBef>
                  <a:spcPct val="35000"/>
                </a:spcBef>
                <a:buChar char="•"/>
              </a:pPr>
              <a:r>
                <a:rPr lang="zh-CN" altLang="en-US" sz="1800" dirty="0">
                  <a:solidFill>
                    <a:schemeClr val="accent2"/>
                  </a:solidFill>
                  <a:latin typeface="Arial" panose="020B0604020202020204" pitchFamily="34" charset="0"/>
                  <a:ea typeface="微软雅黑" panose="020B0503020204020204" pitchFamily="34" charset="-122"/>
                </a:rPr>
                <a:t>能够自动保持与主文件大小相适应的树的层次</a:t>
              </a:r>
              <a:endParaRPr lang="zh-CN" altLang="en-US" sz="1800" dirty="0">
                <a:solidFill>
                  <a:schemeClr val="accent2"/>
                </a:solidFill>
                <a:latin typeface="Arial" panose="020B0604020202020204" pitchFamily="34" charset="0"/>
                <a:ea typeface="微软雅黑" panose="020B0503020204020204" pitchFamily="34" charset="-122"/>
              </a:endParaRPr>
            </a:p>
            <a:p>
              <a:pPr>
                <a:spcBef>
                  <a:spcPct val="35000"/>
                </a:spcBef>
                <a:buChar char="•"/>
              </a:pPr>
              <a:r>
                <a:rPr lang="zh-CN" altLang="en-US" sz="1800" dirty="0">
                  <a:solidFill>
                    <a:schemeClr val="accent2"/>
                  </a:solidFill>
                  <a:latin typeface="Arial" panose="020B0604020202020204" pitchFamily="34" charset="0"/>
                  <a:ea typeface="微软雅黑" panose="020B0503020204020204" pitchFamily="34" charset="-122"/>
                </a:rPr>
                <a:t>每个索引块的指针利用率都在</a:t>
              </a:r>
              <a:r>
                <a:rPr lang="en-US" altLang="zh-CN" sz="1800" dirty="0">
                  <a:solidFill>
                    <a:schemeClr val="accent2"/>
                  </a:solidFill>
                  <a:latin typeface="Arial" panose="020B0604020202020204" pitchFamily="34" charset="0"/>
                  <a:ea typeface="微软雅黑" panose="020B0503020204020204" pitchFamily="34" charset="-122"/>
                </a:rPr>
                <a:t>50%-100%</a:t>
              </a:r>
              <a:r>
                <a:rPr lang="zh-CN" altLang="en-US" sz="1800" dirty="0">
                  <a:solidFill>
                    <a:schemeClr val="accent2"/>
                  </a:solidFill>
                  <a:latin typeface="Arial" panose="020B0604020202020204" pitchFamily="34" charset="0"/>
                  <a:ea typeface="微软雅黑" panose="020B0503020204020204" pitchFamily="34" charset="-122"/>
                </a:rPr>
                <a:t>之间</a:t>
              </a:r>
              <a:endParaRPr lang="zh-CN" altLang="en-US" sz="1800" dirty="0">
                <a:solidFill>
                  <a:schemeClr val="accent2"/>
                </a:solidFill>
                <a:latin typeface="Arial" panose="020B0604020202020204" pitchFamily="34" charset="0"/>
                <a:ea typeface="微软雅黑" panose="020B0503020204020204" pitchFamily="34" charset="-122"/>
              </a:endParaRPr>
            </a:p>
          </p:txBody>
        </p:sp>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67"/>
                                        </p:tgtEl>
                                        <p:attrNameLst>
                                          <p:attrName>style.visibility</p:attrName>
                                        </p:attrNameLst>
                                      </p:cBhvr>
                                      <p:to>
                                        <p:strVal val="visible"/>
                                      </p:to>
                                    </p:set>
                                    <p:anim calcmode="lin" valueType="num">
                                      <p:cBhvr additive="base">
                                        <p:cTn id="7" dur="500" fill="hold"/>
                                        <p:tgtEl>
                                          <p:spTgt spid="267"/>
                                        </p:tgtEl>
                                        <p:attrNameLst>
                                          <p:attrName>ppt_x</p:attrName>
                                        </p:attrNameLst>
                                      </p:cBhvr>
                                      <p:tavLst>
                                        <p:tav tm="0">
                                          <p:val>
                                            <p:strVal val="#ppt_x"/>
                                          </p:val>
                                        </p:tav>
                                        <p:tav tm="100000">
                                          <p:val>
                                            <p:strVal val="#ppt_x"/>
                                          </p:val>
                                        </p:tav>
                                      </p:tavLst>
                                    </p:anim>
                                    <p:anim calcmode="lin" valueType="num">
                                      <p:cBhvr additive="base">
                                        <p:cTn id="8" dur="500" fill="hold"/>
                                        <p:tgtEl>
                                          <p:spTgt spid="26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1"/>
                                        </p:tgtEl>
                                        <p:attrNameLst>
                                          <p:attrName>style.visibility</p:attrName>
                                        </p:attrNameLst>
                                      </p:cBhvr>
                                      <p:to>
                                        <p:strVal val="visible"/>
                                      </p:to>
                                    </p:set>
                                    <p:anim calcmode="lin" valueType="num">
                                      <p:cBhvr additive="base">
                                        <p:cTn id="11" dur="500" fill="hold"/>
                                        <p:tgtEl>
                                          <p:spTgt spid="271"/>
                                        </p:tgtEl>
                                        <p:attrNameLst>
                                          <p:attrName>ppt_x</p:attrName>
                                        </p:attrNameLst>
                                      </p:cBhvr>
                                      <p:tavLst>
                                        <p:tav tm="0">
                                          <p:val>
                                            <p:strVal val="#ppt_x"/>
                                          </p:val>
                                        </p:tav>
                                        <p:tav tm="100000">
                                          <p:val>
                                            <p:strVal val="#ppt_x"/>
                                          </p:val>
                                        </p:tav>
                                      </p:tavLst>
                                    </p:anim>
                                    <p:anim calcmode="lin" valueType="num">
                                      <p:cBhvr additive="base">
                                        <p:cTn id="12" dur="500" fill="hold"/>
                                        <p:tgtEl>
                                          <p:spTgt spid="27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75"/>
                                        </p:tgtEl>
                                        <p:attrNameLst>
                                          <p:attrName>style.visibility</p:attrName>
                                        </p:attrNameLst>
                                      </p:cBhvr>
                                      <p:to>
                                        <p:strVal val="visible"/>
                                      </p:to>
                                    </p:set>
                                    <p:anim calcmode="lin" valueType="num">
                                      <p:cBhvr additive="base">
                                        <p:cTn id="17" dur="500" fill="hold"/>
                                        <p:tgtEl>
                                          <p:spTgt spid="275"/>
                                        </p:tgtEl>
                                        <p:attrNameLst>
                                          <p:attrName>ppt_x</p:attrName>
                                        </p:attrNameLst>
                                      </p:cBhvr>
                                      <p:tavLst>
                                        <p:tav tm="0">
                                          <p:val>
                                            <p:strVal val="#ppt_x"/>
                                          </p:val>
                                        </p:tav>
                                        <p:tav tm="100000">
                                          <p:val>
                                            <p:strVal val="#ppt_x"/>
                                          </p:val>
                                        </p:tav>
                                      </p:tavLst>
                                    </p:anim>
                                    <p:anim calcmode="lin" valueType="num">
                                      <p:cBhvr additive="base">
                                        <p:cTn id="18" dur="500" fill="hold"/>
                                        <p:tgtEl>
                                          <p:spTgt spid="2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用</a:t>
            </a:r>
            <a:r>
              <a:rPr lang="en-US" altLang="zh-CN" sz="2600" dirty="0">
                <a:latin typeface="微软雅黑" panose="020B0503020204020204" pitchFamily="34" charset="-122"/>
                <a:ea typeface="微软雅黑" panose="020B0503020204020204" pitchFamily="34" charset="-122"/>
              </a:rPr>
              <a:t>B+</a:t>
            </a:r>
            <a:r>
              <a:rPr lang="zh-CN" altLang="en-US" sz="2600" dirty="0">
                <a:latin typeface="微软雅黑" panose="020B0503020204020204" pitchFamily="34" charset="-122"/>
                <a:ea typeface="微软雅黑" panose="020B0503020204020204" pitchFamily="34" charset="-122"/>
              </a:rPr>
              <a:t>树建立不同的索引</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en-US" altLang="zh-CN" sz="2000" b="0" dirty="0"/>
              <a:t>I. </a:t>
            </a:r>
            <a:r>
              <a:rPr lang="zh-CN" altLang="en-US" sz="2000" b="0" dirty="0"/>
              <a:t>用</a:t>
            </a:r>
            <a:r>
              <a:rPr lang="en-US" altLang="zh-CN" sz="2000" b="0" dirty="0"/>
              <a:t>B+</a:t>
            </a:r>
            <a:r>
              <a:rPr lang="zh-CN" altLang="en-US" sz="2000" b="0" dirty="0"/>
              <a:t>树建立键属性稠密索引</a:t>
            </a:r>
            <a:endParaRPr lang="en-US" altLang="zh-CN" sz="2000" b="0" dirty="0"/>
          </a:p>
          <a:p>
            <a:pPr>
              <a:lnSpc>
                <a:spcPct val="100000"/>
              </a:lnSpc>
              <a:buFont typeface="Wingdings" panose="05000000000000000000" pitchFamily="2" charset="2"/>
              <a:buChar char="l"/>
            </a:pPr>
            <a:r>
              <a:rPr lang="zh-CN" altLang="en-US" sz="1800" b="0" dirty="0"/>
              <a:t>索引字段是主文件的主键，索引是稠密的。主文件可以按主键排序，也可以不按主键排序。指针指向的是记录。</a:t>
            </a:r>
            <a:endParaRPr lang="zh-CN" altLang="en-US" sz="2200" b="0" dirty="0"/>
          </a:p>
          <a:p>
            <a:pPr marL="0" indent="0">
              <a:lnSpc>
                <a:spcPct val="100000"/>
              </a:lnSpc>
              <a:buNone/>
            </a:pPr>
            <a:endParaRPr lang="zh-CN" altLang="en-US" sz="22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2" name="Rectangle 331"/>
          <p:cNvSpPr/>
          <p:nvPr/>
        </p:nvSpPr>
        <p:spPr>
          <a:xfrm>
            <a:off x="1778000" y="5121275"/>
            <a:ext cx="8343900" cy="1541462"/>
          </a:xfrm>
          <a:prstGeom prst="rect">
            <a:avLst/>
          </a:prstGeom>
          <a:solidFill>
            <a:schemeClr val="bg1"/>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4" name="Rectangle 319"/>
          <p:cNvSpPr/>
          <p:nvPr/>
        </p:nvSpPr>
        <p:spPr>
          <a:xfrm>
            <a:off x="2309813" y="5319713"/>
            <a:ext cx="2020887" cy="1168400"/>
          </a:xfrm>
          <a:prstGeom prst="rect">
            <a:avLst/>
          </a:prstGeom>
          <a:solidFill>
            <a:srgbClr val="DDDDDD"/>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7" name="Rectangle 320"/>
          <p:cNvSpPr/>
          <p:nvPr/>
        </p:nvSpPr>
        <p:spPr>
          <a:xfrm>
            <a:off x="4895850" y="5318125"/>
            <a:ext cx="1957383" cy="1168400"/>
          </a:xfrm>
          <a:prstGeom prst="rect">
            <a:avLst/>
          </a:prstGeom>
          <a:solidFill>
            <a:srgbClr val="DDDDDD"/>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8" name="Rectangle 321"/>
          <p:cNvSpPr/>
          <p:nvPr/>
        </p:nvSpPr>
        <p:spPr>
          <a:xfrm>
            <a:off x="7483475" y="5318125"/>
            <a:ext cx="1890713" cy="1168400"/>
          </a:xfrm>
          <a:prstGeom prst="rect">
            <a:avLst/>
          </a:prstGeom>
          <a:solidFill>
            <a:srgbClr val="DDDDDD"/>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9" name="Text Box 322"/>
          <p:cNvSpPr txBox="1"/>
          <p:nvPr/>
        </p:nvSpPr>
        <p:spPr>
          <a:xfrm>
            <a:off x="2401888" y="5407025"/>
            <a:ext cx="1709737" cy="366713"/>
          </a:xfrm>
          <a:prstGeom prst="rect">
            <a:avLst/>
          </a:prstGeom>
          <a:noFill/>
          <a:ln w="9525">
            <a:noFill/>
          </a:ln>
        </p:spPr>
        <p:txBody>
          <a:bodyPr wrap="squar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键值</a:t>
            </a:r>
            <a:r>
              <a:rPr lang="en-US" altLang="zh-CN" sz="1800" dirty="0">
                <a:latin typeface="微软雅黑" panose="020B0503020204020204" pitchFamily="34" charset="-122"/>
                <a:ea typeface="微软雅黑" panose="020B0503020204020204" pitchFamily="34" charset="-122"/>
              </a:rPr>
              <a:t>57</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10" name="Text Box 323"/>
          <p:cNvSpPr txBox="1"/>
          <p:nvPr/>
        </p:nvSpPr>
        <p:spPr>
          <a:xfrm>
            <a:off x="2411413" y="5953125"/>
            <a:ext cx="1709737" cy="366713"/>
          </a:xfrm>
          <a:prstGeom prst="rect">
            <a:avLst/>
          </a:prstGeom>
          <a:noFill/>
          <a:ln w="9525">
            <a:noFill/>
          </a:ln>
        </p:spPr>
        <p:txBody>
          <a:bodyPr wrap="squar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键值</a:t>
            </a:r>
            <a:r>
              <a:rPr lang="en-US" altLang="zh-CN" sz="1800" dirty="0">
                <a:latin typeface="微软雅黑" panose="020B0503020204020204" pitchFamily="34" charset="-122"/>
                <a:ea typeface="微软雅黑" panose="020B0503020204020204" pitchFamily="34" charset="-122"/>
              </a:rPr>
              <a:t>81</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17" name="Text Box 324"/>
          <p:cNvSpPr txBox="1"/>
          <p:nvPr/>
        </p:nvSpPr>
        <p:spPr>
          <a:xfrm>
            <a:off x="5057775" y="5424488"/>
            <a:ext cx="1851025" cy="366712"/>
          </a:xfrm>
          <a:prstGeom prst="rect">
            <a:avLst/>
          </a:prstGeom>
          <a:noFill/>
          <a:ln w="9525">
            <a:noFill/>
          </a:ln>
        </p:spPr>
        <p:txBody>
          <a:bodyPr wrap="square" anchor="t">
            <a:spAutoFit/>
          </a:bodyPr>
          <a:lstStyle/>
          <a:p>
            <a:pPr>
              <a:buChar char="•"/>
            </a:pPr>
            <a:r>
              <a:rPr lang="zh-CN" altLang="en-US" sz="1800" dirty="0">
                <a:latin typeface="微软雅黑" panose="020B0503020204020204" pitchFamily="34" charset="-122"/>
                <a:ea typeface="微软雅黑" panose="020B0503020204020204" pitchFamily="34" charset="-122"/>
              </a:rPr>
              <a:t>键值</a:t>
            </a:r>
            <a:r>
              <a:rPr lang="en-US" altLang="zh-CN" sz="1800" dirty="0">
                <a:latin typeface="微软雅黑" panose="020B0503020204020204" pitchFamily="34" charset="-122"/>
                <a:ea typeface="微软雅黑" panose="020B0503020204020204" pitchFamily="34" charset="-122"/>
              </a:rPr>
              <a:t>150</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56" name="Text Box 325"/>
          <p:cNvSpPr txBox="1"/>
          <p:nvPr/>
        </p:nvSpPr>
        <p:spPr>
          <a:xfrm>
            <a:off x="5057775" y="5937250"/>
            <a:ext cx="1709738" cy="366713"/>
          </a:xfrm>
          <a:prstGeom prst="rect">
            <a:avLst/>
          </a:prstGeom>
          <a:noFill/>
          <a:ln w="9525">
            <a:noFill/>
          </a:ln>
        </p:spPr>
        <p:txBody>
          <a:bodyPr wrap="squar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键值</a:t>
            </a:r>
            <a:r>
              <a:rPr lang="en-US" altLang="zh-CN" sz="1800" dirty="0">
                <a:latin typeface="微软雅黑" panose="020B0503020204020204" pitchFamily="34" charset="-122"/>
                <a:ea typeface="微软雅黑" panose="020B0503020204020204" pitchFamily="34" charset="-122"/>
              </a:rPr>
              <a:t>95</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57" name="Text Box 326"/>
          <p:cNvSpPr txBox="1"/>
          <p:nvPr/>
        </p:nvSpPr>
        <p:spPr>
          <a:xfrm>
            <a:off x="7523163" y="5429250"/>
            <a:ext cx="1851025" cy="366713"/>
          </a:xfrm>
          <a:prstGeom prst="rect">
            <a:avLst/>
          </a:prstGeom>
          <a:noFill/>
          <a:ln w="9525">
            <a:noFill/>
          </a:ln>
        </p:spPr>
        <p:txBody>
          <a:bodyPr wrap="squar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键值</a:t>
            </a:r>
            <a:r>
              <a:rPr lang="en-US" altLang="zh-CN" sz="1800" dirty="0">
                <a:latin typeface="微软雅黑" panose="020B0503020204020204" pitchFamily="34" charset="-122"/>
                <a:ea typeface="微软雅黑" panose="020B0503020204020204" pitchFamily="34" charset="-122"/>
              </a:rPr>
              <a:t>100</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58" name="Text Box 327"/>
          <p:cNvSpPr txBox="1"/>
          <p:nvPr/>
        </p:nvSpPr>
        <p:spPr>
          <a:xfrm>
            <a:off x="7504113" y="5921375"/>
            <a:ext cx="1851025" cy="366713"/>
          </a:xfrm>
          <a:prstGeom prst="rect">
            <a:avLst/>
          </a:prstGeom>
          <a:noFill/>
          <a:ln w="9525">
            <a:noFill/>
          </a:ln>
        </p:spPr>
        <p:txBody>
          <a:bodyPr wrap="squar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键值</a:t>
            </a:r>
            <a:r>
              <a:rPr lang="en-US" altLang="zh-CN" sz="1800" dirty="0">
                <a:latin typeface="微软雅黑" panose="020B0503020204020204" pitchFamily="34" charset="-122"/>
                <a:ea typeface="微软雅黑" panose="020B0503020204020204" pitchFamily="34" charset="-122"/>
              </a:rPr>
              <a:t>106</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59" name="Rectangle 294"/>
          <p:cNvSpPr/>
          <p:nvPr/>
        </p:nvSpPr>
        <p:spPr>
          <a:xfrm>
            <a:off x="2503488" y="2700338"/>
            <a:ext cx="6864350" cy="2352675"/>
          </a:xfrm>
          <a:prstGeom prst="rect">
            <a:avLst/>
          </a:prstGeom>
          <a:solidFill>
            <a:schemeClr val="bg1"/>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grpSp>
        <p:nvGrpSpPr>
          <p:cNvPr id="60" name="Group 295"/>
          <p:cNvGrpSpPr/>
          <p:nvPr/>
        </p:nvGrpSpPr>
        <p:grpSpPr>
          <a:xfrm>
            <a:off x="3384550" y="2849563"/>
            <a:ext cx="2049463" cy="1058862"/>
            <a:chOff x="856" y="1440"/>
            <a:chExt cx="1291" cy="667"/>
          </a:xfrm>
        </p:grpSpPr>
        <p:sp>
          <p:nvSpPr>
            <p:cNvPr id="61" name="Rectangle 29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62" name="Line 29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63" name="Line 29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28" name="Line 29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29" name="Line 30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30" name="Line 30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31" name="Line 30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132" name="Text Box 303"/>
          <p:cNvSpPr txBox="1"/>
          <p:nvPr/>
        </p:nvSpPr>
        <p:spPr>
          <a:xfrm>
            <a:off x="3443288" y="2876550"/>
            <a:ext cx="558800" cy="457200"/>
          </a:xfrm>
          <a:prstGeom prst="rect">
            <a:avLst/>
          </a:prstGeom>
          <a:noFill/>
          <a:ln w="9525">
            <a:noFill/>
          </a:ln>
        </p:spPr>
        <p:txBody>
          <a:bodyPr wrap="square" anchor="t">
            <a:spAutoFit/>
          </a:bodyPr>
          <a:lstStyle/>
          <a:p>
            <a:pPr algn="ctr"/>
            <a:r>
              <a:rPr lang="en-US" altLang="zh-CN" sz="2400" dirty="0">
                <a:latin typeface="微软雅黑" panose="020B0503020204020204" pitchFamily="34" charset="-122"/>
                <a:ea typeface="微软雅黑" panose="020B0503020204020204" pitchFamily="34" charset="-122"/>
              </a:rPr>
              <a:t>57</a:t>
            </a:r>
            <a:endParaRPr lang="en-US" altLang="zh-CN" sz="2400" dirty="0">
              <a:latin typeface="微软雅黑" panose="020B0503020204020204" pitchFamily="34" charset="-122"/>
              <a:ea typeface="微软雅黑" panose="020B0503020204020204" pitchFamily="34" charset="-122"/>
            </a:endParaRPr>
          </a:p>
        </p:txBody>
      </p:sp>
      <p:sp>
        <p:nvSpPr>
          <p:cNvPr id="133" name="Text Box 304"/>
          <p:cNvSpPr txBox="1"/>
          <p:nvPr/>
        </p:nvSpPr>
        <p:spPr>
          <a:xfrm>
            <a:off x="4168775" y="2870200"/>
            <a:ext cx="558800" cy="457200"/>
          </a:xfrm>
          <a:prstGeom prst="rect">
            <a:avLst/>
          </a:prstGeom>
          <a:noFill/>
          <a:ln w="9525">
            <a:noFill/>
          </a:ln>
        </p:spPr>
        <p:txBody>
          <a:bodyPr wrap="square" anchor="t">
            <a:spAutoFit/>
          </a:bodyPr>
          <a:lstStyle/>
          <a:p>
            <a:pPr algn="ctr"/>
            <a:r>
              <a:rPr lang="en-US" altLang="zh-CN" sz="2400" dirty="0">
                <a:latin typeface="微软雅黑" panose="020B0503020204020204" pitchFamily="34" charset="-122"/>
                <a:ea typeface="微软雅黑" panose="020B0503020204020204" pitchFamily="34" charset="-122"/>
              </a:rPr>
              <a:t>81</a:t>
            </a:r>
            <a:endParaRPr lang="en-US" altLang="zh-CN" sz="2400" dirty="0">
              <a:latin typeface="微软雅黑" panose="020B0503020204020204" pitchFamily="34" charset="-122"/>
              <a:ea typeface="微软雅黑" panose="020B0503020204020204" pitchFamily="34" charset="-122"/>
            </a:endParaRPr>
          </a:p>
        </p:txBody>
      </p:sp>
      <p:sp>
        <p:nvSpPr>
          <p:cNvPr id="134" name="Text Box 305"/>
          <p:cNvSpPr txBox="1"/>
          <p:nvPr/>
        </p:nvSpPr>
        <p:spPr>
          <a:xfrm>
            <a:off x="4854575" y="2870200"/>
            <a:ext cx="558800" cy="457200"/>
          </a:xfrm>
          <a:prstGeom prst="rect">
            <a:avLst/>
          </a:prstGeom>
          <a:noFill/>
          <a:ln w="9525">
            <a:noFill/>
          </a:ln>
        </p:spPr>
        <p:txBody>
          <a:bodyPr wrap="square" anchor="t">
            <a:spAutoFit/>
          </a:bodyPr>
          <a:lstStyle/>
          <a:p>
            <a:pPr algn="ctr"/>
            <a:r>
              <a:rPr lang="en-US" altLang="zh-CN" sz="2400" dirty="0">
                <a:latin typeface="微软雅黑" panose="020B0503020204020204" pitchFamily="34" charset="-122"/>
                <a:ea typeface="微软雅黑" panose="020B0503020204020204" pitchFamily="34" charset="-122"/>
              </a:rPr>
              <a:t>95</a:t>
            </a:r>
            <a:endParaRPr lang="en-US" altLang="zh-CN" sz="2400" dirty="0">
              <a:latin typeface="微软雅黑" panose="020B0503020204020204" pitchFamily="34" charset="-122"/>
              <a:ea typeface="微软雅黑" panose="020B0503020204020204" pitchFamily="34" charset="-122"/>
            </a:endParaRPr>
          </a:p>
        </p:txBody>
      </p:sp>
      <p:sp>
        <p:nvSpPr>
          <p:cNvPr id="135" name="Text Box 307"/>
          <p:cNvSpPr txBox="1"/>
          <p:nvPr/>
        </p:nvSpPr>
        <p:spPr>
          <a:xfrm>
            <a:off x="2497138" y="4179888"/>
            <a:ext cx="1216025" cy="825500"/>
          </a:xfrm>
          <a:prstGeom prst="rect">
            <a:avLst/>
          </a:prstGeom>
          <a:noFill/>
          <a:ln w="9525">
            <a:noFill/>
          </a:ln>
        </p:spPr>
        <p:txBody>
          <a:bodyPr wrap="square" anchor="t">
            <a:spAutoFit/>
          </a:bodyPr>
          <a:lstStyle/>
          <a:p>
            <a:r>
              <a:rPr lang="zh-CN" altLang="en-US" sz="1600" dirty="0">
                <a:latin typeface="微软雅黑" panose="020B0503020204020204" pitchFamily="34" charset="-122"/>
                <a:ea typeface="微软雅黑" panose="020B0503020204020204" pitchFamily="34" charset="-122"/>
              </a:rPr>
              <a:t>指向键值为</a:t>
            </a:r>
            <a:r>
              <a:rPr lang="en-US" altLang="zh-CN" sz="1600" dirty="0">
                <a:latin typeface="微软雅黑" panose="020B0503020204020204" pitchFamily="34" charset="-122"/>
                <a:ea typeface="微软雅黑" panose="020B0503020204020204" pitchFamily="34" charset="-122"/>
              </a:rPr>
              <a:t>57</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主文件记录</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136" name="Text Box 309"/>
          <p:cNvSpPr txBox="1"/>
          <p:nvPr/>
        </p:nvSpPr>
        <p:spPr>
          <a:xfrm>
            <a:off x="3773488" y="4173538"/>
            <a:ext cx="1216025" cy="825500"/>
          </a:xfrm>
          <a:prstGeom prst="rect">
            <a:avLst/>
          </a:prstGeom>
          <a:noFill/>
          <a:ln w="9525">
            <a:noFill/>
          </a:ln>
        </p:spPr>
        <p:txBody>
          <a:bodyPr wrap="square" anchor="t">
            <a:spAutoFit/>
          </a:bodyPr>
          <a:lstStyle/>
          <a:p>
            <a:r>
              <a:rPr lang="zh-CN" altLang="en-US" sz="1600" dirty="0">
                <a:latin typeface="微软雅黑" panose="020B0503020204020204" pitchFamily="34" charset="-122"/>
                <a:ea typeface="微软雅黑" panose="020B0503020204020204" pitchFamily="34" charset="-122"/>
              </a:rPr>
              <a:t>指向键值为</a:t>
            </a:r>
            <a:r>
              <a:rPr lang="en-US" altLang="zh-CN" sz="1600" dirty="0">
                <a:latin typeface="微软雅黑" panose="020B0503020204020204" pitchFamily="34" charset="-122"/>
                <a:ea typeface="微软雅黑" panose="020B0503020204020204" pitchFamily="34" charset="-122"/>
              </a:rPr>
              <a:t>81</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主文件记录</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137" name="Text Box 311"/>
          <p:cNvSpPr txBox="1"/>
          <p:nvPr/>
        </p:nvSpPr>
        <p:spPr>
          <a:xfrm>
            <a:off x="5072063" y="4194175"/>
            <a:ext cx="1216025" cy="825500"/>
          </a:xfrm>
          <a:prstGeom prst="rect">
            <a:avLst/>
          </a:prstGeom>
          <a:noFill/>
          <a:ln w="9525">
            <a:noFill/>
          </a:ln>
        </p:spPr>
        <p:txBody>
          <a:bodyPr wrap="square" anchor="t">
            <a:spAutoFit/>
          </a:bodyPr>
          <a:lstStyle/>
          <a:p>
            <a:r>
              <a:rPr lang="zh-CN" altLang="en-US" sz="1600" dirty="0">
                <a:latin typeface="微软雅黑" panose="020B0503020204020204" pitchFamily="34" charset="-122"/>
                <a:ea typeface="微软雅黑" panose="020B0503020204020204" pitchFamily="34" charset="-122"/>
              </a:rPr>
              <a:t>指向键值为</a:t>
            </a:r>
            <a:r>
              <a:rPr lang="en-US" altLang="zh-CN" sz="1600" dirty="0">
                <a:latin typeface="微软雅黑" panose="020B0503020204020204" pitchFamily="34" charset="-122"/>
                <a:ea typeface="微软雅黑" panose="020B0503020204020204" pitchFamily="34" charset="-122"/>
              </a:rPr>
              <a:t>95</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主文件记录</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138" name="Text Box 313"/>
          <p:cNvSpPr txBox="1"/>
          <p:nvPr/>
        </p:nvSpPr>
        <p:spPr>
          <a:xfrm>
            <a:off x="5740400" y="2690813"/>
            <a:ext cx="1039813" cy="825500"/>
          </a:xfrm>
          <a:prstGeom prst="rect">
            <a:avLst/>
          </a:prstGeom>
          <a:noFill/>
          <a:ln w="9525">
            <a:noFill/>
          </a:ln>
        </p:spPr>
        <p:txBody>
          <a:bodyPr wrap="square" anchor="t">
            <a:spAutoFit/>
          </a:bodyPr>
          <a:lstStyle/>
          <a:p>
            <a:r>
              <a:rPr lang="zh-CN" altLang="en-US" sz="1600" dirty="0">
                <a:latin typeface="微软雅黑" panose="020B0503020204020204" pitchFamily="34" charset="-122"/>
                <a:ea typeface="微软雅黑" panose="020B0503020204020204" pitchFamily="34" charset="-122"/>
              </a:rPr>
              <a:t>指向按顺序的</a:t>
            </a:r>
            <a:r>
              <a:rPr lang="zh-CN" altLang="en-US" sz="1600" dirty="0">
                <a:solidFill>
                  <a:srgbClr val="CC0000"/>
                </a:solidFill>
                <a:latin typeface="微软雅黑" panose="020B0503020204020204" pitchFamily="34" charset="-122"/>
                <a:ea typeface="微软雅黑" panose="020B0503020204020204" pitchFamily="34" charset="-122"/>
              </a:rPr>
              <a:t>下一个叶结点</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139" name="Text Box 329"/>
          <p:cNvSpPr txBox="1"/>
          <p:nvPr/>
        </p:nvSpPr>
        <p:spPr>
          <a:xfrm>
            <a:off x="2497138" y="4179888"/>
            <a:ext cx="1216025" cy="825500"/>
          </a:xfrm>
          <a:prstGeom prst="rect">
            <a:avLst/>
          </a:prstGeom>
          <a:noFill/>
          <a:ln w="9525">
            <a:noFill/>
          </a:ln>
        </p:spPr>
        <p:txBody>
          <a:bodyPr wrap="square" anchor="t">
            <a:spAutoFit/>
          </a:bodyPr>
          <a:lstStyle/>
          <a:p>
            <a:r>
              <a:rPr lang="zh-CN" altLang="en-US" sz="1600" dirty="0">
                <a:latin typeface="微软雅黑" panose="020B0503020204020204" pitchFamily="34" charset="-122"/>
                <a:ea typeface="微软雅黑" panose="020B0503020204020204" pitchFamily="34" charset="-122"/>
              </a:rPr>
              <a:t>指向键值为</a:t>
            </a:r>
            <a:r>
              <a:rPr lang="en-US" altLang="zh-CN" sz="1600" dirty="0">
                <a:latin typeface="微软雅黑" panose="020B0503020204020204" pitchFamily="34" charset="-122"/>
                <a:ea typeface="微软雅黑" panose="020B0503020204020204" pitchFamily="34" charset="-122"/>
              </a:rPr>
              <a:t>57</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主文件记录</a:t>
            </a:r>
            <a:endParaRPr lang="zh-CN" altLang="en-US" sz="1600" dirty="0">
              <a:solidFill>
                <a:srgbClr val="CC0000"/>
              </a:solidFill>
              <a:latin typeface="微软雅黑" panose="020B0503020204020204" pitchFamily="34" charset="-122"/>
              <a:ea typeface="微软雅黑" panose="020B0503020204020204" pitchFamily="34" charset="-122"/>
            </a:endParaRPr>
          </a:p>
        </p:txBody>
      </p:sp>
      <p:grpSp>
        <p:nvGrpSpPr>
          <p:cNvPr id="140" name="Group 332"/>
          <p:cNvGrpSpPr/>
          <p:nvPr/>
        </p:nvGrpSpPr>
        <p:grpSpPr>
          <a:xfrm>
            <a:off x="7023100" y="2862263"/>
            <a:ext cx="2049463" cy="1058862"/>
            <a:chOff x="856" y="1440"/>
            <a:chExt cx="1291" cy="667"/>
          </a:xfrm>
        </p:grpSpPr>
        <p:sp>
          <p:nvSpPr>
            <p:cNvPr id="141" name="Rectangle 33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42" name="Line 334"/>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43" name="Line 335"/>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44" name="Line 336"/>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45" name="Line 337"/>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46" name="Line 338"/>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47" name="Line 339"/>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148" name="Text Box 340"/>
          <p:cNvSpPr txBox="1"/>
          <p:nvPr/>
        </p:nvSpPr>
        <p:spPr>
          <a:xfrm>
            <a:off x="7056438" y="2963863"/>
            <a:ext cx="608012" cy="366712"/>
          </a:xfrm>
          <a:prstGeom prst="rect">
            <a:avLst/>
          </a:prstGeom>
          <a:noFill/>
          <a:ln w="9525">
            <a:noFill/>
          </a:ln>
        </p:spPr>
        <p:txBody>
          <a:bodyPr wrap="square" anchor="t">
            <a:spAutoFit/>
          </a:bodyPr>
          <a:lstStyle/>
          <a:p>
            <a:pPr algn="ctr"/>
            <a:r>
              <a:rPr lang="en-US" altLang="zh-CN" sz="1800" dirty="0">
                <a:latin typeface="微软雅黑" panose="020B0503020204020204" pitchFamily="34" charset="-122"/>
                <a:ea typeface="微软雅黑" panose="020B0503020204020204" pitchFamily="34" charset="-122"/>
              </a:rPr>
              <a:t>100</a:t>
            </a:r>
            <a:endParaRPr lang="en-US" altLang="zh-CN" sz="1800" dirty="0">
              <a:latin typeface="微软雅黑" panose="020B0503020204020204" pitchFamily="34" charset="-122"/>
              <a:ea typeface="微软雅黑" panose="020B0503020204020204" pitchFamily="34" charset="-122"/>
            </a:endParaRPr>
          </a:p>
        </p:txBody>
      </p:sp>
      <p:sp>
        <p:nvSpPr>
          <p:cNvPr id="149" name="Text Box 341"/>
          <p:cNvSpPr txBox="1"/>
          <p:nvPr/>
        </p:nvSpPr>
        <p:spPr>
          <a:xfrm>
            <a:off x="7781925" y="2957513"/>
            <a:ext cx="608013" cy="366712"/>
          </a:xfrm>
          <a:prstGeom prst="rect">
            <a:avLst/>
          </a:prstGeom>
          <a:noFill/>
          <a:ln w="9525">
            <a:noFill/>
          </a:ln>
        </p:spPr>
        <p:txBody>
          <a:bodyPr wrap="square" anchor="t">
            <a:spAutoFit/>
          </a:bodyPr>
          <a:lstStyle/>
          <a:p>
            <a:pPr algn="ctr"/>
            <a:r>
              <a:rPr lang="en-US" altLang="zh-CN" sz="1800" dirty="0">
                <a:latin typeface="微软雅黑" panose="020B0503020204020204" pitchFamily="34" charset="-122"/>
                <a:ea typeface="微软雅黑" panose="020B0503020204020204" pitchFamily="34" charset="-122"/>
              </a:rPr>
              <a:t>106</a:t>
            </a:r>
            <a:endParaRPr lang="en-US" altLang="zh-CN" sz="1800" dirty="0">
              <a:latin typeface="微软雅黑" panose="020B0503020204020204" pitchFamily="34" charset="-122"/>
              <a:ea typeface="微软雅黑" panose="020B0503020204020204" pitchFamily="34" charset="-122"/>
            </a:endParaRPr>
          </a:p>
        </p:txBody>
      </p:sp>
      <p:sp>
        <p:nvSpPr>
          <p:cNvPr id="150" name="Text Box 342"/>
          <p:cNvSpPr txBox="1"/>
          <p:nvPr/>
        </p:nvSpPr>
        <p:spPr>
          <a:xfrm>
            <a:off x="8467725" y="2957513"/>
            <a:ext cx="608013" cy="366712"/>
          </a:xfrm>
          <a:prstGeom prst="rect">
            <a:avLst/>
          </a:prstGeom>
          <a:noFill/>
          <a:ln w="9525">
            <a:noFill/>
          </a:ln>
        </p:spPr>
        <p:txBody>
          <a:bodyPr wrap="square" anchor="t">
            <a:spAutoFit/>
          </a:bodyPr>
          <a:lstStyle/>
          <a:p>
            <a:pPr algn="ctr"/>
            <a:r>
              <a:rPr lang="en-US" altLang="zh-CN" sz="1800" dirty="0">
                <a:latin typeface="微软雅黑" panose="020B0503020204020204" pitchFamily="34" charset="-122"/>
                <a:ea typeface="微软雅黑" panose="020B0503020204020204" pitchFamily="34" charset="-122"/>
              </a:rPr>
              <a:t>150</a:t>
            </a:r>
            <a:endParaRPr lang="en-US" altLang="zh-CN" sz="1800" dirty="0">
              <a:latin typeface="微软雅黑" panose="020B0503020204020204" pitchFamily="34" charset="-122"/>
              <a:ea typeface="微软雅黑" panose="020B0503020204020204" pitchFamily="34" charset="-122"/>
            </a:endParaRPr>
          </a:p>
        </p:txBody>
      </p:sp>
      <p:sp>
        <p:nvSpPr>
          <p:cNvPr id="151" name="Text Box 343"/>
          <p:cNvSpPr txBox="1"/>
          <p:nvPr/>
        </p:nvSpPr>
        <p:spPr>
          <a:xfrm>
            <a:off x="8093075" y="4560888"/>
            <a:ext cx="1200150" cy="369332"/>
          </a:xfrm>
          <a:prstGeom prst="rect">
            <a:avLst/>
          </a:prstGeom>
          <a:noFill/>
          <a:ln w="9525">
            <a:noFill/>
          </a:ln>
        </p:spPr>
        <p:txBody>
          <a:bodyPr wrap="square"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索引文件</a:t>
            </a:r>
            <a:endParaRPr lang="zh-CN" altLang="en-US" dirty="0">
              <a:solidFill>
                <a:schemeClr val="accent2"/>
              </a:solidFill>
              <a:latin typeface="Times New Roman" panose="02020603050405020304" pitchFamily="18" charset="0"/>
              <a:ea typeface="微软雅黑" panose="020B0503020204020204" pitchFamily="34" charset="-122"/>
            </a:endParaRPr>
          </a:p>
        </p:txBody>
      </p:sp>
      <p:sp>
        <p:nvSpPr>
          <p:cNvPr id="152" name="Text Box 344"/>
          <p:cNvSpPr txBox="1"/>
          <p:nvPr/>
        </p:nvSpPr>
        <p:spPr>
          <a:xfrm>
            <a:off x="9280525" y="5677971"/>
            <a:ext cx="946150" cy="369332"/>
          </a:xfrm>
          <a:prstGeom prst="rect">
            <a:avLst/>
          </a:prstGeom>
          <a:noFill/>
          <a:ln w="9525">
            <a:noFill/>
          </a:ln>
        </p:spPr>
        <p:txBody>
          <a:bodyPr wrap="square"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主文件</a:t>
            </a:r>
            <a:endParaRPr lang="zh-CN" altLang="en-US" dirty="0">
              <a:solidFill>
                <a:schemeClr val="accent2"/>
              </a:solidFill>
              <a:latin typeface="Times New Roman" panose="02020603050405020304" pitchFamily="18" charset="0"/>
              <a:ea typeface="微软雅黑" panose="020B0503020204020204" pitchFamily="34" charset="-122"/>
            </a:endParaRPr>
          </a:p>
        </p:txBody>
      </p:sp>
      <p:sp>
        <p:nvSpPr>
          <p:cNvPr id="153" name="Line 348"/>
          <p:cNvSpPr/>
          <p:nvPr/>
        </p:nvSpPr>
        <p:spPr>
          <a:xfrm>
            <a:off x="5232400" y="3660775"/>
            <a:ext cx="1800225" cy="0"/>
          </a:xfrm>
          <a:prstGeom prst="line">
            <a:avLst/>
          </a:prstGeom>
          <a:ln w="28575" cap="flat" cmpd="sng">
            <a:solidFill>
              <a:srgbClr val="CC0000"/>
            </a:solidFill>
            <a:prstDash val="solid"/>
            <a:round/>
            <a:headEnd type="none" w="med" len="med"/>
            <a:tailEnd type="triangle" w="med" len="med"/>
          </a:ln>
        </p:spPr>
      </p:sp>
      <p:sp>
        <p:nvSpPr>
          <p:cNvPr id="154" name="Freeform 353"/>
          <p:cNvSpPr/>
          <p:nvPr/>
        </p:nvSpPr>
        <p:spPr>
          <a:xfrm>
            <a:off x="7605713" y="3640138"/>
            <a:ext cx="225425" cy="2489200"/>
          </a:xfrm>
          <a:custGeom>
            <a:avLst/>
            <a:gdLst/>
            <a:ahLst/>
            <a:cxnLst>
              <a:cxn ang="0">
                <a:pos x="128" y="0"/>
              </a:cxn>
              <a:cxn ang="0">
                <a:pos x="128" y="768"/>
              </a:cxn>
              <a:cxn ang="0">
                <a:pos x="128" y="1344"/>
              </a:cxn>
              <a:cxn ang="0">
                <a:pos x="0" y="1527"/>
              </a:cxn>
            </a:cxnLst>
            <a:rect l="0" t="0" r="0" b="0"/>
            <a:pathLst>
              <a:path w="128" h="1527">
                <a:moveTo>
                  <a:pt x="128" y="0"/>
                </a:moveTo>
                <a:lnTo>
                  <a:pt x="128" y="768"/>
                </a:lnTo>
                <a:lnTo>
                  <a:pt x="128" y="1344"/>
                </a:lnTo>
                <a:lnTo>
                  <a:pt x="0" y="1527"/>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155" name="Freeform 354"/>
          <p:cNvSpPr/>
          <p:nvPr/>
        </p:nvSpPr>
        <p:spPr>
          <a:xfrm>
            <a:off x="7235825" y="3690938"/>
            <a:ext cx="420688" cy="1900237"/>
          </a:xfrm>
          <a:custGeom>
            <a:avLst/>
            <a:gdLst/>
            <a:ahLst/>
            <a:cxnLst>
              <a:cxn ang="0">
                <a:pos x="0" y="0"/>
              </a:cxn>
              <a:cxn ang="0">
                <a:pos x="0" y="978"/>
              </a:cxn>
              <a:cxn ang="0">
                <a:pos x="265" y="1197"/>
              </a:cxn>
            </a:cxnLst>
            <a:rect l="0" t="0" r="0" b="0"/>
            <a:pathLst>
              <a:path w="265" h="1197">
                <a:moveTo>
                  <a:pt x="0" y="0"/>
                </a:moveTo>
                <a:lnTo>
                  <a:pt x="0" y="978"/>
                </a:lnTo>
                <a:lnTo>
                  <a:pt x="265" y="1197"/>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156" name="Freeform 355"/>
          <p:cNvSpPr/>
          <p:nvPr/>
        </p:nvSpPr>
        <p:spPr>
          <a:xfrm>
            <a:off x="2532063" y="3660775"/>
            <a:ext cx="1147762" cy="1974850"/>
          </a:xfrm>
          <a:custGeom>
            <a:avLst/>
            <a:gdLst/>
            <a:ahLst/>
            <a:cxnLst>
              <a:cxn ang="0">
                <a:pos x="723" y="0"/>
              </a:cxn>
              <a:cxn ang="0">
                <a:pos x="10" y="311"/>
              </a:cxn>
              <a:cxn ang="0">
                <a:pos x="10" y="997"/>
              </a:cxn>
              <a:cxn ang="0">
                <a:pos x="0" y="1244"/>
              </a:cxn>
            </a:cxnLst>
            <a:rect l="0" t="0" r="0" b="0"/>
            <a:pathLst>
              <a:path w="723" h="1244">
                <a:moveTo>
                  <a:pt x="723" y="0"/>
                </a:moveTo>
                <a:lnTo>
                  <a:pt x="10" y="311"/>
                </a:lnTo>
                <a:lnTo>
                  <a:pt x="10" y="997"/>
                </a:lnTo>
                <a:lnTo>
                  <a:pt x="0" y="1244"/>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157" name="Freeform 356"/>
          <p:cNvSpPr/>
          <p:nvPr/>
        </p:nvSpPr>
        <p:spPr>
          <a:xfrm>
            <a:off x="2532063" y="3603625"/>
            <a:ext cx="1670050" cy="2525713"/>
          </a:xfrm>
          <a:custGeom>
            <a:avLst/>
            <a:gdLst/>
            <a:ahLst/>
            <a:cxnLst>
              <a:cxn ang="0">
                <a:pos x="1052" y="0"/>
              </a:cxn>
              <a:cxn ang="0">
                <a:pos x="768" y="356"/>
              </a:cxn>
              <a:cxn ang="0">
                <a:pos x="768" y="1097"/>
              </a:cxn>
              <a:cxn ang="0">
                <a:pos x="0" y="1591"/>
              </a:cxn>
            </a:cxnLst>
            <a:rect l="0" t="0" r="0" b="0"/>
            <a:pathLst>
              <a:path w="1052" h="1591">
                <a:moveTo>
                  <a:pt x="1052" y="0"/>
                </a:moveTo>
                <a:lnTo>
                  <a:pt x="768" y="356"/>
                </a:lnTo>
                <a:lnTo>
                  <a:pt x="768" y="1097"/>
                </a:lnTo>
                <a:lnTo>
                  <a:pt x="0" y="1591"/>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158" name="Freeform 357"/>
          <p:cNvSpPr/>
          <p:nvPr/>
        </p:nvSpPr>
        <p:spPr>
          <a:xfrm>
            <a:off x="4622800" y="3603625"/>
            <a:ext cx="595313" cy="2584450"/>
          </a:xfrm>
          <a:custGeom>
            <a:avLst/>
            <a:gdLst/>
            <a:ahLst/>
            <a:cxnLst>
              <a:cxn ang="0">
                <a:pos x="0" y="0"/>
              </a:cxn>
              <a:cxn ang="0">
                <a:pos x="283" y="320"/>
              </a:cxn>
              <a:cxn ang="0">
                <a:pos x="283" y="996"/>
              </a:cxn>
              <a:cxn ang="0">
                <a:pos x="375" y="1280"/>
              </a:cxn>
            </a:cxnLst>
            <a:rect l="0" t="0" r="0" b="0"/>
            <a:pathLst>
              <a:path w="375" h="1280">
                <a:moveTo>
                  <a:pt x="0" y="0"/>
                </a:moveTo>
                <a:lnTo>
                  <a:pt x="283" y="320"/>
                </a:lnTo>
                <a:lnTo>
                  <a:pt x="283" y="996"/>
                </a:lnTo>
                <a:lnTo>
                  <a:pt x="375" y="1280"/>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159" name="Freeform 358"/>
          <p:cNvSpPr/>
          <p:nvPr/>
        </p:nvSpPr>
        <p:spPr>
          <a:xfrm>
            <a:off x="5160963" y="3638550"/>
            <a:ext cx="3125787" cy="1978025"/>
          </a:xfrm>
          <a:custGeom>
            <a:avLst/>
            <a:gdLst/>
            <a:ahLst/>
            <a:cxnLst>
              <a:cxn ang="0">
                <a:pos x="1969" y="0"/>
              </a:cxn>
              <a:cxn ang="0">
                <a:pos x="1969" y="322"/>
              </a:cxn>
              <a:cxn ang="0">
                <a:pos x="0" y="1192"/>
              </a:cxn>
            </a:cxnLst>
            <a:rect l="0" t="0" r="0" b="0"/>
            <a:pathLst>
              <a:path w="1969" h="1192">
                <a:moveTo>
                  <a:pt x="1969" y="0"/>
                </a:moveTo>
                <a:lnTo>
                  <a:pt x="1969" y="322"/>
                </a:lnTo>
                <a:lnTo>
                  <a:pt x="0" y="1192"/>
                </a:lnTo>
              </a:path>
            </a:pathLst>
          </a:custGeom>
          <a:noFill/>
          <a:ln w="28575" cap="flat" cmpd="sng">
            <a:solidFill>
              <a:schemeClr val="accent2"/>
            </a:solidFill>
            <a:prstDash val="solid"/>
            <a:round/>
            <a:headEnd type="none" w="med" len="med"/>
            <a:tailEnd type="triangle" w="med" len="med"/>
          </a:ln>
        </p:spPr>
        <p:txBody>
          <a:bodyPr/>
          <a:lstStyle/>
          <a:p>
            <a:endParaRPr lang="zh-CN" altLang="en-US"/>
          </a:p>
        </p:txBody>
      </p:sp>
      <p:sp>
        <p:nvSpPr>
          <p:cNvPr id="11" name="灯片编号占位符 10"/>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用</a:t>
            </a:r>
            <a:r>
              <a:rPr lang="en-US" altLang="zh-CN" sz="2600" dirty="0">
                <a:latin typeface="微软雅黑" panose="020B0503020204020204" pitchFamily="34" charset="-122"/>
                <a:ea typeface="微软雅黑" panose="020B0503020204020204" pitchFamily="34" charset="-122"/>
              </a:rPr>
              <a:t>B+</a:t>
            </a:r>
            <a:r>
              <a:rPr lang="zh-CN" altLang="en-US" sz="2600" dirty="0">
                <a:latin typeface="微软雅黑" panose="020B0503020204020204" pitchFamily="34" charset="-122"/>
                <a:ea typeface="微软雅黑" panose="020B0503020204020204" pitchFamily="34" charset="-122"/>
              </a:rPr>
              <a:t>树建立不同的索引</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en-US" altLang="zh-CN" sz="2000" b="0" dirty="0"/>
              <a:t>II. </a:t>
            </a:r>
            <a:r>
              <a:rPr lang="zh-CN" altLang="en-US" sz="2000" b="0" dirty="0"/>
              <a:t>用</a:t>
            </a:r>
            <a:r>
              <a:rPr lang="en-US" altLang="zh-CN" sz="2000" b="0" dirty="0"/>
              <a:t>B+</a:t>
            </a:r>
            <a:r>
              <a:rPr lang="zh-CN" altLang="en-US" sz="2000" b="0" dirty="0"/>
              <a:t>树建立键属性稠密索引</a:t>
            </a:r>
            <a:endParaRPr lang="en-US" altLang="zh-CN" sz="2000" b="0" dirty="0"/>
          </a:p>
          <a:p>
            <a:pPr>
              <a:lnSpc>
                <a:spcPct val="100000"/>
              </a:lnSpc>
              <a:buFont typeface="Wingdings" panose="05000000000000000000" pitchFamily="2" charset="2"/>
              <a:buChar char="l"/>
            </a:pPr>
            <a:r>
              <a:rPr lang="zh-CN" altLang="en-US" sz="1800" b="0" dirty="0"/>
              <a:t>引字段是主文件的主键，索引是稠密的。主文件可以按主键排序，也可以不按主键排序。</a:t>
            </a:r>
            <a:endParaRPr lang="en-US" altLang="zh-CN" sz="1800" b="0" dirty="0"/>
          </a:p>
          <a:p>
            <a:pPr>
              <a:lnSpc>
                <a:spcPct val="100000"/>
              </a:lnSpc>
              <a:buFont typeface="Wingdings" panose="05000000000000000000" pitchFamily="2" charset="2"/>
              <a:buChar char="l"/>
            </a:pPr>
            <a:r>
              <a:rPr lang="zh-CN" altLang="en-US" sz="1800" b="0" dirty="0"/>
              <a:t>指针指向的是数据块</a:t>
            </a:r>
            <a:endParaRPr lang="zh-CN" altLang="en-US" sz="1800" b="0" dirty="0"/>
          </a:p>
          <a:p>
            <a:pPr>
              <a:lnSpc>
                <a:spcPct val="100000"/>
              </a:lnSpc>
              <a:buFont typeface="Wingdings" panose="05000000000000000000" pitchFamily="2" charset="2"/>
              <a:buChar char="l"/>
            </a:pPr>
            <a:endParaRPr lang="zh-CN" altLang="en-US" sz="2200" dirty="0"/>
          </a:p>
          <a:p>
            <a:pPr marL="0" indent="0">
              <a:lnSpc>
                <a:spcPct val="100000"/>
              </a:lnSpc>
              <a:buNone/>
            </a:pPr>
            <a:endParaRPr lang="zh-CN" altLang="en-US" sz="22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1" name="Rectangle 2"/>
          <p:cNvSpPr/>
          <p:nvPr/>
        </p:nvSpPr>
        <p:spPr>
          <a:xfrm>
            <a:off x="2717800" y="5138739"/>
            <a:ext cx="8540750" cy="1489072"/>
          </a:xfrm>
          <a:prstGeom prst="rect">
            <a:avLst/>
          </a:prstGeom>
          <a:solidFill>
            <a:schemeClr val="bg1"/>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12" name="Rectangle 3"/>
          <p:cNvSpPr/>
          <p:nvPr/>
        </p:nvSpPr>
        <p:spPr>
          <a:xfrm>
            <a:off x="3249613" y="5351463"/>
            <a:ext cx="2020887" cy="1168400"/>
          </a:xfrm>
          <a:prstGeom prst="rect">
            <a:avLst/>
          </a:prstGeom>
          <a:solidFill>
            <a:srgbClr val="DDDDDD"/>
          </a:solidFill>
          <a:ln w="9525" cap="flat" cmpd="sng">
            <a:solidFill>
              <a:schemeClr val="tx1"/>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3" name="Rectangle 4"/>
          <p:cNvSpPr/>
          <p:nvPr/>
        </p:nvSpPr>
        <p:spPr>
          <a:xfrm>
            <a:off x="5835650" y="5349875"/>
            <a:ext cx="2020888" cy="1168400"/>
          </a:xfrm>
          <a:prstGeom prst="rect">
            <a:avLst/>
          </a:prstGeom>
          <a:solidFill>
            <a:srgbClr val="DDDDDD"/>
          </a:solidFill>
          <a:ln w="9525" cap="flat" cmpd="sng">
            <a:solidFill>
              <a:schemeClr val="tx1"/>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4" name="Rectangle 5"/>
          <p:cNvSpPr/>
          <p:nvPr/>
        </p:nvSpPr>
        <p:spPr>
          <a:xfrm>
            <a:off x="8423275" y="5349875"/>
            <a:ext cx="2020888" cy="1168400"/>
          </a:xfrm>
          <a:prstGeom prst="rect">
            <a:avLst/>
          </a:prstGeom>
          <a:solidFill>
            <a:srgbClr val="DDDDDD"/>
          </a:solidFill>
          <a:ln w="9525" cap="flat" cmpd="sng">
            <a:solidFill>
              <a:schemeClr val="tx1"/>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5" name="Text Box 6"/>
          <p:cNvSpPr txBox="1"/>
          <p:nvPr/>
        </p:nvSpPr>
        <p:spPr>
          <a:xfrm>
            <a:off x="3341688" y="5438775"/>
            <a:ext cx="1709737"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键值</a:t>
            </a:r>
            <a:r>
              <a:rPr lang="en-US" altLang="zh-CN" sz="1800" dirty="0">
                <a:latin typeface="微软雅黑" panose="020B0503020204020204" pitchFamily="34" charset="-122"/>
                <a:ea typeface="微软雅黑" panose="020B0503020204020204" pitchFamily="34" charset="-122"/>
              </a:rPr>
              <a:t>57</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16" name="Text Box 7"/>
          <p:cNvSpPr txBox="1"/>
          <p:nvPr/>
        </p:nvSpPr>
        <p:spPr>
          <a:xfrm>
            <a:off x="3351213" y="5984875"/>
            <a:ext cx="1709737"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键值</a:t>
            </a:r>
            <a:r>
              <a:rPr lang="en-US" altLang="zh-CN" sz="1800" dirty="0">
                <a:latin typeface="微软雅黑" panose="020B0503020204020204" pitchFamily="34" charset="-122"/>
                <a:ea typeface="微软雅黑" panose="020B0503020204020204" pitchFamily="34" charset="-122"/>
              </a:rPr>
              <a:t>81</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18" name="Text Box 8"/>
          <p:cNvSpPr txBox="1"/>
          <p:nvPr/>
        </p:nvSpPr>
        <p:spPr>
          <a:xfrm>
            <a:off x="5997575" y="5456238"/>
            <a:ext cx="1709738" cy="366712"/>
          </a:xfrm>
          <a:prstGeom prst="rect">
            <a:avLst/>
          </a:prstGeom>
          <a:noFill/>
          <a:ln w="9525">
            <a:noFill/>
          </a:ln>
        </p:spPr>
        <p:txBody>
          <a:bodyPr wrap="none" anchor="t">
            <a:spAutoFit/>
          </a:bodyPr>
          <a:lstStyle/>
          <a:p>
            <a:pPr>
              <a:buChar char="•"/>
            </a:pPr>
            <a:r>
              <a:rPr lang="zh-CN" altLang="en-US" sz="1800" dirty="0">
                <a:latin typeface="微软雅黑" panose="020B0503020204020204" pitchFamily="34" charset="-122"/>
                <a:ea typeface="微软雅黑" panose="020B0503020204020204" pitchFamily="34" charset="-122"/>
              </a:rPr>
              <a:t>键值</a:t>
            </a:r>
            <a:r>
              <a:rPr lang="en-US" altLang="zh-CN" sz="1800" dirty="0">
                <a:latin typeface="微软雅黑" panose="020B0503020204020204" pitchFamily="34" charset="-122"/>
                <a:ea typeface="微软雅黑" panose="020B0503020204020204" pitchFamily="34" charset="-122"/>
              </a:rPr>
              <a:t>95</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19" name="Text Box 9"/>
          <p:cNvSpPr txBox="1"/>
          <p:nvPr/>
        </p:nvSpPr>
        <p:spPr>
          <a:xfrm>
            <a:off x="5997575" y="5969000"/>
            <a:ext cx="1709738"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键值</a:t>
            </a:r>
            <a:r>
              <a:rPr lang="en-US" altLang="zh-CN" sz="1800" dirty="0">
                <a:latin typeface="微软雅黑" panose="020B0503020204020204" pitchFamily="34" charset="-122"/>
                <a:ea typeface="微软雅黑" panose="020B0503020204020204" pitchFamily="34" charset="-122"/>
              </a:rPr>
              <a:t>98</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20" name="Text Box 10"/>
          <p:cNvSpPr txBox="1"/>
          <p:nvPr/>
        </p:nvSpPr>
        <p:spPr>
          <a:xfrm>
            <a:off x="8462963" y="5461000"/>
            <a:ext cx="1851025"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键值</a:t>
            </a:r>
            <a:r>
              <a:rPr lang="en-US" altLang="zh-CN" sz="1800" dirty="0">
                <a:latin typeface="微软雅黑" panose="020B0503020204020204" pitchFamily="34" charset="-122"/>
                <a:ea typeface="微软雅黑" panose="020B0503020204020204" pitchFamily="34" charset="-122"/>
              </a:rPr>
              <a:t>100</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21" name="Text Box 11"/>
          <p:cNvSpPr txBox="1"/>
          <p:nvPr/>
        </p:nvSpPr>
        <p:spPr>
          <a:xfrm>
            <a:off x="8443913" y="5953125"/>
            <a:ext cx="1851025"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键值</a:t>
            </a:r>
            <a:r>
              <a:rPr lang="en-US" altLang="zh-CN" sz="1800" dirty="0">
                <a:latin typeface="微软雅黑" panose="020B0503020204020204" pitchFamily="34" charset="-122"/>
                <a:ea typeface="微软雅黑" panose="020B0503020204020204" pitchFamily="34" charset="-122"/>
              </a:rPr>
              <a:t>106</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22" name="Rectangle 14"/>
          <p:cNvSpPr/>
          <p:nvPr/>
        </p:nvSpPr>
        <p:spPr>
          <a:xfrm>
            <a:off x="3103563" y="2732088"/>
            <a:ext cx="7567612" cy="2352675"/>
          </a:xfrm>
          <a:prstGeom prst="rect">
            <a:avLst/>
          </a:prstGeom>
          <a:solidFill>
            <a:schemeClr val="bg1"/>
          </a:solidFill>
          <a:ln w="9525" cap="flat" cmpd="sng">
            <a:solidFill>
              <a:schemeClr val="tx1"/>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grpSp>
        <p:nvGrpSpPr>
          <p:cNvPr id="23" name="Group 15"/>
          <p:cNvGrpSpPr/>
          <p:nvPr/>
        </p:nvGrpSpPr>
        <p:grpSpPr>
          <a:xfrm>
            <a:off x="4432300" y="2881313"/>
            <a:ext cx="2049463" cy="1058862"/>
            <a:chOff x="856" y="1440"/>
            <a:chExt cx="1291" cy="667"/>
          </a:xfrm>
        </p:grpSpPr>
        <p:sp>
          <p:nvSpPr>
            <p:cNvPr id="24" name="Rectangle 1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5" name="Line 1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6" name="Line 1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7" name="Line 1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8" name="Line 2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9" name="Line 2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0" name="Line 2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31" name="Text Box 23"/>
          <p:cNvSpPr txBox="1"/>
          <p:nvPr/>
        </p:nvSpPr>
        <p:spPr>
          <a:xfrm>
            <a:off x="4491038" y="2908300"/>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57</a:t>
            </a:r>
            <a:endParaRPr lang="en-US" altLang="zh-CN" sz="2400" dirty="0">
              <a:latin typeface="微软雅黑" panose="020B0503020204020204" pitchFamily="34" charset="-122"/>
              <a:ea typeface="微软雅黑" panose="020B0503020204020204" pitchFamily="34" charset="-122"/>
            </a:endParaRPr>
          </a:p>
        </p:txBody>
      </p:sp>
      <p:sp>
        <p:nvSpPr>
          <p:cNvPr id="33" name="Text Box 24"/>
          <p:cNvSpPr txBox="1"/>
          <p:nvPr/>
        </p:nvSpPr>
        <p:spPr>
          <a:xfrm>
            <a:off x="5216525" y="2901950"/>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95</a:t>
            </a:r>
            <a:endParaRPr lang="en-US" altLang="zh-CN" sz="2400" dirty="0">
              <a:latin typeface="微软雅黑" panose="020B0503020204020204" pitchFamily="34" charset="-122"/>
              <a:ea typeface="微软雅黑" panose="020B0503020204020204" pitchFamily="34" charset="-122"/>
            </a:endParaRPr>
          </a:p>
        </p:txBody>
      </p:sp>
      <p:sp>
        <p:nvSpPr>
          <p:cNvPr id="34" name="Text Box 26"/>
          <p:cNvSpPr txBox="1"/>
          <p:nvPr/>
        </p:nvSpPr>
        <p:spPr>
          <a:xfrm>
            <a:off x="3544888" y="4211638"/>
            <a:ext cx="1216025" cy="825500"/>
          </a:xfrm>
          <a:prstGeom prst="rect">
            <a:avLst/>
          </a:prstGeom>
          <a:noFill/>
          <a:ln w="9525">
            <a:noFill/>
          </a:ln>
        </p:spPr>
        <p:txBody>
          <a:bodyPr anchor="t">
            <a:spAutoFit/>
          </a:bodyPr>
          <a:lstStyle/>
          <a:p>
            <a:r>
              <a:rPr lang="zh-CN" altLang="en-US" sz="1600" dirty="0">
                <a:latin typeface="微软雅黑" panose="020B0503020204020204" pitchFamily="34" charset="-122"/>
                <a:ea typeface="微软雅黑" panose="020B0503020204020204" pitchFamily="34" charset="-122"/>
              </a:rPr>
              <a:t>指向键值为</a:t>
            </a:r>
            <a:r>
              <a:rPr lang="en-US" altLang="zh-CN" sz="1600" dirty="0">
                <a:latin typeface="微软雅黑" panose="020B0503020204020204" pitchFamily="34" charset="-122"/>
                <a:ea typeface="微软雅黑" panose="020B0503020204020204" pitchFamily="34" charset="-122"/>
              </a:rPr>
              <a:t>57</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主文件数据块</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35" name="Text Box 27"/>
          <p:cNvSpPr txBox="1"/>
          <p:nvPr/>
        </p:nvSpPr>
        <p:spPr>
          <a:xfrm>
            <a:off x="4821238" y="4205288"/>
            <a:ext cx="1216025" cy="825500"/>
          </a:xfrm>
          <a:prstGeom prst="rect">
            <a:avLst/>
          </a:prstGeom>
          <a:noFill/>
          <a:ln w="9525">
            <a:noFill/>
          </a:ln>
        </p:spPr>
        <p:txBody>
          <a:bodyPr anchor="t">
            <a:spAutoFit/>
          </a:bodyPr>
          <a:lstStyle/>
          <a:p>
            <a:r>
              <a:rPr lang="zh-CN" altLang="en-US" sz="1600" dirty="0">
                <a:latin typeface="微软雅黑" panose="020B0503020204020204" pitchFamily="34" charset="-122"/>
                <a:ea typeface="微软雅黑" panose="020B0503020204020204" pitchFamily="34" charset="-122"/>
              </a:rPr>
              <a:t>指向键值为</a:t>
            </a:r>
            <a:r>
              <a:rPr lang="en-US" altLang="zh-CN" sz="1600" dirty="0">
                <a:latin typeface="微软雅黑" panose="020B0503020204020204" pitchFamily="34" charset="-122"/>
                <a:ea typeface="微软雅黑" panose="020B0503020204020204" pitchFamily="34" charset="-122"/>
              </a:rPr>
              <a:t>95</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主文件数据块</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36" name="Text Box 29"/>
          <p:cNvSpPr txBox="1"/>
          <p:nvPr/>
        </p:nvSpPr>
        <p:spPr>
          <a:xfrm>
            <a:off x="6788150" y="2722563"/>
            <a:ext cx="1039813" cy="825500"/>
          </a:xfrm>
          <a:prstGeom prst="rect">
            <a:avLst/>
          </a:prstGeom>
          <a:noFill/>
          <a:ln w="9525">
            <a:noFill/>
          </a:ln>
        </p:spPr>
        <p:txBody>
          <a:bodyPr anchor="t">
            <a:spAutoFit/>
          </a:bodyPr>
          <a:lstStyle/>
          <a:p>
            <a:r>
              <a:rPr lang="zh-CN" altLang="en-US" sz="1600" dirty="0">
                <a:latin typeface="微软雅黑" panose="020B0503020204020204" pitchFamily="34" charset="-122"/>
                <a:ea typeface="微软雅黑" panose="020B0503020204020204" pitchFamily="34" charset="-122"/>
              </a:rPr>
              <a:t>指向按顺序的</a:t>
            </a:r>
            <a:r>
              <a:rPr lang="zh-CN" altLang="en-US" sz="1600" dirty="0">
                <a:solidFill>
                  <a:srgbClr val="CC0000"/>
                </a:solidFill>
                <a:latin typeface="微软雅黑" panose="020B0503020204020204" pitchFamily="34" charset="-122"/>
                <a:ea typeface="微软雅黑" panose="020B0503020204020204" pitchFamily="34" charset="-122"/>
              </a:rPr>
              <a:t>下一个叶结点</a:t>
            </a:r>
            <a:endParaRPr lang="zh-CN" altLang="en-US" sz="1600" dirty="0">
              <a:solidFill>
                <a:srgbClr val="CC0000"/>
              </a:solidFill>
              <a:latin typeface="微软雅黑" panose="020B0503020204020204" pitchFamily="34" charset="-122"/>
              <a:ea typeface="微软雅黑" panose="020B0503020204020204" pitchFamily="34" charset="-122"/>
            </a:endParaRPr>
          </a:p>
        </p:txBody>
      </p:sp>
      <p:grpSp>
        <p:nvGrpSpPr>
          <p:cNvPr id="37" name="Group 31"/>
          <p:cNvGrpSpPr/>
          <p:nvPr/>
        </p:nvGrpSpPr>
        <p:grpSpPr>
          <a:xfrm>
            <a:off x="8070850" y="2894013"/>
            <a:ext cx="2049463" cy="1058862"/>
            <a:chOff x="856" y="1440"/>
            <a:chExt cx="1291" cy="667"/>
          </a:xfrm>
        </p:grpSpPr>
        <p:sp>
          <p:nvSpPr>
            <p:cNvPr id="38" name="Rectangle 3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9" name="Line 3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0" name="Line 3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1" name="Line 3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2" name="Line 3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3" name="Line 3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4" name="Line 3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45" name="Text Box 39"/>
          <p:cNvSpPr txBox="1"/>
          <p:nvPr/>
        </p:nvSpPr>
        <p:spPr>
          <a:xfrm>
            <a:off x="8104188" y="2995613"/>
            <a:ext cx="608012" cy="366712"/>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100</a:t>
            </a:r>
            <a:endParaRPr lang="en-US" altLang="zh-CN" sz="1800" dirty="0">
              <a:latin typeface="微软雅黑" panose="020B0503020204020204" pitchFamily="34" charset="-122"/>
              <a:ea typeface="微软雅黑" panose="020B0503020204020204" pitchFamily="34" charset="-122"/>
            </a:endParaRPr>
          </a:p>
        </p:txBody>
      </p:sp>
      <p:sp>
        <p:nvSpPr>
          <p:cNvPr id="46" name="Text Box 42"/>
          <p:cNvSpPr txBox="1"/>
          <p:nvPr/>
        </p:nvSpPr>
        <p:spPr>
          <a:xfrm>
            <a:off x="3092450" y="2762250"/>
            <a:ext cx="796925" cy="701675"/>
          </a:xfrm>
          <a:prstGeom prst="rect">
            <a:avLst/>
          </a:prstGeom>
          <a:noFill/>
          <a:ln w="9525">
            <a:noFill/>
          </a:ln>
        </p:spPr>
        <p:txBody>
          <a:bodyPr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索引文件</a:t>
            </a:r>
            <a:endParaRPr lang="zh-CN" altLang="en-US" dirty="0">
              <a:solidFill>
                <a:schemeClr val="accent2"/>
              </a:solidFill>
              <a:latin typeface="Times New Roman" panose="02020603050405020304" pitchFamily="18" charset="0"/>
              <a:ea typeface="微软雅黑" panose="020B0503020204020204" pitchFamily="34" charset="-122"/>
            </a:endParaRPr>
          </a:p>
        </p:txBody>
      </p:sp>
      <p:sp>
        <p:nvSpPr>
          <p:cNvPr id="47" name="Text Box 43"/>
          <p:cNvSpPr txBox="1"/>
          <p:nvPr/>
        </p:nvSpPr>
        <p:spPr>
          <a:xfrm>
            <a:off x="10352088" y="5751512"/>
            <a:ext cx="946150" cy="396875"/>
          </a:xfrm>
          <a:prstGeom prst="rect">
            <a:avLst/>
          </a:prstGeom>
          <a:noFill/>
          <a:ln w="9525">
            <a:noFill/>
          </a:ln>
        </p:spPr>
        <p:txBody>
          <a:bodyPr wrap="none"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主文件</a:t>
            </a:r>
            <a:endParaRPr lang="zh-CN" altLang="en-US" dirty="0">
              <a:solidFill>
                <a:schemeClr val="accent2"/>
              </a:solidFill>
              <a:latin typeface="Times New Roman" panose="02020603050405020304" pitchFamily="18" charset="0"/>
              <a:ea typeface="微软雅黑" panose="020B0503020204020204" pitchFamily="34" charset="-122"/>
            </a:endParaRPr>
          </a:p>
        </p:txBody>
      </p:sp>
      <p:sp>
        <p:nvSpPr>
          <p:cNvPr id="48" name="Line 44"/>
          <p:cNvSpPr/>
          <p:nvPr/>
        </p:nvSpPr>
        <p:spPr>
          <a:xfrm>
            <a:off x="6280150" y="3692525"/>
            <a:ext cx="1800225" cy="0"/>
          </a:xfrm>
          <a:prstGeom prst="line">
            <a:avLst/>
          </a:prstGeom>
          <a:ln w="28575" cap="flat" cmpd="sng">
            <a:solidFill>
              <a:srgbClr val="CC0000"/>
            </a:solidFill>
            <a:prstDash val="solid"/>
            <a:round/>
            <a:headEnd type="none" w="med" len="med"/>
            <a:tailEnd type="triangle" w="med" len="med"/>
          </a:ln>
        </p:spPr>
      </p:sp>
      <p:sp>
        <p:nvSpPr>
          <p:cNvPr id="49" name="Freeform 46"/>
          <p:cNvSpPr/>
          <p:nvPr/>
        </p:nvSpPr>
        <p:spPr>
          <a:xfrm>
            <a:off x="8281988" y="3702050"/>
            <a:ext cx="422275" cy="1603375"/>
          </a:xfrm>
          <a:custGeom>
            <a:avLst/>
            <a:gdLst/>
            <a:ahLst/>
            <a:cxnLst>
              <a:cxn ang="0">
                <a:pos x="0" y="0"/>
              </a:cxn>
              <a:cxn ang="0">
                <a:pos x="0" y="978"/>
              </a:cxn>
              <a:cxn ang="0">
                <a:pos x="265" y="1197"/>
              </a:cxn>
            </a:cxnLst>
            <a:rect l="0" t="0" r="0" b="0"/>
            <a:pathLst>
              <a:path w="265" h="1197">
                <a:moveTo>
                  <a:pt x="0" y="0"/>
                </a:moveTo>
                <a:lnTo>
                  <a:pt x="0" y="978"/>
                </a:lnTo>
                <a:lnTo>
                  <a:pt x="265" y="1197"/>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50" name="Freeform 47"/>
          <p:cNvSpPr/>
          <p:nvPr/>
        </p:nvSpPr>
        <p:spPr>
          <a:xfrm>
            <a:off x="3579813" y="3670300"/>
            <a:ext cx="1147762" cy="1655763"/>
          </a:xfrm>
          <a:custGeom>
            <a:avLst/>
            <a:gdLst/>
            <a:ahLst/>
            <a:cxnLst>
              <a:cxn ang="0">
                <a:pos x="723" y="0"/>
              </a:cxn>
              <a:cxn ang="0">
                <a:pos x="10" y="311"/>
              </a:cxn>
              <a:cxn ang="0">
                <a:pos x="10" y="997"/>
              </a:cxn>
              <a:cxn ang="0">
                <a:pos x="0" y="1244"/>
              </a:cxn>
            </a:cxnLst>
            <a:rect l="0" t="0" r="0" b="0"/>
            <a:pathLst>
              <a:path w="723" h="1244">
                <a:moveTo>
                  <a:pt x="723" y="0"/>
                </a:moveTo>
                <a:lnTo>
                  <a:pt x="10" y="311"/>
                </a:lnTo>
                <a:lnTo>
                  <a:pt x="10" y="997"/>
                </a:lnTo>
                <a:lnTo>
                  <a:pt x="0" y="1244"/>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51" name="Freeform 49"/>
          <p:cNvSpPr/>
          <p:nvPr/>
        </p:nvSpPr>
        <p:spPr>
          <a:xfrm>
            <a:off x="5222875" y="3613150"/>
            <a:ext cx="1042988" cy="1690688"/>
          </a:xfrm>
          <a:custGeom>
            <a:avLst/>
            <a:gdLst/>
            <a:ahLst/>
            <a:cxnLst>
              <a:cxn ang="0">
                <a:pos x="0" y="0"/>
              </a:cxn>
              <a:cxn ang="0">
                <a:pos x="283" y="320"/>
              </a:cxn>
              <a:cxn ang="0">
                <a:pos x="283" y="996"/>
              </a:cxn>
              <a:cxn ang="0">
                <a:pos x="375" y="1280"/>
              </a:cxn>
            </a:cxnLst>
            <a:rect l="0" t="0" r="0" b="0"/>
            <a:pathLst>
              <a:path w="375" h="1280">
                <a:moveTo>
                  <a:pt x="0" y="0"/>
                </a:moveTo>
                <a:lnTo>
                  <a:pt x="283" y="320"/>
                </a:lnTo>
                <a:lnTo>
                  <a:pt x="283" y="996"/>
                </a:lnTo>
                <a:lnTo>
                  <a:pt x="375" y="1280"/>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52" name="Text Box 50"/>
          <p:cNvSpPr txBox="1"/>
          <p:nvPr/>
        </p:nvSpPr>
        <p:spPr>
          <a:xfrm>
            <a:off x="8774113" y="2984500"/>
            <a:ext cx="608012" cy="366713"/>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120</a:t>
            </a:r>
            <a:endParaRPr lang="en-US" altLang="zh-CN" sz="1800" dirty="0">
              <a:latin typeface="微软雅黑" panose="020B0503020204020204" pitchFamily="34" charset="-122"/>
              <a:ea typeface="微软雅黑" panose="020B0503020204020204" pitchFamily="34" charset="-122"/>
            </a:endParaRPr>
          </a:p>
        </p:txBody>
      </p:sp>
      <p:sp>
        <p:nvSpPr>
          <p:cNvPr id="53" name="Freeform 51"/>
          <p:cNvSpPr/>
          <p:nvPr/>
        </p:nvSpPr>
        <p:spPr>
          <a:xfrm>
            <a:off x="8804275" y="3670299"/>
            <a:ext cx="1406525" cy="1679575"/>
          </a:xfrm>
          <a:custGeom>
            <a:avLst/>
            <a:gdLst/>
            <a:ahLst/>
            <a:cxnLst>
              <a:cxn ang="0">
                <a:pos x="0" y="0"/>
              </a:cxn>
              <a:cxn ang="0">
                <a:pos x="0" y="455"/>
              </a:cxn>
              <a:cxn ang="0">
                <a:pos x="1326" y="978"/>
              </a:cxn>
            </a:cxnLst>
            <a:rect l="0" t="0" r="0" b="0"/>
            <a:pathLst>
              <a:path w="1326" h="978">
                <a:moveTo>
                  <a:pt x="0" y="0"/>
                </a:moveTo>
                <a:lnTo>
                  <a:pt x="0" y="455"/>
                </a:lnTo>
                <a:lnTo>
                  <a:pt x="1326" y="978"/>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54" name="Line 52"/>
          <p:cNvSpPr/>
          <p:nvPr/>
        </p:nvSpPr>
        <p:spPr>
          <a:xfrm>
            <a:off x="9845675" y="3690938"/>
            <a:ext cx="595313" cy="0"/>
          </a:xfrm>
          <a:prstGeom prst="line">
            <a:avLst/>
          </a:prstGeom>
          <a:ln w="28575" cap="flat" cmpd="sng">
            <a:solidFill>
              <a:srgbClr val="CC0000"/>
            </a:solidFill>
            <a:prstDash val="solid"/>
            <a:round/>
            <a:headEnd type="none" w="med" len="med"/>
            <a:tailEnd type="triangle" w="med" len="med"/>
          </a:ln>
        </p:spPr>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用</a:t>
            </a:r>
            <a:r>
              <a:rPr lang="en-US" altLang="zh-CN" sz="2600" dirty="0">
                <a:latin typeface="微软雅黑" panose="020B0503020204020204" pitchFamily="34" charset="-122"/>
                <a:ea typeface="微软雅黑" panose="020B0503020204020204" pitchFamily="34" charset="-122"/>
              </a:rPr>
              <a:t>B+</a:t>
            </a:r>
            <a:r>
              <a:rPr lang="zh-CN" altLang="en-US" sz="2600" dirty="0">
                <a:latin typeface="微软雅黑" panose="020B0503020204020204" pitchFamily="34" charset="-122"/>
                <a:ea typeface="微软雅黑" panose="020B0503020204020204" pitchFamily="34" charset="-122"/>
              </a:rPr>
              <a:t>树建立不同的索引</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en-US" altLang="zh-CN" sz="2000" b="0" dirty="0"/>
              <a:t>III. </a:t>
            </a:r>
            <a:r>
              <a:rPr lang="zh-CN" altLang="en-US" sz="2000" b="0" dirty="0">
                <a:latin typeface="微软雅黑" panose="020B0503020204020204" pitchFamily="34" charset="-122"/>
                <a:ea typeface="微软雅黑" panose="020B0503020204020204" pitchFamily="34" charset="-122"/>
              </a:rPr>
              <a:t>用</a:t>
            </a:r>
            <a:r>
              <a:rPr lang="en-US" altLang="zh-CN" sz="2000" b="0" dirty="0">
                <a:latin typeface="微软雅黑" panose="020B0503020204020204" pitchFamily="34" charset="-122"/>
                <a:ea typeface="微软雅黑" panose="020B0503020204020204" pitchFamily="34" charset="-122"/>
              </a:rPr>
              <a:t>B+</a:t>
            </a:r>
            <a:r>
              <a:rPr lang="zh-CN" altLang="en-US" sz="2000" b="0" dirty="0">
                <a:latin typeface="微软雅黑" panose="020B0503020204020204" pitchFamily="34" charset="-122"/>
                <a:ea typeface="微软雅黑" panose="020B0503020204020204" pitchFamily="34" charset="-122"/>
              </a:rPr>
              <a:t>树建立非键属性稠密索引</a:t>
            </a:r>
            <a:endParaRPr lang="en-US" altLang="zh-CN" sz="2000" b="0" dirty="0"/>
          </a:p>
          <a:p>
            <a:pPr>
              <a:lnSpc>
                <a:spcPct val="100000"/>
              </a:lnSpc>
              <a:buFont typeface="Wingdings" panose="05000000000000000000" pitchFamily="2" charset="2"/>
              <a:buChar char="l"/>
            </a:pPr>
            <a:r>
              <a:rPr lang="zh-CN" altLang="en-US" sz="1800" b="0" dirty="0"/>
              <a:t>索引字段是主文件的非键属性，索引是稠密的。主文件按非键属性排序</a:t>
            </a:r>
            <a:endParaRPr lang="zh-CN" altLang="en-US" sz="1800" b="0" dirty="0"/>
          </a:p>
          <a:p>
            <a:pPr>
              <a:lnSpc>
                <a:spcPct val="100000"/>
              </a:lnSpc>
              <a:buFont typeface="Wingdings" panose="05000000000000000000" pitchFamily="2" charset="2"/>
              <a:buChar char="l"/>
            </a:pPr>
            <a:r>
              <a:rPr lang="zh-CN" altLang="en-US" sz="1800" b="0" dirty="0"/>
              <a:t>索引文件的索引字段是无重复的。指针指向的是记录。</a:t>
            </a:r>
            <a:endParaRPr lang="zh-CN" altLang="en-US" sz="2200" b="0" dirty="0"/>
          </a:p>
          <a:p>
            <a:pPr>
              <a:lnSpc>
                <a:spcPct val="100000"/>
              </a:lnSpc>
              <a:buFont typeface="Wingdings" panose="05000000000000000000" pitchFamily="2" charset="2"/>
              <a:buChar char="l"/>
            </a:pPr>
            <a:endParaRPr lang="zh-CN" altLang="en-US" sz="22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2" name="Rectangle 2"/>
          <p:cNvSpPr/>
          <p:nvPr/>
        </p:nvSpPr>
        <p:spPr>
          <a:xfrm>
            <a:off x="2005805" y="5469428"/>
            <a:ext cx="8180389" cy="1283311"/>
          </a:xfrm>
          <a:prstGeom prst="rect">
            <a:avLst/>
          </a:prstGeom>
          <a:solidFill>
            <a:schemeClr val="bg1"/>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4" name="Rectangle 3"/>
          <p:cNvSpPr/>
          <p:nvPr/>
        </p:nvSpPr>
        <p:spPr>
          <a:xfrm>
            <a:off x="2259808" y="5582141"/>
            <a:ext cx="2017712" cy="996769"/>
          </a:xfrm>
          <a:prstGeom prst="rect">
            <a:avLst/>
          </a:prstGeom>
          <a:solidFill>
            <a:srgbClr val="DDDDDD"/>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7" name="Rectangle 4"/>
          <p:cNvSpPr/>
          <p:nvPr/>
        </p:nvSpPr>
        <p:spPr>
          <a:xfrm>
            <a:off x="4845844" y="5580553"/>
            <a:ext cx="2017712" cy="1001713"/>
          </a:xfrm>
          <a:prstGeom prst="rect">
            <a:avLst/>
          </a:prstGeom>
          <a:solidFill>
            <a:srgbClr val="DDDDDD"/>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8" name="Rectangle 5"/>
          <p:cNvSpPr/>
          <p:nvPr/>
        </p:nvSpPr>
        <p:spPr>
          <a:xfrm>
            <a:off x="7433469" y="5580554"/>
            <a:ext cx="1985963" cy="993772"/>
          </a:xfrm>
          <a:prstGeom prst="rect">
            <a:avLst/>
          </a:prstGeom>
          <a:solidFill>
            <a:srgbClr val="DDDDDD"/>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9" name="Text Box 6"/>
          <p:cNvSpPr txBox="1"/>
          <p:nvPr/>
        </p:nvSpPr>
        <p:spPr>
          <a:xfrm>
            <a:off x="2167732" y="5669453"/>
            <a:ext cx="2079625"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属性值</a:t>
            </a:r>
            <a:r>
              <a:rPr lang="en-US" altLang="zh-CN" sz="1800" dirty="0">
                <a:latin typeface="微软雅黑" panose="020B0503020204020204" pitchFamily="34" charset="-122"/>
                <a:ea typeface="微软雅黑" panose="020B0503020204020204" pitchFamily="34" charset="-122"/>
              </a:rPr>
              <a:t>57</a:t>
            </a:r>
            <a:r>
              <a:rPr lang="zh-CN" altLang="en-US" sz="1800" dirty="0">
                <a:latin typeface="微软雅黑" panose="020B0503020204020204" pitchFamily="34" charset="-122"/>
                <a:ea typeface="微软雅黑" panose="020B0503020204020204" pitchFamily="34" charset="-122"/>
              </a:rPr>
              <a:t>的记录</a:t>
            </a: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p:txBody>
      </p:sp>
      <p:sp>
        <p:nvSpPr>
          <p:cNvPr id="10" name="Text Box 7"/>
          <p:cNvSpPr txBox="1"/>
          <p:nvPr/>
        </p:nvSpPr>
        <p:spPr>
          <a:xfrm>
            <a:off x="2177257" y="6215553"/>
            <a:ext cx="2079625"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属性值</a:t>
            </a:r>
            <a:r>
              <a:rPr lang="en-US" altLang="zh-CN" sz="1800" dirty="0">
                <a:latin typeface="微软雅黑" panose="020B0503020204020204" pitchFamily="34" charset="-122"/>
                <a:ea typeface="微软雅黑" panose="020B0503020204020204" pitchFamily="34" charset="-122"/>
              </a:rPr>
              <a:t>57</a:t>
            </a:r>
            <a:r>
              <a:rPr lang="zh-CN" altLang="en-US" sz="1800" dirty="0">
                <a:latin typeface="微软雅黑" panose="020B0503020204020204" pitchFamily="34" charset="-122"/>
                <a:ea typeface="微软雅黑" panose="020B0503020204020204" pitchFamily="34" charset="-122"/>
              </a:rPr>
              <a:t>的记录</a:t>
            </a: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p:txBody>
      </p:sp>
      <p:sp>
        <p:nvSpPr>
          <p:cNvPr id="17" name="Text Box 8"/>
          <p:cNvSpPr txBox="1"/>
          <p:nvPr/>
        </p:nvSpPr>
        <p:spPr>
          <a:xfrm>
            <a:off x="4831557" y="5686916"/>
            <a:ext cx="2079625" cy="366712"/>
          </a:xfrm>
          <a:prstGeom prst="rect">
            <a:avLst/>
          </a:prstGeom>
          <a:noFill/>
          <a:ln w="9525">
            <a:noFill/>
          </a:ln>
        </p:spPr>
        <p:txBody>
          <a:bodyPr wrap="none" anchor="t">
            <a:spAutoFit/>
          </a:bodyPr>
          <a:lstStyle/>
          <a:p>
            <a:pPr>
              <a:buChar char="•"/>
            </a:pPr>
            <a:r>
              <a:rPr lang="zh-CN" altLang="en-US" sz="1800" dirty="0">
                <a:latin typeface="微软雅黑" panose="020B0503020204020204" pitchFamily="34" charset="-122"/>
                <a:ea typeface="微软雅黑" panose="020B0503020204020204" pitchFamily="34" charset="-122"/>
              </a:rPr>
              <a:t>属性值</a:t>
            </a:r>
            <a:r>
              <a:rPr lang="en-US" altLang="zh-CN" sz="1800" dirty="0">
                <a:latin typeface="微软雅黑" panose="020B0503020204020204" pitchFamily="34" charset="-122"/>
                <a:ea typeface="微软雅黑" panose="020B0503020204020204" pitchFamily="34" charset="-122"/>
              </a:rPr>
              <a:t>57</a:t>
            </a:r>
            <a:r>
              <a:rPr lang="zh-CN" altLang="en-US" sz="1800" dirty="0">
                <a:latin typeface="微软雅黑" panose="020B0503020204020204" pitchFamily="34" charset="-122"/>
                <a:ea typeface="微软雅黑" panose="020B0503020204020204" pitchFamily="34" charset="-122"/>
              </a:rPr>
              <a:t>的记录</a:t>
            </a: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p:txBody>
      </p:sp>
      <p:sp>
        <p:nvSpPr>
          <p:cNvPr id="55" name="Text Box 9"/>
          <p:cNvSpPr txBox="1"/>
          <p:nvPr/>
        </p:nvSpPr>
        <p:spPr>
          <a:xfrm>
            <a:off x="4831557" y="6199678"/>
            <a:ext cx="1938337"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属性值</a:t>
            </a:r>
            <a:r>
              <a:rPr lang="en-US" altLang="zh-CN" sz="1800" dirty="0">
                <a:latin typeface="微软雅黑" panose="020B0503020204020204" pitchFamily="34" charset="-122"/>
                <a:ea typeface="微软雅黑" panose="020B0503020204020204" pitchFamily="34" charset="-122"/>
              </a:rPr>
              <a:t>78</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56" name="Text Box 10"/>
          <p:cNvSpPr txBox="1"/>
          <p:nvPr/>
        </p:nvSpPr>
        <p:spPr>
          <a:xfrm>
            <a:off x="7358857" y="5691678"/>
            <a:ext cx="2079625"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属性值</a:t>
            </a:r>
            <a:r>
              <a:rPr lang="en-US" altLang="zh-CN" sz="1800" dirty="0">
                <a:latin typeface="微软雅黑" panose="020B0503020204020204" pitchFamily="34" charset="-122"/>
                <a:ea typeface="微软雅黑" panose="020B0503020204020204" pitchFamily="34" charset="-122"/>
              </a:rPr>
              <a:t>100</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57" name="Text Box 11"/>
          <p:cNvSpPr txBox="1"/>
          <p:nvPr/>
        </p:nvSpPr>
        <p:spPr>
          <a:xfrm>
            <a:off x="7339807" y="6183803"/>
            <a:ext cx="2079625"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属性值</a:t>
            </a:r>
            <a:r>
              <a:rPr lang="en-US" altLang="zh-CN" sz="1800" dirty="0">
                <a:latin typeface="微软雅黑" panose="020B0503020204020204" pitchFamily="34" charset="-122"/>
                <a:ea typeface="微软雅黑" panose="020B0503020204020204" pitchFamily="34" charset="-122"/>
              </a:rPr>
              <a:t>106</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58" name="Rectangle 14"/>
          <p:cNvSpPr/>
          <p:nvPr/>
        </p:nvSpPr>
        <p:spPr>
          <a:xfrm>
            <a:off x="2271712" y="3063876"/>
            <a:ext cx="7608887" cy="2078038"/>
          </a:xfrm>
          <a:prstGeom prst="rect">
            <a:avLst/>
          </a:prstGeom>
          <a:solidFill>
            <a:schemeClr val="bg1"/>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grpSp>
        <p:nvGrpSpPr>
          <p:cNvPr id="59" name="Group 15"/>
          <p:cNvGrpSpPr/>
          <p:nvPr/>
        </p:nvGrpSpPr>
        <p:grpSpPr>
          <a:xfrm>
            <a:off x="3600450" y="3213100"/>
            <a:ext cx="2049463" cy="1058862"/>
            <a:chOff x="856" y="1440"/>
            <a:chExt cx="1291" cy="667"/>
          </a:xfrm>
        </p:grpSpPr>
        <p:sp>
          <p:nvSpPr>
            <p:cNvPr id="60" name="Rectangle 1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61" name="Line 1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62" name="Line 1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63" name="Line 1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64" name="Line 2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65" name="Line 2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66" name="Line 2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67" name="Text Box 23"/>
          <p:cNvSpPr txBox="1"/>
          <p:nvPr/>
        </p:nvSpPr>
        <p:spPr>
          <a:xfrm>
            <a:off x="3659188" y="3240087"/>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57</a:t>
            </a:r>
            <a:endParaRPr lang="en-US" altLang="zh-CN" sz="2400" dirty="0">
              <a:latin typeface="微软雅黑" panose="020B0503020204020204" pitchFamily="34" charset="-122"/>
              <a:ea typeface="微软雅黑" panose="020B0503020204020204" pitchFamily="34" charset="-122"/>
            </a:endParaRPr>
          </a:p>
        </p:txBody>
      </p:sp>
      <p:sp>
        <p:nvSpPr>
          <p:cNvPr id="68" name="Text Box 25"/>
          <p:cNvSpPr txBox="1"/>
          <p:nvPr/>
        </p:nvSpPr>
        <p:spPr>
          <a:xfrm>
            <a:off x="2568287" y="4369593"/>
            <a:ext cx="1216025" cy="825500"/>
          </a:xfrm>
          <a:prstGeom prst="rect">
            <a:avLst/>
          </a:prstGeom>
          <a:noFill/>
          <a:ln w="9525">
            <a:noFill/>
          </a:ln>
        </p:spPr>
        <p:txBody>
          <a:bodyPr anchor="t">
            <a:spAutoFit/>
          </a:bodyPr>
          <a:lstStyle/>
          <a:p>
            <a:r>
              <a:rPr lang="zh-CN" altLang="en-US" sz="1600" dirty="0">
                <a:latin typeface="微软雅黑" panose="020B0503020204020204" pitchFamily="34" charset="-122"/>
                <a:ea typeface="微软雅黑" panose="020B0503020204020204" pitchFamily="34" charset="-122"/>
              </a:rPr>
              <a:t>指向属性值为</a:t>
            </a:r>
            <a:r>
              <a:rPr lang="en-US" altLang="zh-CN" sz="1600" dirty="0">
                <a:latin typeface="微软雅黑" panose="020B0503020204020204" pitchFamily="34" charset="-122"/>
                <a:ea typeface="微软雅黑" panose="020B0503020204020204" pitchFamily="34" charset="-122"/>
              </a:rPr>
              <a:t>57</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主文件记录</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69" name="Text Box 26"/>
          <p:cNvSpPr txBox="1"/>
          <p:nvPr/>
        </p:nvSpPr>
        <p:spPr>
          <a:xfrm>
            <a:off x="4722813" y="4350544"/>
            <a:ext cx="1216025" cy="825500"/>
          </a:xfrm>
          <a:prstGeom prst="rect">
            <a:avLst/>
          </a:prstGeom>
          <a:noFill/>
          <a:ln w="9525">
            <a:noFill/>
          </a:ln>
        </p:spPr>
        <p:txBody>
          <a:bodyPr anchor="t">
            <a:spAutoFit/>
          </a:bodyPr>
          <a:lstStyle/>
          <a:p>
            <a:r>
              <a:rPr lang="zh-CN" altLang="en-US" sz="1600" dirty="0">
                <a:latin typeface="微软雅黑" panose="020B0503020204020204" pitchFamily="34" charset="-122"/>
                <a:ea typeface="微软雅黑" panose="020B0503020204020204" pitchFamily="34" charset="-122"/>
              </a:rPr>
              <a:t>指向属性值为</a:t>
            </a:r>
            <a:r>
              <a:rPr lang="en-US" altLang="zh-CN" sz="1600" dirty="0">
                <a:latin typeface="微软雅黑" panose="020B0503020204020204" pitchFamily="34" charset="-122"/>
                <a:ea typeface="微软雅黑" panose="020B0503020204020204" pitchFamily="34" charset="-122"/>
              </a:rPr>
              <a:t>78</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主文件记录</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70" name="Text Box 27"/>
          <p:cNvSpPr txBox="1"/>
          <p:nvPr/>
        </p:nvSpPr>
        <p:spPr>
          <a:xfrm>
            <a:off x="5956300" y="3054350"/>
            <a:ext cx="1039813" cy="825500"/>
          </a:xfrm>
          <a:prstGeom prst="rect">
            <a:avLst/>
          </a:prstGeom>
          <a:noFill/>
          <a:ln w="9525">
            <a:noFill/>
          </a:ln>
        </p:spPr>
        <p:txBody>
          <a:bodyPr anchor="t">
            <a:spAutoFit/>
          </a:bodyPr>
          <a:lstStyle/>
          <a:p>
            <a:r>
              <a:rPr lang="zh-CN" altLang="en-US" sz="1600" dirty="0">
                <a:latin typeface="微软雅黑" panose="020B0503020204020204" pitchFamily="34" charset="-122"/>
                <a:ea typeface="微软雅黑" panose="020B0503020204020204" pitchFamily="34" charset="-122"/>
              </a:rPr>
              <a:t>指向按顺序的</a:t>
            </a:r>
            <a:r>
              <a:rPr lang="zh-CN" altLang="en-US" sz="1600" dirty="0">
                <a:solidFill>
                  <a:srgbClr val="CC0000"/>
                </a:solidFill>
                <a:latin typeface="微软雅黑" panose="020B0503020204020204" pitchFamily="34" charset="-122"/>
                <a:ea typeface="微软雅黑" panose="020B0503020204020204" pitchFamily="34" charset="-122"/>
              </a:rPr>
              <a:t>下一个叶结点</a:t>
            </a:r>
            <a:endParaRPr lang="zh-CN" altLang="en-US" sz="1600" dirty="0">
              <a:solidFill>
                <a:srgbClr val="CC0000"/>
              </a:solidFill>
              <a:latin typeface="微软雅黑" panose="020B0503020204020204" pitchFamily="34" charset="-122"/>
              <a:ea typeface="微软雅黑" panose="020B0503020204020204" pitchFamily="34" charset="-122"/>
            </a:endParaRPr>
          </a:p>
        </p:txBody>
      </p:sp>
      <p:grpSp>
        <p:nvGrpSpPr>
          <p:cNvPr id="71" name="Group 29"/>
          <p:cNvGrpSpPr/>
          <p:nvPr/>
        </p:nvGrpSpPr>
        <p:grpSpPr>
          <a:xfrm>
            <a:off x="7239000" y="3225800"/>
            <a:ext cx="2049463" cy="1058862"/>
            <a:chOff x="856" y="1440"/>
            <a:chExt cx="1291" cy="667"/>
          </a:xfrm>
        </p:grpSpPr>
        <p:sp>
          <p:nvSpPr>
            <p:cNvPr id="72"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73" name="Line 3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74" name="Line 3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75" name="Line 3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76" name="Line 3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77" name="Line 3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78" name="Line 3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79" name="Text Box 37"/>
          <p:cNvSpPr txBox="1"/>
          <p:nvPr/>
        </p:nvSpPr>
        <p:spPr>
          <a:xfrm>
            <a:off x="7272338" y="3327400"/>
            <a:ext cx="608012" cy="366712"/>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100</a:t>
            </a:r>
            <a:endParaRPr lang="en-US" altLang="zh-CN" sz="1800" dirty="0">
              <a:latin typeface="微软雅黑" panose="020B0503020204020204" pitchFamily="34" charset="-122"/>
              <a:ea typeface="微软雅黑" panose="020B0503020204020204" pitchFamily="34" charset="-122"/>
            </a:endParaRPr>
          </a:p>
        </p:txBody>
      </p:sp>
      <p:sp>
        <p:nvSpPr>
          <p:cNvPr id="80" name="Text Box 38"/>
          <p:cNvSpPr txBox="1"/>
          <p:nvPr/>
        </p:nvSpPr>
        <p:spPr>
          <a:xfrm>
            <a:off x="2260600" y="3094037"/>
            <a:ext cx="796925" cy="701675"/>
          </a:xfrm>
          <a:prstGeom prst="rect">
            <a:avLst/>
          </a:prstGeom>
          <a:noFill/>
          <a:ln w="9525">
            <a:noFill/>
          </a:ln>
        </p:spPr>
        <p:txBody>
          <a:bodyPr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索引文件</a:t>
            </a:r>
            <a:endParaRPr lang="zh-CN" altLang="en-US" dirty="0">
              <a:solidFill>
                <a:schemeClr val="accent2"/>
              </a:solidFill>
              <a:latin typeface="Times New Roman" panose="02020603050405020304" pitchFamily="18" charset="0"/>
              <a:ea typeface="微软雅黑" panose="020B0503020204020204" pitchFamily="34" charset="-122"/>
            </a:endParaRPr>
          </a:p>
        </p:txBody>
      </p:sp>
      <p:sp>
        <p:nvSpPr>
          <p:cNvPr id="81" name="Text Box 39"/>
          <p:cNvSpPr txBox="1"/>
          <p:nvPr/>
        </p:nvSpPr>
        <p:spPr>
          <a:xfrm>
            <a:off x="9331325" y="5992022"/>
            <a:ext cx="946150" cy="396875"/>
          </a:xfrm>
          <a:prstGeom prst="rect">
            <a:avLst/>
          </a:prstGeom>
          <a:noFill/>
          <a:ln w="9525">
            <a:noFill/>
          </a:ln>
        </p:spPr>
        <p:txBody>
          <a:bodyPr wrap="none"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主文件</a:t>
            </a:r>
            <a:endParaRPr lang="zh-CN" altLang="en-US" dirty="0">
              <a:solidFill>
                <a:schemeClr val="accent2"/>
              </a:solidFill>
              <a:latin typeface="Times New Roman" panose="02020603050405020304" pitchFamily="18" charset="0"/>
              <a:ea typeface="微软雅黑" panose="020B0503020204020204" pitchFamily="34" charset="-122"/>
            </a:endParaRPr>
          </a:p>
        </p:txBody>
      </p:sp>
      <p:sp>
        <p:nvSpPr>
          <p:cNvPr id="82" name="Line 40"/>
          <p:cNvSpPr/>
          <p:nvPr/>
        </p:nvSpPr>
        <p:spPr>
          <a:xfrm>
            <a:off x="5448300" y="4024312"/>
            <a:ext cx="1800225" cy="0"/>
          </a:xfrm>
          <a:prstGeom prst="line">
            <a:avLst/>
          </a:prstGeom>
          <a:ln w="28575" cap="flat" cmpd="sng">
            <a:solidFill>
              <a:srgbClr val="CC0000"/>
            </a:solidFill>
            <a:prstDash val="solid"/>
            <a:round/>
            <a:headEnd type="none" w="med" len="med"/>
            <a:tailEnd type="triangle" w="med" len="med"/>
          </a:ln>
        </p:spPr>
      </p:sp>
      <p:sp>
        <p:nvSpPr>
          <p:cNvPr id="83" name="Freeform 41"/>
          <p:cNvSpPr/>
          <p:nvPr/>
        </p:nvSpPr>
        <p:spPr>
          <a:xfrm>
            <a:off x="7451725" y="4033838"/>
            <a:ext cx="333376" cy="1709740"/>
          </a:xfrm>
          <a:custGeom>
            <a:avLst/>
            <a:gdLst/>
            <a:ahLst/>
            <a:cxnLst>
              <a:cxn ang="0">
                <a:pos x="0" y="0"/>
              </a:cxn>
              <a:cxn ang="0">
                <a:pos x="0" y="978"/>
              </a:cxn>
              <a:cxn ang="0">
                <a:pos x="265" y="1197"/>
              </a:cxn>
            </a:cxnLst>
            <a:rect l="0" t="0" r="0" b="0"/>
            <a:pathLst>
              <a:path w="265" h="1197">
                <a:moveTo>
                  <a:pt x="0" y="0"/>
                </a:moveTo>
                <a:lnTo>
                  <a:pt x="0" y="978"/>
                </a:lnTo>
                <a:lnTo>
                  <a:pt x="265" y="1197"/>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84" name="Freeform 42"/>
          <p:cNvSpPr/>
          <p:nvPr/>
        </p:nvSpPr>
        <p:spPr>
          <a:xfrm>
            <a:off x="2581276" y="4002088"/>
            <a:ext cx="1314449" cy="1547624"/>
          </a:xfrm>
          <a:custGeom>
            <a:avLst/>
            <a:gdLst/>
            <a:ahLst/>
            <a:cxnLst>
              <a:cxn ang="0">
                <a:pos x="723" y="0"/>
              </a:cxn>
              <a:cxn ang="0">
                <a:pos x="10" y="311"/>
              </a:cxn>
              <a:cxn ang="0">
                <a:pos x="10" y="997"/>
              </a:cxn>
              <a:cxn ang="0">
                <a:pos x="0" y="1244"/>
              </a:cxn>
            </a:cxnLst>
            <a:rect l="0" t="0" r="0" b="0"/>
            <a:pathLst>
              <a:path w="723" h="1244">
                <a:moveTo>
                  <a:pt x="723" y="0"/>
                </a:moveTo>
                <a:lnTo>
                  <a:pt x="10" y="311"/>
                </a:lnTo>
                <a:lnTo>
                  <a:pt x="10" y="997"/>
                </a:lnTo>
                <a:lnTo>
                  <a:pt x="0" y="1244"/>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85" name="Freeform 43"/>
          <p:cNvSpPr/>
          <p:nvPr/>
        </p:nvSpPr>
        <p:spPr>
          <a:xfrm>
            <a:off x="4326082" y="3953670"/>
            <a:ext cx="512617" cy="2469967"/>
          </a:xfrm>
          <a:custGeom>
            <a:avLst/>
            <a:gdLst/>
            <a:ahLst/>
            <a:cxnLst>
              <a:cxn ang="0">
                <a:pos x="0" y="0"/>
              </a:cxn>
              <a:cxn ang="0">
                <a:pos x="283" y="320"/>
              </a:cxn>
              <a:cxn ang="0">
                <a:pos x="283" y="996"/>
              </a:cxn>
              <a:cxn ang="0">
                <a:pos x="375" y="1280"/>
              </a:cxn>
            </a:cxnLst>
            <a:rect l="0" t="0" r="0" b="0"/>
            <a:pathLst>
              <a:path w="375" h="1280">
                <a:moveTo>
                  <a:pt x="0" y="0"/>
                </a:moveTo>
                <a:lnTo>
                  <a:pt x="283" y="320"/>
                </a:lnTo>
                <a:lnTo>
                  <a:pt x="283" y="996"/>
                </a:lnTo>
                <a:lnTo>
                  <a:pt x="375" y="1280"/>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86" name="Text Box 44"/>
          <p:cNvSpPr txBox="1"/>
          <p:nvPr/>
        </p:nvSpPr>
        <p:spPr>
          <a:xfrm>
            <a:off x="7942263" y="3316287"/>
            <a:ext cx="608012" cy="366713"/>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120</a:t>
            </a:r>
            <a:endParaRPr lang="en-US" altLang="zh-CN" sz="1800" dirty="0">
              <a:latin typeface="微软雅黑" panose="020B0503020204020204" pitchFamily="34" charset="-122"/>
              <a:ea typeface="微软雅黑" panose="020B0503020204020204" pitchFamily="34" charset="-122"/>
            </a:endParaRPr>
          </a:p>
        </p:txBody>
      </p:sp>
      <p:sp>
        <p:nvSpPr>
          <p:cNvPr id="87" name="Freeform 45"/>
          <p:cNvSpPr/>
          <p:nvPr/>
        </p:nvSpPr>
        <p:spPr>
          <a:xfrm>
            <a:off x="7972425" y="4067175"/>
            <a:ext cx="2105025" cy="1743075"/>
          </a:xfrm>
          <a:custGeom>
            <a:avLst/>
            <a:gdLst/>
            <a:ahLst/>
            <a:cxnLst>
              <a:cxn ang="0">
                <a:pos x="0" y="0"/>
              </a:cxn>
              <a:cxn ang="0">
                <a:pos x="0" y="455"/>
              </a:cxn>
              <a:cxn ang="0">
                <a:pos x="1326" y="978"/>
              </a:cxn>
            </a:cxnLst>
            <a:rect l="0" t="0" r="0" b="0"/>
            <a:pathLst>
              <a:path w="1326" h="978">
                <a:moveTo>
                  <a:pt x="0" y="0"/>
                </a:moveTo>
                <a:lnTo>
                  <a:pt x="0" y="455"/>
                </a:lnTo>
                <a:lnTo>
                  <a:pt x="1326" y="978"/>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88" name="Line 46"/>
          <p:cNvSpPr/>
          <p:nvPr/>
        </p:nvSpPr>
        <p:spPr>
          <a:xfrm>
            <a:off x="9013825" y="4022725"/>
            <a:ext cx="595313" cy="0"/>
          </a:xfrm>
          <a:prstGeom prst="line">
            <a:avLst/>
          </a:prstGeom>
          <a:ln w="28575" cap="flat" cmpd="sng">
            <a:solidFill>
              <a:srgbClr val="CC0000"/>
            </a:solidFill>
            <a:prstDash val="solid"/>
            <a:round/>
            <a:headEnd type="none" w="med" len="med"/>
            <a:tailEnd type="triangle" w="med" len="med"/>
          </a:ln>
        </p:spPr>
      </p:sp>
      <p:sp>
        <p:nvSpPr>
          <p:cNvPr id="89" name="Text Box 47"/>
          <p:cNvSpPr txBox="1"/>
          <p:nvPr/>
        </p:nvSpPr>
        <p:spPr>
          <a:xfrm>
            <a:off x="4349750" y="3228975"/>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78</a:t>
            </a:r>
            <a:endParaRPr lang="en-US" altLang="zh-CN" sz="2400" dirty="0">
              <a:latin typeface="微软雅黑" panose="020B0503020204020204" pitchFamily="34" charset="-122"/>
              <a:ea typeface="微软雅黑" panose="020B0503020204020204" pitchFamily="34" charset="-122"/>
            </a:endParaRPr>
          </a:p>
        </p:txBody>
      </p:sp>
      <p:sp>
        <p:nvSpPr>
          <p:cNvPr id="11" name="灯片编号占位符 10"/>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用</a:t>
            </a:r>
            <a:r>
              <a:rPr lang="en-US" altLang="zh-CN" sz="2600" dirty="0">
                <a:latin typeface="微软雅黑" panose="020B0503020204020204" pitchFamily="34" charset="-122"/>
                <a:ea typeface="微软雅黑" panose="020B0503020204020204" pitchFamily="34" charset="-122"/>
              </a:rPr>
              <a:t>B+</a:t>
            </a:r>
            <a:r>
              <a:rPr lang="zh-CN" altLang="en-US" sz="2600" dirty="0">
                <a:latin typeface="微软雅黑" panose="020B0503020204020204" pitchFamily="34" charset="-122"/>
                <a:ea typeface="微软雅黑" panose="020B0503020204020204" pitchFamily="34" charset="-122"/>
              </a:rPr>
              <a:t>树建立不同的索引</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en-US" altLang="zh-CN" sz="2000" b="0" dirty="0"/>
              <a:t>IV. </a:t>
            </a:r>
            <a:r>
              <a:rPr lang="zh-CN" altLang="en-US" sz="2000" b="0" dirty="0"/>
              <a:t>用</a:t>
            </a:r>
            <a:r>
              <a:rPr lang="en-US" altLang="zh-CN" sz="2000" b="0" dirty="0"/>
              <a:t>B+</a:t>
            </a:r>
            <a:r>
              <a:rPr lang="zh-CN" altLang="en-US" sz="2000" b="0" dirty="0"/>
              <a:t>树建立非键属性稠密索引</a:t>
            </a:r>
            <a:endParaRPr lang="en-US" altLang="zh-CN" sz="2000" b="0" dirty="0"/>
          </a:p>
          <a:p>
            <a:pPr>
              <a:lnSpc>
                <a:spcPct val="100000"/>
              </a:lnSpc>
              <a:buFont typeface="Wingdings" panose="05000000000000000000" pitchFamily="2" charset="2"/>
              <a:buChar char="l"/>
            </a:pPr>
            <a:r>
              <a:rPr lang="zh-CN" altLang="en-US" sz="1800" b="0" dirty="0"/>
              <a:t>索引字段是主文件的非键属性。主文件不按此非键属性排序</a:t>
            </a:r>
            <a:endParaRPr lang="zh-CN" altLang="en-US" sz="1800" b="0" dirty="0"/>
          </a:p>
          <a:p>
            <a:pPr>
              <a:lnSpc>
                <a:spcPct val="100000"/>
              </a:lnSpc>
              <a:buFont typeface="Wingdings" panose="05000000000000000000" pitchFamily="2" charset="2"/>
              <a:buChar char="l"/>
            </a:pPr>
            <a:r>
              <a:rPr lang="zh-CN" altLang="en-US" sz="1800" b="0" dirty="0"/>
              <a:t>索引文件的索引字段值是有重复的。指针指向的是记录。</a:t>
            </a:r>
            <a:endParaRPr lang="zh-CN" altLang="en-US" sz="1800" b="0" dirty="0"/>
          </a:p>
          <a:p>
            <a:pPr>
              <a:lnSpc>
                <a:spcPct val="100000"/>
              </a:lnSpc>
              <a:buFont typeface="Wingdings" panose="05000000000000000000" pitchFamily="2" charset="2"/>
              <a:buChar char="l"/>
            </a:pPr>
            <a:endParaRPr lang="zh-CN" altLang="en-US" sz="1800" dirty="0"/>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2" name="Rectangle 2"/>
          <p:cNvSpPr/>
          <p:nvPr/>
        </p:nvSpPr>
        <p:spPr>
          <a:xfrm>
            <a:off x="1930400" y="5348289"/>
            <a:ext cx="8547100" cy="1334112"/>
          </a:xfrm>
          <a:prstGeom prst="rect">
            <a:avLst/>
          </a:prstGeom>
          <a:solidFill>
            <a:schemeClr val="bg1"/>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13" name="Rectangle 3"/>
          <p:cNvSpPr/>
          <p:nvPr/>
        </p:nvSpPr>
        <p:spPr>
          <a:xfrm>
            <a:off x="2462213" y="5561013"/>
            <a:ext cx="2054223" cy="1009649"/>
          </a:xfrm>
          <a:prstGeom prst="rect">
            <a:avLst/>
          </a:prstGeom>
          <a:solidFill>
            <a:srgbClr val="DDDDDD"/>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14" name="Rectangle 4"/>
          <p:cNvSpPr/>
          <p:nvPr/>
        </p:nvSpPr>
        <p:spPr>
          <a:xfrm>
            <a:off x="5048250" y="5559425"/>
            <a:ext cx="2016125" cy="1011237"/>
          </a:xfrm>
          <a:prstGeom prst="rect">
            <a:avLst/>
          </a:prstGeom>
          <a:solidFill>
            <a:srgbClr val="DDDDDD"/>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15" name="Rectangle 5"/>
          <p:cNvSpPr/>
          <p:nvPr/>
        </p:nvSpPr>
        <p:spPr>
          <a:xfrm>
            <a:off x="7635875" y="5559425"/>
            <a:ext cx="2005013" cy="1011237"/>
          </a:xfrm>
          <a:prstGeom prst="rect">
            <a:avLst/>
          </a:prstGeom>
          <a:solidFill>
            <a:srgbClr val="DDDDDD"/>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sp>
        <p:nvSpPr>
          <p:cNvPr id="16" name="Text Box 6"/>
          <p:cNvSpPr txBox="1"/>
          <p:nvPr/>
        </p:nvSpPr>
        <p:spPr>
          <a:xfrm>
            <a:off x="2370138" y="5648325"/>
            <a:ext cx="2079625"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属性值</a:t>
            </a:r>
            <a:r>
              <a:rPr lang="en-US" altLang="zh-CN" sz="1800" dirty="0">
                <a:latin typeface="微软雅黑" panose="020B0503020204020204" pitchFamily="34" charset="-122"/>
                <a:ea typeface="微软雅黑" panose="020B0503020204020204" pitchFamily="34" charset="-122"/>
              </a:rPr>
              <a:t>57</a:t>
            </a:r>
            <a:r>
              <a:rPr lang="zh-CN" altLang="en-US" sz="1800" dirty="0">
                <a:latin typeface="微软雅黑" panose="020B0503020204020204" pitchFamily="34" charset="-122"/>
                <a:ea typeface="微软雅黑" panose="020B0503020204020204" pitchFamily="34" charset="-122"/>
              </a:rPr>
              <a:t>的记录</a:t>
            </a: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p:txBody>
      </p:sp>
      <p:sp>
        <p:nvSpPr>
          <p:cNvPr id="18" name="Text Box 7"/>
          <p:cNvSpPr txBox="1"/>
          <p:nvPr/>
        </p:nvSpPr>
        <p:spPr>
          <a:xfrm>
            <a:off x="2379663" y="6194425"/>
            <a:ext cx="2079625"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属性值</a:t>
            </a:r>
            <a:r>
              <a:rPr lang="en-US" altLang="zh-CN" sz="1800" dirty="0">
                <a:latin typeface="微软雅黑" panose="020B0503020204020204" pitchFamily="34" charset="-122"/>
                <a:ea typeface="微软雅黑" panose="020B0503020204020204" pitchFamily="34" charset="-122"/>
              </a:rPr>
              <a:t>57</a:t>
            </a:r>
            <a:r>
              <a:rPr lang="zh-CN" altLang="en-US" sz="1800" dirty="0">
                <a:latin typeface="微软雅黑" panose="020B0503020204020204" pitchFamily="34" charset="-122"/>
                <a:ea typeface="微软雅黑" panose="020B0503020204020204" pitchFamily="34" charset="-122"/>
              </a:rPr>
              <a:t>的记录</a:t>
            </a: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p:txBody>
      </p:sp>
      <p:sp>
        <p:nvSpPr>
          <p:cNvPr id="19" name="Text Box 8"/>
          <p:cNvSpPr txBox="1"/>
          <p:nvPr/>
        </p:nvSpPr>
        <p:spPr>
          <a:xfrm>
            <a:off x="5033963" y="5665788"/>
            <a:ext cx="1938337" cy="366712"/>
          </a:xfrm>
          <a:prstGeom prst="rect">
            <a:avLst/>
          </a:prstGeom>
          <a:noFill/>
          <a:ln w="9525">
            <a:noFill/>
          </a:ln>
        </p:spPr>
        <p:txBody>
          <a:bodyPr wrap="none" anchor="t">
            <a:spAutoFit/>
          </a:bodyPr>
          <a:lstStyle/>
          <a:p>
            <a:pPr>
              <a:buChar char="•"/>
            </a:pPr>
            <a:r>
              <a:rPr lang="zh-CN" altLang="en-US" sz="1800" dirty="0">
                <a:latin typeface="微软雅黑" panose="020B0503020204020204" pitchFamily="34" charset="-122"/>
                <a:ea typeface="微软雅黑" panose="020B0503020204020204" pitchFamily="34" charset="-122"/>
              </a:rPr>
              <a:t>属性值</a:t>
            </a:r>
            <a:r>
              <a:rPr lang="en-US" altLang="zh-CN" sz="1800" dirty="0">
                <a:latin typeface="微软雅黑" panose="020B0503020204020204" pitchFamily="34" charset="-122"/>
                <a:ea typeface="微软雅黑" panose="020B0503020204020204" pitchFamily="34" charset="-122"/>
              </a:rPr>
              <a:t>89</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20" name="Text Box 9"/>
          <p:cNvSpPr txBox="1"/>
          <p:nvPr/>
        </p:nvSpPr>
        <p:spPr>
          <a:xfrm>
            <a:off x="5033963" y="6178550"/>
            <a:ext cx="1938337"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属性值</a:t>
            </a:r>
            <a:r>
              <a:rPr lang="en-US" altLang="zh-CN" sz="1800" dirty="0">
                <a:latin typeface="微软雅黑" panose="020B0503020204020204" pitchFamily="34" charset="-122"/>
                <a:ea typeface="微软雅黑" panose="020B0503020204020204" pitchFamily="34" charset="-122"/>
              </a:rPr>
              <a:t>78</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21" name="Text Box 10"/>
          <p:cNvSpPr txBox="1"/>
          <p:nvPr/>
        </p:nvSpPr>
        <p:spPr>
          <a:xfrm>
            <a:off x="7561263" y="5670550"/>
            <a:ext cx="2079625"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属性值</a:t>
            </a:r>
            <a:r>
              <a:rPr lang="en-US" altLang="zh-CN" sz="1800" dirty="0">
                <a:latin typeface="微软雅黑" panose="020B0503020204020204" pitchFamily="34" charset="-122"/>
                <a:ea typeface="微软雅黑" panose="020B0503020204020204" pitchFamily="34" charset="-122"/>
              </a:rPr>
              <a:t>100</a:t>
            </a:r>
            <a:r>
              <a:rPr lang="zh-CN" altLang="en-US" sz="1800" dirty="0">
                <a:latin typeface="微软雅黑" panose="020B0503020204020204" pitchFamily="34" charset="-122"/>
                <a:ea typeface="微软雅黑" panose="020B0503020204020204" pitchFamily="34" charset="-122"/>
              </a:rPr>
              <a:t>的记录</a:t>
            </a:r>
            <a:endParaRPr lang="zh-CN" altLang="en-US" sz="1800" dirty="0">
              <a:latin typeface="微软雅黑" panose="020B0503020204020204" pitchFamily="34" charset="-122"/>
              <a:ea typeface="微软雅黑" panose="020B0503020204020204" pitchFamily="34" charset="-122"/>
            </a:endParaRPr>
          </a:p>
        </p:txBody>
      </p:sp>
      <p:sp>
        <p:nvSpPr>
          <p:cNvPr id="22" name="Text Box 11"/>
          <p:cNvSpPr txBox="1"/>
          <p:nvPr/>
        </p:nvSpPr>
        <p:spPr>
          <a:xfrm>
            <a:off x="7543800" y="6162675"/>
            <a:ext cx="2079625" cy="366713"/>
          </a:xfrm>
          <a:prstGeom prst="rect">
            <a:avLst/>
          </a:prstGeom>
          <a:noFill/>
          <a:ln w="9525">
            <a:noFill/>
          </a:ln>
        </p:spPr>
        <p:txBody>
          <a:bodyPr wrap="none" anchor="t">
            <a:spAutoFit/>
          </a:bodyPr>
          <a:lstStyle/>
          <a:p>
            <a:pPr algn="ctr">
              <a:buChar char="•"/>
            </a:pPr>
            <a:r>
              <a:rPr lang="zh-CN" altLang="en-US" sz="1800" dirty="0">
                <a:latin typeface="微软雅黑" panose="020B0503020204020204" pitchFamily="34" charset="-122"/>
                <a:ea typeface="微软雅黑" panose="020B0503020204020204" pitchFamily="34" charset="-122"/>
              </a:rPr>
              <a:t>属性值</a:t>
            </a:r>
            <a:r>
              <a:rPr lang="en-US" altLang="zh-CN" sz="1800" dirty="0">
                <a:latin typeface="微软雅黑" panose="020B0503020204020204" pitchFamily="34" charset="-122"/>
                <a:ea typeface="微软雅黑" panose="020B0503020204020204" pitchFamily="34" charset="-122"/>
              </a:rPr>
              <a:t>57</a:t>
            </a:r>
            <a:r>
              <a:rPr lang="zh-CN" altLang="en-US" sz="1800" dirty="0">
                <a:latin typeface="微软雅黑" panose="020B0503020204020204" pitchFamily="34" charset="-122"/>
                <a:ea typeface="微软雅黑" panose="020B0503020204020204" pitchFamily="34" charset="-122"/>
              </a:rPr>
              <a:t>的记录</a:t>
            </a: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p:txBody>
      </p:sp>
      <p:sp>
        <p:nvSpPr>
          <p:cNvPr id="23" name="Rectangle 14"/>
          <p:cNvSpPr/>
          <p:nvPr/>
        </p:nvSpPr>
        <p:spPr>
          <a:xfrm>
            <a:off x="2197100" y="3062288"/>
            <a:ext cx="7578725" cy="2163763"/>
          </a:xfrm>
          <a:prstGeom prst="rect">
            <a:avLst/>
          </a:prstGeom>
          <a:solidFill>
            <a:schemeClr val="bg1"/>
          </a:solidFill>
          <a:ln w="9525" cap="flat" cmpd="sng">
            <a:solidFill>
              <a:schemeClr val="tx1"/>
            </a:solidFill>
            <a:prstDash val="solid"/>
            <a:miter/>
            <a:headEnd type="none" w="med" len="med"/>
            <a:tailEnd type="none" w="med" len="med"/>
          </a:ln>
        </p:spPr>
        <p:txBody>
          <a:bodyPr wrap="square" anchor="ctr">
            <a:spAutoFit/>
          </a:bodyPr>
          <a:lstStyle/>
          <a:p>
            <a:endParaRPr lang="zh-CN" altLang="en-US" dirty="0">
              <a:latin typeface="Times New Roman" panose="02020603050405020304" pitchFamily="18" charset="0"/>
              <a:ea typeface="楷体_GB2312" pitchFamily="49" charset="-122"/>
            </a:endParaRPr>
          </a:p>
        </p:txBody>
      </p:sp>
      <p:grpSp>
        <p:nvGrpSpPr>
          <p:cNvPr id="24" name="Group 15"/>
          <p:cNvGrpSpPr/>
          <p:nvPr/>
        </p:nvGrpSpPr>
        <p:grpSpPr>
          <a:xfrm>
            <a:off x="3536950" y="3211513"/>
            <a:ext cx="2049463" cy="1058862"/>
            <a:chOff x="856" y="1440"/>
            <a:chExt cx="1291" cy="667"/>
          </a:xfrm>
        </p:grpSpPr>
        <p:sp>
          <p:nvSpPr>
            <p:cNvPr id="25" name="Rectangle 1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6" name="Line 1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7" name="Line 1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8" name="Line 1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9" name="Line 2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0" name="Line 2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1" name="Line 2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33" name="Text Box 23"/>
          <p:cNvSpPr txBox="1"/>
          <p:nvPr/>
        </p:nvSpPr>
        <p:spPr>
          <a:xfrm>
            <a:off x="3595688" y="3238500"/>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57</a:t>
            </a:r>
            <a:endParaRPr lang="en-US" altLang="zh-CN" sz="2400" dirty="0">
              <a:latin typeface="微软雅黑" panose="020B0503020204020204" pitchFamily="34" charset="-122"/>
              <a:ea typeface="微软雅黑" panose="020B0503020204020204" pitchFamily="34" charset="-122"/>
            </a:endParaRPr>
          </a:p>
        </p:txBody>
      </p:sp>
      <p:sp>
        <p:nvSpPr>
          <p:cNvPr id="34" name="Text Box 24"/>
          <p:cNvSpPr txBox="1"/>
          <p:nvPr/>
        </p:nvSpPr>
        <p:spPr>
          <a:xfrm>
            <a:off x="2520301" y="4440238"/>
            <a:ext cx="1216025" cy="825500"/>
          </a:xfrm>
          <a:prstGeom prst="rect">
            <a:avLst/>
          </a:prstGeom>
          <a:noFill/>
          <a:ln w="9525">
            <a:noFill/>
          </a:ln>
        </p:spPr>
        <p:txBody>
          <a:bodyPr anchor="t">
            <a:spAutoFit/>
          </a:bodyPr>
          <a:lstStyle/>
          <a:p>
            <a:r>
              <a:rPr lang="zh-CN" altLang="en-US" sz="1600" dirty="0">
                <a:latin typeface="微软雅黑" panose="020B0503020204020204" pitchFamily="34" charset="-122"/>
                <a:ea typeface="微软雅黑" panose="020B0503020204020204" pitchFamily="34" charset="-122"/>
              </a:rPr>
              <a:t>指向属性值为</a:t>
            </a:r>
            <a:r>
              <a:rPr lang="en-US" altLang="zh-CN" sz="1600" dirty="0">
                <a:latin typeface="微软雅黑" panose="020B0503020204020204" pitchFamily="34" charset="-122"/>
                <a:ea typeface="微软雅黑" panose="020B0503020204020204" pitchFamily="34" charset="-122"/>
              </a:rPr>
              <a:t>57</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主文件记录</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35" name="Text Box 25"/>
          <p:cNvSpPr txBox="1"/>
          <p:nvPr/>
        </p:nvSpPr>
        <p:spPr>
          <a:xfrm>
            <a:off x="5892800" y="4445001"/>
            <a:ext cx="1216025" cy="825500"/>
          </a:xfrm>
          <a:prstGeom prst="rect">
            <a:avLst/>
          </a:prstGeom>
          <a:noFill/>
          <a:ln w="9525">
            <a:noFill/>
          </a:ln>
        </p:spPr>
        <p:txBody>
          <a:bodyPr anchor="t">
            <a:spAutoFit/>
          </a:bodyPr>
          <a:lstStyle/>
          <a:p>
            <a:r>
              <a:rPr lang="zh-CN" altLang="en-US" sz="1600" dirty="0">
                <a:latin typeface="微软雅黑" panose="020B0503020204020204" pitchFamily="34" charset="-122"/>
                <a:ea typeface="微软雅黑" panose="020B0503020204020204" pitchFamily="34" charset="-122"/>
              </a:rPr>
              <a:t>指向属性值为</a:t>
            </a:r>
            <a:r>
              <a:rPr lang="en-US" altLang="zh-CN" sz="1600" dirty="0">
                <a:latin typeface="微软雅黑" panose="020B0503020204020204" pitchFamily="34" charset="-122"/>
                <a:ea typeface="微软雅黑" panose="020B0503020204020204" pitchFamily="34" charset="-122"/>
              </a:rPr>
              <a:t>78</a:t>
            </a:r>
            <a:r>
              <a:rPr lang="zh-CN" altLang="en-US" sz="1600" dirty="0">
                <a:latin typeface="微软雅黑" panose="020B0503020204020204" pitchFamily="34" charset="-122"/>
                <a:ea typeface="微软雅黑" panose="020B0503020204020204" pitchFamily="34" charset="-122"/>
              </a:rPr>
              <a:t>的</a:t>
            </a:r>
            <a:r>
              <a:rPr lang="zh-CN" altLang="en-US" sz="1600" dirty="0">
                <a:solidFill>
                  <a:srgbClr val="CC0000"/>
                </a:solidFill>
                <a:latin typeface="微软雅黑" panose="020B0503020204020204" pitchFamily="34" charset="-122"/>
                <a:ea typeface="微软雅黑" panose="020B0503020204020204" pitchFamily="34" charset="-122"/>
              </a:rPr>
              <a:t>主文件记录</a:t>
            </a:r>
            <a:endParaRPr lang="zh-CN" altLang="en-US" sz="1600" dirty="0">
              <a:solidFill>
                <a:srgbClr val="CC0000"/>
              </a:solidFill>
              <a:latin typeface="微软雅黑" panose="020B0503020204020204" pitchFamily="34" charset="-122"/>
              <a:ea typeface="微软雅黑" panose="020B0503020204020204" pitchFamily="34" charset="-122"/>
            </a:endParaRPr>
          </a:p>
        </p:txBody>
      </p:sp>
      <p:sp>
        <p:nvSpPr>
          <p:cNvPr id="36" name="Text Box 26"/>
          <p:cNvSpPr txBox="1"/>
          <p:nvPr/>
        </p:nvSpPr>
        <p:spPr>
          <a:xfrm>
            <a:off x="5892800" y="3052763"/>
            <a:ext cx="1039813" cy="825500"/>
          </a:xfrm>
          <a:prstGeom prst="rect">
            <a:avLst/>
          </a:prstGeom>
          <a:noFill/>
          <a:ln w="9525">
            <a:noFill/>
          </a:ln>
        </p:spPr>
        <p:txBody>
          <a:bodyPr anchor="t">
            <a:spAutoFit/>
          </a:bodyPr>
          <a:lstStyle/>
          <a:p>
            <a:r>
              <a:rPr lang="zh-CN" altLang="en-US" sz="1600" dirty="0">
                <a:latin typeface="微软雅黑" panose="020B0503020204020204" pitchFamily="34" charset="-122"/>
                <a:ea typeface="微软雅黑" panose="020B0503020204020204" pitchFamily="34" charset="-122"/>
              </a:rPr>
              <a:t>指向按顺序的</a:t>
            </a:r>
            <a:r>
              <a:rPr lang="zh-CN" altLang="en-US" sz="1600" dirty="0">
                <a:solidFill>
                  <a:srgbClr val="CC0000"/>
                </a:solidFill>
                <a:latin typeface="微软雅黑" panose="020B0503020204020204" pitchFamily="34" charset="-122"/>
                <a:ea typeface="微软雅黑" panose="020B0503020204020204" pitchFamily="34" charset="-122"/>
              </a:rPr>
              <a:t>下一个叶结点</a:t>
            </a:r>
            <a:endParaRPr lang="zh-CN" altLang="en-US" sz="1600" dirty="0">
              <a:solidFill>
                <a:srgbClr val="CC0000"/>
              </a:solidFill>
              <a:latin typeface="微软雅黑" panose="020B0503020204020204" pitchFamily="34" charset="-122"/>
              <a:ea typeface="微软雅黑" panose="020B0503020204020204" pitchFamily="34" charset="-122"/>
            </a:endParaRPr>
          </a:p>
        </p:txBody>
      </p:sp>
      <p:grpSp>
        <p:nvGrpSpPr>
          <p:cNvPr id="37" name="Group 27"/>
          <p:cNvGrpSpPr/>
          <p:nvPr/>
        </p:nvGrpSpPr>
        <p:grpSpPr>
          <a:xfrm>
            <a:off x="7175500" y="3224213"/>
            <a:ext cx="2049463" cy="1058862"/>
            <a:chOff x="856" y="1440"/>
            <a:chExt cx="1291" cy="667"/>
          </a:xfrm>
        </p:grpSpPr>
        <p:sp>
          <p:nvSpPr>
            <p:cNvPr id="38" name="Rectangle 2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9" name="Line 2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0" name="Line 3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1" name="Line 3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2" name="Line 3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3" name="Line 3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4" name="Line 3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45" name="Text Box 35"/>
          <p:cNvSpPr txBox="1"/>
          <p:nvPr/>
        </p:nvSpPr>
        <p:spPr>
          <a:xfrm>
            <a:off x="7280275" y="3325813"/>
            <a:ext cx="466725" cy="366712"/>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78</a:t>
            </a:r>
            <a:endParaRPr lang="en-US" altLang="zh-CN" sz="1800" dirty="0">
              <a:latin typeface="微软雅黑" panose="020B0503020204020204" pitchFamily="34" charset="-122"/>
              <a:ea typeface="微软雅黑" panose="020B0503020204020204" pitchFamily="34" charset="-122"/>
            </a:endParaRPr>
          </a:p>
        </p:txBody>
      </p:sp>
      <p:sp>
        <p:nvSpPr>
          <p:cNvPr id="46" name="Text Box 36"/>
          <p:cNvSpPr txBox="1"/>
          <p:nvPr/>
        </p:nvSpPr>
        <p:spPr>
          <a:xfrm>
            <a:off x="2197100" y="3092450"/>
            <a:ext cx="796925" cy="701675"/>
          </a:xfrm>
          <a:prstGeom prst="rect">
            <a:avLst/>
          </a:prstGeom>
          <a:noFill/>
          <a:ln w="9525">
            <a:noFill/>
          </a:ln>
        </p:spPr>
        <p:txBody>
          <a:bodyPr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索引文件</a:t>
            </a:r>
            <a:endParaRPr lang="zh-CN" altLang="en-US" dirty="0">
              <a:solidFill>
                <a:schemeClr val="accent2"/>
              </a:solidFill>
              <a:latin typeface="Times New Roman" panose="02020603050405020304" pitchFamily="18" charset="0"/>
              <a:ea typeface="微软雅黑" panose="020B0503020204020204" pitchFamily="34" charset="-122"/>
            </a:endParaRPr>
          </a:p>
        </p:txBody>
      </p:sp>
      <p:sp>
        <p:nvSpPr>
          <p:cNvPr id="47" name="Text Box 37"/>
          <p:cNvSpPr txBox="1"/>
          <p:nvPr/>
        </p:nvSpPr>
        <p:spPr>
          <a:xfrm>
            <a:off x="9607550" y="5891825"/>
            <a:ext cx="946150" cy="396875"/>
          </a:xfrm>
          <a:prstGeom prst="rect">
            <a:avLst/>
          </a:prstGeom>
          <a:noFill/>
          <a:ln w="9525">
            <a:noFill/>
          </a:ln>
        </p:spPr>
        <p:txBody>
          <a:bodyPr wrap="none"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主文件</a:t>
            </a:r>
            <a:endParaRPr lang="zh-CN" altLang="en-US" dirty="0">
              <a:solidFill>
                <a:schemeClr val="accent2"/>
              </a:solidFill>
              <a:latin typeface="Times New Roman" panose="02020603050405020304" pitchFamily="18" charset="0"/>
              <a:ea typeface="微软雅黑" panose="020B0503020204020204" pitchFamily="34" charset="-122"/>
            </a:endParaRPr>
          </a:p>
        </p:txBody>
      </p:sp>
      <p:sp>
        <p:nvSpPr>
          <p:cNvPr id="48" name="Line 38"/>
          <p:cNvSpPr/>
          <p:nvPr/>
        </p:nvSpPr>
        <p:spPr>
          <a:xfrm>
            <a:off x="5384800" y="4022725"/>
            <a:ext cx="1800225" cy="0"/>
          </a:xfrm>
          <a:prstGeom prst="line">
            <a:avLst/>
          </a:prstGeom>
          <a:ln w="28575" cap="flat" cmpd="sng">
            <a:solidFill>
              <a:srgbClr val="CC0000"/>
            </a:solidFill>
            <a:prstDash val="solid"/>
            <a:round/>
            <a:headEnd type="none" w="med" len="med"/>
            <a:tailEnd type="triangle" w="med" len="med"/>
          </a:ln>
        </p:spPr>
      </p:sp>
      <p:sp>
        <p:nvSpPr>
          <p:cNvPr id="49" name="Freeform 40"/>
          <p:cNvSpPr/>
          <p:nvPr/>
        </p:nvSpPr>
        <p:spPr>
          <a:xfrm>
            <a:off x="2514600" y="3879850"/>
            <a:ext cx="1317625" cy="1931988"/>
          </a:xfrm>
          <a:custGeom>
            <a:avLst/>
            <a:gdLst/>
            <a:ahLst/>
            <a:cxnLst>
              <a:cxn ang="0">
                <a:pos x="723" y="0"/>
              </a:cxn>
              <a:cxn ang="0">
                <a:pos x="10" y="311"/>
              </a:cxn>
              <a:cxn ang="0">
                <a:pos x="10" y="997"/>
              </a:cxn>
              <a:cxn ang="0">
                <a:pos x="0" y="1244"/>
              </a:cxn>
            </a:cxnLst>
            <a:rect l="0" t="0" r="0" b="0"/>
            <a:pathLst>
              <a:path w="723" h="1244">
                <a:moveTo>
                  <a:pt x="723" y="0"/>
                </a:moveTo>
                <a:lnTo>
                  <a:pt x="10" y="311"/>
                </a:lnTo>
                <a:lnTo>
                  <a:pt x="10" y="997"/>
                </a:lnTo>
                <a:lnTo>
                  <a:pt x="0" y="1244"/>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50" name="Text Box 42"/>
          <p:cNvSpPr txBox="1"/>
          <p:nvPr/>
        </p:nvSpPr>
        <p:spPr>
          <a:xfrm>
            <a:off x="7950200" y="3314700"/>
            <a:ext cx="466725" cy="366713"/>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89</a:t>
            </a:r>
            <a:endParaRPr lang="en-US" altLang="zh-CN" sz="1800" dirty="0">
              <a:latin typeface="微软雅黑" panose="020B0503020204020204" pitchFamily="34" charset="-122"/>
              <a:ea typeface="微软雅黑" panose="020B0503020204020204" pitchFamily="34" charset="-122"/>
            </a:endParaRPr>
          </a:p>
        </p:txBody>
      </p:sp>
      <p:sp>
        <p:nvSpPr>
          <p:cNvPr id="51" name="Line 44"/>
          <p:cNvSpPr/>
          <p:nvPr/>
        </p:nvSpPr>
        <p:spPr>
          <a:xfrm>
            <a:off x="8950325" y="4021138"/>
            <a:ext cx="595313" cy="0"/>
          </a:xfrm>
          <a:prstGeom prst="line">
            <a:avLst/>
          </a:prstGeom>
          <a:ln w="28575" cap="flat" cmpd="sng">
            <a:solidFill>
              <a:srgbClr val="CC0000"/>
            </a:solidFill>
            <a:prstDash val="solid"/>
            <a:round/>
            <a:headEnd type="none" w="med" len="med"/>
            <a:tailEnd type="triangle" w="med" len="med"/>
          </a:ln>
        </p:spPr>
      </p:sp>
      <p:sp>
        <p:nvSpPr>
          <p:cNvPr id="52" name="Text Box 45"/>
          <p:cNvSpPr txBox="1"/>
          <p:nvPr/>
        </p:nvSpPr>
        <p:spPr>
          <a:xfrm>
            <a:off x="4286250" y="3227388"/>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57</a:t>
            </a:r>
            <a:endParaRPr lang="en-US" altLang="zh-CN" sz="2400" dirty="0">
              <a:latin typeface="微软雅黑" panose="020B0503020204020204" pitchFamily="34" charset="-122"/>
              <a:ea typeface="微软雅黑" panose="020B0503020204020204" pitchFamily="34" charset="-122"/>
            </a:endParaRPr>
          </a:p>
        </p:txBody>
      </p:sp>
      <p:sp>
        <p:nvSpPr>
          <p:cNvPr id="53" name="Text Box 46"/>
          <p:cNvSpPr txBox="1"/>
          <p:nvPr/>
        </p:nvSpPr>
        <p:spPr>
          <a:xfrm>
            <a:off x="4935538" y="3236913"/>
            <a:ext cx="558800" cy="457200"/>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57</a:t>
            </a:r>
            <a:endParaRPr lang="en-US" altLang="zh-CN" sz="2400" dirty="0">
              <a:latin typeface="微软雅黑" panose="020B0503020204020204" pitchFamily="34" charset="-122"/>
              <a:ea typeface="微软雅黑" panose="020B0503020204020204" pitchFamily="34" charset="-122"/>
            </a:endParaRPr>
          </a:p>
        </p:txBody>
      </p:sp>
      <p:sp>
        <p:nvSpPr>
          <p:cNvPr id="54" name="Freeform 47"/>
          <p:cNvSpPr/>
          <p:nvPr/>
        </p:nvSpPr>
        <p:spPr>
          <a:xfrm>
            <a:off x="2506663" y="3859213"/>
            <a:ext cx="1785937" cy="2466975"/>
          </a:xfrm>
          <a:custGeom>
            <a:avLst/>
            <a:gdLst/>
            <a:ahLst/>
            <a:cxnLst>
              <a:cxn ang="0">
                <a:pos x="1125" y="0"/>
              </a:cxn>
              <a:cxn ang="0">
                <a:pos x="1125" y="750"/>
              </a:cxn>
              <a:cxn ang="0">
                <a:pos x="0" y="1554"/>
              </a:cxn>
            </a:cxnLst>
            <a:rect l="0" t="0" r="0" b="0"/>
            <a:pathLst>
              <a:path w="1125" h="1554">
                <a:moveTo>
                  <a:pt x="1125" y="0"/>
                </a:moveTo>
                <a:lnTo>
                  <a:pt x="1125" y="750"/>
                </a:lnTo>
                <a:lnTo>
                  <a:pt x="0" y="1554"/>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90" name="Freeform 48"/>
          <p:cNvSpPr/>
          <p:nvPr/>
        </p:nvSpPr>
        <p:spPr>
          <a:xfrm>
            <a:off x="4762500" y="3836988"/>
            <a:ext cx="2976563" cy="2509837"/>
          </a:xfrm>
          <a:custGeom>
            <a:avLst/>
            <a:gdLst/>
            <a:ahLst/>
            <a:cxnLst>
              <a:cxn ang="0">
                <a:pos x="0" y="0"/>
              </a:cxn>
              <a:cxn ang="0">
                <a:pos x="0" y="764"/>
              </a:cxn>
              <a:cxn ang="0">
                <a:pos x="214" y="1232"/>
              </a:cxn>
            </a:cxnLst>
            <a:rect l="0" t="0" r="0" b="0"/>
            <a:pathLst>
              <a:path w="214" h="1232">
                <a:moveTo>
                  <a:pt x="0" y="0"/>
                </a:moveTo>
                <a:lnTo>
                  <a:pt x="0" y="764"/>
                </a:lnTo>
                <a:lnTo>
                  <a:pt x="214" y="1232"/>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91" name="Freeform 49"/>
          <p:cNvSpPr/>
          <p:nvPr/>
        </p:nvSpPr>
        <p:spPr>
          <a:xfrm>
            <a:off x="5249863" y="3929063"/>
            <a:ext cx="2147887" cy="2403475"/>
          </a:xfrm>
          <a:custGeom>
            <a:avLst/>
            <a:gdLst/>
            <a:ahLst/>
            <a:cxnLst>
              <a:cxn ang="0">
                <a:pos x="1353" y="0"/>
              </a:cxn>
              <a:cxn ang="0">
                <a:pos x="1353" y="616"/>
              </a:cxn>
              <a:cxn ang="0">
                <a:pos x="0" y="1514"/>
              </a:cxn>
            </a:cxnLst>
            <a:rect l="0" t="0" r="0" b="0"/>
            <a:pathLst>
              <a:path w="1353" h="1514">
                <a:moveTo>
                  <a:pt x="1353" y="0"/>
                </a:moveTo>
                <a:lnTo>
                  <a:pt x="1353" y="616"/>
                </a:lnTo>
                <a:lnTo>
                  <a:pt x="0" y="1514"/>
                </a:lnTo>
              </a:path>
            </a:pathLst>
          </a:custGeom>
          <a:noFill/>
          <a:ln w="28575" cap="flat" cmpd="sng">
            <a:solidFill>
              <a:schemeClr val="accent2"/>
            </a:solidFill>
            <a:prstDash val="solid"/>
            <a:round/>
            <a:headEnd type="none" w="med" len="med"/>
            <a:tailEnd type="triangle" w="med" len="med"/>
          </a:ln>
        </p:spPr>
        <p:txBody>
          <a:bodyPr/>
          <a:lstStyle/>
          <a:p>
            <a:endParaRPr lang="zh-CN" altLang="en-US"/>
          </a:p>
        </p:txBody>
      </p:sp>
      <p:sp>
        <p:nvSpPr>
          <p:cNvPr id="92" name="Freeform 50"/>
          <p:cNvSpPr/>
          <p:nvPr/>
        </p:nvSpPr>
        <p:spPr>
          <a:xfrm>
            <a:off x="5143500" y="3902075"/>
            <a:ext cx="2806700" cy="1933575"/>
          </a:xfrm>
          <a:custGeom>
            <a:avLst/>
            <a:gdLst/>
            <a:ahLst/>
            <a:cxnLst>
              <a:cxn ang="0">
                <a:pos x="1768" y="0"/>
              </a:cxn>
              <a:cxn ang="0">
                <a:pos x="1768" y="683"/>
              </a:cxn>
              <a:cxn ang="0">
                <a:pos x="0" y="1218"/>
              </a:cxn>
            </a:cxnLst>
            <a:rect l="0" t="0" r="0" b="0"/>
            <a:pathLst>
              <a:path w="1768" h="1218">
                <a:moveTo>
                  <a:pt x="1768" y="0"/>
                </a:moveTo>
                <a:lnTo>
                  <a:pt x="1768" y="683"/>
                </a:lnTo>
                <a:lnTo>
                  <a:pt x="0" y="1218"/>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93" name="Text Box 51"/>
          <p:cNvSpPr txBox="1"/>
          <p:nvPr/>
        </p:nvSpPr>
        <p:spPr>
          <a:xfrm>
            <a:off x="8583613" y="3317875"/>
            <a:ext cx="608012" cy="366713"/>
          </a:xfrm>
          <a:prstGeom prst="rect">
            <a:avLst/>
          </a:prstGeom>
          <a:noFill/>
          <a:ln w="9525">
            <a:noFill/>
          </a:ln>
        </p:spPr>
        <p:txBody>
          <a:bodyPr wrap="none" anchor="t">
            <a:spAutoFit/>
          </a:bodyPr>
          <a:lstStyle/>
          <a:p>
            <a:pPr algn="ctr"/>
            <a:r>
              <a:rPr lang="en-US" altLang="zh-CN" sz="1800" dirty="0">
                <a:latin typeface="微软雅黑" panose="020B0503020204020204" pitchFamily="34" charset="-122"/>
                <a:ea typeface="微软雅黑" panose="020B0503020204020204" pitchFamily="34" charset="-122"/>
              </a:rPr>
              <a:t>100</a:t>
            </a:r>
            <a:endParaRPr lang="en-US" altLang="zh-CN" sz="1800" dirty="0">
              <a:latin typeface="微软雅黑" panose="020B0503020204020204" pitchFamily="34" charset="-122"/>
              <a:ea typeface="微软雅黑" panose="020B0503020204020204" pitchFamily="34" charset="-122"/>
            </a:endParaRPr>
          </a:p>
        </p:txBody>
      </p:sp>
      <p:sp>
        <p:nvSpPr>
          <p:cNvPr id="94" name="Freeform 52"/>
          <p:cNvSpPr/>
          <p:nvPr/>
        </p:nvSpPr>
        <p:spPr>
          <a:xfrm>
            <a:off x="7673975" y="3879850"/>
            <a:ext cx="787400" cy="1914525"/>
          </a:xfrm>
          <a:custGeom>
            <a:avLst/>
            <a:gdLst/>
            <a:ahLst/>
            <a:cxnLst>
              <a:cxn ang="0">
                <a:pos x="496" y="0"/>
              </a:cxn>
              <a:cxn ang="0">
                <a:pos x="469" y="791"/>
              </a:cxn>
              <a:cxn ang="0">
                <a:pos x="0" y="1206"/>
              </a:cxn>
            </a:cxnLst>
            <a:rect l="0" t="0" r="0" b="0"/>
            <a:pathLst>
              <a:path w="496" h="1206">
                <a:moveTo>
                  <a:pt x="496" y="0"/>
                </a:moveTo>
                <a:lnTo>
                  <a:pt x="469" y="791"/>
                </a:lnTo>
                <a:lnTo>
                  <a:pt x="0" y="1206"/>
                </a:ln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用</a:t>
            </a:r>
            <a:r>
              <a:rPr lang="en-US" altLang="zh-CN" sz="2600" dirty="0">
                <a:latin typeface="微软雅黑" panose="020B0503020204020204" pitchFamily="34" charset="-122"/>
                <a:ea typeface="微软雅黑" panose="020B0503020204020204" pitchFamily="34" charset="-122"/>
              </a:rPr>
              <a:t>B+</a:t>
            </a:r>
            <a:r>
              <a:rPr lang="zh-CN" altLang="en-US" sz="2600" dirty="0">
                <a:latin typeface="微软雅黑" panose="020B0503020204020204" pitchFamily="34" charset="-122"/>
                <a:ea typeface="微软雅黑" panose="020B0503020204020204" pitchFamily="34" charset="-122"/>
              </a:rPr>
              <a:t>树建立不同的索引</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en-US" altLang="zh-CN" sz="2000" b="0" dirty="0"/>
              <a:t>IV. </a:t>
            </a:r>
            <a:r>
              <a:rPr lang="zh-CN" altLang="en-US" sz="2000" b="0" dirty="0"/>
              <a:t>用</a:t>
            </a:r>
            <a:r>
              <a:rPr lang="en-US" altLang="zh-CN" sz="2000" b="0" dirty="0"/>
              <a:t>B+</a:t>
            </a:r>
            <a:r>
              <a:rPr lang="zh-CN" altLang="en-US" sz="2000" b="0" dirty="0"/>
              <a:t>树建立非键属性稠密索引</a:t>
            </a:r>
            <a:endParaRPr lang="en-US" altLang="zh-CN" sz="2000" b="0" dirty="0"/>
          </a:p>
          <a:p>
            <a:pPr>
              <a:lnSpc>
                <a:spcPct val="10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索引字段带有重复值的</a:t>
            </a:r>
            <a:r>
              <a:rPr lang="en-US" altLang="zh-CN" sz="1800" b="0" dirty="0">
                <a:latin typeface="微软雅黑" panose="020B0503020204020204" pitchFamily="34" charset="-122"/>
                <a:ea typeface="微软雅黑" panose="020B0503020204020204" pitchFamily="34" charset="-122"/>
              </a:rPr>
              <a:t>B+</a:t>
            </a:r>
            <a:r>
              <a:rPr lang="zh-CN" altLang="en-US" sz="1800" b="0" dirty="0">
                <a:latin typeface="微软雅黑" panose="020B0503020204020204" pitchFamily="34" charset="-122"/>
                <a:ea typeface="微软雅黑" panose="020B0503020204020204" pitchFamily="34" charset="-122"/>
              </a:rPr>
              <a:t>树的非叶结点示例</a:t>
            </a:r>
            <a:endParaRPr lang="zh-CN" altLang="en-US" sz="1800" b="0" dirty="0"/>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2" name="Group 50"/>
          <p:cNvGrpSpPr/>
          <p:nvPr/>
        </p:nvGrpSpPr>
        <p:grpSpPr>
          <a:xfrm>
            <a:off x="4738689" y="2802318"/>
            <a:ext cx="1238250" cy="695325"/>
            <a:chOff x="856" y="1440"/>
            <a:chExt cx="1291" cy="667"/>
          </a:xfrm>
        </p:grpSpPr>
        <p:sp>
          <p:nvSpPr>
            <p:cNvPr id="4" name="Rectangle 51"/>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7" name="Line 52"/>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8" name="Line 53"/>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9" name="Line 54"/>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0" name="Line 55"/>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1" name="Line 56"/>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7" name="Line 57"/>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55" name="Text Box 58"/>
          <p:cNvSpPr txBox="1"/>
          <p:nvPr/>
        </p:nvSpPr>
        <p:spPr>
          <a:xfrm>
            <a:off x="4667252" y="277850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grpSp>
        <p:nvGrpSpPr>
          <p:cNvPr id="56" name="Group 59"/>
          <p:cNvGrpSpPr/>
          <p:nvPr/>
        </p:nvGrpSpPr>
        <p:grpSpPr>
          <a:xfrm>
            <a:off x="3354387" y="3831017"/>
            <a:ext cx="1238250" cy="695325"/>
            <a:chOff x="856" y="1440"/>
            <a:chExt cx="1291" cy="667"/>
          </a:xfrm>
        </p:grpSpPr>
        <p:sp>
          <p:nvSpPr>
            <p:cNvPr id="57" name="Rectangle 6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8" name="Line 6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9" name="Line 6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60" name="Line 6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61" name="Line 6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62" name="Line 6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63" name="Line 6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64" name="Group 67"/>
          <p:cNvGrpSpPr/>
          <p:nvPr/>
        </p:nvGrpSpPr>
        <p:grpSpPr>
          <a:xfrm>
            <a:off x="6902449" y="3831017"/>
            <a:ext cx="1238250" cy="695325"/>
            <a:chOff x="856" y="1440"/>
            <a:chExt cx="1291" cy="667"/>
          </a:xfrm>
        </p:grpSpPr>
        <p:sp>
          <p:nvSpPr>
            <p:cNvPr id="65" name="Rectangle 6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66" name="Line 6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67" name="Line 7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68" name="Line 7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69" name="Line 7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70" name="Line 7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71" name="Line 7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72" name="Group 75"/>
          <p:cNvGrpSpPr/>
          <p:nvPr/>
        </p:nvGrpSpPr>
        <p:grpSpPr>
          <a:xfrm>
            <a:off x="1695449" y="5361367"/>
            <a:ext cx="1238250" cy="695325"/>
            <a:chOff x="856" y="1440"/>
            <a:chExt cx="1291" cy="667"/>
          </a:xfrm>
        </p:grpSpPr>
        <p:sp>
          <p:nvSpPr>
            <p:cNvPr id="73" name="Rectangle 7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74" name="Line 7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75" name="Line 7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76" name="Line 7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77" name="Line 8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78" name="Line 8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79" name="Line 8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80" name="Group 83"/>
          <p:cNvGrpSpPr/>
          <p:nvPr/>
        </p:nvGrpSpPr>
        <p:grpSpPr>
          <a:xfrm>
            <a:off x="3181349" y="5361367"/>
            <a:ext cx="1238250" cy="695325"/>
            <a:chOff x="856" y="1440"/>
            <a:chExt cx="1291" cy="667"/>
          </a:xfrm>
        </p:grpSpPr>
        <p:sp>
          <p:nvSpPr>
            <p:cNvPr id="81" name="Rectangle 8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82" name="Line 8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83" name="Line 8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84" name="Line 8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85" name="Line 8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86" name="Line 8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87" name="Line 9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88" name="Group 91"/>
          <p:cNvGrpSpPr/>
          <p:nvPr/>
        </p:nvGrpSpPr>
        <p:grpSpPr>
          <a:xfrm>
            <a:off x="4667249" y="5361367"/>
            <a:ext cx="1238250" cy="695325"/>
            <a:chOff x="856" y="1440"/>
            <a:chExt cx="1291" cy="667"/>
          </a:xfrm>
        </p:grpSpPr>
        <p:sp>
          <p:nvSpPr>
            <p:cNvPr id="89" name="Rectangle 9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95" name="Line 9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96" name="Line 9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97" name="Line 9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98" name="Line 9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99" name="Line 9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00" name="Line 9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01" name="Group 99"/>
          <p:cNvGrpSpPr/>
          <p:nvPr/>
        </p:nvGrpSpPr>
        <p:grpSpPr>
          <a:xfrm>
            <a:off x="6153149" y="5361367"/>
            <a:ext cx="1238250" cy="695325"/>
            <a:chOff x="856" y="1440"/>
            <a:chExt cx="1291" cy="667"/>
          </a:xfrm>
        </p:grpSpPr>
        <p:sp>
          <p:nvSpPr>
            <p:cNvPr id="102" name="Rectangle 10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03" name="Line 10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04" name="Line 10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05" name="Line 10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06" name="Line 10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07" name="Line 10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08" name="Line 10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09" name="Group 107"/>
          <p:cNvGrpSpPr/>
          <p:nvPr/>
        </p:nvGrpSpPr>
        <p:grpSpPr>
          <a:xfrm>
            <a:off x="7639049" y="5361367"/>
            <a:ext cx="1238250" cy="695325"/>
            <a:chOff x="856" y="1440"/>
            <a:chExt cx="1291" cy="667"/>
          </a:xfrm>
        </p:grpSpPr>
        <p:sp>
          <p:nvSpPr>
            <p:cNvPr id="110" name="Rectangle 10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11" name="Line 10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12" name="Line 11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13" name="Line 11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14" name="Line 11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15" name="Line 11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16" name="Line 11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17" name="Group 115"/>
          <p:cNvGrpSpPr/>
          <p:nvPr/>
        </p:nvGrpSpPr>
        <p:grpSpPr>
          <a:xfrm>
            <a:off x="9126537" y="5361367"/>
            <a:ext cx="1238250" cy="695325"/>
            <a:chOff x="856" y="1440"/>
            <a:chExt cx="1291" cy="667"/>
          </a:xfrm>
        </p:grpSpPr>
        <p:sp>
          <p:nvSpPr>
            <p:cNvPr id="118" name="Rectangle 11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19" name="Line 11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20" name="Line 11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21" name="Line 11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22" name="Line 12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23" name="Line 12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24" name="Line 12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125" name="Text Box 123"/>
          <p:cNvSpPr txBox="1"/>
          <p:nvPr/>
        </p:nvSpPr>
        <p:spPr>
          <a:xfrm>
            <a:off x="3297237" y="3811967"/>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126" name="Text Box 124"/>
          <p:cNvSpPr txBox="1"/>
          <p:nvPr/>
        </p:nvSpPr>
        <p:spPr>
          <a:xfrm>
            <a:off x="1657349" y="533279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127" name="Text Box 125"/>
          <p:cNvSpPr txBox="1"/>
          <p:nvPr/>
        </p:nvSpPr>
        <p:spPr>
          <a:xfrm>
            <a:off x="2038349" y="533279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128" name="Text Box 126"/>
          <p:cNvSpPr txBox="1"/>
          <p:nvPr/>
        </p:nvSpPr>
        <p:spPr>
          <a:xfrm>
            <a:off x="2536824" y="5332792"/>
            <a:ext cx="400050"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129" name="Text Box 127"/>
          <p:cNvSpPr txBox="1"/>
          <p:nvPr/>
        </p:nvSpPr>
        <p:spPr>
          <a:xfrm>
            <a:off x="3105149" y="533279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130" name="Text Box 128"/>
          <p:cNvSpPr txBox="1"/>
          <p:nvPr/>
        </p:nvSpPr>
        <p:spPr>
          <a:xfrm>
            <a:off x="3486149" y="533279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131" name="Text Box 129"/>
          <p:cNvSpPr txBox="1"/>
          <p:nvPr/>
        </p:nvSpPr>
        <p:spPr>
          <a:xfrm>
            <a:off x="4591049" y="535184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132" name="Text Box 130"/>
          <p:cNvSpPr txBox="1"/>
          <p:nvPr/>
        </p:nvSpPr>
        <p:spPr>
          <a:xfrm>
            <a:off x="5010149" y="535184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133" name="Text Box 131"/>
          <p:cNvSpPr txBox="1"/>
          <p:nvPr/>
        </p:nvSpPr>
        <p:spPr>
          <a:xfrm>
            <a:off x="5470524" y="5351842"/>
            <a:ext cx="439738"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134" name="Text Box 132"/>
          <p:cNvSpPr txBox="1"/>
          <p:nvPr/>
        </p:nvSpPr>
        <p:spPr>
          <a:xfrm>
            <a:off x="6089649" y="533914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135" name="Text Box 133"/>
          <p:cNvSpPr txBox="1"/>
          <p:nvPr/>
        </p:nvSpPr>
        <p:spPr>
          <a:xfrm>
            <a:off x="6508749" y="533914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136" name="Text Box 134"/>
          <p:cNvSpPr txBox="1"/>
          <p:nvPr/>
        </p:nvSpPr>
        <p:spPr>
          <a:xfrm>
            <a:off x="7602537" y="534549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137" name="Text Box 135"/>
          <p:cNvSpPr txBox="1"/>
          <p:nvPr/>
        </p:nvSpPr>
        <p:spPr>
          <a:xfrm>
            <a:off x="8021637" y="534549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138" name="Text Box 136"/>
          <p:cNvSpPr txBox="1"/>
          <p:nvPr/>
        </p:nvSpPr>
        <p:spPr>
          <a:xfrm>
            <a:off x="8482012" y="5345492"/>
            <a:ext cx="439737"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139" name="Text Box 137"/>
          <p:cNvSpPr txBox="1"/>
          <p:nvPr/>
        </p:nvSpPr>
        <p:spPr>
          <a:xfrm>
            <a:off x="9066212" y="534549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140" name="Text Box 138"/>
          <p:cNvSpPr txBox="1"/>
          <p:nvPr/>
        </p:nvSpPr>
        <p:spPr>
          <a:xfrm>
            <a:off x="9485312" y="534549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141" name="Text Box 139"/>
          <p:cNvSpPr txBox="1"/>
          <p:nvPr/>
        </p:nvSpPr>
        <p:spPr>
          <a:xfrm>
            <a:off x="6834187" y="380402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a:t>
            </a:r>
            <a:endParaRPr lang="en-US" altLang="zh-CN" sz="1800" dirty="0">
              <a:latin typeface="Times New Roman" panose="02020603050405020304" pitchFamily="18" charset="0"/>
              <a:ea typeface="楷体_GB2312" pitchFamily="49" charset="-122"/>
            </a:endParaRPr>
          </a:p>
        </p:txBody>
      </p:sp>
      <p:sp>
        <p:nvSpPr>
          <p:cNvPr id="142" name="Text Box 140"/>
          <p:cNvSpPr txBox="1"/>
          <p:nvPr/>
        </p:nvSpPr>
        <p:spPr>
          <a:xfrm>
            <a:off x="7253287" y="380402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143" name="Text Box 141"/>
          <p:cNvSpPr txBox="1"/>
          <p:nvPr/>
        </p:nvSpPr>
        <p:spPr>
          <a:xfrm>
            <a:off x="7713662" y="3804029"/>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144" name="Line 142"/>
          <p:cNvSpPr/>
          <p:nvPr/>
        </p:nvSpPr>
        <p:spPr>
          <a:xfrm>
            <a:off x="8042274" y="4391404"/>
            <a:ext cx="1371600" cy="954088"/>
          </a:xfrm>
          <a:prstGeom prst="line">
            <a:avLst/>
          </a:prstGeom>
          <a:ln w="9525" cap="flat" cmpd="sng">
            <a:solidFill>
              <a:srgbClr val="FF0066"/>
            </a:solidFill>
            <a:prstDash val="solid"/>
            <a:round/>
            <a:headEnd type="none" w="med" len="med"/>
            <a:tailEnd type="triangle" w="med" len="med"/>
          </a:ln>
        </p:spPr>
      </p:sp>
      <p:sp>
        <p:nvSpPr>
          <p:cNvPr id="145" name="Line 143"/>
          <p:cNvSpPr/>
          <p:nvPr/>
        </p:nvSpPr>
        <p:spPr>
          <a:xfrm>
            <a:off x="7675562" y="4378704"/>
            <a:ext cx="274637" cy="992188"/>
          </a:xfrm>
          <a:prstGeom prst="line">
            <a:avLst/>
          </a:prstGeom>
          <a:ln w="9525" cap="flat" cmpd="sng">
            <a:solidFill>
              <a:srgbClr val="FF0066"/>
            </a:solidFill>
            <a:prstDash val="solid"/>
            <a:round/>
            <a:headEnd type="none" w="med" len="med"/>
            <a:tailEnd type="triangle" w="med" len="med"/>
          </a:ln>
        </p:spPr>
      </p:sp>
      <p:sp>
        <p:nvSpPr>
          <p:cNvPr id="146" name="Line 144"/>
          <p:cNvSpPr/>
          <p:nvPr/>
        </p:nvSpPr>
        <p:spPr>
          <a:xfrm flipH="1">
            <a:off x="6488112" y="4391404"/>
            <a:ext cx="887412" cy="954088"/>
          </a:xfrm>
          <a:prstGeom prst="line">
            <a:avLst/>
          </a:prstGeom>
          <a:ln w="9525" cap="flat" cmpd="sng">
            <a:solidFill>
              <a:srgbClr val="FF0066"/>
            </a:solidFill>
            <a:prstDash val="solid"/>
            <a:round/>
            <a:headEnd type="none" w="med" len="med"/>
            <a:tailEnd type="triangle" w="med" len="med"/>
          </a:ln>
        </p:spPr>
      </p:sp>
      <p:sp>
        <p:nvSpPr>
          <p:cNvPr id="147" name="Line 145"/>
          <p:cNvSpPr/>
          <p:nvPr/>
        </p:nvSpPr>
        <p:spPr>
          <a:xfrm flipH="1">
            <a:off x="5259387" y="4404104"/>
            <a:ext cx="1711325" cy="941388"/>
          </a:xfrm>
          <a:prstGeom prst="line">
            <a:avLst/>
          </a:prstGeom>
          <a:ln w="9525" cap="flat" cmpd="sng">
            <a:solidFill>
              <a:srgbClr val="FF0066"/>
            </a:solidFill>
            <a:prstDash val="solid"/>
            <a:round/>
            <a:headEnd type="none" w="med" len="med"/>
            <a:tailEnd type="triangle" w="med" len="med"/>
          </a:ln>
        </p:spPr>
      </p:sp>
      <p:sp>
        <p:nvSpPr>
          <p:cNvPr id="148" name="Line 146"/>
          <p:cNvSpPr/>
          <p:nvPr/>
        </p:nvSpPr>
        <p:spPr>
          <a:xfrm flipH="1">
            <a:off x="3535362" y="4391404"/>
            <a:ext cx="247650" cy="954088"/>
          </a:xfrm>
          <a:prstGeom prst="line">
            <a:avLst/>
          </a:prstGeom>
          <a:ln w="9525" cap="flat" cmpd="sng">
            <a:solidFill>
              <a:srgbClr val="FF0066"/>
            </a:solidFill>
            <a:prstDash val="solid"/>
            <a:round/>
            <a:headEnd type="none" w="med" len="med"/>
            <a:tailEnd type="triangle" w="med" len="med"/>
          </a:ln>
        </p:spPr>
      </p:sp>
      <p:sp>
        <p:nvSpPr>
          <p:cNvPr id="149" name="Line 147"/>
          <p:cNvSpPr/>
          <p:nvPr/>
        </p:nvSpPr>
        <p:spPr>
          <a:xfrm flipH="1">
            <a:off x="2176462" y="4364417"/>
            <a:ext cx="1346200" cy="993775"/>
          </a:xfrm>
          <a:prstGeom prst="line">
            <a:avLst/>
          </a:prstGeom>
          <a:ln w="9525" cap="flat" cmpd="sng">
            <a:solidFill>
              <a:srgbClr val="FF0066"/>
            </a:solidFill>
            <a:prstDash val="solid"/>
            <a:round/>
            <a:headEnd type="none" w="med" len="med"/>
            <a:tailEnd type="triangle" w="med" len="med"/>
          </a:ln>
        </p:spPr>
      </p:sp>
      <p:sp>
        <p:nvSpPr>
          <p:cNvPr id="150" name="Line 148"/>
          <p:cNvSpPr/>
          <p:nvPr/>
        </p:nvSpPr>
        <p:spPr>
          <a:xfrm flipH="1">
            <a:off x="3848097" y="3332543"/>
            <a:ext cx="1041402" cy="496886"/>
          </a:xfrm>
          <a:prstGeom prst="line">
            <a:avLst/>
          </a:prstGeom>
          <a:ln w="9525" cap="flat" cmpd="sng">
            <a:solidFill>
              <a:srgbClr val="FF0066"/>
            </a:solidFill>
            <a:prstDash val="solid"/>
            <a:round/>
            <a:headEnd type="none" w="med" len="med"/>
            <a:tailEnd type="triangle" w="med" len="med"/>
          </a:ln>
        </p:spPr>
      </p:sp>
      <p:sp>
        <p:nvSpPr>
          <p:cNvPr id="151" name="Line 149"/>
          <p:cNvSpPr/>
          <p:nvPr/>
        </p:nvSpPr>
        <p:spPr>
          <a:xfrm>
            <a:off x="5133974" y="3357942"/>
            <a:ext cx="1941513" cy="458787"/>
          </a:xfrm>
          <a:prstGeom prst="line">
            <a:avLst/>
          </a:prstGeom>
          <a:ln w="9525" cap="flat" cmpd="sng">
            <a:solidFill>
              <a:srgbClr val="FF0066"/>
            </a:solidFill>
            <a:prstDash val="solid"/>
            <a:round/>
            <a:headEnd type="none" w="med" len="med"/>
            <a:tailEnd type="triangle" w="med" len="med"/>
          </a:ln>
        </p:spPr>
      </p:sp>
      <p:sp>
        <p:nvSpPr>
          <p:cNvPr id="152" name="Line 150"/>
          <p:cNvSpPr/>
          <p:nvPr/>
        </p:nvSpPr>
        <p:spPr>
          <a:xfrm>
            <a:off x="1693862" y="4886704"/>
            <a:ext cx="8699500" cy="0"/>
          </a:xfrm>
          <a:prstGeom prst="line">
            <a:avLst/>
          </a:prstGeom>
          <a:ln w="9525" cap="flat" cmpd="sng">
            <a:solidFill>
              <a:srgbClr val="FF0066"/>
            </a:solidFill>
            <a:prstDash val="dash"/>
            <a:round/>
            <a:headEnd type="none" w="med" len="med"/>
            <a:tailEnd type="none" w="med" len="med"/>
          </a:ln>
        </p:spPr>
      </p:sp>
      <p:sp>
        <p:nvSpPr>
          <p:cNvPr id="153" name="Text Box 151"/>
          <p:cNvSpPr txBox="1"/>
          <p:nvPr/>
        </p:nvSpPr>
        <p:spPr>
          <a:xfrm>
            <a:off x="4111965" y="6233108"/>
            <a:ext cx="3096873" cy="400110"/>
          </a:xfrm>
          <a:prstGeom prst="rect">
            <a:avLst/>
          </a:prstGeom>
          <a:noFill/>
          <a:ln w="9525">
            <a:noFill/>
          </a:ln>
        </p:spPr>
        <p:txBody>
          <a:bodyPr wrap="none" anchor="t">
            <a:spAutoFit/>
          </a:bodyPr>
          <a:lstStyle/>
          <a:p>
            <a:pPr algn="ctr"/>
            <a:r>
              <a:rPr lang="zh-CN" altLang="en-US" sz="2000" dirty="0">
                <a:latin typeface="微软雅黑" panose="020B0503020204020204" pitchFamily="34" charset="-122"/>
                <a:ea typeface="微软雅黑" panose="020B0503020204020204" pitchFamily="34" charset="-122"/>
              </a:rPr>
              <a:t>一棵带重复键值的</a:t>
            </a:r>
            <a:r>
              <a:rPr lang="en-US" altLang="zh-CN" sz="2000" dirty="0">
                <a:latin typeface="微软雅黑" panose="020B0503020204020204" pitchFamily="34" charset="-122"/>
                <a:ea typeface="微软雅黑" panose="020B0503020204020204" pitchFamily="34" charset="-122"/>
              </a:rPr>
              <a:t>B+Tree</a:t>
            </a:r>
            <a:endParaRPr lang="en-US" altLang="zh-CN" sz="2000" dirty="0">
              <a:latin typeface="微软雅黑" panose="020B0503020204020204" pitchFamily="34" charset="-122"/>
              <a:ea typeface="微软雅黑" panose="020B0503020204020204" pitchFamily="34" charset="-122"/>
            </a:endParaRPr>
          </a:p>
        </p:txBody>
      </p:sp>
      <p:sp>
        <p:nvSpPr>
          <p:cNvPr id="154" name="Text Box 152"/>
          <p:cNvSpPr txBox="1"/>
          <p:nvPr/>
        </p:nvSpPr>
        <p:spPr>
          <a:xfrm>
            <a:off x="9480549" y="4913692"/>
            <a:ext cx="895350" cy="304800"/>
          </a:xfrm>
          <a:prstGeom prst="rect">
            <a:avLst/>
          </a:prstGeom>
          <a:noFill/>
          <a:ln w="9525">
            <a:noFill/>
          </a:ln>
        </p:spPr>
        <p:txBody>
          <a:bodyPr wrap="none" anchor="t">
            <a:spAutoFit/>
          </a:bodyPr>
          <a:lstStyle/>
          <a:p>
            <a:pPr algn="ctr"/>
            <a:r>
              <a:rPr lang="zh-CN" altLang="en-US" sz="1400" dirty="0">
                <a:latin typeface="Times New Roman" panose="02020603050405020304" pitchFamily="18" charset="0"/>
                <a:ea typeface="微软雅黑" panose="020B0503020204020204" pitchFamily="34" charset="-122"/>
              </a:rPr>
              <a:t>叶子结点</a:t>
            </a:r>
            <a:endParaRPr lang="zh-CN" altLang="en-US" sz="1400" dirty="0">
              <a:latin typeface="Times New Roman" panose="02020603050405020304" pitchFamily="18" charset="0"/>
              <a:ea typeface="微软雅黑" panose="020B0503020204020204" pitchFamily="34" charset="-122"/>
            </a:endParaRPr>
          </a:p>
        </p:txBody>
      </p:sp>
      <p:sp>
        <p:nvSpPr>
          <p:cNvPr id="155" name="Text Box 153"/>
          <p:cNvSpPr txBox="1"/>
          <p:nvPr/>
        </p:nvSpPr>
        <p:spPr>
          <a:xfrm>
            <a:off x="9483724" y="4545392"/>
            <a:ext cx="895350" cy="304800"/>
          </a:xfrm>
          <a:prstGeom prst="rect">
            <a:avLst/>
          </a:prstGeom>
          <a:noFill/>
          <a:ln w="9525">
            <a:noFill/>
          </a:ln>
        </p:spPr>
        <p:txBody>
          <a:bodyPr wrap="none" anchor="t">
            <a:spAutoFit/>
          </a:bodyPr>
          <a:lstStyle/>
          <a:p>
            <a:pPr algn="ctr"/>
            <a:r>
              <a:rPr lang="zh-CN" altLang="en-US" sz="1400" dirty="0">
                <a:latin typeface="Times New Roman" panose="02020603050405020304" pitchFamily="18" charset="0"/>
                <a:ea typeface="微软雅黑" panose="020B0503020204020204" pitchFamily="34" charset="-122"/>
              </a:rPr>
              <a:t>非叶结点</a:t>
            </a:r>
            <a:endParaRPr lang="zh-CN" altLang="en-US" sz="1400" dirty="0">
              <a:latin typeface="Times New Roman" panose="02020603050405020304" pitchFamily="18" charset="0"/>
              <a:ea typeface="微软雅黑" panose="020B0503020204020204" pitchFamily="34" charset="-122"/>
            </a:endParaRPr>
          </a:p>
        </p:txBody>
      </p:sp>
      <p:sp>
        <p:nvSpPr>
          <p:cNvPr id="156" name="Line 154"/>
          <p:cNvSpPr/>
          <p:nvPr/>
        </p:nvSpPr>
        <p:spPr>
          <a:xfrm>
            <a:off x="1849437" y="5920167"/>
            <a:ext cx="0" cy="365125"/>
          </a:xfrm>
          <a:prstGeom prst="line">
            <a:avLst/>
          </a:prstGeom>
          <a:ln w="9525" cap="flat" cmpd="sng">
            <a:solidFill>
              <a:srgbClr val="FF0066"/>
            </a:solidFill>
            <a:prstDash val="solid"/>
            <a:round/>
            <a:headEnd type="none" w="med" len="med"/>
            <a:tailEnd type="triangle" w="med" len="med"/>
          </a:ln>
        </p:spPr>
      </p:sp>
      <p:sp>
        <p:nvSpPr>
          <p:cNvPr id="157" name="Line 155"/>
          <p:cNvSpPr/>
          <p:nvPr/>
        </p:nvSpPr>
        <p:spPr>
          <a:xfrm>
            <a:off x="2128837" y="5920167"/>
            <a:ext cx="0" cy="365125"/>
          </a:xfrm>
          <a:prstGeom prst="line">
            <a:avLst/>
          </a:prstGeom>
          <a:ln w="9525" cap="flat" cmpd="sng">
            <a:solidFill>
              <a:srgbClr val="FF0066"/>
            </a:solidFill>
            <a:prstDash val="solid"/>
            <a:round/>
            <a:headEnd type="none" w="med" len="med"/>
            <a:tailEnd type="triangle" w="med" len="med"/>
          </a:ln>
        </p:spPr>
      </p:sp>
      <p:sp>
        <p:nvSpPr>
          <p:cNvPr id="158" name="Line 156"/>
          <p:cNvSpPr/>
          <p:nvPr/>
        </p:nvSpPr>
        <p:spPr>
          <a:xfrm>
            <a:off x="2446337" y="5920167"/>
            <a:ext cx="0" cy="365125"/>
          </a:xfrm>
          <a:prstGeom prst="line">
            <a:avLst/>
          </a:prstGeom>
          <a:ln w="9525" cap="flat" cmpd="sng">
            <a:solidFill>
              <a:srgbClr val="FF0066"/>
            </a:solidFill>
            <a:prstDash val="solid"/>
            <a:round/>
            <a:headEnd type="none" w="med" len="med"/>
            <a:tailEnd type="triangle" w="med" len="med"/>
          </a:ln>
        </p:spPr>
      </p:sp>
      <p:sp>
        <p:nvSpPr>
          <p:cNvPr id="159" name="Line 157"/>
          <p:cNvSpPr/>
          <p:nvPr/>
        </p:nvSpPr>
        <p:spPr>
          <a:xfrm>
            <a:off x="2803524" y="5893179"/>
            <a:ext cx="377825" cy="0"/>
          </a:xfrm>
          <a:prstGeom prst="line">
            <a:avLst/>
          </a:prstGeom>
          <a:ln w="9525" cap="flat" cmpd="sng">
            <a:solidFill>
              <a:srgbClr val="FF0066"/>
            </a:solidFill>
            <a:prstDash val="solid"/>
            <a:round/>
            <a:headEnd type="none" w="med" len="med"/>
            <a:tailEnd type="triangle" w="med" len="med"/>
          </a:ln>
        </p:spPr>
      </p:sp>
      <p:sp>
        <p:nvSpPr>
          <p:cNvPr id="160" name="Line 158"/>
          <p:cNvSpPr/>
          <p:nvPr/>
        </p:nvSpPr>
        <p:spPr>
          <a:xfrm>
            <a:off x="3322637" y="5920167"/>
            <a:ext cx="0" cy="365125"/>
          </a:xfrm>
          <a:prstGeom prst="line">
            <a:avLst/>
          </a:prstGeom>
          <a:ln w="9525" cap="flat" cmpd="sng">
            <a:solidFill>
              <a:srgbClr val="FF0066"/>
            </a:solidFill>
            <a:prstDash val="solid"/>
            <a:round/>
            <a:headEnd type="none" w="med" len="med"/>
            <a:tailEnd type="triangle" w="med" len="med"/>
          </a:ln>
        </p:spPr>
      </p:sp>
      <p:sp>
        <p:nvSpPr>
          <p:cNvPr id="161" name="Line 159"/>
          <p:cNvSpPr/>
          <p:nvPr/>
        </p:nvSpPr>
        <p:spPr>
          <a:xfrm>
            <a:off x="3602037" y="5920167"/>
            <a:ext cx="0" cy="365125"/>
          </a:xfrm>
          <a:prstGeom prst="line">
            <a:avLst/>
          </a:prstGeom>
          <a:ln w="9525" cap="flat" cmpd="sng">
            <a:solidFill>
              <a:srgbClr val="FF0066"/>
            </a:solidFill>
            <a:prstDash val="solid"/>
            <a:round/>
            <a:headEnd type="none" w="med" len="med"/>
            <a:tailEnd type="triangle" w="med" len="med"/>
          </a:ln>
        </p:spPr>
      </p:sp>
      <p:sp>
        <p:nvSpPr>
          <p:cNvPr id="162" name="Line 160"/>
          <p:cNvSpPr/>
          <p:nvPr/>
        </p:nvSpPr>
        <p:spPr>
          <a:xfrm>
            <a:off x="4276724" y="5905879"/>
            <a:ext cx="377825" cy="0"/>
          </a:xfrm>
          <a:prstGeom prst="line">
            <a:avLst/>
          </a:prstGeom>
          <a:ln w="9525" cap="flat" cmpd="sng">
            <a:solidFill>
              <a:srgbClr val="FF0066"/>
            </a:solidFill>
            <a:prstDash val="solid"/>
            <a:round/>
            <a:headEnd type="none" w="med" len="med"/>
            <a:tailEnd type="triangle" w="med" len="med"/>
          </a:ln>
        </p:spPr>
      </p:sp>
      <p:sp>
        <p:nvSpPr>
          <p:cNvPr id="163" name="Line 161"/>
          <p:cNvSpPr/>
          <p:nvPr/>
        </p:nvSpPr>
        <p:spPr>
          <a:xfrm>
            <a:off x="4821237" y="5920167"/>
            <a:ext cx="0" cy="365125"/>
          </a:xfrm>
          <a:prstGeom prst="line">
            <a:avLst/>
          </a:prstGeom>
          <a:ln w="9525" cap="flat" cmpd="sng">
            <a:solidFill>
              <a:srgbClr val="FF0066"/>
            </a:solidFill>
            <a:prstDash val="solid"/>
            <a:round/>
            <a:headEnd type="none" w="med" len="med"/>
            <a:tailEnd type="triangle" w="med" len="med"/>
          </a:ln>
        </p:spPr>
      </p:sp>
      <p:sp>
        <p:nvSpPr>
          <p:cNvPr id="164" name="Line 162"/>
          <p:cNvSpPr/>
          <p:nvPr/>
        </p:nvSpPr>
        <p:spPr>
          <a:xfrm>
            <a:off x="5113337" y="5920167"/>
            <a:ext cx="0" cy="365125"/>
          </a:xfrm>
          <a:prstGeom prst="line">
            <a:avLst/>
          </a:prstGeom>
          <a:ln w="9525" cap="flat" cmpd="sng">
            <a:solidFill>
              <a:srgbClr val="FF0066"/>
            </a:solidFill>
            <a:prstDash val="solid"/>
            <a:round/>
            <a:headEnd type="none" w="med" len="med"/>
            <a:tailEnd type="triangle" w="med" len="med"/>
          </a:ln>
        </p:spPr>
      </p:sp>
      <p:sp>
        <p:nvSpPr>
          <p:cNvPr id="165" name="Line 163"/>
          <p:cNvSpPr/>
          <p:nvPr/>
        </p:nvSpPr>
        <p:spPr>
          <a:xfrm>
            <a:off x="5418137" y="5920167"/>
            <a:ext cx="0" cy="365125"/>
          </a:xfrm>
          <a:prstGeom prst="line">
            <a:avLst/>
          </a:prstGeom>
          <a:ln w="9525" cap="flat" cmpd="sng">
            <a:solidFill>
              <a:srgbClr val="FF0066"/>
            </a:solidFill>
            <a:prstDash val="solid"/>
            <a:round/>
            <a:headEnd type="none" w="med" len="med"/>
            <a:tailEnd type="triangle" w="med" len="med"/>
          </a:ln>
        </p:spPr>
      </p:sp>
      <p:sp>
        <p:nvSpPr>
          <p:cNvPr id="166" name="Line 164"/>
          <p:cNvSpPr/>
          <p:nvPr/>
        </p:nvSpPr>
        <p:spPr>
          <a:xfrm>
            <a:off x="5775324" y="5905879"/>
            <a:ext cx="377825" cy="0"/>
          </a:xfrm>
          <a:prstGeom prst="line">
            <a:avLst/>
          </a:prstGeom>
          <a:ln w="9525" cap="flat" cmpd="sng">
            <a:solidFill>
              <a:srgbClr val="FF0066"/>
            </a:solidFill>
            <a:prstDash val="solid"/>
            <a:round/>
            <a:headEnd type="none" w="med" len="med"/>
            <a:tailEnd type="triangle" w="med" len="med"/>
          </a:ln>
        </p:spPr>
      </p:sp>
      <p:sp>
        <p:nvSpPr>
          <p:cNvPr id="167" name="Line 165"/>
          <p:cNvSpPr/>
          <p:nvPr/>
        </p:nvSpPr>
        <p:spPr>
          <a:xfrm>
            <a:off x="6294437" y="5920167"/>
            <a:ext cx="0" cy="365125"/>
          </a:xfrm>
          <a:prstGeom prst="line">
            <a:avLst/>
          </a:prstGeom>
          <a:ln w="9525" cap="flat" cmpd="sng">
            <a:solidFill>
              <a:srgbClr val="FF0066"/>
            </a:solidFill>
            <a:prstDash val="solid"/>
            <a:round/>
            <a:headEnd type="none" w="med" len="med"/>
            <a:tailEnd type="triangle" w="med" len="med"/>
          </a:ln>
        </p:spPr>
      </p:sp>
      <p:sp>
        <p:nvSpPr>
          <p:cNvPr id="168" name="Line 166"/>
          <p:cNvSpPr/>
          <p:nvPr/>
        </p:nvSpPr>
        <p:spPr>
          <a:xfrm>
            <a:off x="6573837" y="5920167"/>
            <a:ext cx="0" cy="365125"/>
          </a:xfrm>
          <a:prstGeom prst="line">
            <a:avLst/>
          </a:prstGeom>
          <a:ln w="9525" cap="flat" cmpd="sng">
            <a:solidFill>
              <a:srgbClr val="FF0066"/>
            </a:solidFill>
            <a:prstDash val="solid"/>
            <a:round/>
            <a:headEnd type="none" w="med" len="med"/>
            <a:tailEnd type="triangle" w="med" len="med"/>
          </a:ln>
        </p:spPr>
      </p:sp>
      <p:sp>
        <p:nvSpPr>
          <p:cNvPr id="169" name="Line 167"/>
          <p:cNvSpPr/>
          <p:nvPr/>
        </p:nvSpPr>
        <p:spPr>
          <a:xfrm>
            <a:off x="7248524" y="5905879"/>
            <a:ext cx="377825" cy="0"/>
          </a:xfrm>
          <a:prstGeom prst="line">
            <a:avLst/>
          </a:prstGeom>
          <a:ln w="9525" cap="flat" cmpd="sng">
            <a:solidFill>
              <a:srgbClr val="FF0066"/>
            </a:solidFill>
            <a:prstDash val="solid"/>
            <a:round/>
            <a:headEnd type="none" w="med" len="med"/>
            <a:tailEnd type="triangle" w="med" len="med"/>
          </a:ln>
        </p:spPr>
      </p:sp>
      <p:sp>
        <p:nvSpPr>
          <p:cNvPr id="170" name="Line 168"/>
          <p:cNvSpPr/>
          <p:nvPr/>
        </p:nvSpPr>
        <p:spPr>
          <a:xfrm>
            <a:off x="7805737" y="5920167"/>
            <a:ext cx="0" cy="365125"/>
          </a:xfrm>
          <a:prstGeom prst="line">
            <a:avLst/>
          </a:prstGeom>
          <a:ln w="9525" cap="flat" cmpd="sng">
            <a:solidFill>
              <a:srgbClr val="FF0066"/>
            </a:solidFill>
            <a:prstDash val="solid"/>
            <a:round/>
            <a:headEnd type="none" w="med" len="med"/>
            <a:tailEnd type="triangle" w="med" len="med"/>
          </a:ln>
        </p:spPr>
      </p:sp>
      <p:sp>
        <p:nvSpPr>
          <p:cNvPr id="171" name="Line 169"/>
          <p:cNvSpPr/>
          <p:nvPr/>
        </p:nvSpPr>
        <p:spPr>
          <a:xfrm>
            <a:off x="8085137" y="5920167"/>
            <a:ext cx="0" cy="365125"/>
          </a:xfrm>
          <a:prstGeom prst="line">
            <a:avLst/>
          </a:prstGeom>
          <a:ln w="9525" cap="flat" cmpd="sng">
            <a:solidFill>
              <a:srgbClr val="FF0066"/>
            </a:solidFill>
            <a:prstDash val="solid"/>
            <a:round/>
            <a:headEnd type="none" w="med" len="med"/>
            <a:tailEnd type="triangle" w="med" len="med"/>
          </a:ln>
        </p:spPr>
      </p:sp>
      <p:sp>
        <p:nvSpPr>
          <p:cNvPr id="172" name="Line 170"/>
          <p:cNvSpPr/>
          <p:nvPr/>
        </p:nvSpPr>
        <p:spPr>
          <a:xfrm>
            <a:off x="8402637" y="5920167"/>
            <a:ext cx="0" cy="365125"/>
          </a:xfrm>
          <a:prstGeom prst="line">
            <a:avLst/>
          </a:prstGeom>
          <a:ln w="9525" cap="flat" cmpd="sng">
            <a:solidFill>
              <a:srgbClr val="FF0066"/>
            </a:solidFill>
            <a:prstDash val="solid"/>
            <a:round/>
            <a:headEnd type="none" w="med" len="med"/>
            <a:tailEnd type="triangle" w="med" len="med"/>
          </a:ln>
        </p:spPr>
      </p:sp>
      <p:sp>
        <p:nvSpPr>
          <p:cNvPr id="173" name="Line 171"/>
          <p:cNvSpPr/>
          <p:nvPr/>
        </p:nvSpPr>
        <p:spPr>
          <a:xfrm>
            <a:off x="8759824" y="5905879"/>
            <a:ext cx="377825" cy="0"/>
          </a:xfrm>
          <a:prstGeom prst="line">
            <a:avLst/>
          </a:prstGeom>
          <a:ln w="9525" cap="flat" cmpd="sng">
            <a:solidFill>
              <a:srgbClr val="FF0066"/>
            </a:solidFill>
            <a:prstDash val="solid"/>
            <a:round/>
            <a:headEnd type="none" w="med" len="med"/>
            <a:tailEnd type="triangle" w="med" len="med"/>
          </a:ln>
        </p:spPr>
      </p:sp>
      <p:sp>
        <p:nvSpPr>
          <p:cNvPr id="174" name="Line 172"/>
          <p:cNvSpPr/>
          <p:nvPr/>
        </p:nvSpPr>
        <p:spPr>
          <a:xfrm>
            <a:off x="9278937" y="5907467"/>
            <a:ext cx="0" cy="365125"/>
          </a:xfrm>
          <a:prstGeom prst="line">
            <a:avLst/>
          </a:prstGeom>
          <a:ln w="9525" cap="flat" cmpd="sng">
            <a:solidFill>
              <a:srgbClr val="FF0066"/>
            </a:solidFill>
            <a:prstDash val="solid"/>
            <a:round/>
            <a:headEnd type="none" w="med" len="med"/>
            <a:tailEnd type="triangle" w="med" len="med"/>
          </a:ln>
        </p:spPr>
      </p:sp>
      <p:sp>
        <p:nvSpPr>
          <p:cNvPr id="175" name="Line 173"/>
          <p:cNvSpPr/>
          <p:nvPr/>
        </p:nvSpPr>
        <p:spPr>
          <a:xfrm>
            <a:off x="9558337" y="5907467"/>
            <a:ext cx="0" cy="365125"/>
          </a:xfrm>
          <a:prstGeom prst="line">
            <a:avLst/>
          </a:prstGeom>
          <a:ln w="9525" cap="flat" cmpd="sng">
            <a:solidFill>
              <a:srgbClr val="FF0066"/>
            </a:solidFill>
            <a:prstDash val="solid"/>
            <a:round/>
            <a:headEnd type="none" w="med" len="med"/>
            <a:tailEnd type="triangle" w="med" len="med"/>
          </a:ln>
        </p:spPr>
      </p:sp>
      <p:sp>
        <p:nvSpPr>
          <p:cNvPr id="12" name="灯片编号占位符 1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(5) B Tree  vs. B+ Tree</a:t>
            </a:r>
            <a:endParaRPr lang="en-US" altLang="zh-CN" sz="2600" dirty="0">
              <a:latin typeface="微软雅黑" panose="020B0503020204020204" pitchFamily="34" charset="-122"/>
              <a:ea typeface="微软雅黑" panose="020B0503020204020204" pitchFamily="34" charset="-122"/>
            </a:endParaRPr>
          </a:p>
          <a:p>
            <a:pPr>
              <a:lnSpc>
                <a:spcPct val="100000"/>
              </a:lnSpc>
              <a:spcBef>
                <a:spcPct val="20000"/>
              </a:spcBef>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索引字段值仅出现一次或者在叶结点或者在非叶结点；</a:t>
            </a:r>
            <a:endParaRPr lang="zh-CN" altLang="en-US" sz="1800" b="0" dirty="0">
              <a:latin typeface="微软雅黑" panose="020B0503020204020204" pitchFamily="34" charset="-122"/>
              <a:ea typeface="微软雅黑" panose="020B0503020204020204" pitchFamily="34" charset="-122"/>
            </a:endParaRPr>
          </a:p>
          <a:p>
            <a:pPr>
              <a:lnSpc>
                <a:spcPct val="100000"/>
              </a:lnSpc>
              <a:spcBef>
                <a:spcPct val="20000"/>
              </a:spcBef>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指向主文件的指针出现于叶结点或非叶结点；</a:t>
            </a:r>
            <a:endParaRPr lang="zh-CN" altLang="en-US" sz="1800" b="0" dirty="0">
              <a:latin typeface="微软雅黑" panose="020B0503020204020204" pitchFamily="34" charset="-122"/>
              <a:ea typeface="微软雅黑" panose="020B0503020204020204" pitchFamily="34" charset="-122"/>
            </a:endParaRPr>
          </a:p>
          <a:p>
            <a:pPr>
              <a:lnSpc>
                <a:spcPct val="100000"/>
              </a:lnSpc>
              <a:spcBef>
                <a:spcPct val="20000"/>
              </a:spcBef>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所有结点才能覆盖所有键值的索引。</a:t>
            </a:r>
            <a:endParaRPr lang="zh-CN" altLang="en-US" sz="1800" b="0" dirty="0">
              <a:latin typeface="微软雅黑" panose="020B0503020204020204" pitchFamily="34" charset="-122"/>
              <a:ea typeface="微软雅黑" panose="020B0503020204020204" pitchFamily="34" charset="-122"/>
            </a:endParaRPr>
          </a:p>
          <a:p>
            <a:pPr>
              <a:lnSpc>
                <a:spcPct val="100000"/>
              </a:lnSpc>
              <a:spcBef>
                <a:spcPct val="20000"/>
              </a:spcBef>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插入记录时，伴随着结点的分裂与合并；</a:t>
            </a:r>
            <a:endParaRPr lang="zh-CN" altLang="en-US" sz="1800" b="0" dirty="0">
              <a:latin typeface="微软雅黑" panose="020B0503020204020204" pitchFamily="34" charset="-122"/>
              <a:ea typeface="微软雅黑" panose="020B0503020204020204" pitchFamily="34" charset="-122"/>
            </a:endParaRPr>
          </a:p>
          <a:p>
            <a:pPr>
              <a:lnSpc>
                <a:spcPct val="100000"/>
              </a:lnSpc>
              <a:spcBef>
                <a:spcPct val="20000"/>
              </a:spcBef>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层数相同</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平衡；</a:t>
            </a:r>
            <a:endParaRPr lang="zh-CN" altLang="en-US" sz="18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12" name="Group 4"/>
          <p:cNvGrpSpPr/>
          <p:nvPr/>
        </p:nvGrpSpPr>
        <p:grpSpPr>
          <a:xfrm>
            <a:off x="4954588" y="3146425"/>
            <a:ext cx="1238250" cy="695325"/>
            <a:chOff x="856" y="1440"/>
            <a:chExt cx="1291" cy="667"/>
          </a:xfrm>
        </p:grpSpPr>
        <p:sp>
          <p:nvSpPr>
            <p:cNvPr id="13" name="Rectangle 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4" name="Line 6"/>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5" name="Line 7"/>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6" name="Line 8"/>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8" name="Line 9"/>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9" name="Line 10"/>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0" name="Line 11"/>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21" name="Text Box 12"/>
          <p:cNvSpPr txBox="1"/>
          <p:nvPr/>
        </p:nvSpPr>
        <p:spPr>
          <a:xfrm>
            <a:off x="4883150" y="312261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22" name="Group 13"/>
          <p:cNvGrpSpPr/>
          <p:nvPr/>
        </p:nvGrpSpPr>
        <p:grpSpPr>
          <a:xfrm>
            <a:off x="3641725" y="4200525"/>
            <a:ext cx="1238250" cy="695325"/>
            <a:chOff x="856" y="1440"/>
            <a:chExt cx="1291" cy="667"/>
          </a:xfrm>
        </p:grpSpPr>
        <p:sp>
          <p:nvSpPr>
            <p:cNvPr id="23" name="Rectangle 1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4" name="Line 1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5" name="Line 1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6" name="Line 1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7" name="Line 1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8" name="Line 1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9" name="Line 2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0" name="Group 21"/>
          <p:cNvGrpSpPr/>
          <p:nvPr/>
        </p:nvGrpSpPr>
        <p:grpSpPr>
          <a:xfrm>
            <a:off x="7189788" y="4200525"/>
            <a:ext cx="1238250" cy="695325"/>
            <a:chOff x="856" y="1440"/>
            <a:chExt cx="1291" cy="667"/>
          </a:xfrm>
        </p:grpSpPr>
        <p:sp>
          <p:nvSpPr>
            <p:cNvPr id="31" name="Rectangle 2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3" name="Line 2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34" name="Line 2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35" name="Line 2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36" name="Line 2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7" name="Line 2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8" name="Line 2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9" name="Group 29"/>
          <p:cNvGrpSpPr/>
          <p:nvPr/>
        </p:nvGrpSpPr>
        <p:grpSpPr>
          <a:xfrm>
            <a:off x="1982788" y="5318125"/>
            <a:ext cx="1238250" cy="695325"/>
            <a:chOff x="856" y="1440"/>
            <a:chExt cx="1291" cy="667"/>
          </a:xfrm>
        </p:grpSpPr>
        <p:sp>
          <p:nvSpPr>
            <p:cNvPr id="40"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1" name="Line 3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2" name="Line 3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3" name="Line 3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4" name="Line 3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5" name="Line 3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6" name="Line 3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47" name="Group 37"/>
          <p:cNvGrpSpPr/>
          <p:nvPr/>
        </p:nvGrpSpPr>
        <p:grpSpPr>
          <a:xfrm>
            <a:off x="3468688" y="5318125"/>
            <a:ext cx="1238250" cy="695325"/>
            <a:chOff x="856" y="1440"/>
            <a:chExt cx="1291" cy="667"/>
          </a:xfrm>
        </p:grpSpPr>
        <p:sp>
          <p:nvSpPr>
            <p:cNvPr id="48" name="Rectangle 3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9" name="Line 3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0" name="Line 4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1" name="Line 4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2" name="Line 4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3" name="Line 4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4" name="Line 4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90" name="Group 45"/>
          <p:cNvGrpSpPr/>
          <p:nvPr/>
        </p:nvGrpSpPr>
        <p:grpSpPr>
          <a:xfrm>
            <a:off x="4954588" y="5318125"/>
            <a:ext cx="1238250" cy="695325"/>
            <a:chOff x="856" y="1440"/>
            <a:chExt cx="1291" cy="667"/>
          </a:xfrm>
        </p:grpSpPr>
        <p:sp>
          <p:nvSpPr>
            <p:cNvPr id="91" name="Rectangle 4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92" name="Line 4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93" name="Line 4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94" name="Line 4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76" name="Line 5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77" name="Line 5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78" name="Line 5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79" name="Group 53"/>
          <p:cNvGrpSpPr/>
          <p:nvPr/>
        </p:nvGrpSpPr>
        <p:grpSpPr>
          <a:xfrm>
            <a:off x="6440488" y="5318125"/>
            <a:ext cx="1238250" cy="695325"/>
            <a:chOff x="856" y="1440"/>
            <a:chExt cx="1291" cy="667"/>
          </a:xfrm>
        </p:grpSpPr>
        <p:sp>
          <p:nvSpPr>
            <p:cNvPr id="180" name="Rectangle 5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81" name="Line 5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82" name="Line 5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83" name="Line 5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84" name="Line 5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85" name="Line 5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86" name="Line 6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87" name="Group 61"/>
          <p:cNvGrpSpPr/>
          <p:nvPr/>
        </p:nvGrpSpPr>
        <p:grpSpPr>
          <a:xfrm>
            <a:off x="7926388" y="5318125"/>
            <a:ext cx="1238250" cy="695325"/>
            <a:chOff x="856" y="1440"/>
            <a:chExt cx="1291" cy="667"/>
          </a:xfrm>
        </p:grpSpPr>
        <p:sp>
          <p:nvSpPr>
            <p:cNvPr id="188" name="Rectangle 6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89" name="Line 6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90" name="Line 6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91" name="Line 6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92" name="Line 6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93" name="Line 6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94" name="Line 6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95" name="Group 69"/>
          <p:cNvGrpSpPr/>
          <p:nvPr/>
        </p:nvGrpSpPr>
        <p:grpSpPr>
          <a:xfrm>
            <a:off x="9413875" y="5318125"/>
            <a:ext cx="1238250" cy="695325"/>
            <a:chOff x="856" y="1440"/>
            <a:chExt cx="1291" cy="667"/>
          </a:xfrm>
        </p:grpSpPr>
        <p:sp>
          <p:nvSpPr>
            <p:cNvPr id="196" name="Rectangle 7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97" name="Line 7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98" name="Line 7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99" name="Line 7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00" name="Line 7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01" name="Line 7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02" name="Line 7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203" name="Text Box 77"/>
          <p:cNvSpPr txBox="1"/>
          <p:nvPr/>
        </p:nvSpPr>
        <p:spPr>
          <a:xfrm>
            <a:off x="3584575" y="41814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204" name="Text Box 78"/>
          <p:cNvSpPr txBox="1"/>
          <p:nvPr/>
        </p:nvSpPr>
        <p:spPr>
          <a:xfrm>
            <a:off x="1944688" y="52895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205" name="Text Box 79"/>
          <p:cNvSpPr txBox="1"/>
          <p:nvPr/>
        </p:nvSpPr>
        <p:spPr>
          <a:xfrm>
            <a:off x="2325688" y="52895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206" name="Text Box 80"/>
          <p:cNvSpPr txBox="1"/>
          <p:nvPr/>
        </p:nvSpPr>
        <p:spPr>
          <a:xfrm>
            <a:off x="2824163" y="5289550"/>
            <a:ext cx="400050"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207" name="Text Box 81"/>
          <p:cNvSpPr txBox="1"/>
          <p:nvPr/>
        </p:nvSpPr>
        <p:spPr>
          <a:xfrm>
            <a:off x="3392488" y="52895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8</a:t>
            </a:r>
            <a:endParaRPr lang="en-US" altLang="zh-CN" sz="1800" dirty="0">
              <a:latin typeface="Times New Roman" panose="02020603050405020304" pitchFamily="18" charset="0"/>
              <a:ea typeface="楷体_GB2312" pitchFamily="49" charset="-122"/>
            </a:endParaRPr>
          </a:p>
        </p:txBody>
      </p:sp>
      <p:sp>
        <p:nvSpPr>
          <p:cNvPr id="208" name="Text Box 82"/>
          <p:cNvSpPr txBox="1"/>
          <p:nvPr/>
        </p:nvSpPr>
        <p:spPr>
          <a:xfrm>
            <a:off x="3773488" y="52895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11</a:t>
            </a:r>
            <a:endParaRPr lang="en-US" altLang="zh-CN" sz="1800" dirty="0">
              <a:latin typeface="Times New Roman" panose="02020603050405020304" pitchFamily="18" charset="0"/>
              <a:ea typeface="楷体_GB2312" pitchFamily="49" charset="-122"/>
            </a:endParaRPr>
          </a:p>
        </p:txBody>
      </p:sp>
      <p:sp>
        <p:nvSpPr>
          <p:cNvPr id="209" name="Text Box 83"/>
          <p:cNvSpPr txBox="1"/>
          <p:nvPr/>
        </p:nvSpPr>
        <p:spPr>
          <a:xfrm>
            <a:off x="4878388" y="53086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14</a:t>
            </a:r>
            <a:endParaRPr lang="en-US" altLang="zh-CN" sz="1800" dirty="0">
              <a:latin typeface="Times New Roman" panose="02020603050405020304" pitchFamily="18" charset="0"/>
              <a:ea typeface="楷体_GB2312" pitchFamily="49" charset="-122"/>
            </a:endParaRPr>
          </a:p>
        </p:txBody>
      </p:sp>
      <p:sp>
        <p:nvSpPr>
          <p:cNvPr id="210" name="Text Box 84"/>
          <p:cNvSpPr txBox="1"/>
          <p:nvPr/>
        </p:nvSpPr>
        <p:spPr>
          <a:xfrm>
            <a:off x="5297488" y="53086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211" name="Text Box 85"/>
          <p:cNvSpPr txBox="1"/>
          <p:nvPr/>
        </p:nvSpPr>
        <p:spPr>
          <a:xfrm>
            <a:off x="5757863" y="5308600"/>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212" name="Text Box 86"/>
          <p:cNvSpPr txBox="1"/>
          <p:nvPr/>
        </p:nvSpPr>
        <p:spPr>
          <a:xfrm>
            <a:off x="6376988" y="52959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25</a:t>
            </a:r>
            <a:endParaRPr lang="en-US" altLang="zh-CN" sz="1800" dirty="0">
              <a:latin typeface="Times New Roman" panose="02020603050405020304" pitchFamily="18" charset="0"/>
              <a:ea typeface="楷体_GB2312" pitchFamily="49" charset="-122"/>
            </a:endParaRPr>
          </a:p>
        </p:txBody>
      </p:sp>
      <p:sp>
        <p:nvSpPr>
          <p:cNvPr id="213" name="Text Box 87"/>
          <p:cNvSpPr txBox="1"/>
          <p:nvPr/>
        </p:nvSpPr>
        <p:spPr>
          <a:xfrm>
            <a:off x="6796088" y="52959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214" name="Text Box 88"/>
          <p:cNvSpPr txBox="1"/>
          <p:nvPr/>
        </p:nvSpPr>
        <p:spPr>
          <a:xfrm>
            <a:off x="7889875" y="53022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33</a:t>
            </a:r>
            <a:endParaRPr lang="en-US" altLang="zh-CN" sz="1800" dirty="0">
              <a:latin typeface="Times New Roman" panose="02020603050405020304" pitchFamily="18" charset="0"/>
              <a:ea typeface="楷体_GB2312" pitchFamily="49" charset="-122"/>
            </a:endParaRPr>
          </a:p>
        </p:txBody>
      </p:sp>
      <p:sp>
        <p:nvSpPr>
          <p:cNvPr id="215" name="Text Box 89"/>
          <p:cNvSpPr txBox="1"/>
          <p:nvPr/>
        </p:nvSpPr>
        <p:spPr>
          <a:xfrm>
            <a:off x="8308975" y="53022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216" name="Text Box 90"/>
          <p:cNvSpPr txBox="1"/>
          <p:nvPr/>
        </p:nvSpPr>
        <p:spPr>
          <a:xfrm>
            <a:off x="8769350" y="5302250"/>
            <a:ext cx="439738"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217" name="Text Box 91"/>
          <p:cNvSpPr txBox="1"/>
          <p:nvPr/>
        </p:nvSpPr>
        <p:spPr>
          <a:xfrm>
            <a:off x="9353550" y="53022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45</a:t>
            </a:r>
            <a:endParaRPr lang="en-US" altLang="zh-CN" sz="1800" dirty="0">
              <a:latin typeface="Times New Roman" panose="02020603050405020304" pitchFamily="18" charset="0"/>
              <a:ea typeface="楷体_GB2312" pitchFamily="49" charset="-122"/>
            </a:endParaRPr>
          </a:p>
        </p:txBody>
      </p:sp>
      <p:sp>
        <p:nvSpPr>
          <p:cNvPr id="218" name="Text Box 92"/>
          <p:cNvSpPr txBox="1"/>
          <p:nvPr/>
        </p:nvSpPr>
        <p:spPr>
          <a:xfrm>
            <a:off x="9772650" y="53022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219" name="Text Box 93"/>
          <p:cNvSpPr txBox="1"/>
          <p:nvPr/>
        </p:nvSpPr>
        <p:spPr>
          <a:xfrm>
            <a:off x="7121525" y="417353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220" name="Text Box 94"/>
          <p:cNvSpPr txBox="1"/>
          <p:nvPr/>
        </p:nvSpPr>
        <p:spPr>
          <a:xfrm>
            <a:off x="7540625" y="417353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221" name="Text Box 95"/>
          <p:cNvSpPr txBox="1"/>
          <p:nvPr/>
        </p:nvSpPr>
        <p:spPr>
          <a:xfrm>
            <a:off x="8001000" y="4173538"/>
            <a:ext cx="439738"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222" name="Line 108"/>
          <p:cNvSpPr/>
          <p:nvPr/>
        </p:nvSpPr>
        <p:spPr>
          <a:xfrm>
            <a:off x="2136775" y="5876925"/>
            <a:ext cx="0" cy="365125"/>
          </a:xfrm>
          <a:prstGeom prst="line">
            <a:avLst/>
          </a:prstGeom>
          <a:ln w="38100" cap="flat" cmpd="sng">
            <a:solidFill>
              <a:schemeClr val="accent2"/>
            </a:solidFill>
            <a:prstDash val="solid"/>
            <a:round/>
            <a:headEnd type="none" w="med" len="med"/>
            <a:tailEnd type="triangle" w="med" len="med"/>
          </a:ln>
        </p:spPr>
      </p:sp>
      <p:sp>
        <p:nvSpPr>
          <p:cNvPr id="223" name="Line 109"/>
          <p:cNvSpPr/>
          <p:nvPr/>
        </p:nvSpPr>
        <p:spPr>
          <a:xfrm>
            <a:off x="2416175" y="5876925"/>
            <a:ext cx="0" cy="365125"/>
          </a:xfrm>
          <a:prstGeom prst="line">
            <a:avLst/>
          </a:prstGeom>
          <a:ln w="38100" cap="flat" cmpd="sng">
            <a:solidFill>
              <a:schemeClr val="accent2"/>
            </a:solidFill>
            <a:prstDash val="solid"/>
            <a:round/>
            <a:headEnd type="none" w="med" len="med"/>
            <a:tailEnd type="triangle" w="med" len="med"/>
          </a:ln>
        </p:spPr>
      </p:sp>
      <p:sp>
        <p:nvSpPr>
          <p:cNvPr id="224" name="Line 110"/>
          <p:cNvSpPr/>
          <p:nvPr/>
        </p:nvSpPr>
        <p:spPr>
          <a:xfrm>
            <a:off x="2733675" y="5876925"/>
            <a:ext cx="0" cy="365125"/>
          </a:xfrm>
          <a:prstGeom prst="line">
            <a:avLst/>
          </a:prstGeom>
          <a:ln w="38100" cap="flat" cmpd="sng">
            <a:solidFill>
              <a:schemeClr val="accent2"/>
            </a:solidFill>
            <a:prstDash val="solid"/>
            <a:round/>
            <a:headEnd type="none" w="med" len="med"/>
            <a:tailEnd type="triangle" w="med" len="med"/>
          </a:ln>
        </p:spPr>
      </p:sp>
      <p:sp>
        <p:nvSpPr>
          <p:cNvPr id="225" name="Line 111"/>
          <p:cNvSpPr/>
          <p:nvPr/>
        </p:nvSpPr>
        <p:spPr>
          <a:xfrm>
            <a:off x="3090863" y="5849938"/>
            <a:ext cx="377825" cy="0"/>
          </a:xfrm>
          <a:prstGeom prst="line">
            <a:avLst/>
          </a:prstGeom>
          <a:ln w="9525" cap="flat" cmpd="sng">
            <a:solidFill>
              <a:srgbClr val="FF0066"/>
            </a:solidFill>
            <a:prstDash val="solid"/>
            <a:round/>
            <a:headEnd type="none" w="med" len="med"/>
            <a:tailEnd type="triangle" w="med" len="med"/>
          </a:ln>
        </p:spPr>
      </p:sp>
      <p:sp>
        <p:nvSpPr>
          <p:cNvPr id="226" name="Line 112"/>
          <p:cNvSpPr/>
          <p:nvPr/>
        </p:nvSpPr>
        <p:spPr>
          <a:xfrm>
            <a:off x="3609975" y="5876925"/>
            <a:ext cx="0" cy="365125"/>
          </a:xfrm>
          <a:prstGeom prst="line">
            <a:avLst/>
          </a:prstGeom>
          <a:ln w="38100" cap="flat" cmpd="sng">
            <a:solidFill>
              <a:schemeClr val="accent2"/>
            </a:solidFill>
            <a:prstDash val="solid"/>
            <a:round/>
            <a:headEnd type="none" w="med" len="med"/>
            <a:tailEnd type="triangle" w="med" len="med"/>
          </a:ln>
        </p:spPr>
      </p:sp>
      <p:sp>
        <p:nvSpPr>
          <p:cNvPr id="227" name="Line 113"/>
          <p:cNvSpPr/>
          <p:nvPr/>
        </p:nvSpPr>
        <p:spPr>
          <a:xfrm>
            <a:off x="3889375" y="5876925"/>
            <a:ext cx="0" cy="365125"/>
          </a:xfrm>
          <a:prstGeom prst="line">
            <a:avLst/>
          </a:prstGeom>
          <a:ln w="38100" cap="flat" cmpd="sng">
            <a:solidFill>
              <a:schemeClr val="accent2"/>
            </a:solidFill>
            <a:prstDash val="solid"/>
            <a:round/>
            <a:headEnd type="none" w="med" len="med"/>
            <a:tailEnd type="triangle" w="med" len="med"/>
          </a:ln>
        </p:spPr>
      </p:sp>
      <p:sp>
        <p:nvSpPr>
          <p:cNvPr id="228" name="Line 114"/>
          <p:cNvSpPr/>
          <p:nvPr/>
        </p:nvSpPr>
        <p:spPr>
          <a:xfrm>
            <a:off x="4564063" y="5862638"/>
            <a:ext cx="377825" cy="0"/>
          </a:xfrm>
          <a:prstGeom prst="line">
            <a:avLst/>
          </a:prstGeom>
          <a:ln w="9525" cap="flat" cmpd="sng">
            <a:solidFill>
              <a:srgbClr val="FF0066"/>
            </a:solidFill>
            <a:prstDash val="solid"/>
            <a:round/>
            <a:headEnd type="none" w="med" len="med"/>
            <a:tailEnd type="triangle" w="med" len="med"/>
          </a:ln>
        </p:spPr>
      </p:sp>
      <p:sp>
        <p:nvSpPr>
          <p:cNvPr id="229" name="Line 115"/>
          <p:cNvSpPr/>
          <p:nvPr/>
        </p:nvSpPr>
        <p:spPr>
          <a:xfrm>
            <a:off x="5108575" y="5876925"/>
            <a:ext cx="0" cy="365125"/>
          </a:xfrm>
          <a:prstGeom prst="line">
            <a:avLst/>
          </a:prstGeom>
          <a:ln w="38100" cap="flat" cmpd="sng">
            <a:solidFill>
              <a:schemeClr val="accent2"/>
            </a:solidFill>
            <a:prstDash val="solid"/>
            <a:round/>
            <a:headEnd type="none" w="med" len="med"/>
            <a:tailEnd type="triangle" w="med" len="med"/>
          </a:ln>
        </p:spPr>
      </p:sp>
      <p:sp>
        <p:nvSpPr>
          <p:cNvPr id="230" name="Line 116"/>
          <p:cNvSpPr/>
          <p:nvPr/>
        </p:nvSpPr>
        <p:spPr>
          <a:xfrm>
            <a:off x="5400675" y="5876925"/>
            <a:ext cx="0" cy="365125"/>
          </a:xfrm>
          <a:prstGeom prst="line">
            <a:avLst/>
          </a:prstGeom>
          <a:ln w="38100" cap="flat" cmpd="sng">
            <a:solidFill>
              <a:schemeClr val="accent2"/>
            </a:solidFill>
            <a:prstDash val="solid"/>
            <a:round/>
            <a:headEnd type="none" w="med" len="med"/>
            <a:tailEnd type="triangle" w="med" len="med"/>
          </a:ln>
        </p:spPr>
      </p:sp>
      <p:sp>
        <p:nvSpPr>
          <p:cNvPr id="231" name="Line 117"/>
          <p:cNvSpPr/>
          <p:nvPr/>
        </p:nvSpPr>
        <p:spPr>
          <a:xfrm>
            <a:off x="5705475" y="5876925"/>
            <a:ext cx="0" cy="365125"/>
          </a:xfrm>
          <a:prstGeom prst="line">
            <a:avLst/>
          </a:prstGeom>
          <a:ln w="38100" cap="flat" cmpd="sng">
            <a:solidFill>
              <a:schemeClr val="accent2"/>
            </a:solidFill>
            <a:prstDash val="solid"/>
            <a:round/>
            <a:headEnd type="none" w="med" len="med"/>
            <a:tailEnd type="triangle" w="med" len="med"/>
          </a:ln>
        </p:spPr>
      </p:sp>
      <p:sp>
        <p:nvSpPr>
          <p:cNvPr id="232" name="Line 118"/>
          <p:cNvSpPr/>
          <p:nvPr/>
        </p:nvSpPr>
        <p:spPr>
          <a:xfrm>
            <a:off x="6062663" y="5862638"/>
            <a:ext cx="377825" cy="0"/>
          </a:xfrm>
          <a:prstGeom prst="line">
            <a:avLst/>
          </a:prstGeom>
          <a:ln w="9525" cap="flat" cmpd="sng">
            <a:solidFill>
              <a:srgbClr val="FF0066"/>
            </a:solidFill>
            <a:prstDash val="solid"/>
            <a:round/>
            <a:headEnd type="none" w="med" len="med"/>
            <a:tailEnd type="triangle" w="med" len="med"/>
          </a:ln>
        </p:spPr>
      </p:sp>
      <p:sp>
        <p:nvSpPr>
          <p:cNvPr id="233" name="Line 119"/>
          <p:cNvSpPr/>
          <p:nvPr/>
        </p:nvSpPr>
        <p:spPr>
          <a:xfrm>
            <a:off x="6581775" y="5876925"/>
            <a:ext cx="0" cy="365125"/>
          </a:xfrm>
          <a:prstGeom prst="line">
            <a:avLst/>
          </a:prstGeom>
          <a:ln w="38100" cap="flat" cmpd="sng">
            <a:solidFill>
              <a:schemeClr val="accent2"/>
            </a:solidFill>
            <a:prstDash val="solid"/>
            <a:round/>
            <a:headEnd type="none" w="med" len="med"/>
            <a:tailEnd type="triangle" w="med" len="med"/>
          </a:ln>
        </p:spPr>
      </p:sp>
      <p:sp>
        <p:nvSpPr>
          <p:cNvPr id="234" name="Line 120"/>
          <p:cNvSpPr/>
          <p:nvPr/>
        </p:nvSpPr>
        <p:spPr>
          <a:xfrm>
            <a:off x="6861175" y="5876925"/>
            <a:ext cx="0" cy="365125"/>
          </a:xfrm>
          <a:prstGeom prst="line">
            <a:avLst/>
          </a:prstGeom>
          <a:ln w="38100" cap="flat" cmpd="sng">
            <a:solidFill>
              <a:schemeClr val="accent2"/>
            </a:solidFill>
            <a:prstDash val="solid"/>
            <a:round/>
            <a:headEnd type="none" w="med" len="med"/>
            <a:tailEnd type="triangle" w="med" len="med"/>
          </a:ln>
        </p:spPr>
      </p:sp>
      <p:sp>
        <p:nvSpPr>
          <p:cNvPr id="235" name="Line 121"/>
          <p:cNvSpPr/>
          <p:nvPr/>
        </p:nvSpPr>
        <p:spPr>
          <a:xfrm>
            <a:off x="7535863" y="5862638"/>
            <a:ext cx="377825" cy="0"/>
          </a:xfrm>
          <a:prstGeom prst="line">
            <a:avLst/>
          </a:prstGeom>
          <a:ln w="9525" cap="flat" cmpd="sng">
            <a:solidFill>
              <a:srgbClr val="FF0066"/>
            </a:solidFill>
            <a:prstDash val="solid"/>
            <a:round/>
            <a:headEnd type="none" w="med" len="med"/>
            <a:tailEnd type="triangle" w="med" len="med"/>
          </a:ln>
        </p:spPr>
      </p:sp>
      <p:sp>
        <p:nvSpPr>
          <p:cNvPr id="236" name="Line 122"/>
          <p:cNvSpPr/>
          <p:nvPr/>
        </p:nvSpPr>
        <p:spPr>
          <a:xfrm>
            <a:off x="8093075" y="5876925"/>
            <a:ext cx="0" cy="365125"/>
          </a:xfrm>
          <a:prstGeom prst="line">
            <a:avLst/>
          </a:prstGeom>
          <a:ln w="38100" cap="flat" cmpd="sng">
            <a:solidFill>
              <a:schemeClr val="accent2"/>
            </a:solidFill>
            <a:prstDash val="solid"/>
            <a:round/>
            <a:headEnd type="none" w="med" len="med"/>
            <a:tailEnd type="triangle" w="med" len="med"/>
          </a:ln>
        </p:spPr>
      </p:sp>
      <p:sp>
        <p:nvSpPr>
          <p:cNvPr id="237" name="Line 123"/>
          <p:cNvSpPr/>
          <p:nvPr/>
        </p:nvSpPr>
        <p:spPr>
          <a:xfrm>
            <a:off x="8372475" y="5876925"/>
            <a:ext cx="0" cy="365125"/>
          </a:xfrm>
          <a:prstGeom prst="line">
            <a:avLst/>
          </a:prstGeom>
          <a:ln w="38100" cap="flat" cmpd="sng">
            <a:solidFill>
              <a:schemeClr val="accent2"/>
            </a:solidFill>
            <a:prstDash val="solid"/>
            <a:round/>
            <a:headEnd type="none" w="med" len="med"/>
            <a:tailEnd type="triangle" w="med" len="med"/>
          </a:ln>
        </p:spPr>
      </p:sp>
      <p:sp>
        <p:nvSpPr>
          <p:cNvPr id="238" name="Line 124"/>
          <p:cNvSpPr/>
          <p:nvPr/>
        </p:nvSpPr>
        <p:spPr>
          <a:xfrm>
            <a:off x="8689975" y="5876925"/>
            <a:ext cx="0" cy="365125"/>
          </a:xfrm>
          <a:prstGeom prst="line">
            <a:avLst/>
          </a:prstGeom>
          <a:ln w="38100" cap="flat" cmpd="sng">
            <a:solidFill>
              <a:schemeClr val="accent2"/>
            </a:solidFill>
            <a:prstDash val="solid"/>
            <a:round/>
            <a:headEnd type="none" w="med" len="med"/>
            <a:tailEnd type="triangle" w="med" len="med"/>
          </a:ln>
        </p:spPr>
      </p:sp>
      <p:sp>
        <p:nvSpPr>
          <p:cNvPr id="239" name="Line 125"/>
          <p:cNvSpPr/>
          <p:nvPr/>
        </p:nvSpPr>
        <p:spPr>
          <a:xfrm>
            <a:off x="9047163" y="5862638"/>
            <a:ext cx="377825" cy="0"/>
          </a:xfrm>
          <a:prstGeom prst="line">
            <a:avLst/>
          </a:prstGeom>
          <a:ln w="9525" cap="flat" cmpd="sng">
            <a:solidFill>
              <a:srgbClr val="FF0066"/>
            </a:solidFill>
            <a:prstDash val="solid"/>
            <a:round/>
            <a:headEnd type="none" w="med" len="med"/>
            <a:tailEnd type="triangle" w="med" len="med"/>
          </a:ln>
        </p:spPr>
      </p:sp>
      <p:sp>
        <p:nvSpPr>
          <p:cNvPr id="240" name="Line 126"/>
          <p:cNvSpPr/>
          <p:nvPr/>
        </p:nvSpPr>
        <p:spPr>
          <a:xfrm>
            <a:off x="9566275" y="5864225"/>
            <a:ext cx="0" cy="365125"/>
          </a:xfrm>
          <a:prstGeom prst="line">
            <a:avLst/>
          </a:prstGeom>
          <a:ln w="38100" cap="flat" cmpd="sng">
            <a:solidFill>
              <a:schemeClr val="accent2"/>
            </a:solidFill>
            <a:prstDash val="solid"/>
            <a:round/>
            <a:headEnd type="none" w="med" len="med"/>
            <a:tailEnd type="triangle" w="med" len="med"/>
          </a:ln>
        </p:spPr>
      </p:sp>
      <p:sp>
        <p:nvSpPr>
          <p:cNvPr id="241" name="Line 127"/>
          <p:cNvSpPr/>
          <p:nvPr/>
        </p:nvSpPr>
        <p:spPr>
          <a:xfrm>
            <a:off x="9829800" y="5848350"/>
            <a:ext cx="0" cy="365125"/>
          </a:xfrm>
          <a:prstGeom prst="line">
            <a:avLst/>
          </a:prstGeom>
          <a:ln w="38100" cap="flat" cmpd="sng">
            <a:solidFill>
              <a:schemeClr val="accent2"/>
            </a:solidFill>
            <a:prstDash val="solid"/>
            <a:round/>
            <a:headEnd type="none" w="med" len="med"/>
            <a:tailEnd type="triangle" w="med" len="med"/>
          </a:ln>
        </p:spPr>
      </p:sp>
      <p:sp>
        <p:nvSpPr>
          <p:cNvPr id="242" name="Line 128"/>
          <p:cNvSpPr/>
          <p:nvPr/>
        </p:nvSpPr>
        <p:spPr>
          <a:xfrm>
            <a:off x="5083175" y="3495675"/>
            <a:ext cx="0" cy="330200"/>
          </a:xfrm>
          <a:prstGeom prst="line">
            <a:avLst/>
          </a:prstGeom>
          <a:ln w="28575" cap="flat" cmpd="sng">
            <a:solidFill>
              <a:schemeClr val="accent2"/>
            </a:solidFill>
            <a:prstDash val="solid"/>
            <a:round/>
            <a:headEnd type="none" w="med" len="med"/>
            <a:tailEnd type="none" w="med" len="med"/>
          </a:ln>
        </p:spPr>
      </p:sp>
      <p:sp>
        <p:nvSpPr>
          <p:cNvPr id="243" name="Line 102"/>
          <p:cNvSpPr/>
          <p:nvPr/>
        </p:nvSpPr>
        <p:spPr>
          <a:xfrm flipH="1">
            <a:off x="4119563" y="3706813"/>
            <a:ext cx="941387" cy="492125"/>
          </a:xfrm>
          <a:prstGeom prst="line">
            <a:avLst/>
          </a:prstGeom>
          <a:ln w="9525" cap="flat" cmpd="sng">
            <a:solidFill>
              <a:srgbClr val="FF0066"/>
            </a:solidFill>
            <a:prstDash val="solid"/>
            <a:round/>
            <a:headEnd type="none" w="med" len="med"/>
            <a:tailEnd type="triangle" w="med" len="med"/>
          </a:ln>
        </p:spPr>
      </p:sp>
      <p:sp>
        <p:nvSpPr>
          <p:cNvPr id="244" name="Line 103"/>
          <p:cNvSpPr/>
          <p:nvPr/>
        </p:nvSpPr>
        <p:spPr>
          <a:xfrm>
            <a:off x="5387975" y="3719513"/>
            <a:ext cx="1958975" cy="473075"/>
          </a:xfrm>
          <a:prstGeom prst="line">
            <a:avLst/>
          </a:prstGeom>
          <a:ln w="9525" cap="flat" cmpd="sng">
            <a:solidFill>
              <a:srgbClr val="FF0066"/>
            </a:solidFill>
            <a:prstDash val="solid"/>
            <a:round/>
            <a:headEnd type="none" w="med" len="med"/>
            <a:tailEnd type="triangle" w="med" len="med"/>
          </a:ln>
        </p:spPr>
      </p:sp>
      <p:sp>
        <p:nvSpPr>
          <p:cNvPr id="245" name="Line 129"/>
          <p:cNvSpPr/>
          <p:nvPr/>
        </p:nvSpPr>
        <p:spPr>
          <a:xfrm>
            <a:off x="5186363" y="3703638"/>
            <a:ext cx="0" cy="317500"/>
          </a:xfrm>
          <a:prstGeom prst="line">
            <a:avLst/>
          </a:prstGeom>
          <a:ln w="38100" cap="flat" cmpd="sng">
            <a:solidFill>
              <a:schemeClr val="accent2"/>
            </a:solidFill>
            <a:prstDash val="solid"/>
            <a:round/>
            <a:headEnd type="none" w="med" len="med"/>
            <a:tailEnd type="triangle" w="med" len="med"/>
          </a:ln>
        </p:spPr>
      </p:sp>
      <p:sp>
        <p:nvSpPr>
          <p:cNvPr id="246" name="Line 130"/>
          <p:cNvSpPr/>
          <p:nvPr/>
        </p:nvSpPr>
        <p:spPr>
          <a:xfrm>
            <a:off x="3779838" y="4533900"/>
            <a:ext cx="0" cy="374650"/>
          </a:xfrm>
          <a:prstGeom prst="line">
            <a:avLst/>
          </a:prstGeom>
          <a:ln w="9525" cap="flat" cmpd="sng">
            <a:solidFill>
              <a:schemeClr val="accent2"/>
            </a:solidFill>
            <a:prstDash val="solid"/>
            <a:round/>
            <a:headEnd type="none" w="med" len="med"/>
            <a:tailEnd type="none" w="med" len="med"/>
          </a:ln>
        </p:spPr>
      </p:sp>
      <p:sp>
        <p:nvSpPr>
          <p:cNvPr id="247" name="Line 132"/>
          <p:cNvSpPr/>
          <p:nvPr/>
        </p:nvSpPr>
        <p:spPr>
          <a:xfrm>
            <a:off x="7345363" y="4532313"/>
            <a:ext cx="0" cy="360362"/>
          </a:xfrm>
          <a:prstGeom prst="line">
            <a:avLst/>
          </a:prstGeom>
          <a:ln w="9525" cap="flat" cmpd="sng">
            <a:solidFill>
              <a:schemeClr val="accent2"/>
            </a:solidFill>
            <a:prstDash val="solid"/>
            <a:round/>
            <a:headEnd type="none" w="med" len="med"/>
            <a:tailEnd type="none" w="med" len="med"/>
          </a:ln>
        </p:spPr>
      </p:sp>
      <p:sp>
        <p:nvSpPr>
          <p:cNvPr id="248" name="Line 134"/>
          <p:cNvSpPr/>
          <p:nvPr/>
        </p:nvSpPr>
        <p:spPr>
          <a:xfrm>
            <a:off x="7661275" y="4533900"/>
            <a:ext cx="0" cy="360363"/>
          </a:xfrm>
          <a:prstGeom prst="line">
            <a:avLst/>
          </a:prstGeom>
          <a:ln w="9525" cap="flat" cmpd="sng">
            <a:solidFill>
              <a:schemeClr val="accent2"/>
            </a:solidFill>
            <a:prstDash val="solid"/>
            <a:round/>
            <a:headEnd type="none" w="med" len="med"/>
            <a:tailEnd type="none" w="med" len="med"/>
          </a:ln>
        </p:spPr>
      </p:sp>
      <p:sp>
        <p:nvSpPr>
          <p:cNvPr id="249" name="Line 136"/>
          <p:cNvSpPr/>
          <p:nvPr/>
        </p:nvSpPr>
        <p:spPr>
          <a:xfrm>
            <a:off x="7948613" y="4549775"/>
            <a:ext cx="0" cy="360363"/>
          </a:xfrm>
          <a:prstGeom prst="line">
            <a:avLst/>
          </a:prstGeom>
          <a:ln w="9525" cap="flat" cmpd="sng">
            <a:solidFill>
              <a:schemeClr val="accent2"/>
            </a:solidFill>
            <a:prstDash val="solid"/>
            <a:round/>
            <a:headEnd type="none" w="med" len="med"/>
            <a:tailEnd type="none" w="med" len="med"/>
          </a:ln>
        </p:spPr>
      </p:sp>
      <p:sp>
        <p:nvSpPr>
          <p:cNvPr id="250" name="Line 96"/>
          <p:cNvSpPr/>
          <p:nvPr/>
        </p:nvSpPr>
        <p:spPr>
          <a:xfrm>
            <a:off x="8345488" y="4787900"/>
            <a:ext cx="1371600" cy="525463"/>
          </a:xfrm>
          <a:prstGeom prst="line">
            <a:avLst/>
          </a:prstGeom>
          <a:ln w="9525" cap="flat" cmpd="sng">
            <a:solidFill>
              <a:srgbClr val="FF0066"/>
            </a:solidFill>
            <a:prstDash val="solid"/>
            <a:round/>
            <a:headEnd type="none" w="med" len="med"/>
            <a:tailEnd type="triangle" w="med" len="med"/>
          </a:ln>
        </p:spPr>
      </p:sp>
      <p:sp>
        <p:nvSpPr>
          <p:cNvPr id="251" name="Freeform 97"/>
          <p:cNvSpPr/>
          <p:nvPr/>
        </p:nvSpPr>
        <p:spPr>
          <a:xfrm>
            <a:off x="7889875" y="4795838"/>
            <a:ext cx="334963" cy="531812"/>
          </a:xfrm>
          <a:custGeom>
            <a:avLst/>
            <a:gdLst/>
            <a:ahLst/>
            <a:cxnLst>
              <a:cxn ang="0">
                <a:pos x="0" y="0"/>
              </a:cxn>
              <a:cxn ang="0">
                <a:pos x="9" y="368"/>
              </a:cxn>
              <a:cxn ang="0">
                <a:pos x="211" y="609"/>
              </a:cxn>
            </a:cxnLst>
            <a:rect l="0" t="0" r="0" b="0"/>
            <a:pathLst>
              <a:path w="211" h="609">
                <a:moveTo>
                  <a:pt x="0" y="0"/>
                </a:moveTo>
                <a:lnTo>
                  <a:pt x="9" y="368"/>
                </a:lnTo>
                <a:lnTo>
                  <a:pt x="211" y="609"/>
                </a:ln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252" name="Freeform 98"/>
          <p:cNvSpPr/>
          <p:nvPr/>
        </p:nvSpPr>
        <p:spPr>
          <a:xfrm>
            <a:off x="6792913" y="4802188"/>
            <a:ext cx="811212" cy="511175"/>
          </a:xfrm>
          <a:custGeom>
            <a:avLst/>
            <a:gdLst/>
            <a:ahLst/>
            <a:cxnLst>
              <a:cxn ang="0">
                <a:pos x="511" y="0"/>
              </a:cxn>
              <a:cxn ang="0">
                <a:pos x="445" y="416"/>
              </a:cxn>
              <a:cxn ang="0">
                <a:pos x="0" y="584"/>
              </a:cxn>
            </a:cxnLst>
            <a:rect l="0" t="0" r="0" b="0"/>
            <a:pathLst>
              <a:path w="511" h="584">
                <a:moveTo>
                  <a:pt x="511" y="0"/>
                </a:moveTo>
                <a:lnTo>
                  <a:pt x="445" y="416"/>
                </a:lnTo>
                <a:lnTo>
                  <a:pt x="0" y="584"/>
                </a:lnTo>
              </a:path>
            </a:pathLst>
          </a:custGeom>
          <a:noFill/>
          <a:ln w="9525" cap="flat" cmpd="sng">
            <a:solidFill>
              <a:srgbClr val="FF0066"/>
            </a:solidFill>
            <a:prstDash val="solid"/>
            <a:round/>
            <a:headEnd type="none" w="med" len="med"/>
            <a:tailEnd type="triangle" w="med" len="med"/>
          </a:ln>
        </p:spPr>
        <p:txBody>
          <a:bodyPr/>
          <a:lstStyle/>
          <a:p>
            <a:endParaRPr lang="zh-CN" altLang="en-US"/>
          </a:p>
        </p:txBody>
      </p:sp>
      <p:sp>
        <p:nvSpPr>
          <p:cNvPr id="253" name="Line 99"/>
          <p:cNvSpPr/>
          <p:nvPr/>
        </p:nvSpPr>
        <p:spPr>
          <a:xfrm flipH="1">
            <a:off x="5562600" y="4795838"/>
            <a:ext cx="1711325" cy="517525"/>
          </a:xfrm>
          <a:prstGeom prst="line">
            <a:avLst/>
          </a:prstGeom>
          <a:ln w="9525" cap="flat" cmpd="sng">
            <a:solidFill>
              <a:srgbClr val="FF0066"/>
            </a:solidFill>
            <a:prstDash val="solid"/>
            <a:round/>
            <a:headEnd type="none" w="med" len="med"/>
            <a:tailEnd type="triangle" w="med" len="med"/>
          </a:ln>
        </p:spPr>
      </p:sp>
      <p:sp>
        <p:nvSpPr>
          <p:cNvPr id="254" name="Line 100"/>
          <p:cNvSpPr/>
          <p:nvPr/>
        </p:nvSpPr>
        <p:spPr>
          <a:xfrm flipH="1">
            <a:off x="3838575" y="4787900"/>
            <a:ext cx="247650" cy="525463"/>
          </a:xfrm>
          <a:prstGeom prst="line">
            <a:avLst/>
          </a:prstGeom>
          <a:ln w="9525" cap="flat" cmpd="sng">
            <a:solidFill>
              <a:srgbClr val="FF0066"/>
            </a:solidFill>
            <a:prstDash val="solid"/>
            <a:round/>
            <a:headEnd type="none" w="med" len="med"/>
            <a:tailEnd type="triangle" w="med" len="med"/>
          </a:ln>
        </p:spPr>
      </p:sp>
      <p:sp>
        <p:nvSpPr>
          <p:cNvPr id="255" name="Line 101"/>
          <p:cNvSpPr/>
          <p:nvPr/>
        </p:nvSpPr>
        <p:spPr>
          <a:xfrm flipH="1">
            <a:off x="2479675" y="4797425"/>
            <a:ext cx="1241425" cy="523875"/>
          </a:xfrm>
          <a:prstGeom prst="line">
            <a:avLst/>
          </a:prstGeom>
          <a:ln w="9525" cap="flat" cmpd="sng">
            <a:solidFill>
              <a:srgbClr val="FF0066"/>
            </a:solidFill>
            <a:prstDash val="solid"/>
            <a:round/>
            <a:headEnd type="none" w="med" len="med"/>
            <a:tailEnd type="triangle" w="med" len="med"/>
          </a:ln>
        </p:spPr>
      </p:sp>
      <p:sp>
        <p:nvSpPr>
          <p:cNvPr id="256" name="Line 131"/>
          <p:cNvSpPr/>
          <p:nvPr/>
        </p:nvSpPr>
        <p:spPr>
          <a:xfrm flipH="1">
            <a:off x="3871913" y="4787900"/>
            <a:ext cx="0" cy="260350"/>
          </a:xfrm>
          <a:prstGeom prst="line">
            <a:avLst/>
          </a:prstGeom>
          <a:ln w="28575" cap="flat" cmpd="sng">
            <a:solidFill>
              <a:schemeClr val="accent2"/>
            </a:solidFill>
            <a:prstDash val="solid"/>
            <a:round/>
            <a:headEnd type="none" w="med" len="med"/>
            <a:tailEnd type="triangle" w="med" len="med"/>
          </a:ln>
        </p:spPr>
      </p:sp>
      <p:sp>
        <p:nvSpPr>
          <p:cNvPr id="257" name="Line 133"/>
          <p:cNvSpPr/>
          <p:nvPr/>
        </p:nvSpPr>
        <p:spPr>
          <a:xfrm>
            <a:off x="7434263" y="4786313"/>
            <a:ext cx="0" cy="263525"/>
          </a:xfrm>
          <a:prstGeom prst="line">
            <a:avLst/>
          </a:prstGeom>
          <a:ln w="38100" cap="flat" cmpd="sng">
            <a:solidFill>
              <a:schemeClr val="accent2"/>
            </a:solidFill>
            <a:prstDash val="solid"/>
            <a:round/>
            <a:headEnd type="none" w="med" len="med"/>
            <a:tailEnd type="triangle" w="med" len="med"/>
          </a:ln>
        </p:spPr>
      </p:sp>
      <p:sp>
        <p:nvSpPr>
          <p:cNvPr id="258" name="Line 135"/>
          <p:cNvSpPr/>
          <p:nvPr/>
        </p:nvSpPr>
        <p:spPr>
          <a:xfrm>
            <a:off x="7750175" y="4787900"/>
            <a:ext cx="0" cy="263525"/>
          </a:xfrm>
          <a:prstGeom prst="line">
            <a:avLst/>
          </a:prstGeom>
          <a:ln w="38100" cap="flat" cmpd="sng">
            <a:solidFill>
              <a:schemeClr val="accent2"/>
            </a:solidFill>
            <a:prstDash val="solid"/>
            <a:round/>
            <a:headEnd type="none" w="med" len="med"/>
            <a:tailEnd type="triangle" w="med" len="med"/>
          </a:ln>
        </p:spPr>
      </p:sp>
      <p:sp>
        <p:nvSpPr>
          <p:cNvPr id="259" name="Line 137"/>
          <p:cNvSpPr/>
          <p:nvPr/>
        </p:nvSpPr>
        <p:spPr>
          <a:xfrm>
            <a:off x="8037513" y="4795838"/>
            <a:ext cx="0" cy="263525"/>
          </a:xfrm>
          <a:prstGeom prst="line">
            <a:avLst/>
          </a:prstGeom>
          <a:ln w="38100" cap="flat" cmpd="sng">
            <a:solidFill>
              <a:schemeClr val="accent2"/>
            </a:solidFill>
            <a:prstDash val="solid"/>
            <a:round/>
            <a:headEnd type="none" w="med" len="med"/>
            <a:tailEnd type="triangle" w="med" len="med"/>
          </a:ln>
        </p:spPr>
      </p:sp>
      <p:sp>
        <p:nvSpPr>
          <p:cNvPr id="260" name="Text Box 146"/>
          <p:cNvSpPr txBox="1"/>
          <p:nvPr/>
        </p:nvSpPr>
        <p:spPr>
          <a:xfrm>
            <a:off x="4889500" y="6216650"/>
            <a:ext cx="2216150" cy="396875"/>
          </a:xfrm>
          <a:prstGeom prst="rect">
            <a:avLst/>
          </a:prstGeom>
          <a:noFill/>
          <a:ln w="9525">
            <a:noFill/>
          </a:ln>
        </p:spPr>
        <p:txBody>
          <a:bodyPr wrap="none"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指向主文件的指针</a:t>
            </a:r>
            <a:endParaRPr lang="zh-CN" altLang="en-US" dirty="0">
              <a:solidFill>
                <a:schemeClr val="accent2"/>
              </a:solidFill>
              <a:latin typeface="Times New Roman" panose="02020603050405020304" pitchFamily="18" charset="0"/>
              <a:ea typeface="微软雅黑" panose="020B0503020204020204" pitchFamily="34" charset="-122"/>
            </a:endParaRPr>
          </a:p>
        </p:txBody>
      </p:sp>
      <p:sp>
        <p:nvSpPr>
          <p:cNvPr id="261" name="Text Box 147"/>
          <p:cNvSpPr txBox="1"/>
          <p:nvPr/>
        </p:nvSpPr>
        <p:spPr>
          <a:xfrm>
            <a:off x="4964113" y="4005263"/>
            <a:ext cx="1254125" cy="701675"/>
          </a:xfrm>
          <a:prstGeom prst="rect">
            <a:avLst/>
          </a:prstGeom>
          <a:noFill/>
          <a:ln w="9525">
            <a:noFill/>
          </a:ln>
        </p:spPr>
        <p:txBody>
          <a:bodyPr anchor="t">
            <a:spAutoFit/>
          </a:bodyPr>
          <a:lstStyle/>
          <a:p>
            <a:pPr algn="ctr"/>
            <a:r>
              <a:rPr lang="zh-CN" altLang="en-US" dirty="0">
                <a:solidFill>
                  <a:schemeClr val="accent2"/>
                </a:solidFill>
                <a:latin typeface="Times New Roman" panose="02020603050405020304" pitchFamily="18" charset="0"/>
                <a:ea typeface="微软雅黑" panose="020B0503020204020204" pitchFamily="34" charset="-122"/>
              </a:rPr>
              <a:t>指向主文件的指针</a:t>
            </a:r>
            <a:endParaRPr lang="zh-CN" altLang="en-US" dirty="0">
              <a:solidFill>
                <a:schemeClr val="accent2"/>
              </a:solidFill>
              <a:latin typeface="Times New Roman" panose="02020603050405020304" pitchFamily="18" charset="0"/>
              <a:ea typeface="微软雅黑" panose="020B0503020204020204" pitchFamily="34" charset="-122"/>
            </a:endParaRPr>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(5) B Tree  vs. B+ Tree</a:t>
            </a:r>
            <a:endParaRPr lang="en-US" altLang="zh-CN" sz="2600" dirty="0">
              <a:latin typeface="微软雅黑" panose="020B0503020204020204" pitchFamily="34" charset="-122"/>
              <a:ea typeface="微软雅黑" panose="020B0503020204020204" pitchFamily="34" charset="-122"/>
            </a:endParaRPr>
          </a:p>
          <a:p>
            <a:pPr>
              <a:lnSpc>
                <a:spcPct val="100000"/>
              </a:lnSpc>
              <a:spcBef>
                <a:spcPct val="20000"/>
              </a:spcBef>
              <a:buFont typeface="Wingdings" panose="05000000000000000000" pitchFamily="2" charset="2"/>
              <a:buChar char="l"/>
            </a:pPr>
            <a:r>
              <a:rPr lang="zh-CN" altLang="en-US" sz="2000" b="0" dirty="0">
                <a:latin typeface="微软雅黑" panose="020B0503020204020204" pitchFamily="34" charset="-122"/>
                <a:ea typeface="微软雅黑" panose="020B0503020204020204" pitchFamily="34" charset="-122"/>
              </a:rPr>
              <a:t>一块中存放的索引项个数是否相同？</a:t>
            </a:r>
            <a:endParaRPr lang="zh-CN" altLang="en-US" sz="2000" b="0" dirty="0">
              <a:latin typeface="微软雅黑" panose="020B0503020204020204" pitchFamily="34" charset="-122"/>
              <a:ea typeface="微软雅黑" panose="020B0503020204020204" pitchFamily="34" charset="-122"/>
            </a:endParaRPr>
          </a:p>
          <a:p>
            <a:pPr>
              <a:lnSpc>
                <a:spcPct val="100000"/>
              </a:lnSpc>
              <a:spcBef>
                <a:spcPct val="20000"/>
              </a:spcBef>
              <a:buFont typeface="Wingdings" panose="05000000000000000000" pitchFamily="2" charset="2"/>
              <a:buChar char="l"/>
            </a:pPr>
            <a:r>
              <a:rPr lang="zh-CN" altLang="en-US" sz="2000" b="0" dirty="0">
                <a:latin typeface="微软雅黑" panose="020B0503020204020204" pitchFamily="34" charset="-122"/>
                <a:ea typeface="微软雅黑" panose="020B0503020204020204" pitchFamily="34" charset="-122"/>
              </a:rPr>
              <a:t>索引字段值都出现在哪里？</a:t>
            </a:r>
            <a:endParaRPr lang="zh-CN" altLang="en-US" sz="2000" b="0" dirty="0">
              <a:latin typeface="微软雅黑" panose="020B0503020204020204" pitchFamily="34" charset="-122"/>
              <a:ea typeface="微软雅黑" panose="020B0503020204020204" pitchFamily="34" charset="-122"/>
            </a:endParaRPr>
          </a:p>
          <a:p>
            <a:pPr>
              <a:lnSpc>
                <a:spcPct val="100000"/>
              </a:lnSpc>
              <a:spcBef>
                <a:spcPct val="20000"/>
              </a:spcBef>
              <a:buFont typeface="Wingdings" panose="05000000000000000000" pitchFamily="2" charset="2"/>
              <a:buChar char="l"/>
            </a:pPr>
            <a:r>
              <a:rPr lang="zh-CN" altLang="en-US" sz="2000" b="0" dirty="0">
                <a:latin typeface="微软雅黑" panose="020B0503020204020204" pitchFamily="34" charset="-122"/>
                <a:ea typeface="微软雅黑" panose="020B0503020204020204" pitchFamily="34" charset="-122"/>
              </a:rPr>
              <a:t>指向主文件的指针存在哪里？</a:t>
            </a:r>
            <a:endParaRPr lang="zh-CN" altLang="en-US" sz="2000" b="0" dirty="0">
              <a:latin typeface="微软雅黑" panose="020B0503020204020204" pitchFamily="34" charset="-122"/>
              <a:ea typeface="微软雅黑" panose="020B0503020204020204" pitchFamily="34" charset="-122"/>
            </a:endParaRPr>
          </a:p>
          <a:p>
            <a:pPr>
              <a:lnSpc>
                <a:spcPct val="100000"/>
              </a:lnSpc>
              <a:spcBef>
                <a:spcPct val="20000"/>
              </a:spcBef>
              <a:buFont typeface="Wingdings" panose="05000000000000000000" pitchFamily="2" charset="2"/>
              <a:buChar char="l"/>
            </a:pPr>
            <a:r>
              <a:rPr lang="zh-CN" altLang="en-US" sz="2000" b="0" dirty="0">
                <a:latin typeface="微软雅黑" panose="020B0503020204020204" pitchFamily="34" charset="-122"/>
                <a:ea typeface="微软雅黑" panose="020B0503020204020204" pitchFamily="34" charset="-122"/>
              </a:rPr>
              <a:t>分裂与合并的方法是否一致？</a:t>
            </a:r>
            <a:endParaRPr lang="zh-CN" altLang="en-US" sz="20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2" name="Group 135"/>
          <p:cNvGrpSpPr/>
          <p:nvPr/>
        </p:nvGrpSpPr>
        <p:grpSpPr>
          <a:xfrm>
            <a:off x="5772150" y="1219203"/>
            <a:ext cx="5053013" cy="2600325"/>
            <a:chOff x="250" y="1158"/>
            <a:chExt cx="3033" cy="1429"/>
          </a:xfrm>
        </p:grpSpPr>
        <p:pic>
          <p:nvPicPr>
            <p:cNvPr id="4" name="Picture 128"/>
            <p:cNvPicPr>
              <a:picLocks noChangeAspect="1"/>
            </p:cNvPicPr>
            <p:nvPr/>
          </p:nvPicPr>
          <p:blipFill>
            <a:blip r:embed="rId1">
              <a:clrChange>
                <a:clrFrom>
                  <a:srgbClr val="FFFFFF"/>
                </a:clrFrom>
                <a:clrTo>
                  <a:srgbClr val="FFFFFF">
                    <a:alpha val="0"/>
                  </a:srgbClr>
                </a:clrTo>
              </a:clrChange>
            </a:blip>
            <a:stretch>
              <a:fillRect/>
            </a:stretch>
          </p:blipFill>
          <p:spPr>
            <a:xfrm>
              <a:off x="250" y="1179"/>
              <a:ext cx="3021" cy="1408"/>
            </a:xfrm>
            <a:prstGeom prst="rect">
              <a:avLst/>
            </a:prstGeom>
            <a:noFill/>
            <a:ln w="38100" cap="flat" cmpd="sng">
              <a:solidFill>
                <a:schemeClr val="tx1"/>
              </a:solidFill>
              <a:prstDash val="solid"/>
              <a:miter/>
              <a:headEnd type="none" w="med" len="med"/>
              <a:tailEnd type="none" w="med" len="med"/>
            </a:ln>
          </p:spPr>
        </p:pic>
        <p:sp>
          <p:nvSpPr>
            <p:cNvPr id="7" name="Text Box 129"/>
            <p:cNvSpPr txBox="1"/>
            <p:nvPr/>
          </p:nvSpPr>
          <p:spPr>
            <a:xfrm>
              <a:off x="2504" y="1158"/>
              <a:ext cx="779" cy="251"/>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B+Tree</a:t>
              </a:r>
              <a:endParaRPr lang="en-US" altLang="zh-CN" sz="2400" dirty="0">
                <a:latin typeface="微软雅黑" panose="020B0503020204020204" pitchFamily="34" charset="-122"/>
                <a:ea typeface="微软雅黑" panose="020B0503020204020204" pitchFamily="34" charset="-122"/>
              </a:endParaRPr>
            </a:p>
          </p:txBody>
        </p:sp>
      </p:grpSp>
      <p:grpSp>
        <p:nvGrpSpPr>
          <p:cNvPr id="8" name="Group 136"/>
          <p:cNvGrpSpPr/>
          <p:nvPr/>
        </p:nvGrpSpPr>
        <p:grpSpPr>
          <a:xfrm>
            <a:off x="5765800" y="4060828"/>
            <a:ext cx="5064125" cy="2576513"/>
            <a:chOff x="2398" y="2503"/>
            <a:chExt cx="3011" cy="1415"/>
          </a:xfrm>
        </p:grpSpPr>
        <p:pic>
          <p:nvPicPr>
            <p:cNvPr id="9" name="Picture 130"/>
            <p:cNvPicPr>
              <a:picLocks noChangeAspect="1"/>
            </p:cNvPicPr>
            <p:nvPr/>
          </p:nvPicPr>
          <p:blipFill>
            <a:blip r:embed="rId2">
              <a:clrChange>
                <a:clrFrom>
                  <a:srgbClr val="FFFFFF"/>
                </a:clrFrom>
                <a:clrTo>
                  <a:srgbClr val="FFFFFF">
                    <a:alpha val="0"/>
                  </a:srgbClr>
                </a:clrTo>
              </a:clrChange>
            </a:blip>
            <a:stretch>
              <a:fillRect/>
            </a:stretch>
          </p:blipFill>
          <p:spPr>
            <a:xfrm>
              <a:off x="2398" y="2510"/>
              <a:ext cx="3011" cy="1408"/>
            </a:xfrm>
            <a:prstGeom prst="rect">
              <a:avLst/>
            </a:prstGeom>
            <a:noFill/>
            <a:ln w="38100" cap="flat" cmpd="sng">
              <a:solidFill>
                <a:schemeClr val="tx1"/>
              </a:solidFill>
              <a:prstDash val="solid"/>
              <a:miter/>
              <a:headEnd type="none" w="med" len="med"/>
              <a:tailEnd type="none" w="med" len="med"/>
            </a:ln>
          </p:spPr>
        </p:pic>
        <p:sp>
          <p:nvSpPr>
            <p:cNvPr id="10" name="Text Box 131"/>
            <p:cNvSpPr txBox="1"/>
            <p:nvPr/>
          </p:nvSpPr>
          <p:spPr>
            <a:xfrm>
              <a:off x="4674" y="2503"/>
              <a:ext cx="688" cy="251"/>
            </a:xfrm>
            <a:prstGeom prst="rect">
              <a:avLst/>
            </a:prstGeom>
            <a:noFill/>
            <a:ln w="9525">
              <a:noFill/>
            </a:ln>
          </p:spPr>
          <p:txBody>
            <a:bodyPr wrap="none" anchor="t">
              <a:spAutoFit/>
            </a:bodyPr>
            <a:lstStyle/>
            <a:p>
              <a:pPr algn="ctr"/>
              <a:r>
                <a:rPr lang="en-US" altLang="zh-CN" sz="2400" dirty="0">
                  <a:latin typeface="微软雅黑" panose="020B0503020204020204" pitchFamily="34" charset="-122"/>
                  <a:ea typeface="微软雅黑" panose="020B0503020204020204" pitchFamily="34" charset="-122"/>
                </a:rPr>
                <a:t>B Tree</a:t>
              </a:r>
              <a:endParaRPr lang="en-US" altLang="zh-CN" sz="2400" dirty="0">
                <a:latin typeface="微软雅黑" panose="020B0503020204020204" pitchFamily="34" charset="-122"/>
                <a:ea typeface="微软雅黑" panose="020B0503020204020204" pitchFamily="34" charset="-122"/>
              </a:endParaRPr>
            </a:p>
          </p:txBody>
        </p:sp>
      </p:grpSp>
      <p:sp>
        <p:nvSpPr>
          <p:cNvPr id="11" name="Text Box 139"/>
          <p:cNvSpPr txBox="1"/>
          <p:nvPr/>
        </p:nvSpPr>
        <p:spPr>
          <a:xfrm>
            <a:off x="4657725" y="5064128"/>
            <a:ext cx="184150" cy="336550"/>
          </a:xfrm>
          <a:prstGeom prst="rect">
            <a:avLst/>
          </a:prstGeom>
          <a:noFill/>
          <a:ln w="9525">
            <a:noFill/>
          </a:ln>
        </p:spPr>
        <p:txBody>
          <a:bodyPr wrap="none" anchor="t">
            <a:spAutoFit/>
          </a:bodyPr>
          <a:lstStyle/>
          <a:p>
            <a:pPr algn="ctr"/>
            <a:endParaRPr lang="zh-CN" altLang="zh-CN" sz="1600" dirty="0">
              <a:latin typeface="Times New Roman" panose="02020603050405020304" pitchFamily="18" charset="0"/>
              <a:ea typeface="楷体_GB2312" pitchFamily="49" charset="-122"/>
            </a:endParaRPr>
          </a:p>
        </p:txBody>
      </p:sp>
      <p:sp>
        <p:nvSpPr>
          <p:cNvPr id="12" name="灯片编号占位符 1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(6) B+</a:t>
            </a:r>
            <a:r>
              <a:rPr lang="zh-CN" altLang="en-US" sz="2600" dirty="0">
                <a:latin typeface="微软雅黑" panose="020B0503020204020204" pitchFamily="34" charset="-122"/>
                <a:ea typeface="微软雅黑" panose="020B0503020204020204" pitchFamily="34" charset="-122"/>
              </a:rPr>
              <a:t>树还要考虑什么</a:t>
            </a:r>
            <a:endParaRPr lang="zh-CN" altLang="en-US" sz="2600" dirty="0">
              <a:latin typeface="微软雅黑" panose="020B0503020204020204" pitchFamily="34" charset="-122"/>
              <a:ea typeface="微软雅黑" panose="020B0503020204020204" pitchFamily="34" charset="-122"/>
            </a:endParaRPr>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en-US" altLang="zh-CN" dirty="0"/>
              <a:t>(B+ </a:t>
            </a:r>
            <a:r>
              <a:rPr lang="zh-CN" altLang="zh-CN" dirty="0"/>
              <a:t>Tree</a:t>
            </a:r>
            <a:r>
              <a:rPr lang="en-US" altLang="zh-CN" dirty="0"/>
              <a:t>)</a:t>
            </a:r>
            <a:r>
              <a:rPr lang="zh-CN" altLang="zh-CN" dirty="0"/>
              <a:t> </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1" name="Text Box 139"/>
          <p:cNvSpPr txBox="1"/>
          <p:nvPr/>
        </p:nvSpPr>
        <p:spPr>
          <a:xfrm>
            <a:off x="4657725" y="5064128"/>
            <a:ext cx="184150" cy="336550"/>
          </a:xfrm>
          <a:prstGeom prst="rect">
            <a:avLst/>
          </a:prstGeom>
          <a:noFill/>
          <a:ln w="9525">
            <a:noFill/>
          </a:ln>
        </p:spPr>
        <p:txBody>
          <a:bodyPr wrap="none" anchor="t">
            <a:spAutoFit/>
          </a:bodyPr>
          <a:lstStyle/>
          <a:p>
            <a:pPr algn="ctr"/>
            <a:endParaRPr lang="zh-CN" altLang="zh-CN" sz="1600" dirty="0">
              <a:latin typeface="Times New Roman" panose="02020603050405020304" pitchFamily="18" charset="0"/>
              <a:ea typeface="楷体_GB2312" pitchFamily="49" charset="-122"/>
            </a:endParaRPr>
          </a:p>
        </p:txBody>
      </p:sp>
      <p:grpSp>
        <p:nvGrpSpPr>
          <p:cNvPr id="14" name="Group 12"/>
          <p:cNvGrpSpPr/>
          <p:nvPr/>
        </p:nvGrpSpPr>
        <p:grpSpPr>
          <a:xfrm>
            <a:off x="1339310" y="1718583"/>
            <a:ext cx="3035840" cy="4960173"/>
            <a:chOff x="160" y="606"/>
            <a:chExt cx="2274" cy="3644"/>
          </a:xfrm>
        </p:grpSpPr>
        <p:pic>
          <p:nvPicPr>
            <p:cNvPr id="15" name="Picture 9"/>
            <p:cNvPicPr>
              <a:picLocks noChangeAspect="1"/>
            </p:cNvPicPr>
            <p:nvPr/>
          </p:nvPicPr>
          <p:blipFill>
            <a:blip r:embed="rId1"/>
            <a:stretch>
              <a:fillRect/>
            </a:stretch>
          </p:blipFill>
          <p:spPr>
            <a:xfrm>
              <a:off x="160" y="849"/>
              <a:ext cx="2274" cy="3401"/>
            </a:xfrm>
            <a:prstGeom prst="rect">
              <a:avLst/>
            </a:prstGeom>
            <a:noFill/>
            <a:ln w="9525" cap="flat" cmpd="sng">
              <a:solidFill>
                <a:srgbClr val="FF0066"/>
              </a:solidFill>
              <a:prstDash val="solid"/>
              <a:miter/>
              <a:headEnd type="none" w="med" len="med"/>
              <a:tailEnd type="none" w="med" len="med"/>
            </a:ln>
          </p:spPr>
        </p:pic>
        <p:sp>
          <p:nvSpPr>
            <p:cNvPr id="16" name="Text Box 7"/>
            <p:cNvSpPr txBox="1"/>
            <p:nvPr/>
          </p:nvSpPr>
          <p:spPr>
            <a:xfrm>
              <a:off x="220" y="606"/>
              <a:ext cx="1325" cy="212"/>
            </a:xfrm>
            <a:prstGeom prst="rect">
              <a:avLst/>
            </a:prstGeom>
            <a:noFill/>
            <a:ln w="9525">
              <a:noFill/>
            </a:ln>
          </p:spPr>
          <p:txBody>
            <a:bodyPr wrap="none" anchor="t">
              <a:spAutoFit/>
            </a:bodyPr>
            <a:lstStyle/>
            <a:p>
              <a:pPr algn="ctr"/>
              <a:r>
                <a:rPr lang="zh-CN" altLang="en-US" sz="1600" dirty="0">
                  <a:latin typeface="微软雅黑" panose="020B0503020204020204" pitchFamily="34" charset="-122"/>
                  <a:ea typeface="微软雅黑" panose="020B0503020204020204" pitchFamily="34" charset="-122"/>
                </a:rPr>
                <a:t>利用</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树检索的算法</a:t>
              </a:r>
              <a:endParaRPr lang="zh-CN" altLang="en-US" sz="1600" dirty="0">
                <a:latin typeface="微软雅黑" panose="020B0503020204020204" pitchFamily="34" charset="-122"/>
                <a:ea typeface="微软雅黑" panose="020B0503020204020204" pitchFamily="34" charset="-122"/>
              </a:endParaRPr>
            </a:p>
          </p:txBody>
        </p:sp>
      </p:grpSp>
      <p:grpSp>
        <p:nvGrpSpPr>
          <p:cNvPr id="17" name="Group 11"/>
          <p:cNvGrpSpPr/>
          <p:nvPr/>
        </p:nvGrpSpPr>
        <p:grpSpPr>
          <a:xfrm>
            <a:off x="4578080" y="1718045"/>
            <a:ext cx="3013915" cy="4960711"/>
            <a:chOff x="2023" y="972"/>
            <a:chExt cx="2062" cy="3236"/>
          </a:xfrm>
        </p:grpSpPr>
        <p:pic>
          <p:nvPicPr>
            <p:cNvPr id="18" name="Picture 10"/>
            <p:cNvPicPr>
              <a:picLocks noChangeAspect="1"/>
            </p:cNvPicPr>
            <p:nvPr/>
          </p:nvPicPr>
          <p:blipFill>
            <a:blip r:embed="rId2"/>
            <a:stretch>
              <a:fillRect/>
            </a:stretch>
          </p:blipFill>
          <p:spPr>
            <a:xfrm>
              <a:off x="2023" y="1188"/>
              <a:ext cx="2062" cy="3020"/>
            </a:xfrm>
            <a:prstGeom prst="rect">
              <a:avLst/>
            </a:prstGeom>
            <a:noFill/>
            <a:ln w="9525" cap="flat" cmpd="sng">
              <a:solidFill>
                <a:srgbClr val="FF0066"/>
              </a:solidFill>
              <a:prstDash val="solid"/>
              <a:miter/>
              <a:headEnd type="none" w="med" len="med"/>
              <a:tailEnd type="none" w="med" len="med"/>
            </a:ln>
          </p:spPr>
        </p:pic>
        <p:sp>
          <p:nvSpPr>
            <p:cNvPr id="19" name="Text Box 8"/>
            <p:cNvSpPr txBox="1"/>
            <p:nvPr/>
          </p:nvSpPr>
          <p:spPr>
            <a:xfrm>
              <a:off x="2023" y="972"/>
              <a:ext cx="1581" cy="212"/>
            </a:xfrm>
            <a:prstGeom prst="rect">
              <a:avLst/>
            </a:prstGeom>
            <a:noFill/>
            <a:ln w="9525">
              <a:noFill/>
            </a:ln>
          </p:spPr>
          <p:txBody>
            <a:bodyPr wrap="none" anchor="t">
              <a:spAutoFit/>
            </a:bodyPr>
            <a:lstStyle/>
            <a:p>
              <a:pPr algn="ctr"/>
              <a:r>
                <a:rPr lang="zh-CN" altLang="en-US" sz="1600" dirty="0">
                  <a:latin typeface="微软雅黑" panose="020B0503020204020204" pitchFamily="34" charset="-122"/>
                  <a:ea typeface="微软雅黑" panose="020B0503020204020204" pitchFamily="34" charset="-122"/>
                </a:rPr>
                <a:t>利用</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树增加记录的算法</a:t>
              </a:r>
              <a:endParaRPr lang="zh-CN" altLang="en-US" sz="1600" dirty="0">
                <a:latin typeface="微软雅黑" panose="020B0503020204020204" pitchFamily="34" charset="-122"/>
                <a:ea typeface="微软雅黑" panose="020B0503020204020204" pitchFamily="34" charset="-122"/>
              </a:endParaRPr>
            </a:p>
          </p:txBody>
        </p:sp>
      </p:grpSp>
      <p:grpSp>
        <p:nvGrpSpPr>
          <p:cNvPr id="20" name="Group 10"/>
          <p:cNvGrpSpPr/>
          <p:nvPr/>
        </p:nvGrpSpPr>
        <p:grpSpPr>
          <a:xfrm>
            <a:off x="7929511" y="1693916"/>
            <a:ext cx="3456039" cy="5087884"/>
            <a:chOff x="3492" y="774"/>
            <a:chExt cx="2113" cy="3446"/>
          </a:xfrm>
        </p:grpSpPr>
        <p:pic>
          <p:nvPicPr>
            <p:cNvPr id="21" name="Picture 3" descr="B+树删除结点算法示意图"/>
            <p:cNvPicPr>
              <a:picLocks noChangeAspect="1"/>
            </p:cNvPicPr>
            <p:nvPr/>
          </p:nvPicPr>
          <p:blipFill>
            <a:blip r:embed="rId3"/>
            <a:stretch>
              <a:fillRect/>
            </a:stretch>
          </p:blipFill>
          <p:spPr>
            <a:xfrm>
              <a:off x="3538" y="992"/>
              <a:ext cx="2067" cy="3228"/>
            </a:xfrm>
            <a:prstGeom prst="rect">
              <a:avLst/>
            </a:prstGeom>
            <a:noFill/>
            <a:ln w="9525" cap="flat" cmpd="sng">
              <a:solidFill>
                <a:srgbClr val="CC0000"/>
              </a:solidFill>
              <a:prstDash val="solid"/>
              <a:miter/>
              <a:headEnd type="none" w="med" len="med"/>
              <a:tailEnd type="none" w="med" len="med"/>
            </a:ln>
          </p:spPr>
        </p:pic>
        <p:sp>
          <p:nvSpPr>
            <p:cNvPr id="22" name="Text Box 9"/>
            <p:cNvSpPr txBox="1"/>
            <p:nvPr/>
          </p:nvSpPr>
          <p:spPr>
            <a:xfrm>
              <a:off x="3492" y="774"/>
              <a:ext cx="1581" cy="212"/>
            </a:xfrm>
            <a:prstGeom prst="rect">
              <a:avLst/>
            </a:prstGeom>
            <a:noFill/>
            <a:ln w="9525">
              <a:noFill/>
            </a:ln>
          </p:spPr>
          <p:txBody>
            <a:bodyPr wrap="none" anchor="t">
              <a:spAutoFit/>
            </a:bodyPr>
            <a:lstStyle/>
            <a:p>
              <a:pPr algn="ctr"/>
              <a:r>
                <a:rPr lang="zh-CN" altLang="en-US" sz="1600" dirty="0">
                  <a:latin typeface="微软雅黑" panose="020B0503020204020204" pitchFamily="34" charset="-122"/>
                  <a:ea typeface="微软雅黑" panose="020B0503020204020204" pitchFamily="34" charset="-122"/>
                </a:rPr>
                <a:t>利用</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树删除记录的算法</a:t>
              </a:r>
              <a:endParaRPr lang="zh-CN" altLang="en-US" sz="1600" dirty="0">
                <a:latin typeface="微软雅黑" panose="020B0503020204020204" pitchFamily="34" charset="-122"/>
                <a:ea typeface="微软雅黑" panose="020B0503020204020204" pitchFamily="34" charset="-122"/>
              </a:endParaRPr>
            </a:p>
          </p:txBody>
        </p:sp>
      </p:grpSp>
      <p:sp>
        <p:nvSpPr>
          <p:cNvPr id="23" name="Text Box 4"/>
          <p:cNvSpPr txBox="1"/>
          <p:nvPr/>
        </p:nvSpPr>
        <p:spPr>
          <a:xfrm>
            <a:off x="4822252" y="3574709"/>
            <a:ext cx="3100387" cy="406400"/>
          </a:xfrm>
          <a:prstGeom prst="rect">
            <a:avLst/>
          </a:prstGeom>
          <a:solidFill>
            <a:schemeClr val="bg1"/>
          </a:solidFill>
          <a:ln w="9525" cap="flat" cmpd="sng">
            <a:solidFill>
              <a:schemeClr val="accent2"/>
            </a:solidFill>
            <a:prstDash val="solid"/>
            <a:miter/>
            <a:headEnd type="none" w="med" len="med"/>
            <a:tailEnd type="none" w="med" len="med"/>
          </a:ln>
        </p:spPr>
        <p:txBody>
          <a:bodyPr wrap="none" anchor="t">
            <a:spAutoFit/>
          </a:bodyPr>
          <a:lstStyle/>
          <a:p>
            <a:pPr algn="ctr"/>
            <a:r>
              <a:rPr lang="zh-CN" altLang="en-US" dirty="0">
                <a:latin typeface="微软雅黑" panose="020B0503020204020204" pitchFamily="34" charset="-122"/>
                <a:ea typeface="微软雅黑" panose="020B0503020204020204" pitchFamily="34" charset="-122"/>
              </a:rPr>
              <a:t>如何利用</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树进行检索？</a:t>
            </a:r>
            <a:endParaRPr lang="zh-CN" altLang="en-US" dirty="0">
              <a:latin typeface="微软雅黑" panose="020B0503020204020204" pitchFamily="34" charset="-122"/>
              <a:ea typeface="微软雅黑" panose="020B0503020204020204" pitchFamily="34" charset="-122"/>
            </a:endParaRPr>
          </a:p>
        </p:txBody>
      </p:sp>
      <p:sp>
        <p:nvSpPr>
          <p:cNvPr id="24" name="Text Box 5"/>
          <p:cNvSpPr txBox="1"/>
          <p:nvPr/>
        </p:nvSpPr>
        <p:spPr>
          <a:xfrm>
            <a:off x="4187252" y="4046196"/>
            <a:ext cx="4370387" cy="406400"/>
          </a:xfrm>
          <a:prstGeom prst="rect">
            <a:avLst/>
          </a:prstGeom>
          <a:solidFill>
            <a:schemeClr val="bg1"/>
          </a:solidFill>
          <a:ln w="9525" cap="flat" cmpd="sng">
            <a:solidFill>
              <a:schemeClr val="accent2"/>
            </a:solidFill>
            <a:prstDash val="solid"/>
            <a:miter/>
            <a:headEnd type="none" w="med" len="med"/>
            <a:tailEnd type="none" w="med" len="med"/>
          </a:ln>
        </p:spPr>
        <p:txBody>
          <a:bodyPr wrap="none" anchor="t">
            <a:spAutoFit/>
          </a:bodyPr>
          <a:lstStyle/>
          <a:p>
            <a:pPr algn="ctr"/>
            <a:r>
              <a:rPr lang="zh-CN" altLang="en-US" dirty="0">
                <a:latin typeface="微软雅黑" panose="020B0503020204020204" pitchFamily="34" charset="-122"/>
                <a:ea typeface="微软雅黑" panose="020B0503020204020204" pitchFamily="34" charset="-122"/>
              </a:rPr>
              <a:t>如何利用</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树进行增加和删除操作？</a:t>
            </a:r>
            <a:endParaRPr lang="zh-CN" altLang="en-US" dirty="0">
              <a:latin typeface="微软雅黑" panose="020B0503020204020204" pitchFamily="34" charset="-122"/>
              <a:ea typeface="微软雅黑" panose="020B0503020204020204" pitchFamily="34" charset="-122"/>
            </a:endParaRPr>
          </a:p>
        </p:txBody>
      </p:sp>
      <p:sp>
        <p:nvSpPr>
          <p:cNvPr id="25" name="Text Box 13"/>
          <p:cNvSpPr txBox="1"/>
          <p:nvPr/>
        </p:nvSpPr>
        <p:spPr>
          <a:xfrm>
            <a:off x="4879402" y="4989171"/>
            <a:ext cx="2987675" cy="406400"/>
          </a:xfrm>
          <a:prstGeom prst="rect">
            <a:avLst/>
          </a:prstGeom>
          <a:solidFill>
            <a:schemeClr val="bg1"/>
          </a:solidFill>
          <a:ln w="9525" cap="flat" cmpd="sng">
            <a:solidFill>
              <a:schemeClr val="accent2"/>
            </a:solidFill>
            <a:prstDash val="solid"/>
            <a:miter/>
            <a:headEnd type="none" w="med" len="med"/>
            <a:tailEnd type="none" w="med" len="med"/>
          </a:ln>
        </p:spPr>
        <p:txBody>
          <a:bodyPr wrap="none" anchor="t">
            <a:spAutoFit/>
          </a:bodyPr>
          <a:lstStyle/>
          <a:p>
            <a:pPr algn="ctr"/>
            <a:r>
              <a:rPr lang="zh-CN" altLang="en-US" dirty="0">
                <a:latin typeface="微软雅黑" panose="020B0503020204020204" pitchFamily="34" charset="-122"/>
                <a:ea typeface="微软雅黑" panose="020B0503020204020204" pitchFamily="34" charset="-122"/>
              </a:rPr>
              <a:t>什么条件下分裂与合并？</a:t>
            </a:r>
            <a:endParaRPr lang="zh-CN" altLang="en-US" dirty="0">
              <a:latin typeface="微软雅黑" panose="020B0503020204020204" pitchFamily="34" charset="-122"/>
              <a:ea typeface="微软雅黑" panose="020B0503020204020204" pitchFamily="34" charset="-122"/>
            </a:endParaRPr>
          </a:p>
        </p:txBody>
      </p:sp>
      <p:sp>
        <p:nvSpPr>
          <p:cNvPr id="26" name="Text Box 14"/>
          <p:cNvSpPr txBox="1"/>
          <p:nvPr/>
        </p:nvSpPr>
        <p:spPr>
          <a:xfrm>
            <a:off x="4187252" y="5462246"/>
            <a:ext cx="4370387" cy="406400"/>
          </a:xfrm>
          <a:prstGeom prst="rect">
            <a:avLst/>
          </a:prstGeom>
          <a:solidFill>
            <a:schemeClr val="bg1"/>
          </a:solidFill>
          <a:ln w="9525" cap="flat" cmpd="sng">
            <a:solidFill>
              <a:schemeClr val="accent2"/>
            </a:solidFill>
            <a:prstDash val="solid"/>
            <a:miter/>
            <a:headEnd type="none" w="med" len="med"/>
            <a:tailEnd type="none" w="med" len="med"/>
          </a:ln>
        </p:spPr>
        <p:txBody>
          <a:bodyPr wrap="none" anchor="t">
            <a:spAutoFit/>
          </a:bodyPr>
          <a:lstStyle/>
          <a:p>
            <a:pPr algn="ctr"/>
            <a:r>
              <a:rPr lang="zh-CN" altLang="en-US" dirty="0">
                <a:latin typeface="微软雅黑" panose="020B0503020204020204" pitchFamily="34" charset="-122"/>
                <a:ea typeface="微软雅黑" panose="020B0503020204020204" pitchFamily="34" charset="-122"/>
              </a:rPr>
              <a:t>分裂与合并时如何调整</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树的指针？</a:t>
            </a:r>
            <a:endParaRPr lang="zh-CN" altLang="en-US" dirty="0">
              <a:latin typeface="微软雅黑" panose="020B0503020204020204" pitchFamily="34" charset="-122"/>
              <a:ea typeface="微软雅黑" panose="020B0503020204020204" pitchFamily="34" charset="-122"/>
            </a:endParaRPr>
          </a:p>
        </p:txBody>
      </p:sp>
      <p:grpSp>
        <p:nvGrpSpPr>
          <p:cNvPr id="27" name="Group 20"/>
          <p:cNvGrpSpPr/>
          <p:nvPr/>
        </p:nvGrpSpPr>
        <p:grpSpPr>
          <a:xfrm>
            <a:off x="5760464" y="1349034"/>
            <a:ext cx="1500188" cy="1104900"/>
            <a:chOff x="3368" y="3555"/>
            <a:chExt cx="836" cy="705"/>
          </a:xfrm>
        </p:grpSpPr>
        <p:sp>
          <p:nvSpPr>
            <p:cNvPr id="28"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9" name="Oval 40"/>
            <p:cNvSpPr/>
            <p:nvPr/>
          </p:nvSpPr>
          <p:spPr>
            <a:xfrm>
              <a:off x="3437" y="3613"/>
              <a:ext cx="698" cy="588"/>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30" name="Text Box 84"/>
            <p:cNvSpPr txBox="1"/>
            <p:nvPr/>
          </p:nvSpPr>
          <p:spPr>
            <a:xfrm>
              <a:off x="3440" y="3686"/>
              <a:ext cx="691" cy="449"/>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算法可参见教材</a:t>
              </a:r>
              <a:endParaRPr lang="zh-CN" altLang="en-US" dirty="0">
                <a:solidFill>
                  <a:srgbClr val="FFFFFF"/>
                </a:solidFill>
                <a:latin typeface="Arial" panose="020B0604020202020204" pitchFamily="34" charset="0"/>
                <a:ea typeface="微软雅黑" panose="020B0503020204020204" pitchFamily="34" charset="-122"/>
              </a:endParaRPr>
            </a:p>
          </p:txBody>
        </p:sp>
      </p:grpSp>
      <p:sp>
        <p:nvSpPr>
          <p:cNvPr id="31" name="Text Box 6"/>
          <p:cNvSpPr txBox="1"/>
          <p:nvPr/>
        </p:nvSpPr>
        <p:spPr>
          <a:xfrm>
            <a:off x="3639337" y="4510861"/>
            <a:ext cx="5640387" cy="406400"/>
          </a:xfrm>
          <a:prstGeom prst="rect">
            <a:avLst/>
          </a:prstGeom>
          <a:solidFill>
            <a:schemeClr val="bg1"/>
          </a:solidFill>
          <a:ln w="9525" cap="flat" cmpd="sng">
            <a:solidFill>
              <a:schemeClr val="accent2"/>
            </a:solidFill>
            <a:prstDash val="solid"/>
            <a:miter/>
            <a:headEnd type="none" w="med" len="med"/>
            <a:tailEnd type="none" w="med" len="med"/>
          </a:ln>
        </p:spPr>
        <p:txBody>
          <a:bodyPr wrap="none" anchor="t">
            <a:spAutoFit/>
          </a:bodyPr>
          <a:lstStyle/>
          <a:p>
            <a:pPr algn="ct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树的增加和删除操作时如何进行分裂和合并？</a:t>
            </a:r>
            <a:endParaRPr lang="zh-CN" altLang="en-US"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fill="hold"/>
                                        <p:tgtEl>
                                          <p:spTgt spid="27"/>
                                        </p:tgtEl>
                                        <p:attrNameLst>
                                          <p:attrName>ppt_x</p:attrName>
                                        </p:attrNameLst>
                                      </p:cBhvr>
                                      <p:tavLst>
                                        <p:tav tm="0">
                                          <p:val>
                                            <p:strVal val="#ppt_x"/>
                                          </p:val>
                                        </p:tav>
                                        <p:tav tm="100000">
                                          <p:val>
                                            <p:strVal val="#ppt_x"/>
                                          </p:val>
                                        </p:tav>
                                      </p:tavLst>
                                    </p:anim>
                                    <p:anim calcmode="lin" valueType="num">
                                      <p:cBhvr additive="base">
                                        <p:cTn id="1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additive="base">
                                        <p:cTn id="35" dur="500" fill="hold"/>
                                        <p:tgtEl>
                                          <p:spTgt spid="26"/>
                                        </p:tgtEl>
                                        <p:attrNameLst>
                                          <p:attrName>ppt_x</p:attrName>
                                        </p:attrNameLst>
                                      </p:cBhvr>
                                      <p:tavLst>
                                        <p:tav tm="0">
                                          <p:val>
                                            <p:strVal val="#ppt_x"/>
                                          </p:val>
                                        </p:tav>
                                        <p:tav tm="100000">
                                          <p:val>
                                            <p:strVal val="#ppt_x"/>
                                          </p:val>
                                        </p:tav>
                                      </p:tavLst>
                                    </p:anim>
                                    <p:anim calcmode="lin" valueType="num">
                                      <p:cBhvr additive="base">
                                        <p:cTn id="36" dur="500" fill="hold"/>
                                        <p:tgtEl>
                                          <p:spTgt spid="2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anim calcmode="lin" valueType="num">
                                      <p:cBhvr additive="base">
                                        <p:cTn id="39" dur="500" fill="hold"/>
                                        <p:tgtEl>
                                          <p:spTgt spid="31"/>
                                        </p:tgtEl>
                                        <p:attrNameLst>
                                          <p:attrName>ppt_x</p:attrName>
                                        </p:attrNameLst>
                                      </p:cBhvr>
                                      <p:tavLst>
                                        <p:tav tm="0">
                                          <p:val>
                                            <p:strVal val="#ppt_x"/>
                                          </p:val>
                                        </p:tav>
                                        <p:tav tm="100000">
                                          <p:val>
                                            <p:strVal val="#ppt_x"/>
                                          </p:val>
                                        </p:tav>
                                      </p:tavLst>
                                    </p:anim>
                                    <p:anim calcmode="lin" valueType="num">
                                      <p:cBhvr additive="base">
                                        <p:cTn id="4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P spid="25" grpId="0" bldLvl="0" animBg="1"/>
      <p:bldP spid="26" grpId="0" bldLvl="0" animBg="1"/>
      <p:bldP spid="31"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(1) </a:t>
            </a:r>
            <a:r>
              <a:rPr lang="zh-CN" altLang="en-US" sz="2600" dirty="0">
                <a:latin typeface="微软雅黑" panose="020B0503020204020204" pitchFamily="34" charset="-122"/>
                <a:ea typeface="微软雅黑" panose="020B0503020204020204" pitchFamily="34" charset="-122"/>
              </a:rPr>
              <a:t>问题</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问题</a:t>
            </a:r>
            <a:r>
              <a:rPr lang="en-US" altLang="zh-CN" sz="2000" b="0" dirty="0">
                <a:latin typeface="微软雅黑" panose="020B0503020204020204" pitchFamily="34" charset="-122"/>
                <a:ea typeface="微软雅黑" panose="020B0503020204020204" pitchFamily="34" charset="-122"/>
              </a:rPr>
              <a:t>1</a:t>
            </a:r>
            <a:r>
              <a:rPr lang="zh-CN" altLang="en-US" sz="2000" b="0" dirty="0">
                <a:latin typeface="微软雅黑" panose="020B0503020204020204" pitchFamily="34" charset="-122"/>
                <a:ea typeface="微软雅黑" panose="020B0503020204020204" pitchFamily="34" charset="-122"/>
              </a:rPr>
              <a:t>：在下列</a:t>
            </a:r>
            <a:r>
              <a:rPr lang="en-US" altLang="zh-CN" sz="2000" b="0" dirty="0">
                <a:latin typeface="微软雅黑" panose="020B0503020204020204" pitchFamily="34" charset="-122"/>
                <a:ea typeface="微软雅黑" panose="020B0503020204020204" pitchFamily="34" charset="-122"/>
              </a:rPr>
              <a:t>B+</a:t>
            </a:r>
            <a:r>
              <a:rPr lang="zh-CN" altLang="en-US" sz="2000" b="0" dirty="0">
                <a:latin typeface="微软雅黑" panose="020B0503020204020204" pitchFamily="34" charset="-122"/>
                <a:ea typeface="微软雅黑" panose="020B0503020204020204" pitchFamily="34" charset="-122"/>
              </a:rPr>
              <a:t>树中插入键值为</a:t>
            </a:r>
            <a:r>
              <a:rPr lang="en-US" altLang="zh-CN" sz="2000" b="0" dirty="0">
                <a:latin typeface="微软雅黑" panose="020B0503020204020204" pitchFamily="34" charset="-122"/>
                <a:ea typeface="微软雅黑" panose="020B0503020204020204" pitchFamily="34" charset="-122"/>
              </a:rPr>
              <a:t>40</a:t>
            </a:r>
            <a:r>
              <a:rPr lang="zh-CN" altLang="en-US" sz="2000" b="0" dirty="0">
                <a:latin typeface="微软雅黑" panose="020B0503020204020204" pitchFamily="34" charset="-122"/>
                <a:ea typeface="微软雅黑" panose="020B0503020204020204" pitchFamily="34" charset="-122"/>
              </a:rPr>
              <a:t>的记录</a:t>
            </a:r>
            <a:endParaRPr lang="zh-CN" altLang="en-US" sz="20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插入与结点分裂过程示意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1" name="Text Box 139"/>
          <p:cNvSpPr txBox="1"/>
          <p:nvPr/>
        </p:nvSpPr>
        <p:spPr>
          <a:xfrm>
            <a:off x="4657725" y="5064128"/>
            <a:ext cx="184150" cy="336550"/>
          </a:xfrm>
          <a:prstGeom prst="rect">
            <a:avLst/>
          </a:prstGeom>
          <a:noFill/>
          <a:ln w="9525">
            <a:noFill/>
          </a:ln>
        </p:spPr>
        <p:txBody>
          <a:bodyPr wrap="none" anchor="t">
            <a:spAutoFit/>
          </a:bodyPr>
          <a:lstStyle/>
          <a:p>
            <a:pPr algn="ctr"/>
            <a:endParaRPr lang="zh-CN" altLang="zh-CN" sz="1600" dirty="0">
              <a:latin typeface="Times New Roman" panose="02020603050405020304" pitchFamily="18" charset="0"/>
              <a:ea typeface="楷体_GB2312" pitchFamily="49" charset="-122"/>
            </a:endParaRPr>
          </a:p>
        </p:txBody>
      </p:sp>
      <p:grpSp>
        <p:nvGrpSpPr>
          <p:cNvPr id="137" name="Group 7"/>
          <p:cNvGrpSpPr/>
          <p:nvPr/>
        </p:nvGrpSpPr>
        <p:grpSpPr>
          <a:xfrm>
            <a:off x="4510088" y="2266953"/>
            <a:ext cx="1238250" cy="695325"/>
            <a:chOff x="856" y="1440"/>
            <a:chExt cx="1291" cy="667"/>
          </a:xfrm>
        </p:grpSpPr>
        <p:sp>
          <p:nvSpPr>
            <p:cNvPr id="138" name="Rectangle 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39" name="Line 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40" name="Line 1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41" name="Line 1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42" name="Line 1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43" name="Line 1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44" name="Line 1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145" name="Text Box 15"/>
          <p:cNvSpPr txBox="1"/>
          <p:nvPr/>
        </p:nvSpPr>
        <p:spPr>
          <a:xfrm>
            <a:off x="4438650" y="2243141"/>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146" name="Group 16"/>
          <p:cNvGrpSpPr/>
          <p:nvPr/>
        </p:nvGrpSpPr>
        <p:grpSpPr>
          <a:xfrm>
            <a:off x="3197225" y="3429003"/>
            <a:ext cx="1238250" cy="695325"/>
            <a:chOff x="856" y="1440"/>
            <a:chExt cx="1291" cy="667"/>
          </a:xfrm>
        </p:grpSpPr>
        <p:sp>
          <p:nvSpPr>
            <p:cNvPr id="147" name="Rectangle 17"/>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48" name="Line 18"/>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49" name="Line 19"/>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50" name="Line 20"/>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51" name="Line 21"/>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52" name="Line 22"/>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53" name="Line 23"/>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54" name="Group 24"/>
          <p:cNvGrpSpPr/>
          <p:nvPr/>
        </p:nvGrpSpPr>
        <p:grpSpPr>
          <a:xfrm>
            <a:off x="6745288" y="3429003"/>
            <a:ext cx="1238250" cy="695325"/>
            <a:chOff x="856" y="1440"/>
            <a:chExt cx="1291" cy="667"/>
          </a:xfrm>
        </p:grpSpPr>
        <p:sp>
          <p:nvSpPr>
            <p:cNvPr id="155" name="Rectangle 2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56" name="Line 26"/>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57" name="Line 27"/>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58" name="Line 28"/>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59" name="Line 29"/>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60" name="Line 30"/>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61" name="Line 31"/>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62" name="Group 32"/>
          <p:cNvGrpSpPr/>
          <p:nvPr/>
        </p:nvGrpSpPr>
        <p:grpSpPr>
          <a:xfrm>
            <a:off x="1538288" y="4705353"/>
            <a:ext cx="1238250" cy="695325"/>
            <a:chOff x="856" y="1440"/>
            <a:chExt cx="1291" cy="667"/>
          </a:xfrm>
        </p:grpSpPr>
        <p:sp>
          <p:nvSpPr>
            <p:cNvPr id="163" name="Rectangle 3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64" name="Line 34"/>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65" name="Line 35"/>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66" name="Line 36"/>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67" name="Line 37"/>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68" name="Line 38"/>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69" name="Line 39"/>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70" name="Group 40"/>
          <p:cNvGrpSpPr/>
          <p:nvPr/>
        </p:nvGrpSpPr>
        <p:grpSpPr>
          <a:xfrm>
            <a:off x="3024188" y="4705353"/>
            <a:ext cx="1238250" cy="695325"/>
            <a:chOff x="856" y="1440"/>
            <a:chExt cx="1291" cy="667"/>
          </a:xfrm>
        </p:grpSpPr>
        <p:sp>
          <p:nvSpPr>
            <p:cNvPr id="171" name="Rectangle 41"/>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72" name="Line 42"/>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73" name="Line 43"/>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74" name="Line 44"/>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75" name="Line 45"/>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76" name="Line 46"/>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77" name="Line 47"/>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78" name="Group 48"/>
          <p:cNvGrpSpPr/>
          <p:nvPr/>
        </p:nvGrpSpPr>
        <p:grpSpPr>
          <a:xfrm>
            <a:off x="4510088" y="4705353"/>
            <a:ext cx="1238250" cy="695325"/>
            <a:chOff x="856" y="1440"/>
            <a:chExt cx="1291" cy="667"/>
          </a:xfrm>
        </p:grpSpPr>
        <p:sp>
          <p:nvSpPr>
            <p:cNvPr id="179" name="Rectangle 49"/>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80" name="Line 50"/>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81" name="Line 51"/>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82" name="Line 52"/>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83" name="Line 53"/>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84" name="Line 54"/>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85" name="Line 55"/>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86" name="Group 56"/>
          <p:cNvGrpSpPr/>
          <p:nvPr/>
        </p:nvGrpSpPr>
        <p:grpSpPr>
          <a:xfrm>
            <a:off x="5995988" y="4705353"/>
            <a:ext cx="1238250" cy="695325"/>
            <a:chOff x="856" y="1440"/>
            <a:chExt cx="1291" cy="667"/>
          </a:xfrm>
        </p:grpSpPr>
        <p:sp>
          <p:nvSpPr>
            <p:cNvPr id="187" name="Rectangle 57"/>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88" name="Line 58"/>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89" name="Line 59"/>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90" name="Line 60"/>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91" name="Line 61"/>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92" name="Line 62"/>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93" name="Line 63"/>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94" name="Group 64"/>
          <p:cNvGrpSpPr/>
          <p:nvPr/>
        </p:nvGrpSpPr>
        <p:grpSpPr>
          <a:xfrm>
            <a:off x="7481888" y="4705353"/>
            <a:ext cx="1238250" cy="695325"/>
            <a:chOff x="856" y="1440"/>
            <a:chExt cx="1291" cy="667"/>
          </a:xfrm>
        </p:grpSpPr>
        <p:sp>
          <p:nvSpPr>
            <p:cNvPr id="195" name="Rectangle 6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96" name="Line 66"/>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97" name="Line 67"/>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98" name="Line 68"/>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99" name="Line 69"/>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00" name="Line 70"/>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01" name="Line 71"/>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02" name="Group 72"/>
          <p:cNvGrpSpPr/>
          <p:nvPr/>
        </p:nvGrpSpPr>
        <p:grpSpPr>
          <a:xfrm>
            <a:off x="8969375" y="4705353"/>
            <a:ext cx="1238250" cy="695325"/>
            <a:chOff x="856" y="1440"/>
            <a:chExt cx="1291" cy="667"/>
          </a:xfrm>
        </p:grpSpPr>
        <p:sp>
          <p:nvSpPr>
            <p:cNvPr id="203" name="Rectangle 7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04" name="Line 74"/>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05" name="Line 75"/>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06" name="Line 76"/>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07" name="Line 77"/>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08" name="Line 78"/>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09" name="Line 79"/>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210" name="Text Box 80"/>
          <p:cNvSpPr txBox="1"/>
          <p:nvPr/>
        </p:nvSpPr>
        <p:spPr>
          <a:xfrm>
            <a:off x="3140075" y="3409953"/>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211" name="Text Box 81"/>
          <p:cNvSpPr txBox="1"/>
          <p:nvPr/>
        </p:nvSpPr>
        <p:spPr>
          <a:xfrm>
            <a:off x="1500188" y="4676778"/>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212" name="Text Box 82"/>
          <p:cNvSpPr txBox="1"/>
          <p:nvPr/>
        </p:nvSpPr>
        <p:spPr>
          <a:xfrm>
            <a:off x="1881188" y="4676778"/>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213" name="Text Box 83"/>
          <p:cNvSpPr txBox="1"/>
          <p:nvPr/>
        </p:nvSpPr>
        <p:spPr>
          <a:xfrm>
            <a:off x="2379663" y="4676778"/>
            <a:ext cx="400050"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214" name="Text Box 84"/>
          <p:cNvSpPr txBox="1"/>
          <p:nvPr/>
        </p:nvSpPr>
        <p:spPr>
          <a:xfrm>
            <a:off x="2947988" y="4676778"/>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215" name="Text Box 85"/>
          <p:cNvSpPr txBox="1"/>
          <p:nvPr/>
        </p:nvSpPr>
        <p:spPr>
          <a:xfrm>
            <a:off x="3328988" y="4676778"/>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11</a:t>
            </a:r>
            <a:endParaRPr lang="en-US" altLang="zh-CN" sz="1800" dirty="0">
              <a:latin typeface="Times New Roman" panose="02020603050405020304" pitchFamily="18" charset="0"/>
              <a:ea typeface="楷体_GB2312" pitchFamily="49" charset="-122"/>
            </a:endParaRPr>
          </a:p>
        </p:txBody>
      </p:sp>
      <p:sp>
        <p:nvSpPr>
          <p:cNvPr id="216" name="Text Box 86"/>
          <p:cNvSpPr txBox="1"/>
          <p:nvPr/>
        </p:nvSpPr>
        <p:spPr>
          <a:xfrm>
            <a:off x="4433888" y="4695828"/>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217" name="Text Box 87"/>
          <p:cNvSpPr txBox="1"/>
          <p:nvPr/>
        </p:nvSpPr>
        <p:spPr>
          <a:xfrm>
            <a:off x="4852988" y="4695828"/>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218" name="Text Box 88"/>
          <p:cNvSpPr txBox="1"/>
          <p:nvPr/>
        </p:nvSpPr>
        <p:spPr>
          <a:xfrm>
            <a:off x="5313363" y="4695828"/>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219" name="Text Box 89"/>
          <p:cNvSpPr txBox="1"/>
          <p:nvPr/>
        </p:nvSpPr>
        <p:spPr>
          <a:xfrm>
            <a:off x="5932488" y="4683128"/>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220" name="Text Box 90"/>
          <p:cNvSpPr txBox="1"/>
          <p:nvPr/>
        </p:nvSpPr>
        <p:spPr>
          <a:xfrm>
            <a:off x="6351588" y="4683128"/>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221" name="Text Box 91"/>
          <p:cNvSpPr txBox="1"/>
          <p:nvPr/>
        </p:nvSpPr>
        <p:spPr>
          <a:xfrm>
            <a:off x="7445375" y="4689478"/>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222" name="Text Box 92"/>
          <p:cNvSpPr txBox="1"/>
          <p:nvPr/>
        </p:nvSpPr>
        <p:spPr>
          <a:xfrm>
            <a:off x="7864475" y="4689478"/>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223" name="Text Box 93"/>
          <p:cNvSpPr txBox="1"/>
          <p:nvPr/>
        </p:nvSpPr>
        <p:spPr>
          <a:xfrm>
            <a:off x="8324850" y="4689478"/>
            <a:ext cx="439738"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224" name="Text Box 94"/>
          <p:cNvSpPr txBox="1"/>
          <p:nvPr/>
        </p:nvSpPr>
        <p:spPr>
          <a:xfrm>
            <a:off x="8909050" y="4689478"/>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225" name="Text Box 95"/>
          <p:cNvSpPr txBox="1"/>
          <p:nvPr/>
        </p:nvSpPr>
        <p:spPr>
          <a:xfrm>
            <a:off x="9328150" y="4689478"/>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226" name="Text Box 96"/>
          <p:cNvSpPr txBox="1"/>
          <p:nvPr/>
        </p:nvSpPr>
        <p:spPr>
          <a:xfrm>
            <a:off x="6677025" y="3402016"/>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227" name="Text Box 97"/>
          <p:cNvSpPr txBox="1"/>
          <p:nvPr/>
        </p:nvSpPr>
        <p:spPr>
          <a:xfrm>
            <a:off x="7096125" y="3402016"/>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228" name="Text Box 98"/>
          <p:cNvSpPr txBox="1"/>
          <p:nvPr/>
        </p:nvSpPr>
        <p:spPr>
          <a:xfrm>
            <a:off x="7556500" y="3402016"/>
            <a:ext cx="439738"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grpSp>
        <p:nvGrpSpPr>
          <p:cNvPr id="229" name="Group 130"/>
          <p:cNvGrpSpPr/>
          <p:nvPr/>
        </p:nvGrpSpPr>
        <p:grpSpPr>
          <a:xfrm>
            <a:off x="5102225" y="3984628"/>
            <a:ext cx="4154488" cy="730250"/>
            <a:chOff x="2362" y="2511"/>
            <a:chExt cx="2617" cy="625"/>
          </a:xfrm>
        </p:grpSpPr>
        <p:sp>
          <p:nvSpPr>
            <p:cNvPr id="230" name="Line 99"/>
            <p:cNvSpPr/>
            <p:nvPr/>
          </p:nvSpPr>
          <p:spPr>
            <a:xfrm>
              <a:off x="4115" y="2519"/>
              <a:ext cx="864" cy="601"/>
            </a:xfrm>
            <a:prstGeom prst="line">
              <a:avLst/>
            </a:prstGeom>
            <a:ln w="9525" cap="flat" cmpd="sng">
              <a:solidFill>
                <a:srgbClr val="FF0066"/>
              </a:solidFill>
              <a:prstDash val="solid"/>
              <a:round/>
              <a:headEnd type="none" w="med" len="med"/>
              <a:tailEnd type="triangle" w="med" len="med"/>
            </a:ln>
          </p:spPr>
        </p:sp>
        <p:sp>
          <p:nvSpPr>
            <p:cNvPr id="231" name="Line 100"/>
            <p:cNvSpPr/>
            <p:nvPr/>
          </p:nvSpPr>
          <p:spPr>
            <a:xfrm>
              <a:off x="3884" y="2511"/>
              <a:ext cx="173" cy="625"/>
            </a:xfrm>
            <a:prstGeom prst="line">
              <a:avLst/>
            </a:prstGeom>
            <a:ln w="9525" cap="flat" cmpd="sng">
              <a:solidFill>
                <a:srgbClr val="FF0066"/>
              </a:solidFill>
              <a:prstDash val="solid"/>
              <a:round/>
              <a:headEnd type="none" w="med" len="med"/>
              <a:tailEnd type="triangle" w="med" len="med"/>
            </a:ln>
          </p:spPr>
        </p:sp>
        <p:sp>
          <p:nvSpPr>
            <p:cNvPr id="232" name="Line 101"/>
            <p:cNvSpPr/>
            <p:nvPr/>
          </p:nvSpPr>
          <p:spPr>
            <a:xfrm flipH="1">
              <a:off x="3136" y="2519"/>
              <a:ext cx="559" cy="601"/>
            </a:xfrm>
            <a:prstGeom prst="line">
              <a:avLst/>
            </a:prstGeom>
            <a:ln w="9525" cap="flat" cmpd="sng">
              <a:solidFill>
                <a:srgbClr val="FF0066"/>
              </a:solidFill>
              <a:prstDash val="solid"/>
              <a:round/>
              <a:headEnd type="none" w="med" len="med"/>
              <a:tailEnd type="triangle" w="med" len="med"/>
            </a:ln>
          </p:spPr>
        </p:sp>
        <p:sp>
          <p:nvSpPr>
            <p:cNvPr id="233" name="Line 102"/>
            <p:cNvSpPr/>
            <p:nvPr/>
          </p:nvSpPr>
          <p:spPr>
            <a:xfrm flipH="1">
              <a:off x="2362" y="2527"/>
              <a:ext cx="1078" cy="593"/>
            </a:xfrm>
            <a:prstGeom prst="line">
              <a:avLst/>
            </a:prstGeom>
            <a:ln w="9525" cap="flat" cmpd="sng">
              <a:solidFill>
                <a:srgbClr val="FF0066"/>
              </a:solidFill>
              <a:prstDash val="solid"/>
              <a:round/>
              <a:headEnd type="none" w="med" len="med"/>
              <a:tailEnd type="triangle" w="med" len="med"/>
            </a:ln>
          </p:spPr>
        </p:sp>
      </p:grpSp>
      <p:grpSp>
        <p:nvGrpSpPr>
          <p:cNvPr id="234" name="Group 131"/>
          <p:cNvGrpSpPr/>
          <p:nvPr/>
        </p:nvGrpSpPr>
        <p:grpSpPr>
          <a:xfrm>
            <a:off x="2019300" y="3997328"/>
            <a:ext cx="1606550" cy="704850"/>
            <a:chOff x="420" y="2502"/>
            <a:chExt cx="1012" cy="626"/>
          </a:xfrm>
        </p:grpSpPr>
        <p:sp>
          <p:nvSpPr>
            <p:cNvPr id="235" name="Line 103"/>
            <p:cNvSpPr/>
            <p:nvPr/>
          </p:nvSpPr>
          <p:spPr>
            <a:xfrm flipH="1">
              <a:off x="1276" y="2519"/>
              <a:ext cx="156" cy="601"/>
            </a:xfrm>
            <a:prstGeom prst="line">
              <a:avLst/>
            </a:prstGeom>
            <a:ln w="9525" cap="flat" cmpd="sng">
              <a:solidFill>
                <a:srgbClr val="FF0066"/>
              </a:solidFill>
              <a:prstDash val="solid"/>
              <a:round/>
              <a:headEnd type="none" w="med" len="med"/>
              <a:tailEnd type="triangle" w="med" len="med"/>
            </a:ln>
          </p:spPr>
        </p:sp>
        <p:sp>
          <p:nvSpPr>
            <p:cNvPr id="236" name="Line 104"/>
            <p:cNvSpPr/>
            <p:nvPr/>
          </p:nvSpPr>
          <p:spPr>
            <a:xfrm flipH="1">
              <a:off x="420" y="2502"/>
              <a:ext cx="848" cy="626"/>
            </a:xfrm>
            <a:prstGeom prst="line">
              <a:avLst/>
            </a:prstGeom>
            <a:ln w="9525" cap="flat" cmpd="sng">
              <a:solidFill>
                <a:srgbClr val="FF0066"/>
              </a:solidFill>
              <a:prstDash val="solid"/>
              <a:round/>
              <a:headEnd type="none" w="med" len="med"/>
              <a:tailEnd type="triangle" w="med" len="med"/>
            </a:ln>
          </p:spPr>
        </p:sp>
      </p:grpSp>
      <p:grpSp>
        <p:nvGrpSpPr>
          <p:cNvPr id="237" name="Group 132"/>
          <p:cNvGrpSpPr/>
          <p:nvPr/>
        </p:nvGrpSpPr>
        <p:grpSpPr>
          <a:xfrm>
            <a:off x="3690938" y="2800353"/>
            <a:ext cx="3227387" cy="627063"/>
            <a:chOff x="1473" y="1700"/>
            <a:chExt cx="2033" cy="625"/>
          </a:xfrm>
        </p:grpSpPr>
        <p:sp>
          <p:nvSpPr>
            <p:cNvPr id="238" name="Line 105"/>
            <p:cNvSpPr/>
            <p:nvPr/>
          </p:nvSpPr>
          <p:spPr>
            <a:xfrm flipH="1">
              <a:off x="1473" y="1700"/>
              <a:ext cx="593" cy="625"/>
            </a:xfrm>
            <a:prstGeom prst="line">
              <a:avLst/>
            </a:prstGeom>
            <a:ln w="9525" cap="flat" cmpd="sng">
              <a:solidFill>
                <a:srgbClr val="FF0066"/>
              </a:solidFill>
              <a:prstDash val="solid"/>
              <a:round/>
              <a:headEnd type="none" w="med" len="med"/>
              <a:tailEnd type="triangle" w="med" len="med"/>
            </a:ln>
          </p:spPr>
        </p:sp>
        <p:sp>
          <p:nvSpPr>
            <p:cNvPr id="239" name="Line 106"/>
            <p:cNvSpPr/>
            <p:nvPr/>
          </p:nvSpPr>
          <p:spPr>
            <a:xfrm>
              <a:off x="2272" y="1716"/>
              <a:ext cx="1234" cy="601"/>
            </a:xfrm>
            <a:prstGeom prst="line">
              <a:avLst/>
            </a:prstGeom>
            <a:ln w="9525" cap="flat" cmpd="sng">
              <a:solidFill>
                <a:srgbClr val="FF0066"/>
              </a:solidFill>
              <a:prstDash val="solid"/>
              <a:round/>
              <a:headEnd type="none" w="med" len="med"/>
              <a:tailEnd type="triangle" w="med" len="med"/>
            </a:ln>
          </p:spPr>
        </p:sp>
      </p:grpSp>
      <p:sp>
        <p:nvSpPr>
          <p:cNvPr id="240" name="Line 107"/>
          <p:cNvSpPr/>
          <p:nvPr/>
        </p:nvSpPr>
        <p:spPr>
          <a:xfrm>
            <a:off x="1536700" y="4230691"/>
            <a:ext cx="8699500" cy="0"/>
          </a:xfrm>
          <a:prstGeom prst="line">
            <a:avLst/>
          </a:prstGeom>
          <a:ln w="9525" cap="flat" cmpd="sng">
            <a:solidFill>
              <a:srgbClr val="FF0066"/>
            </a:solidFill>
            <a:prstDash val="dash"/>
            <a:round/>
            <a:headEnd type="none" w="med" len="med"/>
            <a:tailEnd type="none" w="med" len="med"/>
          </a:ln>
        </p:spPr>
      </p:sp>
      <p:sp>
        <p:nvSpPr>
          <p:cNvPr id="241" name="Line 110"/>
          <p:cNvSpPr/>
          <p:nvPr/>
        </p:nvSpPr>
        <p:spPr>
          <a:xfrm>
            <a:off x="1692275" y="5264153"/>
            <a:ext cx="0" cy="365125"/>
          </a:xfrm>
          <a:prstGeom prst="line">
            <a:avLst/>
          </a:prstGeom>
          <a:ln w="9525" cap="flat" cmpd="sng">
            <a:solidFill>
              <a:srgbClr val="FF0066"/>
            </a:solidFill>
            <a:prstDash val="solid"/>
            <a:round/>
            <a:headEnd type="none" w="med" len="med"/>
            <a:tailEnd type="triangle" w="med" len="med"/>
          </a:ln>
        </p:spPr>
      </p:sp>
      <p:sp>
        <p:nvSpPr>
          <p:cNvPr id="242" name="Line 111"/>
          <p:cNvSpPr/>
          <p:nvPr/>
        </p:nvSpPr>
        <p:spPr>
          <a:xfrm>
            <a:off x="1971675" y="5264153"/>
            <a:ext cx="0" cy="365125"/>
          </a:xfrm>
          <a:prstGeom prst="line">
            <a:avLst/>
          </a:prstGeom>
          <a:ln w="9525" cap="flat" cmpd="sng">
            <a:solidFill>
              <a:srgbClr val="FF0066"/>
            </a:solidFill>
            <a:prstDash val="solid"/>
            <a:round/>
            <a:headEnd type="none" w="med" len="med"/>
            <a:tailEnd type="triangle" w="med" len="med"/>
          </a:ln>
        </p:spPr>
      </p:sp>
      <p:sp>
        <p:nvSpPr>
          <p:cNvPr id="243" name="Line 112"/>
          <p:cNvSpPr/>
          <p:nvPr/>
        </p:nvSpPr>
        <p:spPr>
          <a:xfrm>
            <a:off x="2289175" y="5264153"/>
            <a:ext cx="0" cy="365125"/>
          </a:xfrm>
          <a:prstGeom prst="line">
            <a:avLst/>
          </a:prstGeom>
          <a:ln w="9525" cap="flat" cmpd="sng">
            <a:solidFill>
              <a:srgbClr val="FF0066"/>
            </a:solidFill>
            <a:prstDash val="solid"/>
            <a:round/>
            <a:headEnd type="none" w="med" len="med"/>
            <a:tailEnd type="triangle" w="med" len="med"/>
          </a:ln>
        </p:spPr>
      </p:sp>
      <p:sp>
        <p:nvSpPr>
          <p:cNvPr id="244" name="Line 113"/>
          <p:cNvSpPr/>
          <p:nvPr/>
        </p:nvSpPr>
        <p:spPr>
          <a:xfrm>
            <a:off x="2646363" y="5237166"/>
            <a:ext cx="377825" cy="0"/>
          </a:xfrm>
          <a:prstGeom prst="line">
            <a:avLst/>
          </a:prstGeom>
          <a:ln w="9525" cap="flat" cmpd="sng">
            <a:solidFill>
              <a:srgbClr val="FF0066"/>
            </a:solidFill>
            <a:prstDash val="solid"/>
            <a:round/>
            <a:headEnd type="none" w="med" len="med"/>
            <a:tailEnd type="triangle" w="med" len="med"/>
          </a:ln>
        </p:spPr>
      </p:sp>
      <p:sp>
        <p:nvSpPr>
          <p:cNvPr id="245" name="Line 114"/>
          <p:cNvSpPr/>
          <p:nvPr/>
        </p:nvSpPr>
        <p:spPr>
          <a:xfrm>
            <a:off x="3165475" y="5264153"/>
            <a:ext cx="0" cy="365125"/>
          </a:xfrm>
          <a:prstGeom prst="line">
            <a:avLst/>
          </a:prstGeom>
          <a:ln w="9525" cap="flat" cmpd="sng">
            <a:solidFill>
              <a:srgbClr val="FF0066"/>
            </a:solidFill>
            <a:prstDash val="solid"/>
            <a:round/>
            <a:headEnd type="none" w="med" len="med"/>
            <a:tailEnd type="triangle" w="med" len="med"/>
          </a:ln>
        </p:spPr>
      </p:sp>
      <p:sp>
        <p:nvSpPr>
          <p:cNvPr id="246" name="Line 115"/>
          <p:cNvSpPr/>
          <p:nvPr/>
        </p:nvSpPr>
        <p:spPr>
          <a:xfrm>
            <a:off x="3444875" y="5264153"/>
            <a:ext cx="0" cy="365125"/>
          </a:xfrm>
          <a:prstGeom prst="line">
            <a:avLst/>
          </a:prstGeom>
          <a:ln w="9525" cap="flat" cmpd="sng">
            <a:solidFill>
              <a:srgbClr val="FF0066"/>
            </a:solidFill>
            <a:prstDash val="solid"/>
            <a:round/>
            <a:headEnd type="none" w="med" len="med"/>
            <a:tailEnd type="triangle" w="med" len="med"/>
          </a:ln>
        </p:spPr>
      </p:sp>
      <p:sp>
        <p:nvSpPr>
          <p:cNvPr id="247" name="Line 116"/>
          <p:cNvSpPr/>
          <p:nvPr/>
        </p:nvSpPr>
        <p:spPr>
          <a:xfrm>
            <a:off x="4119563" y="5249866"/>
            <a:ext cx="377825" cy="0"/>
          </a:xfrm>
          <a:prstGeom prst="line">
            <a:avLst/>
          </a:prstGeom>
          <a:ln w="9525" cap="flat" cmpd="sng">
            <a:solidFill>
              <a:srgbClr val="FF0066"/>
            </a:solidFill>
            <a:prstDash val="solid"/>
            <a:round/>
            <a:headEnd type="none" w="med" len="med"/>
            <a:tailEnd type="triangle" w="med" len="med"/>
          </a:ln>
        </p:spPr>
      </p:sp>
      <p:sp>
        <p:nvSpPr>
          <p:cNvPr id="248" name="Line 117"/>
          <p:cNvSpPr/>
          <p:nvPr/>
        </p:nvSpPr>
        <p:spPr>
          <a:xfrm>
            <a:off x="4664075" y="5264153"/>
            <a:ext cx="0" cy="365125"/>
          </a:xfrm>
          <a:prstGeom prst="line">
            <a:avLst/>
          </a:prstGeom>
          <a:ln w="9525" cap="flat" cmpd="sng">
            <a:solidFill>
              <a:srgbClr val="FF0066"/>
            </a:solidFill>
            <a:prstDash val="solid"/>
            <a:round/>
            <a:headEnd type="none" w="med" len="med"/>
            <a:tailEnd type="triangle" w="med" len="med"/>
          </a:ln>
        </p:spPr>
      </p:sp>
      <p:sp>
        <p:nvSpPr>
          <p:cNvPr id="249" name="Line 118"/>
          <p:cNvSpPr/>
          <p:nvPr/>
        </p:nvSpPr>
        <p:spPr>
          <a:xfrm>
            <a:off x="4956175" y="5264153"/>
            <a:ext cx="0" cy="365125"/>
          </a:xfrm>
          <a:prstGeom prst="line">
            <a:avLst/>
          </a:prstGeom>
          <a:ln w="9525" cap="flat" cmpd="sng">
            <a:solidFill>
              <a:srgbClr val="FF0066"/>
            </a:solidFill>
            <a:prstDash val="solid"/>
            <a:round/>
            <a:headEnd type="none" w="med" len="med"/>
            <a:tailEnd type="triangle" w="med" len="med"/>
          </a:ln>
        </p:spPr>
      </p:sp>
      <p:sp>
        <p:nvSpPr>
          <p:cNvPr id="250" name="Line 119"/>
          <p:cNvSpPr/>
          <p:nvPr/>
        </p:nvSpPr>
        <p:spPr>
          <a:xfrm>
            <a:off x="5260975" y="5264153"/>
            <a:ext cx="0" cy="365125"/>
          </a:xfrm>
          <a:prstGeom prst="line">
            <a:avLst/>
          </a:prstGeom>
          <a:ln w="9525" cap="flat" cmpd="sng">
            <a:solidFill>
              <a:srgbClr val="FF0066"/>
            </a:solidFill>
            <a:prstDash val="solid"/>
            <a:round/>
            <a:headEnd type="none" w="med" len="med"/>
            <a:tailEnd type="triangle" w="med" len="med"/>
          </a:ln>
        </p:spPr>
      </p:sp>
      <p:sp>
        <p:nvSpPr>
          <p:cNvPr id="251" name="Line 120"/>
          <p:cNvSpPr/>
          <p:nvPr/>
        </p:nvSpPr>
        <p:spPr>
          <a:xfrm>
            <a:off x="5618163" y="5249866"/>
            <a:ext cx="377825" cy="0"/>
          </a:xfrm>
          <a:prstGeom prst="line">
            <a:avLst/>
          </a:prstGeom>
          <a:ln w="9525" cap="flat" cmpd="sng">
            <a:solidFill>
              <a:srgbClr val="FF0066"/>
            </a:solidFill>
            <a:prstDash val="solid"/>
            <a:round/>
            <a:headEnd type="none" w="med" len="med"/>
            <a:tailEnd type="triangle" w="med" len="med"/>
          </a:ln>
        </p:spPr>
      </p:sp>
      <p:sp>
        <p:nvSpPr>
          <p:cNvPr id="252" name="Line 121"/>
          <p:cNvSpPr/>
          <p:nvPr/>
        </p:nvSpPr>
        <p:spPr>
          <a:xfrm>
            <a:off x="6137275" y="5264153"/>
            <a:ext cx="0" cy="365125"/>
          </a:xfrm>
          <a:prstGeom prst="line">
            <a:avLst/>
          </a:prstGeom>
          <a:ln w="9525" cap="flat" cmpd="sng">
            <a:solidFill>
              <a:srgbClr val="FF0066"/>
            </a:solidFill>
            <a:prstDash val="solid"/>
            <a:round/>
            <a:headEnd type="none" w="med" len="med"/>
            <a:tailEnd type="triangle" w="med" len="med"/>
          </a:ln>
        </p:spPr>
      </p:sp>
      <p:sp>
        <p:nvSpPr>
          <p:cNvPr id="253" name="Line 122"/>
          <p:cNvSpPr/>
          <p:nvPr/>
        </p:nvSpPr>
        <p:spPr>
          <a:xfrm>
            <a:off x="6416675" y="5264153"/>
            <a:ext cx="0" cy="365125"/>
          </a:xfrm>
          <a:prstGeom prst="line">
            <a:avLst/>
          </a:prstGeom>
          <a:ln w="9525" cap="flat" cmpd="sng">
            <a:solidFill>
              <a:srgbClr val="FF0066"/>
            </a:solidFill>
            <a:prstDash val="solid"/>
            <a:round/>
            <a:headEnd type="none" w="med" len="med"/>
            <a:tailEnd type="triangle" w="med" len="med"/>
          </a:ln>
        </p:spPr>
      </p:sp>
      <p:sp>
        <p:nvSpPr>
          <p:cNvPr id="254" name="Line 123"/>
          <p:cNvSpPr/>
          <p:nvPr/>
        </p:nvSpPr>
        <p:spPr>
          <a:xfrm>
            <a:off x="7091363" y="5249866"/>
            <a:ext cx="377825" cy="0"/>
          </a:xfrm>
          <a:prstGeom prst="line">
            <a:avLst/>
          </a:prstGeom>
          <a:ln w="9525" cap="flat" cmpd="sng">
            <a:solidFill>
              <a:srgbClr val="FF0066"/>
            </a:solidFill>
            <a:prstDash val="solid"/>
            <a:round/>
            <a:headEnd type="none" w="med" len="med"/>
            <a:tailEnd type="triangle" w="med" len="med"/>
          </a:ln>
        </p:spPr>
      </p:sp>
      <p:sp>
        <p:nvSpPr>
          <p:cNvPr id="255" name="Line 124"/>
          <p:cNvSpPr/>
          <p:nvPr/>
        </p:nvSpPr>
        <p:spPr>
          <a:xfrm>
            <a:off x="7648575" y="5264153"/>
            <a:ext cx="0" cy="365125"/>
          </a:xfrm>
          <a:prstGeom prst="line">
            <a:avLst/>
          </a:prstGeom>
          <a:ln w="9525" cap="flat" cmpd="sng">
            <a:solidFill>
              <a:srgbClr val="FF0066"/>
            </a:solidFill>
            <a:prstDash val="solid"/>
            <a:round/>
            <a:headEnd type="none" w="med" len="med"/>
            <a:tailEnd type="triangle" w="med" len="med"/>
          </a:ln>
        </p:spPr>
      </p:sp>
      <p:sp>
        <p:nvSpPr>
          <p:cNvPr id="256" name="Line 125"/>
          <p:cNvSpPr/>
          <p:nvPr/>
        </p:nvSpPr>
        <p:spPr>
          <a:xfrm>
            <a:off x="7927975" y="5264153"/>
            <a:ext cx="0" cy="365125"/>
          </a:xfrm>
          <a:prstGeom prst="line">
            <a:avLst/>
          </a:prstGeom>
          <a:ln w="9525" cap="flat" cmpd="sng">
            <a:solidFill>
              <a:srgbClr val="FF0066"/>
            </a:solidFill>
            <a:prstDash val="solid"/>
            <a:round/>
            <a:headEnd type="none" w="med" len="med"/>
            <a:tailEnd type="triangle" w="med" len="med"/>
          </a:ln>
        </p:spPr>
      </p:sp>
      <p:sp>
        <p:nvSpPr>
          <p:cNvPr id="257" name="Line 126"/>
          <p:cNvSpPr/>
          <p:nvPr/>
        </p:nvSpPr>
        <p:spPr>
          <a:xfrm>
            <a:off x="8245475" y="5264153"/>
            <a:ext cx="0" cy="365125"/>
          </a:xfrm>
          <a:prstGeom prst="line">
            <a:avLst/>
          </a:prstGeom>
          <a:ln w="9525" cap="flat" cmpd="sng">
            <a:solidFill>
              <a:srgbClr val="FF0066"/>
            </a:solidFill>
            <a:prstDash val="solid"/>
            <a:round/>
            <a:headEnd type="none" w="med" len="med"/>
            <a:tailEnd type="triangle" w="med" len="med"/>
          </a:ln>
        </p:spPr>
      </p:sp>
      <p:sp>
        <p:nvSpPr>
          <p:cNvPr id="258" name="Line 127"/>
          <p:cNvSpPr/>
          <p:nvPr/>
        </p:nvSpPr>
        <p:spPr>
          <a:xfrm>
            <a:off x="8602663" y="5249866"/>
            <a:ext cx="377825" cy="0"/>
          </a:xfrm>
          <a:prstGeom prst="line">
            <a:avLst/>
          </a:prstGeom>
          <a:ln w="9525" cap="flat" cmpd="sng">
            <a:solidFill>
              <a:srgbClr val="FF0066"/>
            </a:solidFill>
            <a:prstDash val="solid"/>
            <a:round/>
            <a:headEnd type="none" w="med" len="med"/>
            <a:tailEnd type="triangle" w="med" len="med"/>
          </a:ln>
        </p:spPr>
      </p:sp>
      <p:sp>
        <p:nvSpPr>
          <p:cNvPr id="259" name="Line 128"/>
          <p:cNvSpPr/>
          <p:nvPr/>
        </p:nvSpPr>
        <p:spPr>
          <a:xfrm>
            <a:off x="9121775" y="5251453"/>
            <a:ext cx="0" cy="365125"/>
          </a:xfrm>
          <a:prstGeom prst="line">
            <a:avLst/>
          </a:prstGeom>
          <a:ln w="9525" cap="flat" cmpd="sng">
            <a:solidFill>
              <a:srgbClr val="FF0066"/>
            </a:solidFill>
            <a:prstDash val="solid"/>
            <a:round/>
            <a:headEnd type="none" w="med" len="med"/>
            <a:tailEnd type="triangle" w="med" len="med"/>
          </a:ln>
        </p:spPr>
      </p:sp>
      <p:sp>
        <p:nvSpPr>
          <p:cNvPr id="260" name="Line 129"/>
          <p:cNvSpPr/>
          <p:nvPr/>
        </p:nvSpPr>
        <p:spPr>
          <a:xfrm>
            <a:off x="9401175" y="5251453"/>
            <a:ext cx="0" cy="365125"/>
          </a:xfrm>
          <a:prstGeom prst="line">
            <a:avLst/>
          </a:prstGeom>
          <a:ln w="9525" cap="flat" cmpd="sng">
            <a:solidFill>
              <a:srgbClr val="FF0066"/>
            </a:solidFill>
            <a:prstDash val="solid"/>
            <a:round/>
            <a:headEnd type="none" w="med" len="med"/>
            <a:tailEnd type="triangle" w="med" len="med"/>
          </a:ln>
        </p:spPr>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插入过程及分裂过程示意 </a:t>
            </a:r>
            <a:endParaRPr lang="en-US" altLang="zh-CN"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插入键值为</a:t>
            </a:r>
            <a:r>
              <a:rPr lang="en-US" altLang="zh-CN" sz="2000" b="0" dirty="0">
                <a:latin typeface="微软雅黑" panose="020B0503020204020204" pitchFamily="34" charset="-122"/>
                <a:ea typeface="微软雅黑" panose="020B0503020204020204" pitchFamily="34" charset="-122"/>
              </a:rPr>
              <a:t>40</a:t>
            </a:r>
            <a:r>
              <a:rPr lang="zh-CN" altLang="en-US" sz="2000" b="0" dirty="0">
                <a:latin typeface="微软雅黑" panose="020B0503020204020204" pitchFamily="34" charset="-122"/>
                <a:ea typeface="微软雅黑" panose="020B0503020204020204" pitchFamily="34" charset="-122"/>
              </a:rPr>
              <a:t>的记录</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进行中</a:t>
            </a:r>
            <a:endParaRPr lang="zh-CN" altLang="en-US" sz="2000" b="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插入与结点分裂过程示意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261" name="Group 2"/>
          <p:cNvGrpSpPr/>
          <p:nvPr/>
        </p:nvGrpSpPr>
        <p:grpSpPr>
          <a:xfrm>
            <a:off x="4307254" y="1993900"/>
            <a:ext cx="1238250" cy="695325"/>
            <a:chOff x="856" y="1440"/>
            <a:chExt cx="1291" cy="667"/>
          </a:xfrm>
        </p:grpSpPr>
        <p:sp>
          <p:nvSpPr>
            <p:cNvPr id="262" name="Rectangle 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63" name="Line 4"/>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64" name="Line 5"/>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65" name="Line 6"/>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66" name="Line 7"/>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67" name="Line 8"/>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68" name="Line 9"/>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269" name="Text Box 10"/>
          <p:cNvSpPr txBox="1"/>
          <p:nvPr/>
        </p:nvSpPr>
        <p:spPr>
          <a:xfrm>
            <a:off x="4235816" y="197008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270" name="Group 11"/>
          <p:cNvGrpSpPr/>
          <p:nvPr/>
        </p:nvGrpSpPr>
        <p:grpSpPr>
          <a:xfrm>
            <a:off x="2994391" y="3155950"/>
            <a:ext cx="1238250" cy="695325"/>
            <a:chOff x="856" y="1440"/>
            <a:chExt cx="1291" cy="667"/>
          </a:xfrm>
        </p:grpSpPr>
        <p:sp>
          <p:nvSpPr>
            <p:cNvPr id="271" name="Rectangle 1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72" name="Line 1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73" name="Line 1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74" name="Line 1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75" name="Line 1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76" name="Line 1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77" name="Line 1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78" name="Group 19"/>
          <p:cNvGrpSpPr/>
          <p:nvPr/>
        </p:nvGrpSpPr>
        <p:grpSpPr>
          <a:xfrm>
            <a:off x="6542454" y="3155950"/>
            <a:ext cx="1238250" cy="695325"/>
            <a:chOff x="856" y="1440"/>
            <a:chExt cx="1291" cy="667"/>
          </a:xfrm>
        </p:grpSpPr>
        <p:sp>
          <p:nvSpPr>
            <p:cNvPr id="279" name="Rectangle 2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80" name="Line 2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81" name="Line 2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82" name="Line 2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83" name="Line 2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84" name="Line 2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85" name="Line 2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86" name="Group 27"/>
          <p:cNvGrpSpPr/>
          <p:nvPr/>
        </p:nvGrpSpPr>
        <p:grpSpPr>
          <a:xfrm>
            <a:off x="1335454" y="4432300"/>
            <a:ext cx="1238250" cy="695325"/>
            <a:chOff x="856" y="1440"/>
            <a:chExt cx="1291" cy="667"/>
          </a:xfrm>
        </p:grpSpPr>
        <p:sp>
          <p:nvSpPr>
            <p:cNvPr id="287" name="Rectangle 2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88" name="Line 2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89" name="Line 3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90" name="Line 3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91" name="Line 3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92" name="Line 3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93" name="Line 3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94" name="Group 35"/>
          <p:cNvGrpSpPr/>
          <p:nvPr/>
        </p:nvGrpSpPr>
        <p:grpSpPr>
          <a:xfrm>
            <a:off x="2821354" y="4432300"/>
            <a:ext cx="1238250" cy="695325"/>
            <a:chOff x="856" y="1440"/>
            <a:chExt cx="1291" cy="667"/>
          </a:xfrm>
        </p:grpSpPr>
        <p:sp>
          <p:nvSpPr>
            <p:cNvPr id="295" name="Rectangle 3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96" name="Line 3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97" name="Line 3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98" name="Line 3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99" name="Line 4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00" name="Line 4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01" name="Line 4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02" name="Group 43"/>
          <p:cNvGrpSpPr/>
          <p:nvPr/>
        </p:nvGrpSpPr>
        <p:grpSpPr>
          <a:xfrm>
            <a:off x="4307254" y="4432300"/>
            <a:ext cx="1238250" cy="695325"/>
            <a:chOff x="856" y="1440"/>
            <a:chExt cx="1291" cy="667"/>
          </a:xfrm>
        </p:grpSpPr>
        <p:sp>
          <p:nvSpPr>
            <p:cNvPr id="303" name="Rectangle 4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04" name="Line 4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305" name="Line 4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306" name="Line 4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307" name="Line 4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08" name="Line 4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09" name="Line 5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10" name="Group 51"/>
          <p:cNvGrpSpPr/>
          <p:nvPr/>
        </p:nvGrpSpPr>
        <p:grpSpPr>
          <a:xfrm>
            <a:off x="5793154" y="4432300"/>
            <a:ext cx="1238250" cy="695325"/>
            <a:chOff x="856" y="1440"/>
            <a:chExt cx="1291" cy="667"/>
          </a:xfrm>
        </p:grpSpPr>
        <p:sp>
          <p:nvSpPr>
            <p:cNvPr id="311" name="Rectangle 5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12" name="Line 5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313" name="Line 5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314" name="Line 5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315" name="Line 5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16" name="Line 5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17" name="Line 5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18" name="Group 59"/>
          <p:cNvGrpSpPr/>
          <p:nvPr/>
        </p:nvGrpSpPr>
        <p:grpSpPr>
          <a:xfrm>
            <a:off x="7279054" y="4432300"/>
            <a:ext cx="1238250" cy="695325"/>
            <a:chOff x="856" y="1440"/>
            <a:chExt cx="1291" cy="667"/>
          </a:xfrm>
        </p:grpSpPr>
        <p:sp>
          <p:nvSpPr>
            <p:cNvPr id="319" name="Rectangle 6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20" name="Line 6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321" name="Line 6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322" name="Line 6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323" name="Line 6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24" name="Line 6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25" name="Line 6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26" name="Group 67"/>
          <p:cNvGrpSpPr/>
          <p:nvPr/>
        </p:nvGrpSpPr>
        <p:grpSpPr>
          <a:xfrm>
            <a:off x="8766541" y="4432300"/>
            <a:ext cx="1238250" cy="695325"/>
            <a:chOff x="856" y="1440"/>
            <a:chExt cx="1291" cy="667"/>
          </a:xfrm>
        </p:grpSpPr>
        <p:sp>
          <p:nvSpPr>
            <p:cNvPr id="327" name="Rectangle 6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28" name="Line 6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329" name="Line 7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330" name="Line 7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331" name="Line 7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32" name="Line 7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33" name="Line 7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334" name="Text Box 75"/>
          <p:cNvSpPr txBox="1"/>
          <p:nvPr/>
        </p:nvSpPr>
        <p:spPr>
          <a:xfrm>
            <a:off x="2937241" y="31369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335" name="Text Box 76"/>
          <p:cNvSpPr txBox="1"/>
          <p:nvPr/>
        </p:nvSpPr>
        <p:spPr>
          <a:xfrm>
            <a:off x="1297354" y="44037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336" name="Text Box 77"/>
          <p:cNvSpPr txBox="1"/>
          <p:nvPr/>
        </p:nvSpPr>
        <p:spPr>
          <a:xfrm>
            <a:off x="1678354" y="44037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337" name="Text Box 78"/>
          <p:cNvSpPr txBox="1"/>
          <p:nvPr/>
        </p:nvSpPr>
        <p:spPr>
          <a:xfrm>
            <a:off x="2176829" y="4403725"/>
            <a:ext cx="400050"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338" name="Text Box 79"/>
          <p:cNvSpPr txBox="1"/>
          <p:nvPr/>
        </p:nvSpPr>
        <p:spPr>
          <a:xfrm>
            <a:off x="2745154" y="44037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339" name="Text Box 80"/>
          <p:cNvSpPr txBox="1"/>
          <p:nvPr/>
        </p:nvSpPr>
        <p:spPr>
          <a:xfrm>
            <a:off x="3126154" y="44037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11</a:t>
            </a:r>
            <a:endParaRPr lang="en-US" altLang="zh-CN" sz="1800" dirty="0">
              <a:latin typeface="Times New Roman" panose="02020603050405020304" pitchFamily="18" charset="0"/>
              <a:ea typeface="楷体_GB2312" pitchFamily="49" charset="-122"/>
            </a:endParaRPr>
          </a:p>
        </p:txBody>
      </p:sp>
      <p:sp>
        <p:nvSpPr>
          <p:cNvPr id="340" name="Text Box 81"/>
          <p:cNvSpPr txBox="1"/>
          <p:nvPr/>
        </p:nvSpPr>
        <p:spPr>
          <a:xfrm>
            <a:off x="4231054" y="44227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341" name="Text Box 82"/>
          <p:cNvSpPr txBox="1"/>
          <p:nvPr/>
        </p:nvSpPr>
        <p:spPr>
          <a:xfrm>
            <a:off x="4650154" y="44227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342" name="Text Box 83"/>
          <p:cNvSpPr txBox="1"/>
          <p:nvPr/>
        </p:nvSpPr>
        <p:spPr>
          <a:xfrm>
            <a:off x="5110529" y="4422775"/>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343" name="Text Box 84"/>
          <p:cNvSpPr txBox="1"/>
          <p:nvPr/>
        </p:nvSpPr>
        <p:spPr>
          <a:xfrm>
            <a:off x="5729654" y="44100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344" name="Text Box 85"/>
          <p:cNvSpPr txBox="1"/>
          <p:nvPr/>
        </p:nvSpPr>
        <p:spPr>
          <a:xfrm>
            <a:off x="6148754" y="44100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345" name="Text Box 86"/>
          <p:cNvSpPr txBox="1"/>
          <p:nvPr/>
        </p:nvSpPr>
        <p:spPr>
          <a:xfrm>
            <a:off x="7242541" y="44164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346" name="Text Box 87"/>
          <p:cNvSpPr txBox="1"/>
          <p:nvPr/>
        </p:nvSpPr>
        <p:spPr>
          <a:xfrm>
            <a:off x="7661641" y="44164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347" name="Text Box 88"/>
          <p:cNvSpPr txBox="1"/>
          <p:nvPr/>
        </p:nvSpPr>
        <p:spPr>
          <a:xfrm>
            <a:off x="8122016" y="4416425"/>
            <a:ext cx="439738"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348" name="Text Box 89"/>
          <p:cNvSpPr txBox="1"/>
          <p:nvPr/>
        </p:nvSpPr>
        <p:spPr>
          <a:xfrm>
            <a:off x="8706216" y="44164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349" name="Text Box 90"/>
          <p:cNvSpPr txBox="1"/>
          <p:nvPr/>
        </p:nvSpPr>
        <p:spPr>
          <a:xfrm>
            <a:off x="9125316" y="44164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350" name="Text Box 91"/>
          <p:cNvSpPr txBox="1"/>
          <p:nvPr/>
        </p:nvSpPr>
        <p:spPr>
          <a:xfrm>
            <a:off x="6474191" y="312896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351" name="Text Box 92"/>
          <p:cNvSpPr txBox="1"/>
          <p:nvPr/>
        </p:nvSpPr>
        <p:spPr>
          <a:xfrm>
            <a:off x="6893291" y="312896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352" name="Text Box 93"/>
          <p:cNvSpPr txBox="1"/>
          <p:nvPr/>
        </p:nvSpPr>
        <p:spPr>
          <a:xfrm>
            <a:off x="7353666" y="3128963"/>
            <a:ext cx="439738"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grpSp>
        <p:nvGrpSpPr>
          <p:cNvPr id="353" name="Group 94"/>
          <p:cNvGrpSpPr/>
          <p:nvPr/>
        </p:nvGrpSpPr>
        <p:grpSpPr>
          <a:xfrm>
            <a:off x="4899391" y="3711575"/>
            <a:ext cx="4154488" cy="730250"/>
            <a:chOff x="2362" y="2511"/>
            <a:chExt cx="2617" cy="625"/>
          </a:xfrm>
        </p:grpSpPr>
        <p:sp>
          <p:nvSpPr>
            <p:cNvPr id="354" name="Line 95"/>
            <p:cNvSpPr/>
            <p:nvPr/>
          </p:nvSpPr>
          <p:spPr>
            <a:xfrm>
              <a:off x="4115" y="2519"/>
              <a:ext cx="864" cy="601"/>
            </a:xfrm>
            <a:prstGeom prst="line">
              <a:avLst/>
            </a:prstGeom>
            <a:ln w="9525" cap="flat" cmpd="sng">
              <a:solidFill>
                <a:srgbClr val="FF0066"/>
              </a:solidFill>
              <a:prstDash val="solid"/>
              <a:round/>
              <a:headEnd type="none" w="med" len="med"/>
              <a:tailEnd type="triangle" w="med" len="med"/>
            </a:ln>
          </p:spPr>
        </p:sp>
        <p:sp>
          <p:nvSpPr>
            <p:cNvPr id="355" name="Line 96"/>
            <p:cNvSpPr/>
            <p:nvPr/>
          </p:nvSpPr>
          <p:spPr>
            <a:xfrm>
              <a:off x="3884" y="2511"/>
              <a:ext cx="173" cy="625"/>
            </a:xfrm>
            <a:prstGeom prst="line">
              <a:avLst/>
            </a:prstGeom>
            <a:ln w="9525" cap="flat" cmpd="sng">
              <a:solidFill>
                <a:srgbClr val="FF0066"/>
              </a:solidFill>
              <a:prstDash val="solid"/>
              <a:round/>
              <a:headEnd type="none" w="med" len="med"/>
              <a:tailEnd type="triangle" w="med" len="med"/>
            </a:ln>
          </p:spPr>
        </p:sp>
        <p:sp>
          <p:nvSpPr>
            <p:cNvPr id="356" name="Line 97"/>
            <p:cNvSpPr/>
            <p:nvPr/>
          </p:nvSpPr>
          <p:spPr>
            <a:xfrm flipH="1">
              <a:off x="3136" y="2519"/>
              <a:ext cx="559" cy="601"/>
            </a:xfrm>
            <a:prstGeom prst="line">
              <a:avLst/>
            </a:prstGeom>
            <a:ln w="9525" cap="flat" cmpd="sng">
              <a:solidFill>
                <a:srgbClr val="FF0066"/>
              </a:solidFill>
              <a:prstDash val="solid"/>
              <a:round/>
              <a:headEnd type="none" w="med" len="med"/>
              <a:tailEnd type="triangle" w="med" len="med"/>
            </a:ln>
          </p:spPr>
        </p:sp>
        <p:sp>
          <p:nvSpPr>
            <p:cNvPr id="357" name="Line 98"/>
            <p:cNvSpPr/>
            <p:nvPr/>
          </p:nvSpPr>
          <p:spPr>
            <a:xfrm flipH="1">
              <a:off x="2362" y="2527"/>
              <a:ext cx="1078" cy="593"/>
            </a:xfrm>
            <a:prstGeom prst="line">
              <a:avLst/>
            </a:prstGeom>
            <a:ln w="9525" cap="flat" cmpd="sng">
              <a:solidFill>
                <a:srgbClr val="FF0066"/>
              </a:solidFill>
              <a:prstDash val="solid"/>
              <a:round/>
              <a:headEnd type="none" w="med" len="med"/>
              <a:tailEnd type="triangle" w="med" len="med"/>
            </a:ln>
          </p:spPr>
        </p:sp>
      </p:grpSp>
      <p:grpSp>
        <p:nvGrpSpPr>
          <p:cNvPr id="358" name="Group 99"/>
          <p:cNvGrpSpPr/>
          <p:nvPr/>
        </p:nvGrpSpPr>
        <p:grpSpPr>
          <a:xfrm>
            <a:off x="1816466" y="3724275"/>
            <a:ext cx="1606550" cy="704850"/>
            <a:chOff x="420" y="2502"/>
            <a:chExt cx="1012" cy="626"/>
          </a:xfrm>
        </p:grpSpPr>
        <p:sp>
          <p:nvSpPr>
            <p:cNvPr id="359" name="Line 100"/>
            <p:cNvSpPr/>
            <p:nvPr/>
          </p:nvSpPr>
          <p:spPr>
            <a:xfrm flipH="1">
              <a:off x="1276" y="2519"/>
              <a:ext cx="156" cy="601"/>
            </a:xfrm>
            <a:prstGeom prst="line">
              <a:avLst/>
            </a:prstGeom>
            <a:ln w="9525" cap="flat" cmpd="sng">
              <a:solidFill>
                <a:srgbClr val="FF0066"/>
              </a:solidFill>
              <a:prstDash val="solid"/>
              <a:round/>
              <a:headEnd type="none" w="med" len="med"/>
              <a:tailEnd type="triangle" w="med" len="med"/>
            </a:ln>
          </p:spPr>
        </p:sp>
        <p:sp>
          <p:nvSpPr>
            <p:cNvPr id="360" name="Line 101"/>
            <p:cNvSpPr/>
            <p:nvPr/>
          </p:nvSpPr>
          <p:spPr>
            <a:xfrm flipH="1">
              <a:off x="420" y="2502"/>
              <a:ext cx="848" cy="626"/>
            </a:xfrm>
            <a:prstGeom prst="line">
              <a:avLst/>
            </a:prstGeom>
            <a:ln w="9525" cap="flat" cmpd="sng">
              <a:solidFill>
                <a:srgbClr val="FF0066"/>
              </a:solidFill>
              <a:prstDash val="solid"/>
              <a:round/>
              <a:headEnd type="none" w="med" len="med"/>
              <a:tailEnd type="triangle" w="med" len="med"/>
            </a:ln>
          </p:spPr>
        </p:sp>
      </p:grpSp>
      <p:grpSp>
        <p:nvGrpSpPr>
          <p:cNvPr id="361" name="Group 102"/>
          <p:cNvGrpSpPr/>
          <p:nvPr/>
        </p:nvGrpSpPr>
        <p:grpSpPr>
          <a:xfrm>
            <a:off x="3488104" y="2527300"/>
            <a:ext cx="3227387" cy="627063"/>
            <a:chOff x="1473" y="1700"/>
            <a:chExt cx="2033" cy="625"/>
          </a:xfrm>
        </p:grpSpPr>
        <p:sp>
          <p:nvSpPr>
            <p:cNvPr id="362" name="Line 103"/>
            <p:cNvSpPr/>
            <p:nvPr/>
          </p:nvSpPr>
          <p:spPr>
            <a:xfrm flipH="1">
              <a:off x="1473" y="1700"/>
              <a:ext cx="593" cy="625"/>
            </a:xfrm>
            <a:prstGeom prst="line">
              <a:avLst/>
            </a:prstGeom>
            <a:ln w="9525" cap="flat" cmpd="sng">
              <a:solidFill>
                <a:srgbClr val="FF0066"/>
              </a:solidFill>
              <a:prstDash val="solid"/>
              <a:round/>
              <a:headEnd type="none" w="med" len="med"/>
              <a:tailEnd type="triangle" w="med" len="med"/>
            </a:ln>
          </p:spPr>
        </p:sp>
        <p:sp>
          <p:nvSpPr>
            <p:cNvPr id="363" name="Line 104"/>
            <p:cNvSpPr/>
            <p:nvPr/>
          </p:nvSpPr>
          <p:spPr>
            <a:xfrm>
              <a:off x="2272" y="1716"/>
              <a:ext cx="1234" cy="601"/>
            </a:xfrm>
            <a:prstGeom prst="line">
              <a:avLst/>
            </a:prstGeom>
            <a:ln w="9525" cap="flat" cmpd="sng">
              <a:solidFill>
                <a:srgbClr val="FF0066"/>
              </a:solidFill>
              <a:prstDash val="solid"/>
              <a:round/>
              <a:headEnd type="none" w="med" len="med"/>
              <a:tailEnd type="triangle" w="med" len="med"/>
            </a:ln>
          </p:spPr>
        </p:sp>
      </p:grpSp>
      <p:sp>
        <p:nvSpPr>
          <p:cNvPr id="364" name="Line 105"/>
          <p:cNvSpPr/>
          <p:nvPr/>
        </p:nvSpPr>
        <p:spPr>
          <a:xfrm>
            <a:off x="1333866" y="3957638"/>
            <a:ext cx="8699500" cy="0"/>
          </a:xfrm>
          <a:prstGeom prst="line">
            <a:avLst/>
          </a:prstGeom>
          <a:ln w="9525" cap="flat" cmpd="sng">
            <a:solidFill>
              <a:srgbClr val="FF0066"/>
            </a:solidFill>
            <a:prstDash val="dash"/>
            <a:round/>
            <a:headEnd type="none" w="med" len="med"/>
            <a:tailEnd type="none" w="med" len="med"/>
          </a:ln>
        </p:spPr>
      </p:sp>
      <p:sp>
        <p:nvSpPr>
          <p:cNvPr id="365" name="Line 106"/>
          <p:cNvSpPr/>
          <p:nvPr/>
        </p:nvSpPr>
        <p:spPr>
          <a:xfrm>
            <a:off x="1489441" y="4991100"/>
            <a:ext cx="0" cy="365125"/>
          </a:xfrm>
          <a:prstGeom prst="line">
            <a:avLst/>
          </a:prstGeom>
          <a:ln w="9525" cap="flat" cmpd="sng">
            <a:solidFill>
              <a:srgbClr val="FF0066"/>
            </a:solidFill>
            <a:prstDash val="solid"/>
            <a:round/>
            <a:headEnd type="none" w="med" len="med"/>
            <a:tailEnd type="triangle" w="med" len="med"/>
          </a:ln>
        </p:spPr>
      </p:sp>
      <p:sp>
        <p:nvSpPr>
          <p:cNvPr id="366" name="Line 107"/>
          <p:cNvSpPr/>
          <p:nvPr/>
        </p:nvSpPr>
        <p:spPr>
          <a:xfrm>
            <a:off x="1768841" y="4991100"/>
            <a:ext cx="0" cy="365125"/>
          </a:xfrm>
          <a:prstGeom prst="line">
            <a:avLst/>
          </a:prstGeom>
          <a:ln w="9525" cap="flat" cmpd="sng">
            <a:solidFill>
              <a:srgbClr val="FF0066"/>
            </a:solidFill>
            <a:prstDash val="solid"/>
            <a:round/>
            <a:headEnd type="none" w="med" len="med"/>
            <a:tailEnd type="triangle" w="med" len="med"/>
          </a:ln>
        </p:spPr>
      </p:sp>
      <p:sp>
        <p:nvSpPr>
          <p:cNvPr id="367" name="Line 108"/>
          <p:cNvSpPr/>
          <p:nvPr/>
        </p:nvSpPr>
        <p:spPr>
          <a:xfrm>
            <a:off x="2086341" y="4991100"/>
            <a:ext cx="0" cy="365125"/>
          </a:xfrm>
          <a:prstGeom prst="line">
            <a:avLst/>
          </a:prstGeom>
          <a:ln w="9525" cap="flat" cmpd="sng">
            <a:solidFill>
              <a:srgbClr val="FF0066"/>
            </a:solidFill>
            <a:prstDash val="solid"/>
            <a:round/>
            <a:headEnd type="none" w="med" len="med"/>
            <a:tailEnd type="triangle" w="med" len="med"/>
          </a:ln>
        </p:spPr>
      </p:sp>
      <p:sp>
        <p:nvSpPr>
          <p:cNvPr id="368" name="Line 109"/>
          <p:cNvSpPr/>
          <p:nvPr/>
        </p:nvSpPr>
        <p:spPr>
          <a:xfrm>
            <a:off x="2443529" y="4964113"/>
            <a:ext cx="377825" cy="0"/>
          </a:xfrm>
          <a:prstGeom prst="line">
            <a:avLst/>
          </a:prstGeom>
          <a:ln w="9525" cap="flat" cmpd="sng">
            <a:solidFill>
              <a:srgbClr val="FF0066"/>
            </a:solidFill>
            <a:prstDash val="solid"/>
            <a:round/>
            <a:headEnd type="none" w="med" len="med"/>
            <a:tailEnd type="triangle" w="med" len="med"/>
          </a:ln>
        </p:spPr>
      </p:sp>
      <p:sp>
        <p:nvSpPr>
          <p:cNvPr id="369" name="Line 110"/>
          <p:cNvSpPr/>
          <p:nvPr/>
        </p:nvSpPr>
        <p:spPr>
          <a:xfrm>
            <a:off x="2962641" y="4991100"/>
            <a:ext cx="0" cy="365125"/>
          </a:xfrm>
          <a:prstGeom prst="line">
            <a:avLst/>
          </a:prstGeom>
          <a:ln w="9525" cap="flat" cmpd="sng">
            <a:solidFill>
              <a:srgbClr val="FF0066"/>
            </a:solidFill>
            <a:prstDash val="solid"/>
            <a:round/>
            <a:headEnd type="none" w="med" len="med"/>
            <a:tailEnd type="triangle" w="med" len="med"/>
          </a:ln>
        </p:spPr>
      </p:sp>
      <p:sp>
        <p:nvSpPr>
          <p:cNvPr id="370" name="Line 111"/>
          <p:cNvSpPr/>
          <p:nvPr/>
        </p:nvSpPr>
        <p:spPr>
          <a:xfrm>
            <a:off x="3242041" y="4991100"/>
            <a:ext cx="0" cy="365125"/>
          </a:xfrm>
          <a:prstGeom prst="line">
            <a:avLst/>
          </a:prstGeom>
          <a:ln w="9525" cap="flat" cmpd="sng">
            <a:solidFill>
              <a:srgbClr val="FF0066"/>
            </a:solidFill>
            <a:prstDash val="solid"/>
            <a:round/>
            <a:headEnd type="none" w="med" len="med"/>
            <a:tailEnd type="triangle" w="med" len="med"/>
          </a:ln>
        </p:spPr>
      </p:sp>
      <p:sp>
        <p:nvSpPr>
          <p:cNvPr id="371" name="Line 112"/>
          <p:cNvSpPr/>
          <p:nvPr/>
        </p:nvSpPr>
        <p:spPr>
          <a:xfrm>
            <a:off x="3916729" y="4976813"/>
            <a:ext cx="377825" cy="0"/>
          </a:xfrm>
          <a:prstGeom prst="line">
            <a:avLst/>
          </a:prstGeom>
          <a:ln w="9525" cap="flat" cmpd="sng">
            <a:solidFill>
              <a:srgbClr val="FF0066"/>
            </a:solidFill>
            <a:prstDash val="solid"/>
            <a:round/>
            <a:headEnd type="none" w="med" len="med"/>
            <a:tailEnd type="triangle" w="med" len="med"/>
          </a:ln>
        </p:spPr>
      </p:sp>
      <p:sp>
        <p:nvSpPr>
          <p:cNvPr id="372" name="Line 113"/>
          <p:cNvSpPr/>
          <p:nvPr/>
        </p:nvSpPr>
        <p:spPr>
          <a:xfrm>
            <a:off x="4461241" y="4991100"/>
            <a:ext cx="0" cy="365125"/>
          </a:xfrm>
          <a:prstGeom prst="line">
            <a:avLst/>
          </a:prstGeom>
          <a:ln w="9525" cap="flat" cmpd="sng">
            <a:solidFill>
              <a:srgbClr val="FF0066"/>
            </a:solidFill>
            <a:prstDash val="solid"/>
            <a:round/>
            <a:headEnd type="none" w="med" len="med"/>
            <a:tailEnd type="triangle" w="med" len="med"/>
          </a:ln>
        </p:spPr>
      </p:sp>
      <p:sp>
        <p:nvSpPr>
          <p:cNvPr id="373" name="Line 114"/>
          <p:cNvSpPr/>
          <p:nvPr/>
        </p:nvSpPr>
        <p:spPr>
          <a:xfrm>
            <a:off x="4753341" y="4991100"/>
            <a:ext cx="0" cy="365125"/>
          </a:xfrm>
          <a:prstGeom prst="line">
            <a:avLst/>
          </a:prstGeom>
          <a:ln w="9525" cap="flat" cmpd="sng">
            <a:solidFill>
              <a:srgbClr val="FF0066"/>
            </a:solidFill>
            <a:prstDash val="solid"/>
            <a:round/>
            <a:headEnd type="none" w="med" len="med"/>
            <a:tailEnd type="triangle" w="med" len="med"/>
          </a:ln>
        </p:spPr>
      </p:sp>
      <p:sp>
        <p:nvSpPr>
          <p:cNvPr id="374" name="Line 115"/>
          <p:cNvSpPr/>
          <p:nvPr/>
        </p:nvSpPr>
        <p:spPr>
          <a:xfrm>
            <a:off x="5058141" y="4991100"/>
            <a:ext cx="0" cy="365125"/>
          </a:xfrm>
          <a:prstGeom prst="line">
            <a:avLst/>
          </a:prstGeom>
          <a:ln w="9525" cap="flat" cmpd="sng">
            <a:solidFill>
              <a:srgbClr val="FF0066"/>
            </a:solidFill>
            <a:prstDash val="solid"/>
            <a:round/>
            <a:headEnd type="none" w="med" len="med"/>
            <a:tailEnd type="triangle" w="med" len="med"/>
          </a:ln>
        </p:spPr>
      </p:sp>
      <p:sp>
        <p:nvSpPr>
          <p:cNvPr id="375" name="Line 116"/>
          <p:cNvSpPr/>
          <p:nvPr/>
        </p:nvSpPr>
        <p:spPr>
          <a:xfrm>
            <a:off x="5415329" y="4976813"/>
            <a:ext cx="377825" cy="0"/>
          </a:xfrm>
          <a:prstGeom prst="line">
            <a:avLst/>
          </a:prstGeom>
          <a:ln w="9525" cap="flat" cmpd="sng">
            <a:solidFill>
              <a:srgbClr val="FF0066"/>
            </a:solidFill>
            <a:prstDash val="solid"/>
            <a:round/>
            <a:headEnd type="none" w="med" len="med"/>
            <a:tailEnd type="triangle" w="med" len="med"/>
          </a:ln>
        </p:spPr>
      </p:sp>
      <p:sp>
        <p:nvSpPr>
          <p:cNvPr id="376" name="Line 117"/>
          <p:cNvSpPr/>
          <p:nvPr/>
        </p:nvSpPr>
        <p:spPr>
          <a:xfrm>
            <a:off x="5934441" y="4991100"/>
            <a:ext cx="0" cy="365125"/>
          </a:xfrm>
          <a:prstGeom prst="line">
            <a:avLst/>
          </a:prstGeom>
          <a:ln w="9525" cap="flat" cmpd="sng">
            <a:solidFill>
              <a:srgbClr val="FF0066"/>
            </a:solidFill>
            <a:prstDash val="solid"/>
            <a:round/>
            <a:headEnd type="none" w="med" len="med"/>
            <a:tailEnd type="triangle" w="med" len="med"/>
          </a:ln>
        </p:spPr>
      </p:sp>
      <p:sp>
        <p:nvSpPr>
          <p:cNvPr id="377" name="Line 118"/>
          <p:cNvSpPr/>
          <p:nvPr/>
        </p:nvSpPr>
        <p:spPr>
          <a:xfrm>
            <a:off x="6213841" y="4991100"/>
            <a:ext cx="0" cy="365125"/>
          </a:xfrm>
          <a:prstGeom prst="line">
            <a:avLst/>
          </a:prstGeom>
          <a:ln w="9525" cap="flat" cmpd="sng">
            <a:solidFill>
              <a:srgbClr val="FF0066"/>
            </a:solidFill>
            <a:prstDash val="solid"/>
            <a:round/>
            <a:headEnd type="none" w="med" len="med"/>
            <a:tailEnd type="triangle" w="med" len="med"/>
          </a:ln>
        </p:spPr>
      </p:sp>
      <p:sp>
        <p:nvSpPr>
          <p:cNvPr id="378" name="Line 119"/>
          <p:cNvSpPr/>
          <p:nvPr/>
        </p:nvSpPr>
        <p:spPr>
          <a:xfrm>
            <a:off x="6888529" y="4976813"/>
            <a:ext cx="377825" cy="0"/>
          </a:xfrm>
          <a:prstGeom prst="line">
            <a:avLst/>
          </a:prstGeom>
          <a:ln w="9525" cap="flat" cmpd="sng">
            <a:solidFill>
              <a:srgbClr val="FF0066"/>
            </a:solidFill>
            <a:prstDash val="solid"/>
            <a:round/>
            <a:headEnd type="none" w="med" len="med"/>
            <a:tailEnd type="triangle" w="med" len="med"/>
          </a:ln>
        </p:spPr>
      </p:sp>
      <p:sp>
        <p:nvSpPr>
          <p:cNvPr id="379" name="Line 120"/>
          <p:cNvSpPr/>
          <p:nvPr/>
        </p:nvSpPr>
        <p:spPr>
          <a:xfrm>
            <a:off x="7445741" y="4991100"/>
            <a:ext cx="0" cy="365125"/>
          </a:xfrm>
          <a:prstGeom prst="line">
            <a:avLst/>
          </a:prstGeom>
          <a:ln w="9525" cap="flat" cmpd="sng">
            <a:solidFill>
              <a:srgbClr val="FF0066"/>
            </a:solidFill>
            <a:prstDash val="solid"/>
            <a:round/>
            <a:headEnd type="none" w="med" len="med"/>
            <a:tailEnd type="triangle" w="med" len="med"/>
          </a:ln>
        </p:spPr>
      </p:sp>
      <p:sp>
        <p:nvSpPr>
          <p:cNvPr id="380" name="Line 121"/>
          <p:cNvSpPr/>
          <p:nvPr/>
        </p:nvSpPr>
        <p:spPr>
          <a:xfrm>
            <a:off x="7725141" y="4991100"/>
            <a:ext cx="0" cy="365125"/>
          </a:xfrm>
          <a:prstGeom prst="line">
            <a:avLst/>
          </a:prstGeom>
          <a:ln w="9525" cap="flat" cmpd="sng">
            <a:solidFill>
              <a:srgbClr val="FF0066"/>
            </a:solidFill>
            <a:prstDash val="solid"/>
            <a:round/>
            <a:headEnd type="none" w="med" len="med"/>
            <a:tailEnd type="triangle" w="med" len="med"/>
          </a:ln>
        </p:spPr>
      </p:sp>
      <p:sp>
        <p:nvSpPr>
          <p:cNvPr id="381" name="Line 122"/>
          <p:cNvSpPr/>
          <p:nvPr/>
        </p:nvSpPr>
        <p:spPr>
          <a:xfrm>
            <a:off x="8042641" y="4991100"/>
            <a:ext cx="0" cy="365125"/>
          </a:xfrm>
          <a:prstGeom prst="line">
            <a:avLst/>
          </a:prstGeom>
          <a:ln w="9525" cap="flat" cmpd="sng">
            <a:solidFill>
              <a:srgbClr val="FF0066"/>
            </a:solidFill>
            <a:prstDash val="solid"/>
            <a:round/>
            <a:headEnd type="none" w="med" len="med"/>
            <a:tailEnd type="triangle" w="med" len="med"/>
          </a:ln>
        </p:spPr>
      </p:sp>
      <p:sp>
        <p:nvSpPr>
          <p:cNvPr id="382" name="Line 123"/>
          <p:cNvSpPr/>
          <p:nvPr/>
        </p:nvSpPr>
        <p:spPr>
          <a:xfrm>
            <a:off x="8399829" y="4976813"/>
            <a:ext cx="377825" cy="0"/>
          </a:xfrm>
          <a:prstGeom prst="line">
            <a:avLst/>
          </a:prstGeom>
          <a:ln w="9525" cap="flat" cmpd="sng">
            <a:solidFill>
              <a:srgbClr val="FF0066"/>
            </a:solidFill>
            <a:prstDash val="solid"/>
            <a:round/>
            <a:headEnd type="none" w="med" len="med"/>
            <a:tailEnd type="triangle" w="med" len="med"/>
          </a:ln>
        </p:spPr>
      </p:sp>
      <p:sp>
        <p:nvSpPr>
          <p:cNvPr id="383" name="Line 124"/>
          <p:cNvSpPr/>
          <p:nvPr/>
        </p:nvSpPr>
        <p:spPr>
          <a:xfrm>
            <a:off x="8918941" y="4978400"/>
            <a:ext cx="0" cy="365125"/>
          </a:xfrm>
          <a:prstGeom prst="line">
            <a:avLst/>
          </a:prstGeom>
          <a:ln w="9525" cap="flat" cmpd="sng">
            <a:solidFill>
              <a:srgbClr val="FF0066"/>
            </a:solidFill>
            <a:prstDash val="solid"/>
            <a:round/>
            <a:headEnd type="none" w="med" len="med"/>
            <a:tailEnd type="triangle" w="med" len="med"/>
          </a:ln>
        </p:spPr>
      </p:sp>
      <p:sp>
        <p:nvSpPr>
          <p:cNvPr id="384" name="Line 125"/>
          <p:cNvSpPr/>
          <p:nvPr/>
        </p:nvSpPr>
        <p:spPr>
          <a:xfrm>
            <a:off x="9198341" y="4978400"/>
            <a:ext cx="0" cy="365125"/>
          </a:xfrm>
          <a:prstGeom prst="line">
            <a:avLst/>
          </a:prstGeom>
          <a:ln w="9525" cap="flat" cmpd="sng">
            <a:solidFill>
              <a:srgbClr val="FF0066"/>
            </a:solidFill>
            <a:prstDash val="solid"/>
            <a:round/>
            <a:headEnd type="none" w="med" len="med"/>
            <a:tailEnd type="triangle" w="med" len="med"/>
          </a:ln>
        </p:spPr>
      </p:sp>
      <p:grpSp>
        <p:nvGrpSpPr>
          <p:cNvPr id="385" name="Group 126"/>
          <p:cNvGrpSpPr/>
          <p:nvPr/>
        </p:nvGrpSpPr>
        <p:grpSpPr>
          <a:xfrm>
            <a:off x="6502766" y="5654675"/>
            <a:ext cx="1238250" cy="695325"/>
            <a:chOff x="856" y="1440"/>
            <a:chExt cx="1291" cy="667"/>
          </a:xfrm>
        </p:grpSpPr>
        <p:sp>
          <p:nvSpPr>
            <p:cNvPr id="386" name="Rectangle 127"/>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87" name="Line 128"/>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388" name="Line 129"/>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389" name="Line 130"/>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390" name="Line 131"/>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391" name="Line 132"/>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392" name="Line 133"/>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393" name="Text Box 134"/>
          <p:cNvSpPr txBox="1"/>
          <p:nvPr/>
        </p:nvSpPr>
        <p:spPr>
          <a:xfrm>
            <a:off x="6466254" y="56388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394" name="Text Box 135"/>
          <p:cNvSpPr txBox="1"/>
          <p:nvPr/>
        </p:nvSpPr>
        <p:spPr>
          <a:xfrm>
            <a:off x="6885354" y="56388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395" name="Line 136"/>
          <p:cNvSpPr/>
          <p:nvPr/>
        </p:nvSpPr>
        <p:spPr>
          <a:xfrm>
            <a:off x="6669454" y="6213475"/>
            <a:ext cx="0" cy="365125"/>
          </a:xfrm>
          <a:prstGeom prst="line">
            <a:avLst/>
          </a:prstGeom>
          <a:ln w="9525" cap="flat" cmpd="sng">
            <a:solidFill>
              <a:srgbClr val="FF3399"/>
            </a:solidFill>
            <a:prstDash val="solid"/>
            <a:round/>
            <a:headEnd type="none" w="med" len="med"/>
            <a:tailEnd type="triangle" w="med" len="med"/>
          </a:ln>
        </p:spPr>
      </p:sp>
      <p:sp>
        <p:nvSpPr>
          <p:cNvPr id="396" name="Line 137"/>
          <p:cNvSpPr/>
          <p:nvPr/>
        </p:nvSpPr>
        <p:spPr>
          <a:xfrm>
            <a:off x="6948854" y="6213475"/>
            <a:ext cx="0" cy="365125"/>
          </a:xfrm>
          <a:prstGeom prst="line">
            <a:avLst/>
          </a:prstGeom>
          <a:ln w="9525" cap="flat" cmpd="sng">
            <a:solidFill>
              <a:srgbClr val="FF3399"/>
            </a:solidFill>
            <a:prstDash val="solid"/>
            <a:round/>
            <a:headEnd type="none" w="med" len="med"/>
            <a:tailEnd type="triangle" w="med" len="med"/>
          </a:ln>
        </p:spPr>
      </p:sp>
      <p:sp>
        <p:nvSpPr>
          <p:cNvPr id="397" name="Line 138"/>
          <p:cNvSpPr/>
          <p:nvPr/>
        </p:nvSpPr>
        <p:spPr>
          <a:xfrm>
            <a:off x="7648941" y="6189663"/>
            <a:ext cx="377825" cy="0"/>
          </a:xfrm>
          <a:prstGeom prst="line">
            <a:avLst/>
          </a:prstGeom>
          <a:ln w="38100" cap="flat" cmpd="sng">
            <a:solidFill>
              <a:srgbClr val="6666FF"/>
            </a:solidFill>
            <a:prstDash val="solid"/>
            <a:round/>
            <a:headEnd type="none" w="med" len="med"/>
            <a:tailEnd type="triangle" w="med" len="med"/>
          </a:ln>
        </p:spPr>
      </p:sp>
      <p:grpSp>
        <p:nvGrpSpPr>
          <p:cNvPr id="398" name="Group 139"/>
          <p:cNvGrpSpPr/>
          <p:nvPr/>
        </p:nvGrpSpPr>
        <p:grpSpPr>
          <a:xfrm>
            <a:off x="8039466" y="5661025"/>
            <a:ext cx="1238250" cy="695325"/>
            <a:chOff x="856" y="1440"/>
            <a:chExt cx="1291" cy="667"/>
          </a:xfrm>
        </p:grpSpPr>
        <p:sp>
          <p:nvSpPr>
            <p:cNvPr id="399" name="Rectangle 140"/>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00" name="Line 141"/>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401" name="Line 142"/>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402" name="Line 143"/>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403" name="Line 144"/>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404" name="Line 145"/>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405" name="Line 146"/>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406" name="Text Box 147"/>
          <p:cNvSpPr txBox="1"/>
          <p:nvPr/>
        </p:nvSpPr>
        <p:spPr>
          <a:xfrm>
            <a:off x="8002954" y="5645150"/>
            <a:ext cx="542925" cy="366713"/>
          </a:xfrm>
          <a:prstGeom prst="rect">
            <a:avLst/>
          </a:prstGeom>
          <a:noFill/>
          <a:ln w="9525">
            <a:noFill/>
          </a:ln>
        </p:spPr>
        <p:txBody>
          <a:bodyPr anchor="t">
            <a:spAutoFit/>
          </a:bodyPr>
          <a:lstStyle/>
          <a:p>
            <a:pPr algn="ctr"/>
            <a:r>
              <a:rPr lang="en-US" altLang="zh-CN" sz="1800" dirty="0">
                <a:solidFill>
                  <a:schemeClr val="accent2"/>
                </a:solidFill>
                <a:latin typeface="Times New Roman" panose="02020603050405020304" pitchFamily="18" charset="0"/>
                <a:ea typeface="楷体_GB2312" pitchFamily="49" charset="-122"/>
              </a:rPr>
              <a:t>40</a:t>
            </a:r>
            <a:endParaRPr lang="en-US" altLang="zh-CN" sz="1800" dirty="0">
              <a:solidFill>
                <a:schemeClr val="accent2"/>
              </a:solidFill>
              <a:latin typeface="Times New Roman" panose="02020603050405020304" pitchFamily="18" charset="0"/>
              <a:ea typeface="楷体_GB2312" pitchFamily="49" charset="-122"/>
            </a:endParaRPr>
          </a:p>
        </p:txBody>
      </p:sp>
      <p:sp>
        <p:nvSpPr>
          <p:cNvPr id="407" name="Text Box 148"/>
          <p:cNvSpPr txBox="1"/>
          <p:nvPr/>
        </p:nvSpPr>
        <p:spPr>
          <a:xfrm>
            <a:off x="8422054" y="565943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408" name="Line 149"/>
          <p:cNvSpPr/>
          <p:nvPr/>
        </p:nvSpPr>
        <p:spPr>
          <a:xfrm>
            <a:off x="8206154" y="6219825"/>
            <a:ext cx="0" cy="365125"/>
          </a:xfrm>
          <a:prstGeom prst="line">
            <a:avLst/>
          </a:prstGeom>
          <a:ln w="38100" cap="flat" cmpd="sng">
            <a:solidFill>
              <a:srgbClr val="6666FF"/>
            </a:solidFill>
            <a:prstDash val="solid"/>
            <a:round/>
            <a:headEnd type="none" w="med" len="med"/>
            <a:tailEnd type="triangle" w="med" len="med"/>
          </a:ln>
        </p:spPr>
      </p:sp>
      <p:sp>
        <p:nvSpPr>
          <p:cNvPr id="409" name="Line 150"/>
          <p:cNvSpPr/>
          <p:nvPr/>
        </p:nvSpPr>
        <p:spPr>
          <a:xfrm>
            <a:off x="8485554" y="6219825"/>
            <a:ext cx="0" cy="365125"/>
          </a:xfrm>
          <a:prstGeom prst="line">
            <a:avLst/>
          </a:prstGeom>
          <a:ln w="9525" cap="flat" cmpd="sng">
            <a:solidFill>
              <a:srgbClr val="FF3399"/>
            </a:solidFill>
            <a:prstDash val="solid"/>
            <a:round/>
            <a:headEnd type="none" w="med" len="med"/>
            <a:tailEnd type="triangle" w="med" len="med"/>
          </a:ln>
        </p:spPr>
      </p:sp>
      <p:sp>
        <p:nvSpPr>
          <p:cNvPr id="410" name="Freeform 153"/>
          <p:cNvSpPr/>
          <p:nvPr/>
        </p:nvSpPr>
        <p:spPr>
          <a:xfrm>
            <a:off x="6040804" y="4970463"/>
            <a:ext cx="1033462" cy="914400"/>
          </a:xfrm>
          <a:custGeom>
            <a:avLst/>
            <a:gdLst/>
            <a:ahLst/>
            <a:cxnLst>
              <a:cxn ang="0">
                <a:pos x="523" y="0"/>
              </a:cxn>
              <a:cxn ang="0">
                <a:pos x="581" y="197"/>
              </a:cxn>
              <a:cxn ang="0">
                <a:pos x="103" y="378"/>
              </a:cxn>
              <a:cxn ang="0">
                <a:pos x="29" y="543"/>
              </a:cxn>
              <a:cxn ang="0">
                <a:pos x="276" y="576"/>
              </a:cxn>
            </a:cxnLst>
            <a:rect l="0" t="0" r="0" b="0"/>
            <a:pathLst>
              <a:path w="651" h="576">
                <a:moveTo>
                  <a:pt x="523" y="0"/>
                </a:moveTo>
                <a:cubicBezTo>
                  <a:pt x="533" y="33"/>
                  <a:pt x="651" y="134"/>
                  <a:pt x="581" y="197"/>
                </a:cubicBezTo>
                <a:cubicBezTo>
                  <a:pt x="511" y="260"/>
                  <a:pt x="195" y="320"/>
                  <a:pt x="103" y="378"/>
                </a:cubicBezTo>
                <a:cubicBezTo>
                  <a:pt x="11" y="436"/>
                  <a:pt x="0" y="510"/>
                  <a:pt x="29" y="543"/>
                </a:cubicBezTo>
                <a:cubicBezTo>
                  <a:pt x="58" y="576"/>
                  <a:pt x="225" y="569"/>
                  <a:pt x="276" y="576"/>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411" name="Freeform 154"/>
          <p:cNvSpPr/>
          <p:nvPr/>
        </p:nvSpPr>
        <p:spPr>
          <a:xfrm>
            <a:off x="8574454" y="4995863"/>
            <a:ext cx="947737" cy="1198562"/>
          </a:xfrm>
          <a:custGeom>
            <a:avLst/>
            <a:gdLst/>
            <a:ahLst/>
            <a:cxnLst>
              <a:cxn ang="0">
                <a:pos x="346" y="755"/>
              </a:cxn>
              <a:cxn ang="0">
                <a:pos x="581" y="597"/>
              </a:cxn>
              <a:cxn ang="0">
                <a:pos x="441" y="336"/>
              </a:cxn>
              <a:cxn ang="0">
                <a:pos x="96" y="259"/>
              </a:cxn>
              <a:cxn ang="0">
                <a:pos x="5" y="77"/>
              </a:cxn>
              <a:cxn ang="0">
                <a:pos x="128" y="0"/>
              </a:cxn>
            </a:cxnLst>
            <a:rect l="0" t="0" r="0" b="0"/>
            <a:pathLst>
              <a:path w="597" h="755">
                <a:moveTo>
                  <a:pt x="346" y="755"/>
                </a:moveTo>
                <a:cubicBezTo>
                  <a:pt x="383" y="729"/>
                  <a:pt x="565" y="667"/>
                  <a:pt x="581" y="597"/>
                </a:cubicBezTo>
                <a:cubicBezTo>
                  <a:pt x="597" y="527"/>
                  <a:pt x="522" y="393"/>
                  <a:pt x="441" y="336"/>
                </a:cubicBezTo>
                <a:cubicBezTo>
                  <a:pt x="360" y="280"/>
                  <a:pt x="169" y="302"/>
                  <a:pt x="96" y="259"/>
                </a:cubicBezTo>
                <a:cubicBezTo>
                  <a:pt x="23" y="216"/>
                  <a:pt x="0" y="120"/>
                  <a:pt x="5" y="77"/>
                </a:cubicBezTo>
                <a:cubicBezTo>
                  <a:pt x="10" y="35"/>
                  <a:pt x="69" y="17"/>
                  <a:pt x="128" y="0"/>
                </a:cubicBezTo>
              </a:path>
            </a:pathLst>
          </a:custGeom>
          <a:noFill/>
          <a:ln w="38100" cap="flat" cmpd="sng">
            <a:solidFill>
              <a:srgbClr val="6666FF"/>
            </a:solidFill>
            <a:prstDash val="solid"/>
            <a:round/>
            <a:headEnd type="none" w="med" len="med"/>
            <a:tailEnd type="triangle" w="med" len="med"/>
          </a:ln>
        </p:spPr>
        <p:txBody>
          <a:bodyPr/>
          <a:lstStyle/>
          <a:p>
            <a:endParaRPr lang="zh-CN" altLang="en-US"/>
          </a:p>
        </p:txBody>
      </p:sp>
      <p:sp>
        <p:nvSpPr>
          <p:cNvPr id="412" name="Freeform 155"/>
          <p:cNvSpPr/>
          <p:nvPr/>
        </p:nvSpPr>
        <p:spPr>
          <a:xfrm>
            <a:off x="7086966" y="3716338"/>
            <a:ext cx="227013" cy="1919287"/>
          </a:xfrm>
          <a:custGeom>
            <a:avLst/>
            <a:gdLst/>
            <a:ahLst/>
            <a:cxnLst>
              <a:cxn ang="0">
                <a:pos x="111" y="0"/>
              </a:cxn>
              <a:cxn ang="0">
                <a:pos x="127" y="345"/>
              </a:cxn>
              <a:cxn ang="0">
                <a:pos x="12" y="699"/>
              </a:cxn>
              <a:cxn ang="0">
                <a:pos x="53" y="1209"/>
              </a:cxn>
            </a:cxnLst>
            <a:rect l="0" t="0" r="0" b="0"/>
            <a:pathLst>
              <a:path w="143" h="1209">
                <a:moveTo>
                  <a:pt x="111" y="0"/>
                </a:moveTo>
                <a:cubicBezTo>
                  <a:pt x="127" y="114"/>
                  <a:pt x="143" y="229"/>
                  <a:pt x="127" y="345"/>
                </a:cubicBezTo>
                <a:cubicBezTo>
                  <a:pt x="111" y="461"/>
                  <a:pt x="24" y="555"/>
                  <a:pt x="12" y="699"/>
                </a:cubicBezTo>
                <a:cubicBezTo>
                  <a:pt x="0" y="843"/>
                  <a:pt x="26" y="1026"/>
                  <a:pt x="53" y="1209"/>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414" name="文本框 413"/>
          <p:cNvSpPr txBox="1"/>
          <p:nvPr/>
        </p:nvSpPr>
        <p:spPr>
          <a:xfrm>
            <a:off x="7926388" y="1740412"/>
            <a:ext cx="4049424" cy="1975926"/>
          </a:xfrm>
          <a:prstGeom prst="rect">
            <a:avLst/>
          </a:prstGeom>
          <a:noFill/>
        </p:spPr>
        <p:txBody>
          <a:bodyPr wrap="square">
            <a:spAutoFit/>
          </a:bodyPr>
          <a:lstStyle/>
          <a:p>
            <a:pPr>
              <a:lnSpc>
                <a:spcPct val="100000"/>
              </a:lnSpc>
              <a:spcBef>
                <a:spcPct val="20000"/>
              </a:spcBef>
            </a:pPr>
            <a:r>
              <a:rPr lang="en-US" altLang="zh-CN" sz="1800" b="1" dirty="0">
                <a:latin typeface="微软雅黑" panose="020B0503020204020204" pitchFamily="34" charset="-122"/>
                <a:ea typeface="微软雅黑" panose="020B0503020204020204" pitchFamily="34" charset="-122"/>
              </a:rPr>
              <a:t>(1)</a:t>
            </a:r>
            <a:r>
              <a:rPr lang="zh-CN" altLang="en-US" sz="1800" b="1" dirty="0">
                <a:latin typeface="微软雅黑" panose="020B0503020204020204" pitchFamily="34" charset="-122"/>
                <a:ea typeface="微软雅黑" panose="020B0503020204020204" pitchFamily="34" charset="-122"/>
              </a:rPr>
              <a:t>寻找保存键值记录的叶子结点</a:t>
            </a:r>
            <a:endParaRPr lang="zh-CN" altLang="en-US" sz="1800" b="1" dirty="0">
              <a:latin typeface="微软雅黑" panose="020B0503020204020204" pitchFamily="34" charset="-122"/>
              <a:ea typeface="微软雅黑" panose="020B0503020204020204" pitchFamily="34" charset="-122"/>
            </a:endParaRPr>
          </a:p>
          <a:p>
            <a:pPr>
              <a:lnSpc>
                <a:spcPct val="100000"/>
              </a:lnSpc>
              <a:spcBef>
                <a:spcPct val="20000"/>
              </a:spcBef>
            </a:pPr>
            <a:r>
              <a:rPr lang="en-US" altLang="zh-CN" sz="1800" b="1" dirty="0">
                <a:latin typeface="微软雅黑" panose="020B0503020204020204" pitchFamily="34" charset="-122"/>
                <a:ea typeface="微软雅黑" panose="020B0503020204020204" pitchFamily="34" charset="-122"/>
              </a:rPr>
              <a:t>(2)</a:t>
            </a:r>
            <a:r>
              <a:rPr lang="zh-CN" altLang="en-US" sz="1800" b="1" dirty="0">
                <a:latin typeface="微软雅黑" panose="020B0503020204020204" pitchFamily="34" charset="-122"/>
                <a:ea typeface="微软雅黑" panose="020B0503020204020204" pitchFamily="34" charset="-122"/>
              </a:rPr>
              <a:t>应插入结点已满，则申请新结点</a:t>
            </a:r>
            <a:endParaRPr lang="zh-CN" altLang="en-US" sz="1800" b="1" dirty="0">
              <a:latin typeface="微软雅黑" panose="020B0503020204020204" pitchFamily="34" charset="-122"/>
              <a:ea typeface="微软雅黑" panose="020B0503020204020204" pitchFamily="34" charset="-122"/>
            </a:endParaRPr>
          </a:p>
          <a:p>
            <a:pPr>
              <a:lnSpc>
                <a:spcPct val="100000"/>
              </a:lnSpc>
              <a:spcBef>
                <a:spcPct val="20000"/>
              </a:spcBef>
            </a:pPr>
            <a:r>
              <a:rPr lang="en-US" altLang="zh-CN" sz="1800" b="1" dirty="0">
                <a:latin typeface="微软雅黑" panose="020B0503020204020204" pitchFamily="34" charset="-122"/>
                <a:ea typeface="微软雅黑" panose="020B0503020204020204" pitchFamily="34" charset="-122"/>
              </a:rPr>
              <a:t>(3)</a:t>
            </a:r>
            <a:r>
              <a:rPr lang="zh-CN" altLang="en-US" sz="1800" b="1" dirty="0">
                <a:latin typeface="微软雅黑" panose="020B0503020204020204" pitchFamily="34" charset="-122"/>
                <a:ea typeface="微软雅黑" panose="020B0503020204020204" pitchFamily="34" charset="-122"/>
              </a:rPr>
              <a:t>同时调整应插入但未插入结点中的</a:t>
            </a:r>
            <a:endParaRPr lang="en-US" altLang="zh-CN" sz="1800" b="1" dirty="0">
              <a:latin typeface="微软雅黑" panose="020B0503020204020204" pitchFamily="34" charset="-122"/>
              <a:ea typeface="微软雅黑" panose="020B0503020204020204" pitchFamily="34" charset="-122"/>
            </a:endParaRPr>
          </a:p>
          <a:p>
            <a:pPr>
              <a:lnSpc>
                <a:spcPct val="100000"/>
              </a:lnSpc>
              <a:spcBef>
                <a:spcPct val="20000"/>
              </a:spcBef>
            </a:pPr>
            <a:r>
              <a:rPr lang="zh-CN" altLang="en-US" sz="1800" b="1" dirty="0">
                <a:latin typeface="微软雅黑" panose="020B0503020204020204" pitchFamily="34" charset="-122"/>
                <a:ea typeface="微软雅黑" panose="020B0503020204020204" pitchFamily="34" charset="-122"/>
              </a:rPr>
              <a:t>键值记录，使其均衡存放于两个叶结点中</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分裂</a:t>
            </a:r>
            <a:r>
              <a:rPr lang="en-US" altLang="zh-CN" sz="1800" b="1" dirty="0">
                <a:latin typeface="微软雅黑" panose="020B0503020204020204" pitchFamily="34" charset="-122"/>
                <a:ea typeface="微软雅黑" panose="020B0503020204020204" pitchFamily="34" charset="-122"/>
              </a:rPr>
              <a:t>)</a:t>
            </a:r>
            <a:endParaRPr lang="en-US" altLang="zh-CN" sz="1800" b="1" dirty="0">
              <a:latin typeface="微软雅黑" panose="020B0503020204020204" pitchFamily="34" charset="-122"/>
              <a:ea typeface="微软雅黑" panose="020B0503020204020204" pitchFamily="34" charset="-122"/>
            </a:endParaRPr>
          </a:p>
          <a:p>
            <a:pPr>
              <a:lnSpc>
                <a:spcPct val="100000"/>
              </a:lnSpc>
              <a:spcBef>
                <a:spcPct val="20000"/>
              </a:spcBef>
            </a:pPr>
            <a:r>
              <a:rPr lang="en-US" altLang="zh-CN" sz="1800" b="1" dirty="0">
                <a:latin typeface="微软雅黑" panose="020B0503020204020204" pitchFamily="34" charset="-122"/>
                <a:ea typeface="微软雅黑" panose="020B0503020204020204" pitchFamily="34" charset="-122"/>
              </a:rPr>
              <a:t>(4)</a:t>
            </a:r>
            <a:r>
              <a:rPr lang="zh-CN" altLang="en-US" sz="1800" b="1" dirty="0">
                <a:latin typeface="微软雅黑" panose="020B0503020204020204" pitchFamily="34" charset="-122"/>
                <a:ea typeface="微软雅黑" panose="020B0503020204020204" pitchFamily="34" charset="-122"/>
              </a:rPr>
              <a:t>调整指针使其指向新叶子结点</a:t>
            </a:r>
            <a:endParaRPr lang="zh-CN" altLang="en-US" sz="1800" b="1"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5"/>
                                        </p:tgtEl>
                                        <p:attrNameLst>
                                          <p:attrName>style.visibility</p:attrName>
                                        </p:attrNameLst>
                                      </p:cBhvr>
                                      <p:to>
                                        <p:strVal val="visible"/>
                                      </p:to>
                                    </p:set>
                                    <p:anim calcmode="lin" valueType="num">
                                      <p:cBhvr additive="base">
                                        <p:cTn id="7" dur="500" fill="hold"/>
                                        <p:tgtEl>
                                          <p:spTgt spid="385"/>
                                        </p:tgtEl>
                                        <p:attrNameLst>
                                          <p:attrName>ppt_x</p:attrName>
                                        </p:attrNameLst>
                                      </p:cBhvr>
                                      <p:tavLst>
                                        <p:tav tm="0">
                                          <p:val>
                                            <p:strVal val="#ppt_x"/>
                                          </p:val>
                                        </p:tav>
                                        <p:tav tm="100000">
                                          <p:val>
                                            <p:strVal val="#ppt_x"/>
                                          </p:val>
                                        </p:tav>
                                      </p:tavLst>
                                    </p:anim>
                                    <p:anim calcmode="lin" valueType="num">
                                      <p:cBhvr additive="base">
                                        <p:cTn id="8" dur="500" fill="hold"/>
                                        <p:tgtEl>
                                          <p:spTgt spid="38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93"/>
                                        </p:tgtEl>
                                        <p:attrNameLst>
                                          <p:attrName>style.visibility</p:attrName>
                                        </p:attrNameLst>
                                      </p:cBhvr>
                                      <p:to>
                                        <p:strVal val="visible"/>
                                      </p:to>
                                    </p:set>
                                    <p:anim calcmode="lin" valueType="num">
                                      <p:cBhvr additive="base">
                                        <p:cTn id="11" dur="500" fill="hold"/>
                                        <p:tgtEl>
                                          <p:spTgt spid="393"/>
                                        </p:tgtEl>
                                        <p:attrNameLst>
                                          <p:attrName>ppt_x</p:attrName>
                                        </p:attrNameLst>
                                      </p:cBhvr>
                                      <p:tavLst>
                                        <p:tav tm="0">
                                          <p:val>
                                            <p:strVal val="#ppt_x"/>
                                          </p:val>
                                        </p:tav>
                                        <p:tav tm="100000">
                                          <p:val>
                                            <p:strVal val="#ppt_x"/>
                                          </p:val>
                                        </p:tav>
                                      </p:tavLst>
                                    </p:anim>
                                    <p:anim calcmode="lin" valueType="num">
                                      <p:cBhvr additive="base">
                                        <p:cTn id="12" dur="500" fill="hold"/>
                                        <p:tgtEl>
                                          <p:spTgt spid="39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94"/>
                                        </p:tgtEl>
                                        <p:attrNameLst>
                                          <p:attrName>style.visibility</p:attrName>
                                        </p:attrNameLst>
                                      </p:cBhvr>
                                      <p:to>
                                        <p:strVal val="visible"/>
                                      </p:to>
                                    </p:set>
                                    <p:anim calcmode="lin" valueType="num">
                                      <p:cBhvr additive="base">
                                        <p:cTn id="15" dur="500" fill="hold"/>
                                        <p:tgtEl>
                                          <p:spTgt spid="394"/>
                                        </p:tgtEl>
                                        <p:attrNameLst>
                                          <p:attrName>ppt_x</p:attrName>
                                        </p:attrNameLst>
                                      </p:cBhvr>
                                      <p:tavLst>
                                        <p:tav tm="0">
                                          <p:val>
                                            <p:strVal val="#ppt_x"/>
                                          </p:val>
                                        </p:tav>
                                        <p:tav tm="100000">
                                          <p:val>
                                            <p:strVal val="#ppt_x"/>
                                          </p:val>
                                        </p:tav>
                                      </p:tavLst>
                                    </p:anim>
                                    <p:anim calcmode="lin" valueType="num">
                                      <p:cBhvr additive="base">
                                        <p:cTn id="16" dur="500" fill="hold"/>
                                        <p:tgtEl>
                                          <p:spTgt spid="39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95"/>
                                        </p:tgtEl>
                                        <p:attrNameLst>
                                          <p:attrName>style.visibility</p:attrName>
                                        </p:attrNameLst>
                                      </p:cBhvr>
                                      <p:to>
                                        <p:strVal val="visible"/>
                                      </p:to>
                                    </p:set>
                                    <p:anim calcmode="lin" valueType="num">
                                      <p:cBhvr additive="base">
                                        <p:cTn id="19" dur="500" fill="hold"/>
                                        <p:tgtEl>
                                          <p:spTgt spid="395"/>
                                        </p:tgtEl>
                                        <p:attrNameLst>
                                          <p:attrName>ppt_x</p:attrName>
                                        </p:attrNameLst>
                                      </p:cBhvr>
                                      <p:tavLst>
                                        <p:tav tm="0">
                                          <p:val>
                                            <p:strVal val="#ppt_x"/>
                                          </p:val>
                                        </p:tav>
                                        <p:tav tm="100000">
                                          <p:val>
                                            <p:strVal val="#ppt_x"/>
                                          </p:val>
                                        </p:tav>
                                      </p:tavLst>
                                    </p:anim>
                                    <p:anim calcmode="lin" valueType="num">
                                      <p:cBhvr additive="base">
                                        <p:cTn id="20" dur="500" fill="hold"/>
                                        <p:tgtEl>
                                          <p:spTgt spid="39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96"/>
                                        </p:tgtEl>
                                        <p:attrNameLst>
                                          <p:attrName>style.visibility</p:attrName>
                                        </p:attrNameLst>
                                      </p:cBhvr>
                                      <p:to>
                                        <p:strVal val="visible"/>
                                      </p:to>
                                    </p:set>
                                    <p:anim calcmode="lin" valueType="num">
                                      <p:cBhvr additive="base">
                                        <p:cTn id="23" dur="500" fill="hold"/>
                                        <p:tgtEl>
                                          <p:spTgt spid="396"/>
                                        </p:tgtEl>
                                        <p:attrNameLst>
                                          <p:attrName>ppt_x</p:attrName>
                                        </p:attrNameLst>
                                      </p:cBhvr>
                                      <p:tavLst>
                                        <p:tav tm="0">
                                          <p:val>
                                            <p:strVal val="#ppt_x"/>
                                          </p:val>
                                        </p:tav>
                                        <p:tav tm="100000">
                                          <p:val>
                                            <p:strVal val="#ppt_x"/>
                                          </p:val>
                                        </p:tav>
                                      </p:tavLst>
                                    </p:anim>
                                    <p:anim calcmode="lin" valueType="num">
                                      <p:cBhvr additive="base">
                                        <p:cTn id="24" dur="500" fill="hold"/>
                                        <p:tgtEl>
                                          <p:spTgt spid="39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98"/>
                                        </p:tgtEl>
                                        <p:attrNameLst>
                                          <p:attrName>style.visibility</p:attrName>
                                        </p:attrNameLst>
                                      </p:cBhvr>
                                      <p:to>
                                        <p:strVal val="visible"/>
                                      </p:to>
                                    </p:set>
                                    <p:anim calcmode="lin" valueType="num">
                                      <p:cBhvr additive="base">
                                        <p:cTn id="27" dur="500" fill="hold"/>
                                        <p:tgtEl>
                                          <p:spTgt spid="398"/>
                                        </p:tgtEl>
                                        <p:attrNameLst>
                                          <p:attrName>ppt_x</p:attrName>
                                        </p:attrNameLst>
                                      </p:cBhvr>
                                      <p:tavLst>
                                        <p:tav tm="0">
                                          <p:val>
                                            <p:strVal val="#ppt_x"/>
                                          </p:val>
                                        </p:tav>
                                        <p:tav tm="100000">
                                          <p:val>
                                            <p:strVal val="#ppt_x"/>
                                          </p:val>
                                        </p:tav>
                                      </p:tavLst>
                                    </p:anim>
                                    <p:anim calcmode="lin" valueType="num">
                                      <p:cBhvr additive="base">
                                        <p:cTn id="28" dur="500" fill="hold"/>
                                        <p:tgtEl>
                                          <p:spTgt spid="39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06"/>
                                        </p:tgtEl>
                                        <p:attrNameLst>
                                          <p:attrName>style.visibility</p:attrName>
                                        </p:attrNameLst>
                                      </p:cBhvr>
                                      <p:to>
                                        <p:strVal val="visible"/>
                                      </p:to>
                                    </p:set>
                                    <p:anim calcmode="lin" valueType="num">
                                      <p:cBhvr additive="base">
                                        <p:cTn id="31" dur="500" fill="hold"/>
                                        <p:tgtEl>
                                          <p:spTgt spid="406"/>
                                        </p:tgtEl>
                                        <p:attrNameLst>
                                          <p:attrName>ppt_x</p:attrName>
                                        </p:attrNameLst>
                                      </p:cBhvr>
                                      <p:tavLst>
                                        <p:tav tm="0">
                                          <p:val>
                                            <p:strVal val="#ppt_x"/>
                                          </p:val>
                                        </p:tav>
                                        <p:tav tm="100000">
                                          <p:val>
                                            <p:strVal val="#ppt_x"/>
                                          </p:val>
                                        </p:tav>
                                      </p:tavLst>
                                    </p:anim>
                                    <p:anim calcmode="lin" valueType="num">
                                      <p:cBhvr additive="base">
                                        <p:cTn id="32" dur="500" fill="hold"/>
                                        <p:tgtEl>
                                          <p:spTgt spid="40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07"/>
                                        </p:tgtEl>
                                        <p:attrNameLst>
                                          <p:attrName>style.visibility</p:attrName>
                                        </p:attrNameLst>
                                      </p:cBhvr>
                                      <p:to>
                                        <p:strVal val="visible"/>
                                      </p:to>
                                    </p:set>
                                    <p:anim calcmode="lin" valueType="num">
                                      <p:cBhvr additive="base">
                                        <p:cTn id="35" dur="500" fill="hold"/>
                                        <p:tgtEl>
                                          <p:spTgt spid="407"/>
                                        </p:tgtEl>
                                        <p:attrNameLst>
                                          <p:attrName>ppt_x</p:attrName>
                                        </p:attrNameLst>
                                      </p:cBhvr>
                                      <p:tavLst>
                                        <p:tav tm="0">
                                          <p:val>
                                            <p:strVal val="#ppt_x"/>
                                          </p:val>
                                        </p:tav>
                                        <p:tav tm="100000">
                                          <p:val>
                                            <p:strVal val="#ppt_x"/>
                                          </p:val>
                                        </p:tav>
                                      </p:tavLst>
                                    </p:anim>
                                    <p:anim calcmode="lin" valueType="num">
                                      <p:cBhvr additive="base">
                                        <p:cTn id="36" dur="500" fill="hold"/>
                                        <p:tgtEl>
                                          <p:spTgt spid="407"/>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08"/>
                                        </p:tgtEl>
                                        <p:attrNameLst>
                                          <p:attrName>style.visibility</p:attrName>
                                        </p:attrNameLst>
                                      </p:cBhvr>
                                      <p:to>
                                        <p:strVal val="visible"/>
                                      </p:to>
                                    </p:set>
                                    <p:anim calcmode="lin" valueType="num">
                                      <p:cBhvr additive="base">
                                        <p:cTn id="39" dur="500" fill="hold"/>
                                        <p:tgtEl>
                                          <p:spTgt spid="408"/>
                                        </p:tgtEl>
                                        <p:attrNameLst>
                                          <p:attrName>ppt_x</p:attrName>
                                        </p:attrNameLst>
                                      </p:cBhvr>
                                      <p:tavLst>
                                        <p:tav tm="0">
                                          <p:val>
                                            <p:strVal val="#ppt_x"/>
                                          </p:val>
                                        </p:tav>
                                        <p:tav tm="100000">
                                          <p:val>
                                            <p:strVal val="#ppt_x"/>
                                          </p:val>
                                        </p:tav>
                                      </p:tavLst>
                                    </p:anim>
                                    <p:anim calcmode="lin" valueType="num">
                                      <p:cBhvr additive="base">
                                        <p:cTn id="40" dur="500" fill="hold"/>
                                        <p:tgtEl>
                                          <p:spTgt spid="40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09"/>
                                        </p:tgtEl>
                                        <p:attrNameLst>
                                          <p:attrName>style.visibility</p:attrName>
                                        </p:attrNameLst>
                                      </p:cBhvr>
                                      <p:to>
                                        <p:strVal val="visible"/>
                                      </p:to>
                                    </p:set>
                                    <p:anim calcmode="lin" valueType="num">
                                      <p:cBhvr additive="base">
                                        <p:cTn id="43" dur="500" fill="hold"/>
                                        <p:tgtEl>
                                          <p:spTgt spid="409"/>
                                        </p:tgtEl>
                                        <p:attrNameLst>
                                          <p:attrName>ppt_x</p:attrName>
                                        </p:attrNameLst>
                                      </p:cBhvr>
                                      <p:tavLst>
                                        <p:tav tm="0">
                                          <p:val>
                                            <p:strVal val="#ppt_x"/>
                                          </p:val>
                                        </p:tav>
                                        <p:tav tm="100000">
                                          <p:val>
                                            <p:strVal val="#ppt_x"/>
                                          </p:val>
                                        </p:tav>
                                      </p:tavLst>
                                    </p:anim>
                                    <p:anim calcmode="lin" valueType="num">
                                      <p:cBhvr additive="base">
                                        <p:cTn id="44" dur="500" fill="hold"/>
                                        <p:tgtEl>
                                          <p:spTgt spid="40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11"/>
                                        </p:tgtEl>
                                        <p:attrNameLst>
                                          <p:attrName>style.visibility</p:attrName>
                                        </p:attrNameLst>
                                      </p:cBhvr>
                                      <p:to>
                                        <p:strVal val="visible"/>
                                      </p:to>
                                    </p:set>
                                    <p:anim calcmode="lin" valueType="num">
                                      <p:cBhvr additive="base">
                                        <p:cTn id="49" dur="500" fill="hold"/>
                                        <p:tgtEl>
                                          <p:spTgt spid="411"/>
                                        </p:tgtEl>
                                        <p:attrNameLst>
                                          <p:attrName>ppt_x</p:attrName>
                                        </p:attrNameLst>
                                      </p:cBhvr>
                                      <p:tavLst>
                                        <p:tav tm="0">
                                          <p:val>
                                            <p:strVal val="#ppt_x"/>
                                          </p:val>
                                        </p:tav>
                                        <p:tav tm="100000">
                                          <p:val>
                                            <p:strVal val="#ppt_x"/>
                                          </p:val>
                                        </p:tav>
                                      </p:tavLst>
                                    </p:anim>
                                    <p:anim calcmode="lin" valueType="num">
                                      <p:cBhvr additive="base">
                                        <p:cTn id="50" dur="500" fill="hold"/>
                                        <p:tgtEl>
                                          <p:spTgt spid="411"/>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412"/>
                                        </p:tgtEl>
                                        <p:attrNameLst>
                                          <p:attrName>style.visibility</p:attrName>
                                        </p:attrNameLst>
                                      </p:cBhvr>
                                      <p:to>
                                        <p:strVal val="visible"/>
                                      </p:to>
                                    </p:set>
                                    <p:anim calcmode="lin" valueType="num">
                                      <p:cBhvr additive="base">
                                        <p:cTn id="53" dur="500" fill="hold"/>
                                        <p:tgtEl>
                                          <p:spTgt spid="412"/>
                                        </p:tgtEl>
                                        <p:attrNameLst>
                                          <p:attrName>ppt_x</p:attrName>
                                        </p:attrNameLst>
                                      </p:cBhvr>
                                      <p:tavLst>
                                        <p:tav tm="0">
                                          <p:val>
                                            <p:strVal val="#ppt_x"/>
                                          </p:val>
                                        </p:tav>
                                        <p:tav tm="100000">
                                          <p:val>
                                            <p:strVal val="#ppt_x"/>
                                          </p:val>
                                        </p:tav>
                                      </p:tavLst>
                                    </p:anim>
                                    <p:anim calcmode="lin" valueType="num">
                                      <p:cBhvr additive="base">
                                        <p:cTn id="54" dur="500" fill="hold"/>
                                        <p:tgtEl>
                                          <p:spTgt spid="412"/>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10"/>
                                        </p:tgtEl>
                                        <p:attrNameLst>
                                          <p:attrName>style.visibility</p:attrName>
                                        </p:attrNameLst>
                                      </p:cBhvr>
                                      <p:to>
                                        <p:strVal val="visible"/>
                                      </p:to>
                                    </p:set>
                                    <p:anim calcmode="lin" valueType="num">
                                      <p:cBhvr additive="base">
                                        <p:cTn id="57" dur="500" fill="hold"/>
                                        <p:tgtEl>
                                          <p:spTgt spid="410"/>
                                        </p:tgtEl>
                                        <p:attrNameLst>
                                          <p:attrName>ppt_x</p:attrName>
                                        </p:attrNameLst>
                                      </p:cBhvr>
                                      <p:tavLst>
                                        <p:tav tm="0">
                                          <p:val>
                                            <p:strVal val="#ppt_x"/>
                                          </p:val>
                                        </p:tav>
                                        <p:tav tm="100000">
                                          <p:val>
                                            <p:strVal val="#ppt_x"/>
                                          </p:val>
                                        </p:tav>
                                      </p:tavLst>
                                    </p:anim>
                                    <p:anim calcmode="lin" valueType="num">
                                      <p:cBhvr additive="base">
                                        <p:cTn id="58" dur="500" fill="hold"/>
                                        <p:tgtEl>
                                          <p:spTgt spid="410"/>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397"/>
                                        </p:tgtEl>
                                        <p:attrNameLst>
                                          <p:attrName>style.visibility</p:attrName>
                                        </p:attrNameLst>
                                      </p:cBhvr>
                                      <p:to>
                                        <p:strVal val="visible"/>
                                      </p:to>
                                    </p:set>
                                    <p:anim calcmode="lin" valueType="num">
                                      <p:cBhvr additive="base">
                                        <p:cTn id="61" dur="500" fill="hold"/>
                                        <p:tgtEl>
                                          <p:spTgt spid="397"/>
                                        </p:tgtEl>
                                        <p:attrNameLst>
                                          <p:attrName>ppt_x</p:attrName>
                                        </p:attrNameLst>
                                      </p:cBhvr>
                                      <p:tavLst>
                                        <p:tav tm="0">
                                          <p:val>
                                            <p:strVal val="#ppt_x"/>
                                          </p:val>
                                        </p:tav>
                                        <p:tav tm="100000">
                                          <p:val>
                                            <p:strVal val="#ppt_x"/>
                                          </p:val>
                                        </p:tav>
                                      </p:tavLst>
                                    </p:anim>
                                    <p:anim calcmode="lin" valueType="num">
                                      <p:cBhvr additive="base">
                                        <p:cTn id="62" dur="500" fill="hold"/>
                                        <p:tgtEl>
                                          <p:spTgt spid="3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 grpId="0"/>
      <p:bldP spid="394" grpId="0"/>
      <p:bldP spid="406" grpId="0"/>
      <p:bldP spid="407" grpId="0"/>
      <p:bldP spid="410" grpId="0" bldLvl="0" animBg="1"/>
      <p:bldP spid="411" grpId="0" bldLvl="0" animBg="1"/>
      <p:bldP spid="412"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插入过程及分裂过程示意 </a:t>
            </a:r>
            <a:endParaRPr lang="en-US" altLang="zh-CN"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插入键值为</a:t>
            </a:r>
            <a:r>
              <a:rPr lang="en-US" altLang="zh-CN" sz="2000" b="0" dirty="0">
                <a:latin typeface="微软雅黑" panose="020B0503020204020204" pitchFamily="34" charset="-122"/>
                <a:ea typeface="微软雅黑" panose="020B0503020204020204" pitchFamily="34" charset="-122"/>
              </a:rPr>
              <a:t>40</a:t>
            </a:r>
            <a:r>
              <a:rPr lang="zh-CN" altLang="en-US" sz="2000" b="0" dirty="0">
                <a:latin typeface="微软雅黑" panose="020B0503020204020204" pitchFamily="34" charset="-122"/>
                <a:ea typeface="微软雅黑" panose="020B0503020204020204" pitchFamily="34" charset="-122"/>
              </a:rPr>
              <a:t>的记录</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进行中</a:t>
            </a:r>
            <a:endParaRPr lang="en-US" altLang="zh-CN" sz="2000" b="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zh-CN" altLang="en-US" sz="20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插入与结点分裂过程示意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2" name="Group 5"/>
          <p:cNvGrpSpPr/>
          <p:nvPr/>
        </p:nvGrpSpPr>
        <p:grpSpPr>
          <a:xfrm>
            <a:off x="3850023" y="1887689"/>
            <a:ext cx="1238250" cy="695325"/>
            <a:chOff x="856" y="1440"/>
            <a:chExt cx="1291" cy="667"/>
          </a:xfrm>
        </p:grpSpPr>
        <p:sp>
          <p:nvSpPr>
            <p:cNvPr id="4" name="Rectangle 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7" name="Line 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8" name="Line 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9" name="Line 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0" name="Line 1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1" name="Line 1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2" name="Line 1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13" name="Text Box 13"/>
          <p:cNvSpPr txBox="1"/>
          <p:nvPr/>
        </p:nvSpPr>
        <p:spPr>
          <a:xfrm>
            <a:off x="3778585" y="1863877"/>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14" name="Group 14"/>
          <p:cNvGrpSpPr/>
          <p:nvPr/>
        </p:nvGrpSpPr>
        <p:grpSpPr>
          <a:xfrm>
            <a:off x="2537160" y="3049739"/>
            <a:ext cx="1238250" cy="695325"/>
            <a:chOff x="856" y="1440"/>
            <a:chExt cx="1291" cy="667"/>
          </a:xfrm>
        </p:grpSpPr>
        <p:sp>
          <p:nvSpPr>
            <p:cNvPr id="15" name="Rectangle 1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6" name="Line 16"/>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7" name="Line 17"/>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8" name="Line 18"/>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9" name="Line 19"/>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0" name="Line 20"/>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1" name="Line 21"/>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2" name="Group 22"/>
          <p:cNvGrpSpPr/>
          <p:nvPr/>
        </p:nvGrpSpPr>
        <p:grpSpPr>
          <a:xfrm>
            <a:off x="6085223" y="3049739"/>
            <a:ext cx="1238250" cy="695325"/>
            <a:chOff x="856" y="1440"/>
            <a:chExt cx="1291" cy="667"/>
          </a:xfrm>
        </p:grpSpPr>
        <p:sp>
          <p:nvSpPr>
            <p:cNvPr id="23" name="Rectangle 2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4" name="Line 24"/>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5" name="Line 25"/>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6" name="Line 26"/>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7" name="Line 27"/>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8" name="Line 28"/>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9" name="Line 29"/>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0" name="Group 30"/>
          <p:cNvGrpSpPr/>
          <p:nvPr/>
        </p:nvGrpSpPr>
        <p:grpSpPr>
          <a:xfrm>
            <a:off x="878223" y="4326089"/>
            <a:ext cx="1238250" cy="695325"/>
            <a:chOff x="856" y="1440"/>
            <a:chExt cx="1291" cy="667"/>
          </a:xfrm>
        </p:grpSpPr>
        <p:sp>
          <p:nvSpPr>
            <p:cNvPr id="31" name="Rectangle 31"/>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3" name="Line 32"/>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34" name="Line 33"/>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35" name="Line 34"/>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36" name="Line 35"/>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7" name="Line 36"/>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8" name="Line 37"/>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9" name="Group 38"/>
          <p:cNvGrpSpPr/>
          <p:nvPr/>
        </p:nvGrpSpPr>
        <p:grpSpPr>
          <a:xfrm>
            <a:off x="2364123" y="4326089"/>
            <a:ext cx="1238250" cy="695325"/>
            <a:chOff x="856" y="1440"/>
            <a:chExt cx="1291" cy="667"/>
          </a:xfrm>
        </p:grpSpPr>
        <p:sp>
          <p:nvSpPr>
            <p:cNvPr id="40" name="Rectangle 39"/>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1" name="Line 40"/>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2" name="Line 41"/>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3" name="Line 42"/>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4" name="Line 43"/>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5" name="Line 44"/>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6" name="Line 45"/>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47" name="Group 46"/>
          <p:cNvGrpSpPr/>
          <p:nvPr/>
        </p:nvGrpSpPr>
        <p:grpSpPr>
          <a:xfrm>
            <a:off x="3850023" y="4326089"/>
            <a:ext cx="1238250" cy="695325"/>
            <a:chOff x="856" y="1440"/>
            <a:chExt cx="1291" cy="667"/>
          </a:xfrm>
        </p:grpSpPr>
        <p:sp>
          <p:nvSpPr>
            <p:cNvPr id="48" name="Rectangle 47"/>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9" name="Line 48"/>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0" name="Line 49"/>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1" name="Line 50"/>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2" name="Line 51"/>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3" name="Line 52"/>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4" name="Line 53"/>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5" name="Group 54"/>
          <p:cNvGrpSpPr/>
          <p:nvPr/>
        </p:nvGrpSpPr>
        <p:grpSpPr>
          <a:xfrm>
            <a:off x="5335923" y="4326089"/>
            <a:ext cx="1238250" cy="695325"/>
            <a:chOff x="856" y="1440"/>
            <a:chExt cx="1291" cy="667"/>
          </a:xfrm>
        </p:grpSpPr>
        <p:sp>
          <p:nvSpPr>
            <p:cNvPr id="56" name="Rectangle 5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7" name="Line 56"/>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8" name="Line 57"/>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9" name="Line 58"/>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60" name="Line 59"/>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61" name="Line 60"/>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62" name="Line 61"/>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63" name="Group 70"/>
          <p:cNvGrpSpPr/>
          <p:nvPr/>
        </p:nvGrpSpPr>
        <p:grpSpPr>
          <a:xfrm>
            <a:off x="8309310" y="4326089"/>
            <a:ext cx="1238250" cy="695325"/>
            <a:chOff x="856" y="1440"/>
            <a:chExt cx="1291" cy="667"/>
          </a:xfrm>
        </p:grpSpPr>
        <p:sp>
          <p:nvSpPr>
            <p:cNvPr id="256" name="Rectangle 71"/>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57" name="Line 72"/>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58" name="Line 73"/>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59" name="Line 74"/>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60" name="Line 75"/>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13" name="Line 76"/>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15" name="Line 77"/>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416" name="Text Box 78"/>
          <p:cNvSpPr txBox="1"/>
          <p:nvPr/>
        </p:nvSpPr>
        <p:spPr>
          <a:xfrm>
            <a:off x="2480010" y="303068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417" name="Text Box 79"/>
          <p:cNvSpPr txBox="1"/>
          <p:nvPr/>
        </p:nvSpPr>
        <p:spPr>
          <a:xfrm>
            <a:off x="840123" y="4297514"/>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418" name="Text Box 80"/>
          <p:cNvSpPr txBox="1"/>
          <p:nvPr/>
        </p:nvSpPr>
        <p:spPr>
          <a:xfrm>
            <a:off x="1221123" y="4297514"/>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419" name="Text Box 81"/>
          <p:cNvSpPr txBox="1"/>
          <p:nvPr/>
        </p:nvSpPr>
        <p:spPr>
          <a:xfrm>
            <a:off x="1719598" y="4297514"/>
            <a:ext cx="400050"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420" name="Text Box 82"/>
          <p:cNvSpPr txBox="1"/>
          <p:nvPr/>
        </p:nvSpPr>
        <p:spPr>
          <a:xfrm>
            <a:off x="2287923" y="4297514"/>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421" name="Text Box 83"/>
          <p:cNvSpPr txBox="1"/>
          <p:nvPr/>
        </p:nvSpPr>
        <p:spPr>
          <a:xfrm>
            <a:off x="2668923" y="4297514"/>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11</a:t>
            </a:r>
            <a:endParaRPr lang="en-US" altLang="zh-CN" sz="1800" dirty="0">
              <a:latin typeface="Times New Roman" panose="02020603050405020304" pitchFamily="18" charset="0"/>
              <a:ea typeface="楷体_GB2312" pitchFamily="49" charset="-122"/>
            </a:endParaRPr>
          </a:p>
        </p:txBody>
      </p:sp>
      <p:sp>
        <p:nvSpPr>
          <p:cNvPr id="422" name="Text Box 84"/>
          <p:cNvSpPr txBox="1"/>
          <p:nvPr/>
        </p:nvSpPr>
        <p:spPr>
          <a:xfrm>
            <a:off x="3773823" y="4316564"/>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423" name="Text Box 85"/>
          <p:cNvSpPr txBox="1"/>
          <p:nvPr/>
        </p:nvSpPr>
        <p:spPr>
          <a:xfrm>
            <a:off x="4192923" y="4316564"/>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424" name="Text Box 86"/>
          <p:cNvSpPr txBox="1"/>
          <p:nvPr/>
        </p:nvSpPr>
        <p:spPr>
          <a:xfrm>
            <a:off x="4653298" y="4316564"/>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425" name="Text Box 87"/>
          <p:cNvSpPr txBox="1"/>
          <p:nvPr/>
        </p:nvSpPr>
        <p:spPr>
          <a:xfrm>
            <a:off x="5272423" y="4303864"/>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426" name="Text Box 88"/>
          <p:cNvSpPr txBox="1"/>
          <p:nvPr/>
        </p:nvSpPr>
        <p:spPr>
          <a:xfrm>
            <a:off x="5691523" y="4303864"/>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427" name="Text Box 92"/>
          <p:cNvSpPr txBox="1"/>
          <p:nvPr/>
        </p:nvSpPr>
        <p:spPr>
          <a:xfrm>
            <a:off x="8248985" y="4310214"/>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428" name="Text Box 93"/>
          <p:cNvSpPr txBox="1"/>
          <p:nvPr/>
        </p:nvSpPr>
        <p:spPr>
          <a:xfrm>
            <a:off x="8668085" y="4310214"/>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429" name="Text Box 94"/>
          <p:cNvSpPr txBox="1"/>
          <p:nvPr/>
        </p:nvSpPr>
        <p:spPr>
          <a:xfrm>
            <a:off x="6016960" y="302275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430" name="Text Box 95"/>
          <p:cNvSpPr txBox="1"/>
          <p:nvPr/>
        </p:nvSpPr>
        <p:spPr>
          <a:xfrm>
            <a:off x="6436060" y="302275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431" name="Text Box 96"/>
          <p:cNvSpPr txBox="1"/>
          <p:nvPr/>
        </p:nvSpPr>
        <p:spPr>
          <a:xfrm>
            <a:off x="6896435" y="3022752"/>
            <a:ext cx="439738"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432" name="Line 98"/>
          <p:cNvSpPr/>
          <p:nvPr/>
        </p:nvSpPr>
        <p:spPr>
          <a:xfrm>
            <a:off x="7225048" y="3614889"/>
            <a:ext cx="1371600" cy="701675"/>
          </a:xfrm>
          <a:prstGeom prst="line">
            <a:avLst/>
          </a:prstGeom>
          <a:ln w="9525" cap="flat" cmpd="sng">
            <a:solidFill>
              <a:srgbClr val="FF0066"/>
            </a:solidFill>
            <a:prstDash val="solid"/>
            <a:round/>
            <a:headEnd type="none" w="med" len="med"/>
            <a:tailEnd type="triangle" w="med" len="med"/>
          </a:ln>
        </p:spPr>
      </p:sp>
      <p:sp>
        <p:nvSpPr>
          <p:cNvPr id="433" name="Line 100"/>
          <p:cNvSpPr/>
          <p:nvPr/>
        </p:nvSpPr>
        <p:spPr>
          <a:xfrm flipH="1">
            <a:off x="5670885" y="3614889"/>
            <a:ext cx="887413" cy="701675"/>
          </a:xfrm>
          <a:prstGeom prst="line">
            <a:avLst/>
          </a:prstGeom>
          <a:ln w="9525" cap="flat" cmpd="sng">
            <a:solidFill>
              <a:srgbClr val="FF0066"/>
            </a:solidFill>
            <a:prstDash val="solid"/>
            <a:round/>
            <a:headEnd type="none" w="med" len="med"/>
            <a:tailEnd type="triangle" w="med" len="med"/>
          </a:ln>
        </p:spPr>
      </p:sp>
      <p:sp>
        <p:nvSpPr>
          <p:cNvPr id="434" name="Line 101"/>
          <p:cNvSpPr/>
          <p:nvPr/>
        </p:nvSpPr>
        <p:spPr>
          <a:xfrm flipH="1">
            <a:off x="4442160" y="3624414"/>
            <a:ext cx="1711325" cy="692150"/>
          </a:xfrm>
          <a:prstGeom prst="line">
            <a:avLst/>
          </a:prstGeom>
          <a:ln w="9525" cap="flat" cmpd="sng">
            <a:solidFill>
              <a:srgbClr val="FF0066"/>
            </a:solidFill>
            <a:prstDash val="solid"/>
            <a:round/>
            <a:headEnd type="none" w="med" len="med"/>
            <a:tailEnd type="triangle" w="med" len="med"/>
          </a:ln>
        </p:spPr>
      </p:sp>
      <p:grpSp>
        <p:nvGrpSpPr>
          <p:cNvPr id="435" name="Group 102"/>
          <p:cNvGrpSpPr/>
          <p:nvPr/>
        </p:nvGrpSpPr>
        <p:grpSpPr>
          <a:xfrm>
            <a:off x="1359235" y="3618064"/>
            <a:ext cx="1606550" cy="704850"/>
            <a:chOff x="420" y="2502"/>
            <a:chExt cx="1012" cy="626"/>
          </a:xfrm>
        </p:grpSpPr>
        <p:sp>
          <p:nvSpPr>
            <p:cNvPr id="436" name="Line 103"/>
            <p:cNvSpPr/>
            <p:nvPr/>
          </p:nvSpPr>
          <p:spPr>
            <a:xfrm flipH="1">
              <a:off x="1276" y="2519"/>
              <a:ext cx="156" cy="601"/>
            </a:xfrm>
            <a:prstGeom prst="line">
              <a:avLst/>
            </a:prstGeom>
            <a:ln w="9525" cap="flat" cmpd="sng">
              <a:solidFill>
                <a:srgbClr val="FF0066"/>
              </a:solidFill>
              <a:prstDash val="solid"/>
              <a:round/>
              <a:headEnd type="none" w="med" len="med"/>
              <a:tailEnd type="triangle" w="med" len="med"/>
            </a:ln>
          </p:spPr>
        </p:sp>
        <p:sp>
          <p:nvSpPr>
            <p:cNvPr id="437" name="Line 104"/>
            <p:cNvSpPr/>
            <p:nvPr/>
          </p:nvSpPr>
          <p:spPr>
            <a:xfrm flipH="1">
              <a:off x="420" y="2502"/>
              <a:ext cx="848" cy="626"/>
            </a:xfrm>
            <a:prstGeom prst="line">
              <a:avLst/>
            </a:prstGeom>
            <a:ln w="9525" cap="flat" cmpd="sng">
              <a:solidFill>
                <a:srgbClr val="FF0066"/>
              </a:solidFill>
              <a:prstDash val="solid"/>
              <a:round/>
              <a:headEnd type="none" w="med" len="med"/>
              <a:tailEnd type="triangle" w="med" len="med"/>
            </a:ln>
          </p:spPr>
        </p:sp>
      </p:grpSp>
      <p:grpSp>
        <p:nvGrpSpPr>
          <p:cNvPr id="438" name="Group 105"/>
          <p:cNvGrpSpPr/>
          <p:nvPr/>
        </p:nvGrpSpPr>
        <p:grpSpPr>
          <a:xfrm>
            <a:off x="3030873" y="2421089"/>
            <a:ext cx="3227387" cy="627063"/>
            <a:chOff x="1473" y="1700"/>
            <a:chExt cx="2033" cy="625"/>
          </a:xfrm>
        </p:grpSpPr>
        <p:sp>
          <p:nvSpPr>
            <p:cNvPr id="439" name="Line 106"/>
            <p:cNvSpPr/>
            <p:nvPr/>
          </p:nvSpPr>
          <p:spPr>
            <a:xfrm flipH="1">
              <a:off x="1473" y="1700"/>
              <a:ext cx="593" cy="625"/>
            </a:xfrm>
            <a:prstGeom prst="line">
              <a:avLst/>
            </a:prstGeom>
            <a:ln w="9525" cap="flat" cmpd="sng">
              <a:solidFill>
                <a:srgbClr val="FF0066"/>
              </a:solidFill>
              <a:prstDash val="solid"/>
              <a:round/>
              <a:headEnd type="none" w="med" len="med"/>
              <a:tailEnd type="triangle" w="med" len="med"/>
            </a:ln>
          </p:spPr>
        </p:sp>
        <p:sp>
          <p:nvSpPr>
            <p:cNvPr id="440" name="Line 107"/>
            <p:cNvSpPr/>
            <p:nvPr/>
          </p:nvSpPr>
          <p:spPr>
            <a:xfrm>
              <a:off x="2272" y="1716"/>
              <a:ext cx="1234" cy="601"/>
            </a:xfrm>
            <a:prstGeom prst="line">
              <a:avLst/>
            </a:prstGeom>
            <a:ln w="9525" cap="flat" cmpd="sng">
              <a:solidFill>
                <a:srgbClr val="FF0066"/>
              </a:solidFill>
              <a:prstDash val="solid"/>
              <a:round/>
              <a:headEnd type="none" w="med" len="med"/>
              <a:tailEnd type="triangle" w="med" len="med"/>
            </a:ln>
          </p:spPr>
        </p:sp>
      </p:grpSp>
      <p:sp>
        <p:nvSpPr>
          <p:cNvPr id="441" name="Line 108"/>
          <p:cNvSpPr/>
          <p:nvPr/>
        </p:nvSpPr>
        <p:spPr>
          <a:xfrm>
            <a:off x="876635" y="3851427"/>
            <a:ext cx="8699500" cy="0"/>
          </a:xfrm>
          <a:prstGeom prst="line">
            <a:avLst/>
          </a:prstGeom>
          <a:ln w="9525" cap="flat" cmpd="sng">
            <a:solidFill>
              <a:srgbClr val="FF0066"/>
            </a:solidFill>
            <a:prstDash val="dash"/>
            <a:round/>
            <a:headEnd type="none" w="med" len="med"/>
            <a:tailEnd type="none" w="med" len="med"/>
          </a:ln>
        </p:spPr>
      </p:sp>
      <p:sp>
        <p:nvSpPr>
          <p:cNvPr id="442" name="Line 109"/>
          <p:cNvSpPr/>
          <p:nvPr/>
        </p:nvSpPr>
        <p:spPr>
          <a:xfrm>
            <a:off x="1032210" y="4884889"/>
            <a:ext cx="0" cy="365125"/>
          </a:xfrm>
          <a:prstGeom prst="line">
            <a:avLst/>
          </a:prstGeom>
          <a:ln w="9525" cap="flat" cmpd="sng">
            <a:solidFill>
              <a:srgbClr val="FF0066"/>
            </a:solidFill>
            <a:prstDash val="solid"/>
            <a:round/>
            <a:headEnd type="none" w="med" len="med"/>
            <a:tailEnd type="triangle" w="med" len="med"/>
          </a:ln>
        </p:spPr>
      </p:sp>
      <p:sp>
        <p:nvSpPr>
          <p:cNvPr id="443" name="Line 110"/>
          <p:cNvSpPr/>
          <p:nvPr/>
        </p:nvSpPr>
        <p:spPr>
          <a:xfrm>
            <a:off x="1311610" y="4884889"/>
            <a:ext cx="0" cy="365125"/>
          </a:xfrm>
          <a:prstGeom prst="line">
            <a:avLst/>
          </a:prstGeom>
          <a:ln w="9525" cap="flat" cmpd="sng">
            <a:solidFill>
              <a:srgbClr val="FF0066"/>
            </a:solidFill>
            <a:prstDash val="solid"/>
            <a:round/>
            <a:headEnd type="none" w="med" len="med"/>
            <a:tailEnd type="triangle" w="med" len="med"/>
          </a:ln>
        </p:spPr>
      </p:sp>
      <p:sp>
        <p:nvSpPr>
          <p:cNvPr id="444" name="Line 111"/>
          <p:cNvSpPr/>
          <p:nvPr/>
        </p:nvSpPr>
        <p:spPr>
          <a:xfrm>
            <a:off x="1629110" y="4884889"/>
            <a:ext cx="0" cy="365125"/>
          </a:xfrm>
          <a:prstGeom prst="line">
            <a:avLst/>
          </a:prstGeom>
          <a:ln w="9525" cap="flat" cmpd="sng">
            <a:solidFill>
              <a:srgbClr val="FF0066"/>
            </a:solidFill>
            <a:prstDash val="solid"/>
            <a:round/>
            <a:headEnd type="none" w="med" len="med"/>
            <a:tailEnd type="triangle" w="med" len="med"/>
          </a:ln>
        </p:spPr>
      </p:sp>
      <p:sp>
        <p:nvSpPr>
          <p:cNvPr id="445" name="Line 112"/>
          <p:cNvSpPr/>
          <p:nvPr/>
        </p:nvSpPr>
        <p:spPr>
          <a:xfrm>
            <a:off x="1986298" y="4857902"/>
            <a:ext cx="377825" cy="0"/>
          </a:xfrm>
          <a:prstGeom prst="line">
            <a:avLst/>
          </a:prstGeom>
          <a:ln w="9525" cap="flat" cmpd="sng">
            <a:solidFill>
              <a:srgbClr val="FF0066"/>
            </a:solidFill>
            <a:prstDash val="solid"/>
            <a:round/>
            <a:headEnd type="none" w="med" len="med"/>
            <a:tailEnd type="triangle" w="med" len="med"/>
          </a:ln>
        </p:spPr>
      </p:sp>
      <p:sp>
        <p:nvSpPr>
          <p:cNvPr id="446" name="Line 113"/>
          <p:cNvSpPr/>
          <p:nvPr/>
        </p:nvSpPr>
        <p:spPr>
          <a:xfrm>
            <a:off x="2505410" y="4884889"/>
            <a:ext cx="0" cy="365125"/>
          </a:xfrm>
          <a:prstGeom prst="line">
            <a:avLst/>
          </a:prstGeom>
          <a:ln w="9525" cap="flat" cmpd="sng">
            <a:solidFill>
              <a:srgbClr val="FF0066"/>
            </a:solidFill>
            <a:prstDash val="solid"/>
            <a:round/>
            <a:headEnd type="none" w="med" len="med"/>
            <a:tailEnd type="triangle" w="med" len="med"/>
          </a:ln>
        </p:spPr>
      </p:sp>
      <p:sp>
        <p:nvSpPr>
          <p:cNvPr id="447" name="Line 114"/>
          <p:cNvSpPr/>
          <p:nvPr/>
        </p:nvSpPr>
        <p:spPr>
          <a:xfrm>
            <a:off x="2784810" y="4884889"/>
            <a:ext cx="0" cy="365125"/>
          </a:xfrm>
          <a:prstGeom prst="line">
            <a:avLst/>
          </a:prstGeom>
          <a:ln w="9525" cap="flat" cmpd="sng">
            <a:solidFill>
              <a:srgbClr val="FF0066"/>
            </a:solidFill>
            <a:prstDash val="solid"/>
            <a:round/>
            <a:headEnd type="none" w="med" len="med"/>
            <a:tailEnd type="triangle" w="med" len="med"/>
          </a:ln>
        </p:spPr>
      </p:sp>
      <p:sp>
        <p:nvSpPr>
          <p:cNvPr id="448" name="Line 115"/>
          <p:cNvSpPr/>
          <p:nvPr/>
        </p:nvSpPr>
        <p:spPr>
          <a:xfrm>
            <a:off x="3459498" y="4870602"/>
            <a:ext cx="377825" cy="0"/>
          </a:xfrm>
          <a:prstGeom prst="line">
            <a:avLst/>
          </a:prstGeom>
          <a:ln w="9525" cap="flat" cmpd="sng">
            <a:solidFill>
              <a:srgbClr val="FF0066"/>
            </a:solidFill>
            <a:prstDash val="solid"/>
            <a:round/>
            <a:headEnd type="none" w="med" len="med"/>
            <a:tailEnd type="triangle" w="med" len="med"/>
          </a:ln>
        </p:spPr>
      </p:sp>
      <p:sp>
        <p:nvSpPr>
          <p:cNvPr id="449" name="Line 116"/>
          <p:cNvSpPr/>
          <p:nvPr/>
        </p:nvSpPr>
        <p:spPr>
          <a:xfrm>
            <a:off x="4004010" y="4884889"/>
            <a:ext cx="0" cy="365125"/>
          </a:xfrm>
          <a:prstGeom prst="line">
            <a:avLst/>
          </a:prstGeom>
          <a:ln w="9525" cap="flat" cmpd="sng">
            <a:solidFill>
              <a:srgbClr val="FF0066"/>
            </a:solidFill>
            <a:prstDash val="solid"/>
            <a:round/>
            <a:headEnd type="none" w="med" len="med"/>
            <a:tailEnd type="triangle" w="med" len="med"/>
          </a:ln>
        </p:spPr>
      </p:sp>
      <p:sp>
        <p:nvSpPr>
          <p:cNvPr id="450" name="Line 117"/>
          <p:cNvSpPr/>
          <p:nvPr/>
        </p:nvSpPr>
        <p:spPr>
          <a:xfrm>
            <a:off x="4296110" y="4884889"/>
            <a:ext cx="0" cy="365125"/>
          </a:xfrm>
          <a:prstGeom prst="line">
            <a:avLst/>
          </a:prstGeom>
          <a:ln w="9525" cap="flat" cmpd="sng">
            <a:solidFill>
              <a:srgbClr val="FF0066"/>
            </a:solidFill>
            <a:prstDash val="solid"/>
            <a:round/>
            <a:headEnd type="none" w="med" len="med"/>
            <a:tailEnd type="triangle" w="med" len="med"/>
          </a:ln>
        </p:spPr>
      </p:sp>
      <p:sp>
        <p:nvSpPr>
          <p:cNvPr id="451" name="Line 118"/>
          <p:cNvSpPr/>
          <p:nvPr/>
        </p:nvSpPr>
        <p:spPr>
          <a:xfrm>
            <a:off x="4600910" y="4884889"/>
            <a:ext cx="0" cy="365125"/>
          </a:xfrm>
          <a:prstGeom prst="line">
            <a:avLst/>
          </a:prstGeom>
          <a:ln w="9525" cap="flat" cmpd="sng">
            <a:solidFill>
              <a:srgbClr val="FF0066"/>
            </a:solidFill>
            <a:prstDash val="solid"/>
            <a:round/>
            <a:headEnd type="none" w="med" len="med"/>
            <a:tailEnd type="triangle" w="med" len="med"/>
          </a:ln>
        </p:spPr>
      </p:sp>
      <p:sp>
        <p:nvSpPr>
          <p:cNvPr id="452" name="Line 119"/>
          <p:cNvSpPr/>
          <p:nvPr/>
        </p:nvSpPr>
        <p:spPr>
          <a:xfrm>
            <a:off x="4958098" y="4870602"/>
            <a:ext cx="377825" cy="0"/>
          </a:xfrm>
          <a:prstGeom prst="line">
            <a:avLst/>
          </a:prstGeom>
          <a:ln w="9525" cap="flat" cmpd="sng">
            <a:solidFill>
              <a:srgbClr val="FF0066"/>
            </a:solidFill>
            <a:prstDash val="solid"/>
            <a:round/>
            <a:headEnd type="none" w="med" len="med"/>
            <a:tailEnd type="triangle" w="med" len="med"/>
          </a:ln>
        </p:spPr>
      </p:sp>
      <p:sp>
        <p:nvSpPr>
          <p:cNvPr id="453" name="Line 120"/>
          <p:cNvSpPr/>
          <p:nvPr/>
        </p:nvSpPr>
        <p:spPr>
          <a:xfrm>
            <a:off x="5477210" y="4884889"/>
            <a:ext cx="0" cy="365125"/>
          </a:xfrm>
          <a:prstGeom prst="line">
            <a:avLst/>
          </a:prstGeom>
          <a:ln w="9525" cap="flat" cmpd="sng">
            <a:solidFill>
              <a:srgbClr val="FF0066"/>
            </a:solidFill>
            <a:prstDash val="solid"/>
            <a:round/>
            <a:headEnd type="none" w="med" len="med"/>
            <a:tailEnd type="triangle" w="med" len="med"/>
          </a:ln>
        </p:spPr>
      </p:sp>
      <p:sp>
        <p:nvSpPr>
          <p:cNvPr id="454" name="Line 121"/>
          <p:cNvSpPr/>
          <p:nvPr/>
        </p:nvSpPr>
        <p:spPr>
          <a:xfrm>
            <a:off x="5756610" y="4884889"/>
            <a:ext cx="0" cy="365125"/>
          </a:xfrm>
          <a:prstGeom prst="line">
            <a:avLst/>
          </a:prstGeom>
          <a:ln w="9525" cap="flat" cmpd="sng">
            <a:solidFill>
              <a:srgbClr val="FF0066"/>
            </a:solidFill>
            <a:prstDash val="solid"/>
            <a:round/>
            <a:headEnd type="none" w="med" len="med"/>
            <a:tailEnd type="triangle" w="med" len="med"/>
          </a:ln>
        </p:spPr>
      </p:sp>
      <p:sp>
        <p:nvSpPr>
          <p:cNvPr id="455" name="Line 127"/>
          <p:cNvSpPr/>
          <p:nvPr/>
        </p:nvSpPr>
        <p:spPr>
          <a:xfrm>
            <a:off x="8461710" y="4872189"/>
            <a:ext cx="0" cy="365125"/>
          </a:xfrm>
          <a:prstGeom prst="line">
            <a:avLst/>
          </a:prstGeom>
          <a:ln w="9525" cap="flat" cmpd="sng">
            <a:solidFill>
              <a:srgbClr val="FF0066"/>
            </a:solidFill>
            <a:prstDash val="solid"/>
            <a:round/>
            <a:headEnd type="none" w="med" len="med"/>
            <a:tailEnd type="triangle" w="med" len="med"/>
          </a:ln>
        </p:spPr>
      </p:sp>
      <p:sp>
        <p:nvSpPr>
          <p:cNvPr id="456" name="Line 128"/>
          <p:cNvSpPr/>
          <p:nvPr/>
        </p:nvSpPr>
        <p:spPr>
          <a:xfrm>
            <a:off x="8741110" y="4872189"/>
            <a:ext cx="0" cy="365125"/>
          </a:xfrm>
          <a:prstGeom prst="line">
            <a:avLst/>
          </a:prstGeom>
          <a:ln w="9525" cap="flat" cmpd="sng">
            <a:solidFill>
              <a:srgbClr val="FF0066"/>
            </a:solidFill>
            <a:prstDash val="solid"/>
            <a:round/>
            <a:headEnd type="none" w="med" len="med"/>
            <a:tailEnd type="triangle" w="med" len="med"/>
          </a:ln>
        </p:spPr>
      </p:sp>
      <p:grpSp>
        <p:nvGrpSpPr>
          <p:cNvPr id="457" name="Group 129"/>
          <p:cNvGrpSpPr/>
          <p:nvPr/>
        </p:nvGrpSpPr>
        <p:grpSpPr>
          <a:xfrm>
            <a:off x="6045535" y="5548464"/>
            <a:ext cx="1238250" cy="695325"/>
            <a:chOff x="856" y="1440"/>
            <a:chExt cx="1291" cy="667"/>
          </a:xfrm>
        </p:grpSpPr>
        <p:sp>
          <p:nvSpPr>
            <p:cNvPr id="458" name="Rectangle 130"/>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59" name="Line 131"/>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460" name="Line 132"/>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461" name="Line 133"/>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462" name="Line 134"/>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463" name="Line 135"/>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464" name="Line 136"/>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465" name="Text Box 137"/>
          <p:cNvSpPr txBox="1"/>
          <p:nvPr/>
        </p:nvSpPr>
        <p:spPr>
          <a:xfrm>
            <a:off x="6009023" y="553258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466" name="Text Box 138"/>
          <p:cNvSpPr txBox="1"/>
          <p:nvPr/>
        </p:nvSpPr>
        <p:spPr>
          <a:xfrm>
            <a:off x="6428123" y="553258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467" name="Line 139"/>
          <p:cNvSpPr/>
          <p:nvPr/>
        </p:nvSpPr>
        <p:spPr>
          <a:xfrm>
            <a:off x="6212223" y="6107264"/>
            <a:ext cx="0" cy="365125"/>
          </a:xfrm>
          <a:prstGeom prst="line">
            <a:avLst/>
          </a:prstGeom>
          <a:ln w="9525" cap="flat" cmpd="sng">
            <a:solidFill>
              <a:srgbClr val="FF3399"/>
            </a:solidFill>
            <a:prstDash val="solid"/>
            <a:round/>
            <a:headEnd type="none" w="med" len="med"/>
            <a:tailEnd type="triangle" w="med" len="med"/>
          </a:ln>
        </p:spPr>
      </p:sp>
      <p:sp>
        <p:nvSpPr>
          <p:cNvPr id="468" name="Line 140"/>
          <p:cNvSpPr/>
          <p:nvPr/>
        </p:nvSpPr>
        <p:spPr>
          <a:xfrm>
            <a:off x="6491623" y="6107264"/>
            <a:ext cx="0" cy="365125"/>
          </a:xfrm>
          <a:prstGeom prst="line">
            <a:avLst/>
          </a:prstGeom>
          <a:ln w="9525" cap="flat" cmpd="sng">
            <a:solidFill>
              <a:srgbClr val="FF3399"/>
            </a:solidFill>
            <a:prstDash val="solid"/>
            <a:round/>
            <a:headEnd type="none" w="med" len="med"/>
            <a:tailEnd type="triangle" w="med" len="med"/>
          </a:ln>
        </p:spPr>
      </p:sp>
      <p:grpSp>
        <p:nvGrpSpPr>
          <p:cNvPr id="469" name="Group 142"/>
          <p:cNvGrpSpPr/>
          <p:nvPr/>
        </p:nvGrpSpPr>
        <p:grpSpPr>
          <a:xfrm>
            <a:off x="7582235" y="5554814"/>
            <a:ext cx="1238250" cy="695325"/>
            <a:chOff x="856" y="1440"/>
            <a:chExt cx="1291" cy="667"/>
          </a:xfrm>
        </p:grpSpPr>
        <p:sp>
          <p:nvSpPr>
            <p:cNvPr id="470" name="Rectangle 143"/>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71" name="Line 144"/>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472" name="Line 145"/>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473" name="Line 146"/>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474" name="Line 147"/>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475" name="Line 148"/>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476" name="Line 149"/>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477" name="Text Box 150"/>
          <p:cNvSpPr txBox="1"/>
          <p:nvPr/>
        </p:nvSpPr>
        <p:spPr>
          <a:xfrm>
            <a:off x="7545723" y="553893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40</a:t>
            </a:r>
            <a:endParaRPr lang="en-US" altLang="zh-CN" sz="1800" dirty="0">
              <a:latin typeface="Times New Roman" panose="02020603050405020304" pitchFamily="18" charset="0"/>
              <a:ea typeface="楷体_GB2312" pitchFamily="49" charset="-122"/>
            </a:endParaRPr>
          </a:p>
        </p:txBody>
      </p:sp>
      <p:sp>
        <p:nvSpPr>
          <p:cNvPr id="478" name="Text Box 151"/>
          <p:cNvSpPr txBox="1"/>
          <p:nvPr/>
        </p:nvSpPr>
        <p:spPr>
          <a:xfrm>
            <a:off x="7964823" y="553893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479" name="Line 152"/>
          <p:cNvSpPr/>
          <p:nvPr/>
        </p:nvSpPr>
        <p:spPr>
          <a:xfrm>
            <a:off x="7748923" y="6113614"/>
            <a:ext cx="0" cy="365125"/>
          </a:xfrm>
          <a:prstGeom prst="line">
            <a:avLst/>
          </a:prstGeom>
          <a:ln w="38100" cap="flat" cmpd="sng">
            <a:solidFill>
              <a:srgbClr val="6666FF"/>
            </a:solidFill>
            <a:prstDash val="solid"/>
            <a:round/>
            <a:headEnd type="none" w="med" len="med"/>
            <a:tailEnd type="triangle" w="med" len="med"/>
          </a:ln>
        </p:spPr>
      </p:sp>
      <p:sp>
        <p:nvSpPr>
          <p:cNvPr id="480" name="Line 153"/>
          <p:cNvSpPr/>
          <p:nvPr/>
        </p:nvSpPr>
        <p:spPr>
          <a:xfrm>
            <a:off x="8028323" y="6113614"/>
            <a:ext cx="0" cy="365125"/>
          </a:xfrm>
          <a:prstGeom prst="line">
            <a:avLst/>
          </a:prstGeom>
          <a:ln w="9525" cap="flat" cmpd="sng">
            <a:solidFill>
              <a:srgbClr val="FF3399"/>
            </a:solidFill>
            <a:prstDash val="solid"/>
            <a:round/>
            <a:headEnd type="none" w="med" len="med"/>
            <a:tailEnd type="triangle" w="med" len="med"/>
          </a:ln>
        </p:spPr>
      </p:sp>
      <p:sp>
        <p:nvSpPr>
          <p:cNvPr id="481" name="Freeform 156"/>
          <p:cNvSpPr/>
          <p:nvPr/>
        </p:nvSpPr>
        <p:spPr>
          <a:xfrm>
            <a:off x="5583573" y="4849964"/>
            <a:ext cx="1033462" cy="914400"/>
          </a:xfrm>
          <a:custGeom>
            <a:avLst/>
            <a:gdLst/>
            <a:ahLst/>
            <a:cxnLst>
              <a:cxn ang="0">
                <a:pos x="523" y="0"/>
              </a:cxn>
              <a:cxn ang="0">
                <a:pos x="581" y="197"/>
              </a:cxn>
              <a:cxn ang="0">
                <a:pos x="103" y="378"/>
              </a:cxn>
              <a:cxn ang="0">
                <a:pos x="29" y="543"/>
              </a:cxn>
              <a:cxn ang="0">
                <a:pos x="276" y="576"/>
              </a:cxn>
            </a:cxnLst>
            <a:rect l="0" t="0" r="0" b="0"/>
            <a:pathLst>
              <a:path w="651" h="576">
                <a:moveTo>
                  <a:pt x="523" y="0"/>
                </a:moveTo>
                <a:cubicBezTo>
                  <a:pt x="533" y="33"/>
                  <a:pt x="651" y="134"/>
                  <a:pt x="581" y="197"/>
                </a:cubicBezTo>
                <a:cubicBezTo>
                  <a:pt x="511" y="260"/>
                  <a:pt x="195" y="320"/>
                  <a:pt x="103" y="378"/>
                </a:cubicBezTo>
                <a:cubicBezTo>
                  <a:pt x="11" y="436"/>
                  <a:pt x="0" y="510"/>
                  <a:pt x="29" y="543"/>
                </a:cubicBezTo>
                <a:cubicBezTo>
                  <a:pt x="58" y="576"/>
                  <a:pt x="225" y="569"/>
                  <a:pt x="276" y="576"/>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482" name="Freeform 158"/>
          <p:cNvSpPr/>
          <p:nvPr/>
        </p:nvSpPr>
        <p:spPr>
          <a:xfrm>
            <a:off x="6629735" y="3610127"/>
            <a:ext cx="227013" cy="1919287"/>
          </a:xfrm>
          <a:custGeom>
            <a:avLst/>
            <a:gdLst/>
            <a:ahLst/>
            <a:cxnLst>
              <a:cxn ang="0">
                <a:pos x="111" y="0"/>
              </a:cxn>
              <a:cxn ang="0">
                <a:pos x="127" y="345"/>
              </a:cxn>
              <a:cxn ang="0">
                <a:pos x="12" y="699"/>
              </a:cxn>
              <a:cxn ang="0">
                <a:pos x="53" y="1209"/>
              </a:cxn>
            </a:cxnLst>
            <a:rect l="0" t="0" r="0" b="0"/>
            <a:pathLst>
              <a:path w="143" h="1209">
                <a:moveTo>
                  <a:pt x="111" y="0"/>
                </a:moveTo>
                <a:cubicBezTo>
                  <a:pt x="127" y="114"/>
                  <a:pt x="143" y="229"/>
                  <a:pt x="127" y="345"/>
                </a:cubicBezTo>
                <a:cubicBezTo>
                  <a:pt x="111" y="461"/>
                  <a:pt x="24" y="555"/>
                  <a:pt x="12" y="699"/>
                </a:cubicBezTo>
                <a:cubicBezTo>
                  <a:pt x="0" y="843"/>
                  <a:pt x="26" y="1026"/>
                  <a:pt x="53" y="1209"/>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grpSp>
        <p:nvGrpSpPr>
          <p:cNvPr id="483" name="Group 160"/>
          <p:cNvGrpSpPr/>
          <p:nvPr/>
        </p:nvGrpSpPr>
        <p:grpSpPr>
          <a:xfrm>
            <a:off x="6751973" y="1936902"/>
            <a:ext cx="1238250" cy="695325"/>
            <a:chOff x="856" y="1440"/>
            <a:chExt cx="1291" cy="667"/>
          </a:xfrm>
        </p:grpSpPr>
        <p:sp>
          <p:nvSpPr>
            <p:cNvPr id="484" name="Rectangle 161"/>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85" name="Line 162"/>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486" name="Line 163"/>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487" name="Line 164"/>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488" name="Line 165"/>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489" name="Line 166"/>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490" name="Line 167"/>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491" name="Text Box 168"/>
          <p:cNvSpPr txBox="1"/>
          <p:nvPr/>
        </p:nvSpPr>
        <p:spPr>
          <a:xfrm>
            <a:off x="6715460" y="1921027"/>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492" name="Text Box 169"/>
          <p:cNvSpPr txBox="1"/>
          <p:nvPr/>
        </p:nvSpPr>
        <p:spPr>
          <a:xfrm>
            <a:off x="7134560" y="1921027"/>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grpSp>
        <p:nvGrpSpPr>
          <p:cNvPr id="493" name="Group 173"/>
          <p:cNvGrpSpPr/>
          <p:nvPr/>
        </p:nvGrpSpPr>
        <p:grpSpPr>
          <a:xfrm>
            <a:off x="8288673" y="1943252"/>
            <a:ext cx="1238250" cy="695325"/>
            <a:chOff x="856" y="1440"/>
            <a:chExt cx="1291" cy="667"/>
          </a:xfrm>
        </p:grpSpPr>
        <p:sp>
          <p:nvSpPr>
            <p:cNvPr id="494" name="Rectangle 174"/>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95" name="Line 175"/>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496" name="Line 176"/>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497" name="Line 177"/>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498" name="Line 178"/>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499" name="Line 179"/>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500" name="Line 180"/>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501" name="Text Box 181"/>
          <p:cNvSpPr txBox="1"/>
          <p:nvPr/>
        </p:nvSpPr>
        <p:spPr>
          <a:xfrm>
            <a:off x="8252160" y="1927377"/>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502" name="Freeform 185"/>
          <p:cNvSpPr/>
          <p:nvPr/>
        </p:nvSpPr>
        <p:spPr>
          <a:xfrm>
            <a:off x="4362785" y="2460777"/>
            <a:ext cx="2495550" cy="1854200"/>
          </a:xfrm>
          <a:custGeom>
            <a:avLst/>
            <a:gdLst/>
            <a:ahLst/>
            <a:cxnLst>
              <a:cxn ang="0">
                <a:pos x="1572" y="0"/>
              </a:cxn>
              <a:cxn ang="0">
                <a:pos x="1440" y="131"/>
              </a:cxn>
              <a:cxn ang="0">
                <a:pos x="1045" y="173"/>
              </a:cxn>
              <a:cxn ang="0">
                <a:pos x="716" y="477"/>
              </a:cxn>
              <a:cxn ang="0">
                <a:pos x="0" y="1168"/>
              </a:cxn>
            </a:cxnLst>
            <a:rect l="0" t="0" r="0" b="0"/>
            <a:pathLst>
              <a:path w="1572" h="1168">
                <a:moveTo>
                  <a:pt x="1572" y="0"/>
                </a:moveTo>
                <a:cubicBezTo>
                  <a:pt x="1550" y="53"/>
                  <a:pt x="1528" y="102"/>
                  <a:pt x="1440" y="131"/>
                </a:cubicBezTo>
                <a:cubicBezTo>
                  <a:pt x="1352" y="160"/>
                  <a:pt x="1166" y="115"/>
                  <a:pt x="1045" y="173"/>
                </a:cubicBezTo>
                <a:cubicBezTo>
                  <a:pt x="924" y="231"/>
                  <a:pt x="890" y="311"/>
                  <a:pt x="716" y="477"/>
                </a:cubicBezTo>
                <a:cubicBezTo>
                  <a:pt x="542" y="643"/>
                  <a:pt x="149" y="1024"/>
                  <a:pt x="0" y="1168"/>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503" name="Freeform 187"/>
          <p:cNvSpPr/>
          <p:nvPr/>
        </p:nvSpPr>
        <p:spPr>
          <a:xfrm>
            <a:off x="5526423" y="2460777"/>
            <a:ext cx="1671637" cy="1854200"/>
          </a:xfrm>
          <a:custGeom>
            <a:avLst/>
            <a:gdLst/>
            <a:ahLst/>
            <a:cxnLst>
              <a:cxn ang="0">
                <a:pos x="1053" y="0"/>
              </a:cxn>
              <a:cxn ang="0">
                <a:pos x="938" y="156"/>
              </a:cxn>
              <a:cxn ang="0">
                <a:pos x="370" y="214"/>
              </a:cxn>
              <a:cxn ang="0">
                <a:pos x="148" y="461"/>
              </a:cxn>
              <a:cxn ang="0">
                <a:pos x="0" y="1119"/>
              </a:cxn>
            </a:cxnLst>
            <a:rect l="0" t="0" r="0" b="0"/>
            <a:pathLst>
              <a:path w="1053" h="1119">
                <a:moveTo>
                  <a:pt x="1053" y="0"/>
                </a:moveTo>
                <a:cubicBezTo>
                  <a:pt x="1052" y="60"/>
                  <a:pt x="1052" y="120"/>
                  <a:pt x="938" y="156"/>
                </a:cubicBezTo>
                <a:cubicBezTo>
                  <a:pt x="824" y="192"/>
                  <a:pt x="502" y="163"/>
                  <a:pt x="370" y="214"/>
                </a:cubicBezTo>
                <a:cubicBezTo>
                  <a:pt x="238" y="265"/>
                  <a:pt x="210" y="310"/>
                  <a:pt x="148" y="461"/>
                </a:cubicBezTo>
                <a:cubicBezTo>
                  <a:pt x="86" y="612"/>
                  <a:pt x="43" y="865"/>
                  <a:pt x="0" y="1119"/>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504" name="Freeform 188"/>
          <p:cNvSpPr/>
          <p:nvPr/>
        </p:nvSpPr>
        <p:spPr>
          <a:xfrm>
            <a:off x="6936123" y="2498877"/>
            <a:ext cx="655637" cy="3017837"/>
          </a:xfrm>
          <a:custGeom>
            <a:avLst/>
            <a:gdLst/>
            <a:ahLst/>
            <a:cxnLst>
              <a:cxn ang="0">
                <a:pos x="354" y="0"/>
              </a:cxn>
              <a:cxn ang="0">
                <a:pos x="404" y="271"/>
              </a:cxn>
              <a:cxn ang="0">
                <a:pos x="297" y="1004"/>
              </a:cxn>
              <a:cxn ang="0">
                <a:pos x="0" y="1884"/>
              </a:cxn>
            </a:cxnLst>
            <a:rect l="0" t="0" r="0" b="0"/>
            <a:pathLst>
              <a:path w="413" h="1884">
                <a:moveTo>
                  <a:pt x="354" y="0"/>
                </a:moveTo>
                <a:cubicBezTo>
                  <a:pt x="383" y="52"/>
                  <a:pt x="413" y="104"/>
                  <a:pt x="404" y="271"/>
                </a:cubicBezTo>
                <a:cubicBezTo>
                  <a:pt x="395" y="438"/>
                  <a:pt x="364" y="735"/>
                  <a:pt x="297" y="1004"/>
                </a:cubicBezTo>
                <a:cubicBezTo>
                  <a:pt x="230" y="1273"/>
                  <a:pt x="115" y="1578"/>
                  <a:pt x="0" y="1884"/>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505" name="Freeform 189"/>
          <p:cNvSpPr/>
          <p:nvPr/>
        </p:nvSpPr>
        <p:spPr>
          <a:xfrm>
            <a:off x="7737810" y="2498877"/>
            <a:ext cx="701675" cy="3044825"/>
          </a:xfrm>
          <a:custGeom>
            <a:avLst/>
            <a:gdLst/>
            <a:ahLst/>
            <a:cxnLst>
              <a:cxn ang="0">
                <a:pos x="442" y="0"/>
              </a:cxn>
              <a:cxn ang="0">
                <a:pos x="228" y="568"/>
              </a:cxn>
              <a:cxn ang="0">
                <a:pos x="22" y="1259"/>
              </a:cxn>
              <a:cxn ang="0">
                <a:pos x="96" y="1918"/>
              </a:cxn>
            </a:cxnLst>
            <a:rect l="0" t="0" r="0" b="0"/>
            <a:pathLst>
              <a:path w="442" h="1918">
                <a:moveTo>
                  <a:pt x="442" y="0"/>
                </a:moveTo>
                <a:cubicBezTo>
                  <a:pt x="370" y="179"/>
                  <a:pt x="298" y="358"/>
                  <a:pt x="228" y="568"/>
                </a:cubicBezTo>
                <a:cubicBezTo>
                  <a:pt x="158" y="778"/>
                  <a:pt x="44" y="1034"/>
                  <a:pt x="22" y="1259"/>
                </a:cubicBezTo>
                <a:cubicBezTo>
                  <a:pt x="0" y="1484"/>
                  <a:pt x="48" y="1701"/>
                  <a:pt x="96" y="1918"/>
                </a:cubicBezTo>
              </a:path>
            </a:pathLst>
          </a:custGeom>
          <a:noFill/>
          <a:ln w="38100" cap="flat" cmpd="sng">
            <a:solidFill>
              <a:srgbClr val="6666FF"/>
            </a:solidFill>
            <a:prstDash val="solid"/>
            <a:round/>
            <a:headEnd type="none" w="med" len="med"/>
            <a:tailEnd type="triangle" w="med" len="med"/>
          </a:ln>
        </p:spPr>
        <p:txBody>
          <a:bodyPr/>
          <a:lstStyle/>
          <a:p>
            <a:endParaRPr lang="zh-CN" altLang="en-US"/>
          </a:p>
        </p:txBody>
      </p:sp>
      <p:sp>
        <p:nvSpPr>
          <p:cNvPr id="506" name="Freeform 190"/>
          <p:cNvSpPr/>
          <p:nvPr/>
        </p:nvSpPr>
        <p:spPr>
          <a:xfrm>
            <a:off x="8764923" y="2486177"/>
            <a:ext cx="133350" cy="1828800"/>
          </a:xfrm>
          <a:custGeom>
            <a:avLst/>
            <a:gdLst/>
            <a:ahLst/>
            <a:cxnLst>
              <a:cxn ang="0">
                <a:pos x="0" y="0"/>
              </a:cxn>
              <a:cxn ang="0">
                <a:pos x="74" y="494"/>
              </a:cxn>
              <a:cxn ang="0">
                <a:pos x="58" y="946"/>
              </a:cxn>
              <a:cxn ang="0">
                <a:pos x="33" y="1152"/>
              </a:cxn>
            </a:cxnLst>
            <a:rect l="0" t="0" r="0" b="0"/>
            <a:pathLst>
              <a:path w="84" h="1152">
                <a:moveTo>
                  <a:pt x="0" y="0"/>
                </a:moveTo>
                <a:cubicBezTo>
                  <a:pt x="32" y="168"/>
                  <a:pt x="64" y="336"/>
                  <a:pt x="74" y="494"/>
                </a:cubicBezTo>
                <a:cubicBezTo>
                  <a:pt x="84" y="652"/>
                  <a:pt x="65" y="836"/>
                  <a:pt x="58" y="946"/>
                </a:cubicBezTo>
                <a:cubicBezTo>
                  <a:pt x="51" y="1056"/>
                  <a:pt x="42" y="1104"/>
                  <a:pt x="33" y="1152"/>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507" name="Text Box 191"/>
          <p:cNvSpPr txBox="1"/>
          <p:nvPr/>
        </p:nvSpPr>
        <p:spPr>
          <a:xfrm>
            <a:off x="4218323" y="1862289"/>
            <a:ext cx="542925" cy="366713"/>
          </a:xfrm>
          <a:prstGeom prst="rect">
            <a:avLst/>
          </a:prstGeom>
          <a:noFill/>
          <a:ln w="9525">
            <a:noFill/>
          </a:ln>
        </p:spPr>
        <p:txBody>
          <a:bodyPr anchor="t">
            <a:spAutoFit/>
          </a:bodyPr>
          <a:lstStyle/>
          <a:p>
            <a:pPr algn="ctr"/>
            <a:r>
              <a:rPr lang="en-US" altLang="zh-CN" sz="1800" dirty="0">
                <a:solidFill>
                  <a:schemeClr val="accent2"/>
                </a:solidFill>
                <a:latin typeface="Times New Roman" panose="02020603050405020304" pitchFamily="18" charset="0"/>
                <a:ea typeface="楷体_GB2312" pitchFamily="49" charset="-122"/>
              </a:rPr>
              <a:t>40</a:t>
            </a:r>
            <a:endParaRPr lang="en-US" altLang="zh-CN" sz="1800" dirty="0">
              <a:solidFill>
                <a:schemeClr val="accent2"/>
              </a:solidFill>
              <a:latin typeface="Times New Roman" panose="02020603050405020304" pitchFamily="18" charset="0"/>
              <a:ea typeface="楷体_GB2312" pitchFamily="49" charset="-122"/>
            </a:endParaRPr>
          </a:p>
        </p:txBody>
      </p:sp>
      <p:sp>
        <p:nvSpPr>
          <p:cNvPr id="508" name="Freeform 192"/>
          <p:cNvSpPr/>
          <p:nvPr/>
        </p:nvSpPr>
        <p:spPr>
          <a:xfrm>
            <a:off x="4348498" y="1606702"/>
            <a:ext cx="2992437" cy="1052512"/>
          </a:xfrm>
          <a:custGeom>
            <a:avLst/>
            <a:gdLst/>
            <a:ahLst/>
            <a:cxnLst>
              <a:cxn ang="0">
                <a:pos x="0" y="480"/>
              </a:cxn>
              <a:cxn ang="0">
                <a:pos x="691" y="595"/>
              </a:cxn>
              <a:cxn ang="0">
                <a:pos x="1605" y="69"/>
              </a:cxn>
              <a:cxn ang="0">
                <a:pos x="1885" y="184"/>
              </a:cxn>
            </a:cxnLst>
            <a:rect l="0" t="0" r="0" b="0"/>
            <a:pathLst>
              <a:path w="1885" h="663">
                <a:moveTo>
                  <a:pt x="0" y="480"/>
                </a:moveTo>
                <a:cubicBezTo>
                  <a:pt x="115" y="499"/>
                  <a:pt x="424" y="663"/>
                  <a:pt x="691" y="595"/>
                </a:cubicBezTo>
                <a:cubicBezTo>
                  <a:pt x="958" y="527"/>
                  <a:pt x="1406" y="138"/>
                  <a:pt x="1605" y="69"/>
                </a:cubicBezTo>
                <a:cubicBezTo>
                  <a:pt x="1804" y="0"/>
                  <a:pt x="1850" y="89"/>
                  <a:pt x="1885" y="184"/>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509" name="Line 197"/>
          <p:cNvSpPr/>
          <p:nvPr/>
        </p:nvSpPr>
        <p:spPr>
          <a:xfrm>
            <a:off x="7191710" y="6083452"/>
            <a:ext cx="377825" cy="0"/>
          </a:xfrm>
          <a:prstGeom prst="line">
            <a:avLst/>
          </a:prstGeom>
          <a:ln w="38100" cap="flat" cmpd="sng">
            <a:solidFill>
              <a:srgbClr val="6666FF"/>
            </a:solidFill>
            <a:prstDash val="solid"/>
            <a:round/>
            <a:headEnd type="none" w="med" len="med"/>
            <a:tailEnd type="triangle" w="med" len="med"/>
          </a:ln>
        </p:spPr>
      </p:sp>
      <p:sp>
        <p:nvSpPr>
          <p:cNvPr id="510" name="Freeform 198"/>
          <p:cNvSpPr/>
          <p:nvPr/>
        </p:nvSpPr>
        <p:spPr>
          <a:xfrm>
            <a:off x="8117223" y="4889652"/>
            <a:ext cx="947737" cy="1198562"/>
          </a:xfrm>
          <a:custGeom>
            <a:avLst/>
            <a:gdLst/>
            <a:ahLst/>
            <a:cxnLst>
              <a:cxn ang="0">
                <a:pos x="346" y="755"/>
              </a:cxn>
              <a:cxn ang="0">
                <a:pos x="581" y="597"/>
              </a:cxn>
              <a:cxn ang="0">
                <a:pos x="441" y="336"/>
              </a:cxn>
              <a:cxn ang="0">
                <a:pos x="96" y="259"/>
              </a:cxn>
              <a:cxn ang="0">
                <a:pos x="5" y="77"/>
              </a:cxn>
              <a:cxn ang="0">
                <a:pos x="128" y="0"/>
              </a:cxn>
            </a:cxnLst>
            <a:rect l="0" t="0" r="0" b="0"/>
            <a:pathLst>
              <a:path w="597" h="755">
                <a:moveTo>
                  <a:pt x="346" y="755"/>
                </a:moveTo>
                <a:cubicBezTo>
                  <a:pt x="383" y="729"/>
                  <a:pt x="565" y="667"/>
                  <a:pt x="581" y="597"/>
                </a:cubicBezTo>
                <a:cubicBezTo>
                  <a:pt x="597" y="527"/>
                  <a:pt x="522" y="393"/>
                  <a:pt x="441" y="336"/>
                </a:cubicBezTo>
                <a:cubicBezTo>
                  <a:pt x="360" y="280"/>
                  <a:pt x="169" y="302"/>
                  <a:pt x="96" y="259"/>
                </a:cubicBezTo>
                <a:cubicBezTo>
                  <a:pt x="23" y="216"/>
                  <a:pt x="0" y="120"/>
                  <a:pt x="5" y="77"/>
                </a:cubicBezTo>
                <a:cubicBezTo>
                  <a:pt x="10" y="35"/>
                  <a:pt x="69" y="17"/>
                  <a:pt x="128" y="0"/>
                </a:cubicBezTo>
              </a:path>
            </a:pathLst>
          </a:custGeom>
          <a:noFill/>
          <a:ln w="38100" cap="flat" cmpd="sng">
            <a:solidFill>
              <a:srgbClr val="6666FF"/>
            </a:solidFill>
            <a:prstDash val="solid"/>
            <a:round/>
            <a:headEnd type="none" w="med" len="med"/>
            <a:tailEnd type="triangle" w="med" len="med"/>
          </a:ln>
        </p:spPr>
        <p:txBody>
          <a:bodyPr/>
          <a:lstStyle/>
          <a:p>
            <a:endParaRPr lang="zh-CN" altLang="en-US"/>
          </a:p>
        </p:txBody>
      </p:sp>
      <p:sp>
        <p:nvSpPr>
          <p:cNvPr id="513" name="文本框 512"/>
          <p:cNvSpPr txBox="1"/>
          <p:nvPr/>
        </p:nvSpPr>
        <p:spPr>
          <a:xfrm>
            <a:off x="9729736" y="2159549"/>
            <a:ext cx="2255884" cy="3383756"/>
          </a:xfrm>
          <a:prstGeom prst="rect">
            <a:avLst/>
          </a:prstGeom>
          <a:noFill/>
        </p:spPr>
        <p:txBody>
          <a:bodyPr wrap="square">
            <a:spAutoFit/>
          </a:bodyPr>
          <a:lstStyle/>
          <a:p>
            <a:pPr>
              <a:spcBef>
                <a:spcPct val="20000"/>
              </a:spcBef>
            </a:pPr>
            <a:r>
              <a:rPr lang="en-US" altLang="zh-CN" sz="1800"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5)</a:t>
            </a:r>
            <a:r>
              <a:rPr lang="zh-CN" altLang="en-US" b="1" dirty="0">
                <a:latin typeface="微软雅黑" panose="020B0503020204020204" pitchFamily="34" charset="-122"/>
                <a:ea typeface="微软雅黑" panose="020B0503020204020204" pitchFamily="34" charset="-122"/>
              </a:rPr>
              <a:t>寻找指向新叶子结点的非叶结点</a:t>
            </a:r>
            <a:endParaRPr lang="zh-CN" altLang="en-US" b="1" dirty="0">
              <a:latin typeface="微软雅黑" panose="020B0503020204020204" pitchFamily="34" charset="-122"/>
              <a:ea typeface="微软雅黑" panose="020B0503020204020204" pitchFamily="34" charset="-122"/>
            </a:endParaRPr>
          </a:p>
          <a:p>
            <a:pPr>
              <a:spcBef>
                <a:spcPct val="20000"/>
              </a:spcBef>
            </a:pPr>
            <a:r>
              <a:rPr lang="en-US" altLang="zh-CN" b="1" dirty="0">
                <a:latin typeface="微软雅黑" panose="020B0503020204020204" pitchFamily="34" charset="-122"/>
                <a:ea typeface="微软雅黑" panose="020B0503020204020204" pitchFamily="34" charset="-122"/>
              </a:rPr>
              <a:t>(6)</a:t>
            </a:r>
            <a:r>
              <a:rPr lang="zh-CN" altLang="en-US" b="1" dirty="0">
                <a:latin typeface="微软雅黑" panose="020B0503020204020204" pitchFamily="34" charset="-122"/>
                <a:ea typeface="微软雅黑" panose="020B0503020204020204" pitchFamily="34" charset="-122"/>
              </a:rPr>
              <a:t>应插入结点已满，则申请新结点</a:t>
            </a:r>
            <a:endParaRPr lang="zh-CN" altLang="en-US" b="1" dirty="0">
              <a:latin typeface="微软雅黑" panose="020B0503020204020204" pitchFamily="34" charset="-122"/>
              <a:ea typeface="微软雅黑" panose="020B0503020204020204" pitchFamily="34" charset="-122"/>
            </a:endParaRPr>
          </a:p>
          <a:p>
            <a:pPr>
              <a:spcBef>
                <a:spcPct val="20000"/>
              </a:spcBef>
            </a:pPr>
            <a:r>
              <a:rPr lang="en-US" altLang="zh-CN" b="1" dirty="0">
                <a:latin typeface="微软雅黑" panose="020B0503020204020204" pitchFamily="34" charset="-122"/>
                <a:ea typeface="微软雅黑" panose="020B0503020204020204" pitchFamily="34" charset="-122"/>
              </a:rPr>
              <a:t>(7)</a:t>
            </a:r>
            <a:r>
              <a:rPr lang="zh-CN" altLang="en-US" b="1" dirty="0">
                <a:latin typeface="微软雅黑" panose="020B0503020204020204" pitchFamily="34" charset="-122"/>
                <a:ea typeface="微软雅黑" panose="020B0503020204020204" pitchFamily="34" charset="-122"/>
              </a:rPr>
              <a:t>同时调整应插入但未插入结点的键值记录，使其均衡存放于两个非叶结点中</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分裂</a:t>
            </a:r>
            <a:r>
              <a:rPr lang="en-US"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spcBef>
                <a:spcPct val="20000"/>
              </a:spcBef>
            </a:pPr>
            <a:r>
              <a:rPr lang="en-US" altLang="zh-CN" b="1" dirty="0">
                <a:latin typeface="微软雅黑" panose="020B0503020204020204" pitchFamily="34" charset="-122"/>
                <a:ea typeface="微软雅黑" panose="020B0503020204020204" pitchFamily="34" charset="-122"/>
              </a:rPr>
              <a:t>(8)</a:t>
            </a:r>
            <a:r>
              <a:rPr lang="zh-CN" altLang="en-US" b="1" dirty="0">
                <a:latin typeface="微软雅黑" panose="020B0503020204020204" pitchFamily="34" charset="-122"/>
                <a:ea typeface="微软雅黑" panose="020B0503020204020204" pitchFamily="34" charset="-122"/>
              </a:rPr>
              <a:t>调整各结点指针使其指向正确</a:t>
            </a:r>
            <a:endParaRPr lang="zh-CN" altLang="en-US" b="1"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3"/>
                                        </p:tgtEl>
                                        <p:attrNameLst>
                                          <p:attrName>style.visibility</p:attrName>
                                        </p:attrNameLst>
                                      </p:cBhvr>
                                      <p:to>
                                        <p:strVal val="visible"/>
                                      </p:to>
                                    </p:set>
                                    <p:anim calcmode="lin" valueType="num">
                                      <p:cBhvr additive="base">
                                        <p:cTn id="7" dur="500" fill="hold"/>
                                        <p:tgtEl>
                                          <p:spTgt spid="483"/>
                                        </p:tgtEl>
                                        <p:attrNameLst>
                                          <p:attrName>ppt_x</p:attrName>
                                        </p:attrNameLst>
                                      </p:cBhvr>
                                      <p:tavLst>
                                        <p:tav tm="0">
                                          <p:val>
                                            <p:strVal val="#ppt_x"/>
                                          </p:val>
                                        </p:tav>
                                        <p:tav tm="100000">
                                          <p:val>
                                            <p:strVal val="#ppt_x"/>
                                          </p:val>
                                        </p:tav>
                                      </p:tavLst>
                                    </p:anim>
                                    <p:anim calcmode="lin" valueType="num">
                                      <p:cBhvr additive="base">
                                        <p:cTn id="8" dur="500" fill="hold"/>
                                        <p:tgtEl>
                                          <p:spTgt spid="48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91"/>
                                        </p:tgtEl>
                                        <p:attrNameLst>
                                          <p:attrName>style.visibility</p:attrName>
                                        </p:attrNameLst>
                                      </p:cBhvr>
                                      <p:to>
                                        <p:strVal val="visible"/>
                                      </p:to>
                                    </p:set>
                                    <p:anim calcmode="lin" valueType="num">
                                      <p:cBhvr additive="base">
                                        <p:cTn id="11" dur="500" fill="hold"/>
                                        <p:tgtEl>
                                          <p:spTgt spid="491"/>
                                        </p:tgtEl>
                                        <p:attrNameLst>
                                          <p:attrName>ppt_x</p:attrName>
                                        </p:attrNameLst>
                                      </p:cBhvr>
                                      <p:tavLst>
                                        <p:tav tm="0">
                                          <p:val>
                                            <p:strVal val="#ppt_x"/>
                                          </p:val>
                                        </p:tav>
                                        <p:tav tm="100000">
                                          <p:val>
                                            <p:strVal val="#ppt_x"/>
                                          </p:val>
                                        </p:tav>
                                      </p:tavLst>
                                    </p:anim>
                                    <p:anim calcmode="lin" valueType="num">
                                      <p:cBhvr additive="base">
                                        <p:cTn id="12" dur="500" fill="hold"/>
                                        <p:tgtEl>
                                          <p:spTgt spid="49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92"/>
                                        </p:tgtEl>
                                        <p:attrNameLst>
                                          <p:attrName>style.visibility</p:attrName>
                                        </p:attrNameLst>
                                      </p:cBhvr>
                                      <p:to>
                                        <p:strVal val="visible"/>
                                      </p:to>
                                    </p:set>
                                    <p:anim calcmode="lin" valueType="num">
                                      <p:cBhvr additive="base">
                                        <p:cTn id="15" dur="500" fill="hold"/>
                                        <p:tgtEl>
                                          <p:spTgt spid="492"/>
                                        </p:tgtEl>
                                        <p:attrNameLst>
                                          <p:attrName>ppt_x</p:attrName>
                                        </p:attrNameLst>
                                      </p:cBhvr>
                                      <p:tavLst>
                                        <p:tav tm="0">
                                          <p:val>
                                            <p:strVal val="#ppt_x"/>
                                          </p:val>
                                        </p:tav>
                                        <p:tav tm="100000">
                                          <p:val>
                                            <p:strVal val="#ppt_x"/>
                                          </p:val>
                                        </p:tav>
                                      </p:tavLst>
                                    </p:anim>
                                    <p:anim calcmode="lin" valueType="num">
                                      <p:cBhvr additive="base">
                                        <p:cTn id="16" dur="500" fill="hold"/>
                                        <p:tgtEl>
                                          <p:spTgt spid="49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93"/>
                                        </p:tgtEl>
                                        <p:attrNameLst>
                                          <p:attrName>style.visibility</p:attrName>
                                        </p:attrNameLst>
                                      </p:cBhvr>
                                      <p:to>
                                        <p:strVal val="visible"/>
                                      </p:to>
                                    </p:set>
                                    <p:anim calcmode="lin" valueType="num">
                                      <p:cBhvr additive="base">
                                        <p:cTn id="19" dur="500" fill="hold"/>
                                        <p:tgtEl>
                                          <p:spTgt spid="493"/>
                                        </p:tgtEl>
                                        <p:attrNameLst>
                                          <p:attrName>ppt_x</p:attrName>
                                        </p:attrNameLst>
                                      </p:cBhvr>
                                      <p:tavLst>
                                        <p:tav tm="0">
                                          <p:val>
                                            <p:strVal val="#ppt_x"/>
                                          </p:val>
                                        </p:tav>
                                        <p:tav tm="100000">
                                          <p:val>
                                            <p:strVal val="#ppt_x"/>
                                          </p:val>
                                        </p:tav>
                                      </p:tavLst>
                                    </p:anim>
                                    <p:anim calcmode="lin" valueType="num">
                                      <p:cBhvr additive="base">
                                        <p:cTn id="20" dur="500" fill="hold"/>
                                        <p:tgtEl>
                                          <p:spTgt spid="49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01"/>
                                        </p:tgtEl>
                                        <p:attrNameLst>
                                          <p:attrName>style.visibility</p:attrName>
                                        </p:attrNameLst>
                                      </p:cBhvr>
                                      <p:to>
                                        <p:strVal val="visible"/>
                                      </p:to>
                                    </p:set>
                                    <p:anim calcmode="lin" valueType="num">
                                      <p:cBhvr additive="base">
                                        <p:cTn id="23" dur="500" fill="hold"/>
                                        <p:tgtEl>
                                          <p:spTgt spid="501"/>
                                        </p:tgtEl>
                                        <p:attrNameLst>
                                          <p:attrName>ppt_x</p:attrName>
                                        </p:attrNameLst>
                                      </p:cBhvr>
                                      <p:tavLst>
                                        <p:tav tm="0">
                                          <p:val>
                                            <p:strVal val="#ppt_x"/>
                                          </p:val>
                                        </p:tav>
                                        <p:tav tm="100000">
                                          <p:val>
                                            <p:strVal val="#ppt_x"/>
                                          </p:val>
                                        </p:tav>
                                      </p:tavLst>
                                    </p:anim>
                                    <p:anim calcmode="lin" valueType="num">
                                      <p:cBhvr additive="base">
                                        <p:cTn id="24" dur="500" fill="hold"/>
                                        <p:tgtEl>
                                          <p:spTgt spid="50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08"/>
                                        </p:tgtEl>
                                        <p:attrNameLst>
                                          <p:attrName>style.visibility</p:attrName>
                                        </p:attrNameLst>
                                      </p:cBhvr>
                                      <p:to>
                                        <p:strVal val="visible"/>
                                      </p:to>
                                    </p:set>
                                    <p:anim calcmode="lin" valueType="num">
                                      <p:cBhvr additive="base">
                                        <p:cTn id="27" dur="500" fill="hold"/>
                                        <p:tgtEl>
                                          <p:spTgt spid="508"/>
                                        </p:tgtEl>
                                        <p:attrNameLst>
                                          <p:attrName>ppt_x</p:attrName>
                                        </p:attrNameLst>
                                      </p:cBhvr>
                                      <p:tavLst>
                                        <p:tav tm="0">
                                          <p:val>
                                            <p:strVal val="#ppt_x"/>
                                          </p:val>
                                        </p:tav>
                                        <p:tav tm="100000">
                                          <p:val>
                                            <p:strVal val="#ppt_x"/>
                                          </p:val>
                                        </p:tav>
                                      </p:tavLst>
                                    </p:anim>
                                    <p:anim calcmode="lin" valueType="num">
                                      <p:cBhvr additive="base">
                                        <p:cTn id="28" dur="500" fill="hold"/>
                                        <p:tgtEl>
                                          <p:spTgt spid="50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07"/>
                                        </p:tgtEl>
                                        <p:attrNameLst>
                                          <p:attrName>style.visibility</p:attrName>
                                        </p:attrNameLst>
                                      </p:cBhvr>
                                      <p:to>
                                        <p:strVal val="visible"/>
                                      </p:to>
                                    </p:set>
                                    <p:anim calcmode="lin" valueType="num">
                                      <p:cBhvr additive="base">
                                        <p:cTn id="31" dur="500" fill="hold"/>
                                        <p:tgtEl>
                                          <p:spTgt spid="507"/>
                                        </p:tgtEl>
                                        <p:attrNameLst>
                                          <p:attrName>ppt_x</p:attrName>
                                        </p:attrNameLst>
                                      </p:cBhvr>
                                      <p:tavLst>
                                        <p:tav tm="0">
                                          <p:val>
                                            <p:strVal val="#ppt_x"/>
                                          </p:val>
                                        </p:tav>
                                        <p:tav tm="100000">
                                          <p:val>
                                            <p:strVal val="#ppt_x"/>
                                          </p:val>
                                        </p:tav>
                                      </p:tavLst>
                                    </p:anim>
                                    <p:anim calcmode="lin" valueType="num">
                                      <p:cBhvr additive="base">
                                        <p:cTn id="32" dur="500" fill="hold"/>
                                        <p:tgtEl>
                                          <p:spTgt spid="50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04"/>
                                        </p:tgtEl>
                                        <p:attrNameLst>
                                          <p:attrName>style.visibility</p:attrName>
                                        </p:attrNameLst>
                                      </p:cBhvr>
                                      <p:to>
                                        <p:strVal val="visible"/>
                                      </p:to>
                                    </p:set>
                                    <p:anim calcmode="lin" valueType="num">
                                      <p:cBhvr additive="base">
                                        <p:cTn id="37" dur="500" fill="hold"/>
                                        <p:tgtEl>
                                          <p:spTgt spid="504"/>
                                        </p:tgtEl>
                                        <p:attrNameLst>
                                          <p:attrName>ppt_x</p:attrName>
                                        </p:attrNameLst>
                                      </p:cBhvr>
                                      <p:tavLst>
                                        <p:tav tm="0">
                                          <p:val>
                                            <p:strVal val="#ppt_x"/>
                                          </p:val>
                                        </p:tav>
                                        <p:tav tm="100000">
                                          <p:val>
                                            <p:strVal val="#ppt_x"/>
                                          </p:val>
                                        </p:tav>
                                      </p:tavLst>
                                    </p:anim>
                                    <p:anim calcmode="lin" valueType="num">
                                      <p:cBhvr additive="base">
                                        <p:cTn id="38" dur="500" fill="hold"/>
                                        <p:tgtEl>
                                          <p:spTgt spid="50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03"/>
                                        </p:tgtEl>
                                        <p:attrNameLst>
                                          <p:attrName>style.visibility</p:attrName>
                                        </p:attrNameLst>
                                      </p:cBhvr>
                                      <p:to>
                                        <p:strVal val="visible"/>
                                      </p:to>
                                    </p:set>
                                    <p:anim calcmode="lin" valueType="num">
                                      <p:cBhvr additive="base">
                                        <p:cTn id="41" dur="500" fill="hold"/>
                                        <p:tgtEl>
                                          <p:spTgt spid="503"/>
                                        </p:tgtEl>
                                        <p:attrNameLst>
                                          <p:attrName>ppt_x</p:attrName>
                                        </p:attrNameLst>
                                      </p:cBhvr>
                                      <p:tavLst>
                                        <p:tav tm="0">
                                          <p:val>
                                            <p:strVal val="#ppt_x"/>
                                          </p:val>
                                        </p:tav>
                                        <p:tav tm="100000">
                                          <p:val>
                                            <p:strVal val="#ppt_x"/>
                                          </p:val>
                                        </p:tav>
                                      </p:tavLst>
                                    </p:anim>
                                    <p:anim calcmode="lin" valueType="num">
                                      <p:cBhvr additive="base">
                                        <p:cTn id="42" dur="500" fill="hold"/>
                                        <p:tgtEl>
                                          <p:spTgt spid="50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502"/>
                                        </p:tgtEl>
                                        <p:attrNameLst>
                                          <p:attrName>style.visibility</p:attrName>
                                        </p:attrNameLst>
                                      </p:cBhvr>
                                      <p:to>
                                        <p:strVal val="visible"/>
                                      </p:to>
                                    </p:set>
                                    <p:anim calcmode="lin" valueType="num">
                                      <p:cBhvr additive="base">
                                        <p:cTn id="45" dur="500" fill="hold"/>
                                        <p:tgtEl>
                                          <p:spTgt spid="502"/>
                                        </p:tgtEl>
                                        <p:attrNameLst>
                                          <p:attrName>ppt_x</p:attrName>
                                        </p:attrNameLst>
                                      </p:cBhvr>
                                      <p:tavLst>
                                        <p:tav tm="0">
                                          <p:val>
                                            <p:strVal val="#ppt_x"/>
                                          </p:val>
                                        </p:tav>
                                        <p:tav tm="100000">
                                          <p:val>
                                            <p:strVal val="#ppt_x"/>
                                          </p:val>
                                        </p:tav>
                                      </p:tavLst>
                                    </p:anim>
                                    <p:anim calcmode="lin" valueType="num">
                                      <p:cBhvr additive="base">
                                        <p:cTn id="46" dur="500" fill="hold"/>
                                        <p:tgtEl>
                                          <p:spTgt spid="50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506"/>
                                        </p:tgtEl>
                                        <p:attrNameLst>
                                          <p:attrName>style.visibility</p:attrName>
                                        </p:attrNameLst>
                                      </p:cBhvr>
                                      <p:to>
                                        <p:strVal val="visible"/>
                                      </p:to>
                                    </p:set>
                                    <p:anim calcmode="lin" valueType="num">
                                      <p:cBhvr additive="base">
                                        <p:cTn id="51" dur="500" fill="hold"/>
                                        <p:tgtEl>
                                          <p:spTgt spid="506"/>
                                        </p:tgtEl>
                                        <p:attrNameLst>
                                          <p:attrName>ppt_x</p:attrName>
                                        </p:attrNameLst>
                                      </p:cBhvr>
                                      <p:tavLst>
                                        <p:tav tm="0">
                                          <p:val>
                                            <p:strVal val="#ppt_x"/>
                                          </p:val>
                                        </p:tav>
                                        <p:tav tm="100000">
                                          <p:val>
                                            <p:strVal val="#ppt_x"/>
                                          </p:val>
                                        </p:tav>
                                      </p:tavLst>
                                    </p:anim>
                                    <p:anim calcmode="lin" valueType="num">
                                      <p:cBhvr additive="base">
                                        <p:cTn id="52" dur="500" fill="hold"/>
                                        <p:tgtEl>
                                          <p:spTgt spid="506"/>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505"/>
                                        </p:tgtEl>
                                        <p:attrNameLst>
                                          <p:attrName>style.visibility</p:attrName>
                                        </p:attrNameLst>
                                      </p:cBhvr>
                                      <p:to>
                                        <p:strVal val="visible"/>
                                      </p:to>
                                    </p:set>
                                    <p:anim calcmode="lin" valueType="num">
                                      <p:cBhvr additive="base">
                                        <p:cTn id="55" dur="500" fill="hold"/>
                                        <p:tgtEl>
                                          <p:spTgt spid="505"/>
                                        </p:tgtEl>
                                        <p:attrNameLst>
                                          <p:attrName>ppt_x</p:attrName>
                                        </p:attrNameLst>
                                      </p:cBhvr>
                                      <p:tavLst>
                                        <p:tav tm="0">
                                          <p:val>
                                            <p:strVal val="#ppt_x"/>
                                          </p:val>
                                        </p:tav>
                                        <p:tav tm="100000">
                                          <p:val>
                                            <p:strVal val="#ppt_x"/>
                                          </p:val>
                                        </p:tav>
                                      </p:tavLst>
                                    </p:anim>
                                    <p:anim calcmode="lin" valueType="num">
                                      <p:cBhvr additive="base">
                                        <p:cTn id="56" dur="500" fill="hold"/>
                                        <p:tgtEl>
                                          <p:spTgt spid="5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 grpId="0"/>
      <p:bldP spid="492" grpId="0"/>
      <p:bldP spid="501" grpId="0"/>
      <p:bldP spid="502" grpId="0" bldLvl="0" animBg="1"/>
      <p:bldP spid="503" grpId="0" bldLvl="0" animBg="1"/>
      <p:bldP spid="504" grpId="0" bldLvl="0" animBg="1"/>
      <p:bldP spid="505" grpId="0" bldLvl="0" animBg="1"/>
      <p:bldP spid="506" grpId="0" bldLvl="0" animBg="1"/>
      <p:bldP spid="507" grpId="0"/>
      <p:bldP spid="508"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插入及分裂完成后</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插入键值为</a:t>
            </a:r>
            <a:r>
              <a:rPr lang="en-US" altLang="zh-CN" sz="2000" b="0" dirty="0">
                <a:latin typeface="微软雅黑" panose="020B0503020204020204" pitchFamily="34" charset="-122"/>
                <a:ea typeface="微软雅黑" panose="020B0503020204020204" pitchFamily="34" charset="-122"/>
              </a:rPr>
              <a:t>40</a:t>
            </a:r>
            <a:r>
              <a:rPr lang="zh-CN" altLang="en-US" sz="2000" b="0" dirty="0">
                <a:latin typeface="微软雅黑" panose="020B0503020204020204" pitchFamily="34" charset="-122"/>
                <a:ea typeface="微软雅黑" panose="020B0503020204020204" pitchFamily="34" charset="-122"/>
              </a:rPr>
              <a:t>的记录</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最终状态</a:t>
            </a:r>
            <a:endParaRPr lang="zh-CN" altLang="en-US" sz="2000" b="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插入与结点分裂过程示意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511" name="Group 4"/>
          <p:cNvGrpSpPr/>
          <p:nvPr/>
        </p:nvGrpSpPr>
        <p:grpSpPr>
          <a:xfrm>
            <a:off x="4465638" y="1993900"/>
            <a:ext cx="1238250" cy="695325"/>
            <a:chOff x="856" y="1440"/>
            <a:chExt cx="1291" cy="667"/>
          </a:xfrm>
        </p:grpSpPr>
        <p:sp>
          <p:nvSpPr>
            <p:cNvPr id="513" name="Rectangle 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14" name="Line 6"/>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15" name="Line 7"/>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16" name="Line 8"/>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17" name="Line 9"/>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18" name="Line 10"/>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19" name="Line 11"/>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520" name="Text Box 12"/>
          <p:cNvSpPr txBox="1"/>
          <p:nvPr/>
        </p:nvSpPr>
        <p:spPr>
          <a:xfrm>
            <a:off x="4394200" y="197008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521" name="Group 13"/>
          <p:cNvGrpSpPr/>
          <p:nvPr/>
        </p:nvGrpSpPr>
        <p:grpSpPr>
          <a:xfrm>
            <a:off x="3152775" y="3155950"/>
            <a:ext cx="1238250" cy="695325"/>
            <a:chOff x="856" y="1440"/>
            <a:chExt cx="1291" cy="667"/>
          </a:xfrm>
        </p:grpSpPr>
        <p:sp>
          <p:nvSpPr>
            <p:cNvPr id="522" name="Rectangle 1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23" name="Line 1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24" name="Line 1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25" name="Line 1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26" name="Line 1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27" name="Line 1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28" name="Line 2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29" name="Group 29"/>
          <p:cNvGrpSpPr/>
          <p:nvPr/>
        </p:nvGrpSpPr>
        <p:grpSpPr>
          <a:xfrm>
            <a:off x="1493838" y="4432300"/>
            <a:ext cx="1238250" cy="695325"/>
            <a:chOff x="856" y="1440"/>
            <a:chExt cx="1291" cy="667"/>
          </a:xfrm>
        </p:grpSpPr>
        <p:sp>
          <p:nvSpPr>
            <p:cNvPr id="530"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31" name="Line 3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32" name="Line 3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33" name="Line 3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34" name="Line 3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35" name="Line 3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36" name="Line 3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37" name="Group 37"/>
          <p:cNvGrpSpPr/>
          <p:nvPr/>
        </p:nvGrpSpPr>
        <p:grpSpPr>
          <a:xfrm>
            <a:off x="2979738" y="4432300"/>
            <a:ext cx="1238250" cy="695325"/>
            <a:chOff x="856" y="1440"/>
            <a:chExt cx="1291" cy="667"/>
          </a:xfrm>
        </p:grpSpPr>
        <p:sp>
          <p:nvSpPr>
            <p:cNvPr id="538" name="Rectangle 3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39" name="Line 3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40" name="Line 4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41" name="Line 4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42" name="Line 4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43" name="Line 4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44" name="Line 4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45" name="Group 45"/>
          <p:cNvGrpSpPr/>
          <p:nvPr/>
        </p:nvGrpSpPr>
        <p:grpSpPr>
          <a:xfrm>
            <a:off x="4465638" y="4432300"/>
            <a:ext cx="1238250" cy="695325"/>
            <a:chOff x="856" y="1440"/>
            <a:chExt cx="1291" cy="667"/>
          </a:xfrm>
        </p:grpSpPr>
        <p:sp>
          <p:nvSpPr>
            <p:cNvPr id="546" name="Rectangle 4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47" name="Line 4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48" name="Line 4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49" name="Line 4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50" name="Line 5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51" name="Line 5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52" name="Line 5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53" name="Group 53"/>
          <p:cNvGrpSpPr/>
          <p:nvPr/>
        </p:nvGrpSpPr>
        <p:grpSpPr>
          <a:xfrm>
            <a:off x="5951538" y="4432300"/>
            <a:ext cx="1238250" cy="695325"/>
            <a:chOff x="856" y="1440"/>
            <a:chExt cx="1291" cy="667"/>
          </a:xfrm>
        </p:grpSpPr>
        <p:sp>
          <p:nvSpPr>
            <p:cNvPr id="554" name="Rectangle 5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55" name="Line 5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56" name="Line 5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57" name="Line 5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58" name="Line 5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59" name="Line 5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60" name="Line 6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61" name="Group 61"/>
          <p:cNvGrpSpPr/>
          <p:nvPr/>
        </p:nvGrpSpPr>
        <p:grpSpPr>
          <a:xfrm>
            <a:off x="8924925" y="4432300"/>
            <a:ext cx="1238250" cy="695325"/>
            <a:chOff x="856" y="1440"/>
            <a:chExt cx="1291" cy="667"/>
          </a:xfrm>
        </p:grpSpPr>
        <p:sp>
          <p:nvSpPr>
            <p:cNvPr id="562" name="Rectangle 6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63" name="Line 6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64" name="Line 6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65" name="Line 6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66" name="Line 6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67" name="Line 6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68" name="Line 6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569" name="Text Box 69"/>
          <p:cNvSpPr txBox="1"/>
          <p:nvPr/>
        </p:nvSpPr>
        <p:spPr>
          <a:xfrm>
            <a:off x="3095625" y="31369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570" name="Text Box 70"/>
          <p:cNvSpPr txBox="1"/>
          <p:nvPr/>
        </p:nvSpPr>
        <p:spPr>
          <a:xfrm>
            <a:off x="1455738" y="44037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571" name="Text Box 71"/>
          <p:cNvSpPr txBox="1"/>
          <p:nvPr/>
        </p:nvSpPr>
        <p:spPr>
          <a:xfrm>
            <a:off x="1836738" y="44037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572" name="Text Box 72"/>
          <p:cNvSpPr txBox="1"/>
          <p:nvPr/>
        </p:nvSpPr>
        <p:spPr>
          <a:xfrm>
            <a:off x="2335213" y="4403725"/>
            <a:ext cx="400050"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573" name="Text Box 73"/>
          <p:cNvSpPr txBox="1"/>
          <p:nvPr/>
        </p:nvSpPr>
        <p:spPr>
          <a:xfrm>
            <a:off x="2903538" y="44037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574" name="Text Box 74"/>
          <p:cNvSpPr txBox="1"/>
          <p:nvPr/>
        </p:nvSpPr>
        <p:spPr>
          <a:xfrm>
            <a:off x="3284538" y="44037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11</a:t>
            </a:r>
            <a:endParaRPr lang="en-US" altLang="zh-CN" sz="1800" dirty="0">
              <a:latin typeface="Times New Roman" panose="02020603050405020304" pitchFamily="18" charset="0"/>
              <a:ea typeface="楷体_GB2312" pitchFamily="49" charset="-122"/>
            </a:endParaRPr>
          </a:p>
        </p:txBody>
      </p:sp>
      <p:sp>
        <p:nvSpPr>
          <p:cNvPr id="575" name="Text Box 75"/>
          <p:cNvSpPr txBox="1"/>
          <p:nvPr/>
        </p:nvSpPr>
        <p:spPr>
          <a:xfrm>
            <a:off x="4389438" y="44227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261" name="Text Box 76"/>
          <p:cNvSpPr txBox="1"/>
          <p:nvPr/>
        </p:nvSpPr>
        <p:spPr>
          <a:xfrm>
            <a:off x="4808538" y="44227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262" name="Text Box 77"/>
          <p:cNvSpPr txBox="1"/>
          <p:nvPr/>
        </p:nvSpPr>
        <p:spPr>
          <a:xfrm>
            <a:off x="5268913" y="4422775"/>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263" name="Text Box 78"/>
          <p:cNvSpPr txBox="1"/>
          <p:nvPr/>
        </p:nvSpPr>
        <p:spPr>
          <a:xfrm>
            <a:off x="5888038" y="44100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264" name="Text Box 79"/>
          <p:cNvSpPr txBox="1"/>
          <p:nvPr/>
        </p:nvSpPr>
        <p:spPr>
          <a:xfrm>
            <a:off x="6307138" y="44100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265" name="Text Box 80"/>
          <p:cNvSpPr txBox="1"/>
          <p:nvPr/>
        </p:nvSpPr>
        <p:spPr>
          <a:xfrm>
            <a:off x="8864600" y="44164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266" name="Text Box 81"/>
          <p:cNvSpPr txBox="1"/>
          <p:nvPr/>
        </p:nvSpPr>
        <p:spPr>
          <a:xfrm>
            <a:off x="9283700" y="44164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grpSp>
        <p:nvGrpSpPr>
          <p:cNvPr id="267" name="Group 88"/>
          <p:cNvGrpSpPr/>
          <p:nvPr/>
        </p:nvGrpSpPr>
        <p:grpSpPr>
          <a:xfrm>
            <a:off x="1974850" y="3724275"/>
            <a:ext cx="1606550" cy="704850"/>
            <a:chOff x="420" y="2502"/>
            <a:chExt cx="1012" cy="626"/>
          </a:xfrm>
        </p:grpSpPr>
        <p:sp>
          <p:nvSpPr>
            <p:cNvPr id="268" name="Line 89"/>
            <p:cNvSpPr/>
            <p:nvPr/>
          </p:nvSpPr>
          <p:spPr>
            <a:xfrm flipH="1">
              <a:off x="1276" y="2519"/>
              <a:ext cx="156" cy="601"/>
            </a:xfrm>
            <a:prstGeom prst="line">
              <a:avLst/>
            </a:prstGeom>
            <a:ln w="9525" cap="flat" cmpd="sng">
              <a:solidFill>
                <a:srgbClr val="FF0066"/>
              </a:solidFill>
              <a:prstDash val="solid"/>
              <a:round/>
              <a:headEnd type="none" w="med" len="med"/>
              <a:tailEnd type="triangle" w="med" len="med"/>
            </a:ln>
          </p:spPr>
        </p:sp>
        <p:sp>
          <p:nvSpPr>
            <p:cNvPr id="269" name="Line 90"/>
            <p:cNvSpPr/>
            <p:nvPr/>
          </p:nvSpPr>
          <p:spPr>
            <a:xfrm flipH="1">
              <a:off x="420" y="2502"/>
              <a:ext cx="848" cy="626"/>
            </a:xfrm>
            <a:prstGeom prst="line">
              <a:avLst/>
            </a:prstGeom>
            <a:ln w="9525" cap="flat" cmpd="sng">
              <a:solidFill>
                <a:srgbClr val="FF0066"/>
              </a:solidFill>
              <a:prstDash val="solid"/>
              <a:round/>
              <a:headEnd type="none" w="med" len="med"/>
              <a:tailEnd type="triangle" w="med" len="med"/>
            </a:ln>
          </p:spPr>
        </p:sp>
      </p:grpSp>
      <p:sp>
        <p:nvSpPr>
          <p:cNvPr id="270" name="Line 92"/>
          <p:cNvSpPr/>
          <p:nvPr/>
        </p:nvSpPr>
        <p:spPr>
          <a:xfrm flipH="1">
            <a:off x="3646488" y="2527300"/>
            <a:ext cx="941387" cy="627063"/>
          </a:xfrm>
          <a:prstGeom prst="line">
            <a:avLst/>
          </a:prstGeom>
          <a:ln w="9525" cap="flat" cmpd="sng">
            <a:solidFill>
              <a:srgbClr val="FF0066"/>
            </a:solidFill>
            <a:prstDash val="solid"/>
            <a:round/>
            <a:headEnd type="none" w="med" len="med"/>
            <a:tailEnd type="triangle" w="med" len="med"/>
          </a:ln>
        </p:spPr>
      </p:sp>
      <p:sp>
        <p:nvSpPr>
          <p:cNvPr id="271" name="Line 94"/>
          <p:cNvSpPr/>
          <p:nvPr/>
        </p:nvSpPr>
        <p:spPr>
          <a:xfrm>
            <a:off x="1462088" y="3957638"/>
            <a:ext cx="8699500" cy="0"/>
          </a:xfrm>
          <a:prstGeom prst="line">
            <a:avLst/>
          </a:prstGeom>
          <a:ln w="9525" cap="flat" cmpd="sng">
            <a:solidFill>
              <a:srgbClr val="FF0066"/>
            </a:solidFill>
            <a:prstDash val="dash"/>
            <a:round/>
            <a:headEnd type="none" w="med" len="med"/>
            <a:tailEnd type="none" w="med" len="med"/>
          </a:ln>
        </p:spPr>
      </p:sp>
      <p:sp>
        <p:nvSpPr>
          <p:cNvPr id="272" name="Line 95"/>
          <p:cNvSpPr/>
          <p:nvPr/>
        </p:nvSpPr>
        <p:spPr>
          <a:xfrm>
            <a:off x="1647825" y="4991100"/>
            <a:ext cx="0" cy="365125"/>
          </a:xfrm>
          <a:prstGeom prst="line">
            <a:avLst/>
          </a:prstGeom>
          <a:ln w="9525" cap="flat" cmpd="sng">
            <a:solidFill>
              <a:srgbClr val="FF0066"/>
            </a:solidFill>
            <a:prstDash val="solid"/>
            <a:round/>
            <a:headEnd type="none" w="med" len="med"/>
            <a:tailEnd type="triangle" w="med" len="med"/>
          </a:ln>
        </p:spPr>
      </p:sp>
      <p:sp>
        <p:nvSpPr>
          <p:cNvPr id="273" name="Line 96"/>
          <p:cNvSpPr/>
          <p:nvPr/>
        </p:nvSpPr>
        <p:spPr>
          <a:xfrm>
            <a:off x="1927225" y="4991100"/>
            <a:ext cx="0" cy="365125"/>
          </a:xfrm>
          <a:prstGeom prst="line">
            <a:avLst/>
          </a:prstGeom>
          <a:ln w="9525" cap="flat" cmpd="sng">
            <a:solidFill>
              <a:srgbClr val="FF0066"/>
            </a:solidFill>
            <a:prstDash val="solid"/>
            <a:round/>
            <a:headEnd type="none" w="med" len="med"/>
            <a:tailEnd type="triangle" w="med" len="med"/>
          </a:ln>
        </p:spPr>
      </p:sp>
      <p:sp>
        <p:nvSpPr>
          <p:cNvPr id="274" name="Line 97"/>
          <p:cNvSpPr/>
          <p:nvPr/>
        </p:nvSpPr>
        <p:spPr>
          <a:xfrm>
            <a:off x="2244725" y="4991100"/>
            <a:ext cx="0" cy="365125"/>
          </a:xfrm>
          <a:prstGeom prst="line">
            <a:avLst/>
          </a:prstGeom>
          <a:ln w="9525" cap="flat" cmpd="sng">
            <a:solidFill>
              <a:srgbClr val="FF0066"/>
            </a:solidFill>
            <a:prstDash val="solid"/>
            <a:round/>
            <a:headEnd type="none" w="med" len="med"/>
            <a:tailEnd type="triangle" w="med" len="med"/>
          </a:ln>
        </p:spPr>
      </p:sp>
      <p:sp>
        <p:nvSpPr>
          <p:cNvPr id="275" name="Line 98"/>
          <p:cNvSpPr/>
          <p:nvPr/>
        </p:nvSpPr>
        <p:spPr>
          <a:xfrm>
            <a:off x="2601913" y="4964113"/>
            <a:ext cx="377825" cy="0"/>
          </a:xfrm>
          <a:prstGeom prst="line">
            <a:avLst/>
          </a:prstGeom>
          <a:ln w="9525" cap="flat" cmpd="sng">
            <a:solidFill>
              <a:srgbClr val="FF0066"/>
            </a:solidFill>
            <a:prstDash val="solid"/>
            <a:round/>
            <a:headEnd type="none" w="med" len="med"/>
            <a:tailEnd type="triangle" w="med" len="med"/>
          </a:ln>
        </p:spPr>
      </p:sp>
      <p:sp>
        <p:nvSpPr>
          <p:cNvPr id="276" name="Line 99"/>
          <p:cNvSpPr/>
          <p:nvPr/>
        </p:nvSpPr>
        <p:spPr>
          <a:xfrm>
            <a:off x="3121025" y="4991100"/>
            <a:ext cx="0" cy="365125"/>
          </a:xfrm>
          <a:prstGeom prst="line">
            <a:avLst/>
          </a:prstGeom>
          <a:ln w="9525" cap="flat" cmpd="sng">
            <a:solidFill>
              <a:srgbClr val="FF0066"/>
            </a:solidFill>
            <a:prstDash val="solid"/>
            <a:round/>
            <a:headEnd type="none" w="med" len="med"/>
            <a:tailEnd type="triangle" w="med" len="med"/>
          </a:ln>
        </p:spPr>
      </p:sp>
      <p:sp>
        <p:nvSpPr>
          <p:cNvPr id="277" name="Line 100"/>
          <p:cNvSpPr/>
          <p:nvPr/>
        </p:nvSpPr>
        <p:spPr>
          <a:xfrm>
            <a:off x="3400425" y="4991100"/>
            <a:ext cx="0" cy="365125"/>
          </a:xfrm>
          <a:prstGeom prst="line">
            <a:avLst/>
          </a:prstGeom>
          <a:ln w="9525" cap="flat" cmpd="sng">
            <a:solidFill>
              <a:srgbClr val="FF0066"/>
            </a:solidFill>
            <a:prstDash val="solid"/>
            <a:round/>
            <a:headEnd type="none" w="med" len="med"/>
            <a:tailEnd type="triangle" w="med" len="med"/>
          </a:ln>
        </p:spPr>
      </p:sp>
      <p:sp>
        <p:nvSpPr>
          <p:cNvPr id="278" name="Line 101"/>
          <p:cNvSpPr/>
          <p:nvPr/>
        </p:nvSpPr>
        <p:spPr>
          <a:xfrm>
            <a:off x="4075113" y="4976813"/>
            <a:ext cx="377825" cy="0"/>
          </a:xfrm>
          <a:prstGeom prst="line">
            <a:avLst/>
          </a:prstGeom>
          <a:ln w="9525" cap="flat" cmpd="sng">
            <a:solidFill>
              <a:srgbClr val="FF0066"/>
            </a:solidFill>
            <a:prstDash val="solid"/>
            <a:round/>
            <a:headEnd type="none" w="med" len="med"/>
            <a:tailEnd type="triangle" w="med" len="med"/>
          </a:ln>
        </p:spPr>
      </p:sp>
      <p:sp>
        <p:nvSpPr>
          <p:cNvPr id="279" name="Line 102"/>
          <p:cNvSpPr/>
          <p:nvPr/>
        </p:nvSpPr>
        <p:spPr>
          <a:xfrm>
            <a:off x="4619625" y="4991100"/>
            <a:ext cx="0" cy="365125"/>
          </a:xfrm>
          <a:prstGeom prst="line">
            <a:avLst/>
          </a:prstGeom>
          <a:ln w="9525" cap="flat" cmpd="sng">
            <a:solidFill>
              <a:srgbClr val="FF0066"/>
            </a:solidFill>
            <a:prstDash val="solid"/>
            <a:round/>
            <a:headEnd type="none" w="med" len="med"/>
            <a:tailEnd type="triangle" w="med" len="med"/>
          </a:ln>
        </p:spPr>
      </p:sp>
      <p:sp>
        <p:nvSpPr>
          <p:cNvPr id="280" name="Line 103"/>
          <p:cNvSpPr/>
          <p:nvPr/>
        </p:nvSpPr>
        <p:spPr>
          <a:xfrm>
            <a:off x="4911725" y="4991100"/>
            <a:ext cx="0" cy="365125"/>
          </a:xfrm>
          <a:prstGeom prst="line">
            <a:avLst/>
          </a:prstGeom>
          <a:ln w="9525" cap="flat" cmpd="sng">
            <a:solidFill>
              <a:srgbClr val="FF0066"/>
            </a:solidFill>
            <a:prstDash val="solid"/>
            <a:round/>
            <a:headEnd type="none" w="med" len="med"/>
            <a:tailEnd type="triangle" w="med" len="med"/>
          </a:ln>
        </p:spPr>
      </p:sp>
      <p:sp>
        <p:nvSpPr>
          <p:cNvPr id="281" name="Line 104"/>
          <p:cNvSpPr/>
          <p:nvPr/>
        </p:nvSpPr>
        <p:spPr>
          <a:xfrm>
            <a:off x="5216525" y="4991100"/>
            <a:ext cx="0" cy="365125"/>
          </a:xfrm>
          <a:prstGeom prst="line">
            <a:avLst/>
          </a:prstGeom>
          <a:ln w="9525" cap="flat" cmpd="sng">
            <a:solidFill>
              <a:srgbClr val="FF0066"/>
            </a:solidFill>
            <a:prstDash val="solid"/>
            <a:round/>
            <a:headEnd type="none" w="med" len="med"/>
            <a:tailEnd type="triangle" w="med" len="med"/>
          </a:ln>
        </p:spPr>
      </p:sp>
      <p:sp>
        <p:nvSpPr>
          <p:cNvPr id="282" name="Line 105"/>
          <p:cNvSpPr/>
          <p:nvPr/>
        </p:nvSpPr>
        <p:spPr>
          <a:xfrm>
            <a:off x="5573713" y="4976813"/>
            <a:ext cx="377825" cy="0"/>
          </a:xfrm>
          <a:prstGeom prst="line">
            <a:avLst/>
          </a:prstGeom>
          <a:ln w="9525" cap="flat" cmpd="sng">
            <a:solidFill>
              <a:srgbClr val="FF0066"/>
            </a:solidFill>
            <a:prstDash val="solid"/>
            <a:round/>
            <a:headEnd type="none" w="med" len="med"/>
            <a:tailEnd type="triangle" w="med" len="med"/>
          </a:ln>
        </p:spPr>
      </p:sp>
      <p:sp>
        <p:nvSpPr>
          <p:cNvPr id="283" name="Line 106"/>
          <p:cNvSpPr/>
          <p:nvPr/>
        </p:nvSpPr>
        <p:spPr>
          <a:xfrm>
            <a:off x="6092825" y="4991100"/>
            <a:ext cx="0" cy="365125"/>
          </a:xfrm>
          <a:prstGeom prst="line">
            <a:avLst/>
          </a:prstGeom>
          <a:ln w="9525" cap="flat" cmpd="sng">
            <a:solidFill>
              <a:srgbClr val="FF0066"/>
            </a:solidFill>
            <a:prstDash val="solid"/>
            <a:round/>
            <a:headEnd type="none" w="med" len="med"/>
            <a:tailEnd type="triangle" w="med" len="med"/>
          </a:ln>
        </p:spPr>
      </p:sp>
      <p:sp>
        <p:nvSpPr>
          <p:cNvPr id="284" name="Line 107"/>
          <p:cNvSpPr/>
          <p:nvPr/>
        </p:nvSpPr>
        <p:spPr>
          <a:xfrm>
            <a:off x="6372225" y="4991100"/>
            <a:ext cx="0" cy="365125"/>
          </a:xfrm>
          <a:prstGeom prst="line">
            <a:avLst/>
          </a:prstGeom>
          <a:ln w="9525" cap="flat" cmpd="sng">
            <a:solidFill>
              <a:srgbClr val="FF0066"/>
            </a:solidFill>
            <a:prstDash val="solid"/>
            <a:round/>
            <a:headEnd type="none" w="med" len="med"/>
            <a:tailEnd type="triangle" w="med" len="med"/>
          </a:ln>
        </p:spPr>
      </p:sp>
      <p:sp>
        <p:nvSpPr>
          <p:cNvPr id="285" name="Line 108"/>
          <p:cNvSpPr/>
          <p:nvPr/>
        </p:nvSpPr>
        <p:spPr>
          <a:xfrm>
            <a:off x="9077325" y="4978400"/>
            <a:ext cx="0" cy="365125"/>
          </a:xfrm>
          <a:prstGeom prst="line">
            <a:avLst/>
          </a:prstGeom>
          <a:ln w="9525" cap="flat" cmpd="sng">
            <a:solidFill>
              <a:srgbClr val="FF0066"/>
            </a:solidFill>
            <a:prstDash val="solid"/>
            <a:round/>
            <a:headEnd type="none" w="med" len="med"/>
            <a:tailEnd type="triangle" w="med" len="med"/>
          </a:ln>
        </p:spPr>
      </p:sp>
      <p:sp>
        <p:nvSpPr>
          <p:cNvPr id="286" name="Line 109"/>
          <p:cNvSpPr/>
          <p:nvPr/>
        </p:nvSpPr>
        <p:spPr>
          <a:xfrm>
            <a:off x="9356725" y="4978400"/>
            <a:ext cx="0" cy="365125"/>
          </a:xfrm>
          <a:prstGeom prst="line">
            <a:avLst/>
          </a:prstGeom>
          <a:ln w="9525" cap="flat" cmpd="sng">
            <a:solidFill>
              <a:srgbClr val="FF0066"/>
            </a:solidFill>
            <a:prstDash val="solid"/>
            <a:round/>
            <a:headEnd type="none" w="med" len="med"/>
            <a:tailEnd type="triangle" w="med" len="med"/>
          </a:ln>
        </p:spPr>
      </p:sp>
      <p:grpSp>
        <p:nvGrpSpPr>
          <p:cNvPr id="287" name="Group 110"/>
          <p:cNvGrpSpPr/>
          <p:nvPr/>
        </p:nvGrpSpPr>
        <p:grpSpPr>
          <a:xfrm>
            <a:off x="6661150" y="5654675"/>
            <a:ext cx="1238250" cy="695325"/>
            <a:chOff x="856" y="1440"/>
            <a:chExt cx="1291" cy="667"/>
          </a:xfrm>
        </p:grpSpPr>
        <p:sp>
          <p:nvSpPr>
            <p:cNvPr id="288" name="Rectangle 111"/>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89" name="Line 112"/>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290" name="Line 113"/>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291" name="Line 114"/>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292" name="Line 115"/>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293" name="Line 116"/>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294" name="Line 117"/>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295" name="Text Box 118"/>
          <p:cNvSpPr txBox="1"/>
          <p:nvPr/>
        </p:nvSpPr>
        <p:spPr>
          <a:xfrm>
            <a:off x="6624638" y="56388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296" name="Text Box 119"/>
          <p:cNvSpPr txBox="1"/>
          <p:nvPr/>
        </p:nvSpPr>
        <p:spPr>
          <a:xfrm>
            <a:off x="7043738" y="56388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297" name="Line 120"/>
          <p:cNvSpPr/>
          <p:nvPr/>
        </p:nvSpPr>
        <p:spPr>
          <a:xfrm>
            <a:off x="6827838" y="6213475"/>
            <a:ext cx="0" cy="365125"/>
          </a:xfrm>
          <a:prstGeom prst="line">
            <a:avLst/>
          </a:prstGeom>
          <a:ln w="9525" cap="flat" cmpd="sng">
            <a:solidFill>
              <a:srgbClr val="CC0000"/>
            </a:solidFill>
            <a:prstDash val="solid"/>
            <a:round/>
            <a:headEnd type="none" w="med" len="med"/>
            <a:tailEnd type="triangle" w="med" len="med"/>
          </a:ln>
        </p:spPr>
      </p:sp>
      <p:sp>
        <p:nvSpPr>
          <p:cNvPr id="298" name="Line 121"/>
          <p:cNvSpPr/>
          <p:nvPr/>
        </p:nvSpPr>
        <p:spPr>
          <a:xfrm>
            <a:off x="7107238" y="6213475"/>
            <a:ext cx="0" cy="365125"/>
          </a:xfrm>
          <a:prstGeom prst="line">
            <a:avLst/>
          </a:prstGeom>
          <a:ln w="9525" cap="flat" cmpd="sng">
            <a:solidFill>
              <a:srgbClr val="CC0000"/>
            </a:solidFill>
            <a:prstDash val="solid"/>
            <a:round/>
            <a:headEnd type="none" w="med" len="med"/>
            <a:tailEnd type="triangle" w="med" len="med"/>
          </a:ln>
        </p:spPr>
      </p:sp>
      <p:grpSp>
        <p:nvGrpSpPr>
          <p:cNvPr id="299" name="Group 123"/>
          <p:cNvGrpSpPr/>
          <p:nvPr/>
        </p:nvGrpSpPr>
        <p:grpSpPr>
          <a:xfrm>
            <a:off x="8197850" y="5661025"/>
            <a:ext cx="1238250" cy="695325"/>
            <a:chOff x="856" y="1440"/>
            <a:chExt cx="1291" cy="667"/>
          </a:xfrm>
        </p:grpSpPr>
        <p:sp>
          <p:nvSpPr>
            <p:cNvPr id="300" name="Rectangle 124"/>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01" name="Line 125"/>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302" name="Line 126"/>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303" name="Line 127"/>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304" name="Line 128"/>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305" name="Line 129"/>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306" name="Line 130"/>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307" name="Text Box 131"/>
          <p:cNvSpPr txBox="1"/>
          <p:nvPr/>
        </p:nvSpPr>
        <p:spPr>
          <a:xfrm>
            <a:off x="8161338" y="5645150"/>
            <a:ext cx="542925" cy="366713"/>
          </a:xfrm>
          <a:prstGeom prst="rect">
            <a:avLst/>
          </a:prstGeom>
          <a:noFill/>
          <a:ln w="9525">
            <a:noFill/>
          </a:ln>
        </p:spPr>
        <p:txBody>
          <a:bodyPr anchor="t">
            <a:spAutoFit/>
          </a:bodyPr>
          <a:lstStyle/>
          <a:p>
            <a:pPr algn="ctr"/>
            <a:r>
              <a:rPr lang="en-US" altLang="zh-CN" sz="1800" dirty="0">
                <a:solidFill>
                  <a:schemeClr val="accent2"/>
                </a:solidFill>
                <a:latin typeface="Times New Roman" panose="02020603050405020304" pitchFamily="18" charset="0"/>
                <a:ea typeface="楷体_GB2312" pitchFamily="49" charset="-122"/>
              </a:rPr>
              <a:t>40</a:t>
            </a:r>
            <a:endParaRPr lang="en-US" altLang="zh-CN" sz="1800" dirty="0">
              <a:solidFill>
                <a:schemeClr val="accent2"/>
              </a:solidFill>
              <a:latin typeface="Times New Roman" panose="02020603050405020304" pitchFamily="18" charset="0"/>
              <a:ea typeface="楷体_GB2312" pitchFamily="49" charset="-122"/>
            </a:endParaRPr>
          </a:p>
        </p:txBody>
      </p:sp>
      <p:sp>
        <p:nvSpPr>
          <p:cNvPr id="308" name="Text Box 132"/>
          <p:cNvSpPr txBox="1"/>
          <p:nvPr/>
        </p:nvSpPr>
        <p:spPr>
          <a:xfrm>
            <a:off x="8580438" y="56451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309" name="Line 133"/>
          <p:cNvSpPr/>
          <p:nvPr/>
        </p:nvSpPr>
        <p:spPr>
          <a:xfrm>
            <a:off x="8364538" y="6219825"/>
            <a:ext cx="0" cy="365125"/>
          </a:xfrm>
          <a:prstGeom prst="line">
            <a:avLst/>
          </a:prstGeom>
          <a:ln w="38100" cap="flat" cmpd="sng">
            <a:solidFill>
              <a:srgbClr val="6666FF"/>
            </a:solidFill>
            <a:prstDash val="solid"/>
            <a:round/>
            <a:headEnd type="none" w="med" len="med"/>
            <a:tailEnd type="triangle" w="med" len="med"/>
          </a:ln>
        </p:spPr>
      </p:sp>
      <p:sp>
        <p:nvSpPr>
          <p:cNvPr id="310" name="Line 134"/>
          <p:cNvSpPr/>
          <p:nvPr/>
        </p:nvSpPr>
        <p:spPr>
          <a:xfrm>
            <a:off x="8643938" y="6219825"/>
            <a:ext cx="0" cy="365125"/>
          </a:xfrm>
          <a:prstGeom prst="line">
            <a:avLst/>
          </a:prstGeom>
          <a:ln w="9525" cap="flat" cmpd="sng">
            <a:solidFill>
              <a:srgbClr val="CC0000"/>
            </a:solidFill>
            <a:prstDash val="solid"/>
            <a:round/>
            <a:headEnd type="none" w="med" len="med"/>
            <a:tailEnd type="triangle" w="med" len="med"/>
          </a:ln>
        </p:spPr>
      </p:sp>
      <p:sp>
        <p:nvSpPr>
          <p:cNvPr id="311" name="Freeform 136"/>
          <p:cNvSpPr/>
          <p:nvPr/>
        </p:nvSpPr>
        <p:spPr>
          <a:xfrm>
            <a:off x="6199188" y="4970463"/>
            <a:ext cx="1033462" cy="914400"/>
          </a:xfrm>
          <a:custGeom>
            <a:avLst/>
            <a:gdLst/>
            <a:ahLst/>
            <a:cxnLst>
              <a:cxn ang="0">
                <a:pos x="523" y="0"/>
              </a:cxn>
              <a:cxn ang="0">
                <a:pos x="581" y="197"/>
              </a:cxn>
              <a:cxn ang="0">
                <a:pos x="103" y="378"/>
              </a:cxn>
              <a:cxn ang="0">
                <a:pos x="29" y="543"/>
              </a:cxn>
              <a:cxn ang="0">
                <a:pos x="276" y="576"/>
              </a:cxn>
            </a:cxnLst>
            <a:rect l="0" t="0" r="0" b="0"/>
            <a:pathLst>
              <a:path w="651" h="576">
                <a:moveTo>
                  <a:pt x="523" y="0"/>
                </a:moveTo>
                <a:cubicBezTo>
                  <a:pt x="533" y="33"/>
                  <a:pt x="651" y="134"/>
                  <a:pt x="581" y="197"/>
                </a:cubicBezTo>
                <a:cubicBezTo>
                  <a:pt x="511" y="260"/>
                  <a:pt x="195" y="320"/>
                  <a:pt x="103" y="378"/>
                </a:cubicBezTo>
                <a:cubicBezTo>
                  <a:pt x="11" y="436"/>
                  <a:pt x="0" y="510"/>
                  <a:pt x="29" y="543"/>
                </a:cubicBezTo>
                <a:cubicBezTo>
                  <a:pt x="58" y="576"/>
                  <a:pt x="225" y="569"/>
                  <a:pt x="276" y="576"/>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grpSp>
        <p:nvGrpSpPr>
          <p:cNvPr id="312" name="Group 139"/>
          <p:cNvGrpSpPr/>
          <p:nvPr/>
        </p:nvGrpSpPr>
        <p:grpSpPr>
          <a:xfrm>
            <a:off x="6745288" y="3033713"/>
            <a:ext cx="1238250" cy="695325"/>
            <a:chOff x="856" y="1440"/>
            <a:chExt cx="1291" cy="667"/>
          </a:xfrm>
        </p:grpSpPr>
        <p:sp>
          <p:nvSpPr>
            <p:cNvPr id="313" name="Rectangle 140"/>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14" name="Line 141"/>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315" name="Line 142"/>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316" name="Line 143"/>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317" name="Line 144"/>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318" name="Line 145"/>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319" name="Line 146"/>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384" name="Text Box 147"/>
          <p:cNvSpPr txBox="1"/>
          <p:nvPr/>
        </p:nvSpPr>
        <p:spPr>
          <a:xfrm>
            <a:off x="6708775" y="301783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385" name="Text Box 148"/>
          <p:cNvSpPr txBox="1"/>
          <p:nvPr/>
        </p:nvSpPr>
        <p:spPr>
          <a:xfrm>
            <a:off x="7127875" y="301783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grpSp>
        <p:nvGrpSpPr>
          <p:cNvPr id="386" name="Group 150"/>
          <p:cNvGrpSpPr/>
          <p:nvPr/>
        </p:nvGrpSpPr>
        <p:grpSpPr>
          <a:xfrm>
            <a:off x="8281988" y="3040063"/>
            <a:ext cx="1238250" cy="695325"/>
            <a:chOff x="856" y="1440"/>
            <a:chExt cx="1291" cy="667"/>
          </a:xfrm>
        </p:grpSpPr>
        <p:sp>
          <p:nvSpPr>
            <p:cNvPr id="387" name="Rectangle 151"/>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88" name="Line 152"/>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389" name="Line 153"/>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390" name="Line 154"/>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391" name="Line 155"/>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392" name="Line 156"/>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393" name="Line 157"/>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394" name="Text Box 158"/>
          <p:cNvSpPr txBox="1"/>
          <p:nvPr/>
        </p:nvSpPr>
        <p:spPr>
          <a:xfrm>
            <a:off x="8245475" y="302418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395" name="Freeform 159"/>
          <p:cNvSpPr/>
          <p:nvPr/>
        </p:nvSpPr>
        <p:spPr>
          <a:xfrm>
            <a:off x="4948238" y="3625850"/>
            <a:ext cx="1893887" cy="782638"/>
          </a:xfrm>
          <a:custGeom>
            <a:avLst/>
            <a:gdLst/>
            <a:ahLst/>
            <a:cxnLst>
              <a:cxn ang="0">
                <a:pos x="1193" y="0"/>
              </a:cxn>
              <a:cxn ang="0">
                <a:pos x="798" y="296"/>
              </a:cxn>
              <a:cxn ang="0">
                <a:pos x="0" y="493"/>
              </a:cxn>
            </a:cxnLst>
            <a:rect l="0" t="0" r="0" b="0"/>
            <a:pathLst>
              <a:path w="1193" h="493">
                <a:moveTo>
                  <a:pt x="1193" y="0"/>
                </a:moveTo>
                <a:cubicBezTo>
                  <a:pt x="1127" y="51"/>
                  <a:pt x="997" y="214"/>
                  <a:pt x="798" y="296"/>
                </a:cubicBezTo>
                <a:cubicBezTo>
                  <a:pt x="599" y="378"/>
                  <a:pt x="166" y="452"/>
                  <a:pt x="0" y="493"/>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396" name="Freeform 160"/>
          <p:cNvSpPr/>
          <p:nvPr/>
        </p:nvSpPr>
        <p:spPr>
          <a:xfrm>
            <a:off x="6127750" y="3625850"/>
            <a:ext cx="1077913" cy="809625"/>
          </a:xfrm>
          <a:custGeom>
            <a:avLst/>
            <a:gdLst/>
            <a:ahLst/>
            <a:cxnLst>
              <a:cxn ang="0">
                <a:pos x="674" y="0"/>
              </a:cxn>
              <a:cxn ang="0">
                <a:pos x="567" y="288"/>
              </a:cxn>
              <a:cxn ang="0">
                <a:pos x="0" y="510"/>
              </a:cxn>
            </a:cxnLst>
            <a:rect l="0" t="0" r="0" b="0"/>
            <a:pathLst>
              <a:path w="679" h="510">
                <a:moveTo>
                  <a:pt x="674" y="0"/>
                </a:moveTo>
                <a:cubicBezTo>
                  <a:pt x="656" y="48"/>
                  <a:pt x="679" y="203"/>
                  <a:pt x="567" y="288"/>
                </a:cubicBezTo>
                <a:cubicBezTo>
                  <a:pt x="455" y="373"/>
                  <a:pt x="118" y="464"/>
                  <a:pt x="0" y="510"/>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397" name="Freeform 161"/>
          <p:cNvSpPr/>
          <p:nvPr/>
        </p:nvSpPr>
        <p:spPr>
          <a:xfrm>
            <a:off x="7512050" y="3598863"/>
            <a:ext cx="501650" cy="2024062"/>
          </a:xfrm>
          <a:custGeom>
            <a:avLst/>
            <a:gdLst/>
            <a:ahLst/>
            <a:cxnLst>
              <a:cxn ang="0">
                <a:pos x="0" y="0"/>
              </a:cxn>
              <a:cxn ang="0">
                <a:pos x="313" y="387"/>
              </a:cxn>
              <a:cxn ang="0">
                <a:pos x="16" y="1275"/>
              </a:cxn>
            </a:cxnLst>
            <a:rect l="0" t="0" r="0" b="0"/>
            <a:pathLst>
              <a:path w="316" h="1275">
                <a:moveTo>
                  <a:pt x="0" y="0"/>
                </a:moveTo>
                <a:cubicBezTo>
                  <a:pt x="52" y="63"/>
                  <a:pt x="310" y="175"/>
                  <a:pt x="313" y="387"/>
                </a:cubicBezTo>
                <a:cubicBezTo>
                  <a:pt x="316" y="599"/>
                  <a:pt x="131" y="966"/>
                  <a:pt x="16" y="1275"/>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398" name="Freeform 162"/>
          <p:cNvSpPr/>
          <p:nvPr/>
        </p:nvSpPr>
        <p:spPr>
          <a:xfrm>
            <a:off x="8334375" y="3571875"/>
            <a:ext cx="171450" cy="2078038"/>
          </a:xfrm>
          <a:custGeom>
            <a:avLst/>
            <a:gdLst/>
            <a:ahLst/>
            <a:cxnLst>
              <a:cxn ang="0">
                <a:pos x="42" y="0"/>
              </a:cxn>
              <a:cxn ang="0">
                <a:pos x="1" y="346"/>
              </a:cxn>
              <a:cxn ang="0">
                <a:pos x="34" y="650"/>
              </a:cxn>
              <a:cxn ang="0">
                <a:pos x="108" y="1309"/>
              </a:cxn>
            </a:cxnLst>
            <a:rect l="0" t="0" r="0" b="0"/>
            <a:pathLst>
              <a:path w="108" h="1309">
                <a:moveTo>
                  <a:pt x="42" y="0"/>
                </a:moveTo>
                <a:cubicBezTo>
                  <a:pt x="35" y="59"/>
                  <a:pt x="2" y="238"/>
                  <a:pt x="1" y="346"/>
                </a:cubicBezTo>
                <a:cubicBezTo>
                  <a:pt x="0" y="454"/>
                  <a:pt x="16" y="490"/>
                  <a:pt x="34" y="650"/>
                </a:cubicBezTo>
                <a:cubicBezTo>
                  <a:pt x="52" y="810"/>
                  <a:pt x="60" y="1092"/>
                  <a:pt x="108" y="1309"/>
                </a:cubicBezTo>
              </a:path>
            </a:pathLst>
          </a:custGeom>
          <a:noFill/>
          <a:ln w="38100" cap="flat" cmpd="sng">
            <a:solidFill>
              <a:srgbClr val="6666FF"/>
            </a:solidFill>
            <a:prstDash val="solid"/>
            <a:round/>
            <a:headEnd type="none" w="med" len="med"/>
            <a:tailEnd type="triangle" w="med" len="med"/>
          </a:ln>
        </p:spPr>
        <p:txBody>
          <a:bodyPr/>
          <a:lstStyle/>
          <a:p>
            <a:endParaRPr lang="zh-CN" altLang="en-US"/>
          </a:p>
        </p:txBody>
      </p:sp>
      <p:sp>
        <p:nvSpPr>
          <p:cNvPr id="399" name="Freeform 163"/>
          <p:cNvSpPr/>
          <p:nvPr/>
        </p:nvSpPr>
        <p:spPr>
          <a:xfrm>
            <a:off x="8728075" y="3559175"/>
            <a:ext cx="463550" cy="862013"/>
          </a:xfrm>
          <a:custGeom>
            <a:avLst/>
            <a:gdLst/>
            <a:ahLst/>
            <a:cxnLst>
              <a:cxn ang="0">
                <a:pos x="0" y="0"/>
              </a:cxn>
              <a:cxn ang="0">
                <a:pos x="167" y="233"/>
              </a:cxn>
              <a:cxn ang="0">
                <a:pos x="280" y="370"/>
              </a:cxn>
              <a:cxn ang="0">
                <a:pos x="238" y="543"/>
              </a:cxn>
            </a:cxnLst>
            <a:rect l="0" t="0" r="0" b="0"/>
            <a:pathLst>
              <a:path w="292" h="543">
                <a:moveTo>
                  <a:pt x="0" y="0"/>
                </a:moveTo>
                <a:cubicBezTo>
                  <a:pt x="72" y="79"/>
                  <a:pt x="120" y="171"/>
                  <a:pt x="167" y="233"/>
                </a:cubicBezTo>
                <a:cubicBezTo>
                  <a:pt x="214" y="295"/>
                  <a:pt x="268" y="318"/>
                  <a:pt x="280" y="370"/>
                </a:cubicBezTo>
                <a:cubicBezTo>
                  <a:pt x="292" y="422"/>
                  <a:pt x="247" y="507"/>
                  <a:pt x="238" y="543"/>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400" name="Text Box 164"/>
          <p:cNvSpPr txBox="1"/>
          <p:nvPr/>
        </p:nvSpPr>
        <p:spPr>
          <a:xfrm>
            <a:off x="4833938" y="1968500"/>
            <a:ext cx="542925" cy="366713"/>
          </a:xfrm>
          <a:prstGeom prst="rect">
            <a:avLst/>
          </a:prstGeom>
          <a:noFill/>
          <a:ln w="9525">
            <a:noFill/>
          </a:ln>
        </p:spPr>
        <p:txBody>
          <a:bodyPr anchor="t">
            <a:spAutoFit/>
          </a:bodyPr>
          <a:lstStyle/>
          <a:p>
            <a:pPr algn="ctr"/>
            <a:r>
              <a:rPr lang="en-US" altLang="zh-CN" sz="1800" dirty="0">
                <a:solidFill>
                  <a:schemeClr val="accent2"/>
                </a:solidFill>
                <a:latin typeface="Times New Roman" panose="02020603050405020304" pitchFamily="18" charset="0"/>
                <a:ea typeface="楷体_GB2312" pitchFamily="49" charset="-122"/>
              </a:rPr>
              <a:t>40</a:t>
            </a:r>
            <a:endParaRPr lang="en-US" altLang="zh-CN" sz="1800" dirty="0">
              <a:solidFill>
                <a:schemeClr val="accent2"/>
              </a:solidFill>
              <a:latin typeface="Times New Roman" panose="02020603050405020304" pitchFamily="18" charset="0"/>
              <a:ea typeface="楷体_GB2312" pitchFamily="49" charset="-122"/>
            </a:endParaRPr>
          </a:p>
        </p:txBody>
      </p:sp>
      <p:sp>
        <p:nvSpPr>
          <p:cNvPr id="401" name="Freeform 165"/>
          <p:cNvSpPr/>
          <p:nvPr/>
        </p:nvSpPr>
        <p:spPr>
          <a:xfrm>
            <a:off x="4978400" y="2474913"/>
            <a:ext cx="1711325" cy="739775"/>
          </a:xfrm>
          <a:custGeom>
            <a:avLst/>
            <a:gdLst/>
            <a:ahLst/>
            <a:cxnLst>
              <a:cxn ang="0">
                <a:pos x="0" y="0"/>
              </a:cxn>
              <a:cxn ang="0">
                <a:pos x="584" y="395"/>
              </a:cxn>
              <a:cxn ang="0">
                <a:pos x="1078" y="428"/>
              </a:cxn>
            </a:cxnLst>
            <a:rect l="0" t="0" r="0" b="0"/>
            <a:pathLst>
              <a:path w="1078" h="466">
                <a:moveTo>
                  <a:pt x="0" y="0"/>
                </a:moveTo>
                <a:cubicBezTo>
                  <a:pt x="97" y="66"/>
                  <a:pt x="404" y="324"/>
                  <a:pt x="584" y="395"/>
                </a:cubicBezTo>
                <a:cubicBezTo>
                  <a:pt x="764" y="466"/>
                  <a:pt x="975" y="421"/>
                  <a:pt x="1078" y="428"/>
                </a:cubicBez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402" name="Freeform 166"/>
          <p:cNvSpPr/>
          <p:nvPr/>
        </p:nvSpPr>
        <p:spPr>
          <a:xfrm>
            <a:off x="5264150" y="2449513"/>
            <a:ext cx="3149600" cy="600075"/>
          </a:xfrm>
          <a:custGeom>
            <a:avLst/>
            <a:gdLst/>
            <a:ahLst/>
            <a:cxnLst>
              <a:cxn ang="0">
                <a:pos x="0" y="8"/>
              </a:cxn>
              <a:cxn ang="0">
                <a:pos x="338" y="74"/>
              </a:cxn>
              <a:cxn ang="0">
                <a:pos x="1136" y="57"/>
              </a:cxn>
              <a:cxn ang="0">
                <a:pos x="1984" y="419"/>
              </a:cxn>
            </a:cxnLst>
            <a:rect l="0" t="0" r="0" b="0"/>
            <a:pathLst>
              <a:path w="1984" h="419">
                <a:moveTo>
                  <a:pt x="0" y="8"/>
                </a:moveTo>
                <a:cubicBezTo>
                  <a:pt x="42" y="83"/>
                  <a:pt x="149" y="66"/>
                  <a:pt x="338" y="74"/>
                </a:cubicBezTo>
                <a:cubicBezTo>
                  <a:pt x="527" y="82"/>
                  <a:pt x="862" y="0"/>
                  <a:pt x="1136" y="57"/>
                </a:cubicBezTo>
                <a:cubicBezTo>
                  <a:pt x="1410" y="114"/>
                  <a:pt x="1807" y="344"/>
                  <a:pt x="1984" y="419"/>
                </a:cubicBezTo>
              </a:path>
            </a:pathLst>
          </a:custGeom>
          <a:noFill/>
          <a:ln w="38100" cap="flat" cmpd="sng">
            <a:solidFill>
              <a:srgbClr val="6666FF"/>
            </a:solidFill>
            <a:prstDash val="solid"/>
            <a:round/>
            <a:headEnd type="none" w="med" len="med"/>
            <a:tailEnd type="triangle" w="med" len="med"/>
          </a:ln>
        </p:spPr>
        <p:txBody>
          <a:bodyPr/>
          <a:lstStyle/>
          <a:p>
            <a:endParaRPr lang="zh-CN" altLang="en-US"/>
          </a:p>
        </p:txBody>
      </p:sp>
      <p:sp>
        <p:nvSpPr>
          <p:cNvPr id="403" name="Line 169"/>
          <p:cNvSpPr/>
          <p:nvPr/>
        </p:nvSpPr>
        <p:spPr>
          <a:xfrm>
            <a:off x="7807325" y="6189663"/>
            <a:ext cx="377825" cy="0"/>
          </a:xfrm>
          <a:prstGeom prst="line">
            <a:avLst/>
          </a:prstGeom>
          <a:ln w="38100" cap="flat" cmpd="sng">
            <a:solidFill>
              <a:srgbClr val="6666FF"/>
            </a:solidFill>
            <a:prstDash val="solid"/>
            <a:round/>
            <a:headEnd type="none" w="med" len="med"/>
            <a:tailEnd type="triangle" w="med" len="med"/>
          </a:ln>
        </p:spPr>
      </p:sp>
      <p:sp>
        <p:nvSpPr>
          <p:cNvPr id="404" name="Freeform 170"/>
          <p:cNvSpPr/>
          <p:nvPr/>
        </p:nvSpPr>
        <p:spPr>
          <a:xfrm>
            <a:off x="8732838" y="4995863"/>
            <a:ext cx="947737" cy="1198562"/>
          </a:xfrm>
          <a:custGeom>
            <a:avLst/>
            <a:gdLst/>
            <a:ahLst/>
            <a:cxnLst>
              <a:cxn ang="0">
                <a:pos x="346" y="755"/>
              </a:cxn>
              <a:cxn ang="0">
                <a:pos x="581" y="597"/>
              </a:cxn>
              <a:cxn ang="0">
                <a:pos x="441" y="336"/>
              </a:cxn>
              <a:cxn ang="0">
                <a:pos x="96" y="259"/>
              </a:cxn>
              <a:cxn ang="0">
                <a:pos x="5" y="77"/>
              </a:cxn>
              <a:cxn ang="0">
                <a:pos x="128" y="0"/>
              </a:cxn>
            </a:cxnLst>
            <a:rect l="0" t="0" r="0" b="0"/>
            <a:pathLst>
              <a:path w="597" h="755">
                <a:moveTo>
                  <a:pt x="346" y="755"/>
                </a:moveTo>
                <a:cubicBezTo>
                  <a:pt x="383" y="729"/>
                  <a:pt x="565" y="667"/>
                  <a:pt x="581" y="597"/>
                </a:cubicBezTo>
                <a:cubicBezTo>
                  <a:pt x="597" y="527"/>
                  <a:pt x="522" y="393"/>
                  <a:pt x="441" y="336"/>
                </a:cubicBezTo>
                <a:cubicBezTo>
                  <a:pt x="360" y="280"/>
                  <a:pt x="169" y="302"/>
                  <a:pt x="96" y="259"/>
                </a:cubicBezTo>
                <a:cubicBezTo>
                  <a:pt x="23" y="216"/>
                  <a:pt x="0" y="120"/>
                  <a:pt x="5" y="77"/>
                </a:cubicBezTo>
                <a:cubicBezTo>
                  <a:pt x="10" y="35"/>
                  <a:pt x="69" y="17"/>
                  <a:pt x="128" y="0"/>
                </a:cubicBezTo>
              </a:path>
            </a:pathLst>
          </a:custGeom>
          <a:noFill/>
          <a:ln w="38100" cap="flat" cmpd="sng">
            <a:solidFill>
              <a:srgbClr val="6666FF"/>
            </a:solidFill>
            <a:prstDash val="solid"/>
            <a:round/>
            <a:headEnd type="none" w="med" len="med"/>
            <a:tailEnd type="triangle" w="med" len="med"/>
          </a:ln>
        </p:spPr>
        <p:txBody>
          <a:bodyPr/>
          <a:lstStyle/>
          <a:p>
            <a:endParaRPr lang="zh-CN" altLang="en-US"/>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插入及分裂完成后</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插入键值为</a:t>
            </a:r>
            <a:r>
              <a:rPr lang="en-US" altLang="zh-CN" sz="2000" b="0" dirty="0">
                <a:latin typeface="微软雅黑" panose="020B0503020204020204" pitchFamily="34" charset="-122"/>
                <a:ea typeface="微软雅黑" panose="020B0503020204020204" pitchFamily="34" charset="-122"/>
              </a:rPr>
              <a:t>40</a:t>
            </a:r>
            <a:r>
              <a:rPr lang="zh-CN" altLang="en-US" sz="2000" b="0" dirty="0">
                <a:latin typeface="微软雅黑" panose="020B0503020204020204" pitchFamily="34" charset="-122"/>
                <a:ea typeface="微软雅黑" panose="020B0503020204020204" pitchFamily="34" charset="-122"/>
              </a:rPr>
              <a:t>的记录</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最终状态</a:t>
            </a:r>
            <a:endParaRPr lang="zh-CN" altLang="en-US" sz="2000" b="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插入与结点分裂过程示意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2" name="Group 2"/>
          <p:cNvGrpSpPr/>
          <p:nvPr/>
        </p:nvGrpSpPr>
        <p:grpSpPr>
          <a:xfrm>
            <a:off x="4465638" y="2047875"/>
            <a:ext cx="1238250" cy="695325"/>
            <a:chOff x="856" y="1440"/>
            <a:chExt cx="1291" cy="667"/>
          </a:xfrm>
        </p:grpSpPr>
        <p:sp>
          <p:nvSpPr>
            <p:cNvPr id="4" name="Rectangle 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7" name="Line 4"/>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8" name="Line 5"/>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9" name="Line 6"/>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0" name="Line 7"/>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1" name="Line 8"/>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2" name="Line 9"/>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13" name="Text Box 10"/>
          <p:cNvSpPr txBox="1"/>
          <p:nvPr/>
        </p:nvSpPr>
        <p:spPr>
          <a:xfrm>
            <a:off x="4394200" y="202406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14" name="Group 11"/>
          <p:cNvGrpSpPr/>
          <p:nvPr/>
        </p:nvGrpSpPr>
        <p:grpSpPr>
          <a:xfrm>
            <a:off x="3152775" y="3209925"/>
            <a:ext cx="1238250" cy="695325"/>
            <a:chOff x="856" y="1440"/>
            <a:chExt cx="1291" cy="667"/>
          </a:xfrm>
        </p:grpSpPr>
        <p:sp>
          <p:nvSpPr>
            <p:cNvPr id="15" name="Rectangle 1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6" name="Line 1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7" name="Line 1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8" name="Line 1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9" name="Line 1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0" name="Line 1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1" name="Line 1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2" name="Group 19"/>
          <p:cNvGrpSpPr/>
          <p:nvPr/>
        </p:nvGrpSpPr>
        <p:grpSpPr>
          <a:xfrm>
            <a:off x="1493838" y="4486275"/>
            <a:ext cx="1238250" cy="695325"/>
            <a:chOff x="856" y="1440"/>
            <a:chExt cx="1291" cy="667"/>
          </a:xfrm>
        </p:grpSpPr>
        <p:sp>
          <p:nvSpPr>
            <p:cNvPr id="23" name="Rectangle 2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4" name="Line 2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5" name="Line 2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6" name="Line 2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7" name="Line 2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8" name="Line 2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9" name="Line 2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0" name="Group 27"/>
          <p:cNvGrpSpPr/>
          <p:nvPr/>
        </p:nvGrpSpPr>
        <p:grpSpPr>
          <a:xfrm>
            <a:off x="2979738" y="4486275"/>
            <a:ext cx="1238250" cy="695325"/>
            <a:chOff x="856" y="1440"/>
            <a:chExt cx="1291" cy="667"/>
          </a:xfrm>
        </p:grpSpPr>
        <p:sp>
          <p:nvSpPr>
            <p:cNvPr id="31" name="Rectangle 2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3" name="Line 2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34" name="Line 3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35" name="Line 3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36" name="Line 3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7" name="Line 3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8" name="Line 3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9" name="Group 35"/>
          <p:cNvGrpSpPr/>
          <p:nvPr/>
        </p:nvGrpSpPr>
        <p:grpSpPr>
          <a:xfrm>
            <a:off x="4465638" y="4486275"/>
            <a:ext cx="1238250" cy="695325"/>
            <a:chOff x="856" y="1440"/>
            <a:chExt cx="1291" cy="667"/>
          </a:xfrm>
        </p:grpSpPr>
        <p:sp>
          <p:nvSpPr>
            <p:cNvPr id="40" name="Rectangle 3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1" name="Line 3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2" name="Line 3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3" name="Line 3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4" name="Line 4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5" name="Line 4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6" name="Line 4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47" name="Group 43"/>
          <p:cNvGrpSpPr/>
          <p:nvPr/>
        </p:nvGrpSpPr>
        <p:grpSpPr>
          <a:xfrm>
            <a:off x="5951538" y="4486275"/>
            <a:ext cx="1238250" cy="695325"/>
            <a:chOff x="856" y="1440"/>
            <a:chExt cx="1291" cy="667"/>
          </a:xfrm>
        </p:grpSpPr>
        <p:sp>
          <p:nvSpPr>
            <p:cNvPr id="48" name="Rectangle 4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9" name="Line 4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0" name="Line 4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1" name="Line 4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2" name="Line 4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3" name="Line 4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4" name="Line 5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5" name="Group 51"/>
          <p:cNvGrpSpPr/>
          <p:nvPr/>
        </p:nvGrpSpPr>
        <p:grpSpPr>
          <a:xfrm>
            <a:off x="8924925" y="4486275"/>
            <a:ext cx="1238250" cy="695325"/>
            <a:chOff x="856" y="1440"/>
            <a:chExt cx="1291" cy="667"/>
          </a:xfrm>
        </p:grpSpPr>
        <p:sp>
          <p:nvSpPr>
            <p:cNvPr id="56" name="Rectangle 5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7" name="Line 5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8" name="Line 5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9" name="Line 5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60" name="Line 5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61" name="Line 5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62" name="Line 5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63" name="Text Box 59"/>
          <p:cNvSpPr txBox="1"/>
          <p:nvPr/>
        </p:nvSpPr>
        <p:spPr>
          <a:xfrm>
            <a:off x="3095625" y="31908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448" name="Text Box 60"/>
          <p:cNvSpPr txBox="1"/>
          <p:nvPr/>
        </p:nvSpPr>
        <p:spPr>
          <a:xfrm>
            <a:off x="1455738" y="44577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449" name="Text Box 61"/>
          <p:cNvSpPr txBox="1"/>
          <p:nvPr/>
        </p:nvSpPr>
        <p:spPr>
          <a:xfrm>
            <a:off x="1836738" y="44577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450" name="Text Box 62"/>
          <p:cNvSpPr txBox="1"/>
          <p:nvPr/>
        </p:nvSpPr>
        <p:spPr>
          <a:xfrm>
            <a:off x="2335213" y="4457700"/>
            <a:ext cx="400050"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451" name="Text Box 63"/>
          <p:cNvSpPr txBox="1"/>
          <p:nvPr/>
        </p:nvSpPr>
        <p:spPr>
          <a:xfrm>
            <a:off x="2903538" y="44577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452" name="Text Box 64"/>
          <p:cNvSpPr txBox="1"/>
          <p:nvPr/>
        </p:nvSpPr>
        <p:spPr>
          <a:xfrm>
            <a:off x="3284538" y="44577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11</a:t>
            </a:r>
            <a:endParaRPr lang="en-US" altLang="zh-CN" sz="1800" dirty="0">
              <a:latin typeface="Times New Roman" panose="02020603050405020304" pitchFamily="18" charset="0"/>
              <a:ea typeface="楷体_GB2312" pitchFamily="49" charset="-122"/>
            </a:endParaRPr>
          </a:p>
        </p:txBody>
      </p:sp>
      <p:sp>
        <p:nvSpPr>
          <p:cNvPr id="453" name="Text Box 65"/>
          <p:cNvSpPr txBox="1"/>
          <p:nvPr/>
        </p:nvSpPr>
        <p:spPr>
          <a:xfrm>
            <a:off x="4389438" y="44767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454" name="Text Box 66"/>
          <p:cNvSpPr txBox="1"/>
          <p:nvPr/>
        </p:nvSpPr>
        <p:spPr>
          <a:xfrm>
            <a:off x="4808538" y="44767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455" name="Text Box 67"/>
          <p:cNvSpPr txBox="1"/>
          <p:nvPr/>
        </p:nvSpPr>
        <p:spPr>
          <a:xfrm>
            <a:off x="5268913" y="4476750"/>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456" name="Text Box 68"/>
          <p:cNvSpPr txBox="1"/>
          <p:nvPr/>
        </p:nvSpPr>
        <p:spPr>
          <a:xfrm>
            <a:off x="5888038" y="44640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457" name="Text Box 69"/>
          <p:cNvSpPr txBox="1"/>
          <p:nvPr/>
        </p:nvSpPr>
        <p:spPr>
          <a:xfrm>
            <a:off x="6307138" y="44640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458" name="Text Box 70"/>
          <p:cNvSpPr txBox="1"/>
          <p:nvPr/>
        </p:nvSpPr>
        <p:spPr>
          <a:xfrm>
            <a:off x="8864600" y="44704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459" name="Text Box 71"/>
          <p:cNvSpPr txBox="1"/>
          <p:nvPr/>
        </p:nvSpPr>
        <p:spPr>
          <a:xfrm>
            <a:off x="9283700" y="44704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grpSp>
        <p:nvGrpSpPr>
          <p:cNvPr id="460" name="Group 72"/>
          <p:cNvGrpSpPr/>
          <p:nvPr/>
        </p:nvGrpSpPr>
        <p:grpSpPr>
          <a:xfrm>
            <a:off x="1974850" y="3778250"/>
            <a:ext cx="1606550" cy="704850"/>
            <a:chOff x="420" y="2502"/>
            <a:chExt cx="1012" cy="626"/>
          </a:xfrm>
        </p:grpSpPr>
        <p:sp>
          <p:nvSpPr>
            <p:cNvPr id="461" name="Line 73"/>
            <p:cNvSpPr/>
            <p:nvPr/>
          </p:nvSpPr>
          <p:spPr>
            <a:xfrm flipH="1">
              <a:off x="1276" y="2519"/>
              <a:ext cx="156" cy="601"/>
            </a:xfrm>
            <a:prstGeom prst="line">
              <a:avLst/>
            </a:prstGeom>
            <a:ln w="9525" cap="flat" cmpd="sng">
              <a:solidFill>
                <a:srgbClr val="FF0066"/>
              </a:solidFill>
              <a:prstDash val="solid"/>
              <a:round/>
              <a:headEnd type="none" w="med" len="med"/>
              <a:tailEnd type="triangle" w="med" len="med"/>
            </a:ln>
          </p:spPr>
        </p:sp>
        <p:sp>
          <p:nvSpPr>
            <p:cNvPr id="462" name="Line 74"/>
            <p:cNvSpPr/>
            <p:nvPr/>
          </p:nvSpPr>
          <p:spPr>
            <a:xfrm flipH="1">
              <a:off x="420" y="2502"/>
              <a:ext cx="848" cy="626"/>
            </a:xfrm>
            <a:prstGeom prst="line">
              <a:avLst/>
            </a:prstGeom>
            <a:ln w="9525" cap="flat" cmpd="sng">
              <a:solidFill>
                <a:srgbClr val="FF0066"/>
              </a:solidFill>
              <a:prstDash val="solid"/>
              <a:round/>
              <a:headEnd type="none" w="med" len="med"/>
              <a:tailEnd type="triangle" w="med" len="med"/>
            </a:ln>
          </p:spPr>
        </p:sp>
      </p:grpSp>
      <p:sp>
        <p:nvSpPr>
          <p:cNvPr id="463" name="Line 75"/>
          <p:cNvSpPr/>
          <p:nvPr/>
        </p:nvSpPr>
        <p:spPr>
          <a:xfrm flipH="1">
            <a:off x="3646488" y="2581275"/>
            <a:ext cx="941387" cy="627063"/>
          </a:xfrm>
          <a:prstGeom prst="line">
            <a:avLst/>
          </a:prstGeom>
          <a:ln w="9525" cap="flat" cmpd="sng">
            <a:solidFill>
              <a:srgbClr val="FF0066"/>
            </a:solidFill>
            <a:prstDash val="solid"/>
            <a:round/>
            <a:headEnd type="none" w="med" len="med"/>
            <a:tailEnd type="triangle" w="med" len="med"/>
          </a:ln>
        </p:spPr>
      </p:sp>
      <p:sp>
        <p:nvSpPr>
          <p:cNvPr id="464" name="Line 76"/>
          <p:cNvSpPr/>
          <p:nvPr/>
        </p:nvSpPr>
        <p:spPr>
          <a:xfrm>
            <a:off x="1462088" y="4011613"/>
            <a:ext cx="8699500" cy="0"/>
          </a:xfrm>
          <a:prstGeom prst="line">
            <a:avLst/>
          </a:prstGeom>
          <a:ln w="9525" cap="flat" cmpd="sng">
            <a:solidFill>
              <a:srgbClr val="FF0066"/>
            </a:solidFill>
            <a:prstDash val="dash"/>
            <a:round/>
            <a:headEnd type="none" w="med" len="med"/>
            <a:tailEnd type="none" w="med" len="med"/>
          </a:ln>
        </p:spPr>
      </p:sp>
      <p:sp>
        <p:nvSpPr>
          <p:cNvPr id="465" name="Line 77"/>
          <p:cNvSpPr/>
          <p:nvPr/>
        </p:nvSpPr>
        <p:spPr>
          <a:xfrm>
            <a:off x="1647825" y="5045075"/>
            <a:ext cx="0" cy="365125"/>
          </a:xfrm>
          <a:prstGeom prst="line">
            <a:avLst/>
          </a:prstGeom>
          <a:ln w="9525" cap="flat" cmpd="sng">
            <a:solidFill>
              <a:srgbClr val="FF0066"/>
            </a:solidFill>
            <a:prstDash val="solid"/>
            <a:round/>
            <a:headEnd type="none" w="med" len="med"/>
            <a:tailEnd type="triangle" w="med" len="med"/>
          </a:ln>
        </p:spPr>
      </p:sp>
      <p:sp>
        <p:nvSpPr>
          <p:cNvPr id="466" name="Line 78"/>
          <p:cNvSpPr/>
          <p:nvPr/>
        </p:nvSpPr>
        <p:spPr>
          <a:xfrm>
            <a:off x="1927225" y="5045075"/>
            <a:ext cx="0" cy="365125"/>
          </a:xfrm>
          <a:prstGeom prst="line">
            <a:avLst/>
          </a:prstGeom>
          <a:ln w="9525" cap="flat" cmpd="sng">
            <a:solidFill>
              <a:srgbClr val="FF0066"/>
            </a:solidFill>
            <a:prstDash val="solid"/>
            <a:round/>
            <a:headEnd type="none" w="med" len="med"/>
            <a:tailEnd type="triangle" w="med" len="med"/>
          </a:ln>
        </p:spPr>
      </p:sp>
      <p:sp>
        <p:nvSpPr>
          <p:cNvPr id="467" name="Line 79"/>
          <p:cNvSpPr/>
          <p:nvPr/>
        </p:nvSpPr>
        <p:spPr>
          <a:xfrm>
            <a:off x="2244725" y="5045075"/>
            <a:ext cx="0" cy="365125"/>
          </a:xfrm>
          <a:prstGeom prst="line">
            <a:avLst/>
          </a:prstGeom>
          <a:ln w="9525" cap="flat" cmpd="sng">
            <a:solidFill>
              <a:srgbClr val="FF0066"/>
            </a:solidFill>
            <a:prstDash val="solid"/>
            <a:round/>
            <a:headEnd type="none" w="med" len="med"/>
            <a:tailEnd type="triangle" w="med" len="med"/>
          </a:ln>
        </p:spPr>
      </p:sp>
      <p:sp>
        <p:nvSpPr>
          <p:cNvPr id="468" name="Line 80"/>
          <p:cNvSpPr/>
          <p:nvPr/>
        </p:nvSpPr>
        <p:spPr>
          <a:xfrm>
            <a:off x="2601913" y="5018088"/>
            <a:ext cx="377825" cy="0"/>
          </a:xfrm>
          <a:prstGeom prst="line">
            <a:avLst/>
          </a:prstGeom>
          <a:ln w="9525" cap="flat" cmpd="sng">
            <a:solidFill>
              <a:srgbClr val="FF0066"/>
            </a:solidFill>
            <a:prstDash val="solid"/>
            <a:round/>
            <a:headEnd type="none" w="med" len="med"/>
            <a:tailEnd type="triangle" w="med" len="med"/>
          </a:ln>
        </p:spPr>
      </p:sp>
      <p:sp>
        <p:nvSpPr>
          <p:cNvPr id="469" name="Line 81"/>
          <p:cNvSpPr/>
          <p:nvPr/>
        </p:nvSpPr>
        <p:spPr>
          <a:xfrm>
            <a:off x="3121025" y="5045075"/>
            <a:ext cx="0" cy="365125"/>
          </a:xfrm>
          <a:prstGeom prst="line">
            <a:avLst/>
          </a:prstGeom>
          <a:ln w="9525" cap="flat" cmpd="sng">
            <a:solidFill>
              <a:srgbClr val="FF0066"/>
            </a:solidFill>
            <a:prstDash val="solid"/>
            <a:round/>
            <a:headEnd type="none" w="med" len="med"/>
            <a:tailEnd type="triangle" w="med" len="med"/>
          </a:ln>
        </p:spPr>
      </p:sp>
      <p:sp>
        <p:nvSpPr>
          <p:cNvPr id="470" name="Line 82"/>
          <p:cNvSpPr/>
          <p:nvPr/>
        </p:nvSpPr>
        <p:spPr>
          <a:xfrm>
            <a:off x="3400425" y="5045075"/>
            <a:ext cx="0" cy="365125"/>
          </a:xfrm>
          <a:prstGeom prst="line">
            <a:avLst/>
          </a:prstGeom>
          <a:ln w="9525" cap="flat" cmpd="sng">
            <a:solidFill>
              <a:srgbClr val="FF0066"/>
            </a:solidFill>
            <a:prstDash val="solid"/>
            <a:round/>
            <a:headEnd type="none" w="med" len="med"/>
            <a:tailEnd type="triangle" w="med" len="med"/>
          </a:ln>
        </p:spPr>
      </p:sp>
      <p:sp>
        <p:nvSpPr>
          <p:cNvPr id="471" name="Line 83"/>
          <p:cNvSpPr/>
          <p:nvPr/>
        </p:nvSpPr>
        <p:spPr>
          <a:xfrm>
            <a:off x="4075113" y="5030788"/>
            <a:ext cx="377825" cy="0"/>
          </a:xfrm>
          <a:prstGeom prst="line">
            <a:avLst/>
          </a:prstGeom>
          <a:ln w="9525" cap="flat" cmpd="sng">
            <a:solidFill>
              <a:srgbClr val="FF0066"/>
            </a:solidFill>
            <a:prstDash val="solid"/>
            <a:round/>
            <a:headEnd type="none" w="med" len="med"/>
            <a:tailEnd type="triangle" w="med" len="med"/>
          </a:ln>
        </p:spPr>
      </p:sp>
      <p:sp>
        <p:nvSpPr>
          <p:cNvPr id="472" name="Line 84"/>
          <p:cNvSpPr/>
          <p:nvPr/>
        </p:nvSpPr>
        <p:spPr>
          <a:xfrm>
            <a:off x="4619625" y="5045075"/>
            <a:ext cx="0" cy="365125"/>
          </a:xfrm>
          <a:prstGeom prst="line">
            <a:avLst/>
          </a:prstGeom>
          <a:ln w="9525" cap="flat" cmpd="sng">
            <a:solidFill>
              <a:srgbClr val="FF0066"/>
            </a:solidFill>
            <a:prstDash val="solid"/>
            <a:round/>
            <a:headEnd type="none" w="med" len="med"/>
            <a:tailEnd type="triangle" w="med" len="med"/>
          </a:ln>
        </p:spPr>
      </p:sp>
      <p:sp>
        <p:nvSpPr>
          <p:cNvPr id="473" name="Line 85"/>
          <p:cNvSpPr/>
          <p:nvPr/>
        </p:nvSpPr>
        <p:spPr>
          <a:xfrm>
            <a:off x="4911725" y="5045075"/>
            <a:ext cx="0" cy="365125"/>
          </a:xfrm>
          <a:prstGeom prst="line">
            <a:avLst/>
          </a:prstGeom>
          <a:ln w="9525" cap="flat" cmpd="sng">
            <a:solidFill>
              <a:srgbClr val="FF0066"/>
            </a:solidFill>
            <a:prstDash val="solid"/>
            <a:round/>
            <a:headEnd type="none" w="med" len="med"/>
            <a:tailEnd type="triangle" w="med" len="med"/>
          </a:ln>
        </p:spPr>
      </p:sp>
      <p:sp>
        <p:nvSpPr>
          <p:cNvPr id="474" name="Line 86"/>
          <p:cNvSpPr/>
          <p:nvPr/>
        </p:nvSpPr>
        <p:spPr>
          <a:xfrm>
            <a:off x="5216525" y="5045075"/>
            <a:ext cx="0" cy="365125"/>
          </a:xfrm>
          <a:prstGeom prst="line">
            <a:avLst/>
          </a:prstGeom>
          <a:ln w="9525" cap="flat" cmpd="sng">
            <a:solidFill>
              <a:srgbClr val="FF0066"/>
            </a:solidFill>
            <a:prstDash val="solid"/>
            <a:round/>
            <a:headEnd type="none" w="med" len="med"/>
            <a:tailEnd type="triangle" w="med" len="med"/>
          </a:ln>
        </p:spPr>
      </p:sp>
      <p:sp>
        <p:nvSpPr>
          <p:cNvPr id="475" name="Line 87"/>
          <p:cNvSpPr/>
          <p:nvPr/>
        </p:nvSpPr>
        <p:spPr>
          <a:xfrm>
            <a:off x="5573713" y="5030788"/>
            <a:ext cx="377825" cy="0"/>
          </a:xfrm>
          <a:prstGeom prst="line">
            <a:avLst/>
          </a:prstGeom>
          <a:ln w="9525" cap="flat" cmpd="sng">
            <a:solidFill>
              <a:srgbClr val="FF0066"/>
            </a:solidFill>
            <a:prstDash val="solid"/>
            <a:round/>
            <a:headEnd type="none" w="med" len="med"/>
            <a:tailEnd type="triangle" w="med" len="med"/>
          </a:ln>
        </p:spPr>
      </p:sp>
      <p:sp>
        <p:nvSpPr>
          <p:cNvPr id="476" name="Line 88"/>
          <p:cNvSpPr/>
          <p:nvPr/>
        </p:nvSpPr>
        <p:spPr>
          <a:xfrm>
            <a:off x="6092825" y="5045075"/>
            <a:ext cx="0" cy="365125"/>
          </a:xfrm>
          <a:prstGeom prst="line">
            <a:avLst/>
          </a:prstGeom>
          <a:ln w="9525" cap="flat" cmpd="sng">
            <a:solidFill>
              <a:srgbClr val="FF0066"/>
            </a:solidFill>
            <a:prstDash val="solid"/>
            <a:round/>
            <a:headEnd type="none" w="med" len="med"/>
            <a:tailEnd type="triangle" w="med" len="med"/>
          </a:ln>
        </p:spPr>
      </p:sp>
      <p:sp>
        <p:nvSpPr>
          <p:cNvPr id="477" name="Line 89"/>
          <p:cNvSpPr/>
          <p:nvPr/>
        </p:nvSpPr>
        <p:spPr>
          <a:xfrm>
            <a:off x="6372225" y="5045075"/>
            <a:ext cx="0" cy="365125"/>
          </a:xfrm>
          <a:prstGeom prst="line">
            <a:avLst/>
          </a:prstGeom>
          <a:ln w="9525" cap="flat" cmpd="sng">
            <a:solidFill>
              <a:srgbClr val="FF0066"/>
            </a:solidFill>
            <a:prstDash val="solid"/>
            <a:round/>
            <a:headEnd type="none" w="med" len="med"/>
            <a:tailEnd type="triangle" w="med" len="med"/>
          </a:ln>
        </p:spPr>
      </p:sp>
      <p:sp>
        <p:nvSpPr>
          <p:cNvPr id="478" name="Line 90"/>
          <p:cNvSpPr/>
          <p:nvPr/>
        </p:nvSpPr>
        <p:spPr>
          <a:xfrm>
            <a:off x="9077325" y="5032375"/>
            <a:ext cx="0" cy="365125"/>
          </a:xfrm>
          <a:prstGeom prst="line">
            <a:avLst/>
          </a:prstGeom>
          <a:ln w="9525" cap="flat" cmpd="sng">
            <a:solidFill>
              <a:srgbClr val="FF0066"/>
            </a:solidFill>
            <a:prstDash val="solid"/>
            <a:round/>
            <a:headEnd type="none" w="med" len="med"/>
            <a:tailEnd type="triangle" w="med" len="med"/>
          </a:ln>
        </p:spPr>
      </p:sp>
      <p:sp>
        <p:nvSpPr>
          <p:cNvPr id="479" name="Line 91"/>
          <p:cNvSpPr/>
          <p:nvPr/>
        </p:nvSpPr>
        <p:spPr>
          <a:xfrm>
            <a:off x="9356725" y="5032375"/>
            <a:ext cx="0" cy="365125"/>
          </a:xfrm>
          <a:prstGeom prst="line">
            <a:avLst/>
          </a:prstGeom>
          <a:ln w="9525" cap="flat" cmpd="sng">
            <a:solidFill>
              <a:srgbClr val="FF0066"/>
            </a:solidFill>
            <a:prstDash val="solid"/>
            <a:round/>
            <a:headEnd type="none" w="med" len="med"/>
            <a:tailEnd type="triangle" w="med" len="med"/>
          </a:ln>
        </p:spPr>
      </p:sp>
      <p:grpSp>
        <p:nvGrpSpPr>
          <p:cNvPr id="480" name="Group 92"/>
          <p:cNvGrpSpPr/>
          <p:nvPr/>
        </p:nvGrpSpPr>
        <p:grpSpPr>
          <a:xfrm>
            <a:off x="6661150" y="5708650"/>
            <a:ext cx="1238250" cy="695325"/>
            <a:chOff x="856" y="1440"/>
            <a:chExt cx="1291" cy="667"/>
          </a:xfrm>
        </p:grpSpPr>
        <p:sp>
          <p:nvSpPr>
            <p:cNvPr id="481" name="Rectangle 93"/>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82" name="Line 94"/>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483" name="Line 95"/>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484" name="Line 96"/>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485" name="Line 97"/>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486" name="Line 98"/>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487" name="Line 99"/>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488" name="Text Box 100"/>
          <p:cNvSpPr txBox="1"/>
          <p:nvPr/>
        </p:nvSpPr>
        <p:spPr>
          <a:xfrm>
            <a:off x="6624638" y="56927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489" name="Text Box 101"/>
          <p:cNvSpPr txBox="1"/>
          <p:nvPr/>
        </p:nvSpPr>
        <p:spPr>
          <a:xfrm>
            <a:off x="7043738" y="56927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490" name="Line 102"/>
          <p:cNvSpPr/>
          <p:nvPr/>
        </p:nvSpPr>
        <p:spPr>
          <a:xfrm>
            <a:off x="6827838" y="6267450"/>
            <a:ext cx="0" cy="365125"/>
          </a:xfrm>
          <a:prstGeom prst="line">
            <a:avLst/>
          </a:prstGeom>
          <a:ln w="9525" cap="flat" cmpd="sng">
            <a:solidFill>
              <a:srgbClr val="CC0000"/>
            </a:solidFill>
            <a:prstDash val="solid"/>
            <a:round/>
            <a:headEnd type="none" w="med" len="med"/>
            <a:tailEnd type="triangle" w="med" len="med"/>
          </a:ln>
        </p:spPr>
      </p:sp>
      <p:sp>
        <p:nvSpPr>
          <p:cNvPr id="491" name="Line 103"/>
          <p:cNvSpPr/>
          <p:nvPr/>
        </p:nvSpPr>
        <p:spPr>
          <a:xfrm>
            <a:off x="7107238" y="6267450"/>
            <a:ext cx="0" cy="365125"/>
          </a:xfrm>
          <a:prstGeom prst="line">
            <a:avLst/>
          </a:prstGeom>
          <a:ln w="9525" cap="flat" cmpd="sng">
            <a:solidFill>
              <a:srgbClr val="CC0000"/>
            </a:solidFill>
            <a:prstDash val="solid"/>
            <a:round/>
            <a:headEnd type="none" w="med" len="med"/>
            <a:tailEnd type="triangle" w="med" len="med"/>
          </a:ln>
        </p:spPr>
      </p:sp>
      <p:grpSp>
        <p:nvGrpSpPr>
          <p:cNvPr id="492" name="Group 104"/>
          <p:cNvGrpSpPr/>
          <p:nvPr/>
        </p:nvGrpSpPr>
        <p:grpSpPr>
          <a:xfrm>
            <a:off x="8197850" y="5715000"/>
            <a:ext cx="1238250" cy="695325"/>
            <a:chOff x="856" y="1440"/>
            <a:chExt cx="1291" cy="667"/>
          </a:xfrm>
        </p:grpSpPr>
        <p:sp>
          <p:nvSpPr>
            <p:cNvPr id="493" name="Rectangle 105"/>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94" name="Line 106"/>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495" name="Line 107"/>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496" name="Line 108"/>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497" name="Line 109"/>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498" name="Line 110"/>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499" name="Line 111"/>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500" name="Text Box 112"/>
          <p:cNvSpPr txBox="1"/>
          <p:nvPr/>
        </p:nvSpPr>
        <p:spPr>
          <a:xfrm>
            <a:off x="8161338" y="5699125"/>
            <a:ext cx="542925" cy="366713"/>
          </a:xfrm>
          <a:prstGeom prst="rect">
            <a:avLst/>
          </a:prstGeom>
          <a:noFill/>
          <a:ln w="9525">
            <a:noFill/>
          </a:ln>
        </p:spPr>
        <p:txBody>
          <a:bodyPr anchor="t">
            <a:spAutoFit/>
          </a:bodyPr>
          <a:lstStyle/>
          <a:p>
            <a:pPr algn="ctr"/>
            <a:r>
              <a:rPr lang="en-US" altLang="zh-CN" sz="1800" dirty="0">
                <a:solidFill>
                  <a:schemeClr val="accent2"/>
                </a:solidFill>
                <a:latin typeface="Times New Roman" panose="02020603050405020304" pitchFamily="18" charset="0"/>
                <a:ea typeface="楷体_GB2312" pitchFamily="49" charset="-122"/>
              </a:rPr>
              <a:t>40</a:t>
            </a:r>
            <a:endParaRPr lang="en-US" altLang="zh-CN" sz="1800" dirty="0">
              <a:solidFill>
                <a:schemeClr val="accent2"/>
              </a:solidFill>
              <a:latin typeface="Times New Roman" panose="02020603050405020304" pitchFamily="18" charset="0"/>
              <a:ea typeface="楷体_GB2312" pitchFamily="49" charset="-122"/>
            </a:endParaRPr>
          </a:p>
        </p:txBody>
      </p:sp>
      <p:sp>
        <p:nvSpPr>
          <p:cNvPr id="501" name="Text Box 113"/>
          <p:cNvSpPr txBox="1"/>
          <p:nvPr/>
        </p:nvSpPr>
        <p:spPr>
          <a:xfrm>
            <a:off x="8580438" y="56991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502" name="Line 114"/>
          <p:cNvSpPr/>
          <p:nvPr/>
        </p:nvSpPr>
        <p:spPr>
          <a:xfrm>
            <a:off x="8364538" y="6273800"/>
            <a:ext cx="0" cy="365125"/>
          </a:xfrm>
          <a:prstGeom prst="line">
            <a:avLst/>
          </a:prstGeom>
          <a:ln w="38100" cap="flat" cmpd="sng">
            <a:solidFill>
              <a:srgbClr val="6666FF"/>
            </a:solidFill>
            <a:prstDash val="solid"/>
            <a:round/>
            <a:headEnd type="none" w="med" len="med"/>
            <a:tailEnd type="triangle" w="med" len="med"/>
          </a:ln>
        </p:spPr>
      </p:sp>
      <p:sp>
        <p:nvSpPr>
          <p:cNvPr id="503" name="Line 115"/>
          <p:cNvSpPr/>
          <p:nvPr/>
        </p:nvSpPr>
        <p:spPr>
          <a:xfrm>
            <a:off x="8643938" y="6273800"/>
            <a:ext cx="0" cy="365125"/>
          </a:xfrm>
          <a:prstGeom prst="line">
            <a:avLst/>
          </a:prstGeom>
          <a:ln w="9525" cap="flat" cmpd="sng">
            <a:solidFill>
              <a:srgbClr val="CC0000"/>
            </a:solidFill>
            <a:prstDash val="solid"/>
            <a:round/>
            <a:headEnd type="none" w="med" len="med"/>
            <a:tailEnd type="triangle" w="med" len="med"/>
          </a:ln>
        </p:spPr>
      </p:sp>
      <p:sp>
        <p:nvSpPr>
          <p:cNvPr id="504" name="Freeform 116"/>
          <p:cNvSpPr/>
          <p:nvPr/>
        </p:nvSpPr>
        <p:spPr>
          <a:xfrm>
            <a:off x="6199188" y="5024438"/>
            <a:ext cx="1033462" cy="914400"/>
          </a:xfrm>
          <a:custGeom>
            <a:avLst/>
            <a:gdLst/>
            <a:ahLst/>
            <a:cxnLst>
              <a:cxn ang="0">
                <a:pos x="523" y="0"/>
              </a:cxn>
              <a:cxn ang="0">
                <a:pos x="581" y="197"/>
              </a:cxn>
              <a:cxn ang="0">
                <a:pos x="103" y="378"/>
              </a:cxn>
              <a:cxn ang="0">
                <a:pos x="29" y="543"/>
              </a:cxn>
              <a:cxn ang="0">
                <a:pos x="276" y="576"/>
              </a:cxn>
            </a:cxnLst>
            <a:rect l="0" t="0" r="0" b="0"/>
            <a:pathLst>
              <a:path w="651" h="576">
                <a:moveTo>
                  <a:pt x="523" y="0"/>
                </a:moveTo>
                <a:cubicBezTo>
                  <a:pt x="533" y="33"/>
                  <a:pt x="651" y="134"/>
                  <a:pt x="581" y="197"/>
                </a:cubicBezTo>
                <a:cubicBezTo>
                  <a:pt x="511" y="260"/>
                  <a:pt x="195" y="320"/>
                  <a:pt x="103" y="378"/>
                </a:cubicBezTo>
                <a:cubicBezTo>
                  <a:pt x="11" y="436"/>
                  <a:pt x="0" y="510"/>
                  <a:pt x="29" y="543"/>
                </a:cubicBezTo>
                <a:cubicBezTo>
                  <a:pt x="58" y="576"/>
                  <a:pt x="225" y="569"/>
                  <a:pt x="276" y="576"/>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grpSp>
        <p:nvGrpSpPr>
          <p:cNvPr id="505" name="Group 117"/>
          <p:cNvGrpSpPr/>
          <p:nvPr/>
        </p:nvGrpSpPr>
        <p:grpSpPr>
          <a:xfrm>
            <a:off x="6745288" y="3087688"/>
            <a:ext cx="1238250" cy="695325"/>
            <a:chOff x="856" y="1440"/>
            <a:chExt cx="1291" cy="667"/>
          </a:xfrm>
        </p:grpSpPr>
        <p:sp>
          <p:nvSpPr>
            <p:cNvPr id="506" name="Rectangle 118"/>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07" name="Line 119"/>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508" name="Line 120"/>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509" name="Line 121"/>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510" name="Line 122"/>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512" name="Line 123"/>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256" name="Line 124"/>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257" name="Text Box 125"/>
          <p:cNvSpPr txBox="1"/>
          <p:nvPr/>
        </p:nvSpPr>
        <p:spPr>
          <a:xfrm>
            <a:off x="6708775" y="307181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258" name="Text Box 126"/>
          <p:cNvSpPr txBox="1"/>
          <p:nvPr/>
        </p:nvSpPr>
        <p:spPr>
          <a:xfrm>
            <a:off x="7127875" y="307181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grpSp>
        <p:nvGrpSpPr>
          <p:cNvPr id="259" name="Group 127"/>
          <p:cNvGrpSpPr/>
          <p:nvPr/>
        </p:nvGrpSpPr>
        <p:grpSpPr>
          <a:xfrm>
            <a:off x="8281988" y="3094038"/>
            <a:ext cx="1238250" cy="695325"/>
            <a:chOff x="856" y="1440"/>
            <a:chExt cx="1291" cy="667"/>
          </a:xfrm>
        </p:grpSpPr>
        <p:sp>
          <p:nvSpPr>
            <p:cNvPr id="260" name="Rectangle 128"/>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05" name="Line 129"/>
            <p:cNvSpPr/>
            <p:nvPr/>
          </p:nvSpPr>
          <p:spPr>
            <a:xfrm>
              <a:off x="864" y="1769"/>
              <a:ext cx="1266" cy="0"/>
            </a:xfrm>
            <a:prstGeom prst="line">
              <a:avLst/>
            </a:prstGeom>
            <a:ln w="12700" cap="flat" cmpd="sng">
              <a:solidFill>
                <a:srgbClr val="6666FF"/>
              </a:solidFill>
              <a:prstDash val="solid"/>
              <a:round/>
              <a:headEnd type="none" w="med" len="med"/>
              <a:tailEnd type="none" w="med" len="med"/>
            </a:ln>
          </p:spPr>
        </p:sp>
        <p:sp>
          <p:nvSpPr>
            <p:cNvPr id="406" name="Line 130"/>
            <p:cNvSpPr/>
            <p:nvPr/>
          </p:nvSpPr>
          <p:spPr>
            <a:xfrm>
              <a:off x="1292" y="1440"/>
              <a:ext cx="0" cy="321"/>
            </a:xfrm>
            <a:prstGeom prst="line">
              <a:avLst/>
            </a:prstGeom>
            <a:ln w="12700" cap="flat" cmpd="sng">
              <a:solidFill>
                <a:srgbClr val="6666FF"/>
              </a:solidFill>
              <a:prstDash val="solid"/>
              <a:round/>
              <a:headEnd type="none" w="med" len="med"/>
              <a:tailEnd type="none" w="med" len="med"/>
            </a:ln>
          </p:spPr>
        </p:sp>
        <p:sp>
          <p:nvSpPr>
            <p:cNvPr id="407" name="Line 131"/>
            <p:cNvSpPr/>
            <p:nvPr/>
          </p:nvSpPr>
          <p:spPr>
            <a:xfrm>
              <a:off x="1732" y="1448"/>
              <a:ext cx="0" cy="321"/>
            </a:xfrm>
            <a:prstGeom prst="line">
              <a:avLst/>
            </a:prstGeom>
            <a:ln w="12700" cap="flat" cmpd="sng">
              <a:solidFill>
                <a:srgbClr val="6666FF"/>
              </a:solidFill>
              <a:prstDash val="solid"/>
              <a:round/>
              <a:headEnd type="none" w="med" len="med"/>
              <a:tailEnd type="none" w="med" len="med"/>
            </a:ln>
          </p:spPr>
        </p:sp>
        <p:sp>
          <p:nvSpPr>
            <p:cNvPr id="408" name="Line 132"/>
            <p:cNvSpPr/>
            <p:nvPr/>
          </p:nvSpPr>
          <p:spPr>
            <a:xfrm>
              <a:off x="1167" y="1761"/>
              <a:ext cx="0" cy="346"/>
            </a:xfrm>
            <a:prstGeom prst="line">
              <a:avLst/>
            </a:prstGeom>
            <a:ln w="12700" cap="flat" cmpd="sng">
              <a:solidFill>
                <a:srgbClr val="6666FF"/>
              </a:solidFill>
              <a:prstDash val="solid"/>
              <a:round/>
              <a:headEnd type="none" w="med" len="med"/>
              <a:tailEnd type="none" w="med" len="med"/>
            </a:ln>
          </p:spPr>
        </p:sp>
        <p:sp>
          <p:nvSpPr>
            <p:cNvPr id="409" name="Line 133"/>
            <p:cNvSpPr/>
            <p:nvPr/>
          </p:nvSpPr>
          <p:spPr>
            <a:xfrm>
              <a:off x="1499" y="1761"/>
              <a:ext cx="0" cy="346"/>
            </a:xfrm>
            <a:prstGeom prst="line">
              <a:avLst/>
            </a:prstGeom>
            <a:ln w="12700" cap="flat" cmpd="sng">
              <a:solidFill>
                <a:srgbClr val="6666FF"/>
              </a:solidFill>
              <a:prstDash val="solid"/>
              <a:round/>
              <a:headEnd type="none" w="med" len="med"/>
              <a:tailEnd type="none" w="med" len="med"/>
            </a:ln>
          </p:spPr>
        </p:sp>
        <p:sp>
          <p:nvSpPr>
            <p:cNvPr id="410" name="Line 134"/>
            <p:cNvSpPr/>
            <p:nvPr/>
          </p:nvSpPr>
          <p:spPr>
            <a:xfrm>
              <a:off x="1831" y="1761"/>
              <a:ext cx="0" cy="346"/>
            </a:xfrm>
            <a:prstGeom prst="line">
              <a:avLst/>
            </a:prstGeom>
            <a:ln w="12700" cap="flat" cmpd="sng">
              <a:solidFill>
                <a:srgbClr val="6666FF"/>
              </a:solidFill>
              <a:prstDash val="solid"/>
              <a:round/>
              <a:headEnd type="none" w="med" len="med"/>
              <a:tailEnd type="none" w="med" len="med"/>
            </a:ln>
          </p:spPr>
        </p:sp>
      </p:grpSp>
      <p:sp>
        <p:nvSpPr>
          <p:cNvPr id="411" name="Text Box 135"/>
          <p:cNvSpPr txBox="1"/>
          <p:nvPr/>
        </p:nvSpPr>
        <p:spPr>
          <a:xfrm>
            <a:off x="8245475" y="307816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412" name="Freeform 136"/>
          <p:cNvSpPr/>
          <p:nvPr/>
        </p:nvSpPr>
        <p:spPr>
          <a:xfrm>
            <a:off x="4948238" y="3679825"/>
            <a:ext cx="1893887" cy="782638"/>
          </a:xfrm>
          <a:custGeom>
            <a:avLst/>
            <a:gdLst/>
            <a:ahLst/>
            <a:cxnLst>
              <a:cxn ang="0">
                <a:pos x="1193" y="0"/>
              </a:cxn>
              <a:cxn ang="0">
                <a:pos x="798" y="296"/>
              </a:cxn>
              <a:cxn ang="0">
                <a:pos x="0" y="493"/>
              </a:cxn>
            </a:cxnLst>
            <a:rect l="0" t="0" r="0" b="0"/>
            <a:pathLst>
              <a:path w="1193" h="493">
                <a:moveTo>
                  <a:pt x="1193" y="0"/>
                </a:moveTo>
                <a:cubicBezTo>
                  <a:pt x="1127" y="51"/>
                  <a:pt x="997" y="214"/>
                  <a:pt x="798" y="296"/>
                </a:cubicBezTo>
                <a:cubicBezTo>
                  <a:pt x="599" y="378"/>
                  <a:pt x="166" y="452"/>
                  <a:pt x="0" y="493"/>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413" name="Freeform 137"/>
          <p:cNvSpPr/>
          <p:nvPr/>
        </p:nvSpPr>
        <p:spPr>
          <a:xfrm>
            <a:off x="6127750" y="3679825"/>
            <a:ext cx="1077913" cy="809625"/>
          </a:xfrm>
          <a:custGeom>
            <a:avLst/>
            <a:gdLst/>
            <a:ahLst/>
            <a:cxnLst>
              <a:cxn ang="0">
                <a:pos x="674" y="0"/>
              </a:cxn>
              <a:cxn ang="0">
                <a:pos x="567" y="288"/>
              </a:cxn>
              <a:cxn ang="0">
                <a:pos x="0" y="510"/>
              </a:cxn>
            </a:cxnLst>
            <a:rect l="0" t="0" r="0" b="0"/>
            <a:pathLst>
              <a:path w="679" h="510">
                <a:moveTo>
                  <a:pt x="674" y="0"/>
                </a:moveTo>
                <a:cubicBezTo>
                  <a:pt x="656" y="48"/>
                  <a:pt x="679" y="203"/>
                  <a:pt x="567" y="288"/>
                </a:cubicBezTo>
                <a:cubicBezTo>
                  <a:pt x="455" y="373"/>
                  <a:pt x="118" y="464"/>
                  <a:pt x="0" y="510"/>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414" name="Freeform 138"/>
          <p:cNvSpPr/>
          <p:nvPr/>
        </p:nvSpPr>
        <p:spPr>
          <a:xfrm>
            <a:off x="7512050" y="3652838"/>
            <a:ext cx="501650" cy="2024062"/>
          </a:xfrm>
          <a:custGeom>
            <a:avLst/>
            <a:gdLst/>
            <a:ahLst/>
            <a:cxnLst>
              <a:cxn ang="0">
                <a:pos x="0" y="0"/>
              </a:cxn>
              <a:cxn ang="0">
                <a:pos x="313" y="387"/>
              </a:cxn>
              <a:cxn ang="0">
                <a:pos x="16" y="1275"/>
              </a:cxn>
            </a:cxnLst>
            <a:rect l="0" t="0" r="0" b="0"/>
            <a:pathLst>
              <a:path w="316" h="1275">
                <a:moveTo>
                  <a:pt x="0" y="0"/>
                </a:moveTo>
                <a:cubicBezTo>
                  <a:pt x="52" y="63"/>
                  <a:pt x="310" y="175"/>
                  <a:pt x="313" y="387"/>
                </a:cubicBezTo>
                <a:cubicBezTo>
                  <a:pt x="316" y="599"/>
                  <a:pt x="131" y="966"/>
                  <a:pt x="16" y="1275"/>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415" name="Freeform 139"/>
          <p:cNvSpPr/>
          <p:nvPr/>
        </p:nvSpPr>
        <p:spPr>
          <a:xfrm>
            <a:off x="8334375" y="3625850"/>
            <a:ext cx="171450" cy="2078038"/>
          </a:xfrm>
          <a:custGeom>
            <a:avLst/>
            <a:gdLst/>
            <a:ahLst/>
            <a:cxnLst>
              <a:cxn ang="0">
                <a:pos x="42" y="0"/>
              </a:cxn>
              <a:cxn ang="0">
                <a:pos x="1" y="346"/>
              </a:cxn>
              <a:cxn ang="0">
                <a:pos x="34" y="650"/>
              </a:cxn>
              <a:cxn ang="0">
                <a:pos x="108" y="1309"/>
              </a:cxn>
            </a:cxnLst>
            <a:rect l="0" t="0" r="0" b="0"/>
            <a:pathLst>
              <a:path w="108" h="1309">
                <a:moveTo>
                  <a:pt x="42" y="0"/>
                </a:moveTo>
                <a:cubicBezTo>
                  <a:pt x="35" y="59"/>
                  <a:pt x="2" y="238"/>
                  <a:pt x="1" y="346"/>
                </a:cubicBezTo>
                <a:cubicBezTo>
                  <a:pt x="0" y="454"/>
                  <a:pt x="16" y="490"/>
                  <a:pt x="34" y="650"/>
                </a:cubicBezTo>
                <a:cubicBezTo>
                  <a:pt x="52" y="810"/>
                  <a:pt x="60" y="1092"/>
                  <a:pt x="108" y="1309"/>
                </a:cubicBezTo>
              </a:path>
            </a:pathLst>
          </a:custGeom>
          <a:noFill/>
          <a:ln w="38100" cap="flat" cmpd="sng">
            <a:solidFill>
              <a:srgbClr val="6666FF"/>
            </a:solidFill>
            <a:prstDash val="solid"/>
            <a:round/>
            <a:headEnd type="none" w="med" len="med"/>
            <a:tailEnd type="triangle" w="med" len="med"/>
          </a:ln>
        </p:spPr>
        <p:txBody>
          <a:bodyPr/>
          <a:lstStyle/>
          <a:p>
            <a:endParaRPr lang="zh-CN" altLang="en-US"/>
          </a:p>
        </p:txBody>
      </p:sp>
      <p:sp>
        <p:nvSpPr>
          <p:cNvPr id="416" name="Freeform 140"/>
          <p:cNvSpPr/>
          <p:nvPr/>
        </p:nvSpPr>
        <p:spPr>
          <a:xfrm>
            <a:off x="8728075" y="3613150"/>
            <a:ext cx="463550" cy="862013"/>
          </a:xfrm>
          <a:custGeom>
            <a:avLst/>
            <a:gdLst/>
            <a:ahLst/>
            <a:cxnLst>
              <a:cxn ang="0">
                <a:pos x="0" y="0"/>
              </a:cxn>
              <a:cxn ang="0">
                <a:pos x="167" y="233"/>
              </a:cxn>
              <a:cxn ang="0">
                <a:pos x="280" y="370"/>
              </a:cxn>
              <a:cxn ang="0">
                <a:pos x="238" y="543"/>
              </a:cxn>
            </a:cxnLst>
            <a:rect l="0" t="0" r="0" b="0"/>
            <a:pathLst>
              <a:path w="292" h="543">
                <a:moveTo>
                  <a:pt x="0" y="0"/>
                </a:moveTo>
                <a:cubicBezTo>
                  <a:pt x="72" y="79"/>
                  <a:pt x="120" y="171"/>
                  <a:pt x="167" y="233"/>
                </a:cubicBezTo>
                <a:cubicBezTo>
                  <a:pt x="214" y="295"/>
                  <a:pt x="268" y="318"/>
                  <a:pt x="280" y="370"/>
                </a:cubicBezTo>
                <a:cubicBezTo>
                  <a:pt x="292" y="422"/>
                  <a:pt x="247" y="507"/>
                  <a:pt x="238" y="543"/>
                </a:cubicBezTo>
              </a:path>
            </a:pathLst>
          </a:custGeom>
          <a:noFill/>
          <a:ln w="38100" cap="flat" cmpd="sng">
            <a:solidFill>
              <a:srgbClr val="CC0000"/>
            </a:solidFill>
            <a:prstDash val="solid"/>
            <a:round/>
            <a:headEnd type="none" w="med" len="med"/>
            <a:tailEnd type="triangle" w="med" len="med"/>
          </a:ln>
        </p:spPr>
        <p:txBody>
          <a:bodyPr/>
          <a:lstStyle/>
          <a:p>
            <a:endParaRPr lang="zh-CN" altLang="en-US"/>
          </a:p>
        </p:txBody>
      </p:sp>
      <p:sp>
        <p:nvSpPr>
          <p:cNvPr id="417" name="Text Box 141"/>
          <p:cNvSpPr txBox="1"/>
          <p:nvPr/>
        </p:nvSpPr>
        <p:spPr>
          <a:xfrm>
            <a:off x="4833938" y="2022475"/>
            <a:ext cx="542925" cy="366713"/>
          </a:xfrm>
          <a:prstGeom prst="rect">
            <a:avLst/>
          </a:prstGeom>
          <a:noFill/>
          <a:ln w="9525">
            <a:noFill/>
          </a:ln>
        </p:spPr>
        <p:txBody>
          <a:bodyPr anchor="t">
            <a:spAutoFit/>
          </a:bodyPr>
          <a:lstStyle/>
          <a:p>
            <a:pPr algn="ctr"/>
            <a:r>
              <a:rPr lang="en-US" altLang="zh-CN" sz="1800" dirty="0">
                <a:solidFill>
                  <a:schemeClr val="accent2"/>
                </a:solidFill>
                <a:latin typeface="Times New Roman" panose="02020603050405020304" pitchFamily="18" charset="0"/>
                <a:ea typeface="楷体_GB2312" pitchFamily="49" charset="-122"/>
              </a:rPr>
              <a:t>40</a:t>
            </a:r>
            <a:endParaRPr lang="en-US" altLang="zh-CN" sz="1800" dirty="0">
              <a:solidFill>
                <a:schemeClr val="accent2"/>
              </a:solidFill>
              <a:latin typeface="Times New Roman" panose="02020603050405020304" pitchFamily="18" charset="0"/>
              <a:ea typeface="楷体_GB2312" pitchFamily="49" charset="-122"/>
            </a:endParaRPr>
          </a:p>
        </p:txBody>
      </p:sp>
      <p:sp>
        <p:nvSpPr>
          <p:cNvPr id="418" name="Freeform 142"/>
          <p:cNvSpPr/>
          <p:nvPr/>
        </p:nvSpPr>
        <p:spPr>
          <a:xfrm>
            <a:off x="4978400" y="2528888"/>
            <a:ext cx="1711325" cy="739775"/>
          </a:xfrm>
          <a:custGeom>
            <a:avLst/>
            <a:gdLst/>
            <a:ahLst/>
            <a:cxnLst>
              <a:cxn ang="0">
                <a:pos x="0" y="0"/>
              </a:cxn>
              <a:cxn ang="0">
                <a:pos x="584" y="395"/>
              </a:cxn>
              <a:cxn ang="0">
                <a:pos x="1078" y="428"/>
              </a:cxn>
            </a:cxnLst>
            <a:rect l="0" t="0" r="0" b="0"/>
            <a:pathLst>
              <a:path w="1078" h="466">
                <a:moveTo>
                  <a:pt x="0" y="0"/>
                </a:moveTo>
                <a:cubicBezTo>
                  <a:pt x="97" y="66"/>
                  <a:pt x="404" y="324"/>
                  <a:pt x="584" y="395"/>
                </a:cubicBezTo>
                <a:cubicBezTo>
                  <a:pt x="764" y="466"/>
                  <a:pt x="975" y="421"/>
                  <a:pt x="1078" y="428"/>
                </a:cubicBezTo>
              </a:path>
            </a:pathLst>
          </a:custGeom>
          <a:noFill/>
          <a:ln w="28575" cap="flat" cmpd="sng">
            <a:solidFill>
              <a:srgbClr val="CC0000"/>
            </a:solidFill>
            <a:prstDash val="solid"/>
            <a:round/>
            <a:headEnd type="none" w="med" len="med"/>
            <a:tailEnd type="triangle" w="med" len="med"/>
          </a:ln>
        </p:spPr>
        <p:txBody>
          <a:bodyPr/>
          <a:lstStyle/>
          <a:p>
            <a:endParaRPr lang="zh-CN" altLang="en-US"/>
          </a:p>
        </p:txBody>
      </p:sp>
      <p:sp>
        <p:nvSpPr>
          <p:cNvPr id="419" name="Freeform 143"/>
          <p:cNvSpPr/>
          <p:nvPr/>
        </p:nvSpPr>
        <p:spPr>
          <a:xfrm>
            <a:off x="5264150" y="2503488"/>
            <a:ext cx="3149600" cy="600075"/>
          </a:xfrm>
          <a:custGeom>
            <a:avLst/>
            <a:gdLst/>
            <a:ahLst/>
            <a:cxnLst>
              <a:cxn ang="0">
                <a:pos x="0" y="8"/>
              </a:cxn>
              <a:cxn ang="0">
                <a:pos x="338" y="74"/>
              </a:cxn>
              <a:cxn ang="0">
                <a:pos x="1136" y="57"/>
              </a:cxn>
              <a:cxn ang="0">
                <a:pos x="1984" y="419"/>
              </a:cxn>
            </a:cxnLst>
            <a:rect l="0" t="0" r="0" b="0"/>
            <a:pathLst>
              <a:path w="1984" h="419">
                <a:moveTo>
                  <a:pt x="0" y="8"/>
                </a:moveTo>
                <a:cubicBezTo>
                  <a:pt x="42" y="83"/>
                  <a:pt x="149" y="66"/>
                  <a:pt x="338" y="74"/>
                </a:cubicBezTo>
                <a:cubicBezTo>
                  <a:pt x="527" y="82"/>
                  <a:pt x="862" y="0"/>
                  <a:pt x="1136" y="57"/>
                </a:cubicBezTo>
                <a:cubicBezTo>
                  <a:pt x="1410" y="114"/>
                  <a:pt x="1807" y="344"/>
                  <a:pt x="1984" y="419"/>
                </a:cubicBezTo>
              </a:path>
            </a:pathLst>
          </a:custGeom>
          <a:noFill/>
          <a:ln w="38100" cap="flat" cmpd="sng">
            <a:solidFill>
              <a:srgbClr val="6666FF"/>
            </a:solidFill>
            <a:prstDash val="solid"/>
            <a:round/>
            <a:headEnd type="none" w="med" len="med"/>
            <a:tailEnd type="triangle" w="med" len="med"/>
          </a:ln>
        </p:spPr>
        <p:txBody>
          <a:bodyPr/>
          <a:lstStyle/>
          <a:p>
            <a:endParaRPr lang="zh-CN" altLang="en-US"/>
          </a:p>
        </p:txBody>
      </p:sp>
      <p:sp>
        <p:nvSpPr>
          <p:cNvPr id="420" name="Line 144"/>
          <p:cNvSpPr/>
          <p:nvPr/>
        </p:nvSpPr>
        <p:spPr>
          <a:xfrm>
            <a:off x="7807325" y="6243638"/>
            <a:ext cx="377825" cy="0"/>
          </a:xfrm>
          <a:prstGeom prst="line">
            <a:avLst/>
          </a:prstGeom>
          <a:ln w="38100" cap="flat" cmpd="sng">
            <a:solidFill>
              <a:srgbClr val="6666FF"/>
            </a:solidFill>
            <a:prstDash val="solid"/>
            <a:round/>
            <a:headEnd type="none" w="med" len="med"/>
            <a:tailEnd type="triangle" w="med" len="med"/>
          </a:ln>
        </p:spPr>
      </p:sp>
      <p:sp>
        <p:nvSpPr>
          <p:cNvPr id="421" name="Freeform 145"/>
          <p:cNvSpPr/>
          <p:nvPr/>
        </p:nvSpPr>
        <p:spPr>
          <a:xfrm>
            <a:off x="8732838" y="5049838"/>
            <a:ext cx="947737" cy="1198562"/>
          </a:xfrm>
          <a:custGeom>
            <a:avLst/>
            <a:gdLst/>
            <a:ahLst/>
            <a:cxnLst>
              <a:cxn ang="0">
                <a:pos x="346" y="755"/>
              </a:cxn>
              <a:cxn ang="0">
                <a:pos x="581" y="597"/>
              </a:cxn>
              <a:cxn ang="0">
                <a:pos x="441" y="336"/>
              </a:cxn>
              <a:cxn ang="0">
                <a:pos x="96" y="259"/>
              </a:cxn>
              <a:cxn ang="0">
                <a:pos x="5" y="77"/>
              </a:cxn>
              <a:cxn ang="0">
                <a:pos x="128" y="0"/>
              </a:cxn>
            </a:cxnLst>
            <a:rect l="0" t="0" r="0" b="0"/>
            <a:pathLst>
              <a:path w="597" h="755">
                <a:moveTo>
                  <a:pt x="346" y="755"/>
                </a:moveTo>
                <a:cubicBezTo>
                  <a:pt x="383" y="729"/>
                  <a:pt x="565" y="667"/>
                  <a:pt x="581" y="597"/>
                </a:cubicBezTo>
                <a:cubicBezTo>
                  <a:pt x="597" y="527"/>
                  <a:pt x="522" y="393"/>
                  <a:pt x="441" y="336"/>
                </a:cubicBezTo>
                <a:cubicBezTo>
                  <a:pt x="360" y="280"/>
                  <a:pt x="169" y="302"/>
                  <a:pt x="96" y="259"/>
                </a:cubicBezTo>
                <a:cubicBezTo>
                  <a:pt x="23" y="216"/>
                  <a:pt x="0" y="120"/>
                  <a:pt x="5" y="77"/>
                </a:cubicBezTo>
                <a:cubicBezTo>
                  <a:pt x="10" y="35"/>
                  <a:pt x="69" y="17"/>
                  <a:pt x="128" y="0"/>
                </a:cubicBezTo>
              </a:path>
            </a:pathLst>
          </a:custGeom>
          <a:noFill/>
          <a:ln w="38100" cap="flat" cmpd="sng">
            <a:solidFill>
              <a:srgbClr val="6666FF"/>
            </a:solidFill>
            <a:prstDash val="solid"/>
            <a:round/>
            <a:headEnd type="none" w="med" len="med"/>
            <a:tailEnd type="triangle" w="med" len="med"/>
          </a:ln>
        </p:spPr>
        <p:txBody>
          <a:bodyPr/>
          <a:lstStyle/>
          <a:p>
            <a:endParaRPr lang="zh-CN" altLang="en-US"/>
          </a:p>
        </p:txBody>
      </p:sp>
      <p:grpSp>
        <p:nvGrpSpPr>
          <p:cNvPr id="422" name="Group 148"/>
          <p:cNvGrpSpPr/>
          <p:nvPr/>
        </p:nvGrpSpPr>
        <p:grpSpPr>
          <a:xfrm>
            <a:off x="3930650" y="5527675"/>
            <a:ext cx="1681163" cy="1193800"/>
            <a:chOff x="3368" y="3555"/>
            <a:chExt cx="836" cy="705"/>
          </a:xfrm>
        </p:grpSpPr>
        <p:sp>
          <p:nvSpPr>
            <p:cNvPr id="423"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424" name="Oval 40"/>
            <p:cNvSpPr/>
            <p:nvPr/>
          </p:nvSpPr>
          <p:spPr>
            <a:xfrm>
              <a:off x="3437" y="3613"/>
              <a:ext cx="698" cy="588"/>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425" name="Text Box 84"/>
            <p:cNvSpPr txBox="1"/>
            <p:nvPr/>
          </p:nvSpPr>
          <p:spPr>
            <a:xfrm>
              <a:off x="3440" y="3686"/>
              <a:ext cx="692" cy="414"/>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关键点</a:t>
              </a:r>
              <a:r>
                <a:rPr lang="en-US" altLang="zh-CN" dirty="0">
                  <a:solidFill>
                    <a:srgbClr val="FFFFFF"/>
                  </a:solidFill>
                  <a:latin typeface="Arial" panose="020B0604020202020204" pitchFamily="34" charset="0"/>
                  <a:ea typeface="微软雅黑" panose="020B0503020204020204" pitchFamily="34" charset="-122"/>
                </a:rPr>
                <a:t>3</a:t>
              </a:r>
              <a:r>
                <a:rPr lang="zh-CN" altLang="en-US" dirty="0">
                  <a:solidFill>
                    <a:srgbClr val="FFFFFF"/>
                  </a:solidFill>
                  <a:latin typeface="Arial" panose="020B0604020202020204" pitchFamily="34" charset="0"/>
                  <a:ea typeface="微软雅黑" panose="020B0503020204020204" pitchFamily="34" charset="-122"/>
                </a:rPr>
                <a:t>：指针调整</a:t>
              </a:r>
              <a:endParaRPr lang="zh-CN" altLang="en-US" dirty="0">
                <a:solidFill>
                  <a:srgbClr val="FFFFFF"/>
                </a:solidFill>
                <a:latin typeface="Arial" panose="020B0604020202020204" pitchFamily="34" charset="0"/>
                <a:ea typeface="微软雅黑" panose="020B0503020204020204" pitchFamily="34" charset="-122"/>
              </a:endParaRPr>
            </a:p>
          </p:txBody>
        </p:sp>
      </p:grpSp>
      <p:grpSp>
        <p:nvGrpSpPr>
          <p:cNvPr id="426" name="Group 152"/>
          <p:cNvGrpSpPr/>
          <p:nvPr/>
        </p:nvGrpSpPr>
        <p:grpSpPr>
          <a:xfrm>
            <a:off x="9454862" y="1540905"/>
            <a:ext cx="2486025" cy="1406525"/>
            <a:chOff x="1265" y="3268"/>
            <a:chExt cx="1154" cy="629"/>
          </a:xfrm>
        </p:grpSpPr>
        <p:sp>
          <p:nvSpPr>
            <p:cNvPr id="427"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428"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429" name="Text Box 84"/>
            <p:cNvSpPr/>
            <p:nvPr/>
          </p:nvSpPr>
          <p:spPr>
            <a:xfrm>
              <a:off x="1269" y="3299"/>
              <a:ext cx="1150" cy="568"/>
            </a:xfrm>
            <a:prstGeom prst="roundRect">
              <a:avLst>
                <a:gd name="adj" fmla="val 16667"/>
              </a:avLst>
            </a:prstGeom>
            <a:noFill/>
            <a:ln w="9525">
              <a:noFill/>
            </a:ln>
          </p:spPr>
          <p:txBody>
            <a:bodyPr anchor="t">
              <a:spAutoFit/>
            </a:bodyPr>
            <a:lstStyle/>
            <a:p>
              <a:pPr>
                <a:spcBef>
                  <a:spcPct val="35000"/>
                </a:spcBef>
                <a:buChar char="•"/>
              </a:pPr>
              <a:r>
                <a:rPr lang="zh-CN" altLang="en-US" sz="1600" dirty="0">
                  <a:solidFill>
                    <a:schemeClr val="accent2"/>
                  </a:solidFill>
                  <a:latin typeface="Arial" panose="020B0604020202020204" pitchFamily="34" charset="0"/>
                  <a:ea typeface="微软雅黑" panose="020B0503020204020204" pitchFamily="34" charset="-122"/>
                </a:rPr>
                <a:t>能够自动保持与主文件大小相适应的树的层次</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35000"/>
                </a:spcBef>
                <a:buChar char="•"/>
              </a:pPr>
              <a:r>
                <a:rPr lang="zh-CN" altLang="en-US" sz="1600" dirty="0">
                  <a:solidFill>
                    <a:schemeClr val="accent2"/>
                  </a:solidFill>
                  <a:latin typeface="Arial" panose="020B0604020202020204" pitchFamily="34" charset="0"/>
                  <a:ea typeface="微软雅黑" panose="020B0503020204020204" pitchFamily="34" charset="-122"/>
                </a:rPr>
                <a:t>每个索引块的指针利用率都在</a:t>
              </a:r>
              <a:r>
                <a:rPr lang="en-US" altLang="zh-CN" sz="1600" dirty="0">
                  <a:solidFill>
                    <a:schemeClr val="accent2"/>
                  </a:solidFill>
                  <a:latin typeface="Arial" panose="020B0604020202020204" pitchFamily="34" charset="0"/>
                  <a:ea typeface="微软雅黑" panose="020B0503020204020204" pitchFamily="34" charset="-122"/>
                </a:rPr>
                <a:t>50%-100%</a:t>
              </a:r>
              <a:r>
                <a:rPr lang="zh-CN" altLang="en-US" sz="1600" dirty="0">
                  <a:solidFill>
                    <a:schemeClr val="accent2"/>
                  </a:solidFill>
                  <a:latin typeface="Arial" panose="020B0604020202020204" pitchFamily="34" charset="0"/>
                  <a:ea typeface="微软雅黑" panose="020B0503020204020204" pitchFamily="34" charset="-122"/>
                </a:rPr>
                <a:t>之间</a:t>
              </a:r>
              <a:endParaRPr lang="zh-CN" altLang="en-US" sz="1600" dirty="0">
                <a:solidFill>
                  <a:schemeClr val="accent2"/>
                </a:solidFill>
                <a:latin typeface="Arial" panose="020B0604020202020204" pitchFamily="34" charset="0"/>
                <a:ea typeface="微软雅黑" panose="020B0503020204020204" pitchFamily="34" charset="-122"/>
              </a:endParaRPr>
            </a:p>
          </p:txBody>
        </p:sp>
      </p:grpSp>
      <p:grpSp>
        <p:nvGrpSpPr>
          <p:cNvPr id="430" name="Group 156"/>
          <p:cNvGrpSpPr/>
          <p:nvPr/>
        </p:nvGrpSpPr>
        <p:grpSpPr>
          <a:xfrm>
            <a:off x="1536129" y="2251075"/>
            <a:ext cx="1681163" cy="1193800"/>
            <a:chOff x="3368" y="3555"/>
            <a:chExt cx="836" cy="705"/>
          </a:xfrm>
        </p:grpSpPr>
        <p:sp>
          <p:nvSpPr>
            <p:cNvPr id="431"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432" name="Oval 40"/>
            <p:cNvSpPr/>
            <p:nvPr/>
          </p:nvSpPr>
          <p:spPr>
            <a:xfrm>
              <a:off x="3437" y="3613"/>
              <a:ext cx="698" cy="588"/>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433" name="Text Box 84"/>
            <p:cNvSpPr txBox="1"/>
            <p:nvPr/>
          </p:nvSpPr>
          <p:spPr>
            <a:xfrm>
              <a:off x="3440" y="3686"/>
              <a:ext cx="692" cy="414"/>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关键点</a:t>
              </a:r>
              <a:r>
                <a:rPr lang="en-US" altLang="zh-CN" dirty="0">
                  <a:solidFill>
                    <a:srgbClr val="FFFFFF"/>
                  </a:solidFill>
                  <a:latin typeface="Arial" panose="020B0604020202020204" pitchFamily="34" charset="0"/>
                  <a:ea typeface="微软雅黑" panose="020B0503020204020204" pitchFamily="34" charset="-122"/>
                </a:rPr>
                <a:t>1</a:t>
              </a:r>
              <a:r>
                <a:rPr lang="zh-CN" altLang="en-US" dirty="0">
                  <a:solidFill>
                    <a:srgbClr val="FFFFFF"/>
                  </a:solidFill>
                  <a:latin typeface="Arial" panose="020B0604020202020204" pitchFamily="34" charset="0"/>
                  <a:ea typeface="微软雅黑" panose="020B0503020204020204" pitchFamily="34" charset="-122"/>
                </a:rPr>
                <a:t>：分裂</a:t>
              </a:r>
              <a:endParaRPr lang="zh-CN" altLang="en-US" dirty="0">
                <a:solidFill>
                  <a:srgbClr val="FFFFFF"/>
                </a:solidFill>
                <a:latin typeface="Arial" panose="020B0604020202020204" pitchFamily="34" charset="0"/>
                <a:ea typeface="微软雅黑" panose="020B0503020204020204" pitchFamily="34" charset="-122"/>
              </a:endParaRPr>
            </a:p>
          </p:txBody>
        </p:sp>
      </p:grpSp>
      <p:grpSp>
        <p:nvGrpSpPr>
          <p:cNvPr id="434" name="Group 164"/>
          <p:cNvGrpSpPr/>
          <p:nvPr/>
        </p:nvGrpSpPr>
        <p:grpSpPr>
          <a:xfrm>
            <a:off x="1348582" y="3130550"/>
            <a:ext cx="1373187" cy="784225"/>
            <a:chOff x="1089" y="3236"/>
            <a:chExt cx="1506" cy="668"/>
          </a:xfrm>
        </p:grpSpPr>
        <p:sp>
          <p:nvSpPr>
            <p:cNvPr id="435" name="AutoShape 39"/>
            <p:cNvSpPr/>
            <p:nvPr/>
          </p:nvSpPr>
          <p:spPr>
            <a:xfrm>
              <a:off x="1265" y="3268"/>
              <a:ext cx="1153" cy="629"/>
            </a:xfrm>
            <a:prstGeom prst="ellipse">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436" name="Oval 40"/>
            <p:cNvSpPr/>
            <p:nvPr/>
          </p:nvSpPr>
          <p:spPr>
            <a:xfrm>
              <a:off x="1310" y="3308"/>
              <a:ext cx="1069" cy="549"/>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437" name="Text Box 84"/>
            <p:cNvSpPr/>
            <p:nvPr/>
          </p:nvSpPr>
          <p:spPr>
            <a:xfrm>
              <a:off x="1089" y="3236"/>
              <a:ext cx="1506" cy="668"/>
            </a:xfrm>
            <a:prstGeom prst="ellipse">
              <a:avLst/>
            </a:prstGeom>
            <a:noFill/>
            <a:ln w="9525">
              <a:noFill/>
            </a:ln>
          </p:spPr>
          <p:txBody>
            <a:bodyPr anchor="t">
              <a:spAutoFit/>
            </a:bodyPr>
            <a:lstStyle/>
            <a:p>
              <a:pPr algn="ctr">
                <a:spcBef>
                  <a:spcPct val="35000"/>
                </a:spcBef>
              </a:pPr>
              <a:r>
                <a:rPr lang="zh-CN" altLang="en-US" sz="1600" dirty="0">
                  <a:solidFill>
                    <a:schemeClr val="accent2"/>
                  </a:solidFill>
                  <a:latin typeface="Arial" panose="020B0604020202020204" pitchFamily="34" charset="0"/>
                  <a:ea typeface="微软雅黑" panose="020B0503020204020204" pitchFamily="34" charset="-122"/>
                </a:rPr>
                <a:t>当全满时分裂</a:t>
              </a:r>
              <a:endParaRPr lang="zh-CN" altLang="en-US" sz="1600" dirty="0">
                <a:solidFill>
                  <a:schemeClr val="accent2"/>
                </a:solidFill>
                <a:latin typeface="Arial" panose="020B0604020202020204" pitchFamily="34" charset="0"/>
                <a:ea typeface="微软雅黑" panose="020B0503020204020204" pitchFamily="34" charset="-122"/>
              </a:endParaRPr>
            </a:p>
          </p:txBody>
        </p:sp>
      </p:grpSp>
      <p:grpSp>
        <p:nvGrpSpPr>
          <p:cNvPr id="438" name="Group 160"/>
          <p:cNvGrpSpPr/>
          <p:nvPr/>
        </p:nvGrpSpPr>
        <p:grpSpPr>
          <a:xfrm>
            <a:off x="6584950" y="1479948"/>
            <a:ext cx="2203450" cy="1488281"/>
            <a:chOff x="3368" y="3555"/>
            <a:chExt cx="836" cy="705"/>
          </a:xfrm>
        </p:grpSpPr>
        <p:sp>
          <p:nvSpPr>
            <p:cNvPr id="439"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440" name="Oval 40"/>
            <p:cNvSpPr/>
            <p:nvPr/>
          </p:nvSpPr>
          <p:spPr>
            <a:xfrm>
              <a:off x="3437" y="3613"/>
              <a:ext cx="698" cy="588"/>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441" name="Text Box 84"/>
            <p:cNvSpPr txBox="1"/>
            <p:nvPr/>
          </p:nvSpPr>
          <p:spPr>
            <a:xfrm>
              <a:off x="3440" y="3686"/>
              <a:ext cx="691" cy="433"/>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关键点</a:t>
              </a:r>
              <a:r>
                <a:rPr lang="en-US" altLang="zh-CN" dirty="0">
                  <a:solidFill>
                    <a:srgbClr val="FFFFFF"/>
                  </a:solidFill>
                  <a:latin typeface="Arial" panose="020B0604020202020204" pitchFamily="34" charset="0"/>
                  <a:ea typeface="微软雅黑" panose="020B0503020204020204" pitchFamily="34" charset="-122"/>
                </a:rPr>
                <a:t>2</a:t>
              </a:r>
              <a:r>
                <a:rPr lang="zh-CN" altLang="en-US" dirty="0">
                  <a:solidFill>
                    <a:srgbClr val="FFFFFF"/>
                  </a:solidFill>
                  <a:latin typeface="Arial" panose="020B0604020202020204" pitchFamily="34" charset="0"/>
                  <a:ea typeface="微软雅黑" panose="020B0503020204020204" pitchFamily="34" charset="-122"/>
                </a:rPr>
                <a:t>：由叶结点向根结点逐层处理</a:t>
              </a:r>
              <a:endParaRPr lang="zh-CN" altLang="en-US" dirty="0">
                <a:solidFill>
                  <a:srgbClr val="FFFFFF"/>
                </a:solidFill>
                <a:latin typeface="Arial" panose="020B0604020202020204" pitchFamily="34" charset="0"/>
                <a:ea typeface="微软雅黑" panose="020B0503020204020204" pitchFamily="34" charset="-122"/>
              </a:endParaRPr>
            </a:p>
          </p:txBody>
        </p:sp>
      </p:grpSp>
      <p:sp>
        <p:nvSpPr>
          <p:cNvPr id="64" name="灯片编号占位符 63"/>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4"/>
                                        </p:tgtEl>
                                        <p:attrNameLst>
                                          <p:attrName>style.visibility</p:attrName>
                                        </p:attrNameLst>
                                      </p:cBhvr>
                                      <p:to>
                                        <p:strVal val="visible"/>
                                      </p:to>
                                    </p:set>
                                    <p:anim calcmode="lin" valueType="num">
                                      <p:cBhvr additive="base">
                                        <p:cTn id="7" dur="500" fill="hold"/>
                                        <p:tgtEl>
                                          <p:spTgt spid="434"/>
                                        </p:tgtEl>
                                        <p:attrNameLst>
                                          <p:attrName>ppt_x</p:attrName>
                                        </p:attrNameLst>
                                      </p:cBhvr>
                                      <p:tavLst>
                                        <p:tav tm="0">
                                          <p:val>
                                            <p:strVal val="#ppt_x"/>
                                          </p:val>
                                        </p:tav>
                                        <p:tav tm="100000">
                                          <p:val>
                                            <p:strVal val="#ppt_x"/>
                                          </p:val>
                                        </p:tav>
                                      </p:tavLst>
                                    </p:anim>
                                    <p:anim calcmode="lin" valueType="num">
                                      <p:cBhvr additive="base">
                                        <p:cTn id="8" dur="500" fill="hold"/>
                                        <p:tgtEl>
                                          <p:spTgt spid="4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26"/>
                                        </p:tgtEl>
                                        <p:attrNameLst>
                                          <p:attrName>style.visibility</p:attrName>
                                        </p:attrNameLst>
                                      </p:cBhvr>
                                      <p:to>
                                        <p:strVal val="visible"/>
                                      </p:to>
                                    </p:set>
                                    <p:anim calcmode="lin" valueType="num">
                                      <p:cBhvr additive="base">
                                        <p:cTn id="13" dur="500" fill="hold"/>
                                        <p:tgtEl>
                                          <p:spTgt spid="426"/>
                                        </p:tgtEl>
                                        <p:attrNameLst>
                                          <p:attrName>ppt_x</p:attrName>
                                        </p:attrNameLst>
                                      </p:cBhvr>
                                      <p:tavLst>
                                        <p:tav tm="0">
                                          <p:val>
                                            <p:strVal val="#ppt_x"/>
                                          </p:val>
                                        </p:tav>
                                        <p:tav tm="100000">
                                          <p:val>
                                            <p:strVal val="#ppt_x"/>
                                          </p:val>
                                        </p:tav>
                                      </p:tavLst>
                                    </p:anim>
                                    <p:anim calcmode="lin" valueType="num">
                                      <p:cBhvr additive="base">
                                        <p:cTn id="14" dur="500" fill="hold"/>
                                        <p:tgtEl>
                                          <p:spTgt spid="4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22"/>
                                        </p:tgtEl>
                                        <p:attrNameLst>
                                          <p:attrName>style.visibility</p:attrName>
                                        </p:attrNameLst>
                                      </p:cBhvr>
                                      <p:to>
                                        <p:strVal val="visible"/>
                                      </p:to>
                                    </p:set>
                                    <p:anim calcmode="lin" valueType="num">
                                      <p:cBhvr additive="base">
                                        <p:cTn id="19" dur="500" fill="hold"/>
                                        <p:tgtEl>
                                          <p:spTgt spid="422"/>
                                        </p:tgtEl>
                                        <p:attrNameLst>
                                          <p:attrName>ppt_x</p:attrName>
                                        </p:attrNameLst>
                                      </p:cBhvr>
                                      <p:tavLst>
                                        <p:tav tm="0">
                                          <p:val>
                                            <p:strVal val="#ppt_x"/>
                                          </p:val>
                                        </p:tav>
                                        <p:tav tm="100000">
                                          <p:val>
                                            <p:strVal val="#ppt_x"/>
                                          </p:val>
                                        </p:tav>
                                      </p:tavLst>
                                    </p:anim>
                                    <p:anim calcmode="lin" valueType="num">
                                      <p:cBhvr additive="base">
                                        <p:cTn id="20" dur="500" fill="hold"/>
                                        <p:tgtEl>
                                          <p:spTgt spid="42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38"/>
                                        </p:tgtEl>
                                        <p:attrNameLst>
                                          <p:attrName>style.visibility</p:attrName>
                                        </p:attrNameLst>
                                      </p:cBhvr>
                                      <p:to>
                                        <p:strVal val="visible"/>
                                      </p:to>
                                    </p:set>
                                    <p:anim calcmode="lin" valueType="num">
                                      <p:cBhvr additive="base">
                                        <p:cTn id="25" dur="500" fill="hold"/>
                                        <p:tgtEl>
                                          <p:spTgt spid="438"/>
                                        </p:tgtEl>
                                        <p:attrNameLst>
                                          <p:attrName>ppt_x</p:attrName>
                                        </p:attrNameLst>
                                      </p:cBhvr>
                                      <p:tavLst>
                                        <p:tav tm="0">
                                          <p:val>
                                            <p:strVal val="#ppt_x"/>
                                          </p:val>
                                        </p:tav>
                                        <p:tav tm="100000">
                                          <p:val>
                                            <p:strVal val="#ppt_x"/>
                                          </p:val>
                                        </p:tav>
                                      </p:tavLst>
                                    </p:anim>
                                    <p:anim calcmode="lin" valueType="num">
                                      <p:cBhvr additive="base">
                                        <p:cTn id="26" dur="500" fill="hold"/>
                                        <p:tgtEl>
                                          <p:spTgt spid="4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相关的算法表达</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插入与结点分裂过程示意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pic>
        <p:nvPicPr>
          <p:cNvPr id="511" name="Picture 166"/>
          <p:cNvPicPr>
            <a:picLocks noChangeAspect="1"/>
          </p:cNvPicPr>
          <p:nvPr/>
        </p:nvPicPr>
        <p:blipFill>
          <a:blip r:embed="rId1"/>
          <a:stretch>
            <a:fillRect/>
          </a:stretch>
        </p:blipFill>
        <p:spPr>
          <a:xfrm>
            <a:off x="4715384" y="1182078"/>
            <a:ext cx="4724279" cy="5496679"/>
          </a:xfrm>
          <a:prstGeom prst="rect">
            <a:avLst/>
          </a:prstGeom>
          <a:noFill/>
          <a:ln w="9525" cap="flat" cmpd="sng">
            <a:solidFill>
              <a:srgbClr val="FF0066"/>
            </a:solidFill>
            <a:prstDash val="solid"/>
            <a:miter/>
            <a:headEnd type="none" w="med" len="med"/>
            <a:tailEnd type="none" w="med" len="med"/>
          </a:ln>
        </p:spPr>
      </p:pic>
      <p:grpSp>
        <p:nvGrpSpPr>
          <p:cNvPr id="513" name="Group 168"/>
          <p:cNvGrpSpPr/>
          <p:nvPr/>
        </p:nvGrpSpPr>
        <p:grpSpPr>
          <a:xfrm>
            <a:off x="8269672" y="5573857"/>
            <a:ext cx="1500187" cy="1104900"/>
            <a:chOff x="3368" y="3555"/>
            <a:chExt cx="836" cy="705"/>
          </a:xfrm>
        </p:grpSpPr>
        <p:sp>
          <p:nvSpPr>
            <p:cNvPr id="514"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15" name="Oval 40"/>
            <p:cNvSpPr/>
            <p:nvPr/>
          </p:nvSpPr>
          <p:spPr>
            <a:xfrm>
              <a:off x="3437" y="3613"/>
              <a:ext cx="698" cy="588"/>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516" name="Text Box 84"/>
            <p:cNvSpPr txBox="1"/>
            <p:nvPr/>
          </p:nvSpPr>
          <p:spPr>
            <a:xfrm>
              <a:off x="3440" y="3686"/>
              <a:ext cx="691" cy="449"/>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此算法可参见教材</a:t>
              </a:r>
              <a:endParaRPr lang="zh-CN" altLang="en-US" dirty="0">
                <a:solidFill>
                  <a:srgbClr val="FFFFFF"/>
                </a:solidFill>
                <a:latin typeface="Arial" panose="020B0604020202020204" pitchFamily="34" charset="0"/>
                <a:ea typeface="微软雅黑" panose="020B0503020204020204" pitchFamily="34" charset="-122"/>
              </a:endParaRPr>
            </a:p>
          </p:txBody>
        </p:sp>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(1)</a:t>
            </a:r>
            <a:r>
              <a:rPr lang="zh-CN" altLang="en-US" sz="2600" dirty="0">
                <a:latin typeface="微软雅黑" panose="020B0503020204020204" pitchFamily="34" charset="-122"/>
                <a:ea typeface="微软雅黑" panose="020B0503020204020204" pitchFamily="34" charset="-122"/>
              </a:rPr>
              <a:t> 问题</a:t>
            </a:r>
            <a:endParaRPr lang="en-US" altLang="zh-CN"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问题</a:t>
            </a:r>
            <a:r>
              <a:rPr lang="en-US" altLang="zh-CN" sz="2000" b="0" dirty="0">
                <a:latin typeface="微软雅黑" panose="020B0503020204020204" pitchFamily="34" charset="-122"/>
                <a:ea typeface="微软雅黑" panose="020B0503020204020204" pitchFamily="34" charset="-122"/>
              </a:rPr>
              <a:t>1</a:t>
            </a:r>
            <a:r>
              <a:rPr lang="zh-CN" altLang="en-US" sz="2000" b="0" dirty="0">
                <a:latin typeface="微软雅黑" panose="020B0503020204020204" pitchFamily="34" charset="-122"/>
                <a:ea typeface="微软雅黑" panose="020B0503020204020204" pitchFamily="34" charset="-122"/>
              </a:rPr>
              <a:t>：在下列</a:t>
            </a:r>
            <a:r>
              <a:rPr lang="en-US" altLang="zh-CN" sz="2000" b="0" dirty="0">
                <a:latin typeface="微软雅黑" panose="020B0503020204020204" pitchFamily="34" charset="-122"/>
                <a:ea typeface="微软雅黑" panose="020B0503020204020204" pitchFamily="34" charset="-122"/>
              </a:rPr>
              <a:t>B+</a:t>
            </a:r>
            <a:r>
              <a:rPr lang="zh-CN" altLang="en-US" sz="2000" b="0" dirty="0">
                <a:latin typeface="微软雅黑" panose="020B0503020204020204" pitchFamily="34" charset="-122"/>
                <a:ea typeface="微软雅黑" panose="020B0503020204020204" pitchFamily="34" charset="-122"/>
              </a:rPr>
              <a:t>树中删除键值为</a:t>
            </a:r>
            <a:r>
              <a:rPr lang="en-US" altLang="zh-CN" sz="2000" b="0" dirty="0">
                <a:latin typeface="微软雅黑" panose="020B0503020204020204" pitchFamily="34" charset="-122"/>
                <a:ea typeface="微软雅黑" panose="020B0503020204020204" pitchFamily="34" charset="-122"/>
              </a:rPr>
              <a:t>7</a:t>
            </a:r>
            <a:r>
              <a:rPr lang="zh-CN" altLang="en-US" sz="2000" b="0" dirty="0">
                <a:latin typeface="微软雅黑" panose="020B0503020204020204" pitchFamily="34" charset="-122"/>
                <a:ea typeface="微软雅黑" panose="020B0503020204020204" pitchFamily="34" charset="-122"/>
              </a:rPr>
              <a:t>的记录</a:t>
            </a:r>
            <a:endParaRPr lang="zh-CN" altLang="en-US" sz="20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删除与结点合并过程示意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2" name="Group 4"/>
          <p:cNvGrpSpPr/>
          <p:nvPr/>
        </p:nvGrpSpPr>
        <p:grpSpPr>
          <a:xfrm>
            <a:off x="4598988" y="2365375"/>
            <a:ext cx="1238250" cy="695325"/>
            <a:chOff x="856" y="1440"/>
            <a:chExt cx="1291" cy="667"/>
          </a:xfrm>
        </p:grpSpPr>
        <p:sp>
          <p:nvSpPr>
            <p:cNvPr id="4" name="Rectangle 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7" name="Line 6"/>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8" name="Line 7"/>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9" name="Line 8"/>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0" name="Line 9"/>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2" name="Line 10"/>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3" name="Line 11"/>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14" name="Text Box 12"/>
          <p:cNvSpPr txBox="1"/>
          <p:nvPr/>
        </p:nvSpPr>
        <p:spPr>
          <a:xfrm>
            <a:off x="4527550" y="234156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15" name="Group 13"/>
          <p:cNvGrpSpPr/>
          <p:nvPr/>
        </p:nvGrpSpPr>
        <p:grpSpPr>
          <a:xfrm>
            <a:off x="3286125" y="3527425"/>
            <a:ext cx="1238250" cy="695325"/>
            <a:chOff x="856" y="1440"/>
            <a:chExt cx="1291" cy="667"/>
          </a:xfrm>
        </p:grpSpPr>
        <p:sp>
          <p:nvSpPr>
            <p:cNvPr id="16" name="Rectangle 1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7" name="Line 1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8" name="Line 1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9" name="Line 1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0" name="Line 1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1" name="Line 1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2" name="Line 2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3" name="Group 21"/>
          <p:cNvGrpSpPr/>
          <p:nvPr/>
        </p:nvGrpSpPr>
        <p:grpSpPr>
          <a:xfrm>
            <a:off x="6834188" y="3527425"/>
            <a:ext cx="1238250" cy="695325"/>
            <a:chOff x="856" y="1440"/>
            <a:chExt cx="1291" cy="667"/>
          </a:xfrm>
        </p:grpSpPr>
        <p:sp>
          <p:nvSpPr>
            <p:cNvPr id="24" name="Rectangle 2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5" name="Line 2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6" name="Line 2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7" name="Line 2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8" name="Line 2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9" name="Line 2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0" name="Line 2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1" name="Group 29"/>
          <p:cNvGrpSpPr/>
          <p:nvPr/>
        </p:nvGrpSpPr>
        <p:grpSpPr>
          <a:xfrm>
            <a:off x="1627188" y="4803775"/>
            <a:ext cx="1238250" cy="695325"/>
            <a:chOff x="856" y="1440"/>
            <a:chExt cx="1291" cy="667"/>
          </a:xfrm>
        </p:grpSpPr>
        <p:sp>
          <p:nvSpPr>
            <p:cNvPr id="33"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4" name="Line 3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35" name="Line 3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36" name="Line 3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37" name="Line 3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8" name="Line 3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9" name="Line 3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40" name="Group 37"/>
          <p:cNvGrpSpPr/>
          <p:nvPr/>
        </p:nvGrpSpPr>
        <p:grpSpPr>
          <a:xfrm>
            <a:off x="3113088" y="4803775"/>
            <a:ext cx="1238250" cy="695325"/>
            <a:chOff x="856" y="1440"/>
            <a:chExt cx="1291" cy="667"/>
          </a:xfrm>
        </p:grpSpPr>
        <p:sp>
          <p:nvSpPr>
            <p:cNvPr id="41" name="Rectangle 3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2" name="Line 3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3" name="Line 4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4" name="Line 4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5" name="Line 4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6" name="Line 4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7" name="Line 4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48" name="Group 45"/>
          <p:cNvGrpSpPr/>
          <p:nvPr/>
        </p:nvGrpSpPr>
        <p:grpSpPr>
          <a:xfrm>
            <a:off x="4598988" y="4803775"/>
            <a:ext cx="1238250" cy="695325"/>
            <a:chOff x="856" y="1440"/>
            <a:chExt cx="1291" cy="667"/>
          </a:xfrm>
        </p:grpSpPr>
        <p:sp>
          <p:nvSpPr>
            <p:cNvPr id="49" name="Rectangle 4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0" name="Line 4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1" name="Line 4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2" name="Line 4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3" name="Line 5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4" name="Line 5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5" name="Line 5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6" name="Group 53"/>
          <p:cNvGrpSpPr/>
          <p:nvPr/>
        </p:nvGrpSpPr>
        <p:grpSpPr>
          <a:xfrm>
            <a:off x="6084888" y="4803775"/>
            <a:ext cx="1238250" cy="695325"/>
            <a:chOff x="856" y="1440"/>
            <a:chExt cx="1291" cy="667"/>
          </a:xfrm>
        </p:grpSpPr>
        <p:sp>
          <p:nvSpPr>
            <p:cNvPr id="57" name="Rectangle 5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8" name="Line 5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9" name="Line 5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60" name="Line 5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61" name="Line 5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62" name="Line 5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63" name="Line 6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28" name="Group 61"/>
          <p:cNvGrpSpPr/>
          <p:nvPr/>
        </p:nvGrpSpPr>
        <p:grpSpPr>
          <a:xfrm>
            <a:off x="7570788" y="4803775"/>
            <a:ext cx="1238250" cy="695325"/>
            <a:chOff x="856" y="1440"/>
            <a:chExt cx="1291" cy="667"/>
          </a:xfrm>
        </p:grpSpPr>
        <p:sp>
          <p:nvSpPr>
            <p:cNvPr id="129" name="Rectangle 6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30" name="Line 6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31" name="Line 6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32" name="Line 6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33" name="Line 6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34" name="Line 6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35" name="Line 6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136" name="Group 69"/>
          <p:cNvGrpSpPr/>
          <p:nvPr/>
        </p:nvGrpSpPr>
        <p:grpSpPr>
          <a:xfrm>
            <a:off x="9058275" y="4803775"/>
            <a:ext cx="1238250" cy="695325"/>
            <a:chOff x="856" y="1440"/>
            <a:chExt cx="1291" cy="667"/>
          </a:xfrm>
        </p:grpSpPr>
        <p:sp>
          <p:nvSpPr>
            <p:cNvPr id="261" name="Rectangle 7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62" name="Line 7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63" name="Line 7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64" name="Line 7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65" name="Line 7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66" name="Line 7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67" name="Line 7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268" name="Text Box 77"/>
          <p:cNvSpPr txBox="1"/>
          <p:nvPr/>
        </p:nvSpPr>
        <p:spPr>
          <a:xfrm>
            <a:off x="3228975" y="35083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269" name="Text Box 78"/>
          <p:cNvSpPr txBox="1"/>
          <p:nvPr/>
        </p:nvSpPr>
        <p:spPr>
          <a:xfrm>
            <a:off x="1589088" y="47752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270" name="Text Box 79"/>
          <p:cNvSpPr txBox="1"/>
          <p:nvPr/>
        </p:nvSpPr>
        <p:spPr>
          <a:xfrm>
            <a:off x="1970088" y="47752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271" name="Text Box 80"/>
          <p:cNvSpPr txBox="1"/>
          <p:nvPr/>
        </p:nvSpPr>
        <p:spPr>
          <a:xfrm>
            <a:off x="2468563" y="4775200"/>
            <a:ext cx="400050"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272" name="Text Box 81"/>
          <p:cNvSpPr txBox="1"/>
          <p:nvPr/>
        </p:nvSpPr>
        <p:spPr>
          <a:xfrm>
            <a:off x="3036888" y="47752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7</a:t>
            </a:r>
            <a:endParaRPr lang="en-US" altLang="zh-CN" sz="1800" dirty="0">
              <a:latin typeface="Times New Roman" panose="02020603050405020304" pitchFamily="18" charset="0"/>
              <a:ea typeface="楷体_GB2312" pitchFamily="49" charset="-122"/>
            </a:endParaRPr>
          </a:p>
        </p:txBody>
      </p:sp>
      <p:sp>
        <p:nvSpPr>
          <p:cNvPr id="273" name="Text Box 82"/>
          <p:cNvSpPr txBox="1"/>
          <p:nvPr/>
        </p:nvSpPr>
        <p:spPr>
          <a:xfrm>
            <a:off x="3417888" y="47752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11</a:t>
            </a:r>
            <a:endParaRPr lang="en-US" altLang="zh-CN" sz="1800" dirty="0">
              <a:latin typeface="Times New Roman" panose="02020603050405020304" pitchFamily="18" charset="0"/>
              <a:ea typeface="楷体_GB2312" pitchFamily="49" charset="-122"/>
            </a:endParaRPr>
          </a:p>
        </p:txBody>
      </p:sp>
      <p:sp>
        <p:nvSpPr>
          <p:cNvPr id="274" name="Text Box 83"/>
          <p:cNvSpPr txBox="1"/>
          <p:nvPr/>
        </p:nvSpPr>
        <p:spPr>
          <a:xfrm>
            <a:off x="4522788" y="47942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275" name="Text Box 84"/>
          <p:cNvSpPr txBox="1"/>
          <p:nvPr/>
        </p:nvSpPr>
        <p:spPr>
          <a:xfrm>
            <a:off x="4941888" y="47942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276" name="Text Box 85"/>
          <p:cNvSpPr txBox="1"/>
          <p:nvPr/>
        </p:nvSpPr>
        <p:spPr>
          <a:xfrm>
            <a:off x="5402263" y="4794250"/>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277" name="Text Box 86"/>
          <p:cNvSpPr txBox="1"/>
          <p:nvPr/>
        </p:nvSpPr>
        <p:spPr>
          <a:xfrm>
            <a:off x="6021388" y="47815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278" name="Text Box 87"/>
          <p:cNvSpPr txBox="1"/>
          <p:nvPr/>
        </p:nvSpPr>
        <p:spPr>
          <a:xfrm>
            <a:off x="6440488" y="47815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279" name="Text Box 88"/>
          <p:cNvSpPr txBox="1"/>
          <p:nvPr/>
        </p:nvSpPr>
        <p:spPr>
          <a:xfrm>
            <a:off x="7534275" y="47879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280" name="Text Box 89"/>
          <p:cNvSpPr txBox="1"/>
          <p:nvPr/>
        </p:nvSpPr>
        <p:spPr>
          <a:xfrm>
            <a:off x="7953375" y="47879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281" name="Text Box 90"/>
          <p:cNvSpPr txBox="1"/>
          <p:nvPr/>
        </p:nvSpPr>
        <p:spPr>
          <a:xfrm>
            <a:off x="8413750" y="4787900"/>
            <a:ext cx="439738"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282" name="Text Box 91"/>
          <p:cNvSpPr txBox="1"/>
          <p:nvPr/>
        </p:nvSpPr>
        <p:spPr>
          <a:xfrm>
            <a:off x="8997950" y="47879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283" name="Text Box 92"/>
          <p:cNvSpPr txBox="1"/>
          <p:nvPr/>
        </p:nvSpPr>
        <p:spPr>
          <a:xfrm>
            <a:off x="9417050" y="47879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284" name="Text Box 93"/>
          <p:cNvSpPr txBox="1"/>
          <p:nvPr/>
        </p:nvSpPr>
        <p:spPr>
          <a:xfrm>
            <a:off x="6765925" y="350043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285" name="Text Box 94"/>
          <p:cNvSpPr txBox="1"/>
          <p:nvPr/>
        </p:nvSpPr>
        <p:spPr>
          <a:xfrm>
            <a:off x="7185025" y="350043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286" name="Text Box 95"/>
          <p:cNvSpPr txBox="1"/>
          <p:nvPr/>
        </p:nvSpPr>
        <p:spPr>
          <a:xfrm>
            <a:off x="7645400" y="3500438"/>
            <a:ext cx="439738"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grpSp>
        <p:nvGrpSpPr>
          <p:cNvPr id="287" name="Group 96"/>
          <p:cNvGrpSpPr/>
          <p:nvPr/>
        </p:nvGrpSpPr>
        <p:grpSpPr>
          <a:xfrm>
            <a:off x="5191125" y="4083050"/>
            <a:ext cx="4154488" cy="730250"/>
            <a:chOff x="2362" y="2511"/>
            <a:chExt cx="2617" cy="625"/>
          </a:xfrm>
        </p:grpSpPr>
        <p:sp>
          <p:nvSpPr>
            <p:cNvPr id="288" name="Line 97"/>
            <p:cNvSpPr/>
            <p:nvPr/>
          </p:nvSpPr>
          <p:spPr>
            <a:xfrm>
              <a:off x="4115" y="2519"/>
              <a:ext cx="864" cy="601"/>
            </a:xfrm>
            <a:prstGeom prst="line">
              <a:avLst/>
            </a:prstGeom>
            <a:ln w="9525" cap="flat" cmpd="sng">
              <a:solidFill>
                <a:srgbClr val="FF0066"/>
              </a:solidFill>
              <a:prstDash val="solid"/>
              <a:round/>
              <a:headEnd type="none" w="med" len="med"/>
              <a:tailEnd type="triangle" w="med" len="med"/>
            </a:ln>
          </p:spPr>
        </p:sp>
        <p:sp>
          <p:nvSpPr>
            <p:cNvPr id="289" name="Line 98"/>
            <p:cNvSpPr/>
            <p:nvPr/>
          </p:nvSpPr>
          <p:spPr>
            <a:xfrm>
              <a:off x="3884" y="2511"/>
              <a:ext cx="173" cy="625"/>
            </a:xfrm>
            <a:prstGeom prst="line">
              <a:avLst/>
            </a:prstGeom>
            <a:ln w="9525" cap="flat" cmpd="sng">
              <a:solidFill>
                <a:srgbClr val="FF0066"/>
              </a:solidFill>
              <a:prstDash val="solid"/>
              <a:round/>
              <a:headEnd type="none" w="med" len="med"/>
              <a:tailEnd type="triangle" w="med" len="med"/>
            </a:ln>
          </p:spPr>
        </p:sp>
        <p:sp>
          <p:nvSpPr>
            <p:cNvPr id="290" name="Line 99"/>
            <p:cNvSpPr/>
            <p:nvPr/>
          </p:nvSpPr>
          <p:spPr>
            <a:xfrm flipH="1">
              <a:off x="3136" y="2519"/>
              <a:ext cx="559" cy="601"/>
            </a:xfrm>
            <a:prstGeom prst="line">
              <a:avLst/>
            </a:prstGeom>
            <a:ln w="9525" cap="flat" cmpd="sng">
              <a:solidFill>
                <a:srgbClr val="FF0066"/>
              </a:solidFill>
              <a:prstDash val="solid"/>
              <a:round/>
              <a:headEnd type="none" w="med" len="med"/>
              <a:tailEnd type="triangle" w="med" len="med"/>
            </a:ln>
          </p:spPr>
        </p:sp>
        <p:sp>
          <p:nvSpPr>
            <p:cNvPr id="291" name="Line 100"/>
            <p:cNvSpPr/>
            <p:nvPr/>
          </p:nvSpPr>
          <p:spPr>
            <a:xfrm flipH="1">
              <a:off x="2362" y="2527"/>
              <a:ext cx="1078" cy="593"/>
            </a:xfrm>
            <a:prstGeom prst="line">
              <a:avLst/>
            </a:prstGeom>
            <a:ln w="9525" cap="flat" cmpd="sng">
              <a:solidFill>
                <a:srgbClr val="FF0066"/>
              </a:solidFill>
              <a:prstDash val="solid"/>
              <a:round/>
              <a:headEnd type="none" w="med" len="med"/>
              <a:tailEnd type="triangle" w="med" len="med"/>
            </a:ln>
          </p:spPr>
        </p:sp>
      </p:grpSp>
      <p:grpSp>
        <p:nvGrpSpPr>
          <p:cNvPr id="292" name="Group 101"/>
          <p:cNvGrpSpPr/>
          <p:nvPr/>
        </p:nvGrpSpPr>
        <p:grpSpPr>
          <a:xfrm>
            <a:off x="2108200" y="4095750"/>
            <a:ext cx="1606550" cy="704850"/>
            <a:chOff x="420" y="2502"/>
            <a:chExt cx="1012" cy="626"/>
          </a:xfrm>
        </p:grpSpPr>
        <p:sp>
          <p:nvSpPr>
            <p:cNvPr id="293" name="Line 102"/>
            <p:cNvSpPr/>
            <p:nvPr/>
          </p:nvSpPr>
          <p:spPr>
            <a:xfrm flipH="1">
              <a:off x="1276" y="2519"/>
              <a:ext cx="156" cy="601"/>
            </a:xfrm>
            <a:prstGeom prst="line">
              <a:avLst/>
            </a:prstGeom>
            <a:ln w="9525" cap="flat" cmpd="sng">
              <a:solidFill>
                <a:srgbClr val="FF0066"/>
              </a:solidFill>
              <a:prstDash val="solid"/>
              <a:round/>
              <a:headEnd type="none" w="med" len="med"/>
              <a:tailEnd type="triangle" w="med" len="med"/>
            </a:ln>
          </p:spPr>
        </p:sp>
        <p:sp>
          <p:nvSpPr>
            <p:cNvPr id="294" name="Line 103"/>
            <p:cNvSpPr/>
            <p:nvPr/>
          </p:nvSpPr>
          <p:spPr>
            <a:xfrm flipH="1">
              <a:off x="420" y="2502"/>
              <a:ext cx="848" cy="626"/>
            </a:xfrm>
            <a:prstGeom prst="line">
              <a:avLst/>
            </a:prstGeom>
            <a:ln w="9525" cap="flat" cmpd="sng">
              <a:solidFill>
                <a:srgbClr val="FF0066"/>
              </a:solidFill>
              <a:prstDash val="solid"/>
              <a:round/>
              <a:headEnd type="none" w="med" len="med"/>
              <a:tailEnd type="triangle" w="med" len="med"/>
            </a:ln>
          </p:spPr>
        </p:sp>
      </p:grpSp>
      <p:grpSp>
        <p:nvGrpSpPr>
          <p:cNvPr id="295" name="Group 104"/>
          <p:cNvGrpSpPr/>
          <p:nvPr/>
        </p:nvGrpSpPr>
        <p:grpSpPr>
          <a:xfrm>
            <a:off x="3779838" y="2898775"/>
            <a:ext cx="3227387" cy="627063"/>
            <a:chOff x="1473" y="1700"/>
            <a:chExt cx="2033" cy="625"/>
          </a:xfrm>
        </p:grpSpPr>
        <p:sp>
          <p:nvSpPr>
            <p:cNvPr id="296" name="Line 105"/>
            <p:cNvSpPr/>
            <p:nvPr/>
          </p:nvSpPr>
          <p:spPr>
            <a:xfrm flipH="1">
              <a:off x="1473" y="1700"/>
              <a:ext cx="593" cy="625"/>
            </a:xfrm>
            <a:prstGeom prst="line">
              <a:avLst/>
            </a:prstGeom>
            <a:ln w="9525" cap="flat" cmpd="sng">
              <a:solidFill>
                <a:srgbClr val="FF0066"/>
              </a:solidFill>
              <a:prstDash val="solid"/>
              <a:round/>
              <a:headEnd type="none" w="med" len="med"/>
              <a:tailEnd type="triangle" w="med" len="med"/>
            </a:ln>
          </p:spPr>
        </p:sp>
        <p:sp>
          <p:nvSpPr>
            <p:cNvPr id="297" name="Line 106"/>
            <p:cNvSpPr/>
            <p:nvPr/>
          </p:nvSpPr>
          <p:spPr>
            <a:xfrm>
              <a:off x="2272" y="1716"/>
              <a:ext cx="1234" cy="601"/>
            </a:xfrm>
            <a:prstGeom prst="line">
              <a:avLst/>
            </a:prstGeom>
            <a:ln w="9525" cap="flat" cmpd="sng">
              <a:solidFill>
                <a:srgbClr val="FF0066"/>
              </a:solidFill>
              <a:prstDash val="solid"/>
              <a:round/>
              <a:headEnd type="none" w="med" len="med"/>
              <a:tailEnd type="triangle" w="med" len="med"/>
            </a:ln>
          </p:spPr>
        </p:sp>
      </p:grpSp>
      <p:sp>
        <p:nvSpPr>
          <p:cNvPr id="298" name="Line 107"/>
          <p:cNvSpPr/>
          <p:nvPr/>
        </p:nvSpPr>
        <p:spPr>
          <a:xfrm>
            <a:off x="1625600" y="4329113"/>
            <a:ext cx="8699500" cy="0"/>
          </a:xfrm>
          <a:prstGeom prst="line">
            <a:avLst/>
          </a:prstGeom>
          <a:ln w="9525" cap="flat" cmpd="sng">
            <a:solidFill>
              <a:srgbClr val="FF0066"/>
            </a:solidFill>
            <a:prstDash val="dash"/>
            <a:round/>
            <a:headEnd type="none" w="med" len="med"/>
            <a:tailEnd type="none" w="med" len="med"/>
          </a:ln>
        </p:spPr>
      </p:sp>
      <p:sp>
        <p:nvSpPr>
          <p:cNvPr id="299" name="Line 108"/>
          <p:cNvSpPr/>
          <p:nvPr/>
        </p:nvSpPr>
        <p:spPr>
          <a:xfrm>
            <a:off x="1781175" y="5362575"/>
            <a:ext cx="0" cy="365125"/>
          </a:xfrm>
          <a:prstGeom prst="line">
            <a:avLst/>
          </a:prstGeom>
          <a:ln w="9525" cap="flat" cmpd="sng">
            <a:solidFill>
              <a:srgbClr val="FF0066"/>
            </a:solidFill>
            <a:prstDash val="solid"/>
            <a:round/>
            <a:headEnd type="none" w="med" len="med"/>
            <a:tailEnd type="triangle" w="med" len="med"/>
          </a:ln>
        </p:spPr>
      </p:sp>
      <p:sp>
        <p:nvSpPr>
          <p:cNvPr id="300" name="Line 109"/>
          <p:cNvSpPr/>
          <p:nvPr/>
        </p:nvSpPr>
        <p:spPr>
          <a:xfrm>
            <a:off x="2060575" y="5362575"/>
            <a:ext cx="0" cy="365125"/>
          </a:xfrm>
          <a:prstGeom prst="line">
            <a:avLst/>
          </a:prstGeom>
          <a:ln w="9525" cap="flat" cmpd="sng">
            <a:solidFill>
              <a:srgbClr val="FF0066"/>
            </a:solidFill>
            <a:prstDash val="solid"/>
            <a:round/>
            <a:headEnd type="none" w="med" len="med"/>
            <a:tailEnd type="triangle" w="med" len="med"/>
          </a:ln>
        </p:spPr>
      </p:sp>
      <p:sp>
        <p:nvSpPr>
          <p:cNvPr id="301" name="Line 110"/>
          <p:cNvSpPr/>
          <p:nvPr/>
        </p:nvSpPr>
        <p:spPr>
          <a:xfrm>
            <a:off x="2378075" y="5362575"/>
            <a:ext cx="0" cy="365125"/>
          </a:xfrm>
          <a:prstGeom prst="line">
            <a:avLst/>
          </a:prstGeom>
          <a:ln w="9525" cap="flat" cmpd="sng">
            <a:solidFill>
              <a:srgbClr val="FF0066"/>
            </a:solidFill>
            <a:prstDash val="solid"/>
            <a:round/>
            <a:headEnd type="none" w="med" len="med"/>
            <a:tailEnd type="triangle" w="med" len="med"/>
          </a:ln>
        </p:spPr>
      </p:sp>
      <p:sp>
        <p:nvSpPr>
          <p:cNvPr id="302" name="Line 111"/>
          <p:cNvSpPr/>
          <p:nvPr/>
        </p:nvSpPr>
        <p:spPr>
          <a:xfrm>
            <a:off x="2735263" y="5335588"/>
            <a:ext cx="377825" cy="0"/>
          </a:xfrm>
          <a:prstGeom prst="line">
            <a:avLst/>
          </a:prstGeom>
          <a:ln w="9525" cap="flat" cmpd="sng">
            <a:solidFill>
              <a:srgbClr val="FF0066"/>
            </a:solidFill>
            <a:prstDash val="solid"/>
            <a:round/>
            <a:headEnd type="none" w="med" len="med"/>
            <a:tailEnd type="triangle" w="med" len="med"/>
          </a:ln>
        </p:spPr>
      </p:sp>
      <p:sp>
        <p:nvSpPr>
          <p:cNvPr id="303" name="Line 112"/>
          <p:cNvSpPr/>
          <p:nvPr/>
        </p:nvSpPr>
        <p:spPr>
          <a:xfrm>
            <a:off x="3254375" y="5362575"/>
            <a:ext cx="0" cy="365125"/>
          </a:xfrm>
          <a:prstGeom prst="line">
            <a:avLst/>
          </a:prstGeom>
          <a:ln w="9525" cap="flat" cmpd="sng">
            <a:solidFill>
              <a:srgbClr val="FF0066"/>
            </a:solidFill>
            <a:prstDash val="solid"/>
            <a:round/>
            <a:headEnd type="none" w="med" len="med"/>
            <a:tailEnd type="triangle" w="med" len="med"/>
          </a:ln>
        </p:spPr>
      </p:sp>
      <p:sp>
        <p:nvSpPr>
          <p:cNvPr id="304" name="Line 113"/>
          <p:cNvSpPr/>
          <p:nvPr/>
        </p:nvSpPr>
        <p:spPr>
          <a:xfrm>
            <a:off x="3533775" y="5362575"/>
            <a:ext cx="0" cy="365125"/>
          </a:xfrm>
          <a:prstGeom prst="line">
            <a:avLst/>
          </a:prstGeom>
          <a:ln w="9525" cap="flat" cmpd="sng">
            <a:solidFill>
              <a:srgbClr val="FF0066"/>
            </a:solidFill>
            <a:prstDash val="solid"/>
            <a:round/>
            <a:headEnd type="none" w="med" len="med"/>
            <a:tailEnd type="triangle" w="med" len="med"/>
          </a:ln>
        </p:spPr>
      </p:sp>
      <p:sp>
        <p:nvSpPr>
          <p:cNvPr id="305" name="Line 114"/>
          <p:cNvSpPr/>
          <p:nvPr/>
        </p:nvSpPr>
        <p:spPr>
          <a:xfrm>
            <a:off x="4208463" y="5348288"/>
            <a:ext cx="377825" cy="0"/>
          </a:xfrm>
          <a:prstGeom prst="line">
            <a:avLst/>
          </a:prstGeom>
          <a:ln w="9525" cap="flat" cmpd="sng">
            <a:solidFill>
              <a:srgbClr val="FF0066"/>
            </a:solidFill>
            <a:prstDash val="solid"/>
            <a:round/>
            <a:headEnd type="none" w="med" len="med"/>
            <a:tailEnd type="triangle" w="med" len="med"/>
          </a:ln>
        </p:spPr>
      </p:sp>
      <p:sp>
        <p:nvSpPr>
          <p:cNvPr id="306" name="Line 115"/>
          <p:cNvSpPr/>
          <p:nvPr/>
        </p:nvSpPr>
        <p:spPr>
          <a:xfrm>
            <a:off x="4752975" y="5362575"/>
            <a:ext cx="0" cy="365125"/>
          </a:xfrm>
          <a:prstGeom prst="line">
            <a:avLst/>
          </a:prstGeom>
          <a:ln w="9525" cap="flat" cmpd="sng">
            <a:solidFill>
              <a:srgbClr val="FF0066"/>
            </a:solidFill>
            <a:prstDash val="solid"/>
            <a:round/>
            <a:headEnd type="none" w="med" len="med"/>
            <a:tailEnd type="triangle" w="med" len="med"/>
          </a:ln>
        </p:spPr>
      </p:sp>
      <p:sp>
        <p:nvSpPr>
          <p:cNvPr id="307" name="Line 116"/>
          <p:cNvSpPr/>
          <p:nvPr/>
        </p:nvSpPr>
        <p:spPr>
          <a:xfrm>
            <a:off x="5045075" y="5362575"/>
            <a:ext cx="0" cy="365125"/>
          </a:xfrm>
          <a:prstGeom prst="line">
            <a:avLst/>
          </a:prstGeom>
          <a:ln w="9525" cap="flat" cmpd="sng">
            <a:solidFill>
              <a:srgbClr val="FF0066"/>
            </a:solidFill>
            <a:prstDash val="solid"/>
            <a:round/>
            <a:headEnd type="none" w="med" len="med"/>
            <a:tailEnd type="triangle" w="med" len="med"/>
          </a:ln>
        </p:spPr>
      </p:sp>
      <p:sp>
        <p:nvSpPr>
          <p:cNvPr id="308" name="Line 117"/>
          <p:cNvSpPr/>
          <p:nvPr/>
        </p:nvSpPr>
        <p:spPr>
          <a:xfrm>
            <a:off x="5349875" y="5362575"/>
            <a:ext cx="0" cy="365125"/>
          </a:xfrm>
          <a:prstGeom prst="line">
            <a:avLst/>
          </a:prstGeom>
          <a:ln w="9525" cap="flat" cmpd="sng">
            <a:solidFill>
              <a:srgbClr val="FF0066"/>
            </a:solidFill>
            <a:prstDash val="solid"/>
            <a:round/>
            <a:headEnd type="none" w="med" len="med"/>
            <a:tailEnd type="triangle" w="med" len="med"/>
          </a:ln>
        </p:spPr>
      </p:sp>
      <p:sp>
        <p:nvSpPr>
          <p:cNvPr id="309" name="Line 118"/>
          <p:cNvSpPr/>
          <p:nvPr/>
        </p:nvSpPr>
        <p:spPr>
          <a:xfrm>
            <a:off x="5707063" y="5348288"/>
            <a:ext cx="377825" cy="0"/>
          </a:xfrm>
          <a:prstGeom prst="line">
            <a:avLst/>
          </a:prstGeom>
          <a:ln w="9525" cap="flat" cmpd="sng">
            <a:solidFill>
              <a:srgbClr val="FF0066"/>
            </a:solidFill>
            <a:prstDash val="solid"/>
            <a:round/>
            <a:headEnd type="none" w="med" len="med"/>
            <a:tailEnd type="triangle" w="med" len="med"/>
          </a:ln>
        </p:spPr>
      </p:sp>
      <p:sp>
        <p:nvSpPr>
          <p:cNvPr id="310" name="Line 119"/>
          <p:cNvSpPr/>
          <p:nvPr/>
        </p:nvSpPr>
        <p:spPr>
          <a:xfrm>
            <a:off x="6226175" y="5362575"/>
            <a:ext cx="0" cy="365125"/>
          </a:xfrm>
          <a:prstGeom prst="line">
            <a:avLst/>
          </a:prstGeom>
          <a:ln w="9525" cap="flat" cmpd="sng">
            <a:solidFill>
              <a:srgbClr val="FF0066"/>
            </a:solidFill>
            <a:prstDash val="solid"/>
            <a:round/>
            <a:headEnd type="none" w="med" len="med"/>
            <a:tailEnd type="triangle" w="med" len="med"/>
          </a:ln>
        </p:spPr>
      </p:sp>
      <p:sp>
        <p:nvSpPr>
          <p:cNvPr id="311" name="Line 120"/>
          <p:cNvSpPr/>
          <p:nvPr/>
        </p:nvSpPr>
        <p:spPr>
          <a:xfrm>
            <a:off x="6505575" y="5362575"/>
            <a:ext cx="0" cy="365125"/>
          </a:xfrm>
          <a:prstGeom prst="line">
            <a:avLst/>
          </a:prstGeom>
          <a:ln w="9525" cap="flat" cmpd="sng">
            <a:solidFill>
              <a:srgbClr val="FF0066"/>
            </a:solidFill>
            <a:prstDash val="solid"/>
            <a:round/>
            <a:headEnd type="none" w="med" len="med"/>
            <a:tailEnd type="triangle" w="med" len="med"/>
          </a:ln>
        </p:spPr>
      </p:sp>
      <p:sp>
        <p:nvSpPr>
          <p:cNvPr id="312" name="Line 121"/>
          <p:cNvSpPr/>
          <p:nvPr/>
        </p:nvSpPr>
        <p:spPr>
          <a:xfrm>
            <a:off x="7180263" y="5348288"/>
            <a:ext cx="377825" cy="0"/>
          </a:xfrm>
          <a:prstGeom prst="line">
            <a:avLst/>
          </a:prstGeom>
          <a:ln w="9525" cap="flat" cmpd="sng">
            <a:solidFill>
              <a:srgbClr val="FF0066"/>
            </a:solidFill>
            <a:prstDash val="solid"/>
            <a:round/>
            <a:headEnd type="none" w="med" len="med"/>
            <a:tailEnd type="triangle" w="med" len="med"/>
          </a:ln>
        </p:spPr>
      </p:sp>
      <p:sp>
        <p:nvSpPr>
          <p:cNvPr id="313" name="Line 122"/>
          <p:cNvSpPr/>
          <p:nvPr/>
        </p:nvSpPr>
        <p:spPr>
          <a:xfrm>
            <a:off x="7737475" y="5362575"/>
            <a:ext cx="0" cy="365125"/>
          </a:xfrm>
          <a:prstGeom prst="line">
            <a:avLst/>
          </a:prstGeom>
          <a:ln w="9525" cap="flat" cmpd="sng">
            <a:solidFill>
              <a:srgbClr val="FF0066"/>
            </a:solidFill>
            <a:prstDash val="solid"/>
            <a:round/>
            <a:headEnd type="none" w="med" len="med"/>
            <a:tailEnd type="triangle" w="med" len="med"/>
          </a:ln>
        </p:spPr>
      </p:sp>
      <p:sp>
        <p:nvSpPr>
          <p:cNvPr id="314" name="Line 123"/>
          <p:cNvSpPr/>
          <p:nvPr/>
        </p:nvSpPr>
        <p:spPr>
          <a:xfrm>
            <a:off x="8016875" y="5362575"/>
            <a:ext cx="0" cy="365125"/>
          </a:xfrm>
          <a:prstGeom prst="line">
            <a:avLst/>
          </a:prstGeom>
          <a:ln w="9525" cap="flat" cmpd="sng">
            <a:solidFill>
              <a:srgbClr val="FF0066"/>
            </a:solidFill>
            <a:prstDash val="solid"/>
            <a:round/>
            <a:headEnd type="none" w="med" len="med"/>
            <a:tailEnd type="triangle" w="med" len="med"/>
          </a:ln>
        </p:spPr>
      </p:sp>
      <p:sp>
        <p:nvSpPr>
          <p:cNvPr id="315" name="Line 124"/>
          <p:cNvSpPr/>
          <p:nvPr/>
        </p:nvSpPr>
        <p:spPr>
          <a:xfrm>
            <a:off x="8334375" y="5362575"/>
            <a:ext cx="0" cy="365125"/>
          </a:xfrm>
          <a:prstGeom prst="line">
            <a:avLst/>
          </a:prstGeom>
          <a:ln w="9525" cap="flat" cmpd="sng">
            <a:solidFill>
              <a:srgbClr val="FF0066"/>
            </a:solidFill>
            <a:prstDash val="solid"/>
            <a:round/>
            <a:headEnd type="none" w="med" len="med"/>
            <a:tailEnd type="triangle" w="med" len="med"/>
          </a:ln>
        </p:spPr>
      </p:sp>
      <p:sp>
        <p:nvSpPr>
          <p:cNvPr id="316" name="Line 125"/>
          <p:cNvSpPr/>
          <p:nvPr/>
        </p:nvSpPr>
        <p:spPr>
          <a:xfrm>
            <a:off x="8691563" y="5348288"/>
            <a:ext cx="377825" cy="0"/>
          </a:xfrm>
          <a:prstGeom prst="line">
            <a:avLst/>
          </a:prstGeom>
          <a:ln w="9525" cap="flat" cmpd="sng">
            <a:solidFill>
              <a:srgbClr val="FF0066"/>
            </a:solidFill>
            <a:prstDash val="solid"/>
            <a:round/>
            <a:headEnd type="none" w="med" len="med"/>
            <a:tailEnd type="triangle" w="med" len="med"/>
          </a:ln>
        </p:spPr>
      </p:sp>
      <p:sp>
        <p:nvSpPr>
          <p:cNvPr id="317" name="Line 126"/>
          <p:cNvSpPr/>
          <p:nvPr/>
        </p:nvSpPr>
        <p:spPr>
          <a:xfrm>
            <a:off x="9210675" y="5349875"/>
            <a:ext cx="0" cy="365125"/>
          </a:xfrm>
          <a:prstGeom prst="line">
            <a:avLst/>
          </a:prstGeom>
          <a:ln w="9525" cap="flat" cmpd="sng">
            <a:solidFill>
              <a:srgbClr val="FF0066"/>
            </a:solidFill>
            <a:prstDash val="solid"/>
            <a:round/>
            <a:headEnd type="none" w="med" len="med"/>
            <a:tailEnd type="triangle" w="med" len="med"/>
          </a:ln>
        </p:spPr>
      </p:sp>
      <p:sp>
        <p:nvSpPr>
          <p:cNvPr id="318" name="Line 127"/>
          <p:cNvSpPr/>
          <p:nvPr/>
        </p:nvSpPr>
        <p:spPr>
          <a:xfrm>
            <a:off x="9490075" y="5349875"/>
            <a:ext cx="0" cy="365125"/>
          </a:xfrm>
          <a:prstGeom prst="line">
            <a:avLst/>
          </a:prstGeom>
          <a:ln w="9525" cap="flat" cmpd="sng">
            <a:solidFill>
              <a:srgbClr val="FF0066"/>
            </a:solidFill>
            <a:prstDash val="solid"/>
            <a:round/>
            <a:headEnd type="none" w="med" len="med"/>
            <a:tailEnd type="triangle" w="med" len="med"/>
          </a:ln>
        </p:spPr>
      </p:sp>
      <p:sp>
        <p:nvSpPr>
          <p:cNvPr id="11" name="灯片编号占位符 10"/>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删除过程与合并过程示意</a:t>
            </a:r>
            <a:endParaRPr lang="en-US" altLang="zh-CN"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删除键值为</a:t>
            </a:r>
            <a:r>
              <a:rPr lang="en-US" altLang="zh-CN" sz="2000" b="0" dirty="0">
                <a:latin typeface="微软雅黑" panose="020B0503020204020204" pitchFamily="34" charset="-122"/>
                <a:ea typeface="微软雅黑" panose="020B0503020204020204" pitchFamily="34" charset="-122"/>
              </a:rPr>
              <a:t>7</a:t>
            </a:r>
            <a:r>
              <a:rPr lang="zh-CN" altLang="en-US" sz="2000" b="0" dirty="0">
                <a:latin typeface="微软雅黑" panose="020B0503020204020204" pitchFamily="34" charset="-122"/>
                <a:ea typeface="微软雅黑" panose="020B0503020204020204" pitchFamily="34" charset="-122"/>
              </a:rPr>
              <a:t>的记录</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进行中</a:t>
            </a:r>
            <a:endParaRPr lang="zh-CN" altLang="en-US" sz="2000" b="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删除与结点合并过程示意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2" name="Group 2"/>
          <p:cNvGrpSpPr/>
          <p:nvPr/>
        </p:nvGrpSpPr>
        <p:grpSpPr>
          <a:xfrm>
            <a:off x="4567238" y="1787525"/>
            <a:ext cx="1238250" cy="695325"/>
            <a:chOff x="856" y="1440"/>
            <a:chExt cx="1291" cy="667"/>
          </a:xfrm>
        </p:grpSpPr>
        <p:sp>
          <p:nvSpPr>
            <p:cNvPr id="4" name="Rectangle 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7" name="Line 4"/>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8" name="Line 5"/>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9" name="Line 6"/>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0" name="Line 7"/>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1" name="Line 8"/>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2" name="Line 9"/>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13" name="Text Box 10"/>
          <p:cNvSpPr txBox="1"/>
          <p:nvPr/>
        </p:nvSpPr>
        <p:spPr>
          <a:xfrm>
            <a:off x="4495800" y="176371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14" name="Group 11"/>
          <p:cNvGrpSpPr/>
          <p:nvPr/>
        </p:nvGrpSpPr>
        <p:grpSpPr>
          <a:xfrm>
            <a:off x="3254375" y="2949575"/>
            <a:ext cx="1238250" cy="695325"/>
            <a:chOff x="856" y="1440"/>
            <a:chExt cx="1291" cy="667"/>
          </a:xfrm>
        </p:grpSpPr>
        <p:sp>
          <p:nvSpPr>
            <p:cNvPr id="15" name="Rectangle 1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6" name="Line 1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7" name="Line 1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8" name="Line 1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9" name="Line 1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0" name="Line 1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1" name="Line 1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2" name="Group 19"/>
          <p:cNvGrpSpPr/>
          <p:nvPr/>
        </p:nvGrpSpPr>
        <p:grpSpPr>
          <a:xfrm>
            <a:off x="6802438" y="2949575"/>
            <a:ext cx="1238250" cy="695325"/>
            <a:chOff x="856" y="1440"/>
            <a:chExt cx="1291" cy="667"/>
          </a:xfrm>
        </p:grpSpPr>
        <p:sp>
          <p:nvSpPr>
            <p:cNvPr id="23" name="Rectangle 2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4" name="Line 2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5" name="Line 2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6" name="Line 2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7" name="Line 2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8" name="Line 2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9" name="Line 2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0" name="Group 27"/>
          <p:cNvGrpSpPr/>
          <p:nvPr/>
        </p:nvGrpSpPr>
        <p:grpSpPr>
          <a:xfrm>
            <a:off x="1595438" y="4240213"/>
            <a:ext cx="1238250" cy="695325"/>
            <a:chOff x="856" y="1440"/>
            <a:chExt cx="1291" cy="667"/>
          </a:xfrm>
        </p:grpSpPr>
        <p:sp>
          <p:nvSpPr>
            <p:cNvPr id="31" name="Rectangle 2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3" name="Line 2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34" name="Line 3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35" name="Line 3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36" name="Line 3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7" name="Line 3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8" name="Line 3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9" name="Group 35"/>
          <p:cNvGrpSpPr/>
          <p:nvPr/>
        </p:nvGrpSpPr>
        <p:grpSpPr>
          <a:xfrm>
            <a:off x="3081338" y="4225925"/>
            <a:ext cx="1238250" cy="695325"/>
            <a:chOff x="856" y="1440"/>
            <a:chExt cx="1291" cy="667"/>
          </a:xfrm>
        </p:grpSpPr>
        <p:sp>
          <p:nvSpPr>
            <p:cNvPr id="40" name="Rectangle 3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1" name="Line 3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2" name="Line 3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3" name="Line 3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4" name="Line 4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5" name="Line 4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6" name="Line 4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47" name="Group 43"/>
          <p:cNvGrpSpPr/>
          <p:nvPr/>
        </p:nvGrpSpPr>
        <p:grpSpPr>
          <a:xfrm>
            <a:off x="4567238" y="4225925"/>
            <a:ext cx="1238250" cy="695325"/>
            <a:chOff x="856" y="1440"/>
            <a:chExt cx="1291" cy="667"/>
          </a:xfrm>
        </p:grpSpPr>
        <p:sp>
          <p:nvSpPr>
            <p:cNvPr id="48" name="Rectangle 4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9" name="Line 4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0" name="Line 4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1" name="Line 4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2" name="Line 4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3" name="Line 4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4" name="Line 5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5" name="Group 51"/>
          <p:cNvGrpSpPr/>
          <p:nvPr/>
        </p:nvGrpSpPr>
        <p:grpSpPr>
          <a:xfrm>
            <a:off x="6053138" y="4225925"/>
            <a:ext cx="1238250" cy="695325"/>
            <a:chOff x="856" y="1440"/>
            <a:chExt cx="1291" cy="667"/>
          </a:xfrm>
        </p:grpSpPr>
        <p:sp>
          <p:nvSpPr>
            <p:cNvPr id="56" name="Rectangle 5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7" name="Line 5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8" name="Line 5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9" name="Line 5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60" name="Line 5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61" name="Line 5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62" name="Line 5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63" name="Group 59"/>
          <p:cNvGrpSpPr/>
          <p:nvPr/>
        </p:nvGrpSpPr>
        <p:grpSpPr>
          <a:xfrm>
            <a:off x="7539038" y="4225925"/>
            <a:ext cx="1238250" cy="695325"/>
            <a:chOff x="856" y="1440"/>
            <a:chExt cx="1291" cy="667"/>
          </a:xfrm>
        </p:grpSpPr>
        <p:sp>
          <p:nvSpPr>
            <p:cNvPr id="256" name="Rectangle 6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57" name="Line 6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58" name="Line 6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59" name="Line 6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60" name="Line 6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13" name="Line 6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15" name="Line 6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416" name="Group 67"/>
          <p:cNvGrpSpPr/>
          <p:nvPr/>
        </p:nvGrpSpPr>
        <p:grpSpPr>
          <a:xfrm>
            <a:off x="9026525" y="4225925"/>
            <a:ext cx="1238250" cy="695325"/>
            <a:chOff x="856" y="1440"/>
            <a:chExt cx="1291" cy="667"/>
          </a:xfrm>
        </p:grpSpPr>
        <p:sp>
          <p:nvSpPr>
            <p:cNvPr id="417" name="Rectangle 6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18" name="Line 6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19" name="Line 7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20" name="Line 7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21" name="Line 7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22" name="Line 7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23" name="Line 7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424" name="Text Box 75"/>
          <p:cNvSpPr txBox="1"/>
          <p:nvPr/>
        </p:nvSpPr>
        <p:spPr>
          <a:xfrm>
            <a:off x="3197225" y="2930525"/>
            <a:ext cx="542925" cy="457200"/>
          </a:xfrm>
          <a:prstGeom prst="rect">
            <a:avLst/>
          </a:prstGeom>
          <a:noFill/>
          <a:ln w="9525">
            <a:noFill/>
          </a:ln>
        </p:spPr>
        <p:txBody>
          <a:bodyPr anchor="t">
            <a:spAutoFit/>
          </a:bodyPr>
          <a:lstStyle/>
          <a:p>
            <a:pPr algn="ctr"/>
            <a:r>
              <a:rPr lang="en-US" altLang="zh-CN" sz="2400" dirty="0">
                <a:solidFill>
                  <a:srgbClr val="6666FF"/>
                </a:solidFill>
                <a:latin typeface="Arial" panose="020B0604020202020204" pitchFamily="34" charset="0"/>
                <a:ea typeface="楷体_GB2312" pitchFamily="49" charset="-122"/>
              </a:rPr>
              <a:t>7</a:t>
            </a:r>
            <a:endParaRPr lang="en-US" altLang="zh-CN" sz="2400" dirty="0">
              <a:solidFill>
                <a:srgbClr val="6666FF"/>
              </a:solidFill>
              <a:latin typeface="Arial" panose="020B0604020202020204" pitchFamily="34" charset="0"/>
              <a:ea typeface="楷体_GB2312" pitchFamily="49" charset="-122"/>
            </a:endParaRPr>
          </a:p>
        </p:txBody>
      </p:sp>
      <p:sp>
        <p:nvSpPr>
          <p:cNvPr id="425" name="Text Box 76"/>
          <p:cNvSpPr txBox="1"/>
          <p:nvPr/>
        </p:nvSpPr>
        <p:spPr>
          <a:xfrm>
            <a:off x="1557338" y="41973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426" name="Text Box 77"/>
          <p:cNvSpPr txBox="1"/>
          <p:nvPr/>
        </p:nvSpPr>
        <p:spPr>
          <a:xfrm>
            <a:off x="1924050" y="41973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427" name="Text Box 78"/>
          <p:cNvSpPr txBox="1"/>
          <p:nvPr/>
        </p:nvSpPr>
        <p:spPr>
          <a:xfrm>
            <a:off x="2422525" y="4181475"/>
            <a:ext cx="400050" cy="457200"/>
          </a:xfrm>
          <a:prstGeom prst="rect">
            <a:avLst/>
          </a:prstGeom>
          <a:noFill/>
          <a:ln w="9525">
            <a:noFill/>
          </a:ln>
        </p:spPr>
        <p:txBody>
          <a:bodyPr anchor="t">
            <a:spAutoFit/>
          </a:bodyPr>
          <a:lstStyle/>
          <a:p>
            <a:pPr algn="ctr"/>
            <a:r>
              <a:rPr lang="en-US" altLang="zh-CN" sz="2400" dirty="0">
                <a:solidFill>
                  <a:srgbClr val="CC0000"/>
                </a:solidFill>
                <a:latin typeface="Arial" panose="020B0604020202020204" pitchFamily="34" charset="0"/>
                <a:ea typeface="楷体_GB2312" pitchFamily="49" charset="-122"/>
              </a:rPr>
              <a:t>5</a:t>
            </a:r>
            <a:endParaRPr lang="en-US" altLang="zh-CN" sz="2400" dirty="0">
              <a:solidFill>
                <a:srgbClr val="CC0000"/>
              </a:solidFill>
              <a:latin typeface="Arial" panose="020B0604020202020204" pitchFamily="34" charset="0"/>
              <a:ea typeface="楷体_GB2312" pitchFamily="49" charset="-122"/>
            </a:endParaRPr>
          </a:p>
        </p:txBody>
      </p:sp>
      <p:sp>
        <p:nvSpPr>
          <p:cNvPr id="428" name="Text Box 79"/>
          <p:cNvSpPr txBox="1"/>
          <p:nvPr/>
        </p:nvSpPr>
        <p:spPr>
          <a:xfrm>
            <a:off x="3005138" y="4197350"/>
            <a:ext cx="542925" cy="457200"/>
          </a:xfrm>
          <a:prstGeom prst="rect">
            <a:avLst/>
          </a:prstGeom>
          <a:noFill/>
          <a:ln w="9525">
            <a:noFill/>
          </a:ln>
        </p:spPr>
        <p:txBody>
          <a:bodyPr anchor="t">
            <a:spAutoFit/>
          </a:bodyPr>
          <a:lstStyle/>
          <a:p>
            <a:pPr algn="ctr"/>
            <a:r>
              <a:rPr lang="en-US" altLang="zh-CN" sz="2400" dirty="0">
                <a:solidFill>
                  <a:srgbClr val="6666FF"/>
                </a:solidFill>
                <a:latin typeface="Arial" panose="020B0604020202020204" pitchFamily="34" charset="0"/>
                <a:ea typeface="楷体_GB2312" pitchFamily="49" charset="-122"/>
              </a:rPr>
              <a:t>7</a:t>
            </a:r>
            <a:endParaRPr lang="en-US" altLang="zh-CN" sz="2400" dirty="0">
              <a:solidFill>
                <a:srgbClr val="6666FF"/>
              </a:solidFill>
              <a:latin typeface="Arial" panose="020B0604020202020204" pitchFamily="34" charset="0"/>
              <a:ea typeface="楷体_GB2312" pitchFamily="49" charset="-122"/>
            </a:endParaRPr>
          </a:p>
        </p:txBody>
      </p:sp>
      <p:sp>
        <p:nvSpPr>
          <p:cNvPr id="429" name="Text Box 80"/>
          <p:cNvSpPr txBox="1"/>
          <p:nvPr/>
        </p:nvSpPr>
        <p:spPr>
          <a:xfrm>
            <a:off x="3386138" y="41973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11</a:t>
            </a:r>
            <a:endParaRPr lang="en-US" altLang="zh-CN" sz="1800" dirty="0">
              <a:latin typeface="Times New Roman" panose="02020603050405020304" pitchFamily="18" charset="0"/>
              <a:ea typeface="楷体_GB2312" pitchFamily="49" charset="-122"/>
            </a:endParaRPr>
          </a:p>
        </p:txBody>
      </p:sp>
      <p:sp>
        <p:nvSpPr>
          <p:cNvPr id="430" name="Text Box 81"/>
          <p:cNvSpPr txBox="1"/>
          <p:nvPr/>
        </p:nvSpPr>
        <p:spPr>
          <a:xfrm>
            <a:off x="4491038" y="42164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431" name="Text Box 82"/>
          <p:cNvSpPr txBox="1"/>
          <p:nvPr/>
        </p:nvSpPr>
        <p:spPr>
          <a:xfrm>
            <a:off x="4910138" y="42164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432" name="Text Box 83"/>
          <p:cNvSpPr txBox="1"/>
          <p:nvPr/>
        </p:nvSpPr>
        <p:spPr>
          <a:xfrm>
            <a:off x="5370513" y="4216400"/>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433" name="Text Box 84"/>
          <p:cNvSpPr txBox="1"/>
          <p:nvPr/>
        </p:nvSpPr>
        <p:spPr>
          <a:xfrm>
            <a:off x="5989638" y="42037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434" name="Text Box 85"/>
          <p:cNvSpPr txBox="1"/>
          <p:nvPr/>
        </p:nvSpPr>
        <p:spPr>
          <a:xfrm>
            <a:off x="6408738" y="42037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435" name="Text Box 86"/>
          <p:cNvSpPr txBox="1"/>
          <p:nvPr/>
        </p:nvSpPr>
        <p:spPr>
          <a:xfrm>
            <a:off x="7502525" y="42100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436" name="Text Box 87"/>
          <p:cNvSpPr txBox="1"/>
          <p:nvPr/>
        </p:nvSpPr>
        <p:spPr>
          <a:xfrm>
            <a:off x="7921625" y="42100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437" name="Text Box 88"/>
          <p:cNvSpPr txBox="1"/>
          <p:nvPr/>
        </p:nvSpPr>
        <p:spPr>
          <a:xfrm>
            <a:off x="8382000" y="4210050"/>
            <a:ext cx="439738"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438" name="Text Box 89"/>
          <p:cNvSpPr txBox="1"/>
          <p:nvPr/>
        </p:nvSpPr>
        <p:spPr>
          <a:xfrm>
            <a:off x="8966200" y="42100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439" name="Text Box 90"/>
          <p:cNvSpPr txBox="1"/>
          <p:nvPr/>
        </p:nvSpPr>
        <p:spPr>
          <a:xfrm>
            <a:off x="9385300" y="42100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440" name="Text Box 91"/>
          <p:cNvSpPr txBox="1"/>
          <p:nvPr/>
        </p:nvSpPr>
        <p:spPr>
          <a:xfrm>
            <a:off x="6734175" y="292258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441" name="Text Box 92"/>
          <p:cNvSpPr txBox="1"/>
          <p:nvPr/>
        </p:nvSpPr>
        <p:spPr>
          <a:xfrm>
            <a:off x="7153275" y="292258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442" name="Text Box 93"/>
          <p:cNvSpPr txBox="1"/>
          <p:nvPr/>
        </p:nvSpPr>
        <p:spPr>
          <a:xfrm>
            <a:off x="7613650" y="2922588"/>
            <a:ext cx="439738"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grpSp>
        <p:nvGrpSpPr>
          <p:cNvPr id="443" name="Group 94"/>
          <p:cNvGrpSpPr/>
          <p:nvPr/>
        </p:nvGrpSpPr>
        <p:grpSpPr>
          <a:xfrm>
            <a:off x="5159375" y="3505200"/>
            <a:ext cx="4154488" cy="730250"/>
            <a:chOff x="2362" y="2511"/>
            <a:chExt cx="2617" cy="625"/>
          </a:xfrm>
        </p:grpSpPr>
        <p:sp>
          <p:nvSpPr>
            <p:cNvPr id="444" name="Line 95"/>
            <p:cNvSpPr/>
            <p:nvPr/>
          </p:nvSpPr>
          <p:spPr>
            <a:xfrm>
              <a:off x="4115" y="2519"/>
              <a:ext cx="864" cy="601"/>
            </a:xfrm>
            <a:prstGeom prst="line">
              <a:avLst/>
            </a:prstGeom>
            <a:ln w="9525" cap="flat" cmpd="sng">
              <a:solidFill>
                <a:srgbClr val="FF0066"/>
              </a:solidFill>
              <a:prstDash val="solid"/>
              <a:round/>
              <a:headEnd type="none" w="med" len="med"/>
              <a:tailEnd type="triangle" w="med" len="med"/>
            </a:ln>
          </p:spPr>
        </p:sp>
        <p:sp>
          <p:nvSpPr>
            <p:cNvPr id="445" name="Line 96"/>
            <p:cNvSpPr/>
            <p:nvPr/>
          </p:nvSpPr>
          <p:spPr>
            <a:xfrm>
              <a:off x="3884" y="2511"/>
              <a:ext cx="173" cy="625"/>
            </a:xfrm>
            <a:prstGeom prst="line">
              <a:avLst/>
            </a:prstGeom>
            <a:ln w="9525" cap="flat" cmpd="sng">
              <a:solidFill>
                <a:srgbClr val="FF0066"/>
              </a:solidFill>
              <a:prstDash val="solid"/>
              <a:round/>
              <a:headEnd type="none" w="med" len="med"/>
              <a:tailEnd type="triangle" w="med" len="med"/>
            </a:ln>
          </p:spPr>
        </p:sp>
        <p:sp>
          <p:nvSpPr>
            <p:cNvPr id="446" name="Line 97"/>
            <p:cNvSpPr/>
            <p:nvPr/>
          </p:nvSpPr>
          <p:spPr>
            <a:xfrm flipH="1">
              <a:off x="3136" y="2519"/>
              <a:ext cx="559" cy="601"/>
            </a:xfrm>
            <a:prstGeom prst="line">
              <a:avLst/>
            </a:prstGeom>
            <a:ln w="9525" cap="flat" cmpd="sng">
              <a:solidFill>
                <a:srgbClr val="FF0066"/>
              </a:solidFill>
              <a:prstDash val="solid"/>
              <a:round/>
              <a:headEnd type="none" w="med" len="med"/>
              <a:tailEnd type="triangle" w="med" len="med"/>
            </a:ln>
          </p:spPr>
        </p:sp>
        <p:sp>
          <p:nvSpPr>
            <p:cNvPr id="447" name="Line 98"/>
            <p:cNvSpPr/>
            <p:nvPr/>
          </p:nvSpPr>
          <p:spPr>
            <a:xfrm flipH="1">
              <a:off x="2362" y="2527"/>
              <a:ext cx="1078" cy="593"/>
            </a:xfrm>
            <a:prstGeom prst="line">
              <a:avLst/>
            </a:prstGeom>
            <a:ln w="9525" cap="flat" cmpd="sng">
              <a:solidFill>
                <a:srgbClr val="FF0066"/>
              </a:solidFill>
              <a:prstDash val="solid"/>
              <a:round/>
              <a:headEnd type="none" w="med" len="med"/>
              <a:tailEnd type="triangle" w="med" len="med"/>
            </a:ln>
          </p:spPr>
        </p:sp>
      </p:grpSp>
      <p:grpSp>
        <p:nvGrpSpPr>
          <p:cNvPr id="448" name="Group 99"/>
          <p:cNvGrpSpPr/>
          <p:nvPr/>
        </p:nvGrpSpPr>
        <p:grpSpPr>
          <a:xfrm>
            <a:off x="2076450" y="3517900"/>
            <a:ext cx="1606550" cy="704850"/>
            <a:chOff x="420" y="2502"/>
            <a:chExt cx="1012" cy="626"/>
          </a:xfrm>
        </p:grpSpPr>
        <p:sp>
          <p:nvSpPr>
            <p:cNvPr id="449" name="Line 100"/>
            <p:cNvSpPr/>
            <p:nvPr/>
          </p:nvSpPr>
          <p:spPr>
            <a:xfrm flipH="1">
              <a:off x="1276" y="2519"/>
              <a:ext cx="156" cy="601"/>
            </a:xfrm>
            <a:prstGeom prst="line">
              <a:avLst/>
            </a:prstGeom>
            <a:ln w="9525" cap="flat" cmpd="sng">
              <a:solidFill>
                <a:srgbClr val="FF0066"/>
              </a:solidFill>
              <a:prstDash val="solid"/>
              <a:round/>
              <a:headEnd type="none" w="med" len="med"/>
              <a:tailEnd type="triangle" w="med" len="med"/>
            </a:ln>
          </p:spPr>
        </p:sp>
        <p:sp>
          <p:nvSpPr>
            <p:cNvPr id="450" name="Line 101"/>
            <p:cNvSpPr/>
            <p:nvPr/>
          </p:nvSpPr>
          <p:spPr>
            <a:xfrm flipH="1">
              <a:off x="420" y="2502"/>
              <a:ext cx="848" cy="626"/>
            </a:xfrm>
            <a:prstGeom prst="line">
              <a:avLst/>
            </a:prstGeom>
            <a:ln w="9525" cap="flat" cmpd="sng">
              <a:solidFill>
                <a:srgbClr val="FF0066"/>
              </a:solidFill>
              <a:prstDash val="solid"/>
              <a:round/>
              <a:headEnd type="none" w="med" len="med"/>
              <a:tailEnd type="triangle" w="med" len="med"/>
            </a:ln>
          </p:spPr>
        </p:sp>
      </p:grpSp>
      <p:grpSp>
        <p:nvGrpSpPr>
          <p:cNvPr id="451" name="Group 102"/>
          <p:cNvGrpSpPr/>
          <p:nvPr/>
        </p:nvGrpSpPr>
        <p:grpSpPr>
          <a:xfrm>
            <a:off x="3748088" y="2320925"/>
            <a:ext cx="3227387" cy="627063"/>
            <a:chOff x="1473" y="1700"/>
            <a:chExt cx="2033" cy="625"/>
          </a:xfrm>
        </p:grpSpPr>
        <p:sp>
          <p:nvSpPr>
            <p:cNvPr id="452" name="Line 103"/>
            <p:cNvSpPr/>
            <p:nvPr/>
          </p:nvSpPr>
          <p:spPr>
            <a:xfrm flipH="1">
              <a:off x="1473" y="1700"/>
              <a:ext cx="593" cy="625"/>
            </a:xfrm>
            <a:prstGeom prst="line">
              <a:avLst/>
            </a:prstGeom>
            <a:ln w="9525" cap="flat" cmpd="sng">
              <a:solidFill>
                <a:srgbClr val="FF0066"/>
              </a:solidFill>
              <a:prstDash val="solid"/>
              <a:round/>
              <a:headEnd type="none" w="med" len="med"/>
              <a:tailEnd type="triangle" w="med" len="med"/>
            </a:ln>
          </p:spPr>
        </p:sp>
        <p:sp>
          <p:nvSpPr>
            <p:cNvPr id="453" name="Line 104"/>
            <p:cNvSpPr/>
            <p:nvPr/>
          </p:nvSpPr>
          <p:spPr>
            <a:xfrm>
              <a:off x="2272" y="1716"/>
              <a:ext cx="1234" cy="601"/>
            </a:xfrm>
            <a:prstGeom prst="line">
              <a:avLst/>
            </a:prstGeom>
            <a:ln w="9525" cap="flat" cmpd="sng">
              <a:solidFill>
                <a:srgbClr val="FF0066"/>
              </a:solidFill>
              <a:prstDash val="solid"/>
              <a:round/>
              <a:headEnd type="none" w="med" len="med"/>
              <a:tailEnd type="triangle" w="med" len="med"/>
            </a:ln>
          </p:spPr>
        </p:sp>
      </p:grpSp>
      <p:sp>
        <p:nvSpPr>
          <p:cNvPr id="454" name="Line 105"/>
          <p:cNvSpPr/>
          <p:nvPr/>
        </p:nvSpPr>
        <p:spPr>
          <a:xfrm>
            <a:off x="1593850" y="3751263"/>
            <a:ext cx="8699500" cy="0"/>
          </a:xfrm>
          <a:prstGeom prst="line">
            <a:avLst/>
          </a:prstGeom>
          <a:ln w="9525" cap="flat" cmpd="sng">
            <a:solidFill>
              <a:srgbClr val="FF0066"/>
            </a:solidFill>
            <a:prstDash val="dash"/>
            <a:round/>
            <a:headEnd type="none" w="med" len="med"/>
            <a:tailEnd type="none" w="med" len="med"/>
          </a:ln>
        </p:spPr>
      </p:sp>
      <p:sp>
        <p:nvSpPr>
          <p:cNvPr id="455" name="Line 106"/>
          <p:cNvSpPr/>
          <p:nvPr/>
        </p:nvSpPr>
        <p:spPr>
          <a:xfrm>
            <a:off x="1749425" y="4784725"/>
            <a:ext cx="0" cy="365125"/>
          </a:xfrm>
          <a:prstGeom prst="line">
            <a:avLst/>
          </a:prstGeom>
          <a:ln w="9525" cap="flat" cmpd="sng">
            <a:solidFill>
              <a:srgbClr val="FF0066"/>
            </a:solidFill>
            <a:prstDash val="solid"/>
            <a:round/>
            <a:headEnd type="none" w="med" len="med"/>
            <a:tailEnd type="triangle" w="med" len="med"/>
          </a:ln>
        </p:spPr>
      </p:sp>
      <p:sp>
        <p:nvSpPr>
          <p:cNvPr id="456" name="Line 107"/>
          <p:cNvSpPr/>
          <p:nvPr/>
        </p:nvSpPr>
        <p:spPr>
          <a:xfrm>
            <a:off x="2028825" y="4784725"/>
            <a:ext cx="0" cy="365125"/>
          </a:xfrm>
          <a:prstGeom prst="line">
            <a:avLst/>
          </a:prstGeom>
          <a:ln w="9525" cap="flat" cmpd="sng">
            <a:solidFill>
              <a:srgbClr val="FF0066"/>
            </a:solidFill>
            <a:prstDash val="solid"/>
            <a:round/>
            <a:headEnd type="none" w="med" len="med"/>
            <a:tailEnd type="triangle" w="med" len="med"/>
          </a:ln>
        </p:spPr>
      </p:sp>
      <p:sp>
        <p:nvSpPr>
          <p:cNvPr id="457" name="Line 108"/>
          <p:cNvSpPr/>
          <p:nvPr/>
        </p:nvSpPr>
        <p:spPr>
          <a:xfrm>
            <a:off x="2346325" y="4784725"/>
            <a:ext cx="0" cy="365125"/>
          </a:xfrm>
          <a:prstGeom prst="line">
            <a:avLst/>
          </a:prstGeom>
          <a:ln w="9525" cap="flat" cmpd="sng">
            <a:solidFill>
              <a:srgbClr val="FF0066"/>
            </a:solidFill>
            <a:prstDash val="solid"/>
            <a:round/>
            <a:headEnd type="none" w="med" len="med"/>
            <a:tailEnd type="triangle" w="med" len="med"/>
          </a:ln>
        </p:spPr>
      </p:sp>
      <p:sp>
        <p:nvSpPr>
          <p:cNvPr id="458" name="Line 109"/>
          <p:cNvSpPr/>
          <p:nvPr/>
        </p:nvSpPr>
        <p:spPr>
          <a:xfrm>
            <a:off x="2703513" y="4757738"/>
            <a:ext cx="377825" cy="0"/>
          </a:xfrm>
          <a:prstGeom prst="line">
            <a:avLst/>
          </a:prstGeom>
          <a:ln w="9525" cap="flat" cmpd="sng">
            <a:solidFill>
              <a:srgbClr val="FF0066"/>
            </a:solidFill>
            <a:prstDash val="solid"/>
            <a:round/>
            <a:headEnd type="none" w="med" len="med"/>
            <a:tailEnd type="triangle" w="med" len="med"/>
          </a:ln>
        </p:spPr>
      </p:sp>
      <p:sp>
        <p:nvSpPr>
          <p:cNvPr id="459" name="Line 110"/>
          <p:cNvSpPr/>
          <p:nvPr/>
        </p:nvSpPr>
        <p:spPr>
          <a:xfrm>
            <a:off x="3222625" y="4784725"/>
            <a:ext cx="0" cy="365125"/>
          </a:xfrm>
          <a:prstGeom prst="line">
            <a:avLst/>
          </a:prstGeom>
          <a:ln w="9525" cap="flat" cmpd="sng">
            <a:solidFill>
              <a:srgbClr val="FF0066"/>
            </a:solidFill>
            <a:prstDash val="solid"/>
            <a:round/>
            <a:headEnd type="none" w="med" len="med"/>
            <a:tailEnd type="triangle" w="med" len="med"/>
          </a:ln>
        </p:spPr>
      </p:sp>
      <p:sp>
        <p:nvSpPr>
          <p:cNvPr id="460" name="Line 111"/>
          <p:cNvSpPr/>
          <p:nvPr/>
        </p:nvSpPr>
        <p:spPr>
          <a:xfrm>
            <a:off x="3502025" y="4784725"/>
            <a:ext cx="0" cy="365125"/>
          </a:xfrm>
          <a:prstGeom prst="line">
            <a:avLst/>
          </a:prstGeom>
          <a:ln w="9525" cap="flat" cmpd="sng">
            <a:solidFill>
              <a:srgbClr val="FF0066"/>
            </a:solidFill>
            <a:prstDash val="solid"/>
            <a:round/>
            <a:headEnd type="none" w="med" len="med"/>
            <a:tailEnd type="triangle" w="med" len="med"/>
          </a:ln>
        </p:spPr>
      </p:sp>
      <p:sp>
        <p:nvSpPr>
          <p:cNvPr id="461" name="Line 112"/>
          <p:cNvSpPr/>
          <p:nvPr/>
        </p:nvSpPr>
        <p:spPr>
          <a:xfrm>
            <a:off x="4176713" y="4770438"/>
            <a:ext cx="377825" cy="0"/>
          </a:xfrm>
          <a:prstGeom prst="line">
            <a:avLst/>
          </a:prstGeom>
          <a:ln w="9525" cap="flat" cmpd="sng">
            <a:solidFill>
              <a:srgbClr val="FF0066"/>
            </a:solidFill>
            <a:prstDash val="solid"/>
            <a:round/>
            <a:headEnd type="none" w="med" len="med"/>
            <a:tailEnd type="triangle" w="med" len="med"/>
          </a:ln>
        </p:spPr>
      </p:sp>
      <p:sp>
        <p:nvSpPr>
          <p:cNvPr id="462" name="Line 113"/>
          <p:cNvSpPr/>
          <p:nvPr/>
        </p:nvSpPr>
        <p:spPr>
          <a:xfrm>
            <a:off x="4721225" y="4784725"/>
            <a:ext cx="0" cy="365125"/>
          </a:xfrm>
          <a:prstGeom prst="line">
            <a:avLst/>
          </a:prstGeom>
          <a:ln w="9525" cap="flat" cmpd="sng">
            <a:solidFill>
              <a:srgbClr val="FF0066"/>
            </a:solidFill>
            <a:prstDash val="solid"/>
            <a:round/>
            <a:headEnd type="none" w="med" len="med"/>
            <a:tailEnd type="triangle" w="med" len="med"/>
          </a:ln>
        </p:spPr>
      </p:sp>
      <p:sp>
        <p:nvSpPr>
          <p:cNvPr id="463" name="Line 114"/>
          <p:cNvSpPr/>
          <p:nvPr/>
        </p:nvSpPr>
        <p:spPr>
          <a:xfrm>
            <a:off x="5013325" y="4784725"/>
            <a:ext cx="0" cy="365125"/>
          </a:xfrm>
          <a:prstGeom prst="line">
            <a:avLst/>
          </a:prstGeom>
          <a:ln w="9525" cap="flat" cmpd="sng">
            <a:solidFill>
              <a:srgbClr val="FF0066"/>
            </a:solidFill>
            <a:prstDash val="solid"/>
            <a:round/>
            <a:headEnd type="none" w="med" len="med"/>
            <a:tailEnd type="triangle" w="med" len="med"/>
          </a:ln>
        </p:spPr>
      </p:sp>
      <p:sp>
        <p:nvSpPr>
          <p:cNvPr id="464" name="Line 115"/>
          <p:cNvSpPr/>
          <p:nvPr/>
        </p:nvSpPr>
        <p:spPr>
          <a:xfrm>
            <a:off x="5318125" y="4784725"/>
            <a:ext cx="0" cy="365125"/>
          </a:xfrm>
          <a:prstGeom prst="line">
            <a:avLst/>
          </a:prstGeom>
          <a:ln w="9525" cap="flat" cmpd="sng">
            <a:solidFill>
              <a:srgbClr val="FF0066"/>
            </a:solidFill>
            <a:prstDash val="solid"/>
            <a:round/>
            <a:headEnd type="none" w="med" len="med"/>
            <a:tailEnd type="triangle" w="med" len="med"/>
          </a:ln>
        </p:spPr>
      </p:sp>
      <p:sp>
        <p:nvSpPr>
          <p:cNvPr id="465" name="Line 116"/>
          <p:cNvSpPr/>
          <p:nvPr/>
        </p:nvSpPr>
        <p:spPr>
          <a:xfrm>
            <a:off x="5675313" y="4770438"/>
            <a:ext cx="377825" cy="0"/>
          </a:xfrm>
          <a:prstGeom prst="line">
            <a:avLst/>
          </a:prstGeom>
          <a:ln w="9525" cap="flat" cmpd="sng">
            <a:solidFill>
              <a:srgbClr val="FF0066"/>
            </a:solidFill>
            <a:prstDash val="solid"/>
            <a:round/>
            <a:headEnd type="none" w="med" len="med"/>
            <a:tailEnd type="triangle" w="med" len="med"/>
          </a:ln>
        </p:spPr>
      </p:sp>
      <p:sp>
        <p:nvSpPr>
          <p:cNvPr id="466" name="Line 117"/>
          <p:cNvSpPr/>
          <p:nvPr/>
        </p:nvSpPr>
        <p:spPr>
          <a:xfrm>
            <a:off x="6194425" y="4784725"/>
            <a:ext cx="0" cy="365125"/>
          </a:xfrm>
          <a:prstGeom prst="line">
            <a:avLst/>
          </a:prstGeom>
          <a:ln w="9525" cap="flat" cmpd="sng">
            <a:solidFill>
              <a:srgbClr val="FF0066"/>
            </a:solidFill>
            <a:prstDash val="solid"/>
            <a:round/>
            <a:headEnd type="none" w="med" len="med"/>
            <a:tailEnd type="triangle" w="med" len="med"/>
          </a:ln>
        </p:spPr>
      </p:sp>
      <p:sp>
        <p:nvSpPr>
          <p:cNvPr id="467" name="Line 118"/>
          <p:cNvSpPr/>
          <p:nvPr/>
        </p:nvSpPr>
        <p:spPr>
          <a:xfrm>
            <a:off x="6473825" y="4784725"/>
            <a:ext cx="0" cy="365125"/>
          </a:xfrm>
          <a:prstGeom prst="line">
            <a:avLst/>
          </a:prstGeom>
          <a:ln w="9525" cap="flat" cmpd="sng">
            <a:solidFill>
              <a:srgbClr val="FF0066"/>
            </a:solidFill>
            <a:prstDash val="solid"/>
            <a:round/>
            <a:headEnd type="none" w="med" len="med"/>
            <a:tailEnd type="triangle" w="med" len="med"/>
          </a:ln>
        </p:spPr>
      </p:sp>
      <p:sp>
        <p:nvSpPr>
          <p:cNvPr id="468" name="Line 119"/>
          <p:cNvSpPr/>
          <p:nvPr/>
        </p:nvSpPr>
        <p:spPr>
          <a:xfrm>
            <a:off x="7148513" y="4770438"/>
            <a:ext cx="377825" cy="0"/>
          </a:xfrm>
          <a:prstGeom prst="line">
            <a:avLst/>
          </a:prstGeom>
          <a:ln w="9525" cap="flat" cmpd="sng">
            <a:solidFill>
              <a:srgbClr val="FF0066"/>
            </a:solidFill>
            <a:prstDash val="solid"/>
            <a:round/>
            <a:headEnd type="none" w="med" len="med"/>
            <a:tailEnd type="triangle" w="med" len="med"/>
          </a:ln>
        </p:spPr>
      </p:sp>
      <p:sp>
        <p:nvSpPr>
          <p:cNvPr id="469" name="Line 120"/>
          <p:cNvSpPr/>
          <p:nvPr/>
        </p:nvSpPr>
        <p:spPr>
          <a:xfrm>
            <a:off x="7705725" y="4784725"/>
            <a:ext cx="0" cy="365125"/>
          </a:xfrm>
          <a:prstGeom prst="line">
            <a:avLst/>
          </a:prstGeom>
          <a:ln w="9525" cap="flat" cmpd="sng">
            <a:solidFill>
              <a:srgbClr val="FF0066"/>
            </a:solidFill>
            <a:prstDash val="solid"/>
            <a:round/>
            <a:headEnd type="none" w="med" len="med"/>
            <a:tailEnd type="triangle" w="med" len="med"/>
          </a:ln>
        </p:spPr>
      </p:sp>
      <p:sp>
        <p:nvSpPr>
          <p:cNvPr id="470" name="Line 121"/>
          <p:cNvSpPr/>
          <p:nvPr/>
        </p:nvSpPr>
        <p:spPr>
          <a:xfrm>
            <a:off x="7985125" y="4784725"/>
            <a:ext cx="0" cy="365125"/>
          </a:xfrm>
          <a:prstGeom prst="line">
            <a:avLst/>
          </a:prstGeom>
          <a:ln w="9525" cap="flat" cmpd="sng">
            <a:solidFill>
              <a:srgbClr val="FF0066"/>
            </a:solidFill>
            <a:prstDash val="solid"/>
            <a:round/>
            <a:headEnd type="none" w="med" len="med"/>
            <a:tailEnd type="triangle" w="med" len="med"/>
          </a:ln>
        </p:spPr>
      </p:sp>
      <p:sp>
        <p:nvSpPr>
          <p:cNvPr id="471" name="Line 122"/>
          <p:cNvSpPr/>
          <p:nvPr/>
        </p:nvSpPr>
        <p:spPr>
          <a:xfrm>
            <a:off x="8302625" y="4784725"/>
            <a:ext cx="0" cy="365125"/>
          </a:xfrm>
          <a:prstGeom prst="line">
            <a:avLst/>
          </a:prstGeom>
          <a:ln w="9525" cap="flat" cmpd="sng">
            <a:solidFill>
              <a:srgbClr val="FF0066"/>
            </a:solidFill>
            <a:prstDash val="solid"/>
            <a:round/>
            <a:headEnd type="none" w="med" len="med"/>
            <a:tailEnd type="triangle" w="med" len="med"/>
          </a:ln>
        </p:spPr>
      </p:sp>
      <p:sp>
        <p:nvSpPr>
          <p:cNvPr id="472" name="Line 123"/>
          <p:cNvSpPr/>
          <p:nvPr/>
        </p:nvSpPr>
        <p:spPr>
          <a:xfrm>
            <a:off x="8659813" y="4770438"/>
            <a:ext cx="377825" cy="0"/>
          </a:xfrm>
          <a:prstGeom prst="line">
            <a:avLst/>
          </a:prstGeom>
          <a:ln w="9525" cap="flat" cmpd="sng">
            <a:solidFill>
              <a:srgbClr val="FF0066"/>
            </a:solidFill>
            <a:prstDash val="solid"/>
            <a:round/>
            <a:headEnd type="none" w="med" len="med"/>
            <a:tailEnd type="triangle" w="med" len="med"/>
          </a:ln>
        </p:spPr>
      </p:sp>
      <p:sp>
        <p:nvSpPr>
          <p:cNvPr id="473" name="Line 124"/>
          <p:cNvSpPr/>
          <p:nvPr/>
        </p:nvSpPr>
        <p:spPr>
          <a:xfrm>
            <a:off x="9178925" y="4772025"/>
            <a:ext cx="0" cy="365125"/>
          </a:xfrm>
          <a:prstGeom prst="line">
            <a:avLst/>
          </a:prstGeom>
          <a:ln w="9525" cap="flat" cmpd="sng">
            <a:solidFill>
              <a:srgbClr val="FF0066"/>
            </a:solidFill>
            <a:prstDash val="solid"/>
            <a:round/>
            <a:headEnd type="none" w="med" len="med"/>
            <a:tailEnd type="triangle" w="med" len="med"/>
          </a:ln>
        </p:spPr>
      </p:sp>
      <p:sp>
        <p:nvSpPr>
          <p:cNvPr id="474" name="Line 125"/>
          <p:cNvSpPr/>
          <p:nvPr/>
        </p:nvSpPr>
        <p:spPr>
          <a:xfrm>
            <a:off x="9458325" y="4772025"/>
            <a:ext cx="0" cy="365125"/>
          </a:xfrm>
          <a:prstGeom prst="line">
            <a:avLst/>
          </a:prstGeom>
          <a:ln w="9525" cap="flat" cmpd="sng">
            <a:solidFill>
              <a:srgbClr val="FF0066"/>
            </a:solidFill>
            <a:prstDash val="solid"/>
            <a:round/>
            <a:headEnd type="none" w="med" len="med"/>
            <a:tailEnd type="triangle" w="med" len="med"/>
          </a:ln>
        </p:spPr>
      </p:sp>
      <p:sp>
        <p:nvSpPr>
          <p:cNvPr id="475" name="Text Box 132"/>
          <p:cNvSpPr txBox="1"/>
          <p:nvPr/>
        </p:nvSpPr>
        <p:spPr>
          <a:xfrm>
            <a:off x="3013075" y="4189413"/>
            <a:ext cx="542925" cy="457200"/>
          </a:xfrm>
          <a:prstGeom prst="rect">
            <a:avLst/>
          </a:prstGeom>
          <a:noFill/>
          <a:ln w="9525">
            <a:noFill/>
          </a:ln>
        </p:spPr>
        <p:txBody>
          <a:bodyPr anchor="t">
            <a:spAutoFit/>
          </a:bodyPr>
          <a:lstStyle/>
          <a:p>
            <a:pPr algn="ctr"/>
            <a:r>
              <a:rPr lang="en-US" altLang="zh-CN" sz="2400" dirty="0">
                <a:solidFill>
                  <a:srgbClr val="CC0000"/>
                </a:solidFill>
                <a:latin typeface="Arial" panose="020B0604020202020204" pitchFamily="34" charset="0"/>
                <a:ea typeface="楷体_GB2312" pitchFamily="49" charset="-122"/>
              </a:rPr>
              <a:t>5</a:t>
            </a:r>
            <a:endParaRPr lang="en-US" altLang="zh-CN" sz="2400" dirty="0">
              <a:solidFill>
                <a:srgbClr val="CC0000"/>
              </a:solidFill>
              <a:latin typeface="Arial" panose="020B0604020202020204" pitchFamily="34" charset="0"/>
              <a:ea typeface="楷体_GB2312" pitchFamily="49" charset="-122"/>
            </a:endParaRPr>
          </a:p>
        </p:txBody>
      </p:sp>
      <p:sp>
        <p:nvSpPr>
          <p:cNvPr id="476" name="Text Box 133"/>
          <p:cNvSpPr txBox="1"/>
          <p:nvPr/>
        </p:nvSpPr>
        <p:spPr>
          <a:xfrm>
            <a:off x="3211513" y="2890838"/>
            <a:ext cx="542925" cy="457200"/>
          </a:xfrm>
          <a:prstGeom prst="rect">
            <a:avLst/>
          </a:prstGeom>
          <a:noFill/>
          <a:ln w="9525">
            <a:noFill/>
          </a:ln>
        </p:spPr>
        <p:txBody>
          <a:bodyPr anchor="t">
            <a:spAutoFit/>
          </a:bodyPr>
          <a:lstStyle/>
          <a:p>
            <a:pPr algn="ctr"/>
            <a:r>
              <a:rPr lang="en-US" altLang="zh-CN" sz="2400" dirty="0">
                <a:solidFill>
                  <a:srgbClr val="CC0000"/>
                </a:solidFill>
                <a:latin typeface="Arial" panose="020B0604020202020204" pitchFamily="34" charset="0"/>
                <a:ea typeface="楷体_GB2312" pitchFamily="49" charset="-122"/>
              </a:rPr>
              <a:t>5</a:t>
            </a:r>
            <a:endParaRPr lang="en-US" altLang="zh-CN" sz="2400" dirty="0">
              <a:solidFill>
                <a:srgbClr val="CC0000"/>
              </a:solidFill>
              <a:latin typeface="Arial" panose="020B0604020202020204" pitchFamily="34" charset="0"/>
              <a:ea typeface="楷体_GB2312" pitchFamily="49" charset="-122"/>
            </a:endParaRPr>
          </a:p>
        </p:txBody>
      </p:sp>
      <p:sp>
        <p:nvSpPr>
          <p:cNvPr id="477" name="Text Box 130"/>
          <p:cNvSpPr txBox="1"/>
          <p:nvPr/>
        </p:nvSpPr>
        <p:spPr>
          <a:xfrm>
            <a:off x="1967706" y="5249987"/>
            <a:ext cx="8453438" cy="1190625"/>
          </a:xfrm>
          <a:prstGeom prst="rect">
            <a:avLst/>
          </a:prstGeom>
          <a:noFill/>
          <a:ln w="9525">
            <a:noFill/>
          </a:ln>
        </p:spPr>
        <p:txBody>
          <a:bodyPr anchor="t">
            <a:spAutoFit/>
          </a:bodyPr>
          <a:lstStyle/>
          <a:p>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叶子结点中寻找等于键值的记录，删除相应的指针及主文件中对应的记录</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调整其左侧</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或右侧</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结点及本结点中的键值记录</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使其均衡存放于两个叶结点中</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如有调整，则进一步调整其上层非叶结点，重新确定其键值，以满足大于等于键值的记录都在其右侧</a:t>
            </a:r>
            <a:endParaRPr lang="zh-CN" altLang="en-US" dirty="0">
              <a:latin typeface="微软雅黑" panose="020B0503020204020204" pitchFamily="34" charset="-122"/>
              <a:ea typeface="微软雅黑" panose="020B0503020204020204" pitchFamily="34" charset="-122"/>
            </a:endParaRPr>
          </a:p>
        </p:txBody>
      </p:sp>
      <p:sp>
        <p:nvSpPr>
          <p:cNvPr id="64" name="灯片编号占位符 63"/>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500"/>
                                        <p:tgtEl>
                                          <p:spTgt spid="428"/>
                                        </p:tgtEl>
                                      </p:cBhvr>
                                    </p:animEffect>
                                    <p:set>
                                      <p:cBhvr>
                                        <p:cTn id="7" dur="1" fill="hold">
                                          <p:stCondLst>
                                            <p:cond delay="499"/>
                                          </p:stCondLst>
                                        </p:cTn>
                                        <p:tgtEl>
                                          <p:spTgt spid="428"/>
                                        </p:tgtEl>
                                        <p:attrNameLst>
                                          <p:attrName>style.visibility</p:attrName>
                                        </p:attrNameLst>
                                      </p:cBhvr>
                                      <p:to>
                                        <p:strVal val="hidden"/>
                                      </p:to>
                                    </p:set>
                                  </p:childTnLst>
                                </p:cTn>
                              </p:par>
                              <p:par>
                                <p:cTn id="8" presetID="4" presetClass="exit" presetSubtype="16" fill="hold" nodeType="withEffect">
                                  <p:stCondLst>
                                    <p:cond delay="0"/>
                                  </p:stCondLst>
                                  <p:childTnLst>
                                    <p:animEffect transition="out" filter="box(in)">
                                      <p:cBhvr>
                                        <p:cTn id="9" dur="500"/>
                                        <p:tgtEl>
                                          <p:spTgt spid="459"/>
                                        </p:tgtEl>
                                      </p:cBhvr>
                                    </p:animEffect>
                                    <p:set>
                                      <p:cBhvr>
                                        <p:cTn id="10" dur="1" fill="hold">
                                          <p:stCondLst>
                                            <p:cond delay="499"/>
                                          </p:stCondLst>
                                        </p:cTn>
                                        <p:tgtEl>
                                          <p:spTgt spid="45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4" presetClass="exit" presetSubtype="16" fill="hold" grpId="0" nodeType="clickEffect">
                                  <p:stCondLst>
                                    <p:cond delay="0"/>
                                  </p:stCondLst>
                                  <p:childTnLst>
                                    <p:animEffect transition="out" filter="box(in)">
                                      <p:cBhvr>
                                        <p:cTn id="14" dur="500"/>
                                        <p:tgtEl>
                                          <p:spTgt spid="427"/>
                                        </p:tgtEl>
                                      </p:cBhvr>
                                    </p:animEffect>
                                    <p:set>
                                      <p:cBhvr>
                                        <p:cTn id="15" dur="1" fill="hold">
                                          <p:stCondLst>
                                            <p:cond delay="499"/>
                                          </p:stCondLst>
                                        </p:cTn>
                                        <p:tgtEl>
                                          <p:spTgt spid="427"/>
                                        </p:tgtEl>
                                        <p:attrNameLst>
                                          <p:attrName>style.visibility</p:attrName>
                                        </p:attrNameLst>
                                      </p:cBhvr>
                                      <p:to>
                                        <p:strVal val="hidden"/>
                                      </p:to>
                                    </p:set>
                                  </p:childTnLst>
                                </p:cTn>
                              </p:par>
                              <p:par>
                                <p:cTn id="16" presetID="4" presetClass="exit" presetSubtype="16" fill="hold" nodeType="withEffect">
                                  <p:stCondLst>
                                    <p:cond delay="0"/>
                                  </p:stCondLst>
                                  <p:childTnLst>
                                    <p:animEffect transition="out" filter="box(in)">
                                      <p:cBhvr>
                                        <p:cTn id="17" dur="500"/>
                                        <p:tgtEl>
                                          <p:spTgt spid="457"/>
                                        </p:tgtEl>
                                      </p:cBhvr>
                                    </p:animEffect>
                                    <p:set>
                                      <p:cBhvr>
                                        <p:cTn id="18" dur="1" fill="hold">
                                          <p:stCondLst>
                                            <p:cond delay="499"/>
                                          </p:stCondLst>
                                        </p:cTn>
                                        <p:tgtEl>
                                          <p:spTgt spid="457"/>
                                        </p:tgtEl>
                                        <p:attrNameLst>
                                          <p:attrName>style.visibility</p:attrName>
                                        </p:attrNameLst>
                                      </p:cBhvr>
                                      <p:to>
                                        <p:strVal val="hidden"/>
                                      </p:to>
                                    </p:set>
                                  </p:childTnLst>
                                </p:cTn>
                              </p:par>
                              <p:par>
                                <p:cTn id="19" presetID="4" presetClass="entr" presetSubtype="16" fill="hold" grpId="0" nodeType="withEffect">
                                  <p:stCondLst>
                                    <p:cond delay="0"/>
                                  </p:stCondLst>
                                  <p:childTnLst>
                                    <p:set>
                                      <p:cBhvr>
                                        <p:cTn id="20" dur="1" fill="hold">
                                          <p:stCondLst>
                                            <p:cond delay="0"/>
                                          </p:stCondLst>
                                        </p:cTn>
                                        <p:tgtEl>
                                          <p:spTgt spid="475"/>
                                        </p:tgtEl>
                                        <p:attrNameLst>
                                          <p:attrName>style.visibility</p:attrName>
                                        </p:attrNameLst>
                                      </p:cBhvr>
                                      <p:to>
                                        <p:strVal val="visible"/>
                                      </p:to>
                                    </p:set>
                                    <p:animEffect transition="in" filter="box(in)">
                                      <p:cBhvr>
                                        <p:cTn id="21" dur="500"/>
                                        <p:tgtEl>
                                          <p:spTgt spid="475"/>
                                        </p:tgtEl>
                                      </p:cBhvr>
                                    </p:animEffect>
                                  </p:childTnLst>
                                </p:cTn>
                              </p:par>
                              <p:par>
                                <p:cTn id="22" presetID="4" presetClass="entr" presetSubtype="16" fill="hold" nodeType="withEffect">
                                  <p:stCondLst>
                                    <p:cond delay="0"/>
                                  </p:stCondLst>
                                  <p:childTnLst>
                                    <p:set>
                                      <p:cBhvr>
                                        <p:cTn id="23" dur="1" fill="hold">
                                          <p:stCondLst>
                                            <p:cond delay="0"/>
                                          </p:stCondLst>
                                        </p:cTn>
                                        <p:tgtEl>
                                          <p:spTgt spid="459"/>
                                        </p:tgtEl>
                                        <p:attrNameLst>
                                          <p:attrName>style.visibility</p:attrName>
                                        </p:attrNameLst>
                                      </p:cBhvr>
                                      <p:to>
                                        <p:strVal val="visible"/>
                                      </p:to>
                                    </p:set>
                                    <p:animEffect transition="in" filter="box(in)">
                                      <p:cBhvr>
                                        <p:cTn id="24" dur="500"/>
                                        <p:tgtEl>
                                          <p:spTgt spid="459"/>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xit" presetSubtype="16" fill="hold" grpId="0" nodeType="clickEffect">
                                  <p:stCondLst>
                                    <p:cond delay="0"/>
                                  </p:stCondLst>
                                  <p:childTnLst>
                                    <p:animEffect transition="out" filter="box(in)">
                                      <p:cBhvr>
                                        <p:cTn id="28" dur="500"/>
                                        <p:tgtEl>
                                          <p:spTgt spid="424"/>
                                        </p:tgtEl>
                                      </p:cBhvr>
                                    </p:animEffect>
                                    <p:set>
                                      <p:cBhvr>
                                        <p:cTn id="29" dur="1" fill="hold">
                                          <p:stCondLst>
                                            <p:cond delay="499"/>
                                          </p:stCondLst>
                                        </p:cTn>
                                        <p:tgtEl>
                                          <p:spTgt spid="424"/>
                                        </p:tgtEl>
                                        <p:attrNameLst>
                                          <p:attrName>style.visibility</p:attrName>
                                        </p:attrNameLst>
                                      </p:cBhvr>
                                      <p:to>
                                        <p:strVal val="hidden"/>
                                      </p:to>
                                    </p:set>
                                  </p:childTnLst>
                                </p:cTn>
                              </p:par>
                              <p:par>
                                <p:cTn id="30" presetID="4" presetClass="entr" presetSubtype="16" fill="hold" grpId="0" nodeType="withEffect">
                                  <p:stCondLst>
                                    <p:cond delay="0"/>
                                  </p:stCondLst>
                                  <p:childTnLst>
                                    <p:set>
                                      <p:cBhvr>
                                        <p:cTn id="31" dur="1" fill="hold">
                                          <p:stCondLst>
                                            <p:cond delay="0"/>
                                          </p:stCondLst>
                                        </p:cTn>
                                        <p:tgtEl>
                                          <p:spTgt spid="476"/>
                                        </p:tgtEl>
                                        <p:attrNameLst>
                                          <p:attrName>style.visibility</p:attrName>
                                        </p:attrNameLst>
                                      </p:cBhvr>
                                      <p:to>
                                        <p:strVal val="visible"/>
                                      </p:to>
                                    </p:set>
                                    <p:animEffect transition="in" filter="box(in)">
                                      <p:cBhvr>
                                        <p:cTn id="32" dur="500"/>
                                        <p:tgtEl>
                                          <p:spTgt spid="476"/>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77">
                                            <p:txEl>
                                              <p:pRg st="0" end="0"/>
                                            </p:txEl>
                                          </p:spTgt>
                                        </p:tgtEl>
                                        <p:attrNameLst>
                                          <p:attrName>style.visibility</p:attrName>
                                        </p:attrNameLst>
                                      </p:cBhvr>
                                      <p:to>
                                        <p:strVal val="visible"/>
                                      </p:to>
                                    </p:set>
                                    <p:anim calcmode="lin" valueType="num">
                                      <p:cBhvr additive="base">
                                        <p:cTn id="37" dur="500" fill="hold"/>
                                        <p:tgtEl>
                                          <p:spTgt spid="477">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77">
                                            <p:txEl>
                                              <p:pRg st="1" end="1"/>
                                            </p:txEl>
                                          </p:spTgt>
                                        </p:tgtEl>
                                        <p:attrNameLst>
                                          <p:attrName>style.visibility</p:attrName>
                                        </p:attrNameLst>
                                      </p:cBhvr>
                                      <p:to>
                                        <p:strVal val="visible"/>
                                      </p:to>
                                    </p:set>
                                    <p:anim calcmode="lin" valueType="num">
                                      <p:cBhvr additive="base">
                                        <p:cTn id="43" dur="500" fill="hold"/>
                                        <p:tgtEl>
                                          <p:spTgt spid="477">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77">
                                            <p:txEl>
                                              <p:pRg st="2" end="2"/>
                                            </p:txEl>
                                          </p:spTgt>
                                        </p:tgtEl>
                                        <p:attrNameLst>
                                          <p:attrName>style.visibility</p:attrName>
                                        </p:attrNameLst>
                                      </p:cBhvr>
                                      <p:to>
                                        <p:strVal val="visible"/>
                                      </p:to>
                                    </p:set>
                                    <p:anim calcmode="lin" valueType="num">
                                      <p:cBhvr additive="base">
                                        <p:cTn id="49" dur="500" fill="hold"/>
                                        <p:tgtEl>
                                          <p:spTgt spid="477">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 grpId="0"/>
      <p:bldP spid="427" grpId="0"/>
      <p:bldP spid="428" grpId="0"/>
      <p:bldP spid="475" grpId="0"/>
      <p:bldP spid="47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删除过程与合并过程示意</a:t>
            </a:r>
            <a:endParaRPr lang="en-US" altLang="zh-CN"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删除键值为</a:t>
            </a:r>
            <a:r>
              <a:rPr lang="en-US" altLang="zh-CN" sz="2000" b="0" dirty="0">
                <a:latin typeface="微软雅黑" panose="020B0503020204020204" pitchFamily="34" charset="-122"/>
                <a:ea typeface="微软雅黑" panose="020B0503020204020204" pitchFamily="34" charset="-122"/>
              </a:rPr>
              <a:t>7</a:t>
            </a:r>
            <a:r>
              <a:rPr lang="zh-CN" altLang="en-US" sz="2000" b="0" dirty="0">
                <a:latin typeface="微软雅黑" panose="020B0503020204020204" pitchFamily="34" charset="-122"/>
                <a:ea typeface="微软雅黑" panose="020B0503020204020204" pitchFamily="34" charset="-122"/>
              </a:rPr>
              <a:t>的记录</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最终状态</a:t>
            </a:r>
            <a:endParaRPr lang="en-US" altLang="zh-CN" sz="2000" b="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删除与结点合并过程示意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2" name="Group 4"/>
          <p:cNvGrpSpPr/>
          <p:nvPr/>
        </p:nvGrpSpPr>
        <p:grpSpPr>
          <a:xfrm>
            <a:off x="4687888" y="1857375"/>
            <a:ext cx="1238250" cy="695325"/>
            <a:chOff x="856" y="1440"/>
            <a:chExt cx="1291" cy="667"/>
          </a:xfrm>
        </p:grpSpPr>
        <p:sp>
          <p:nvSpPr>
            <p:cNvPr id="4" name="Rectangle 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7" name="Line 6"/>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8" name="Line 7"/>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9" name="Line 8"/>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0" name="Line 9"/>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1" name="Line 10"/>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2" name="Line 11"/>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13" name="Text Box 12"/>
          <p:cNvSpPr txBox="1"/>
          <p:nvPr/>
        </p:nvSpPr>
        <p:spPr>
          <a:xfrm>
            <a:off x="4616450" y="183356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14" name="Group 13"/>
          <p:cNvGrpSpPr/>
          <p:nvPr/>
        </p:nvGrpSpPr>
        <p:grpSpPr>
          <a:xfrm>
            <a:off x="3375025" y="3019425"/>
            <a:ext cx="1238250" cy="695325"/>
            <a:chOff x="856" y="1440"/>
            <a:chExt cx="1291" cy="667"/>
          </a:xfrm>
        </p:grpSpPr>
        <p:sp>
          <p:nvSpPr>
            <p:cNvPr id="15" name="Rectangle 1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6" name="Line 1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7" name="Line 1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8" name="Line 1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9" name="Line 1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0" name="Line 1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1" name="Line 2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2" name="Group 21"/>
          <p:cNvGrpSpPr/>
          <p:nvPr/>
        </p:nvGrpSpPr>
        <p:grpSpPr>
          <a:xfrm>
            <a:off x="6923088" y="3019425"/>
            <a:ext cx="1238250" cy="695325"/>
            <a:chOff x="856" y="1440"/>
            <a:chExt cx="1291" cy="667"/>
          </a:xfrm>
        </p:grpSpPr>
        <p:sp>
          <p:nvSpPr>
            <p:cNvPr id="23" name="Rectangle 2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4" name="Line 2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5" name="Line 2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6" name="Line 2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7" name="Line 2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8" name="Line 2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9" name="Line 2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0" name="Group 29"/>
          <p:cNvGrpSpPr/>
          <p:nvPr/>
        </p:nvGrpSpPr>
        <p:grpSpPr>
          <a:xfrm>
            <a:off x="1716088" y="4295775"/>
            <a:ext cx="1238250" cy="695325"/>
            <a:chOff x="856" y="1440"/>
            <a:chExt cx="1291" cy="667"/>
          </a:xfrm>
        </p:grpSpPr>
        <p:sp>
          <p:nvSpPr>
            <p:cNvPr id="31"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3" name="Line 3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34" name="Line 3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35" name="Line 3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36" name="Line 3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7" name="Line 3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8" name="Line 3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9" name="Group 37"/>
          <p:cNvGrpSpPr/>
          <p:nvPr/>
        </p:nvGrpSpPr>
        <p:grpSpPr>
          <a:xfrm>
            <a:off x="3201988" y="4295775"/>
            <a:ext cx="1238250" cy="695325"/>
            <a:chOff x="856" y="1440"/>
            <a:chExt cx="1291" cy="667"/>
          </a:xfrm>
        </p:grpSpPr>
        <p:sp>
          <p:nvSpPr>
            <p:cNvPr id="40" name="Rectangle 3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1" name="Line 3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2" name="Line 4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3" name="Line 4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4" name="Line 4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5" name="Line 4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6" name="Line 4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47" name="Group 45"/>
          <p:cNvGrpSpPr/>
          <p:nvPr/>
        </p:nvGrpSpPr>
        <p:grpSpPr>
          <a:xfrm>
            <a:off x="4687888" y="4295775"/>
            <a:ext cx="1238250" cy="695325"/>
            <a:chOff x="856" y="1440"/>
            <a:chExt cx="1291" cy="667"/>
          </a:xfrm>
        </p:grpSpPr>
        <p:sp>
          <p:nvSpPr>
            <p:cNvPr id="48" name="Rectangle 4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9" name="Line 4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0" name="Line 4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1" name="Line 4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2" name="Line 5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3" name="Line 5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4" name="Line 5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5" name="Group 53"/>
          <p:cNvGrpSpPr/>
          <p:nvPr/>
        </p:nvGrpSpPr>
        <p:grpSpPr>
          <a:xfrm>
            <a:off x="6173788" y="4295775"/>
            <a:ext cx="1238250" cy="695325"/>
            <a:chOff x="856" y="1440"/>
            <a:chExt cx="1291" cy="667"/>
          </a:xfrm>
        </p:grpSpPr>
        <p:sp>
          <p:nvSpPr>
            <p:cNvPr id="56" name="Rectangle 5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7" name="Line 5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8" name="Line 5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9" name="Line 5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60" name="Line 5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61" name="Line 5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62" name="Line 6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63" name="Group 61"/>
          <p:cNvGrpSpPr/>
          <p:nvPr/>
        </p:nvGrpSpPr>
        <p:grpSpPr>
          <a:xfrm>
            <a:off x="7659688" y="4295775"/>
            <a:ext cx="1238250" cy="695325"/>
            <a:chOff x="856" y="1440"/>
            <a:chExt cx="1291" cy="667"/>
          </a:xfrm>
        </p:grpSpPr>
        <p:sp>
          <p:nvSpPr>
            <p:cNvPr id="448" name="Rectangle 6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49" name="Line 6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50" name="Line 6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51" name="Line 6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52" name="Line 6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53" name="Line 6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54" name="Line 6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455" name="Group 69"/>
          <p:cNvGrpSpPr/>
          <p:nvPr/>
        </p:nvGrpSpPr>
        <p:grpSpPr>
          <a:xfrm>
            <a:off x="9147175" y="4295775"/>
            <a:ext cx="1238250" cy="695325"/>
            <a:chOff x="856" y="1440"/>
            <a:chExt cx="1291" cy="667"/>
          </a:xfrm>
        </p:grpSpPr>
        <p:sp>
          <p:nvSpPr>
            <p:cNvPr id="456" name="Rectangle 7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57" name="Line 7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58" name="Line 7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59" name="Line 7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60" name="Line 7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61" name="Line 7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62" name="Line 7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463" name="Text Box 77"/>
          <p:cNvSpPr txBox="1"/>
          <p:nvPr/>
        </p:nvSpPr>
        <p:spPr>
          <a:xfrm>
            <a:off x="3317875" y="30003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464" name="Text Box 78"/>
          <p:cNvSpPr txBox="1"/>
          <p:nvPr/>
        </p:nvSpPr>
        <p:spPr>
          <a:xfrm>
            <a:off x="1677988" y="42672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465" name="Text Box 79"/>
          <p:cNvSpPr txBox="1"/>
          <p:nvPr/>
        </p:nvSpPr>
        <p:spPr>
          <a:xfrm>
            <a:off x="2058988" y="42672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466" name="Text Box 81"/>
          <p:cNvSpPr txBox="1"/>
          <p:nvPr/>
        </p:nvSpPr>
        <p:spPr>
          <a:xfrm>
            <a:off x="3125788" y="42672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467" name="Text Box 82"/>
          <p:cNvSpPr txBox="1"/>
          <p:nvPr/>
        </p:nvSpPr>
        <p:spPr>
          <a:xfrm>
            <a:off x="3506788" y="42672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11</a:t>
            </a:r>
            <a:endParaRPr lang="en-US" altLang="zh-CN" sz="1800" dirty="0">
              <a:latin typeface="Times New Roman" panose="02020603050405020304" pitchFamily="18" charset="0"/>
              <a:ea typeface="楷体_GB2312" pitchFamily="49" charset="-122"/>
            </a:endParaRPr>
          </a:p>
        </p:txBody>
      </p:sp>
      <p:sp>
        <p:nvSpPr>
          <p:cNvPr id="468" name="Text Box 83"/>
          <p:cNvSpPr txBox="1"/>
          <p:nvPr/>
        </p:nvSpPr>
        <p:spPr>
          <a:xfrm>
            <a:off x="4611688" y="42862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469" name="Text Box 84"/>
          <p:cNvSpPr txBox="1"/>
          <p:nvPr/>
        </p:nvSpPr>
        <p:spPr>
          <a:xfrm>
            <a:off x="5030788" y="42862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470" name="Text Box 85"/>
          <p:cNvSpPr txBox="1"/>
          <p:nvPr/>
        </p:nvSpPr>
        <p:spPr>
          <a:xfrm>
            <a:off x="5491163" y="4286250"/>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471" name="Text Box 86"/>
          <p:cNvSpPr txBox="1"/>
          <p:nvPr/>
        </p:nvSpPr>
        <p:spPr>
          <a:xfrm>
            <a:off x="6110288" y="42735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472" name="Text Box 87"/>
          <p:cNvSpPr txBox="1"/>
          <p:nvPr/>
        </p:nvSpPr>
        <p:spPr>
          <a:xfrm>
            <a:off x="6529388" y="42735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473" name="Text Box 88"/>
          <p:cNvSpPr txBox="1"/>
          <p:nvPr/>
        </p:nvSpPr>
        <p:spPr>
          <a:xfrm>
            <a:off x="7623175" y="42799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474" name="Text Box 89"/>
          <p:cNvSpPr txBox="1"/>
          <p:nvPr/>
        </p:nvSpPr>
        <p:spPr>
          <a:xfrm>
            <a:off x="8042275" y="42799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475" name="Text Box 90"/>
          <p:cNvSpPr txBox="1"/>
          <p:nvPr/>
        </p:nvSpPr>
        <p:spPr>
          <a:xfrm>
            <a:off x="8502650" y="4279900"/>
            <a:ext cx="439738"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476" name="Text Box 91"/>
          <p:cNvSpPr txBox="1"/>
          <p:nvPr/>
        </p:nvSpPr>
        <p:spPr>
          <a:xfrm>
            <a:off x="9086850" y="42799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477" name="Text Box 92"/>
          <p:cNvSpPr txBox="1"/>
          <p:nvPr/>
        </p:nvSpPr>
        <p:spPr>
          <a:xfrm>
            <a:off x="9505950" y="42799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478" name="Text Box 93"/>
          <p:cNvSpPr txBox="1"/>
          <p:nvPr/>
        </p:nvSpPr>
        <p:spPr>
          <a:xfrm>
            <a:off x="6854825" y="299243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479" name="Text Box 94"/>
          <p:cNvSpPr txBox="1"/>
          <p:nvPr/>
        </p:nvSpPr>
        <p:spPr>
          <a:xfrm>
            <a:off x="7273925" y="299243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480" name="Text Box 95"/>
          <p:cNvSpPr txBox="1"/>
          <p:nvPr/>
        </p:nvSpPr>
        <p:spPr>
          <a:xfrm>
            <a:off x="7734300" y="2992438"/>
            <a:ext cx="439738"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grpSp>
        <p:nvGrpSpPr>
          <p:cNvPr id="481" name="Group 96"/>
          <p:cNvGrpSpPr/>
          <p:nvPr/>
        </p:nvGrpSpPr>
        <p:grpSpPr>
          <a:xfrm>
            <a:off x="5280025" y="3575050"/>
            <a:ext cx="4154488" cy="730250"/>
            <a:chOff x="2362" y="2511"/>
            <a:chExt cx="2617" cy="625"/>
          </a:xfrm>
        </p:grpSpPr>
        <p:sp>
          <p:nvSpPr>
            <p:cNvPr id="482" name="Line 97"/>
            <p:cNvSpPr/>
            <p:nvPr/>
          </p:nvSpPr>
          <p:spPr>
            <a:xfrm>
              <a:off x="4115" y="2519"/>
              <a:ext cx="864" cy="601"/>
            </a:xfrm>
            <a:prstGeom prst="line">
              <a:avLst/>
            </a:prstGeom>
            <a:ln w="9525" cap="flat" cmpd="sng">
              <a:solidFill>
                <a:srgbClr val="FF0066"/>
              </a:solidFill>
              <a:prstDash val="solid"/>
              <a:round/>
              <a:headEnd type="none" w="med" len="med"/>
              <a:tailEnd type="triangle" w="med" len="med"/>
            </a:ln>
          </p:spPr>
        </p:sp>
        <p:sp>
          <p:nvSpPr>
            <p:cNvPr id="483" name="Line 98"/>
            <p:cNvSpPr/>
            <p:nvPr/>
          </p:nvSpPr>
          <p:spPr>
            <a:xfrm>
              <a:off x="3884" y="2511"/>
              <a:ext cx="173" cy="625"/>
            </a:xfrm>
            <a:prstGeom prst="line">
              <a:avLst/>
            </a:prstGeom>
            <a:ln w="9525" cap="flat" cmpd="sng">
              <a:solidFill>
                <a:srgbClr val="FF0066"/>
              </a:solidFill>
              <a:prstDash val="solid"/>
              <a:round/>
              <a:headEnd type="none" w="med" len="med"/>
              <a:tailEnd type="triangle" w="med" len="med"/>
            </a:ln>
          </p:spPr>
        </p:sp>
        <p:sp>
          <p:nvSpPr>
            <p:cNvPr id="484" name="Line 99"/>
            <p:cNvSpPr/>
            <p:nvPr/>
          </p:nvSpPr>
          <p:spPr>
            <a:xfrm flipH="1">
              <a:off x="3136" y="2519"/>
              <a:ext cx="559" cy="601"/>
            </a:xfrm>
            <a:prstGeom prst="line">
              <a:avLst/>
            </a:prstGeom>
            <a:ln w="9525" cap="flat" cmpd="sng">
              <a:solidFill>
                <a:srgbClr val="FF0066"/>
              </a:solidFill>
              <a:prstDash val="solid"/>
              <a:round/>
              <a:headEnd type="none" w="med" len="med"/>
              <a:tailEnd type="triangle" w="med" len="med"/>
            </a:ln>
          </p:spPr>
        </p:sp>
        <p:sp>
          <p:nvSpPr>
            <p:cNvPr id="485" name="Line 100"/>
            <p:cNvSpPr/>
            <p:nvPr/>
          </p:nvSpPr>
          <p:spPr>
            <a:xfrm flipH="1">
              <a:off x="2362" y="2527"/>
              <a:ext cx="1078" cy="593"/>
            </a:xfrm>
            <a:prstGeom prst="line">
              <a:avLst/>
            </a:prstGeom>
            <a:ln w="9525" cap="flat" cmpd="sng">
              <a:solidFill>
                <a:srgbClr val="FF0066"/>
              </a:solidFill>
              <a:prstDash val="solid"/>
              <a:round/>
              <a:headEnd type="none" w="med" len="med"/>
              <a:tailEnd type="triangle" w="med" len="med"/>
            </a:ln>
          </p:spPr>
        </p:sp>
      </p:grpSp>
      <p:grpSp>
        <p:nvGrpSpPr>
          <p:cNvPr id="486" name="Group 101"/>
          <p:cNvGrpSpPr/>
          <p:nvPr/>
        </p:nvGrpSpPr>
        <p:grpSpPr>
          <a:xfrm>
            <a:off x="2197100" y="3587750"/>
            <a:ext cx="1606550" cy="704850"/>
            <a:chOff x="420" y="2502"/>
            <a:chExt cx="1012" cy="626"/>
          </a:xfrm>
        </p:grpSpPr>
        <p:sp>
          <p:nvSpPr>
            <p:cNvPr id="487" name="Line 102"/>
            <p:cNvSpPr/>
            <p:nvPr/>
          </p:nvSpPr>
          <p:spPr>
            <a:xfrm flipH="1">
              <a:off x="1276" y="2519"/>
              <a:ext cx="156" cy="601"/>
            </a:xfrm>
            <a:prstGeom prst="line">
              <a:avLst/>
            </a:prstGeom>
            <a:ln w="9525" cap="flat" cmpd="sng">
              <a:solidFill>
                <a:srgbClr val="FF0066"/>
              </a:solidFill>
              <a:prstDash val="solid"/>
              <a:round/>
              <a:headEnd type="none" w="med" len="med"/>
              <a:tailEnd type="triangle" w="med" len="med"/>
            </a:ln>
          </p:spPr>
        </p:sp>
        <p:sp>
          <p:nvSpPr>
            <p:cNvPr id="488" name="Line 103"/>
            <p:cNvSpPr/>
            <p:nvPr/>
          </p:nvSpPr>
          <p:spPr>
            <a:xfrm flipH="1">
              <a:off x="420" y="2502"/>
              <a:ext cx="848" cy="626"/>
            </a:xfrm>
            <a:prstGeom prst="line">
              <a:avLst/>
            </a:prstGeom>
            <a:ln w="9525" cap="flat" cmpd="sng">
              <a:solidFill>
                <a:srgbClr val="FF0066"/>
              </a:solidFill>
              <a:prstDash val="solid"/>
              <a:round/>
              <a:headEnd type="none" w="med" len="med"/>
              <a:tailEnd type="triangle" w="med" len="med"/>
            </a:ln>
          </p:spPr>
        </p:sp>
      </p:grpSp>
      <p:grpSp>
        <p:nvGrpSpPr>
          <p:cNvPr id="489" name="Group 104"/>
          <p:cNvGrpSpPr/>
          <p:nvPr/>
        </p:nvGrpSpPr>
        <p:grpSpPr>
          <a:xfrm>
            <a:off x="3868738" y="2390775"/>
            <a:ext cx="3227387" cy="627063"/>
            <a:chOff x="1473" y="1700"/>
            <a:chExt cx="2033" cy="625"/>
          </a:xfrm>
        </p:grpSpPr>
        <p:sp>
          <p:nvSpPr>
            <p:cNvPr id="490" name="Line 105"/>
            <p:cNvSpPr/>
            <p:nvPr/>
          </p:nvSpPr>
          <p:spPr>
            <a:xfrm flipH="1">
              <a:off x="1473" y="1700"/>
              <a:ext cx="593" cy="625"/>
            </a:xfrm>
            <a:prstGeom prst="line">
              <a:avLst/>
            </a:prstGeom>
            <a:ln w="9525" cap="flat" cmpd="sng">
              <a:solidFill>
                <a:srgbClr val="FF0066"/>
              </a:solidFill>
              <a:prstDash val="solid"/>
              <a:round/>
              <a:headEnd type="none" w="med" len="med"/>
              <a:tailEnd type="triangle" w="med" len="med"/>
            </a:ln>
          </p:spPr>
        </p:sp>
        <p:sp>
          <p:nvSpPr>
            <p:cNvPr id="491" name="Line 106"/>
            <p:cNvSpPr/>
            <p:nvPr/>
          </p:nvSpPr>
          <p:spPr>
            <a:xfrm>
              <a:off x="2272" y="1716"/>
              <a:ext cx="1234" cy="601"/>
            </a:xfrm>
            <a:prstGeom prst="line">
              <a:avLst/>
            </a:prstGeom>
            <a:ln w="9525" cap="flat" cmpd="sng">
              <a:solidFill>
                <a:srgbClr val="FF0066"/>
              </a:solidFill>
              <a:prstDash val="solid"/>
              <a:round/>
              <a:headEnd type="none" w="med" len="med"/>
              <a:tailEnd type="triangle" w="med" len="med"/>
            </a:ln>
          </p:spPr>
        </p:sp>
      </p:grpSp>
      <p:sp>
        <p:nvSpPr>
          <p:cNvPr id="492" name="Line 107"/>
          <p:cNvSpPr/>
          <p:nvPr/>
        </p:nvSpPr>
        <p:spPr>
          <a:xfrm>
            <a:off x="1714500" y="3821113"/>
            <a:ext cx="8699500" cy="0"/>
          </a:xfrm>
          <a:prstGeom prst="line">
            <a:avLst/>
          </a:prstGeom>
          <a:ln w="9525" cap="flat" cmpd="sng">
            <a:solidFill>
              <a:srgbClr val="FF0066"/>
            </a:solidFill>
            <a:prstDash val="dash"/>
            <a:round/>
            <a:headEnd type="none" w="med" len="med"/>
            <a:tailEnd type="none" w="med" len="med"/>
          </a:ln>
        </p:spPr>
      </p:sp>
      <p:sp>
        <p:nvSpPr>
          <p:cNvPr id="493" name="Line 108"/>
          <p:cNvSpPr/>
          <p:nvPr/>
        </p:nvSpPr>
        <p:spPr>
          <a:xfrm>
            <a:off x="1870075" y="4854575"/>
            <a:ext cx="0" cy="365125"/>
          </a:xfrm>
          <a:prstGeom prst="line">
            <a:avLst/>
          </a:prstGeom>
          <a:ln w="9525" cap="flat" cmpd="sng">
            <a:solidFill>
              <a:srgbClr val="FF0066"/>
            </a:solidFill>
            <a:prstDash val="solid"/>
            <a:round/>
            <a:headEnd type="none" w="med" len="med"/>
            <a:tailEnd type="triangle" w="med" len="med"/>
          </a:ln>
        </p:spPr>
      </p:sp>
      <p:sp>
        <p:nvSpPr>
          <p:cNvPr id="494" name="Line 109"/>
          <p:cNvSpPr/>
          <p:nvPr/>
        </p:nvSpPr>
        <p:spPr>
          <a:xfrm>
            <a:off x="2149475" y="4854575"/>
            <a:ext cx="0" cy="365125"/>
          </a:xfrm>
          <a:prstGeom prst="line">
            <a:avLst/>
          </a:prstGeom>
          <a:ln w="9525" cap="flat" cmpd="sng">
            <a:solidFill>
              <a:srgbClr val="FF0066"/>
            </a:solidFill>
            <a:prstDash val="solid"/>
            <a:round/>
            <a:headEnd type="none" w="med" len="med"/>
            <a:tailEnd type="triangle" w="med" len="med"/>
          </a:ln>
        </p:spPr>
      </p:sp>
      <p:sp>
        <p:nvSpPr>
          <p:cNvPr id="495" name="Line 111"/>
          <p:cNvSpPr/>
          <p:nvPr/>
        </p:nvSpPr>
        <p:spPr>
          <a:xfrm>
            <a:off x="2824163" y="4827588"/>
            <a:ext cx="377825" cy="0"/>
          </a:xfrm>
          <a:prstGeom prst="line">
            <a:avLst/>
          </a:prstGeom>
          <a:ln w="9525" cap="flat" cmpd="sng">
            <a:solidFill>
              <a:srgbClr val="FF0066"/>
            </a:solidFill>
            <a:prstDash val="solid"/>
            <a:round/>
            <a:headEnd type="none" w="med" len="med"/>
            <a:tailEnd type="triangle" w="med" len="med"/>
          </a:ln>
        </p:spPr>
      </p:sp>
      <p:sp>
        <p:nvSpPr>
          <p:cNvPr id="496" name="Line 112"/>
          <p:cNvSpPr/>
          <p:nvPr/>
        </p:nvSpPr>
        <p:spPr>
          <a:xfrm>
            <a:off x="3343275" y="4854575"/>
            <a:ext cx="0" cy="365125"/>
          </a:xfrm>
          <a:prstGeom prst="line">
            <a:avLst/>
          </a:prstGeom>
          <a:ln w="9525" cap="flat" cmpd="sng">
            <a:solidFill>
              <a:srgbClr val="FF0066"/>
            </a:solidFill>
            <a:prstDash val="solid"/>
            <a:round/>
            <a:headEnd type="none" w="med" len="med"/>
            <a:tailEnd type="triangle" w="med" len="med"/>
          </a:ln>
        </p:spPr>
      </p:sp>
      <p:sp>
        <p:nvSpPr>
          <p:cNvPr id="497" name="Line 113"/>
          <p:cNvSpPr/>
          <p:nvPr/>
        </p:nvSpPr>
        <p:spPr>
          <a:xfrm>
            <a:off x="3622675" y="4854575"/>
            <a:ext cx="0" cy="365125"/>
          </a:xfrm>
          <a:prstGeom prst="line">
            <a:avLst/>
          </a:prstGeom>
          <a:ln w="9525" cap="flat" cmpd="sng">
            <a:solidFill>
              <a:srgbClr val="FF0066"/>
            </a:solidFill>
            <a:prstDash val="solid"/>
            <a:round/>
            <a:headEnd type="none" w="med" len="med"/>
            <a:tailEnd type="triangle" w="med" len="med"/>
          </a:ln>
        </p:spPr>
      </p:sp>
      <p:sp>
        <p:nvSpPr>
          <p:cNvPr id="498" name="Line 114"/>
          <p:cNvSpPr/>
          <p:nvPr/>
        </p:nvSpPr>
        <p:spPr>
          <a:xfrm>
            <a:off x="4297363" y="4840288"/>
            <a:ext cx="377825" cy="0"/>
          </a:xfrm>
          <a:prstGeom prst="line">
            <a:avLst/>
          </a:prstGeom>
          <a:ln w="9525" cap="flat" cmpd="sng">
            <a:solidFill>
              <a:srgbClr val="FF0066"/>
            </a:solidFill>
            <a:prstDash val="solid"/>
            <a:round/>
            <a:headEnd type="none" w="med" len="med"/>
            <a:tailEnd type="triangle" w="med" len="med"/>
          </a:ln>
        </p:spPr>
      </p:sp>
      <p:sp>
        <p:nvSpPr>
          <p:cNvPr id="499" name="Line 115"/>
          <p:cNvSpPr/>
          <p:nvPr/>
        </p:nvSpPr>
        <p:spPr>
          <a:xfrm>
            <a:off x="4841875" y="4854575"/>
            <a:ext cx="0" cy="365125"/>
          </a:xfrm>
          <a:prstGeom prst="line">
            <a:avLst/>
          </a:prstGeom>
          <a:ln w="9525" cap="flat" cmpd="sng">
            <a:solidFill>
              <a:srgbClr val="FF0066"/>
            </a:solidFill>
            <a:prstDash val="solid"/>
            <a:round/>
            <a:headEnd type="none" w="med" len="med"/>
            <a:tailEnd type="triangle" w="med" len="med"/>
          </a:ln>
        </p:spPr>
      </p:sp>
      <p:sp>
        <p:nvSpPr>
          <p:cNvPr id="500" name="Line 116"/>
          <p:cNvSpPr/>
          <p:nvPr/>
        </p:nvSpPr>
        <p:spPr>
          <a:xfrm>
            <a:off x="5133975" y="4854575"/>
            <a:ext cx="0" cy="365125"/>
          </a:xfrm>
          <a:prstGeom prst="line">
            <a:avLst/>
          </a:prstGeom>
          <a:ln w="9525" cap="flat" cmpd="sng">
            <a:solidFill>
              <a:srgbClr val="FF0066"/>
            </a:solidFill>
            <a:prstDash val="solid"/>
            <a:round/>
            <a:headEnd type="none" w="med" len="med"/>
            <a:tailEnd type="triangle" w="med" len="med"/>
          </a:ln>
        </p:spPr>
      </p:sp>
      <p:sp>
        <p:nvSpPr>
          <p:cNvPr id="501" name="Line 117"/>
          <p:cNvSpPr/>
          <p:nvPr/>
        </p:nvSpPr>
        <p:spPr>
          <a:xfrm>
            <a:off x="5438775" y="4854575"/>
            <a:ext cx="0" cy="365125"/>
          </a:xfrm>
          <a:prstGeom prst="line">
            <a:avLst/>
          </a:prstGeom>
          <a:ln w="9525" cap="flat" cmpd="sng">
            <a:solidFill>
              <a:srgbClr val="FF0066"/>
            </a:solidFill>
            <a:prstDash val="solid"/>
            <a:round/>
            <a:headEnd type="none" w="med" len="med"/>
            <a:tailEnd type="triangle" w="med" len="med"/>
          </a:ln>
        </p:spPr>
      </p:sp>
      <p:sp>
        <p:nvSpPr>
          <p:cNvPr id="502" name="Line 118"/>
          <p:cNvSpPr/>
          <p:nvPr/>
        </p:nvSpPr>
        <p:spPr>
          <a:xfrm>
            <a:off x="5795963" y="4840288"/>
            <a:ext cx="377825" cy="0"/>
          </a:xfrm>
          <a:prstGeom prst="line">
            <a:avLst/>
          </a:prstGeom>
          <a:ln w="9525" cap="flat" cmpd="sng">
            <a:solidFill>
              <a:srgbClr val="FF0066"/>
            </a:solidFill>
            <a:prstDash val="solid"/>
            <a:round/>
            <a:headEnd type="none" w="med" len="med"/>
            <a:tailEnd type="triangle" w="med" len="med"/>
          </a:ln>
        </p:spPr>
      </p:sp>
      <p:sp>
        <p:nvSpPr>
          <p:cNvPr id="503" name="Line 119"/>
          <p:cNvSpPr/>
          <p:nvPr/>
        </p:nvSpPr>
        <p:spPr>
          <a:xfrm>
            <a:off x="6315075" y="4854575"/>
            <a:ext cx="0" cy="365125"/>
          </a:xfrm>
          <a:prstGeom prst="line">
            <a:avLst/>
          </a:prstGeom>
          <a:ln w="9525" cap="flat" cmpd="sng">
            <a:solidFill>
              <a:srgbClr val="FF0066"/>
            </a:solidFill>
            <a:prstDash val="solid"/>
            <a:round/>
            <a:headEnd type="none" w="med" len="med"/>
            <a:tailEnd type="triangle" w="med" len="med"/>
          </a:ln>
        </p:spPr>
      </p:sp>
      <p:sp>
        <p:nvSpPr>
          <p:cNvPr id="504" name="Line 120"/>
          <p:cNvSpPr/>
          <p:nvPr/>
        </p:nvSpPr>
        <p:spPr>
          <a:xfrm>
            <a:off x="6594475" y="4854575"/>
            <a:ext cx="0" cy="365125"/>
          </a:xfrm>
          <a:prstGeom prst="line">
            <a:avLst/>
          </a:prstGeom>
          <a:ln w="9525" cap="flat" cmpd="sng">
            <a:solidFill>
              <a:srgbClr val="FF0066"/>
            </a:solidFill>
            <a:prstDash val="solid"/>
            <a:round/>
            <a:headEnd type="none" w="med" len="med"/>
            <a:tailEnd type="triangle" w="med" len="med"/>
          </a:ln>
        </p:spPr>
      </p:sp>
      <p:sp>
        <p:nvSpPr>
          <p:cNvPr id="505" name="Line 121"/>
          <p:cNvSpPr/>
          <p:nvPr/>
        </p:nvSpPr>
        <p:spPr>
          <a:xfrm>
            <a:off x="7269163" y="4840288"/>
            <a:ext cx="377825" cy="0"/>
          </a:xfrm>
          <a:prstGeom prst="line">
            <a:avLst/>
          </a:prstGeom>
          <a:ln w="9525" cap="flat" cmpd="sng">
            <a:solidFill>
              <a:srgbClr val="FF0066"/>
            </a:solidFill>
            <a:prstDash val="solid"/>
            <a:round/>
            <a:headEnd type="none" w="med" len="med"/>
            <a:tailEnd type="triangle" w="med" len="med"/>
          </a:ln>
        </p:spPr>
      </p:sp>
      <p:sp>
        <p:nvSpPr>
          <p:cNvPr id="506" name="Line 122"/>
          <p:cNvSpPr/>
          <p:nvPr/>
        </p:nvSpPr>
        <p:spPr>
          <a:xfrm>
            <a:off x="7826375" y="4854575"/>
            <a:ext cx="0" cy="365125"/>
          </a:xfrm>
          <a:prstGeom prst="line">
            <a:avLst/>
          </a:prstGeom>
          <a:ln w="9525" cap="flat" cmpd="sng">
            <a:solidFill>
              <a:srgbClr val="FF0066"/>
            </a:solidFill>
            <a:prstDash val="solid"/>
            <a:round/>
            <a:headEnd type="none" w="med" len="med"/>
            <a:tailEnd type="triangle" w="med" len="med"/>
          </a:ln>
        </p:spPr>
      </p:sp>
      <p:sp>
        <p:nvSpPr>
          <p:cNvPr id="507" name="Line 123"/>
          <p:cNvSpPr/>
          <p:nvPr/>
        </p:nvSpPr>
        <p:spPr>
          <a:xfrm>
            <a:off x="8105775" y="4854575"/>
            <a:ext cx="0" cy="365125"/>
          </a:xfrm>
          <a:prstGeom prst="line">
            <a:avLst/>
          </a:prstGeom>
          <a:ln w="9525" cap="flat" cmpd="sng">
            <a:solidFill>
              <a:srgbClr val="FF0066"/>
            </a:solidFill>
            <a:prstDash val="solid"/>
            <a:round/>
            <a:headEnd type="none" w="med" len="med"/>
            <a:tailEnd type="triangle" w="med" len="med"/>
          </a:ln>
        </p:spPr>
      </p:sp>
      <p:sp>
        <p:nvSpPr>
          <p:cNvPr id="508" name="Line 124"/>
          <p:cNvSpPr/>
          <p:nvPr/>
        </p:nvSpPr>
        <p:spPr>
          <a:xfrm>
            <a:off x="8423275" y="4854575"/>
            <a:ext cx="0" cy="365125"/>
          </a:xfrm>
          <a:prstGeom prst="line">
            <a:avLst/>
          </a:prstGeom>
          <a:ln w="9525" cap="flat" cmpd="sng">
            <a:solidFill>
              <a:srgbClr val="FF0066"/>
            </a:solidFill>
            <a:prstDash val="solid"/>
            <a:round/>
            <a:headEnd type="none" w="med" len="med"/>
            <a:tailEnd type="triangle" w="med" len="med"/>
          </a:ln>
        </p:spPr>
      </p:sp>
      <p:sp>
        <p:nvSpPr>
          <p:cNvPr id="509" name="Line 125"/>
          <p:cNvSpPr/>
          <p:nvPr/>
        </p:nvSpPr>
        <p:spPr>
          <a:xfrm>
            <a:off x="8780463" y="4840288"/>
            <a:ext cx="377825" cy="0"/>
          </a:xfrm>
          <a:prstGeom prst="line">
            <a:avLst/>
          </a:prstGeom>
          <a:ln w="9525" cap="flat" cmpd="sng">
            <a:solidFill>
              <a:srgbClr val="FF0066"/>
            </a:solidFill>
            <a:prstDash val="solid"/>
            <a:round/>
            <a:headEnd type="none" w="med" len="med"/>
            <a:tailEnd type="triangle" w="med" len="med"/>
          </a:ln>
        </p:spPr>
      </p:sp>
      <p:sp>
        <p:nvSpPr>
          <p:cNvPr id="510" name="Line 126"/>
          <p:cNvSpPr/>
          <p:nvPr/>
        </p:nvSpPr>
        <p:spPr>
          <a:xfrm>
            <a:off x="9299575" y="4841875"/>
            <a:ext cx="0" cy="365125"/>
          </a:xfrm>
          <a:prstGeom prst="line">
            <a:avLst/>
          </a:prstGeom>
          <a:ln w="9525" cap="flat" cmpd="sng">
            <a:solidFill>
              <a:srgbClr val="FF0066"/>
            </a:solidFill>
            <a:prstDash val="solid"/>
            <a:round/>
            <a:headEnd type="none" w="med" len="med"/>
            <a:tailEnd type="triangle" w="med" len="med"/>
          </a:ln>
        </p:spPr>
      </p:sp>
      <p:sp>
        <p:nvSpPr>
          <p:cNvPr id="512" name="Line 127"/>
          <p:cNvSpPr/>
          <p:nvPr/>
        </p:nvSpPr>
        <p:spPr>
          <a:xfrm>
            <a:off x="9578975" y="4841875"/>
            <a:ext cx="0" cy="365125"/>
          </a:xfrm>
          <a:prstGeom prst="line">
            <a:avLst/>
          </a:prstGeom>
          <a:ln w="9525" cap="flat" cmpd="sng">
            <a:solidFill>
              <a:srgbClr val="FF0066"/>
            </a:solidFill>
            <a:prstDash val="solid"/>
            <a:round/>
            <a:headEnd type="none" w="med" len="med"/>
            <a:tailEnd type="triangle" w="med" len="med"/>
          </a:ln>
        </p:spPr>
      </p:sp>
      <p:sp>
        <p:nvSpPr>
          <p:cNvPr id="256" name="Text Box 161"/>
          <p:cNvSpPr txBox="1"/>
          <p:nvPr/>
        </p:nvSpPr>
        <p:spPr>
          <a:xfrm>
            <a:off x="1979612" y="5605463"/>
            <a:ext cx="6645275" cy="457200"/>
          </a:xfrm>
          <a:prstGeom prst="rect">
            <a:avLst/>
          </a:prstGeom>
          <a:noFill/>
          <a:ln w="9525">
            <a:noFill/>
          </a:ln>
        </p:spPr>
        <p:txBody>
          <a:bodyPr anchor="t">
            <a:spAutoFit/>
          </a:bodyPr>
          <a:lstStyle/>
          <a:p>
            <a:r>
              <a:rPr lang="zh-CN" altLang="en-US" sz="2400" dirty="0">
                <a:latin typeface="微软雅黑" panose="020B0503020204020204" pitchFamily="34" charset="-122"/>
                <a:ea typeface="微软雅黑" panose="020B0503020204020204" pitchFamily="34" charset="-122"/>
              </a:rPr>
              <a:t>问题</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：在此</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树中删除键值为</a:t>
            </a:r>
            <a:r>
              <a:rPr lang="en-US" altLang="zh-CN" sz="2400" dirty="0">
                <a:latin typeface="微软雅黑" panose="020B0503020204020204" pitchFamily="34" charset="-122"/>
                <a:ea typeface="微软雅黑" panose="020B0503020204020204" pitchFamily="34" charset="-122"/>
              </a:rPr>
              <a:t>11</a:t>
            </a:r>
            <a:r>
              <a:rPr lang="zh-CN" altLang="en-US" sz="2400" dirty="0">
                <a:latin typeface="微软雅黑" panose="020B0503020204020204" pitchFamily="34" charset="-122"/>
                <a:ea typeface="微软雅黑" panose="020B0503020204020204" pitchFamily="34" charset="-122"/>
              </a:rPr>
              <a:t>的记录 </a:t>
            </a:r>
            <a:endParaRPr lang="zh-CN" altLang="en-US" sz="2400" dirty="0">
              <a:latin typeface="微软雅黑" panose="020B0503020204020204" pitchFamily="34" charset="-122"/>
              <a:ea typeface="微软雅黑" panose="020B0503020204020204" pitchFamily="34" charset="-122"/>
            </a:endParaRPr>
          </a:p>
        </p:txBody>
      </p:sp>
      <p:sp>
        <p:nvSpPr>
          <p:cNvPr id="64" name="灯片编号占位符 63"/>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
                                        </p:tgtEl>
                                        <p:attrNameLst>
                                          <p:attrName>style.visibility</p:attrName>
                                        </p:attrNameLst>
                                      </p:cBhvr>
                                      <p:to>
                                        <p:strVal val="visible"/>
                                      </p:to>
                                    </p:set>
                                    <p:anim calcmode="lin" valueType="num">
                                      <p:cBhvr additive="base">
                                        <p:cTn id="7" dur="500" fill="hold"/>
                                        <p:tgtEl>
                                          <p:spTgt spid="256"/>
                                        </p:tgtEl>
                                        <p:attrNameLst>
                                          <p:attrName>ppt_x</p:attrName>
                                        </p:attrNameLst>
                                      </p:cBhvr>
                                      <p:tavLst>
                                        <p:tav tm="0">
                                          <p:val>
                                            <p:strVal val="#ppt_x"/>
                                          </p:val>
                                        </p:tav>
                                        <p:tav tm="100000">
                                          <p:val>
                                            <p:strVal val="#ppt_x"/>
                                          </p:val>
                                        </p:tav>
                                      </p:tavLst>
                                    </p:anim>
                                    <p:anim calcmode="lin" valueType="num">
                                      <p:cBhvr additive="base">
                                        <p:cTn id="8" dur="500" fill="hold"/>
                                        <p:tgtEl>
                                          <p:spTgt spid="2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删除过程与合并过程示意</a:t>
            </a:r>
            <a:endParaRPr lang="en-US" altLang="zh-CN"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删除键值为</a:t>
            </a:r>
            <a:r>
              <a:rPr lang="en-US" altLang="zh-CN" sz="2000" b="0" dirty="0">
                <a:latin typeface="微软雅黑" panose="020B0503020204020204" pitchFamily="34" charset="-122"/>
                <a:ea typeface="微软雅黑" panose="020B0503020204020204" pitchFamily="34" charset="-122"/>
              </a:rPr>
              <a:t>11</a:t>
            </a:r>
            <a:r>
              <a:rPr lang="zh-CN" altLang="en-US" sz="2000" b="0" dirty="0">
                <a:latin typeface="微软雅黑" panose="020B0503020204020204" pitchFamily="34" charset="-122"/>
                <a:ea typeface="微软雅黑" panose="020B0503020204020204" pitchFamily="34" charset="-122"/>
              </a:rPr>
              <a:t>的记录</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进行中</a:t>
            </a:r>
            <a:endParaRPr lang="en-US" altLang="zh-CN" sz="2000" b="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zh-CN" altLang="en-US" sz="20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删除与结点合并过程示意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477" name="Text Box 130"/>
          <p:cNvSpPr txBox="1"/>
          <p:nvPr/>
        </p:nvSpPr>
        <p:spPr>
          <a:xfrm>
            <a:off x="1967706" y="5249987"/>
            <a:ext cx="8453438" cy="923330"/>
          </a:xfrm>
          <a:prstGeom prst="rect">
            <a:avLst/>
          </a:prstGeom>
          <a:noFill/>
          <a:ln w="9525">
            <a:noFill/>
          </a:ln>
        </p:spPr>
        <p:txBody>
          <a:bodyPr anchor="t">
            <a:spAutoFit/>
          </a:bodyPr>
          <a:lstStyle/>
          <a:p>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叶子结点中寻找等于键值的记录，删除相应的指针及主文件中对应的记录</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将本结点的剩余键值</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移动到左侧</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或右侧</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结点。此空结点将被删除。调整叶结点指针</a:t>
            </a:r>
            <a:endParaRPr lang="zh-CN" altLang="en-US" sz="2400" dirty="0">
              <a:latin typeface="微软雅黑" panose="020B0503020204020204" pitchFamily="34" charset="-122"/>
              <a:ea typeface="微软雅黑" panose="020B0503020204020204" pitchFamily="34" charset="-122"/>
            </a:endParaRPr>
          </a:p>
        </p:txBody>
      </p:sp>
      <p:grpSp>
        <p:nvGrpSpPr>
          <p:cNvPr id="478" name="Group 4"/>
          <p:cNvGrpSpPr/>
          <p:nvPr/>
        </p:nvGrpSpPr>
        <p:grpSpPr>
          <a:xfrm>
            <a:off x="4723607" y="1868550"/>
            <a:ext cx="1238250" cy="695325"/>
            <a:chOff x="856" y="1440"/>
            <a:chExt cx="1291" cy="667"/>
          </a:xfrm>
        </p:grpSpPr>
        <p:sp>
          <p:nvSpPr>
            <p:cNvPr id="479" name="Rectangle 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80" name="Line 6"/>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81" name="Line 7"/>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82" name="Line 8"/>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83" name="Line 9"/>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84" name="Line 10"/>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85" name="Line 11"/>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486" name="Text Box 12"/>
          <p:cNvSpPr txBox="1"/>
          <p:nvPr/>
        </p:nvSpPr>
        <p:spPr>
          <a:xfrm>
            <a:off x="4652169" y="184473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487" name="Group 13"/>
          <p:cNvGrpSpPr/>
          <p:nvPr/>
        </p:nvGrpSpPr>
        <p:grpSpPr>
          <a:xfrm>
            <a:off x="3410744" y="3030600"/>
            <a:ext cx="1238250" cy="695325"/>
            <a:chOff x="856" y="1440"/>
            <a:chExt cx="1291" cy="667"/>
          </a:xfrm>
        </p:grpSpPr>
        <p:sp>
          <p:nvSpPr>
            <p:cNvPr id="488" name="Rectangle 1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89" name="Line 1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90" name="Line 1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91" name="Line 1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92" name="Line 1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93" name="Line 1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94" name="Line 2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495" name="Group 21"/>
          <p:cNvGrpSpPr/>
          <p:nvPr/>
        </p:nvGrpSpPr>
        <p:grpSpPr>
          <a:xfrm>
            <a:off x="6958807" y="3030600"/>
            <a:ext cx="1238250" cy="695325"/>
            <a:chOff x="856" y="1440"/>
            <a:chExt cx="1291" cy="667"/>
          </a:xfrm>
        </p:grpSpPr>
        <p:sp>
          <p:nvSpPr>
            <p:cNvPr id="496" name="Rectangle 2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97" name="Line 2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98" name="Line 2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99" name="Line 2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00" name="Line 2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01" name="Line 2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02" name="Line 2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03" name="Group 29"/>
          <p:cNvGrpSpPr/>
          <p:nvPr/>
        </p:nvGrpSpPr>
        <p:grpSpPr>
          <a:xfrm>
            <a:off x="1766094" y="4306950"/>
            <a:ext cx="1238250" cy="695325"/>
            <a:chOff x="856" y="1440"/>
            <a:chExt cx="1291" cy="667"/>
          </a:xfrm>
        </p:grpSpPr>
        <p:sp>
          <p:nvSpPr>
            <p:cNvPr id="504"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05" name="Line 3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06" name="Line 3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07" name="Line 3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08" name="Line 3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09" name="Line 3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10" name="Line 3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11" name="Group 37"/>
          <p:cNvGrpSpPr/>
          <p:nvPr/>
        </p:nvGrpSpPr>
        <p:grpSpPr>
          <a:xfrm>
            <a:off x="3237707" y="4306950"/>
            <a:ext cx="1238250" cy="695325"/>
            <a:chOff x="856" y="1440"/>
            <a:chExt cx="1291" cy="667"/>
          </a:xfrm>
        </p:grpSpPr>
        <p:sp>
          <p:nvSpPr>
            <p:cNvPr id="261" name="Rectangle 3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62" name="Line 3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63" name="Line 4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64" name="Line 4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65" name="Line 4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66" name="Line 4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67" name="Line 4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68" name="Group 45"/>
          <p:cNvGrpSpPr/>
          <p:nvPr/>
        </p:nvGrpSpPr>
        <p:grpSpPr>
          <a:xfrm>
            <a:off x="4723607" y="4306950"/>
            <a:ext cx="1238250" cy="695325"/>
            <a:chOff x="856" y="1440"/>
            <a:chExt cx="1291" cy="667"/>
          </a:xfrm>
        </p:grpSpPr>
        <p:sp>
          <p:nvSpPr>
            <p:cNvPr id="269" name="Rectangle 4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70" name="Line 4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71" name="Line 4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72" name="Line 4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73" name="Line 5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74" name="Line 5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75" name="Line 5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76" name="Group 53"/>
          <p:cNvGrpSpPr/>
          <p:nvPr/>
        </p:nvGrpSpPr>
        <p:grpSpPr>
          <a:xfrm>
            <a:off x="6209507" y="4306950"/>
            <a:ext cx="1238250" cy="695325"/>
            <a:chOff x="856" y="1440"/>
            <a:chExt cx="1291" cy="667"/>
          </a:xfrm>
        </p:grpSpPr>
        <p:sp>
          <p:nvSpPr>
            <p:cNvPr id="277" name="Rectangle 5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78" name="Line 5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79" name="Line 5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80" name="Line 5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81" name="Line 5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82" name="Line 5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83" name="Line 6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84" name="Group 61"/>
          <p:cNvGrpSpPr/>
          <p:nvPr/>
        </p:nvGrpSpPr>
        <p:grpSpPr>
          <a:xfrm>
            <a:off x="7695407" y="4306950"/>
            <a:ext cx="1238250" cy="695325"/>
            <a:chOff x="856" y="1440"/>
            <a:chExt cx="1291" cy="667"/>
          </a:xfrm>
        </p:grpSpPr>
        <p:sp>
          <p:nvSpPr>
            <p:cNvPr id="285" name="Rectangle 6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86" name="Line 6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87" name="Line 6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88" name="Line 6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89" name="Line 6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90" name="Line 6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91" name="Line 6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92" name="Group 69"/>
          <p:cNvGrpSpPr/>
          <p:nvPr/>
        </p:nvGrpSpPr>
        <p:grpSpPr>
          <a:xfrm>
            <a:off x="9182894" y="4306950"/>
            <a:ext cx="1238250" cy="695325"/>
            <a:chOff x="856" y="1440"/>
            <a:chExt cx="1291" cy="667"/>
          </a:xfrm>
        </p:grpSpPr>
        <p:sp>
          <p:nvSpPr>
            <p:cNvPr id="293" name="Rectangle 7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94" name="Line 7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95" name="Line 7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96" name="Line 7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97" name="Line 7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98" name="Line 7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99" name="Line 7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300" name="Text Box 77"/>
          <p:cNvSpPr txBox="1"/>
          <p:nvPr/>
        </p:nvSpPr>
        <p:spPr>
          <a:xfrm>
            <a:off x="3353594" y="3011550"/>
            <a:ext cx="542925" cy="366713"/>
          </a:xfrm>
          <a:prstGeom prst="rect">
            <a:avLst/>
          </a:prstGeom>
          <a:noFill/>
          <a:ln w="9525">
            <a:noFill/>
          </a:ln>
        </p:spPr>
        <p:txBody>
          <a:bodyPr anchor="t">
            <a:spAutoFit/>
          </a:bodyPr>
          <a:lstStyle/>
          <a:p>
            <a:pPr algn="ctr"/>
            <a:r>
              <a:rPr lang="en-US" altLang="zh-CN" sz="1800" dirty="0">
                <a:latin typeface="Arial" panose="020B0604020202020204" pitchFamily="34" charset="0"/>
                <a:ea typeface="楷体_GB2312" pitchFamily="49" charset="-122"/>
              </a:rPr>
              <a:t>5</a:t>
            </a:r>
            <a:endParaRPr lang="en-US" altLang="zh-CN" sz="1800" dirty="0">
              <a:latin typeface="Arial" panose="020B0604020202020204" pitchFamily="34" charset="0"/>
              <a:ea typeface="楷体_GB2312" pitchFamily="49" charset="-122"/>
            </a:endParaRPr>
          </a:p>
        </p:txBody>
      </p:sp>
      <p:sp>
        <p:nvSpPr>
          <p:cNvPr id="301" name="Text Box 78"/>
          <p:cNvSpPr txBox="1"/>
          <p:nvPr/>
        </p:nvSpPr>
        <p:spPr>
          <a:xfrm>
            <a:off x="1713707" y="42783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302" name="Text Box 79"/>
          <p:cNvSpPr txBox="1"/>
          <p:nvPr/>
        </p:nvSpPr>
        <p:spPr>
          <a:xfrm>
            <a:off x="2094707" y="42783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303" name="Text Box 80"/>
          <p:cNvSpPr txBox="1"/>
          <p:nvPr/>
        </p:nvSpPr>
        <p:spPr>
          <a:xfrm>
            <a:off x="3161507" y="4278375"/>
            <a:ext cx="542925" cy="366713"/>
          </a:xfrm>
          <a:prstGeom prst="rect">
            <a:avLst/>
          </a:prstGeom>
          <a:noFill/>
          <a:ln w="9525">
            <a:noFill/>
          </a:ln>
        </p:spPr>
        <p:txBody>
          <a:bodyPr anchor="t">
            <a:spAutoFit/>
          </a:bodyPr>
          <a:lstStyle/>
          <a:p>
            <a:pPr algn="ctr"/>
            <a:r>
              <a:rPr lang="en-US" altLang="zh-CN" sz="1800" dirty="0">
                <a:latin typeface="Arial" panose="020B0604020202020204" pitchFamily="34" charset="0"/>
                <a:ea typeface="楷体_GB2312" pitchFamily="49" charset="-122"/>
              </a:rPr>
              <a:t>5</a:t>
            </a:r>
            <a:endParaRPr lang="en-US" altLang="zh-CN" sz="1800" dirty="0">
              <a:latin typeface="Arial" panose="020B0604020202020204" pitchFamily="34" charset="0"/>
              <a:ea typeface="楷体_GB2312" pitchFamily="49" charset="-122"/>
            </a:endParaRPr>
          </a:p>
        </p:txBody>
      </p:sp>
      <p:sp>
        <p:nvSpPr>
          <p:cNvPr id="304" name="Text Box 81"/>
          <p:cNvSpPr txBox="1"/>
          <p:nvPr/>
        </p:nvSpPr>
        <p:spPr>
          <a:xfrm>
            <a:off x="3528219" y="4278375"/>
            <a:ext cx="542925" cy="366713"/>
          </a:xfrm>
          <a:prstGeom prst="rect">
            <a:avLst/>
          </a:prstGeom>
          <a:noFill/>
          <a:ln w="9525">
            <a:noFill/>
          </a:ln>
        </p:spPr>
        <p:txBody>
          <a:bodyPr anchor="t">
            <a:spAutoFit/>
          </a:bodyPr>
          <a:lstStyle/>
          <a:p>
            <a:pPr algn="ctr"/>
            <a:r>
              <a:rPr lang="en-US" altLang="zh-CN" sz="1800" dirty="0">
                <a:solidFill>
                  <a:schemeClr val="accent2"/>
                </a:solidFill>
                <a:latin typeface="Arial" panose="020B0604020202020204" pitchFamily="34" charset="0"/>
                <a:ea typeface="楷体_GB2312" pitchFamily="49" charset="-122"/>
              </a:rPr>
              <a:t>11</a:t>
            </a:r>
            <a:endParaRPr lang="en-US" altLang="zh-CN" sz="1800" dirty="0">
              <a:solidFill>
                <a:schemeClr val="accent2"/>
              </a:solidFill>
              <a:latin typeface="Arial" panose="020B0604020202020204" pitchFamily="34" charset="0"/>
              <a:ea typeface="楷体_GB2312" pitchFamily="49" charset="-122"/>
            </a:endParaRPr>
          </a:p>
        </p:txBody>
      </p:sp>
      <p:sp>
        <p:nvSpPr>
          <p:cNvPr id="305" name="Text Box 82"/>
          <p:cNvSpPr txBox="1"/>
          <p:nvPr/>
        </p:nvSpPr>
        <p:spPr>
          <a:xfrm>
            <a:off x="4647407" y="42974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306" name="Text Box 83"/>
          <p:cNvSpPr txBox="1"/>
          <p:nvPr/>
        </p:nvSpPr>
        <p:spPr>
          <a:xfrm>
            <a:off x="5066507" y="42974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307" name="Text Box 84"/>
          <p:cNvSpPr txBox="1"/>
          <p:nvPr/>
        </p:nvSpPr>
        <p:spPr>
          <a:xfrm>
            <a:off x="5526882" y="4297425"/>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308" name="Text Box 85"/>
          <p:cNvSpPr txBox="1"/>
          <p:nvPr/>
        </p:nvSpPr>
        <p:spPr>
          <a:xfrm>
            <a:off x="6146007" y="42847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309" name="Text Box 86"/>
          <p:cNvSpPr txBox="1"/>
          <p:nvPr/>
        </p:nvSpPr>
        <p:spPr>
          <a:xfrm>
            <a:off x="6565107" y="428472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310" name="Text Box 87"/>
          <p:cNvSpPr txBox="1"/>
          <p:nvPr/>
        </p:nvSpPr>
        <p:spPr>
          <a:xfrm>
            <a:off x="7658894" y="42910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311" name="Text Box 88"/>
          <p:cNvSpPr txBox="1"/>
          <p:nvPr/>
        </p:nvSpPr>
        <p:spPr>
          <a:xfrm>
            <a:off x="8077994" y="42910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312" name="Text Box 89"/>
          <p:cNvSpPr txBox="1"/>
          <p:nvPr/>
        </p:nvSpPr>
        <p:spPr>
          <a:xfrm>
            <a:off x="8538369" y="4291075"/>
            <a:ext cx="439738"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313" name="Text Box 90"/>
          <p:cNvSpPr txBox="1"/>
          <p:nvPr/>
        </p:nvSpPr>
        <p:spPr>
          <a:xfrm>
            <a:off x="9122569" y="42910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314" name="Text Box 91"/>
          <p:cNvSpPr txBox="1"/>
          <p:nvPr/>
        </p:nvSpPr>
        <p:spPr>
          <a:xfrm>
            <a:off x="9541669" y="4291075"/>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315" name="Text Box 92"/>
          <p:cNvSpPr txBox="1"/>
          <p:nvPr/>
        </p:nvSpPr>
        <p:spPr>
          <a:xfrm>
            <a:off x="6890544" y="300361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316" name="Text Box 93"/>
          <p:cNvSpPr txBox="1"/>
          <p:nvPr/>
        </p:nvSpPr>
        <p:spPr>
          <a:xfrm>
            <a:off x="7309644" y="300361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317" name="Text Box 94"/>
          <p:cNvSpPr txBox="1"/>
          <p:nvPr/>
        </p:nvSpPr>
        <p:spPr>
          <a:xfrm>
            <a:off x="7770019" y="3003613"/>
            <a:ext cx="439738"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grpSp>
        <p:nvGrpSpPr>
          <p:cNvPr id="318" name="Group 95"/>
          <p:cNvGrpSpPr/>
          <p:nvPr/>
        </p:nvGrpSpPr>
        <p:grpSpPr>
          <a:xfrm>
            <a:off x="5315744" y="3586225"/>
            <a:ext cx="4154488" cy="730250"/>
            <a:chOff x="2362" y="2511"/>
            <a:chExt cx="2617" cy="625"/>
          </a:xfrm>
        </p:grpSpPr>
        <p:sp>
          <p:nvSpPr>
            <p:cNvPr id="319" name="Line 96"/>
            <p:cNvSpPr/>
            <p:nvPr/>
          </p:nvSpPr>
          <p:spPr>
            <a:xfrm>
              <a:off x="4115" y="2519"/>
              <a:ext cx="864" cy="601"/>
            </a:xfrm>
            <a:prstGeom prst="line">
              <a:avLst/>
            </a:prstGeom>
            <a:ln w="9525" cap="flat" cmpd="sng">
              <a:solidFill>
                <a:srgbClr val="FF0066"/>
              </a:solidFill>
              <a:prstDash val="solid"/>
              <a:round/>
              <a:headEnd type="none" w="med" len="med"/>
              <a:tailEnd type="triangle" w="med" len="med"/>
            </a:ln>
          </p:spPr>
        </p:sp>
        <p:sp>
          <p:nvSpPr>
            <p:cNvPr id="384" name="Line 97"/>
            <p:cNvSpPr/>
            <p:nvPr/>
          </p:nvSpPr>
          <p:spPr>
            <a:xfrm>
              <a:off x="3884" y="2511"/>
              <a:ext cx="173" cy="625"/>
            </a:xfrm>
            <a:prstGeom prst="line">
              <a:avLst/>
            </a:prstGeom>
            <a:ln w="9525" cap="flat" cmpd="sng">
              <a:solidFill>
                <a:srgbClr val="FF0066"/>
              </a:solidFill>
              <a:prstDash val="solid"/>
              <a:round/>
              <a:headEnd type="none" w="med" len="med"/>
              <a:tailEnd type="triangle" w="med" len="med"/>
            </a:ln>
          </p:spPr>
        </p:sp>
        <p:sp>
          <p:nvSpPr>
            <p:cNvPr id="385" name="Line 98"/>
            <p:cNvSpPr/>
            <p:nvPr/>
          </p:nvSpPr>
          <p:spPr>
            <a:xfrm flipH="1">
              <a:off x="3136" y="2519"/>
              <a:ext cx="559" cy="601"/>
            </a:xfrm>
            <a:prstGeom prst="line">
              <a:avLst/>
            </a:prstGeom>
            <a:ln w="9525" cap="flat" cmpd="sng">
              <a:solidFill>
                <a:srgbClr val="FF0066"/>
              </a:solidFill>
              <a:prstDash val="solid"/>
              <a:round/>
              <a:headEnd type="none" w="med" len="med"/>
              <a:tailEnd type="triangle" w="med" len="med"/>
            </a:ln>
          </p:spPr>
        </p:sp>
        <p:sp>
          <p:nvSpPr>
            <p:cNvPr id="386" name="Line 99"/>
            <p:cNvSpPr/>
            <p:nvPr/>
          </p:nvSpPr>
          <p:spPr>
            <a:xfrm flipH="1">
              <a:off x="2362" y="2527"/>
              <a:ext cx="1078" cy="593"/>
            </a:xfrm>
            <a:prstGeom prst="line">
              <a:avLst/>
            </a:prstGeom>
            <a:ln w="9525" cap="flat" cmpd="sng">
              <a:solidFill>
                <a:srgbClr val="FF0066"/>
              </a:solidFill>
              <a:prstDash val="solid"/>
              <a:round/>
              <a:headEnd type="none" w="med" len="med"/>
              <a:tailEnd type="triangle" w="med" len="med"/>
            </a:ln>
          </p:spPr>
        </p:sp>
      </p:grpSp>
      <p:grpSp>
        <p:nvGrpSpPr>
          <p:cNvPr id="387" name="Group 100"/>
          <p:cNvGrpSpPr/>
          <p:nvPr/>
        </p:nvGrpSpPr>
        <p:grpSpPr>
          <a:xfrm>
            <a:off x="2232819" y="3598925"/>
            <a:ext cx="1606550" cy="704850"/>
            <a:chOff x="420" y="2502"/>
            <a:chExt cx="1012" cy="626"/>
          </a:xfrm>
        </p:grpSpPr>
        <p:sp>
          <p:nvSpPr>
            <p:cNvPr id="388" name="Line 101"/>
            <p:cNvSpPr/>
            <p:nvPr/>
          </p:nvSpPr>
          <p:spPr>
            <a:xfrm flipH="1">
              <a:off x="1276" y="2519"/>
              <a:ext cx="156" cy="601"/>
            </a:xfrm>
            <a:prstGeom prst="line">
              <a:avLst/>
            </a:prstGeom>
            <a:ln w="9525" cap="flat" cmpd="sng">
              <a:solidFill>
                <a:srgbClr val="FF0066"/>
              </a:solidFill>
              <a:prstDash val="solid"/>
              <a:round/>
              <a:headEnd type="none" w="med" len="med"/>
              <a:tailEnd type="triangle" w="med" len="med"/>
            </a:ln>
          </p:spPr>
        </p:sp>
        <p:sp>
          <p:nvSpPr>
            <p:cNvPr id="389" name="Line 102"/>
            <p:cNvSpPr/>
            <p:nvPr/>
          </p:nvSpPr>
          <p:spPr>
            <a:xfrm flipH="1">
              <a:off x="420" y="2502"/>
              <a:ext cx="848" cy="626"/>
            </a:xfrm>
            <a:prstGeom prst="line">
              <a:avLst/>
            </a:prstGeom>
            <a:ln w="9525" cap="flat" cmpd="sng">
              <a:solidFill>
                <a:srgbClr val="FF0066"/>
              </a:solidFill>
              <a:prstDash val="solid"/>
              <a:round/>
              <a:headEnd type="none" w="med" len="med"/>
              <a:tailEnd type="triangle" w="med" len="med"/>
            </a:ln>
          </p:spPr>
        </p:sp>
      </p:grpSp>
      <p:grpSp>
        <p:nvGrpSpPr>
          <p:cNvPr id="390" name="Group 103"/>
          <p:cNvGrpSpPr/>
          <p:nvPr/>
        </p:nvGrpSpPr>
        <p:grpSpPr>
          <a:xfrm>
            <a:off x="3904457" y="2401950"/>
            <a:ext cx="3227387" cy="627063"/>
            <a:chOff x="1473" y="1700"/>
            <a:chExt cx="2033" cy="625"/>
          </a:xfrm>
        </p:grpSpPr>
        <p:sp>
          <p:nvSpPr>
            <p:cNvPr id="391" name="Line 104"/>
            <p:cNvSpPr/>
            <p:nvPr/>
          </p:nvSpPr>
          <p:spPr>
            <a:xfrm flipH="1">
              <a:off x="1473" y="1700"/>
              <a:ext cx="593" cy="625"/>
            </a:xfrm>
            <a:prstGeom prst="line">
              <a:avLst/>
            </a:prstGeom>
            <a:ln w="9525" cap="flat" cmpd="sng">
              <a:solidFill>
                <a:srgbClr val="FF0066"/>
              </a:solidFill>
              <a:prstDash val="solid"/>
              <a:round/>
              <a:headEnd type="none" w="med" len="med"/>
              <a:tailEnd type="triangle" w="med" len="med"/>
            </a:ln>
          </p:spPr>
        </p:sp>
        <p:sp>
          <p:nvSpPr>
            <p:cNvPr id="392" name="Line 105"/>
            <p:cNvSpPr/>
            <p:nvPr/>
          </p:nvSpPr>
          <p:spPr>
            <a:xfrm>
              <a:off x="2272" y="1716"/>
              <a:ext cx="1234" cy="601"/>
            </a:xfrm>
            <a:prstGeom prst="line">
              <a:avLst/>
            </a:prstGeom>
            <a:ln w="9525" cap="flat" cmpd="sng">
              <a:solidFill>
                <a:srgbClr val="FF0066"/>
              </a:solidFill>
              <a:prstDash val="solid"/>
              <a:round/>
              <a:headEnd type="none" w="med" len="med"/>
              <a:tailEnd type="triangle" w="med" len="med"/>
            </a:ln>
          </p:spPr>
        </p:sp>
      </p:grpSp>
      <p:sp>
        <p:nvSpPr>
          <p:cNvPr id="393" name="Line 106"/>
          <p:cNvSpPr/>
          <p:nvPr/>
        </p:nvSpPr>
        <p:spPr>
          <a:xfrm>
            <a:off x="1750219" y="3832288"/>
            <a:ext cx="8699500" cy="0"/>
          </a:xfrm>
          <a:prstGeom prst="line">
            <a:avLst/>
          </a:prstGeom>
          <a:ln w="9525" cap="flat" cmpd="sng">
            <a:solidFill>
              <a:srgbClr val="FF0066"/>
            </a:solidFill>
            <a:prstDash val="dash"/>
            <a:round/>
            <a:headEnd type="none" w="med" len="med"/>
            <a:tailEnd type="none" w="med" len="med"/>
          </a:ln>
        </p:spPr>
      </p:sp>
      <p:sp>
        <p:nvSpPr>
          <p:cNvPr id="394" name="Line 107"/>
          <p:cNvSpPr/>
          <p:nvPr/>
        </p:nvSpPr>
        <p:spPr>
          <a:xfrm>
            <a:off x="1905794" y="4865750"/>
            <a:ext cx="0" cy="365125"/>
          </a:xfrm>
          <a:prstGeom prst="line">
            <a:avLst/>
          </a:prstGeom>
          <a:ln w="9525" cap="flat" cmpd="sng">
            <a:solidFill>
              <a:srgbClr val="FF0066"/>
            </a:solidFill>
            <a:prstDash val="solid"/>
            <a:round/>
            <a:headEnd type="none" w="med" len="med"/>
            <a:tailEnd type="triangle" w="med" len="med"/>
          </a:ln>
        </p:spPr>
      </p:sp>
      <p:sp>
        <p:nvSpPr>
          <p:cNvPr id="395" name="Line 108"/>
          <p:cNvSpPr/>
          <p:nvPr/>
        </p:nvSpPr>
        <p:spPr>
          <a:xfrm>
            <a:off x="2185194" y="4865750"/>
            <a:ext cx="0" cy="365125"/>
          </a:xfrm>
          <a:prstGeom prst="line">
            <a:avLst/>
          </a:prstGeom>
          <a:ln w="9525" cap="flat" cmpd="sng">
            <a:solidFill>
              <a:srgbClr val="FF0066"/>
            </a:solidFill>
            <a:prstDash val="solid"/>
            <a:round/>
            <a:headEnd type="none" w="med" len="med"/>
            <a:tailEnd type="triangle" w="med" len="med"/>
          </a:ln>
        </p:spPr>
      </p:sp>
      <p:sp>
        <p:nvSpPr>
          <p:cNvPr id="396" name="Line 109"/>
          <p:cNvSpPr/>
          <p:nvPr/>
        </p:nvSpPr>
        <p:spPr>
          <a:xfrm>
            <a:off x="2859882" y="4838763"/>
            <a:ext cx="377825" cy="0"/>
          </a:xfrm>
          <a:prstGeom prst="line">
            <a:avLst/>
          </a:prstGeom>
          <a:ln w="9525" cap="flat" cmpd="sng">
            <a:solidFill>
              <a:srgbClr val="FF0066"/>
            </a:solidFill>
            <a:prstDash val="solid"/>
            <a:round/>
            <a:headEnd type="none" w="med" len="med"/>
            <a:tailEnd type="triangle" w="med" len="med"/>
          </a:ln>
        </p:spPr>
      </p:sp>
      <p:sp>
        <p:nvSpPr>
          <p:cNvPr id="397" name="Line 110"/>
          <p:cNvSpPr/>
          <p:nvPr/>
        </p:nvSpPr>
        <p:spPr>
          <a:xfrm>
            <a:off x="3378994" y="4865750"/>
            <a:ext cx="0" cy="365125"/>
          </a:xfrm>
          <a:prstGeom prst="line">
            <a:avLst/>
          </a:prstGeom>
          <a:ln w="9525" cap="flat" cmpd="sng">
            <a:solidFill>
              <a:srgbClr val="FF0066"/>
            </a:solidFill>
            <a:prstDash val="solid"/>
            <a:round/>
            <a:headEnd type="none" w="med" len="med"/>
            <a:tailEnd type="triangle" w="med" len="med"/>
          </a:ln>
        </p:spPr>
      </p:sp>
      <p:sp>
        <p:nvSpPr>
          <p:cNvPr id="398" name="Line 111"/>
          <p:cNvSpPr/>
          <p:nvPr/>
        </p:nvSpPr>
        <p:spPr>
          <a:xfrm>
            <a:off x="3658394" y="4865750"/>
            <a:ext cx="0" cy="365125"/>
          </a:xfrm>
          <a:prstGeom prst="line">
            <a:avLst/>
          </a:prstGeom>
          <a:ln w="9525" cap="flat" cmpd="sng">
            <a:solidFill>
              <a:srgbClr val="FF0066"/>
            </a:solidFill>
            <a:prstDash val="solid"/>
            <a:round/>
            <a:headEnd type="none" w="med" len="med"/>
            <a:tailEnd type="triangle" w="med" len="med"/>
          </a:ln>
        </p:spPr>
      </p:sp>
      <p:sp>
        <p:nvSpPr>
          <p:cNvPr id="399" name="Line 112"/>
          <p:cNvSpPr/>
          <p:nvPr/>
        </p:nvSpPr>
        <p:spPr>
          <a:xfrm>
            <a:off x="4333082" y="4851463"/>
            <a:ext cx="377825" cy="0"/>
          </a:xfrm>
          <a:prstGeom prst="line">
            <a:avLst/>
          </a:prstGeom>
          <a:ln w="9525" cap="flat" cmpd="sng">
            <a:solidFill>
              <a:srgbClr val="FF0066"/>
            </a:solidFill>
            <a:prstDash val="solid"/>
            <a:round/>
            <a:headEnd type="none" w="med" len="med"/>
            <a:tailEnd type="triangle" w="med" len="med"/>
          </a:ln>
        </p:spPr>
      </p:sp>
      <p:sp>
        <p:nvSpPr>
          <p:cNvPr id="400" name="Line 113"/>
          <p:cNvSpPr/>
          <p:nvPr/>
        </p:nvSpPr>
        <p:spPr>
          <a:xfrm>
            <a:off x="4877594" y="4865750"/>
            <a:ext cx="0" cy="365125"/>
          </a:xfrm>
          <a:prstGeom prst="line">
            <a:avLst/>
          </a:prstGeom>
          <a:ln w="9525" cap="flat" cmpd="sng">
            <a:solidFill>
              <a:srgbClr val="FF0066"/>
            </a:solidFill>
            <a:prstDash val="solid"/>
            <a:round/>
            <a:headEnd type="none" w="med" len="med"/>
            <a:tailEnd type="triangle" w="med" len="med"/>
          </a:ln>
        </p:spPr>
      </p:sp>
      <p:sp>
        <p:nvSpPr>
          <p:cNvPr id="401" name="Line 114"/>
          <p:cNvSpPr/>
          <p:nvPr/>
        </p:nvSpPr>
        <p:spPr>
          <a:xfrm>
            <a:off x="5169694" y="4865750"/>
            <a:ext cx="0" cy="365125"/>
          </a:xfrm>
          <a:prstGeom prst="line">
            <a:avLst/>
          </a:prstGeom>
          <a:ln w="9525" cap="flat" cmpd="sng">
            <a:solidFill>
              <a:srgbClr val="FF0066"/>
            </a:solidFill>
            <a:prstDash val="solid"/>
            <a:round/>
            <a:headEnd type="none" w="med" len="med"/>
            <a:tailEnd type="triangle" w="med" len="med"/>
          </a:ln>
        </p:spPr>
      </p:sp>
      <p:sp>
        <p:nvSpPr>
          <p:cNvPr id="402" name="Line 115"/>
          <p:cNvSpPr/>
          <p:nvPr/>
        </p:nvSpPr>
        <p:spPr>
          <a:xfrm>
            <a:off x="5474494" y="4865750"/>
            <a:ext cx="0" cy="365125"/>
          </a:xfrm>
          <a:prstGeom prst="line">
            <a:avLst/>
          </a:prstGeom>
          <a:ln w="9525" cap="flat" cmpd="sng">
            <a:solidFill>
              <a:srgbClr val="FF0066"/>
            </a:solidFill>
            <a:prstDash val="solid"/>
            <a:round/>
            <a:headEnd type="none" w="med" len="med"/>
            <a:tailEnd type="triangle" w="med" len="med"/>
          </a:ln>
        </p:spPr>
      </p:sp>
      <p:sp>
        <p:nvSpPr>
          <p:cNvPr id="403" name="Line 116"/>
          <p:cNvSpPr/>
          <p:nvPr/>
        </p:nvSpPr>
        <p:spPr>
          <a:xfrm>
            <a:off x="5831682" y="4851463"/>
            <a:ext cx="377825" cy="0"/>
          </a:xfrm>
          <a:prstGeom prst="line">
            <a:avLst/>
          </a:prstGeom>
          <a:ln w="9525" cap="flat" cmpd="sng">
            <a:solidFill>
              <a:srgbClr val="FF0066"/>
            </a:solidFill>
            <a:prstDash val="solid"/>
            <a:round/>
            <a:headEnd type="none" w="med" len="med"/>
            <a:tailEnd type="triangle" w="med" len="med"/>
          </a:ln>
        </p:spPr>
      </p:sp>
      <p:sp>
        <p:nvSpPr>
          <p:cNvPr id="404" name="Line 117"/>
          <p:cNvSpPr/>
          <p:nvPr/>
        </p:nvSpPr>
        <p:spPr>
          <a:xfrm>
            <a:off x="6350794" y="4865750"/>
            <a:ext cx="0" cy="365125"/>
          </a:xfrm>
          <a:prstGeom prst="line">
            <a:avLst/>
          </a:prstGeom>
          <a:ln w="9525" cap="flat" cmpd="sng">
            <a:solidFill>
              <a:srgbClr val="FF0066"/>
            </a:solidFill>
            <a:prstDash val="solid"/>
            <a:round/>
            <a:headEnd type="none" w="med" len="med"/>
            <a:tailEnd type="triangle" w="med" len="med"/>
          </a:ln>
        </p:spPr>
      </p:sp>
      <p:sp>
        <p:nvSpPr>
          <p:cNvPr id="405" name="Line 118"/>
          <p:cNvSpPr/>
          <p:nvPr/>
        </p:nvSpPr>
        <p:spPr>
          <a:xfrm>
            <a:off x="6630194" y="4865750"/>
            <a:ext cx="0" cy="365125"/>
          </a:xfrm>
          <a:prstGeom prst="line">
            <a:avLst/>
          </a:prstGeom>
          <a:ln w="9525" cap="flat" cmpd="sng">
            <a:solidFill>
              <a:srgbClr val="FF0066"/>
            </a:solidFill>
            <a:prstDash val="solid"/>
            <a:round/>
            <a:headEnd type="none" w="med" len="med"/>
            <a:tailEnd type="triangle" w="med" len="med"/>
          </a:ln>
        </p:spPr>
      </p:sp>
      <p:sp>
        <p:nvSpPr>
          <p:cNvPr id="406" name="Line 119"/>
          <p:cNvSpPr/>
          <p:nvPr/>
        </p:nvSpPr>
        <p:spPr>
          <a:xfrm>
            <a:off x="7304882" y="4851463"/>
            <a:ext cx="377825" cy="0"/>
          </a:xfrm>
          <a:prstGeom prst="line">
            <a:avLst/>
          </a:prstGeom>
          <a:ln w="9525" cap="flat" cmpd="sng">
            <a:solidFill>
              <a:srgbClr val="FF0066"/>
            </a:solidFill>
            <a:prstDash val="solid"/>
            <a:round/>
            <a:headEnd type="none" w="med" len="med"/>
            <a:tailEnd type="triangle" w="med" len="med"/>
          </a:ln>
        </p:spPr>
      </p:sp>
      <p:sp>
        <p:nvSpPr>
          <p:cNvPr id="407" name="Line 120"/>
          <p:cNvSpPr/>
          <p:nvPr/>
        </p:nvSpPr>
        <p:spPr>
          <a:xfrm>
            <a:off x="7862094" y="4865750"/>
            <a:ext cx="0" cy="365125"/>
          </a:xfrm>
          <a:prstGeom prst="line">
            <a:avLst/>
          </a:prstGeom>
          <a:ln w="9525" cap="flat" cmpd="sng">
            <a:solidFill>
              <a:srgbClr val="FF0066"/>
            </a:solidFill>
            <a:prstDash val="solid"/>
            <a:round/>
            <a:headEnd type="none" w="med" len="med"/>
            <a:tailEnd type="triangle" w="med" len="med"/>
          </a:ln>
        </p:spPr>
      </p:sp>
      <p:sp>
        <p:nvSpPr>
          <p:cNvPr id="408" name="Line 121"/>
          <p:cNvSpPr/>
          <p:nvPr/>
        </p:nvSpPr>
        <p:spPr>
          <a:xfrm>
            <a:off x="8141494" y="4865750"/>
            <a:ext cx="0" cy="365125"/>
          </a:xfrm>
          <a:prstGeom prst="line">
            <a:avLst/>
          </a:prstGeom>
          <a:ln w="9525" cap="flat" cmpd="sng">
            <a:solidFill>
              <a:srgbClr val="FF0066"/>
            </a:solidFill>
            <a:prstDash val="solid"/>
            <a:round/>
            <a:headEnd type="none" w="med" len="med"/>
            <a:tailEnd type="triangle" w="med" len="med"/>
          </a:ln>
        </p:spPr>
      </p:sp>
      <p:sp>
        <p:nvSpPr>
          <p:cNvPr id="409" name="Line 122"/>
          <p:cNvSpPr/>
          <p:nvPr/>
        </p:nvSpPr>
        <p:spPr>
          <a:xfrm>
            <a:off x="8458994" y="4865750"/>
            <a:ext cx="0" cy="365125"/>
          </a:xfrm>
          <a:prstGeom prst="line">
            <a:avLst/>
          </a:prstGeom>
          <a:ln w="9525" cap="flat" cmpd="sng">
            <a:solidFill>
              <a:srgbClr val="FF0066"/>
            </a:solidFill>
            <a:prstDash val="solid"/>
            <a:round/>
            <a:headEnd type="none" w="med" len="med"/>
            <a:tailEnd type="triangle" w="med" len="med"/>
          </a:ln>
        </p:spPr>
      </p:sp>
      <p:sp>
        <p:nvSpPr>
          <p:cNvPr id="410" name="Line 123"/>
          <p:cNvSpPr/>
          <p:nvPr/>
        </p:nvSpPr>
        <p:spPr>
          <a:xfrm>
            <a:off x="8816182" y="4851463"/>
            <a:ext cx="377825" cy="0"/>
          </a:xfrm>
          <a:prstGeom prst="line">
            <a:avLst/>
          </a:prstGeom>
          <a:ln w="9525" cap="flat" cmpd="sng">
            <a:solidFill>
              <a:srgbClr val="FF0066"/>
            </a:solidFill>
            <a:prstDash val="solid"/>
            <a:round/>
            <a:headEnd type="none" w="med" len="med"/>
            <a:tailEnd type="triangle" w="med" len="med"/>
          </a:ln>
        </p:spPr>
      </p:sp>
      <p:sp>
        <p:nvSpPr>
          <p:cNvPr id="411" name="Line 124"/>
          <p:cNvSpPr/>
          <p:nvPr/>
        </p:nvSpPr>
        <p:spPr>
          <a:xfrm>
            <a:off x="9335294" y="4853050"/>
            <a:ext cx="0" cy="365125"/>
          </a:xfrm>
          <a:prstGeom prst="line">
            <a:avLst/>
          </a:prstGeom>
          <a:ln w="9525" cap="flat" cmpd="sng">
            <a:solidFill>
              <a:srgbClr val="FF0066"/>
            </a:solidFill>
            <a:prstDash val="solid"/>
            <a:round/>
            <a:headEnd type="none" w="med" len="med"/>
            <a:tailEnd type="triangle" w="med" len="med"/>
          </a:ln>
        </p:spPr>
      </p:sp>
      <p:sp>
        <p:nvSpPr>
          <p:cNvPr id="412" name="Line 125"/>
          <p:cNvSpPr/>
          <p:nvPr/>
        </p:nvSpPr>
        <p:spPr>
          <a:xfrm>
            <a:off x="9614694" y="4853050"/>
            <a:ext cx="0" cy="365125"/>
          </a:xfrm>
          <a:prstGeom prst="line">
            <a:avLst/>
          </a:prstGeom>
          <a:ln w="9525" cap="flat" cmpd="sng">
            <a:solidFill>
              <a:srgbClr val="FF0066"/>
            </a:solidFill>
            <a:prstDash val="solid"/>
            <a:round/>
            <a:headEnd type="none" w="med" len="med"/>
            <a:tailEnd type="triangle" w="med" len="med"/>
          </a:ln>
        </p:spPr>
      </p:sp>
      <p:sp>
        <p:nvSpPr>
          <p:cNvPr id="414" name="Text Box 130"/>
          <p:cNvSpPr txBox="1"/>
          <p:nvPr/>
        </p:nvSpPr>
        <p:spPr>
          <a:xfrm>
            <a:off x="2539207" y="4294250"/>
            <a:ext cx="542925" cy="396875"/>
          </a:xfrm>
          <a:prstGeom prst="rect">
            <a:avLst/>
          </a:prstGeom>
          <a:noFill/>
          <a:ln w="9525">
            <a:noFill/>
          </a:ln>
        </p:spPr>
        <p:txBody>
          <a:bodyPr anchor="t">
            <a:spAutoFit/>
          </a:bodyPr>
          <a:lstStyle/>
          <a:p>
            <a:pPr algn="ctr"/>
            <a:r>
              <a:rPr lang="en-US" altLang="zh-CN" dirty="0">
                <a:solidFill>
                  <a:schemeClr val="accent2"/>
                </a:solidFill>
                <a:latin typeface="Arial" panose="020B0604020202020204" pitchFamily="34" charset="0"/>
                <a:ea typeface="楷体_GB2312" pitchFamily="49" charset="-122"/>
              </a:rPr>
              <a:t>5</a:t>
            </a:r>
            <a:endParaRPr lang="en-US" altLang="zh-CN" dirty="0">
              <a:solidFill>
                <a:schemeClr val="accent2"/>
              </a:solidFill>
              <a:latin typeface="Arial" panose="020B0604020202020204" pitchFamily="34" charset="0"/>
              <a:ea typeface="楷体_GB2312" pitchFamily="49" charset="-122"/>
            </a:endParaRPr>
          </a:p>
        </p:txBody>
      </p:sp>
      <p:sp>
        <p:nvSpPr>
          <p:cNvPr id="512" name="Line 131"/>
          <p:cNvSpPr/>
          <p:nvPr/>
        </p:nvSpPr>
        <p:spPr>
          <a:xfrm>
            <a:off x="2543969" y="4867338"/>
            <a:ext cx="0" cy="365125"/>
          </a:xfrm>
          <a:prstGeom prst="line">
            <a:avLst/>
          </a:prstGeom>
          <a:ln w="9525" cap="flat" cmpd="sng">
            <a:solidFill>
              <a:srgbClr val="FF0066"/>
            </a:solidFill>
            <a:prstDash val="solid"/>
            <a:round/>
            <a:headEnd type="none" w="med" len="med"/>
            <a:tailEnd type="triangle" w="med" len="med"/>
          </a:ln>
        </p:spPr>
      </p:sp>
      <p:sp>
        <p:nvSpPr>
          <p:cNvPr id="513" name="Line 132"/>
          <p:cNvSpPr/>
          <p:nvPr/>
        </p:nvSpPr>
        <p:spPr>
          <a:xfrm>
            <a:off x="2961482" y="4749863"/>
            <a:ext cx="1766887" cy="0"/>
          </a:xfrm>
          <a:prstGeom prst="line">
            <a:avLst/>
          </a:prstGeom>
          <a:ln w="38100" cap="flat" cmpd="sng">
            <a:solidFill>
              <a:schemeClr val="accent2"/>
            </a:solidFill>
            <a:prstDash val="solid"/>
            <a:round/>
            <a:headEnd type="none" w="med" len="med"/>
            <a:tailEnd type="triangle" w="med" len="med"/>
          </a:ln>
        </p:spPr>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7">
                                            <p:txEl>
                                              <p:pRg st="0" end="0"/>
                                            </p:txEl>
                                          </p:spTgt>
                                        </p:tgtEl>
                                        <p:attrNameLst>
                                          <p:attrName>style.visibility</p:attrName>
                                        </p:attrNameLst>
                                      </p:cBhvr>
                                      <p:to>
                                        <p:strVal val="visible"/>
                                      </p:to>
                                    </p:set>
                                    <p:anim calcmode="lin" valueType="num">
                                      <p:cBhvr additive="base">
                                        <p:cTn id="7" dur="500" fill="hold"/>
                                        <p:tgtEl>
                                          <p:spTgt spid="47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77">
                                            <p:txEl>
                                              <p:pRg st="1" end="1"/>
                                            </p:txEl>
                                          </p:spTgt>
                                        </p:tgtEl>
                                        <p:attrNameLst>
                                          <p:attrName>style.visibility</p:attrName>
                                        </p:attrNameLst>
                                      </p:cBhvr>
                                      <p:to>
                                        <p:strVal val="visible"/>
                                      </p:to>
                                    </p:set>
                                    <p:anim calcmode="lin" valueType="num">
                                      <p:cBhvr additive="base">
                                        <p:cTn id="13" dur="500" fill="hold"/>
                                        <p:tgtEl>
                                          <p:spTgt spid="47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xit" presetSubtype="16" fill="hold" grpId="0" nodeType="clickEffect">
                                  <p:stCondLst>
                                    <p:cond delay="0"/>
                                  </p:stCondLst>
                                  <p:childTnLst>
                                    <p:animEffect transition="out" filter="box(in)">
                                      <p:cBhvr>
                                        <p:cTn id="18" dur="500"/>
                                        <p:tgtEl>
                                          <p:spTgt spid="304"/>
                                        </p:tgtEl>
                                      </p:cBhvr>
                                    </p:animEffect>
                                    <p:set>
                                      <p:cBhvr>
                                        <p:cTn id="19" dur="1" fill="hold">
                                          <p:stCondLst>
                                            <p:cond delay="499"/>
                                          </p:stCondLst>
                                        </p:cTn>
                                        <p:tgtEl>
                                          <p:spTgt spid="304"/>
                                        </p:tgtEl>
                                        <p:attrNameLst>
                                          <p:attrName>style.visibility</p:attrName>
                                        </p:attrNameLst>
                                      </p:cBhvr>
                                      <p:to>
                                        <p:strVal val="hidden"/>
                                      </p:to>
                                    </p:set>
                                  </p:childTnLst>
                                </p:cTn>
                              </p:par>
                              <p:par>
                                <p:cTn id="20" presetID="4" presetClass="exit" presetSubtype="16" fill="hold" nodeType="withEffect">
                                  <p:stCondLst>
                                    <p:cond delay="0"/>
                                  </p:stCondLst>
                                  <p:childTnLst>
                                    <p:animEffect transition="out" filter="box(in)">
                                      <p:cBhvr>
                                        <p:cTn id="21" dur="500"/>
                                        <p:tgtEl>
                                          <p:spTgt spid="398"/>
                                        </p:tgtEl>
                                      </p:cBhvr>
                                    </p:animEffect>
                                    <p:set>
                                      <p:cBhvr>
                                        <p:cTn id="22" dur="1" fill="hold">
                                          <p:stCondLst>
                                            <p:cond delay="499"/>
                                          </p:stCondLst>
                                        </p:cTn>
                                        <p:tgtEl>
                                          <p:spTgt spid="39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4" presetClass="exit" presetSubtype="16" fill="hold" grpId="0" nodeType="clickEffect">
                                  <p:stCondLst>
                                    <p:cond delay="0"/>
                                  </p:stCondLst>
                                  <p:childTnLst>
                                    <p:animEffect transition="out" filter="box(in)">
                                      <p:cBhvr>
                                        <p:cTn id="26" dur="500"/>
                                        <p:tgtEl>
                                          <p:spTgt spid="303"/>
                                        </p:tgtEl>
                                      </p:cBhvr>
                                    </p:animEffect>
                                    <p:set>
                                      <p:cBhvr>
                                        <p:cTn id="27" dur="1" fill="hold">
                                          <p:stCondLst>
                                            <p:cond delay="499"/>
                                          </p:stCondLst>
                                        </p:cTn>
                                        <p:tgtEl>
                                          <p:spTgt spid="303"/>
                                        </p:tgtEl>
                                        <p:attrNameLst>
                                          <p:attrName>style.visibility</p:attrName>
                                        </p:attrNameLst>
                                      </p:cBhvr>
                                      <p:to>
                                        <p:strVal val="hidden"/>
                                      </p:to>
                                    </p:set>
                                  </p:childTnLst>
                                </p:cTn>
                              </p:par>
                              <p:par>
                                <p:cTn id="28" presetID="4" presetClass="exit" presetSubtype="16" fill="hold" nodeType="withEffect">
                                  <p:stCondLst>
                                    <p:cond delay="0"/>
                                  </p:stCondLst>
                                  <p:childTnLst>
                                    <p:animEffect transition="out" filter="box(in)">
                                      <p:cBhvr>
                                        <p:cTn id="29" dur="500"/>
                                        <p:tgtEl>
                                          <p:spTgt spid="397"/>
                                        </p:tgtEl>
                                      </p:cBhvr>
                                    </p:animEffect>
                                    <p:set>
                                      <p:cBhvr>
                                        <p:cTn id="30" dur="1" fill="hold">
                                          <p:stCondLst>
                                            <p:cond delay="499"/>
                                          </p:stCondLst>
                                        </p:cTn>
                                        <p:tgtEl>
                                          <p:spTgt spid="397"/>
                                        </p:tgtEl>
                                        <p:attrNameLst>
                                          <p:attrName>style.visibility</p:attrName>
                                        </p:attrNameLst>
                                      </p:cBhvr>
                                      <p:to>
                                        <p:strVal val="hidden"/>
                                      </p:to>
                                    </p:set>
                                  </p:childTnLst>
                                </p:cTn>
                              </p:par>
                              <p:par>
                                <p:cTn id="31" presetID="4" presetClass="entr" presetSubtype="16" fill="hold" nodeType="withEffect">
                                  <p:stCondLst>
                                    <p:cond delay="0"/>
                                  </p:stCondLst>
                                  <p:childTnLst>
                                    <p:set>
                                      <p:cBhvr>
                                        <p:cTn id="32" dur="1" fill="hold">
                                          <p:stCondLst>
                                            <p:cond delay="0"/>
                                          </p:stCondLst>
                                        </p:cTn>
                                        <p:tgtEl>
                                          <p:spTgt spid="512"/>
                                        </p:tgtEl>
                                        <p:attrNameLst>
                                          <p:attrName>style.visibility</p:attrName>
                                        </p:attrNameLst>
                                      </p:cBhvr>
                                      <p:to>
                                        <p:strVal val="visible"/>
                                      </p:to>
                                    </p:set>
                                    <p:animEffect transition="in" filter="box(in)">
                                      <p:cBhvr>
                                        <p:cTn id="33" dur="500"/>
                                        <p:tgtEl>
                                          <p:spTgt spid="512"/>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414"/>
                                        </p:tgtEl>
                                        <p:attrNameLst>
                                          <p:attrName>style.visibility</p:attrName>
                                        </p:attrNameLst>
                                      </p:cBhvr>
                                      <p:to>
                                        <p:strVal val="visible"/>
                                      </p:to>
                                    </p:set>
                                    <p:animEffect transition="in" filter="box(in)">
                                      <p:cBhvr>
                                        <p:cTn id="36" dur="500"/>
                                        <p:tgtEl>
                                          <p:spTgt spid="414"/>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xit" presetSubtype="16" fill="hold" nodeType="clickEffect">
                                  <p:stCondLst>
                                    <p:cond delay="0"/>
                                  </p:stCondLst>
                                  <p:childTnLst>
                                    <p:animEffect transition="out" filter="box(in)">
                                      <p:cBhvr>
                                        <p:cTn id="40" dur="500"/>
                                        <p:tgtEl>
                                          <p:spTgt spid="511"/>
                                        </p:tgtEl>
                                      </p:cBhvr>
                                    </p:animEffect>
                                    <p:set>
                                      <p:cBhvr>
                                        <p:cTn id="41" dur="1" fill="hold">
                                          <p:stCondLst>
                                            <p:cond delay="499"/>
                                          </p:stCondLst>
                                        </p:cTn>
                                        <p:tgtEl>
                                          <p:spTgt spid="511"/>
                                        </p:tgtEl>
                                        <p:attrNameLst>
                                          <p:attrName>style.visibility</p:attrName>
                                        </p:attrNameLst>
                                      </p:cBhvr>
                                      <p:to>
                                        <p:strVal val="hidden"/>
                                      </p:to>
                                    </p:set>
                                  </p:childTnLst>
                                </p:cTn>
                              </p:par>
                              <p:par>
                                <p:cTn id="42" presetID="4" presetClass="exit" presetSubtype="16" fill="hold" nodeType="withEffect">
                                  <p:stCondLst>
                                    <p:cond delay="0"/>
                                  </p:stCondLst>
                                  <p:childTnLst>
                                    <p:animEffect transition="out" filter="box(in)">
                                      <p:cBhvr>
                                        <p:cTn id="43" dur="500"/>
                                        <p:tgtEl>
                                          <p:spTgt spid="399"/>
                                        </p:tgtEl>
                                      </p:cBhvr>
                                    </p:animEffect>
                                    <p:set>
                                      <p:cBhvr>
                                        <p:cTn id="44" dur="1" fill="hold">
                                          <p:stCondLst>
                                            <p:cond delay="499"/>
                                          </p:stCondLst>
                                        </p:cTn>
                                        <p:tgtEl>
                                          <p:spTgt spid="399"/>
                                        </p:tgtEl>
                                        <p:attrNameLst>
                                          <p:attrName>style.visibility</p:attrName>
                                        </p:attrNameLst>
                                      </p:cBhvr>
                                      <p:to>
                                        <p:strVal val="hidden"/>
                                      </p:to>
                                    </p:set>
                                  </p:childTnLst>
                                </p:cTn>
                              </p:par>
                              <p:par>
                                <p:cTn id="45" presetID="4" presetClass="exit" presetSubtype="16" fill="hold" nodeType="withEffect">
                                  <p:stCondLst>
                                    <p:cond delay="0"/>
                                  </p:stCondLst>
                                  <p:childTnLst>
                                    <p:animEffect transition="out" filter="box(in)">
                                      <p:cBhvr>
                                        <p:cTn id="46" dur="500"/>
                                        <p:tgtEl>
                                          <p:spTgt spid="396"/>
                                        </p:tgtEl>
                                      </p:cBhvr>
                                    </p:animEffect>
                                    <p:set>
                                      <p:cBhvr>
                                        <p:cTn id="47" dur="1" fill="hold">
                                          <p:stCondLst>
                                            <p:cond delay="499"/>
                                          </p:stCondLst>
                                        </p:cTn>
                                        <p:tgtEl>
                                          <p:spTgt spid="396"/>
                                        </p:tgtEl>
                                        <p:attrNameLst>
                                          <p:attrName>style.visibility</p:attrName>
                                        </p:attrNameLst>
                                      </p:cBhvr>
                                      <p:to>
                                        <p:strVal val="hidden"/>
                                      </p:to>
                                    </p:set>
                                  </p:childTnLst>
                                </p:cTn>
                              </p:par>
                              <p:par>
                                <p:cTn id="48" presetID="4" presetClass="entr" presetSubtype="16" fill="hold" nodeType="withEffect">
                                  <p:stCondLst>
                                    <p:cond delay="0"/>
                                  </p:stCondLst>
                                  <p:childTnLst>
                                    <p:set>
                                      <p:cBhvr>
                                        <p:cTn id="49" dur="1" fill="hold">
                                          <p:stCondLst>
                                            <p:cond delay="0"/>
                                          </p:stCondLst>
                                        </p:cTn>
                                        <p:tgtEl>
                                          <p:spTgt spid="513"/>
                                        </p:tgtEl>
                                        <p:attrNameLst>
                                          <p:attrName>style.visibility</p:attrName>
                                        </p:attrNameLst>
                                      </p:cBhvr>
                                      <p:to>
                                        <p:strVal val="visible"/>
                                      </p:to>
                                    </p:set>
                                    <p:animEffect transition="in" filter="box(in)">
                                      <p:cBhvr>
                                        <p:cTn id="50" dur="500"/>
                                        <p:tgtEl>
                                          <p:spTgt spid="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P spid="304" grpId="0"/>
      <p:bldP spid="41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删除过程与合并过程示意</a:t>
            </a:r>
            <a:endParaRPr lang="en-US" altLang="zh-CN"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删除键值为</a:t>
            </a:r>
            <a:r>
              <a:rPr lang="en-US" altLang="zh-CN" sz="2000" b="0" dirty="0">
                <a:latin typeface="微软雅黑" panose="020B0503020204020204" pitchFamily="34" charset="-122"/>
                <a:ea typeface="微软雅黑" panose="020B0503020204020204" pitchFamily="34" charset="-122"/>
              </a:rPr>
              <a:t>11</a:t>
            </a:r>
            <a:r>
              <a:rPr lang="zh-CN" altLang="en-US" sz="2000" b="0" dirty="0">
                <a:latin typeface="微软雅黑" panose="020B0503020204020204" pitchFamily="34" charset="-122"/>
                <a:ea typeface="微软雅黑" panose="020B0503020204020204" pitchFamily="34" charset="-122"/>
              </a:rPr>
              <a:t>的记录</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进行中</a:t>
            </a:r>
            <a:endParaRPr lang="en-US" altLang="zh-CN" sz="2000" b="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删除与结点合并过程示意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2" name="Group 2"/>
          <p:cNvGrpSpPr/>
          <p:nvPr/>
        </p:nvGrpSpPr>
        <p:grpSpPr>
          <a:xfrm>
            <a:off x="4738688" y="1920875"/>
            <a:ext cx="1238250" cy="695325"/>
            <a:chOff x="856" y="1440"/>
            <a:chExt cx="1291" cy="667"/>
          </a:xfrm>
        </p:grpSpPr>
        <p:sp>
          <p:nvSpPr>
            <p:cNvPr id="4" name="Rectangle 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7" name="Line 4"/>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8" name="Line 5"/>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9" name="Line 6"/>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0" name="Line 7"/>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11" name="Line 8"/>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12" name="Line 9"/>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13" name="Text Box 10"/>
          <p:cNvSpPr txBox="1"/>
          <p:nvPr/>
        </p:nvSpPr>
        <p:spPr>
          <a:xfrm>
            <a:off x="4667250" y="1897063"/>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14" name="Group 11"/>
          <p:cNvGrpSpPr/>
          <p:nvPr/>
        </p:nvGrpSpPr>
        <p:grpSpPr>
          <a:xfrm>
            <a:off x="3425825" y="3082925"/>
            <a:ext cx="1238250" cy="695325"/>
            <a:chOff x="856" y="1440"/>
            <a:chExt cx="1291" cy="667"/>
          </a:xfrm>
        </p:grpSpPr>
        <p:sp>
          <p:nvSpPr>
            <p:cNvPr id="15" name="Rectangle 1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6" name="Line 1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17" name="Line 1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18" name="Line 1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19" name="Line 1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0" name="Line 1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1" name="Line 1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22" name="Group 19"/>
          <p:cNvGrpSpPr/>
          <p:nvPr/>
        </p:nvGrpSpPr>
        <p:grpSpPr>
          <a:xfrm>
            <a:off x="6973888" y="3082925"/>
            <a:ext cx="1238250" cy="695325"/>
            <a:chOff x="856" y="1440"/>
            <a:chExt cx="1291" cy="667"/>
          </a:xfrm>
        </p:grpSpPr>
        <p:sp>
          <p:nvSpPr>
            <p:cNvPr id="23" name="Rectangle 2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24" name="Line 2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25" name="Line 2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26" name="Line 2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27" name="Line 2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28" name="Line 2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9" name="Line 2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0" name="Group 27"/>
          <p:cNvGrpSpPr/>
          <p:nvPr/>
        </p:nvGrpSpPr>
        <p:grpSpPr>
          <a:xfrm>
            <a:off x="1781175" y="4359275"/>
            <a:ext cx="1238250" cy="695325"/>
            <a:chOff x="856" y="1440"/>
            <a:chExt cx="1291" cy="667"/>
          </a:xfrm>
        </p:grpSpPr>
        <p:sp>
          <p:nvSpPr>
            <p:cNvPr id="31" name="Rectangle 2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33" name="Line 2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34" name="Line 3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35" name="Line 3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36" name="Line 3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37" name="Line 3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38" name="Line 3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39" name="Group 35"/>
          <p:cNvGrpSpPr/>
          <p:nvPr/>
        </p:nvGrpSpPr>
        <p:grpSpPr>
          <a:xfrm>
            <a:off x="4738688" y="4359275"/>
            <a:ext cx="1238250" cy="695325"/>
            <a:chOff x="856" y="1440"/>
            <a:chExt cx="1291" cy="667"/>
          </a:xfrm>
        </p:grpSpPr>
        <p:sp>
          <p:nvSpPr>
            <p:cNvPr id="40" name="Rectangle 3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1" name="Line 3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2" name="Line 3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3" name="Line 3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4" name="Line 4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5" name="Line 4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6" name="Line 4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47" name="Group 43"/>
          <p:cNvGrpSpPr/>
          <p:nvPr/>
        </p:nvGrpSpPr>
        <p:grpSpPr>
          <a:xfrm>
            <a:off x="6224588" y="4359275"/>
            <a:ext cx="1238250" cy="695325"/>
            <a:chOff x="856" y="1440"/>
            <a:chExt cx="1291" cy="667"/>
          </a:xfrm>
        </p:grpSpPr>
        <p:sp>
          <p:nvSpPr>
            <p:cNvPr id="48" name="Rectangle 4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9" name="Line 4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0" name="Line 4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1" name="Line 4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2" name="Line 4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3" name="Line 4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4" name="Line 5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5" name="Group 51"/>
          <p:cNvGrpSpPr/>
          <p:nvPr/>
        </p:nvGrpSpPr>
        <p:grpSpPr>
          <a:xfrm>
            <a:off x="7710488" y="4359275"/>
            <a:ext cx="1238250" cy="695325"/>
            <a:chOff x="856" y="1440"/>
            <a:chExt cx="1291" cy="667"/>
          </a:xfrm>
        </p:grpSpPr>
        <p:sp>
          <p:nvSpPr>
            <p:cNvPr id="56" name="Rectangle 5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7" name="Line 5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8" name="Line 5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9" name="Line 5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60" name="Line 5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61" name="Line 5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62" name="Line 5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63" name="Group 59"/>
          <p:cNvGrpSpPr/>
          <p:nvPr/>
        </p:nvGrpSpPr>
        <p:grpSpPr>
          <a:xfrm>
            <a:off x="9197975" y="4359275"/>
            <a:ext cx="1238250" cy="695325"/>
            <a:chOff x="856" y="1440"/>
            <a:chExt cx="1291" cy="667"/>
          </a:xfrm>
        </p:grpSpPr>
        <p:sp>
          <p:nvSpPr>
            <p:cNvPr id="448" name="Rectangle 6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449" name="Line 6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450" name="Line 6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451" name="Line 6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452" name="Line 6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453" name="Line 6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454" name="Line 6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455" name="Text Box 68"/>
          <p:cNvSpPr txBox="1"/>
          <p:nvPr/>
        </p:nvSpPr>
        <p:spPr>
          <a:xfrm>
            <a:off x="1728788" y="43307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456" name="Text Box 69"/>
          <p:cNvSpPr txBox="1"/>
          <p:nvPr/>
        </p:nvSpPr>
        <p:spPr>
          <a:xfrm>
            <a:off x="2109788" y="43307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457" name="Text Box 70"/>
          <p:cNvSpPr txBox="1"/>
          <p:nvPr/>
        </p:nvSpPr>
        <p:spPr>
          <a:xfrm>
            <a:off x="4662488" y="4349750"/>
            <a:ext cx="542925" cy="396875"/>
          </a:xfrm>
          <a:prstGeom prst="rect">
            <a:avLst/>
          </a:prstGeom>
          <a:noFill/>
          <a:ln w="9525">
            <a:noFill/>
          </a:ln>
        </p:spPr>
        <p:txBody>
          <a:bodyPr anchor="t">
            <a:spAutoFit/>
          </a:bodyPr>
          <a:lstStyle/>
          <a:p>
            <a:pPr algn="ctr"/>
            <a:r>
              <a:rPr lang="en-US" altLang="zh-CN" dirty="0">
                <a:solidFill>
                  <a:schemeClr val="accent2"/>
                </a:solidFill>
                <a:latin typeface="Arial" panose="020B0604020202020204" pitchFamily="34" charset="0"/>
                <a:ea typeface="楷体_GB2312" pitchFamily="49" charset="-122"/>
              </a:rPr>
              <a:t>13</a:t>
            </a:r>
            <a:endParaRPr lang="en-US" altLang="zh-CN" dirty="0">
              <a:solidFill>
                <a:schemeClr val="accent2"/>
              </a:solidFill>
              <a:latin typeface="Arial" panose="020B0604020202020204" pitchFamily="34" charset="0"/>
              <a:ea typeface="楷体_GB2312" pitchFamily="49" charset="-122"/>
            </a:endParaRPr>
          </a:p>
        </p:txBody>
      </p:sp>
      <p:sp>
        <p:nvSpPr>
          <p:cNvPr id="458" name="Text Box 71"/>
          <p:cNvSpPr txBox="1"/>
          <p:nvPr/>
        </p:nvSpPr>
        <p:spPr>
          <a:xfrm>
            <a:off x="5081588" y="43497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459" name="Text Box 72"/>
          <p:cNvSpPr txBox="1"/>
          <p:nvPr/>
        </p:nvSpPr>
        <p:spPr>
          <a:xfrm>
            <a:off x="5541963" y="4349750"/>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460" name="Text Box 73"/>
          <p:cNvSpPr txBox="1"/>
          <p:nvPr/>
        </p:nvSpPr>
        <p:spPr>
          <a:xfrm>
            <a:off x="6161088" y="43370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461" name="Text Box 74"/>
          <p:cNvSpPr txBox="1"/>
          <p:nvPr/>
        </p:nvSpPr>
        <p:spPr>
          <a:xfrm>
            <a:off x="6580188" y="433705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462" name="Text Box 75"/>
          <p:cNvSpPr txBox="1"/>
          <p:nvPr/>
        </p:nvSpPr>
        <p:spPr>
          <a:xfrm>
            <a:off x="7673975" y="43434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463" name="Text Box 76"/>
          <p:cNvSpPr txBox="1"/>
          <p:nvPr/>
        </p:nvSpPr>
        <p:spPr>
          <a:xfrm>
            <a:off x="8093075" y="43434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464" name="Text Box 77"/>
          <p:cNvSpPr txBox="1"/>
          <p:nvPr/>
        </p:nvSpPr>
        <p:spPr>
          <a:xfrm>
            <a:off x="8553450" y="4343400"/>
            <a:ext cx="439738"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465" name="Text Box 78"/>
          <p:cNvSpPr txBox="1"/>
          <p:nvPr/>
        </p:nvSpPr>
        <p:spPr>
          <a:xfrm>
            <a:off x="9137650" y="43434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466" name="Text Box 79"/>
          <p:cNvSpPr txBox="1"/>
          <p:nvPr/>
        </p:nvSpPr>
        <p:spPr>
          <a:xfrm>
            <a:off x="9556750" y="4343400"/>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467" name="Text Box 80"/>
          <p:cNvSpPr txBox="1"/>
          <p:nvPr/>
        </p:nvSpPr>
        <p:spPr>
          <a:xfrm>
            <a:off x="6918325" y="305593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468" name="Text Box 81"/>
          <p:cNvSpPr txBox="1"/>
          <p:nvPr/>
        </p:nvSpPr>
        <p:spPr>
          <a:xfrm>
            <a:off x="7324725" y="3055938"/>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469" name="Text Box 82"/>
          <p:cNvSpPr txBox="1"/>
          <p:nvPr/>
        </p:nvSpPr>
        <p:spPr>
          <a:xfrm>
            <a:off x="7785100" y="3055938"/>
            <a:ext cx="439738"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470" name="Line 83"/>
          <p:cNvSpPr/>
          <p:nvPr/>
        </p:nvSpPr>
        <p:spPr>
          <a:xfrm>
            <a:off x="8113713" y="3648075"/>
            <a:ext cx="1371600" cy="701675"/>
          </a:xfrm>
          <a:prstGeom prst="line">
            <a:avLst/>
          </a:prstGeom>
          <a:ln w="9525" cap="flat" cmpd="sng">
            <a:solidFill>
              <a:srgbClr val="FF0066"/>
            </a:solidFill>
            <a:prstDash val="solid"/>
            <a:round/>
            <a:headEnd type="none" w="med" len="med"/>
            <a:tailEnd type="triangle" w="med" len="med"/>
          </a:ln>
        </p:spPr>
      </p:sp>
      <p:sp>
        <p:nvSpPr>
          <p:cNvPr id="471" name="Line 84"/>
          <p:cNvSpPr/>
          <p:nvPr/>
        </p:nvSpPr>
        <p:spPr>
          <a:xfrm>
            <a:off x="7747000" y="3638550"/>
            <a:ext cx="274638" cy="730250"/>
          </a:xfrm>
          <a:prstGeom prst="line">
            <a:avLst/>
          </a:prstGeom>
          <a:ln w="9525" cap="flat" cmpd="sng">
            <a:solidFill>
              <a:srgbClr val="FF0066"/>
            </a:solidFill>
            <a:prstDash val="solid"/>
            <a:round/>
            <a:headEnd type="none" w="med" len="med"/>
            <a:tailEnd type="triangle" w="med" len="med"/>
          </a:ln>
        </p:spPr>
      </p:sp>
      <p:sp>
        <p:nvSpPr>
          <p:cNvPr id="472" name="Line 85"/>
          <p:cNvSpPr/>
          <p:nvPr/>
        </p:nvSpPr>
        <p:spPr>
          <a:xfrm flipH="1">
            <a:off x="6559550" y="3648075"/>
            <a:ext cx="887413" cy="701675"/>
          </a:xfrm>
          <a:prstGeom prst="line">
            <a:avLst/>
          </a:prstGeom>
          <a:ln w="9525" cap="flat" cmpd="sng">
            <a:solidFill>
              <a:srgbClr val="FF0066"/>
            </a:solidFill>
            <a:prstDash val="solid"/>
            <a:round/>
            <a:headEnd type="none" w="med" len="med"/>
            <a:tailEnd type="triangle" w="med" len="med"/>
          </a:ln>
        </p:spPr>
      </p:sp>
      <p:sp>
        <p:nvSpPr>
          <p:cNvPr id="473" name="Line 88"/>
          <p:cNvSpPr/>
          <p:nvPr/>
        </p:nvSpPr>
        <p:spPr>
          <a:xfrm flipH="1">
            <a:off x="2247900" y="3651250"/>
            <a:ext cx="1346200" cy="704850"/>
          </a:xfrm>
          <a:prstGeom prst="line">
            <a:avLst/>
          </a:prstGeom>
          <a:ln w="9525" cap="flat" cmpd="sng">
            <a:solidFill>
              <a:srgbClr val="FF0066"/>
            </a:solidFill>
            <a:prstDash val="solid"/>
            <a:round/>
            <a:headEnd type="none" w="med" len="med"/>
            <a:tailEnd type="triangle" w="med" len="med"/>
          </a:ln>
        </p:spPr>
      </p:sp>
      <p:grpSp>
        <p:nvGrpSpPr>
          <p:cNvPr id="474" name="Group 89"/>
          <p:cNvGrpSpPr/>
          <p:nvPr/>
        </p:nvGrpSpPr>
        <p:grpSpPr>
          <a:xfrm>
            <a:off x="3949700" y="2484438"/>
            <a:ext cx="3227388" cy="627062"/>
            <a:chOff x="1473" y="1700"/>
            <a:chExt cx="2033" cy="625"/>
          </a:xfrm>
        </p:grpSpPr>
        <p:sp>
          <p:nvSpPr>
            <p:cNvPr id="475" name="Line 90"/>
            <p:cNvSpPr/>
            <p:nvPr/>
          </p:nvSpPr>
          <p:spPr>
            <a:xfrm flipH="1">
              <a:off x="1473" y="1700"/>
              <a:ext cx="593" cy="625"/>
            </a:xfrm>
            <a:prstGeom prst="line">
              <a:avLst/>
            </a:prstGeom>
            <a:ln w="9525" cap="flat" cmpd="sng">
              <a:solidFill>
                <a:srgbClr val="FF0066"/>
              </a:solidFill>
              <a:prstDash val="solid"/>
              <a:round/>
              <a:headEnd type="none" w="med" len="med"/>
              <a:tailEnd type="triangle" w="med" len="med"/>
            </a:ln>
          </p:spPr>
        </p:sp>
        <p:sp>
          <p:nvSpPr>
            <p:cNvPr id="476" name="Line 91"/>
            <p:cNvSpPr/>
            <p:nvPr/>
          </p:nvSpPr>
          <p:spPr>
            <a:xfrm>
              <a:off x="2272" y="1716"/>
              <a:ext cx="1234" cy="601"/>
            </a:xfrm>
            <a:prstGeom prst="line">
              <a:avLst/>
            </a:prstGeom>
            <a:ln w="9525" cap="flat" cmpd="sng">
              <a:solidFill>
                <a:srgbClr val="FF0066"/>
              </a:solidFill>
              <a:prstDash val="solid"/>
              <a:round/>
              <a:headEnd type="none" w="med" len="med"/>
              <a:tailEnd type="triangle" w="med" len="med"/>
            </a:ln>
          </p:spPr>
        </p:sp>
      </p:grpSp>
      <p:sp>
        <p:nvSpPr>
          <p:cNvPr id="514" name="Line 92"/>
          <p:cNvSpPr/>
          <p:nvPr/>
        </p:nvSpPr>
        <p:spPr>
          <a:xfrm>
            <a:off x="1765300" y="3884613"/>
            <a:ext cx="8699500" cy="0"/>
          </a:xfrm>
          <a:prstGeom prst="line">
            <a:avLst/>
          </a:prstGeom>
          <a:ln w="9525" cap="flat" cmpd="sng">
            <a:solidFill>
              <a:srgbClr val="FF0066"/>
            </a:solidFill>
            <a:prstDash val="dash"/>
            <a:round/>
            <a:headEnd type="none" w="med" len="med"/>
            <a:tailEnd type="none" w="med" len="med"/>
          </a:ln>
        </p:spPr>
      </p:sp>
      <p:sp>
        <p:nvSpPr>
          <p:cNvPr id="515" name="Line 93"/>
          <p:cNvSpPr/>
          <p:nvPr/>
        </p:nvSpPr>
        <p:spPr>
          <a:xfrm>
            <a:off x="1920875" y="4918075"/>
            <a:ext cx="0" cy="365125"/>
          </a:xfrm>
          <a:prstGeom prst="line">
            <a:avLst/>
          </a:prstGeom>
          <a:ln w="9525" cap="flat" cmpd="sng">
            <a:solidFill>
              <a:srgbClr val="FF0066"/>
            </a:solidFill>
            <a:prstDash val="solid"/>
            <a:round/>
            <a:headEnd type="none" w="med" len="med"/>
            <a:tailEnd type="triangle" w="med" len="med"/>
          </a:ln>
        </p:spPr>
      </p:sp>
      <p:sp>
        <p:nvSpPr>
          <p:cNvPr id="516" name="Line 94"/>
          <p:cNvSpPr/>
          <p:nvPr/>
        </p:nvSpPr>
        <p:spPr>
          <a:xfrm>
            <a:off x="2200275" y="4918075"/>
            <a:ext cx="0" cy="365125"/>
          </a:xfrm>
          <a:prstGeom prst="line">
            <a:avLst/>
          </a:prstGeom>
          <a:ln w="9525" cap="flat" cmpd="sng">
            <a:solidFill>
              <a:srgbClr val="FF0066"/>
            </a:solidFill>
            <a:prstDash val="solid"/>
            <a:round/>
            <a:headEnd type="none" w="med" len="med"/>
            <a:tailEnd type="triangle" w="med" len="med"/>
          </a:ln>
        </p:spPr>
      </p:sp>
      <p:sp>
        <p:nvSpPr>
          <p:cNvPr id="517" name="Line 95"/>
          <p:cNvSpPr/>
          <p:nvPr/>
        </p:nvSpPr>
        <p:spPr>
          <a:xfrm>
            <a:off x="4892675" y="4918075"/>
            <a:ext cx="0" cy="365125"/>
          </a:xfrm>
          <a:prstGeom prst="line">
            <a:avLst/>
          </a:prstGeom>
          <a:ln w="9525" cap="flat" cmpd="sng">
            <a:solidFill>
              <a:srgbClr val="FF0066"/>
            </a:solidFill>
            <a:prstDash val="solid"/>
            <a:round/>
            <a:headEnd type="none" w="med" len="med"/>
            <a:tailEnd type="triangle" w="med" len="med"/>
          </a:ln>
        </p:spPr>
      </p:sp>
      <p:sp>
        <p:nvSpPr>
          <p:cNvPr id="518" name="Line 96"/>
          <p:cNvSpPr/>
          <p:nvPr/>
        </p:nvSpPr>
        <p:spPr>
          <a:xfrm>
            <a:off x="5184775" y="4918075"/>
            <a:ext cx="0" cy="365125"/>
          </a:xfrm>
          <a:prstGeom prst="line">
            <a:avLst/>
          </a:prstGeom>
          <a:ln w="9525" cap="flat" cmpd="sng">
            <a:solidFill>
              <a:srgbClr val="FF0066"/>
            </a:solidFill>
            <a:prstDash val="solid"/>
            <a:round/>
            <a:headEnd type="none" w="med" len="med"/>
            <a:tailEnd type="triangle" w="med" len="med"/>
          </a:ln>
        </p:spPr>
      </p:sp>
      <p:sp>
        <p:nvSpPr>
          <p:cNvPr id="519" name="Line 97"/>
          <p:cNvSpPr/>
          <p:nvPr/>
        </p:nvSpPr>
        <p:spPr>
          <a:xfrm>
            <a:off x="5489575" y="4918075"/>
            <a:ext cx="0" cy="365125"/>
          </a:xfrm>
          <a:prstGeom prst="line">
            <a:avLst/>
          </a:prstGeom>
          <a:ln w="9525" cap="flat" cmpd="sng">
            <a:solidFill>
              <a:srgbClr val="FF0066"/>
            </a:solidFill>
            <a:prstDash val="solid"/>
            <a:round/>
            <a:headEnd type="none" w="med" len="med"/>
            <a:tailEnd type="triangle" w="med" len="med"/>
          </a:ln>
        </p:spPr>
      </p:sp>
      <p:sp>
        <p:nvSpPr>
          <p:cNvPr id="520" name="Line 98"/>
          <p:cNvSpPr/>
          <p:nvPr/>
        </p:nvSpPr>
        <p:spPr>
          <a:xfrm>
            <a:off x="5846763" y="4903788"/>
            <a:ext cx="377825" cy="0"/>
          </a:xfrm>
          <a:prstGeom prst="line">
            <a:avLst/>
          </a:prstGeom>
          <a:ln w="9525" cap="flat" cmpd="sng">
            <a:solidFill>
              <a:srgbClr val="FF0066"/>
            </a:solidFill>
            <a:prstDash val="solid"/>
            <a:round/>
            <a:headEnd type="none" w="med" len="med"/>
            <a:tailEnd type="triangle" w="med" len="med"/>
          </a:ln>
        </p:spPr>
      </p:sp>
      <p:sp>
        <p:nvSpPr>
          <p:cNvPr id="521" name="Line 99"/>
          <p:cNvSpPr/>
          <p:nvPr/>
        </p:nvSpPr>
        <p:spPr>
          <a:xfrm>
            <a:off x="6365875" y="4918075"/>
            <a:ext cx="0" cy="365125"/>
          </a:xfrm>
          <a:prstGeom prst="line">
            <a:avLst/>
          </a:prstGeom>
          <a:ln w="9525" cap="flat" cmpd="sng">
            <a:solidFill>
              <a:srgbClr val="FF0066"/>
            </a:solidFill>
            <a:prstDash val="solid"/>
            <a:round/>
            <a:headEnd type="none" w="med" len="med"/>
            <a:tailEnd type="triangle" w="med" len="med"/>
          </a:ln>
        </p:spPr>
      </p:sp>
      <p:sp>
        <p:nvSpPr>
          <p:cNvPr id="522" name="Line 100"/>
          <p:cNvSpPr/>
          <p:nvPr/>
        </p:nvSpPr>
        <p:spPr>
          <a:xfrm>
            <a:off x="6645275" y="4918075"/>
            <a:ext cx="0" cy="365125"/>
          </a:xfrm>
          <a:prstGeom prst="line">
            <a:avLst/>
          </a:prstGeom>
          <a:ln w="9525" cap="flat" cmpd="sng">
            <a:solidFill>
              <a:srgbClr val="FF0066"/>
            </a:solidFill>
            <a:prstDash val="solid"/>
            <a:round/>
            <a:headEnd type="none" w="med" len="med"/>
            <a:tailEnd type="triangle" w="med" len="med"/>
          </a:ln>
        </p:spPr>
      </p:sp>
      <p:sp>
        <p:nvSpPr>
          <p:cNvPr id="523" name="Line 101"/>
          <p:cNvSpPr/>
          <p:nvPr/>
        </p:nvSpPr>
        <p:spPr>
          <a:xfrm>
            <a:off x="7319963" y="4903788"/>
            <a:ext cx="377825" cy="0"/>
          </a:xfrm>
          <a:prstGeom prst="line">
            <a:avLst/>
          </a:prstGeom>
          <a:ln w="9525" cap="flat" cmpd="sng">
            <a:solidFill>
              <a:srgbClr val="FF0066"/>
            </a:solidFill>
            <a:prstDash val="solid"/>
            <a:round/>
            <a:headEnd type="none" w="med" len="med"/>
            <a:tailEnd type="triangle" w="med" len="med"/>
          </a:ln>
        </p:spPr>
      </p:sp>
      <p:sp>
        <p:nvSpPr>
          <p:cNvPr id="524" name="Line 102"/>
          <p:cNvSpPr/>
          <p:nvPr/>
        </p:nvSpPr>
        <p:spPr>
          <a:xfrm>
            <a:off x="7877175" y="4918075"/>
            <a:ext cx="0" cy="365125"/>
          </a:xfrm>
          <a:prstGeom prst="line">
            <a:avLst/>
          </a:prstGeom>
          <a:ln w="9525" cap="flat" cmpd="sng">
            <a:solidFill>
              <a:srgbClr val="FF0066"/>
            </a:solidFill>
            <a:prstDash val="solid"/>
            <a:round/>
            <a:headEnd type="none" w="med" len="med"/>
            <a:tailEnd type="triangle" w="med" len="med"/>
          </a:ln>
        </p:spPr>
      </p:sp>
      <p:sp>
        <p:nvSpPr>
          <p:cNvPr id="525" name="Line 103"/>
          <p:cNvSpPr/>
          <p:nvPr/>
        </p:nvSpPr>
        <p:spPr>
          <a:xfrm>
            <a:off x="8156575" y="4918075"/>
            <a:ext cx="0" cy="365125"/>
          </a:xfrm>
          <a:prstGeom prst="line">
            <a:avLst/>
          </a:prstGeom>
          <a:ln w="9525" cap="flat" cmpd="sng">
            <a:solidFill>
              <a:srgbClr val="FF0066"/>
            </a:solidFill>
            <a:prstDash val="solid"/>
            <a:round/>
            <a:headEnd type="none" w="med" len="med"/>
            <a:tailEnd type="triangle" w="med" len="med"/>
          </a:ln>
        </p:spPr>
      </p:sp>
      <p:sp>
        <p:nvSpPr>
          <p:cNvPr id="526" name="Line 104"/>
          <p:cNvSpPr/>
          <p:nvPr/>
        </p:nvSpPr>
        <p:spPr>
          <a:xfrm>
            <a:off x="8474075" y="4918075"/>
            <a:ext cx="0" cy="365125"/>
          </a:xfrm>
          <a:prstGeom prst="line">
            <a:avLst/>
          </a:prstGeom>
          <a:ln w="9525" cap="flat" cmpd="sng">
            <a:solidFill>
              <a:srgbClr val="FF0066"/>
            </a:solidFill>
            <a:prstDash val="solid"/>
            <a:round/>
            <a:headEnd type="none" w="med" len="med"/>
            <a:tailEnd type="triangle" w="med" len="med"/>
          </a:ln>
        </p:spPr>
      </p:sp>
      <p:sp>
        <p:nvSpPr>
          <p:cNvPr id="527" name="Line 105"/>
          <p:cNvSpPr/>
          <p:nvPr/>
        </p:nvSpPr>
        <p:spPr>
          <a:xfrm>
            <a:off x="8831263" y="4903788"/>
            <a:ext cx="377825" cy="0"/>
          </a:xfrm>
          <a:prstGeom prst="line">
            <a:avLst/>
          </a:prstGeom>
          <a:ln w="9525" cap="flat" cmpd="sng">
            <a:solidFill>
              <a:srgbClr val="FF0066"/>
            </a:solidFill>
            <a:prstDash val="solid"/>
            <a:round/>
            <a:headEnd type="none" w="med" len="med"/>
            <a:tailEnd type="triangle" w="med" len="med"/>
          </a:ln>
        </p:spPr>
      </p:sp>
      <p:sp>
        <p:nvSpPr>
          <p:cNvPr id="528" name="Line 106"/>
          <p:cNvSpPr/>
          <p:nvPr/>
        </p:nvSpPr>
        <p:spPr>
          <a:xfrm>
            <a:off x="9350375" y="4905375"/>
            <a:ext cx="0" cy="365125"/>
          </a:xfrm>
          <a:prstGeom prst="line">
            <a:avLst/>
          </a:prstGeom>
          <a:ln w="9525" cap="flat" cmpd="sng">
            <a:solidFill>
              <a:srgbClr val="FF0066"/>
            </a:solidFill>
            <a:prstDash val="solid"/>
            <a:round/>
            <a:headEnd type="none" w="med" len="med"/>
            <a:tailEnd type="triangle" w="med" len="med"/>
          </a:ln>
        </p:spPr>
      </p:sp>
      <p:sp>
        <p:nvSpPr>
          <p:cNvPr id="529" name="Line 107"/>
          <p:cNvSpPr/>
          <p:nvPr/>
        </p:nvSpPr>
        <p:spPr>
          <a:xfrm>
            <a:off x="9629775" y="4905375"/>
            <a:ext cx="0" cy="365125"/>
          </a:xfrm>
          <a:prstGeom prst="line">
            <a:avLst/>
          </a:prstGeom>
          <a:ln w="9525" cap="flat" cmpd="sng">
            <a:solidFill>
              <a:srgbClr val="FF0066"/>
            </a:solidFill>
            <a:prstDash val="solid"/>
            <a:round/>
            <a:headEnd type="none" w="med" len="med"/>
            <a:tailEnd type="triangle" w="med" len="med"/>
          </a:ln>
        </p:spPr>
      </p:sp>
      <p:sp>
        <p:nvSpPr>
          <p:cNvPr id="530" name="Text Box 111"/>
          <p:cNvSpPr txBox="1"/>
          <p:nvPr/>
        </p:nvSpPr>
        <p:spPr>
          <a:xfrm>
            <a:off x="2554288" y="4346575"/>
            <a:ext cx="542925" cy="396875"/>
          </a:xfrm>
          <a:prstGeom prst="rect">
            <a:avLst/>
          </a:prstGeom>
          <a:noFill/>
          <a:ln w="9525">
            <a:noFill/>
          </a:ln>
        </p:spPr>
        <p:txBody>
          <a:bodyPr anchor="t">
            <a:spAutoFit/>
          </a:bodyPr>
          <a:lstStyle/>
          <a:p>
            <a:pPr algn="ctr"/>
            <a:r>
              <a:rPr lang="en-US" altLang="zh-CN" dirty="0">
                <a:solidFill>
                  <a:schemeClr val="accent2"/>
                </a:solidFill>
                <a:latin typeface="Arial" panose="020B0604020202020204" pitchFamily="34" charset="0"/>
                <a:ea typeface="楷体_GB2312" pitchFamily="49" charset="-122"/>
              </a:rPr>
              <a:t>5</a:t>
            </a:r>
            <a:endParaRPr lang="en-US" altLang="zh-CN" dirty="0">
              <a:solidFill>
                <a:schemeClr val="accent2"/>
              </a:solidFill>
              <a:latin typeface="Arial" panose="020B0604020202020204" pitchFamily="34" charset="0"/>
              <a:ea typeface="楷体_GB2312" pitchFamily="49" charset="-122"/>
            </a:endParaRPr>
          </a:p>
        </p:txBody>
      </p:sp>
      <p:sp>
        <p:nvSpPr>
          <p:cNvPr id="531" name="Line 112"/>
          <p:cNvSpPr/>
          <p:nvPr/>
        </p:nvSpPr>
        <p:spPr>
          <a:xfrm>
            <a:off x="2559050" y="4919663"/>
            <a:ext cx="0" cy="365125"/>
          </a:xfrm>
          <a:prstGeom prst="line">
            <a:avLst/>
          </a:prstGeom>
          <a:ln w="9525" cap="flat" cmpd="sng">
            <a:solidFill>
              <a:srgbClr val="FF0066"/>
            </a:solidFill>
            <a:prstDash val="solid"/>
            <a:round/>
            <a:headEnd type="none" w="med" len="med"/>
            <a:tailEnd type="triangle" w="med" len="med"/>
          </a:ln>
        </p:spPr>
      </p:sp>
      <p:sp>
        <p:nvSpPr>
          <p:cNvPr id="532" name="Line 113"/>
          <p:cNvSpPr/>
          <p:nvPr/>
        </p:nvSpPr>
        <p:spPr>
          <a:xfrm>
            <a:off x="2976563" y="4802188"/>
            <a:ext cx="1766887" cy="0"/>
          </a:xfrm>
          <a:prstGeom prst="line">
            <a:avLst/>
          </a:prstGeom>
          <a:ln w="38100" cap="flat" cmpd="sng">
            <a:solidFill>
              <a:schemeClr val="accent2"/>
            </a:solidFill>
            <a:prstDash val="solid"/>
            <a:round/>
            <a:headEnd type="none" w="med" len="med"/>
            <a:tailEnd type="triangle" w="med" len="med"/>
          </a:ln>
        </p:spPr>
      </p:sp>
      <p:sp>
        <p:nvSpPr>
          <p:cNvPr id="533" name="Line 114"/>
          <p:cNvSpPr/>
          <p:nvPr/>
        </p:nvSpPr>
        <p:spPr>
          <a:xfrm>
            <a:off x="3919538" y="3663950"/>
            <a:ext cx="1063625" cy="674688"/>
          </a:xfrm>
          <a:prstGeom prst="line">
            <a:avLst/>
          </a:prstGeom>
          <a:ln w="38100" cap="flat" cmpd="sng">
            <a:solidFill>
              <a:schemeClr val="accent2"/>
            </a:solidFill>
            <a:prstDash val="solid"/>
            <a:round/>
            <a:headEnd type="none" w="med" len="med"/>
            <a:tailEnd type="triangle" w="med" len="med"/>
          </a:ln>
        </p:spPr>
      </p:sp>
      <p:sp>
        <p:nvSpPr>
          <p:cNvPr id="534" name="Text Box 115"/>
          <p:cNvSpPr txBox="1"/>
          <p:nvPr/>
        </p:nvSpPr>
        <p:spPr>
          <a:xfrm>
            <a:off x="3349625" y="3062288"/>
            <a:ext cx="542925" cy="396875"/>
          </a:xfrm>
          <a:prstGeom prst="rect">
            <a:avLst/>
          </a:prstGeom>
          <a:noFill/>
          <a:ln w="9525">
            <a:noFill/>
          </a:ln>
        </p:spPr>
        <p:txBody>
          <a:bodyPr anchor="t">
            <a:spAutoFit/>
          </a:bodyPr>
          <a:lstStyle/>
          <a:p>
            <a:pPr algn="ctr"/>
            <a:r>
              <a:rPr lang="en-US" altLang="zh-CN" dirty="0">
                <a:solidFill>
                  <a:schemeClr val="accent2"/>
                </a:solidFill>
                <a:latin typeface="Arial" panose="020B0604020202020204" pitchFamily="34" charset="0"/>
                <a:ea typeface="楷体_GB2312" pitchFamily="49" charset="-122"/>
              </a:rPr>
              <a:t>13</a:t>
            </a:r>
            <a:endParaRPr lang="en-US" altLang="zh-CN" dirty="0">
              <a:solidFill>
                <a:schemeClr val="accent2"/>
              </a:solidFill>
              <a:latin typeface="Arial" panose="020B0604020202020204" pitchFamily="34" charset="0"/>
              <a:ea typeface="楷体_GB2312" pitchFamily="49" charset="-122"/>
            </a:endParaRPr>
          </a:p>
        </p:txBody>
      </p:sp>
      <p:sp>
        <p:nvSpPr>
          <p:cNvPr id="535" name="Line 117"/>
          <p:cNvSpPr/>
          <p:nvPr/>
        </p:nvSpPr>
        <p:spPr>
          <a:xfrm flipH="1">
            <a:off x="6572250" y="3587750"/>
            <a:ext cx="539750" cy="750888"/>
          </a:xfrm>
          <a:prstGeom prst="line">
            <a:avLst/>
          </a:prstGeom>
          <a:ln w="9525" cap="flat" cmpd="sng">
            <a:solidFill>
              <a:schemeClr val="tx1"/>
            </a:solidFill>
            <a:prstDash val="solid"/>
            <a:round/>
            <a:headEnd type="none" w="med" len="med"/>
            <a:tailEnd type="triangle" w="med" len="med"/>
          </a:ln>
        </p:spPr>
      </p:sp>
      <p:sp>
        <p:nvSpPr>
          <p:cNvPr id="536" name="Line 118"/>
          <p:cNvSpPr/>
          <p:nvPr/>
        </p:nvSpPr>
        <p:spPr>
          <a:xfrm>
            <a:off x="7381875" y="3543300"/>
            <a:ext cx="598488" cy="795338"/>
          </a:xfrm>
          <a:prstGeom prst="line">
            <a:avLst/>
          </a:prstGeom>
          <a:ln w="9525" cap="flat" cmpd="sng">
            <a:solidFill>
              <a:schemeClr val="tx1"/>
            </a:solidFill>
            <a:prstDash val="solid"/>
            <a:round/>
            <a:headEnd type="none" w="med" len="med"/>
            <a:tailEnd type="triangle" w="med" len="med"/>
          </a:ln>
        </p:spPr>
      </p:sp>
      <p:sp>
        <p:nvSpPr>
          <p:cNvPr id="537" name="Line 119"/>
          <p:cNvSpPr/>
          <p:nvPr/>
        </p:nvSpPr>
        <p:spPr>
          <a:xfrm>
            <a:off x="7726363" y="3559175"/>
            <a:ext cx="1754187" cy="808038"/>
          </a:xfrm>
          <a:prstGeom prst="line">
            <a:avLst/>
          </a:prstGeom>
          <a:ln w="9525" cap="flat" cmpd="sng">
            <a:solidFill>
              <a:schemeClr val="tx1"/>
            </a:solidFill>
            <a:prstDash val="solid"/>
            <a:round/>
            <a:headEnd type="none" w="med" len="med"/>
            <a:tailEnd type="triangle" w="med" len="med"/>
          </a:ln>
        </p:spPr>
      </p:sp>
      <p:sp>
        <p:nvSpPr>
          <p:cNvPr id="538" name="Text Box 122"/>
          <p:cNvSpPr txBox="1"/>
          <p:nvPr/>
        </p:nvSpPr>
        <p:spPr>
          <a:xfrm>
            <a:off x="5081587" y="1924050"/>
            <a:ext cx="542925" cy="396875"/>
          </a:xfrm>
          <a:prstGeom prst="rect">
            <a:avLst/>
          </a:prstGeom>
          <a:noFill/>
          <a:ln w="9525">
            <a:noFill/>
          </a:ln>
        </p:spPr>
        <p:txBody>
          <a:bodyPr anchor="t">
            <a:spAutoFit/>
          </a:bodyPr>
          <a:lstStyle/>
          <a:p>
            <a:pPr algn="ctr"/>
            <a:r>
              <a:rPr lang="en-US" altLang="zh-CN" dirty="0">
                <a:latin typeface="Arial" panose="020B0604020202020204" pitchFamily="34" charset="0"/>
                <a:ea typeface="楷体_GB2312" pitchFamily="49" charset="-122"/>
              </a:rPr>
              <a:t>23</a:t>
            </a:r>
            <a:endParaRPr lang="en-US" altLang="zh-CN" dirty="0">
              <a:latin typeface="Arial" panose="020B0604020202020204" pitchFamily="34" charset="0"/>
              <a:ea typeface="楷体_GB2312" pitchFamily="49" charset="-122"/>
            </a:endParaRPr>
          </a:p>
        </p:txBody>
      </p:sp>
      <p:sp>
        <p:nvSpPr>
          <p:cNvPr id="540" name="文本框 539"/>
          <p:cNvSpPr txBox="1"/>
          <p:nvPr/>
        </p:nvSpPr>
        <p:spPr>
          <a:xfrm>
            <a:off x="2987676" y="5405732"/>
            <a:ext cx="6149974" cy="923330"/>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rPr>
              <a:t>(3)</a:t>
            </a:r>
            <a:r>
              <a:rPr lang="zh-CN" altLang="en-US" sz="1800" dirty="0">
                <a:latin typeface="微软雅黑" panose="020B0503020204020204" pitchFamily="34" charset="-122"/>
                <a:ea typeface="微软雅黑" panose="020B0503020204020204" pitchFamily="34" charset="-122"/>
              </a:rPr>
              <a:t>如有调整，则进一步调整其上层非叶结点，重新确定其键值，以满足大于等于键值的记录都在其右侧。依次向上调整，直到根结点。</a:t>
            </a:r>
            <a:endParaRPr lang="zh-CN" altLang="en-US" sz="1800" dirty="0">
              <a:latin typeface="微软雅黑" panose="020B0503020204020204" pitchFamily="34" charset="-122"/>
              <a:ea typeface="微软雅黑" panose="020B0503020204020204" pitchFamily="34" charset="-122"/>
            </a:endParaRPr>
          </a:p>
        </p:txBody>
      </p:sp>
      <p:sp>
        <p:nvSpPr>
          <p:cNvPr id="64" name="灯片编号占位符 63"/>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500"/>
                                        <p:tgtEl>
                                          <p:spTgt spid="461"/>
                                        </p:tgtEl>
                                      </p:cBhvr>
                                    </p:animEffect>
                                    <p:set>
                                      <p:cBhvr>
                                        <p:cTn id="7" dur="1" fill="hold">
                                          <p:stCondLst>
                                            <p:cond delay="499"/>
                                          </p:stCondLst>
                                        </p:cTn>
                                        <p:tgtEl>
                                          <p:spTgt spid="461"/>
                                        </p:tgtEl>
                                        <p:attrNameLst>
                                          <p:attrName>style.visibility</p:attrName>
                                        </p:attrNameLst>
                                      </p:cBhvr>
                                      <p:to>
                                        <p:strVal val="hidden"/>
                                      </p:to>
                                    </p:set>
                                  </p:childTnLst>
                                </p:cTn>
                              </p:par>
                              <p:par>
                                <p:cTn id="8" presetID="4" presetClass="exit" presetSubtype="16" fill="hold" grpId="0" nodeType="withEffect">
                                  <p:stCondLst>
                                    <p:cond delay="0"/>
                                  </p:stCondLst>
                                  <p:childTnLst>
                                    <p:animEffect transition="out" filter="box(in)">
                                      <p:cBhvr>
                                        <p:cTn id="9" dur="500"/>
                                        <p:tgtEl>
                                          <p:spTgt spid="467"/>
                                        </p:tgtEl>
                                      </p:cBhvr>
                                    </p:animEffect>
                                    <p:set>
                                      <p:cBhvr>
                                        <p:cTn id="10" dur="1" fill="hold">
                                          <p:stCondLst>
                                            <p:cond delay="499"/>
                                          </p:stCondLst>
                                        </p:cTn>
                                        <p:tgtEl>
                                          <p:spTgt spid="467"/>
                                        </p:tgtEl>
                                        <p:attrNameLst>
                                          <p:attrName>style.visibility</p:attrName>
                                        </p:attrNameLst>
                                      </p:cBhvr>
                                      <p:to>
                                        <p:strVal val="hidden"/>
                                      </p:to>
                                    </p:set>
                                  </p:childTnLst>
                                </p:cTn>
                              </p:par>
                              <p:par>
                                <p:cTn id="11" presetID="4" presetClass="exit" presetSubtype="16" fill="hold" grpId="0" nodeType="withEffect">
                                  <p:stCondLst>
                                    <p:cond delay="0"/>
                                  </p:stCondLst>
                                  <p:childTnLst>
                                    <p:animEffect transition="out" filter="box(in)">
                                      <p:cBhvr>
                                        <p:cTn id="12" dur="500"/>
                                        <p:tgtEl>
                                          <p:spTgt spid="468"/>
                                        </p:tgtEl>
                                      </p:cBhvr>
                                    </p:animEffect>
                                    <p:set>
                                      <p:cBhvr>
                                        <p:cTn id="13" dur="1" fill="hold">
                                          <p:stCondLst>
                                            <p:cond delay="499"/>
                                          </p:stCondLst>
                                        </p:cTn>
                                        <p:tgtEl>
                                          <p:spTgt spid="468"/>
                                        </p:tgtEl>
                                        <p:attrNameLst>
                                          <p:attrName>style.visibility</p:attrName>
                                        </p:attrNameLst>
                                      </p:cBhvr>
                                      <p:to>
                                        <p:strVal val="hidden"/>
                                      </p:to>
                                    </p:set>
                                  </p:childTnLst>
                                </p:cTn>
                              </p:par>
                              <p:par>
                                <p:cTn id="14" presetID="4" presetClass="exit" presetSubtype="16" fill="hold" grpId="0" nodeType="withEffect">
                                  <p:stCondLst>
                                    <p:cond delay="0"/>
                                  </p:stCondLst>
                                  <p:childTnLst>
                                    <p:animEffect transition="out" filter="box(in)">
                                      <p:cBhvr>
                                        <p:cTn id="15" dur="500"/>
                                        <p:tgtEl>
                                          <p:spTgt spid="469"/>
                                        </p:tgtEl>
                                      </p:cBhvr>
                                    </p:animEffect>
                                    <p:set>
                                      <p:cBhvr>
                                        <p:cTn id="16" dur="1" fill="hold">
                                          <p:stCondLst>
                                            <p:cond delay="499"/>
                                          </p:stCondLst>
                                        </p:cTn>
                                        <p:tgtEl>
                                          <p:spTgt spid="469"/>
                                        </p:tgtEl>
                                        <p:attrNameLst>
                                          <p:attrName>style.visibility</p:attrName>
                                        </p:attrNameLst>
                                      </p:cBhvr>
                                      <p:to>
                                        <p:strVal val="hidden"/>
                                      </p:to>
                                    </p:set>
                                  </p:childTnLst>
                                </p:cTn>
                              </p:par>
                              <p:par>
                                <p:cTn id="17" presetID="4" presetClass="exit" presetSubtype="16" fill="hold" nodeType="withEffect">
                                  <p:stCondLst>
                                    <p:cond delay="0"/>
                                  </p:stCondLst>
                                  <p:childTnLst>
                                    <p:animEffect transition="out" filter="box(in)">
                                      <p:cBhvr>
                                        <p:cTn id="18" dur="500"/>
                                        <p:tgtEl>
                                          <p:spTgt spid="470"/>
                                        </p:tgtEl>
                                      </p:cBhvr>
                                    </p:animEffect>
                                    <p:set>
                                      <p:cBhvr>
                                        <p:cTn id="19" dur="1" fill="hold">
                                          <p:stCondLst>
                                            <p:cond delay="499"/>
                                          </p:stCondLst>
                                        </p:cTn>
                                        <p:tgtEl>
                                          <p:spTgt spid="470"/>
                                        </p:tgtEl>
                                        <p:attrNameLst>
                                          <p:attrName>style.visibility</p:attrName>
                                        </p:attrNameLst>
                                      </p:cBhvr>
                                      <p:to>
                                        <p:strVal val="hidden"/>
                                      </p:to>
                                    </p:set>
                                  </p:childTnLst>
                                </p:cTn>
                              </p:par>
                              <p:par>
                                <p:cTn id="20" presetID="4" presetClass="exit" presetSubtype="16" fill="hold" nodeType="withEffect">
                                  <p:stCondLst>
                                    <p:cond delay="0"/>
                                  </p:stCondLst>
                                  <p:childTnLst>
                                    <p:animEffect transition="out" filter="box(in)">
                                      <p:cBhvr>
                                        <p:cTn id="21" dur="500"/>
                                        <p:tgtEl>
                                          <p:spTgt spid="471"/>
                                        </p:tgtEl>
                                      </p:cBhvr>
                                    </p:animEffect>
                                    <p:set>
                                      <p:cBhvr>
                                        <p:cTn id="22" dur="1" fill="hold">
                                          <p:stCondLst>
                                            <p:cond delay="499"/>
                                          </p:stCondLst>
                                        </p:cTn>
                                        <p:tgtEl>
                                          <p:spTgt spid="471"/>
                                        </p:tgtEl>
                                        <p:attrNameLst>
                                          <p:attrName>style.visibility</p:attrName>
                                        </p:attrNameLst>
                                      </p:cBhvr>
                                      <p:to>
                                        <p:strVal val="hidden"/>
                                      </p:to>
                                    </p:set>
                                  </p:childTnLst>
                                </p:cTn>
                              </p:par>
                              <p:par>
                                <p:cTn id="23" presetID="4" presetClass="exit" presetSubtype="16" fill="hold" nodeType="withEffect">
                                  <p:stCondLst>
                                    <p:cond delay="0"/>
                                  </p:stCondLst>
                                  <p:childTnLst>
                                    <p:animEffect transition="out" filter="box(in)">
                                      <p:cBhvr>
                                        <p:cTn id="24" dur="500"/>
                                        <p:tgtEl>
                                          <p:spTgt spid="472"/>
                                        </p:tgtEl>
                                      </p:cBhvr>
                                    </p:animEffect>
                                    <p:set>
                                      <p:cBhvr>
                                        <p:cTn id="25" dur="1" fill="hold">
                                          <p:stCondLst>
                                            <p:cond delay="499"/>
                                          </p:stCondLst>
                                        </p:cTn>
                                        <p:tgtEl>
                                          <p:spTgt spid="472"/>
                                        </p:tgtEl>
                                        <p:attrNameLst>
                                          <p:attrName>style.visibility</p:attrName>
                                        </p:attrNameLst>
                                      </p:cBhvr>
                                      <p:to>
                                        <p:strVal val="hidden"/>
                                      </p:to>
                                    </p:set>
                                  </p:childTnLst>
                                </p:cTn>
                              </p:par>
                              <p:par>
                                <p:cTn id="26" presetID="2" presetClass="entr" presetSubtype="4" fill="hold" nodeType="withEffect">
                                  <p:stCondLst>
                                    <p:cond delay="0"/>
                                  </p:stCondLst>
                                  <p:childTnLst>
                                    <p:set>
                                      <p:cBhvr>
                                        <p:cTn id="27" dur="1" fill="hold">
                                          <p:stCondLst>
                                            <p:cond delay="0"/>
                                          </p:stCondLst>
                                        </p:cTn>
                                        <p:tgtEl>
                                          <p:spTgt spid="535"/>
                                        </p:tgtEl>
                                        <p:attrNameLst>
                                          <p:attrName>style.visibility</p:attrName>
                                        </p:attrNameLst>
                                      </p:cBhvr>
                                      <p:to>
                                        <p:strVal val="visible"/>
                                      </p:to>
                                    </p:set>
                                    <p:anim calcmode="lin" valueType="num">
                                      <p:cBhvr additive="base">
                                        <p:cTn id="28" dur="500" fill="hold"/>
                                        <p:tgtEl>
                                          <p:spTgt spid="535"/>
                                        </p:tgtEl>
                                        <p:attrNameLst>
                                          <p:attrName>ppt_x</p:attrName>
                                        </p:attrNameLst>
                                      </p:cBhvr>
                                      <p:tavLst>
                                        <p:tav tm="0">
                                          <p:val>
                                            <p:strVal val="#ppt_x"/>
                                          </p:val>
                                        </p:tav>
                                        <p:tav tm="100000">
                                          <p:val>
                                            <p:strVal val="#ppt_x"/>
                                          </p:val>
                                        </p:tav>
                                      </p:tavLst>
                                    </p:anim>
                                    <p:anim calcmode="lin" valueType="num">
                                      <p:cBhvr additive="base">
                                        <p:cTn id="29" dur="500" fill="hold"/>
                                        <p:tgtEl>
                                          <p:spTgt spid="535"/>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536"/>
                                        </p:tgtEl>
                                        <p:attrNameLst>
                                          <p:attrName>style.visibility</p:attrName>
                                        </p:attrNameLst>
                                      </p:cBhvr>
                                      <p:to>
                                        <p:strVal val="visible"/>
                                      </p:to>
                                    </p:set>
                                    <p:anim calcmode="lin" valueType="num">
                                      <p:cBhvr additive="base">
                                        <p:cTn id="32" dur="500" fill="hold"/>
                                        <p:tgtEl>
                                          <p:spTgt spid="536"/>
                                        </p:tgtEl>
                                        <p:attrNameLst>
                                          <p:attrName>ppt_x</p:attrName>
                                        </p:attrNameLst>
                                      </p:cBhvr>
                                      <p:tavLst>
                                        <p:tav tm="0">
                                          <p:val>
                                            <p:strVal val="#ppt_x"/>
                                          </p:val>
                                        </p:tav>
                                        <p:tav tm="100000">
                                          <p:val>
                                            <p:strVal val="#ppt_x"/>
                                          </p:val>
                                        </p:tav>
                                      </p:tavLst>
                                    </p:anim>
                                    <p:anim calcmode="lin" valueType="num">
                                      <p:cBhvr additive="base">
                                        <p:cTn id="33" dur="500" fill="hold"/>
                                        <p:tgtEl>
                                          <p:spTgt spid="536"/>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537"/>
                                        </p:tgtEl>
                                        <p:attrNameLst>
                                          <p:attrName>style.visibility</p:attrName>
                                        </p:attrNameLst>
                                      </p:cBhvr>
                                      <p:to>
                                        <p:strVal val="visible"/>
                                      </p:to>
                                    </p:set>
                                    <p:anim calcmode="lin" valueType="num">
                                      <p:cBhvr additive="base">
                                        <p:cTn id="36" dur="500" fill="hold"/>
                                        <p:tgtEl>
                                          <p:spTgt spid="537"/>
                                        </p:tgtEl>
                                        <p:attrNameLst>
                                          <p:attrName>ppt_x</p:attrName>
                                        </p:attrNameLst>
                                      </p:cBhvr>
                                      <p:tavLst>
                                        <p:tav tm="0">
                                          <p:val>
                                            <p:strVal val="#ppt_x"/>
                                          </p:val>
                                        </p:tav>
                                        <p:tav tm="100000">
                                          <p:val>
                                            <p:strVal val="#ppt_x"/>
                                          </p:val>
                                        </p:tav>
                                      </p:tavLst>
                                    </p:anim>
                                    <p:anim calcmode="lin" valueType="num">
                                      <p:cBhvr additive="base">
                                        <p:cTn id="37" dur="500" fill="hold"/>
                                        <p:tgtEl>
                                          <p:spTgt spid="537"/>
                                        </p:tgtEl>
                                        <p:attrNameLst>
                                          <p:attrName>ppt_y</p:attrName>
                                        </p:attrNameLst>
                                      </p:cBhvr>
                                      <p:tavLst>
                                        <p:tav tm="0">
                                          <p:val>
                                            <p:strVal val="1+#ppt_h/2"/>
                                          </p:val>
                                        </p:tav>
                                        <p:tav tm="100000">
                                          <p:val>
                                            <p:strVal val="#ppt_y"/>
                                          </p:val>
                                        </p:tav>
                                      </p:tavLst>
                                    </p:anim>
                                  </p:childTnLst>
                                </p:cTn>
                              </p:par>
                              <p:par>
                                <p:cTn id="38" presetID="4" presetClass="exit" presetSubtype="16" fill="hold" grpId="0" nodeType="withEffect">
                                  <p:stCondLst>
                                    <p:cond delay="0"/>
                                  </p:stCondLst>
                                  <p:childTnLst>
                                    <p:animEffect transition="out" filter="box(in)">
                                      <p:cBhvr>
                                        <p:cTn id="39" dur="500"/>
                                        <p:tgtEl>
                                          <p:spTgt spid="13"/>
                                        </p:tgtEl>
                                      </p:cBhvr>
                                    </p:animEffect>
                                    <p:set>
                                      <p:cBhvr>
                                        <p:cTn id="40" dur="1" fill="hold">
                                          <p:stCondLst>
                                            <p:cond delay="499"/>
                                          </p:stCondLst>
                                        </p:cTn>
                                        <p:tgtEl>
                                          <p:spTgt spid="13"/>
                                        </p:tgtEl>
                                        <p:attrNameLst>
                                          <p:attrName>style.visibility</p:attrName>
                                        </p:attrNameLst>
                                      </p:cBhvr>
                                      <p:to>
                                        <p:strVal val="hidden"/>
                                      </p:to>
                                    </p:set>
                                  </p:childTnLst>
                                </p:cTn>
                              </p:par>
                              <p:par>
                                <p:cTn id="41" presetID="4" presetClass="entr" presetSubtype="16" fill="hold" grpId="0" nodeType="withEffect">
                                  <p:stCondLst>
                                    <p:cond delay="0"/>
                                  </p:stCondLst>
                                  <p:childTnLst>
                                    <p:set>
                                      <p:cBhvr>
                                        <p:cTn id="42" dur="1" fill="hold">
                                          <p:stCondLst>
                                            <p:cond delay="0"/>
                                          </p:stCondLst>
                                        </p:cTn>
                                        <p:tgtEl>
                                          <p:spTgt spid="538"/>
                                        </p:tgtEl>
                                        <p:attrNameLst>
                                          <p:attrName>style.visibility</p:attrName>
                                        </p:attrNameLst>
                                      </p:cBhvr>
                                      <p:to>
                                        <p:strVal val="visible"/>
                                      </p:to>
                                    </p:set>
                                    <p:animEffect transition="in" filter="box(in)">
                                      <p:cBhvr>
                                        <p:cTn id="43" dur="500"/>
                                        <p:tgtEl>
                                          <p:spTgt spid="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61" grpId="0"/>
      <p:bldP spid="467" grpId="0"/>
      <p:bldP spid="468" grpId="0"/>
      <p:bldP spid="469" grpId="0"/>
      <p:bldP spid="53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删除过程与合并过程完成之后 </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删除键值为</a:t>
            </a:r>
            <a:r>
              <a:rPr lang="en-US" altLang="zh-CN" sz="2000" b="0" dirty="0">
                <a:latin typeface="微软雅黑" panose="020B0503020204020204" pitchFamily="34" charset="-122"/>
                <a:ea typeface="微软雅黑" panose="020B0503020204020204" pitchFamily="34" charset="-122"/>
              </a:rPr>
              <a:t>11</a:t>
            </a:r>
            <a:r>
              <a:rPr lang="zh-CN" altLang="en-US" sz="2000" b="0" dirty="0">
                <a:latin typeface="微软雅黑" panose="020B0503020204020204" pitchFamily="34" charset="-122"/>
                <a:ea typeface="微软雅黑" panose="020B0503020204020204" pitchFamily="34" charset="-122"/>
              </a:rPr>
              <a:t>的记录</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最终状态</a:t>
            </a:r>
            <a:endParaRPr lang="zh-CN" altLang="en-US" sz="2000" b="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删除与结点合并过程示意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511" name="Group 4"/>
          <p:cNvGrpSpPr/>
          <p:nvPr/>
        </p:nvGrpSpPr>
        <p:grpSpPr>
          <a:xfrm>
            <a:off x="4840288" y="2268537"/>
            <a:ext cx="1238250" cy="695325"/>
            <a:chOff x="856" y="1440"/>
            <a:chExt cx="1291" cy="667"/>
          </a:xfrm>
        </p:grpSpPr>
        <p:sp>
          <p:nvSpPr>
            <p:cNvPr id="513" name="Rectangle 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14" name="Line 6"/>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15" name="Line 7"/>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16" name="Line 8"/>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17" name="Line 9"/>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18" name="Line 10"/>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19" name="Line 11"/>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520" name="Text Box 12"/>
          <p:cNvSpPr txBox="1"/>
          <p:nvPr/>
        </p:nvSpPr>
        <p:spPr>
          <a:xfrm>
            <a:off x="4768850" y="2244725"/>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grpSp>
        <p:nvGrpSpPr>
          <p:cNvPr id="521" name="Group 13"/>
          <p:cNvGrpSpPr/>
          <p:nvPr/>
        </p:nvGrpSpPr>
        <p:grpSpPr>
          <a:xfrm>
            <a:off x="3527425" y="3430587"/>
            <a:ext cx="1238250" cy="695325"/>
            <a:chOff x="856" y="1440"/>
            <a:chExt cx="1291" cy="667"/>
          </a:xfrm>
        </p:grpSpPr>
        <p:sp>
          <p:nvSpPr>
            <p:cNvPr id="522" name="Rectangle 1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23" name="Line 1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24" name="Line 1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25" name="Line 1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26" name="Line 1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27" name="Line 1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28" name="Line 2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29" name="Group 21"/>
          <p:cNvGrpSpPr/>
          <p:nvPr/>
        </p:nvGrpSpPr>
        <p:grpSpPr>
          <a:xfrm>
            <a:off x="7075488" y="3430587"/>
            <a:ext cx="1238250" cy="695325"/>
            <a:chOff x="856" y="1440"/>
            <a:chExt cx="1291" cy="667"/>
          </a:xfrm>
        </p:grpSpPr>
        <p:sp>
          <p:nvSpPr>
            <p:cNvPr id="530" name="Rectangle 2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31" name="Line 2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32" name="Line 2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33" name="Line 2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34" name="Line 2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35" name="Line 2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36" name="Line 2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37" name="Group 29"/>
          <p:cNvGrpSpPr/>
          <p:nvPr/>
        </p:nvGrpSpPr>
        <p:grpSpPr>
          <a:xfrm>
            <a:off x="1868488" y="4706937"/>
            <a:ext cx="1238250" cy="695325"/>
            <a:chOff x="856" y="1440"/>
            <a:chExt cx="1291" cy="667"/>
          </a:xfrm>
        </p:grpSpPr>
        <p:sp>
          <p:nvSpPr>
            <p:cNvPr id="538"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39" name="Line 3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40" name="Line 3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41" name="Line 3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42" name="Line 3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43" name="Line 3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44" name="Line 3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45" name="Group 37"/>
          <p:cNvGrpSpPr/>
          <p:nvPr/>
        </p:nvGrpSpPr>
        <p:grpSpPr>
          <a:xfrm>
            <a:off x="4840288" y="4706937"/>
            <a:ext cx="1238250" cy="695325"/>
            <a:chOff x="856" y="1440"/>
            <a:chExt cx="1291" cy="667"/>
          </a:xfrm>
        </p:grpSpPr>
        <p:sp>
          <p:nvSpPr>
            <p:cNvPr id="546" name="Rectangle 3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47" name="Line 3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48" name="Line 4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49" name="Line 4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50" name="Line 4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51" name="Line 4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52" name="Line 4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53" name="Group 45"/>
          <p:cNvGrpSpPr/>
          <p:nvPr/>
        </p:nvGrpSpPr>
        <p:grpSpPr>
          <a:xfrm>
            <a:off x="6326188" y="4706937"/>
            <a:ext cx="1238250" cy="695325"/>
            <a:chOff x="856" y="1440"/>
            <a:chExt cx="1291" cy="667"/>
          </a:xfrm>
        </p:grpSpPr>
        <p:sp>
          <p:nvSpPr>
            <p:cNvPr id="554" name="Rectangle 4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55" name="Line 4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56" name="Line 4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57" name="Line 4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58" name="Line 5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59" name="Line 5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60" name="Line 5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61" name="Group 53"/>
          <p:cNvGrpSpPr/>
          <p:nvPr/>
        </p:nvGrpSpPr>
        <p:grpSpPr>
          <a:xfrm>
            <a:off x="7812088" y="4706937"/>
            <a:ext cx="1238250" cy="695325"/>
            <a:chOff x="856" y="1440"/>
            <a:chExt cx="1291" cy="667"/>
          </a:xfrm>
        </p:grpSpPr>
        <p:sp>
          <p:nvSpPr>
            <p:cNvPr id="562" name="Rectangle 5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63" name="Line 5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64" name="Line 5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65" name="Line 5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66" name="Line 5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67" name="Line 5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68" name="Line 6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69" name="Group 61"/>
          <p:cNvGrpSpPr/>
          <p:nvPr/>
        </p:nvGrpSpPr>
        <p:grpSpPr>
          <a:xfrm>
            <a:off x="9299575" y="4706937"/>
            <a:ext cx="1238250" cy="695325"/>
            <a:chOff x="856" y="1440"/>
            <a:chExt cx="1291" cy="667"/>
          </a:xfrm>
        </p:grpSpPr>
        <p:sp>
          <p:nvSpPr>
            <p:cNvPr id="570" name="Rectangle 6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71" name="Line 6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72" name="Line 6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73" name="Line 6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74" name="Line 6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75" name="Line 6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57" name="Line 6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258" name="Text Box 69"/>
          <p:cNvSpPr txBox="1"/>
          <p:nvPr/>
        </p:nvSpPr>
        <p:spPr>
          <a:xfrm>
            <a:off x="1830388" y="4678362"/>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259" name="Text Box 70"/>
          <p:cNvSpPr txBox="1"/>
          <p:nvPr/>
        </p:nvSpPr>
        <p:spPr>
          <a:xfrm>
            <a:off x="2211388" y="4678362"/>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260" name="Text Box 71"/>
          <p:cNvSpPr txBox="1"/>
          <p:nvPr/>
        </p:nvSpPr>
        <p:spPr>
          <a:xfrm>
            <a:off x="2655888" y="4678362"/>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261" name="Text Box 72"/>
          <p:cNvSpPr txBox="1"/>
          <p:nvPr/>
        </p:nvSpPr>
        <p:spPr>
          <a:xfrm>
            <a:off x="4764088" y="4697412"/>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262" name="Text Box 73"/>
          <p:cNvSpPr txBox="1"/>
          <p:nvPr/>
        </p:nvSpPr>
        <p:spPr>
          <a:xfrm>
            <a:off x="5183188" y="4697412"/>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263" name="Text Box 74"/>
          <p:cNvSpPr txBox="1"/>
          <p:nvPr/>
        </p:nvSpPr>
        <p:spPr>
          <a:xfrm>
            <a:off x="5643563" y="4697412"/>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264" name="Text Box 75"/>
          <p:cNvSpPr txBox="1"/>
          <p:nvPr/>
        </p:nvSpPr>
        <p:spPr>
          <a:xfrm>
            <a:off x="6262688" y="4684712"/>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265" name="Text Box 76"/>
          <p:cNvSpPr txBox="1"/>
          <p:nvPr/>
        </p:nvSpPr>
        <p:spPr>
          <a:xfrm>
            <a:off x="6681788" y="4684712"/>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266" name="Text Box 77"/>
          <p:cNvSpPr txBox="1"/>
          <p:nvPr/>
        </p:nvSpPr>
        <p:spPr>
          <a:xfrm>
            <a:off x="7775575" y="4691062"/>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267" name="Text Box 78"/>
          <p:cNvSpPr txBox="1"/>
          <p:nvPr/>
        </p:nvSpPr>
        <p:spPr>
          <a:xfrm>
            <a:off x="8194675" y="4691062"/>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268" name="Text Box 79"/>
          <p:cNvSpPr txBox="1"/>
          <p:nvPr/>
        </p:nvSpPr>
        <p:spPr>
          <a:xfrm>
            <a:off x="8655050" y="4691062"/>
            <a:ext cx="439738"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269" name="Text Box 80"/>
          <p:cNvSpPr txBox="1"/>
          <p:nvPr/>
        </p:nvSpPr>
        <p:spPr>
          <a:xfrm>
            <a:off x="9239250" y="4691062"/>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270" name="Text Box 81"/>
          <p:cNvSpPr txBox="1"/>
          <p:nvPr/>
        </p:nvSpPr>
        <p:spPr>
          <a:xfrm>
            <a:off x="9658350" y="4691062"/>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271" name="Text Box 83"/>
          <p:cNvSpPr txBox="1"/>
          <p:nvPr/>
        </p:nvSpPr>
        <p:spPr>
          <a:xfrm>
            <a:off x="7019925" y="3403600"/>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272" name="Text Box 84"/>
          <p:cNvSpPr txBox="1"/>
          <p:nvPr/>
        </p:nvSpPr>
        <p:spPr>
          <a:xfrm>
            <a:off x="7480300" y="3403600"/>
            <a:ext cx="439738"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273" name="Line 86"/>
          <p:cNvSpPr/>
          <p:nvPr/>
        </p:nvSpPr>
        <p:spPr>
          <a:xfrm>
            <a:off x="7835900" y="3956050"/>
            <a:ext cx="1751013" cy="741362"/>
          </a:xfrm>
          <a:prstGeom prst="line">
            <a:avLst/>
          </a:prstGeom>
          <a:ln w="9525" cap="flat" cmpd="sng">
            <a:solidFill>
              <a:srgbClr val="FF0066"/>
            </a:solidFill>
            <a:prstDash val="solid"/>
            <a:round/>
            <a:headEnd type="none" w="med" len="med"/>
            <a:tailEnd type="triangle" w="med" len="med"/>
          </a:ln>
        </p:spPr>
      </p:sp>
      <p:sp>
        <p:nvSpPr>
          <p:cNvPr id="274" name="Line 87"/>
          <p:cNvSpPr/>
          <p:nvPr/>
        </p:nvSpPr>
        <p:spPr>
          <a:xfrm>
            <a:off x="7535863" y="3959225"/>
            <a:ext cx="587375" cy="757237"/>
          </a:xfrm>
          <a:prstGeom prst="line">
            <a:avLst/>
          </a:prstGeom>
          <a:ln w="9525" cap="flat" cmpd="sng">
            <a:solidFill>
              <a:srgbClr val="FF0066"/>
            </a:solidFill>
            <a:prstDash val="solid"/>
            <a:round/>
            <a:headEnd type="none" w="med" len="med"/>
            <a:tailEnd type="triangle" w="med" len="med"/>
          </a:ln>
        </p:spPr>
      </p:sp>
      <p:sp>
        <p:nvSpPr>
          <p:cNvPr id="275" name="Line 88"/>
          <p:cNvSpPr/>
          <p:nvPr/>
        </p:nvSpPr>
        <p:spPr>
          <a:xfrm flipH="1">
            <a:off x="6661150" y="3983037"/>
            <a:ext cx="547688" cy="714375"/>
          </a:xfrm>
          <a:prstGeom prst="line">
            <a:avLst/>
          </a:prstGeom>
          <a:ln w="9525" cap="flat" cmpd="sng">
            <a:solidFill>
              <a:srgbClr val="FF0066"/>
            </a:solidFill>
            <a:prstDash val="solid"/>
            <a:round/>
            <a:headEnd type="none" w="med" len="med"/>
            <a:tailEnd type="triangle" w="med" len="med"/>
          </a:ln>
        </p:spPr>
      </p:sp>
      <p:sp>
        <p:nvSpPr>
          <p:cNvPr id="276" name="Line 89"/>
          <p:cNvSpPr/>
          <p:nvPr/>
        </p:nvSpPr>
        <p:spPr>
          <a:xfrm>
            <a:off x="3981450" y="3952875"/>
            <a:ext cx="1450975" cy="744537"/>
          </a:xfrm>
          <a:prstGeom prst="line">
            <a:avLst/>
          </a:prstGeom>
          <a:ln w="9525" cap="flat" cmpd="sng">
            <a:solidFill>
              <a:srgbClr val="FF0066"/>
            </a:solidFill>
            <a:prstDash val="solid"/>
            <a:round/>
            <a:headEnd type="none" w="med" len="med"/>
            <a:tailEnd type="triangle" w="med" len="med"/>
          </a:ln>
        </p:spPr>
      </p:sp>
      <p:sp>
        <p:nvSpPr>
          <p:cNvPr id="277" name="Line 90"/>
          <p:cNvSpPr/>
          <p:nvPr/>
        </p:nvSpPr>
        <p:spPr>
          <a:xfrm flipH="1">
            <a:off x="2349500" y="3998912"/>
            <a:ext cx="1346200" cy="704850"/>
          </a:xfrm>
          <a:prstGeom prst="line">
            <a:avLst/>
          </a:prstGeom>
          <a:ln w="9525" cap="flat" cmpd="sng">
            <a:solidFill>
              <a:srgbClr val="FF0066"/>
            </a:solidFill>
            <a:prstDash val="solid"/>
            <a:round/>
            <a:headEnd type="none" w="med" len="med"/>
            <a:tailEnd type="triangle" w="med" len="med"/>
          </a:ln>
        </p:spPr>
      </p:sp>
      <p:grpSp>
        <p:nvGrpSpPr>
          <p:cNvPr id="278" name="Group 91"/>
          <p:cNvGrpSpPr/>
          <p:nvPr/>
        </p:nvGrpSpPr>
        <p:grpSpPr>
          <a:xfrm>
            <a:off x="4021138" y="2801937"/>
            <a:ext cx="3227387" cy="627063"/>
            <a:chOff x="1473" y="1700"/>
            <a:chExt cx="2033" cy="625"/>
          </a:xfrm>
        </p:grpSpPr>
        <p:sp>
          <p:nvSpPr>
            <p:cNvPr id="279" name="Line 92"/>
            <p:cNvSpPr/>
            <p:nvPr/>
          </p:nvSpPr>
          <p:spPr>
            <a:xfrm flipH="1">
              <a:off x="1473" y="1700"/>
              <a:ext cx="593" cy="625"/>
            </a:xfrm>
            <a:prstGeom prst="line">
              <a:avLst/>
            </a:prstGeom>
            <a:ln w="9525" cap="flat" cmpd="sng">
              <a:solidFill>
                <a:srgbClr val="FF0066"/>
              </a:solidFill>
              <a:prstDash val="solid"/>
              <a:round/>
              <a:headEnd type="none" w="med" len="med"/>
              <a:tailEnd type="triangle" w="med" len="med"/>
            </a:ln>
          </p:spPr>
        </p:sp>
        <p:sp>
          <p:nvSpPr>
            <p:cNvPr id="280" name="Line 93"/>
            <p:cNvSpPr/>
            <p:nvPr/>
          </p:nvSpPr>
          <p:spPr>
            <a:xfrm>
              <a:off x="2272" y="1716"/>
              <a:ext cx="1234" cy="601"/>
            </a:xfrm>
            <a:prstGeom prst="line">
              <a:avLst/>
            </a:prstGeom>
            <a:ln w="9525" cap="flat" cmpd="sng">
              <a:solidFill>
                <a:srgbClr val="FF0066"/>
              </a:solidFill>
              <a:prstDash val="solid"/>
              <a:round/>
              <a:headEnd type="none" w="med" len="med"/>
              <a:tailEnd type="triangle" w="med" len="med"/>
            </a:ln>
          </p:spPr>
        </p:sp>
      </p:grpSp>
      <p:sp>
        <p:nvSpPr>
          <p:cNvPr id="281" name="Line 94"/>
          <p:cNvSpPr/>
          <p:nvPr/>
        </p:nvSpPr>
        <p:spPr>
          <a:xfrm>
            <a:off x="1866900" y="4232275"/>
            <a:ext cx="8699500" cy="0"/>
          </a:xfrm>
          <a:prstGeom prst="line">
            <a:avLst/>
          </a:prstGeom>
          <a:ln w="9525" cap="flat" cmpd="sng">
            <a:solidFill>
              <a:srgbClr val="FF0066"/>
            </a:solidFill>
            <a:prstDash val="dash"/>
            <a:round/>
            <a:headEnd type="none" w="med" len="med"/>
            <a:tailEnd type="none" w="med" len="med"/>
          </a:ln>
        </p:spPr>
      </p:sp>
      <p:sp>
        <p:nvSpPr>
          <p:cNvPr id="282" name="Line 95"/>
          <p:cNvSpPr/>
          <p:nvPr/>
        </p:nvSpPr>
        <p:spPr>
          <a:xfrm>
            <a:off x="2022475" y="5265737"/>
            <a:ext cx="0" cy="365125"/>
          </a:xfrm>
          <a:prstGeom prst="line">
            <a:avLst/>
          </a:prstGeom>
          <a:ln w="9525" cap="flat" cmpd="sng">
            <a:solidFill>
              <a:srgbClr val="FF0066"/>
            </a:solidFill>
            <a:prstDash val="solid"/>
            <a:round/>
            <a:headEnd type="none" w="med" len="med"/>
            <a:tailEnd type="triangle" w="med" len="med"/>
          </a:ln>
        </p:spPr>
      </p:sp>
      <p:sp>
        <p:nvSpPr>
          <p:cNvPr id="283" name="Line 96"/>
          <p:cNvSpPr/>
          <p:nvPr/>
        </p:nvSpPr>
        <p:spPr>
          <a:xfrm>
            <a:off x="2327275" y="5265737"/>
            <a:ext cx="0" cy="365125"/>
          </a:xfrm>
          <a:prstGeom prst="line">
            <a:avLst/>
          </a:prstGeom>
          <a:ln w="9525" cap="flat" cmpd="sng">
            <a:solidFill>
              <a:srgbClr val="FF0066"/>
            </a:solidFill>
            <a:prstDash val="solid"/>
            <a:round/>
            <a:headEnd type="none" w="med" len="med"/>
            <a:tailEnd type="triangle" w="med" len="med"/>
          </a:ln>
        </p:spPr>
      </p:sp>
      <p:sp>
        <p:nvSpPr>
          <p:cNvPr id="284" name="Line 97"/>
          <p:cNvSpPr/>
          <p:nvPr/>
        </p:nvSpPr>
        <p:spPr>
          <a:xfrm>
            <a:off x="2976563" y="5238750"/>
            <a:ext cx="1866900" cy="0"/>
          </a:xfrm>
          <a:prstGeom prst="line">
            <a:avLst/>
          </a:prstGeom>
          <a:ln w="9525" cap="flat" cmpd="sng">
            <a:solidFill>
              <a:srgbClr val="FF0066"/>
            </a:solidFill>
            <a:prstDash val="solid"/>
            <a:round/>
            <a:headEnd type="none" w="med" len="med"/>
            <a:tailEnd type="triangle" w="med" len="med"/>
          </a:ln>
        </p:spPr>
      </p:sp>
      <p:sp>
        <p:nvSpPr>
          <p:cNvPr id="285" name="Line 98"/>
          <p:cNvSpPr/>
          <p:nvPr/>
        </p:nvSpPr>
        <p:spPr>
          <a:xfrm>
            <a:off x="4994275" y="5265737"/>
            <a:ext cx="0" cy="365125"/>
          </a:xfrm>
          <a:prstGeom prst="line">
            <a:avLst/>
          </a:prstGeom>
          <a:ln w="9525" cap="flat" cmpd="sng">
            <a:solidFill>
              <a:srgbClr val="FF0066"/>
            </a:solidFill>
            <a:prstDash val="solid"/>
            <a:round/>
            <a:headEnd type="none" w="med" len="med"/>
            <a:tailEnd type="triangle" w="med" len="med"/>
          </a:ln>
        </p:spPr>
      </p:sp>
      <p:sp>
        <p:nvSpPr>
          <p:cNvPr id="286" name="Line 99"/>
          <p:cNvSpPr/>
          <p:nvPr/>
        </p:nvSpPr>
        <p:spPr>
          <a:xfrm>
            <a:off x="5286375" y="5265737"/>
            <a:ext cx="0" cy="365125"/>
          </a:xfrm>
          <a:prstGeom prst="line">
            <a:avLst/>
          </a:prstGeom>
          <a:ln w="9525" cap="flat" cmpd="sng">
            <a:solidFill>
              <a:srgbClr val="FF0066"/>
            </a:solidFill>
            <a:prstDash val="solid"/>
            <a:round/>
            <a:headEnd type="none" w="med" len="med"/>
            <a:tailEnd type="triangle" w="med" len="med"/>
          </a:ln>
        </p:spPr>
      </p:sp>
      <p:sp>
        <p:nvSpPr>
          <p:cNvPr id="287" name="Line 100"/>
          <p:cNvSpPr/>
          <p:nvPr/>
        </p:nvSpPr>
        <p:spPr>
          <a:xfrm>
            <a:off x="5591175" y="5265737"/>
            <a:ext cx="0" cy="365125"/>
          </a:xfrm>
          <a:prstGeom prst="line">
            <a:avLst/>
          </a:prstGeom>
          <a:ln w="9525" cap="flat" cmpd="sng">
            <a:solidFill>
              <a:srgbClr val="FF0066"/>
            </a:solidFill>
            <a:prstDash val="solid"/>
            <a:round/>
            <a:headEnd type="none" w="med" len="med"/>
            <a:tailEnd type="triangle" w="med" len="med"/>
          </a:ln>
        </p:spPr>
      </p:sp>
      <p:sp>
        <p:nvSpPr>
          <p:cNvPr id="288" name="Line 101"/>
          <p:cNvSpPr/>
          <p:nvPr/>
        </p:nvSpPr>
        <p:spPr>
          <a:xfrm>
            <a:off x="5948363" y="5251450"/>
            <a:ext cx="377825" cy="0"/>
          </a:xfrm>
          <a:prstGeom prst="line">
            <a:avLst/>
          </a:prstGeom>
          <a:ln w="9525" cap="flat" cmpd="sng">
            <a:solidFill>
              <a:srgbClr val="FF0066"/>
            </a:solidFill>
            <a:prstDash val="solid"/>
            <a:round/>
            <a:headEnd type="none" w="med" len="med"/>
            <a:tailEnd type="triangle" w="med" len="med"/>
          </a:ln>
        </p:spPr>
      </p:sp>
      <p:sp>
        <p:nvSpPr>
          <p:cNvPr id="289" name="Line 102"/>
          <p:cNvSpPr/>
          <p:nvPr/>
        </p:nvSpPr>
        <p:spPr>
          <a:xfrm>
            <a:off x="6467475" y="5265737"/>
            <a:ext cx="0" cy="365125"/>
          </a:xfrm>
          <a:prstGeom prst="line">
            <a:avLst/>
          </a:prstGeom>
          <a:ln w="9525" cap="flat" cmpd="sng">
            <a:solidFill>
              <a:srgbClr val="FF0066"/>
            </a:solidFill>
            <a:prstDash val="solid"/>
            <a:round/>
            <a:headEnd type="none" w="med" len="med"/>
            <a:tailEnd type="triangle" w="med" len="med"/>
          </a:ln>
        </p:spPr>
      </p:sp>
      <p:sp>
        <p:nvSpPr>
          <p:cNvPr id="290" name="Line 103"/>
          <p:cNvSpPr/>
          <p:nvPr/>
        </p:nvSpPr>
        <p:spPr>
          <a:xfrm>
            <a:off x="6746875" y="5265737"/>
            <a:ext cx="0" cy="365125"/>
          </a:xfrm>
          <a:prstGeom prst="line">
            <a:avLst/>
          </a:prstGeom>
          <a:ln w="9525" cap="flat" cmpd="sng">
            <a:solidFill>
              <a:srgbClr val="FF0066"/>
            </a:solidFill>
            <a:prstDash val="solid"/>
            <a:round/>
            <a:headEnd type="none" w="med" len="med"/>
            <a:tailEnd type="triangle" w="med" len="med"/>
          </a:ln>
        </p:spPr>
      </p:sp>
      <p:sp>
        <p:nvSpPr>
          <p:cNvPr id="291" name="Line 104"/>
          <p:cNvSpPr/>
          <p:nvPr/>
        </p:nvSpPr>
        <p:spPr>
          <a:xfrm>
            <a:off x="7421563" y="5251450"/>
            <a:ext cx="377825" cy="0"/>
          </a:xfrm>
          <a:prstGeom prst="line">
            <a:avLst/>
          </a:prstGeom>
          <a:ln w="9525" cap="flat" cmpd="sng">
            <a:solidFill>
              <a:srgbClr val="FF0066"/>
            </a:solidFill>
            <a:prstDash val="solid"/>
            <a:round/>
            <a:headEnd type="none" w="med" len="med"/>
            <a:tailEnd type="triangle" w="med" len="med"/>
          </a:ln>
        </p:spPr>
      </p:sp>
      <p:sp>
        <p:nvSpPr>
          <p:cNvPr id="292" name="Line 105"/>
          <p:cNvSpPr/>
          <p:nvPr/>
        </p:nvSpPr>
        <p:spPr>
          <a:xfrm>
            <a:off x="7978775" y="5265737"/>
            <a:ext cx="0" cy="365125"/>
          </a:xfrm>
          <a:prstGeom prst="line">
            <a:avLst/>
          </a:prstGeom>
          <a:ln w="9525" cap="flat" cmpd="sng">
            <a:solidFill>
              <a:srgbClr val="FF0066"/>
            </a:solidFill>
            <a:prstDash val="solid"/>
            <a:round/>
            <a:headEnd type="none" w="med" len="med"/>
            <a:tailEnd type="triangle" w="med" len="med"/>
          </a:ln>
        </p:spPr>
      </p:sp>
      <p:sp>
        <p:nvSpPr>
          <p:cNvPr id="293" name="Line 106"/>
          <p:cNvSpPr/>
          <p:nvPr/>
        </p:nvSpPr>
        <p:spPr>
          <a:xfrm>
            <a:off x="8258175" y="5265737"/>
            <a:ext cx="0" cy="365125"/>
          </a:xfrm>
          <a:prstGeom prst="line">
            <a:avLst/>
          </a:prstGeom>
          <a:ln w="9525" cap="flat" cmpd="sng">
            <a:solidFill>
              <a:srgbClr val="FF0066"/>
            </a:solidFill>
            <a:prstDash val="solid"/>
            <a:round/>
            <a:headEnd type="none" w="med" len="med"/>
            <a:tailEnd type="triangle" w="med" len="med"/>
          </a:ln>
        </p:spPr>
      </p:sp>
      <p:sp>
        <p:nvSpPr>
          <p:cNvPr id="294" name="Line 107"/>
          <p:cNvSpPr/>
          <p:nvPr/>
        </p:nvSpPr>
        <p:spPr>
          <a:xfrm>
            <a:off x="8575675" y="5265737"/>
            <a:ext cx="0" cy="365125"/>
          </a:xfrm>
          <a:prstGeom prst="line">
            <a:avLst/>
          </a:prstGeom>
          <a:ln w="9525" cap="flat" cmpd="sng">
            <a:solidFill>
              <a:srgbClr val="FF0066"/>
            </a:solidFill>
            <a:prstDash val="solid"/>
            <a:round/>
            <a:headEnd type="none" w="med" len="med"/>
            <a:tailEnd type="triangle" w="med" len="med"/>
          </a:ln>
        </p:spPr>
      </p:sp>
      <p:sp>
        <p:nvSpPr>
          <p:cNvPr id="295" name="Line 108"/>
          <p:cNvSpPr/>
          <p:nvPr/>
        </p:nvSpPr>
        <p:spPr>
          <a:xfrm>
            <a:off x="8932863" y="5251450"/>
            <a:ext cx="377825" cy="0"/>
          </a:xfrm>
          <a:prstGeom prst="line">
            <a:avLst/>
          </a:prstGeom>
          <a:ln w="9525" cap="flat" cmpd="sng">
            <a:solidFill>
              <a:srgbClr val="FF0066"/>
            </a:solidFill>
            <a:prstDash val="solid"/>
            <a:round/>
            <a:headEnd type="none" w="med" len="med"/>
            <a:tailEnd type="triangle" w="med" len="med"/>
          </a:ln>
        </p:spPr>
      </p:sp>
      <p:sp>
        <p:nvSpPr>
          <p:cNvPr id="296" name="Line 109"/>
          <p:cNvSpPr/>
          <p:nvPr/>
        </p:nvSpPr>
        <p:spPr>
          <a:xfrm>
            <a:off x="9451975" y="5253037"/>
            <a:ext cx="0" cy="365125"/>
          </a:xfrm>
          <a:prstGeom prst="line">
            <a:avLst/>
          </a:prstGeom>
          <a:ln w="9525" cap="flat" cmpd="sng">
            <a:solidFill>
              <a:srgbClr val="FF0066"/>
            </a:solidFill>
            <a:prstDash val="solid"/>
            <a:round/>
            <a:headEnd type="none" w="med" len="med"/>
            <a:tailEnd type="triangle" w="med" len="med"/>
          </a:ln>
        </p:spPr>
      </p:sp>
      <p:sp>
        <p:nvSpPr>
          <p:cNvPr id="297" name="Line 110"/>
          <p:cNvSpPr/>
          <p:nvPr/>
        </p:nvSpPr>
        <p:spPr>
          <a:xfrm>
            <a:off x="9731375" y="5253037"/>
            <a:ext cx="0" cy="365125"/>
          </a:xfrm>
          <a:prstGeom prst="line">
            <a:avLst/>
          </a:prstGeom>
          <a:ln w="9525" cap="flat" cmpd="sng">
            <a:solidFill>
              <a:srgbClr val="FF0066"/>
            </a:solidFill>
            <a:prstDash val="solid"/>
            <a:round/>
            <a:headEnd type="none" w="med" len="med"/>
            <a:tailEnd type="triangle" w="med" len="med"/>
          </a:ln>
        </p:spPr>
      </p:sp>
      <p:sp>
        <p:nvSpPr>
          <p:cNvPr id="298" name="Line 112"/>
          <p:cNvSpPr/>
          <p:nvPr/>
        </p:nvSpPr>
        <p:spPr>
          <a:xfrm>
            <a:off x="2632075" y="5253037"/>
            <a:ext cx="0" cy="365125"/>
          </a:xfrm>
          <a:prstGeom prst="line">
            <a:avLst/>
          </a:prstGeom>
          <a:ln w="9525" cap="flat" cmpd="sng">
            <a:solidFill>
              <a:srgbClr val="FF0066"/>
            </a:solidFill>
            <a:prstDash val="solid"/>
            <a:round/>
            <a:headEnd type="none" w="med" len="med"/>
            <a:tailEnd type="triangle" w="med" len="med"/>
          </a:ln>
        </p:spPr>
      </p:sp>
      <p:sp>
        <p:nvSpPr>
          <p:cNvPr id="299" name="Text Box 114"/>
          <p:cNvSpPr txBox="1"/>
          <p:nvPr/>
        </p:nvSpPr>
        <p:spPr>
          <a:xfrm>
            <a:off x="3463925" y="3409950"/>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删除过程与合并过程完成之后 </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删除键值为</a:t>
            </a:r>
            <a:r>
              <a:rPr lang="en-US" altLang="zh-CN" sz="2000" b="0" dirty="0">
                <a:latin typeface="微软雅黑" panose="020B0503020204020204" pitchFamily="34" charset="-122"/>
                <a:ea typeface="微软雅黑" panose="020B0503020204020204" pitchFamily="34" charset="-122"/>
              </a:rPr>
              <a:t>11</a:t>
            </a:r>
            <a:r>
              <a:rPr lang="zh-CN" altLang="en-US" sz="2000" b="0" dirty="0">
                <a:latin typeface="微软雅黑" panose="020B0503020204020204" pitchFamily="34" charset="-122"/>
                <a:ea typeface="微软雅黑" panose="020B0503020204020204" pitchFamily="34" charset="-122"/>
              </a:rPr>
              <a:t>的记录</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最终状态</a:t>
            </a:r>
            <a:endParaRPr lang="zh-CN" altLang="en-US" sz="2000" b="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插入与结点分裂过程示意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511" name="Group 2"/>
          <p:cNvGrpSpPr/>
          <p:nvPr/>
        </p:nvGrpSpPr>
        <p:grpSpPr>
          <a:xfrm>
            <a:off x="4189846" y="2440954"/>
            <a:ext cx="1238250" cy="695325"/>
            <a:chOff x="856" y="1440"/>
            <a:chExt cx="1291" cy="667"/>
          </a:xfrm>
        </p:grpSpPr>
        <p:sp>
          <p:nvSpPr>
            <p:cNvPr id="513" name="Rectangle 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14" name="Line 4"/>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15" name="Line 5"/>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16" name="Line 6"/>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17" name="Line 7"/>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18" name="Line 8"/>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19" name="Line 9"/>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520" name="Text Box 10"/>
          <p:cNvSpPr txBox="1"/>
          <p:nvPr/>
        </p:nvSpPr>
        <p:spPr>
          <a:xfrm>
            <a:off x="4118408" y="2417142"/>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grpSp>
        <p:nvGrpSpPr>
          <p:cNvPr id="521" name="Group 11"/>
          <p:cNvGrpSpPr/>
          <p:nvPr/>
        </p:nvGrpSpPr>
        <p:grpSpPr>
          <a:xfrm>
            <a:off x="2876983" y="3603004"/>
            <a:ext cx="1238250" cy="695325"/>
            <a:chOff x="856" y="1440"/>
            <a:chExt cx="1291" cy="667"/>
          </a:xfrm>
        </p:grpSpPr>
        <p:sp>
          <p:nvSpPr>
            <p:cNvPr id="522" name="Rectangle 1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23" name="Line 1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24" name="Line 1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25" name="Line 1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26" name="Line 1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27" name="Line 1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28" name="Line 1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29" name="Group 19"/>
          <p:cNvGrpSpPr/>
          <p:nvPr/>
        </p:nvGrpSpPr>
        <p:grpSpPr>
          <a:xfrm>
            <a:off x="6425046" y="3603004"/>
            <a:ext cx="1238250" cy="695325"/>
            <a:chOff x="856" y="1440"/>
            <a:chExt cx="1291" cy="667"/>
          </a:xfrm>
        </p:grpSpPr>
        <p:sp>
          <p:nvSpPr>
            <p:cNvPr id="530" name="Rectangle 2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31" name="Line 2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32" name="Line 2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33" name="Line 2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34" name="Line 2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35" name="Line 2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36" name="Line 2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37" name="Group 27"/>
          <p:cNvGrpSpPr/>
          <p:nvPr/>
        </p:nvGrpSpPr>
        <p:grpSpPr>
          <a:xfrm>
            <a:off x="1218046" y="4879354"/>
            <a:ext cx="1238250" cy="695325"/>
            <a:chOff x="856" y="1440"/>
            <a:chExt cx="1291" cy="667"/>
          </a:xfrm>
        </p:grpSpPr>
        <p:sp>
          <p:nvSpPr>
            <p:cNvPr id="538" name="Rectangle 2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39" name="Line 29"/>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40" name="Line 30"/>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41" name="Line 31"/>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42" name="Line 32"/>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43" name="Line 33"/>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44" name="Line 34"/>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45" name="Group 35"/>
          <p:cNvGrpSpPr/>
          <p:nvPr/>
        </p:nvGrpSpPr>
        <p:grpSpPr>
          <a:xfrm>
            <a:off x="4189846" y="4879354"/>
            <a:ext cx="1238250" cy="695325"/>
            <a:chOff x="856" y="1440"/>
            <a:chExt cx="1291" cy="667"/>
          </a:xfrm>
        </p:grpSpPr>
        <p:sp>
          <p:nvSpPr>
            <p:cNvPr id="546" name="Rectangle 3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47" name="Line 37"/>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48" name="Line 38"/>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49" name="Line 39"/>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50" name="Line 40"/>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51" name="Line 41"/>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52" name="Line 42"/>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53" name="Group 43"/>
          <p:cNvGrpSpPr/>
          <p:nvPr/>
        </p:nvGrpSpPr>
        <p:grpSpPr>
          <a:xfrm>
            <a:off x="5675746" y="4879354"/>
            <a:ext cx="1238250" cy="695325"/>
            <a:chOff x="856" y="1440"/>
            <a:chExt cx="1291" cy="667"/>
          </a:xfrm>
        </p:grpSpPr>
        <p:sp>
          <p:nvSpPr>
            <p:cNvPr id="554" name="Rectangle 4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55" name="Line 45"/>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56" name="Line 46"/>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57" name="Line 47"/>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58" name="Line 48"/>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59" name="Line 49"/>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60" name="Line 50"/>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61" name="Group 51"/>
          <p:cNvGrpSpPr/>
          <p:nvPr/>
        </p:nvGrpSpPr>
        <p:grpSpPr>
          <a:xfrm>
            <a:off x="7161646" y="4879354"/>
            <a:ext cx="1238250" cy="695325"/>
            <a:chOff x="856" y="1440"/>
            <a:chExt cx="1291" cy="667"/>
          </a:xfrm>
        </p:grpSpPr>
        <p:sp>
          <p:nvSpPr>
            <p:cNvPr id="562" name="Rectangle 5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63" name="Line 53"/>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64" name="Line 54"/>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65" name="Line 55"/>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66" name="Line 56"/>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67" name="Line 57"/>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568" name="Line 58"/>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grpSp>
        <p:nvGrpSpPr>
          <p:cNvPr id="569" name="Group 59"/>
          <p:cNvGrpSpPr/>
          <p:nvPr/>
        </p:nvGrpSpPr>
        <p:grpSpPr>
          <a:xfrm>
            <a:off x="8649133" y="4879354"/>
            <a:ext cx="1238250" cy="695325"/>
            <a:chOff x="856" y="1440"/>
            <a:chExt cx="1291" cy="667"/>
          </a:xfrm>
        </p:grpSpPr>
        <p:sp>
          <p:nvSpPr>
            <p:cNvPr id="570" name="Rectangle 6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571" name="Line 61"/>
            <p:cNvSpPr/>
            <p:nvPr/>
          </p:nvSpPr>
          <p:spPr>
            <a:xfrm>
              <a:off x="864" y="1769"/>
              <a:ext cx="1266" cy="0"/>
            </a:xfrm>
            <a:prstGeom prst="line">
              <a:avLst/>
            </a:prstGeom>
            <a:ln w="12700" cap="flat" cmpd="sng">
              <a:solidFill>
                <a:srgbClr val="FF0066"/>
              </a:solidFill>
              <a:prstDash val="solid"/>
              <a:round/>
              <a:headEnd type="none" w="med" len="med"/>
              <a:tailEnd type="none" w="med" len="med"/>
            </a:ln>
          </p:spPr>
        </p:sp>
        <p:sp>
          <p:nvSpPr>
            <p:cNvPr id="572" name="Line 62"/>
            <p:cNvSpPr/>
            <p:nvPr/>
          </p:nvSpPr>
          <p:spPr>
            <a:xfrm>
              <a:off x="1292" y="1440"/>
              <a:ext cx="0" cy="321"/>
            </a:xfrm>
            <a:prstGeom prst="line">
              <a:avLst/>
            </a:prstGeom>
            <a:ln w="12700" cap="flat" cmpd="sng">
              <a:solidFill>
                <a:srgbClr val="FF0066"/>
              </a:solidFill>
              <a:prstDash val="solid"/>
              <a:round/>
              <a:headEnd type="none" w="med" len="med"/>
              <a:tailEnd type="none" w="med" len="med"/>
            </a:ln>
          </p:spPr>
        </p:sp>
        <p:sp>
          <p:nvSpPr>
            <p:cNvPr id="573" name="Line 63"/>
            <p:cNvSpPr/>
            <p:nvPr/>
          </p:nvSpPr>
          <p:spPr>
            <a:xfrm>
              <a:off x="1732" y="1448"/>
              <a:ext cx="0" cy="321"/>
            </a:xfrm>
            <a:prstGeom prst="line">
              <a:avLst/>
            </a:prstGeom>
            <a:ln w="12700" cap="flat" cmpd="sng">
              <a:solidFill>
                <a:srgbClr val="FF0066"/>
              </a:solidFill>
              <a:prstDash val="solid"/>
              <a:round/>
              <a:headEnd type="none" w="med" len="med"/>
              <a:tailEnd type="none" w="med" len="med"/>
            </a:ln>
          </p:spPr>
        </p:sp>
        <p:sp>
          <p:nvSpPr>
            <p:cNvPr id="574" name="Line 64"/>
            <p:cNvSpPr/>
            <p:nvPr/>
          </p:nvSpPr>
          <p:spPr>
            <a:xfrm>
              <a:off x="1167" y="1761"/>
              <a:ext cx="0" cy="346"/>
            </a:xfrm>
            <a:prstGeom prst="line">
              <a:avLst/>
            </a:prstGeom>
            <a:ln w="12700" cap="flat" cmpd="sng">
              <a:solidFill>
                <a:srgbClr val="FF0066"/>
              </a:solidFill>
              <a:prstDash val="solid"/>
              <a:round/>
              <a:headEnd type="none" w="med" len="med"/>
              <a:tailEnd type="none" w="med" len="med"/>
            </a:ln>
          </p:spPr>
        </p:sp>
        <p:sp>
          <p:nvSpPr>
            <p:cNvPr id="575" name="Line 65"/>
            <p:cNvSpPr/>
            <p:nvPr/>
          </p:nvSpPr>
          <p:spPr>
            <a:xfrm>
              <a:off x="1499" y="1761"/>
              <a:ext cx="0" cy="346"/>
            </a:xfrm>
            <a:prstGeom prst="line">
              <a:avLst/>
            </a:prstGeom>
            <a:ln w="12700" cap="flat" cmpd="sng">
              <a:solidFill>
                <a:srgbClr val="FF0066"/>
              </a:solidFill>
              <a:prstDash val="solid"/>
              <a:round/>
              <a:headEnd type="none" w="med" len="med"/>
              <a:tailEnd type="none" w="med" len="med"/>
            </a:ln>
          </p:spPr>
        </p:sp>
        <p:sp>
          <p:nvSpPr>
            <p:cNvPr id="261" name="Line 66"/>
            <p:cNvSpPr/>
            <p:nvPr/>
          </p:nvSpPr>
          <p:spPr>
            <a:xfrm>
              <a:off x="1831" y="1761"/>
              <a:ext cx="0" cy="346"/>
            </a:xfrm>
            <a:prstGeom prst="line">
              <a:avLst/>
            </a:prstGeom>
            <a:ln w="12700" cap="flat" cmpd="sng">
              <a:solidFill>
                <a:srgbClr val="FF0066"/>
              </a:solidFill>
              <a:prstDash val="solid"/>
              <a:round/>
              <a:headEnd type="none" w="med" len="med"/>
              <a:tailEnd type="none" w="med" len="med"/>
            </a:ln>
          </p:spPr>
        </p:sp>
      </p:grpSp>
      <p:sp>
        <p:nvSpPr>
          <p:cNvPr id="262" name="Text Box 67"/>
          <p:cNvSpPr txBox="1"/>
          <p:nvPr/>
        </p:nvSpPr>
        <p:spPr>
          <a:xfrm>
            <a:off x="1179946" y="485077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a:t>
            </a:r>
            <a:endParaRPr lang="en-US" altLang="zh-CN" sz="1800" dirty="0">
              <a:latin typeface="Times New Roman" panose="02020603050405020304" pitchFamily="18" charset="0"/>
              <a:ea typeface="楷体_GB2312" pitchFamily="49" charset="-122"/>
            </a:endParaRPr>
          </a:p>
        </p:txBody>
      </p:sp>
      <p:sp>
        <p:nvSpPr>
          <p:cNvPr id="263" name="Text Box 68"/>
          <p:cNvSpPr txBox="1"/>
          <p:nvPr/>
        </p:nvSpPr>
        <p:spPr>
          <a:xfrm>
            <a:off x="1560946" y="485077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a:t>
            </a:r>
            <a:endParaRPr lang="en-US" altLang="zh-CN" sz="1800" dirty="0">
              <a:latin typeface="Times New Roman" panose="02020603050405020304" pitchFamily="18" charset="0"/>
              <a:ea typeface="楷体_GB2312" pitchFamily="49" charset="-122"/>
            </a:endParaRPr>
          </a:p>
        </p:txBody>
      </p:sp>
      <p:sp>
        <p:nvSpPr>
          <p:cNvPr id="264" name="Text Box 69"/>
          <p:cNvSpPr txBox="1"/>
          <p:nvPr/>
        </p:nvSpPr>
        <p:spPr>
          <a:xfrm>
            <a:off x="2005446" y="485077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5</a:t>
            </a:r>
            <a:endParaRPr lang="en-US" altLang="zh-CN" sz="1800" dirty="0">
              <a:latin typeface="Times New Roman" panose="02020603050405020304" pitchFamily="18" charset="0"/>
              <a:ea typeface="楷体_GB2312" pitchFamily="49" charset="-122"/>
            </a:endParaRPr>
          </a:p>
        </p:txBody>
      </p:sp>
      <p:sp>
        <p:nvSpPr>
          <p:cNvPr id="265" name="Text Box 70"/>
          <p:cNvSpPr txBox="1"/>
          <p:nvPr/>
        </p:nvSpPr>
        <p:spPr>
          <a:xfrm>
            <a:off x="4113646" y="486982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sp>
        <p:nvSpPr>
          <p:cNvPr id="266" name="Text Box 71"/>
          <p:cNvSpPr txBox="1"/>
          <p:nvPr/>
        </p:nvSpPr>
        <p:spPr>
          <a:xfrm>
            <a:off x="4532746" y="486982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17</a:t>
            </a:r>
            <a:endParaRPr lang="en-US" altLang="zh-CN" sz="1800" dirty="0">
              <a:latin typeface="Times New Roman" panose="02020603050405020304" pitchFamily="18" charset="0"/>
              <a:ea typeface="楷体_GB2312" pitchFamily="49" charset="-122"/>
            </a:endParaRPr>
          </a:p>
        </p:txBody>
      </p:sp>
      <p:sp>
        <p:nvSpPr>
          <p:cNvPr id="267" name="Text Box 72"/>
          <p:cNvSpPr txBox="1"/>
          <p:nvPr/>
        </p:nvSpPr>
        <p:spPr>
          <a:xfrm>
            <a:off x="4993121" y="4869829"/>
            <a:ext cx="439737"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19</a:t>
            </a:r>
            <a:endParaRPr lang="en-US" altLang="zh-CN" sz="1800" dirty="0">
              <a:latin typeface="Times New Roman" panose="02020603050405020304" pitchFamily="18" charset="0"/>
              <a:ea typeface="楷体_GB2312" pitchFamily="49" charset="-122"/>
            </a:endParaRPr>
          </a:p>
        </p:txBody>
      </p:sp>
      <p:sp>
        <p:nvSpPr>
          <p:cNvPr id="268" name="Text Box 73"/>
          <p:cNvSpPr txBox="1"/>
          <p:nvPr/>
        </p:nvSpPr>
        <p:spPr>
          <a:xfrm>
            <a:off x="5612246" y="485712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23</a:t>
            </a:r>
            <a:endParaRPr lang="en-US" altLang="zh-CN" sz="1800" dirty="0">
              <a:latin typeface="Times New Roman" panose="02020603050405020304" pitchFamily="18" charset="0"/>
              <a:ea typeface="楷体_GB2312" pitchFamily="49" charset="-122"/>
            </a:endParaRPr>
          </a:p>
        </p:txBody>
      </p:sp>
      <p:sp>
        <p:nvSpPr>
          <p:cNvPr id="269" name="Text Box 74"/>
          <p:cNvSpPr txBox="1"/>
          <p:nvPr/>
        </p:nvSpPr>
        <p:spPr>
          <a:xfrm>
            <a:off x="6031346" y="485712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29</a:t>
            </a:r>
            <a:endParaRPr lang="en-US" altLang="zh-CN" sz="1800" dirty="0">
              <a:latin typeface="Times New Roman" panose="02020603050405020304" pitchFamily="18" charset="0"/>
              <a:ea typeface="楷体_GB2312" pitchFamily="49" charset="-122"/>
            </a:endParaRPr>
          </a:p>
        </p:txBody>
      </p:sp>
      <p:sp>
        <p:nvSpPr>
          <p:cNvPr id="270" name="Text Box 75"/>
          <p:cNvSpPr txBox="1"/>
          <p:nvPr/>
        </p:nvSpPr>
        <p:spPr>
          <a:xfrm>
            <a:off x="7125133" y="486347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271" name="Text Box 76"/>
          <p:cNvSpPr txBox="1"/>
          <p:nvPr/>
        </p:nvSpPr>
        <p:spPr>
          <a:xfrm>
            <a:off x="7544233" y="486347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37</a:t>
            </a:r>
            <a:endParaRPr lang="en-US" altLang="zh-CN" sz="1800" dirty="0">
              <a:latin typeface="Times New Roman" panose="02020603050405020304" pitchFamily="18" charset="0"/>
              <a:ea typeface="楷体_GB2312" pitchFamily="49" charset="-122"/>
            </a:endParaRPr>
          </a:p>
        </p:txBody>
      </p:sp>
      <p:sp>
        <p:nvSpPr>
          <p:cNvPr id="272" name="Text Box 77"/>
          <p:cNvSpPr txBox="1"/>
          <p:nvPr/>
        </p:nvSpPr>
        <p:spPr>
          <a:xfrm>
            <a:off x="8004608" y="4863479"/>
            <a:ext cx="439738"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41</a:t>
            </a:r>
            <a:endParaRPr lang="en-US" altLang="zh-CN" sz="1800" dirty="0">
              <a:latin typeface="Times New Roman" panose="02020603050405020304" pitchFamily="18" charset="0"/>
              <a:ea typeface="楷体_GB2312" pitchFamily="49" charset="-122"/>
            </a:endParaRPr>
          </a:p>
        </p:txBody>
      </p:sp>
      <p:sp>
        <p:nvSpPr>
          <p:cNvPr id="273" name="Text Box 78"/>
          <p:cNvSpPr txBox="1"/>
          <p:nvPr/>
        </p:nvSpPr>
        <p:spPr>
          <a:xfrm>
            <a:off x="8588808" y="486347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274" name="Text Box 79"/>
          <p:cNvSpPr txBox="1"/>
          <p:nvPr/>
        </p:nvSpPr>
        <p:spPr>
          <a:xfrm>
            <a:off x="9007908" y="4863479"/>
            <a:ext cx="542925" cy="366713"/>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47</a:t>
            </a:r>
            <a:endParaRPr lang="en-US" altLang="zh-CN" sz="1800" dirty="0">
              <a:latin typeface="Times New Roman" panose="02020603050405020304" pitchFamily="18" charset="0"/>
              <a:ea typeface="楷体_GB2312" pitchFamily="49" charset="-122"/>
            </a:endParaRPr>
          </a:p>
        </p:txBody>
      </p:sp>
      <p:sp>
        <p:nvSpPr>
          <p:cNvPr id="275" name="Text Box 80"/>
          <p:cNvSpPr txBox="1"/>
          <p:nvPr/>
        </p:nvSpPr>
        <p:spPr>
          <a:xfrm>
            <a:off x="6369483" y="3576017"/>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31</a:t>
            </a:r>
            <a:endParaRPr lang="en-US" altLang="zh-CN" sz="1800" dirty="0">
              <a:latin typeface="Times New Roman" panose="02020603050405020304" pitchFamily="18" charset="0"/>
              <a:ea typeface="楷体_GB2312" pitchFamily="49" charset="-122"/>
            </a:endParaRPr>
          </a:p>
        </p:txBody>
      </p:sp>
      <p:sp>
        <p:nvSpPr>
          <p:cNvPr id="276" name="Text Box 81"/>
          <p:cNvSpPr txBox="1"/>
          <p:nvPr/>
        </p:nvSpPr>
        <p:spPr>
          <a:xfrm>
            <a:off x="6829858" y="3576017"/>
            <a:ext cx="439738"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43</a:t>
            </a:r>
            <a:endParaRPr lang="en-US" altLang="zh-CN" sz="1800" dirty="0">
              <a:latin typeface="Times New Roman" panose="02020603050405020304" pitchFamily="18" charset="0"/>
              <a:ea typeface="楷体_GB2312" pitchFamily="49" charset="-122"/>
            </a:endParaRPr>
          </a:p>
        </p:txBody>
      </p:sp>
      <p:sp>
        <p:nvSpPr>
          <p:cNvPr id="277" name="Line 82"/>
          <p:cNvSpPr/>
          <p:nvPr/>
        </p:nvSpPr>
        <p:spPr>
          <a:xfrm>
            <a:off x="7185458" y="4128467"/>
            <a:ext cx="1751013" cy="741362"/>
          </a:xfrm>
          <a:prstGeom prst="line">
            <a:avLst/>
          </a:prstGeom>
          <a:ln w="9525" cap="flat" cmpd="sng">
            <a:solidFill>
              <a:srgbClr val="FF0066"/>
            </a:solidFill>
            <a:prstDash val="solid"/>
            <a:round/>
            <a:headEnd type="none" w="med" len="med"/>
            <a:tailEnd type="triangle" w="med" len="med"/>
          </a:ln>
        </p:spPr>
      </p:sp>
      <p:sp>
        <p:nvSpPr>
          <p:cNvPr id="278" name="Line 83"/>
          <p:cNvSpPr/>
          <p:nvPr/>
        </p:nvSpPr>
        <p:spPr>
          <a:xfrm>
            <a:off x="6885421" y="4131642"/>
            <a:ext cx="587375" cy="757237"/>
          </a:xfrm>
          <a:prstGeom prst="line">
            <a:avLst/>
          </a:prstGeom>
          <a:ln w="9525" cap="flat" cmpd="sng">
            <a:solidFill>
              <a:srgbClr val="FF0066"/>
            </a:solidFill>
            <a:prstDash val="solid"/>
            <a:round/>
            <a:headEnd type="none" w="med" len="med"/>
            <a:tailEnd type="triangle" w="med" len="med"/>
          </a:ln>
        </p:spPr>
      </p:sp>
      <p:sp>
        <p:nvSpPr>
          <p:cNvPr id="279" name="Line 84"/>
          <p:cNvSpPr/>
          <p:nvPr/>
        </p:nvSpPr>
        <p:spPr>
          <a:xfrm flipH="1">
            <a:off x="6010708" y="4155454"/>
            <a:ext cx="547688" cy="714375"/>
          </a:xfrm>
          <a:prstGeom prst="line">
            <a:avLst/>
          </a:prstGeom>
          <a:ln w="9525" cap="flat" cmpd="sng">
            <a:solidFill>
              <a:srgbClr val="FF0066"/>
            </a:solidFill>
            <a:prstDash val="solid"/>
            <a:round/>
            <a:headEnd type="none" w="med" len="med"/>
            <a:tailEnd type="triangle" w="med" len="med"/>
          </a:ln>
        </p:spPr>
      </p:sp>
      <p:sp>
        <p:nvSpPr>
          <p:cNvPr id="280" name="Line 85"/>
          <p:cNvSpPr/>
          <p:nvPr/>
        </p:nvSpPr>
        <p:spPr>
          <a:xfrm>
            <a:off x="3331008" y="4125292"/>
            <a:ext cx="1450975" cy="744537"/>
          </a:xfrm>
          <a:prstGeom prst="line">
            <a:avLst/>
          </a:prstGeom>
          <a:ln w="9525" cap="flat" cmpd="sng">
            <a:solidFill>
              <a:srgbClr val="FF0066"/>
            </a:solidFill>
            <a:prstDash val="solid"/>
            <a:round/>
            <a:headEnd type="none" w="med" len="med"/>
            <a:tailEnd type="triangle" w="med" len="med"/>
          </a:ln>
        </p:spPr>
      </p:sp>
      <p:sp>
        <p:nvSpPr>
          <p:cNvPr id="281" name="Line 86"/>
          <p:cNvSpPr/>
          <p:nvPr/>
        </p:nvSpPr>
        <p:spPr>
          <a:xfrm flipH="1">
            <a:off x="1699058" y="4171329"/>
            <a:ext cx="1346200" cy="704850"/>
          </a:xfrm>
          <a:prstGeom prst="line">
            <a:avLst/>
          </a:prstGeom>
          <a:ln w="9525" cap="flat" cmpd="sng">
            <a:solidFill>
              <a:srgbClr val="FF0066"/>
            </a:solidFill>
            <a:prstDash val="solid"/>
            <a:round/>
            <a:headEnd type="none" w="med" len="med"/>
            <a:tailEnd type="triangle" w="med" len="med"/>
          </a:ln>
        </p:spPr>
      </p:sp>
      <p:grpSp>
        <p:nvGrpSpPr>
          <p:cNvPr id="282" name="Group 87"/>
          <p:cNvGrpSpPr/>
          <p:nvPr/>
        </p:nvGrpSpPr>
        <p:grpSpPr>
          <a:xfrm>
            <a:off x="3370696" y="2974354"/>
            <a:ext cx="3227387" cy="627063"/>
            <a:chOff x="1473" y="1700"/>
            <a:chExt cx="2033" cy="625"/>
          </a:xfrm>
        </p:grpSpPr>
        <p:sp>
          <p:nvSpPr>
            <p:cNvPr id="283" name="Line 88"/>
            <p:cNvSpPr/>
            <p:nvPr/>
          </p:nvSpPr>
          <p:spPr>
            <a:xfrm flipH="1">
              <a:off x="1473" y="1700"/>
              <a:ext cx="593" cy="625"/>
            </a:xfrm>
            <a:prstGeom prst="line">
              <a:avLst/>
            </a:prstGeom>
            <a:ln w="9525" cap="flat" cmpd="sng">
              <a:solidFill>
                <a:srgbClr val="FF0066"/>
              </a:solidFill>
              <a:prstDash val="solid"/>
              <a:round/>
              <a:headEnd type="none" w="med" len="med"/>
              <a:tailEnd type="triangle" w="med" len="med"/>
            </a:ln>
          </p:spPr>
        </p:sp>
        <p:sp>
          <p:nvSpPr>
            <p:cNvPr id="284" name="Line 89"/>
            <p:cNvSpPr/>
            <p:nvPr/>
          </p:nvSpPr>
          <p:spPr>
            <a:xfrm>
              <a:off x="2272" y="1716"/>
              <a:ext cx="1234" cy="601"/>
            </a:xfrm>
            <a:prstGeom prst="line">
              <a:avLst/>
            </a:prstGeom>
            <a:ln w="9525" cap="flat" cmpd="sng">
              <a:solidFill>
                <a:srgbClr val="FF0066"/>
              </a:solidFill>
              <a:prstDash val="solid"/>
              <a:round/>
              <a:headEnd type="none" w="med" len="med"/>
              <a:tailEnd type="triangle" w="med" len="med"/>
            </a:ln>
          </p:spPr>
        </p:sp>
      </p:grpSp>
      <p:sp>
        <p:nvSpPr>
          <p:cNvPr id="285" name="Line 90"/>
          <p:cNvSpPr/>
          <p:nvPr/>
        </p:nvSpPr>
        <p:spPr>
          <a:xfrm>
            <a:off x="1216458" y="4404692"/>
            <a:ext cx="8699500" cy="0"/>
          </a:xfrm>
          <a:prstGeom prst="line">
            <a:avLst/>
          </a:prstGeom>
          <a:ln w="9525" cap="flat" cmpd="sng">
            <a:solidFill>
              <a:srgbClr val="FF0066"/>
            </a:solidFill>
            <a:prstDash val="dash"/>
            <a:round/>
            <a:headEnd type="none" w="med" len="med"/>
            <a:tailEnd type="none" w="med" len="med"/>
          </a:ln>
        </p:spPr>
      </p:sp>
      <p:sp>
        <p:nvSpPr>
          <p:cNvPr id="286" name="Line 91"/>
          <p:cNvSpPr/>
          <p:nvPr/>
        </p:nvSpPr>
        <p:spPr>
          <a:xfrm>
            <a:off x="1372033" y="5438154"/>
            <a:ext cx="0" cy="365125"/>
          </a:xfrm>
          <a:prstGeom prst="line">
            <a:avLst/>
          </a:prstGeom>
          <a:ln w="9525" cap="flat" cmpd="sng">
            <a:solidFill>
              <a:srgbClr val="FF0066"/>
            </a:solidFill>
            <a:prstDash val="solid"/>
            <a:round/>
            <a:headEnd type="none" w="med" len="med"/>
            <a:tailEnd type="triangle" w="med" len="med"/>
          </a:ln>
        </p:spPr>
      </p:sp>
      <p:sp>
        <p:nvSpPr>
          <p:cNvPr id="287" name="Line 92"/>
          <p:cNvSpPr/>
          <p:nvPr/>
        </p:nvSpPr>
        <p:spPr>
          <a:xfrm>
            <a:off x="1676833" y="5438154"/>
            <a:ext cx="0" cy="365125"/>
          </a:xfrm>
          <a:prstGeom prst="line">
            <a:avLst/>
          </a:prstGeom>
          <a:ln w="9525" cap="flat" cmpd="sng">
            <a:solidFill>
              <a:srgbClr val="FF0066"/>
            </a:solidFill>
            <a:prstDash val="solid"/>
            <a:round/>
            <a:headEnd type="none" w="med" len="med"/>
            <a:tailEnd type="triangle" w="med" len="med"/>
          </a:ln>
        </p:spPr>
      </p:sp>
      <p:sp>
        <p:nvSpPr>
          <p:cNvPr id="288" name="Line 93"/>
          <p:cNvSpPr/>
          <p:nvPr/>
        </p:nvSpPr>
        <p:spPr>
          <a:xfrm>
            <a:off x="2326121" y="5411167"/>
            <a:ext cx="1866900" cy="0"/>
          </a:xfrm>
          <a:prstGeom prst="line">
            <a:avLst/>
          </a:prstGeom>
          <a:ln w="9525" cap="flat" cmpd="sng">
            <a:solidFill>
              <a:srgbClr val="FF0066"/>
            </a:solidFill>
            <a:prstDash val="solid"/>
            <a:round/>
            <a:headEnd type="none" w="med" len="med"/>
            <a:tailEnd type="triangle" w="med" len="med"/>
          </a:ln>
        </p:spPr>
      </p:sp>
      <p:sp>
        <p:nvSpPr>
          <p:cNvPr id="289" name="Line 94"/>
          <p:cNvSpPr/>
          <p:nvPr/>
        </p:nvSpPr>
        <p:spPr>
          <a:xfrm>
            <a:off x="4343833" y="5438154"/>
            <a:ext cx="0" cy="365125"/>
          </a:xfrm>
          <a:prstGeom prst="line">
            <a:avLst/>
          </a:prstGeom>
          <a:ln w="9525" cap="flat" cmpd="sng">
            <a:solidFill>
              <a:srgbClr val="FF0066"/>
            </a:solidFill>
            <a:prstDash val="solid"/>
            <a:round/>
            <a:headEnd type="none" w="med" len="med"/>
            <a:tailEnd type="triangle" w="med" len="med"/>
          </a:ln>
        </p:spPr>
      </p:sp>
      <p:sp>
        <p:nvSpPr>
          <p:cNvPr id="290" name="Line 95"/>
          <p:cNvSpPr/>
          <p:nvPr/>
        </p:nvSpPr>
        <p:spPr>
          <a:xfrm>
            <a:off x="4635933" y="5438154"/>
            <a:ext cx="0" cy="365125"/>
          </a:xfrm>
          <a:prstGeom prst="line">
            <a:avLst/>
          </a:prstGeom>
          <a:ln w="9525" cap="flat" cmpd="sng">
            <a:solidFill>
              <a:srgbClr val="FF0066"/>
            </a:solidFill>
            <a:prstDash val="solid"/>
            <a:round/>
            <a:headEnd type="none" w="med" len="med"/>
            <a:tailEnd type="triangle" w="med" len="med"/>
          </a:ln>
        </p:spPr>
      </p:sp>
      <p:sp>
        <p:nvSpPr>
          <p:cNvPr id="291" name="Line 96"/>
          <p:cNvSpPr/>
          <p:nvPr/>
        </p:nvSpPr>
        <p:spPr>
          <a:xfrm>
            <a:off x="4940733" y="5438154"/>
            <a:ext cx="0" cy="365125"/>
          </a:xfrm>
          <a:prstGeom prst="line">
            <a:avLst/>
          </a:prstGeom>
          <a:ln w="9525" cap="flat" cmpd="sng">
            <a:solidFill>
              <a:srgbClr val="FF0066"/>
            </a:solidFill>
            <a:prstDash val="solid"/>
            <a:round/>
            <a:headEnd type="none" w="med" len="med"/>
            <a:tailEnd type="triangle" w="med" len="med"/>
          </a:ln>
        </p:spPr>
      </p:sp>
      <p:sp>
        <p:nvSpPr>
          <p:cNvPr id="292" name="Line 97"/>
          <p:cNvSpPr/>
          <p:nvPr/>
        </p:nvSpPr>
        <p:spPr>
          <a:xfrm>
            <a:off x="5297921" y="5423867"/>
            <a:ext cx="377825" cy="0"/>
          </a:xfrm>
          <a:prstGeom prst="line">
            <a:avLst/>
          </a:prstGeom>
          <a:ln w="9525" cap="flat" cmpd="sng">
            <a:solidFill>
              <a:srgbClr val="FF0066"/>
            </a:solidFill>
            <a:prstDash val="solid"/>
            <a:round/>
            <a:headEnd type="none" w="med" len="med"/>
            <a:tailEnd type="triangle" w="med" len="med"/>
          </a:ln>
        </p:spPr>
      </p:sp>
      <p:sp>
        <p:nvSpPr>
          <p:cNvPr id="293" name="Line 98"/>
          <p:cNvSpPr/>
          <p:nvPr/>
        </p:nvSpPr>
        <p:spPr>
          <a:xfrm>
            <a:off x="5817033" y="5438154"/>
            <a:ext cx="0" cy="365125"/>
          </a:xfrm>
          <a:prstGeom prst="line">
            <a:avLst/>
          </a:prstGeom>
          <a:ln w="9525" cap="flat" cmpd="sng">
            <a:solidFill>
              <a:srgbClr val="FF0066"/>
            </a:solidFill>
            <a:prstDash val="solid"/>
            <a:round/>
            <a:headEnd type="none" w="med" len="med"/>
            <a:tailEnd type="triangle" w="med" len="med"/>
          </a:ln>
        </p:spPr>
      </p:sp>
      <p:sp>
        <p:nvSpPr>
          <p:cNvPr id="294" name="Line 99"/>
          <p:cNvSpPr/>
          <p:nvPr/>
        </p:nvSpPr>
        <p:spPr>
          <a:xfrm>
            <a:off x="6096433" y="5438154"/>
            <a:ext cx="0" cy="365125"/>
          </a:xfrm>
          <a:prstGeom prst="line">
            <a:avLst/>
          </a:prstGeom>
          <a:ln w="9525" cap="flat" cmpd="sng">
            <a:solidFill>
              <a:srgbClr val="FF0066"/>
            </a:solidFill>
            <a:prstDash val="solid"/>
            <a:round/>
            <a:headEnd type="none" w="med" len="med"/>
            <a:tailEnd type="triangle" w="med" len="med"/>
          </a:ln>
        </p:spPr>
      </p:sp>
      <p:sp>
        <p:nvSpPr>
          <p:cNvPr id="295" name="Line 100"/>
          <p:cNvSpPr/>
          <p:nvPr/>
        </p:nvSpPr>
        <p:spPr>
          <a:xfrm>
            <a:off x="6771121" y="5423867"/>
            <a:ext cx="377825" cy="0"/>
          </a:xfrm>
          <a:prstGeom prst="line">
            <a:avLst/>
          </a:prstGeom>
          <a:ln w="9525" cap="flat" cmpd="sng">
            <a:solidFill>
              <a:srgbClr val="FF0066"/>
            </a:solidFill>
            <a:prstDash val="solid"/>
            <a:round/>
            <a:headEnd type="none" w="med" len="med"/>
            <a:tailEnd type="triangle" w="med" len="med"/>
          </a:ln>
        </p:spPr>
      </p:sp>
      <p:sp>
        <p:nvSpPr>
          <p:cNvPr id="296" name="Line 101"/>
          <p:cNvSpPr/>
          <p:nvPr/>
        </p:nvSpPr>
        <p:spPr>
          <a:xfrm>
            <a:off x="7328333" y="5438154"/>
            <a:ext cx="0" cy="365125"/>
          </a:xfrm>
          <a:prstGeom prst="line">
            <a:avLst/>
          </a:prstGeom>
          <a:ln w="9525" cap="flat" cmpd="sng">
            <a:solidFill>
              <a:srgbClr val="FF0066"/>
            </a:solidFill>
            <a:prstDash val="solid"/>
            <a:round/>
            <a:headEnd type="none" w="med" len="med"/>
            <a:tailEnd type="triangle" w="med" len="med"/>
          </a:ln>
        </p:spPr>
      </p:sp>
      <p:sp>
        <p:nvSpPr>
          <p:cNvPr id="297" name="Line 102"/>
          <p:cNvSpPr/>
          <p:nvPr/>
        </p:nvSpPr>
        <p:spPr>
          <a:xfrm>
            <a:off x="7607733" y="5438154"/>
            <a:ext cx="0" cy="365125"/>
          </a:xfrm>
          <a:prstGeom prst="line">
            <a:avLst/>
          </a:prstGeom>
          <a:ln w="9525" cap="flat" cmpd="sng">
            <a:solidFill>
              <a:srgbClr val="FF0066"/>
            </a:solidFill>
            <a:prstDash val="solid"/>
            <a:round/>
            <a:headEnd type="none" w="med" len="med"/>
            <a:tailEnd type="triangle" w="med" len="med"/>
          </a:ln>
        </p:spPr>
      </p:sp>
      <p:sp>
        <p:nvSpPr>
          <p:cNvPr id="298" name="Line 103"/>
          <p:cNvSpPr/>
          <p:nvPr/>
        </p:nvSpPr>
        <p:spPr>
          <a:xfrm>
            <a:off x="7925233" y="5438154"/>
            <a:ext cx="0" cy="365125"/>
          </a:xfrm>
          <a:prstGeom prst="line">
            <a:avLst/>
          </a:prstGeom>
          <a:ln w="9525" cap="flat" cmpd="sng">
            <a:solidFill>
              <a:srgbClr val="FF0066"/>
            </a:solidFill>
            <a:prstDash val="solid"/>
            <a:round/>
            <a:headEnd type="none" w="med" len="med"/>
            <a:tailEnd type="triangle" w="med" len="med"/>
          </a:ln>
        </p:spPr>
      </p:sp>
      <p:sp>
        <p:nvSpPr>
          <p:cNvPr id="299" name="Line 104"/>
          <p:cNvSpPr/>
          <p:nvPr/>
        </p:nvSpPr>
        <p:spPr>
          <a:xfrm>
            <a:off x="8282421" y="5423867"/>
            <a:ext cx="377825" cy="0"/>
          </a:xfrm>
          <a:prstGeom prst="line">
            <a:avLst/>
          </a:prstGeom>
          <a:ln w="9525" cap="flat" cmpd="sng">
            <a:solidFill>
              <a:srgbClr val="FF0066"/>
            </a:solidFill>
            <a:prstDash val="solid"/>
            <a:round/>
            <a:headEnd type="none" w="med" len="med"/>
            <a:tailEnd type="triangle" w="med" len="med"/>
          </a:ln>
        </p:spPr>
      </p:sp>
      <p:sp>
        <p:nvSpPr>
          <p:cNvPr id="300" name="Line 105"/>
          <p:cNvSpPr/>
          <p:nvPr/>
        </p:nvSpPr>
        <p:spPr>
          <a:xfrm>
            <a:off x="8801533" y="5425454"/>
            <a:ext cx="0" cy="365125"/>
          </a:xfrm>
          <a:prstGeom prst="line">
            <a:avLst/>
          </a:prstGeom>
          <a:ln w="9525" cap="flat" cmpd="sng">
            <a:solidFill>
              <a:srgbClr val="FF0066"/>
            </a:solidFill>
            <a:prstDash val="solid"/>
            <a:round/>
            <a:headEnd type="none" w="med" len="med"/>
            <a:tailEnd type="triangle" w="med" len="med"/>
          </a:ln>
        </p:spPr>
      </p:sp>
      <p:sp>
        <p:nvSpPr>
          <p:cNvPr id="301" name="Line 106"/>
          <p:cNvSpPr/>
          <p:nvPr/>
        </p:nvSpPr>
        <p:spPr>
          <a:xfrm>
            <a:off x="9080933" y="5425454"/>
            <a:ext cx="0" cy="365125"/>
          </a:xfrm>
          <a:prstGeom prst="line">
            <a:avLst/>
          </a:prstGeom>
          <a:ln w="9525" cap="flat" cmpd="sng">
            <a:solidFill>
              <a:srgbClr val="FF0066"/>
            </a:solidFill>
            <a:prstDash val="solid"/>
            <a:round/>
            <a:headEnd type="none" w="med" len="med"/>
            <a:tailEnd type="triangle" w="med" len="med"/>
          </a:ln>
        </p:spPr>
      </p:sp>
      <p:sp>
        <p:nvSpPr>
          <p:cNvPr id="302" name="Line 107"/>
          <p:cNvSpPr/>
          <p:nvPr/>
        </p:nvSpPr>
        <p:spPr>
          <a:xfrm>
            <a:off x="1981633" y="5425454"/>
            <a:ext cx="0" cy="365125"/>
          </a:xfrm>
          <a:prstGeom prst="line">
            <a:avLst/>
          </a:prstGeom>
          <a:ln w="9525" cap="flat" cmpd="sng">
            <a:solidFill>
              <a:srgbClr val="FF0066"/>
            </a:solidFill>
            <a:prstDash val="solid"/>
            <a:round/>
            <a:headEnd type="none" w="med" len="med"/>
            <a:tailEnd type="triangle" w="med" len="med"/>
          </a:ln>
        </p:spPr>
      </p:sp>
      <p:sp>
        <p:nvSpPr>
          <p:cNvPr id="303" name="Text Box 108"/>
          <p:cNvSpPr txBox="1"/>
          <p:nvPr/>
        </p:nvSpPr>
        <p:spPr>
          <a:xfrm>
            <a:off x="2813483" y="3582367"/>
            <a:ext cx="542925" cy="366712"/>
          </a:xfrm>
          <a:prstGeom prst="rect">
            <a:avLst/>
          </a:prstGeom>
          <a:noFill/>
          <a:ln w="9525">
            <a:noFill/>
          </a:ln>
        </p:spPr>
        <p:txBody>
          <a:bodyPr anchor="t">
            <a:spAutoFit/>
          </a:bodyPr>
          <a:lstStyle/>
          <a:p>
            <a:pPr algn="ctr"/>
            <a:r>
              <a:rPr lang="en-US" altLang="zh-CN" sz="1800" dirty="0">
                <a:latin typeface="Times New Roman" panose="02020603050405020304" pitchFamily="18" charset="0"/>
                <a:ea typeface="楷体_GB2312" pitchFamily="49" charset="-122"/>
              </a:rPr>
              <a:t>13</a:t>
            </a:r>
            <a:endParaRPr lang="en-US" altLang="zh-CN" sz="1800" dirty="0">
              <a:latin typeface="Times New Roman" panose="02020603050405020304" pitchFamily="18" charset="0"/>
              <a:ea typeface="楷体_GB2312" pitchFamily="49" charset="-122"/>
            </a:endParaRPr>
          </a:p>
        </p:txBody>
      </p:sp>
      <p:grpSp>
        <p:nvGrpSpPr>
          <p:cNvPr id="304" name="Group 111"/>
          <p:cNvGrpSpPr/>
          <p:nvPr/>
        </p:nvGrpSpPr>
        <p:grpSpPr>
          <a:xfrm>
            <a:off x="2730139" y="5601666"/>
            <a:ext cx="1681163" cy="1193800"/>
            <a:chOff x="3368" y="3555"/>
            <a:chExt cx="836" cy="705"/>
          </a:xfrm>
        </p:grpSpPr>
        <p:sp>
          <p:nvSpPr>
            <p:cNvPr id="305"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06" name="Oval 40"/>
            <p:cNvSpPr/>
            <p:nvPr/>
          </p:nvSpPr>
          <p:spPr>
            <a:xfrm>
              <a:off x="3437" y="3613"/>
              <a:ext cx="698" cy="588"/>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307" name="Text Box 84"/>
            <p:cNvSpPr txBox="1"/>
            <p:nvPr/>
          </p:nvSpPr>
          <p:spPr>
            <a:xfrm>
              <a:off x="3440" y="3686"/>
              <a:ext cx="692" cy="414"/>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关键点</a:t>
              </a:r>
              <a:r>
                <a:rPr lang="en-US" altLang="zh-CN" dirty="0">
                  <a:solidFill>
                    <a:srgbClr val="FFFFFF"/>
                  </a:solidFill>
                  <a:latin typeface="Arial" panose="020B0604020202020204" pitchFamily="34" charset="0"/>
                  <a:ea typeface="微软雅黑" panose="020B0503020204020204" pitchFamily="34" charset="-122"/>
                </a:rPr>
                <a:t>3</a:t>
              </a:r>
              <a:r>
                <a:rPr lang="zh-CN" altLang="en-US" dirty="0">
                  <a:solidFill>
                    <a:srgbClr val="FFFFFF"/>
                  </a:solidFill>
                  <a:latin typeface="Arial" panose="020B0604020202020204" pitchFamily="34" charset="0"/>
                  <a:ea typeface="微软雅黑" panose="020B0503020204020204" pitchFamily="34" charset="-122"/>
                </a:rPr>
                <a:t>：指针调整</a:t>
              </a:r>
              <a:endParaRPr lang="zh-CN" altLang="en-US" dirty="0">
                <a:solidFill>
                  <a:srgbClr val="FFFFFF"/>
                </a:solidFill>
                <a:latin typeface="Arial" panose="020B0604020202020204" pitchFamily="34" charset="0"/>
                <a:ea typeface="微软雅黑" panose="020B0503020204020204" pitchFamily="34" charset="-122"/>
              </a:endParaRPr>
            </a:p>
          </p:txBody>
        </p:sp>
      </p:grpSp>
      <p:grpSp>
        <p:nvGrpSpPr>
          <p:cNvPr id="308" name="Group 115"/>
          <p:cNvGrpSpPr/>
          <p:nvPr/>
        </p:nvGrpSpPr>
        <p:grpSpPr>
          <a:xfrm>
            <a:off x="8801533" y="2656061"/>
            <a:ext cx="2486025" cy="1406525"/>
            <a:chOff x="1265" y="3268"/>
            <a:chExt cx="1154" cy="629"/>
          </a:xfrm>
        </p:grpSpPr>
        <p:sp>
          <p:nvSpPr>
            <p:cNvPr id="309"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310"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311" name="Text Box 84"/>
            <p:cNvSpPr/>
            <p:nvPr/>
          </p:nvSpPr>
          <p:spPr>
            <a:xfrm>
              <a:off x="1269" y="3299"/>
              <a:ext cx="1150" cy="568"/>
            </a:xfrm>
            <a:prstGeom prst="roundRect">
              <a:avLst>
                <a:gd name="adj" fmla="val 16667"/>
              </a:avLst>
            </a:prstGeom>
            <a:noFill/>
            <a:ln w="9525">
              <a:noFill/>
            </a:ln>
          </p:spPr>
          <p:txBody>
            <a:bodyPr anchor="t">
              <a:spAutoFit/>
            </a:bodyPr>
            <a:lstStyle/>
            <a:p>
              <a:pPr>
                <a:spcBef>
                  <a:spcPct val="35000"/>
                </a:spcBef>
                <a:buChar char="•"/>
              </a:pPr>
              <a:r>
                <a:rPr lang="zh-CN" altLang="en-US" sz="1600" dirty="0">
                  <a:solidFill>
                    <a:schemeClr val="accent2"/>
                  </a:solidFill>
                  <a:latin typeface="Arial" panose="020B0604020202020204" pitchFamily="34" charset="0"/>
                  <a:ea typeface="微软雅黑" panose="020B0503020204020204" pitchFamily="34" charset="-122"/>
                </a:rPr>
                <a:t>能够自动保持与主文件大小相适应的树的层次</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35000"/>
                </a:spcBef>
                <a:buChar char="•"/>
              </a:pPr>
              <a:r>
                <a:rPr lang="zh-CN" altLang="en-US" sz="1600" dirty="0">
                  <a:solidFill>
                    <a:schemeClr val="accent2"/>
                  </a:solidFill>
                  <a:latin typeface="Arial" panose="020B0604020202020204" pitchFamily="34" charset="0"/>
                  <a:ea typeface="微软雅黑" panose="020B0503020204020204" pitchFamily="34" charset="-122"/>
                </a:rPr>
                <a:t>每个索引块的指针利用率都在</a:t>
              </a:r>
              <a:r>
                <a:rPr lang="en-US" altLang="zh-CN" sz="1600" dirty="0">
                  <a:solidFill>
                    <a:schemeClr val="accent2"/>
                  </a:solidFill>
                  <a:latin typeface="Arial" panose="020B0604020202020204" pitchFamily="34" charset="0"/>
                  <a:ea typeface="微软雅黑" panose="020B0503020204020204" pitchFamily="34" charset="-122"/>
                </a:rPr>
                <a:t>50%-100%</a:t>
              </a:r>
              <a:r>
                <a:rPr lang="zh-CN" altLang="en-US" sz="1600" dirty="0">
                  <a:solidFill>
                    <a:schemeClr val="accent2"/>
                  </a:solidFill>
                  <a:latin typeface="Arial" panose="020B0604020202020204" pitchFamily="34" charset="0"/>
                  <a:ea typeface="微软雅黑" panose="020B0503020204020204" pitchFamily="34" charset="-122"/>
                </a:rPr>
                <a:t>之间</a:t>
              </a:r>
              <a:endParaRPr lang="zh-CN" altLang="en-US" sz="1600" dirty="0">
                <a:solidFill>
                  <a:schemeClr val="accent2"/>
                </a:solidFill>
                <a:latin typeface="Arial" panose="020B0604020202020204" pitchFamily="34" charset="0"/>
                <a:ea typeface="微软雅黑" panose="020B0503020204020204" pitchFamily="34" charset="-122"/>
              </a:endParaRPr>
            </a:p>
          </p:txBody>
        </p:sp>
      </p:grpSp>
      <p:grpSp>
        <p:nvGrpSpPr>
          <p:cNvPr id="312" name="Group 119"/>
          <p:cNvGrpSpPr/>
          <p:nvPr/>
        </p:nvGrpSpPr>
        <p:grpSpPr>
          <a:xfrm>
            <a:off x="1899083" y="2271092"/>
            <a:ext cx="1717675" cy="1007451"/>
            <a:chOff x="3368" y="3555"/>
            <a:chExt cx="836" cy="705"/>
          </a:xfrm>
        </p:grpSpPr>
        <p:sp>
          <p:nvSpPr>
            <p:cNvPr id="313"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14" name="Oval 40"/>
            <p:cNvSpPr/>
            <p:nvPr/>
          </p:nvSpPr>
          <p:spPr>
            <a:xfrm>
              <a:off x="3437" y="3613"/>
              <a:ext cx="698" cy="588"/>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315" name="Text Box 84"/>
            <p:cNvSpPr txBox="1"/>
            <p:nvPr/>
          </p:nvSpPr>
          <p:spPr>
            <a:xfrm>
              <a:off x="3440" y="3686"/>
              <a:ext cx="692" cy="414"/>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关键点</a:t>
              </a:r>
              <a:r>
                <a:rPr lang="en-US" altLang="zh-CN" dirty="0">
                  <a:solidFill>
                    <a:srgbClr val="FFFFFF"/>
                  </a:solidFill>
                  <a:latin typeface="Arial" panose="020B0604020202020204" pitchFamily="34" charset="0"/>
                  <a:ea typeface="微软雅黑" panose="020B0503020204020204" pitchFamily="34" charset="-122"/>
                </a:rPr>
                <a:t>1</a:t>
              </a:r>
              <a:r>
                <a:rPr lang="zh-CN" altLang="en-US" dirty="0">
                  <a:solidFill>
                    <a:srgbClr val="FFFFFF"/>
                  </a:solidFill>
                  <a:latin typeface="Arial" panose="020B0604020202020204" pitchFamily="34" charset="0"/>
                  <a:ea typeface="微软雅黑" panose="020B0503020204020204" pitchFamily="34" charset="-122"/>
                </a:rPr>
                <a:t>：合并</a:t>
              </a:r>
              <a:endParaRPr lang="zh-CN" altLang="en-US" dirty="0">
                <a:solidFill>
                  <a:srgbClr val="FFFFFF"/>
                </a:solidFill>
                <a:latin typeface="Arial" panose="020B0604020202020204" pitchFamily="34" charset="0"/>
                <a:ea typeface="微软雅黑" panose="020B0503020204020204" pitchFamily="34" charset="-122"/>
              </a:endParaRPr>
            </a:p>
          </p:txBody>
        </p:sp>
      </p:grpSp>
      <p:grpSp>
        <p:nvGrpSpPr>
          <p:cNvPr id="316" name="Group 123"/>
          <p:cNvGrpSpPr/>
          <p:nvPr/>
        </p:nvGrpSpPr>
        <p:grpSpPr>
          <a:xfrm>
            <a:off x="6487752" y="1913908"/>
            <a:ext cx="2239962" cy="1565272"/>
            <a:chOff x="3368" y="3555"/>
            <a:chExt cx="836" cy="705"/>
          </a:xfrm>
        </p:grpSpPr>
        <p:sp>
          <p:nvSpPr>
            <p:cNvPr id="317"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18" name="Oval 40"/>
            <p:cNvSpPr/>
            <p:nvPr/>
          </p:nvSpPr>
          <p:spPr>
            <a:xfrm>
              <a:off x="3437" y="3613"/>
              <a:ext cx="698" cy="588"/>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319" name="Text Box 84"/>
            <p:cNvSpPr txBox="1"/>
            <p:nvPr/>
          </p:nvSpPr>
          <p:spPr>
            <a:xfrm>
              <a:off x="3440" y="3686"/>
              <a:ext cx="691" cy="433"/>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关键点</a:t>
              </a:r>
              <a:r>
                <a:rPr lang="en-US" altLang="zh-CN" dirty="0">
                  <a:solidFill>
                    <a:srgbClr val="FFFFFF"/>
                  </a:solidFill>
                  <a:latin typeface="Arial" panose="020B0604020202020204" pitchFamily="34" charset="0"/>
                  <a:ea typeface="微软雅黑" panose="020B0503020204020204" pitchFamily="34" charset="-122"/>
                </a:rPr>
                <a:t>2</a:t>
              </a:r>
              <a:r>
                <a:rPr lang="zh-CN" altLang="en-US" dirty="0">
                  <a:solidFill>
                    <a:srgbClr val="FFFFFF"/>
                  </a:solidFill>
                  <a:latin typeface="Arial" panose="020B0604020202020204" pitchFamily="34" charset="0"/>
                  <a:ea typeface="微软雅黑" panose="020B0503020204020204" pitchFamily="34" charset="-122"/>
                </a:rPr>
                <a:t>：由叶结点向根结点逐层处理</a:t>
              </a:r>
              <a:endParaRPr lang="zh-CN" altLang="en-US" dirty="0">
                <a:solidFill>
                  <a:srgbClr val="FFFFFF"/>
                </a:solidFill>
                <a:latin typeface="Arial" panose="020B0604020202020204" pitchFamily="34" charset="0"/>
                <a:ea typeface="微软雅黑" panose="020B0503020204020204" pitchFamily="34" charset="-122"/>
              </a:endParaRPr>
            </a:p>
          </p:txBody>
        </p:sp>
      </p:grpSp>
      <p:grpSp>
        <p:nvGrpSpPr>
          <p:cNvPr id="384" name="Group 127"/>
          <p:cNvGrpSpPr/>
          <p:nvPr/>
        </p:nvGrpSpPr>
        <p:grpSpPr>
          <a:xfrm>
            <a:off x="1283927" y="3175424"/>
            <a:ext cx="1450975" cy="1194896"/>
            <a:chOff x="1089" y="3229"/>
            <a:chExt cx="1508" cy="716"/>
          </a:xfrm>
        </p:grpSpPr>
        <p:sp>
          <p:nvSpPr>
            <p:cNvPr id="385" name="AutoShape 39"/>
            <p:cNvSpPr/>
            <p:nvPr/>
          </p:nvSpPr>
          <p:spPr>
            <a:xfrm>
              <a:off x="1265" y="3268"/>
              <a:ext cx="1153" cy="629"/>
            </a:xfrm>
            <a:prstGeom prst="ellipse">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386" name="Oval 40"/>
            <p:cNvSpPr/>
            <p:nvPr/>
          </p:nvSpPr>
          <p:spPr>
            <a:xfrm>
              <a:off x="1310" y="3308"/>
              <a:ext cx="1069" cy="549"/>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387" name="Text Box 84"/>
            <p:cNvSpPr/>
            <p:nvPr/>
          </p:nvSpPr>
          <p:spPr>
            <a:xfrm>
              <a:off x="1089" y="3229"/>
              <a:ext cx="1508" cy="716"/>
            </a:xfrm>
            <a:prstGeom prst="ellipse">
              <a:avLst/>
            </a:prstGeom>
            <a:noFill/>
            <a:ln w="9525">
              <a:noFill/>
            </a:ln>
          </p:spPr>
          <p:txBody>
            <a:bodyPr anchor="t">
              <a:spAutoFit/>
            </a:bodyPr>
            <a:lstStyle/>
            <a:p>
              <a:pPr algn="ctr">
                <a:spcBef>
                  <a:spcPct val="35000"/>
                </a:spcBef>
              </a:pPr>
              <a:r>
                <a:rPr lang="zh-CN" altLang="en-US" sz="1600" dirty="0">
                  <a:solidFill>
                    <a:schemeClr val="accent2"/>
                  </a:solidFill>
                  <a:latin typeface="Arial" panose="020B0604020202020204" pitchFamily="34" charset="0"/>
                  <a:ea typeface="微软雅黑" panose="020B0503020204020204" pitchFamily="34" charset="-122"/>
                </a:rPr>
                <a:t>当指针数目少于规定数目</a:t>
              </a:r>
              <a:endParaRPr lang="zh-CN" altLang="en-US" sz="1600" dirty="0">
                <a:solidFill>
                  <a:schemeClr val="accent2"/>
                </a:solidFill>
                <a:latin typeface="Arial" panose="020B0604020202020204" pitchFamily="34" charset="0"/>
                <a:ea typeface="微软雅黑" panose="020B0503020204020204" pitchFamily="34" charset="-122"/>
              </a:endParaRPr>
            </a:p>
          </p:txBody>
        </p:sp>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4"/>
                                        </p:tgtEl>
                                        <p:attrNameLst>
                                          <p:attrName>style.visibility</p:attrName>
                                        </p:attrNameLst>
                                      </p:cBhvr>
                                      <p:to>
                                        <p:strVal val="visible"/>
                                      </p:to>
                                    </p:set>
                                    <p:anim calcmode="lin" valueType="num">
                                      <p:cBhvr additive="base">
                                        <p:cTn id="7" dur="500" fill="hold"/>
                                        <p:tgtEl>
                                          <p:spTgt spid="384"/>
                                        </p:tgtEl>
                                        <p:attrNameLst>
                                          <p:attrName>ppt_x</p:attrName>
                                        </p:attrNameLst>
                                      </p:cBhvr>
                                      <p:tavLst>
                                        <p:tav tm="0">
                                          <p:val>
                                            <p:strVal val="#ppt_x"/>
                                          </p:val>
                                        </p:tav>
                                        <p:tav tm="100000">
                                          <p:val>
                                            <p:strVal val="#ppt_x"/>
                                          </p:val>
                                        </p:tav>
                                      </p:tavLst>
                                    </p:anim>
                                    <p:anim calcmode="lin" valueType="num">
                                      <p:cBhvr additive="base">
                                        <p:cTn id="8" dur="500" fill="hold"/>
                                        <p:tgtEl>
                                          <p:spTgt spid="3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6"/>
                                        </p:tgtEl>
                                        <p:attrNameLst>
                                          <p:attrName>style.visibility</p:attrName>
                                        </p:attrNameLst>
                                      </p:cBhvr>
                                      <p:to>
                                        <p:strVal val="visible"/>
                                      </p:to>
                                    </p:set>
                                    <p:anim calcmode="lin" valueType="num">
                                      <p:cBhvr additive="base">
                                        <p:cTn id="13" dur="500" fill="hold"/>
                                        <p:tgtEl>
                                          <p:spTgt spid="316"/>
                                        </p:tgtEl>
                                        <p:attrNameLst>
                                          <p:attrName>ppt_x</p:attrName>
                                        </p:attrNameLst>
                                      </p:cBhvr>
                                      <p:tavLst>
                                        <p:tav tm="0">
                                          <p:val>
                                            <p:strVal val="#ppt_x"/>
                                          </p:val>
                                        </p:tav>
                                        <p:tav tm="100000">
                                          <p:val>
                                            <p:strVal val="#ppt_x"/>
                                          </p:val>
                                        </p:tav>
                                      </p:tavLst>
                                    </p:anim>
                                    <p:anim calcmode="lin" valueType="num">
                                      <p:cBhvr additive="base">
                                        <p:cTn id="14" dur="500" fill="hold"/>
                                        <p:tgtEl>
                                          <p:spTgt spid="3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8"/>
                                        </p:tgtEl>
                                        <p:attrNameLst>
                                          <p:attrName>style.visibility</p:attrName>
                                        </p:attrNameLst>
                                      </p:cBhvr>
                                      <p:to>
                                        <p:strVal val="visible"/>
                                      </p:to>
                                    </p:set>
                                    <p:anim calcmode="lin" valueType="num">
                                      <p:cBhvr additive="base">
                                        <p:cTn id="19" dur="500" fill="hold"/>
                                        <p:tgtEl>
                                          <p:spTgt spid="308"/>
                                        </p:tgtEl>
                                        <p:attrNameLst>
                                          <p:attrName>ppt_x</p:attrName>
                                        </p:attrNameLst>
                                      </p:cBhvr>
                                      <p:tavLst>
                                        <p:tav tm="0">
                                          <p:val>
                                            <p:strVal val="#ppt_x"/>
                                          </p:val>
                                        </p:tav>
                                        <p:tav tm="100000">
                                          <p:val>
                                            <p:strVal val="#ppt_x"/>
                                          </p:val>
                                        </p:tav>
                                      </p:tavLst>
                                    </p:anim>
                                    <p:anim calcmode="lin" valueType="num">
                                      <p:cBhvr additive="base">
                                        <p:cTn id="20" dur="500" fill="hold"/>
                                        <p:tgtEl>
                                          <p:spTgt spid="30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4"/>
                                        </p:tgtEl>
                                        <p:attrNameLst>
                                          <p:attrName>style.visibility</p:attrName>
                                        </p:attrNameLst>
                                      </p:cBhvr>
                                      <p:to>
                                        <p:strVal val="visible"/>
                                      </p:to>
                                    </p:set>
                                    <p:anim calcmode="lin" valueType="num">
                                      <p:cBhvr additive="base">
                                        <p:cTn id="25" dur="500" fill="hold"/>
                                        <p:tgtEl>
                                          <p:spTgt spid="304"/>
                                        </p:tgtEl>
                                        <p:attrNameLst>
                                          <p:attrName>ppt_x</p:attrName>
                                        </p:attrNameLst>
                                      </p:cBhvr>
                                      <p:tavLst>
                                        <p:tav tm="0">
                                          <p:val>
                                            <p:strVal val="#ppt_x"/>
                                          </p:val>
                                        </p:tav>
                                        <p:tav tm="100000">
                                          <p:val>
                                            <p:strVal val="#ppt_x"/>
                                          </p:val>
                                        </p:tav>
                                      </p:tavLst>
                                    </p:anim>
                                    <p:anim calcmode="lin" valueType="num">
                                      <p:cBhvr additive="base">
                                        <p:cTn id="26" dur="500" fill="hold"/>
                                        <p:tgtEl>
                                          <p:spTgt spid="3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相关的算法表达</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-B+树键值</a:t>
            </a:r>
            <a:r>
              <a:rPr lang="zh-CN" altLang="en-US" dirty="0"/>
              <a:t>插入与结点分裂过程示意</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pic>
        <p:nvPicPr>
          <p:cNvPr id="2" name="Picture 10" descr="B+树删除结点算法示意图"/>
          <p:cNvPicPr>
            <a:picLocks noChangeAspect="1"/>
          </p:cNvPicPr>
          <p:nvPr/>
        </p:nvPicPr>
        <p:blipFill>
          <a:blip r:embed="rId1"/>
          <a:stretch>
            <a:fillRect/>
          </a:stretch>
        </p:blipFill>
        <p:spPr>
          <a:xfrm>
            <a:off x="4623945" y="1076550"/>
            <a:ext cx="4562475" cy="5680084"/>
          </a:xfrm>
          <a:prstGeom prst="rect">
            <a:avLst/>
          </a:prstGeom>
          <a:noFill/>
          <a:ln w="9525" cap="flat" cmpd="sng">
            <a:solidFill>
              <a:srgbClr val="CC0000"/>
            </a:solidFill>
            <a:prstDash val="solid"/>
            <a:miter/>
            <a:headEnd type="none" w="med" len="med"/>
            <a:tailEnd type="none" w="med" len="med"/>
          </a:ln>
        </p:spPr>
      </p:pic>
      <p:grpSp>
        <p:nvGrpSpPr>
          <p:cNvPr id="4" name="Group 168"/>
          <p:cNvGrpSpPr/>
          <p:nvPr/>
        </p:nvGrpSpPr>
        <p:grpSpPr>
          <a:xfrm>
            <a:off x="8252536" y="5689528"/>
            <a:ext cx="1500187" cy="1104900"/>
            <a:chOff x="3368" y="3555"/>
            <a:chExt cx="836" cy="705"/>
          </a:xfrm>
        </p:grpSpPr>
        <p:sp>
          <p:nvSpPr>
            <p:cNvPr id="7"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8" name="Oval 40"/>
            <p:cNvSpPr/>
            <p:nvPr/>
          </p:nvSpPr>
          <p:spPr>
            <a:xfrm>
              <a:off x="3437" y="3613"/>
              <a:ext cx="698" cy="588"/>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9" name="Text Box 84"/>
            <p:cNvSpPr txBox="1"/>
            <p:nvPr/>
          </p:nvSpPr>
          <p:spPr>
            <a:xfrm>
              <a:off x="3440" y="3686"/>
              <a:ext cx="691" cy="449"/>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此算法可参见教材</a:t>
              </a:r>
              <a:endParaRPr lang="zh-CN" altLang="en-US" dirty="0">
                <a:solidFill>
                  <a:srgbClr val="FFFFFF"/>
                </a:solidFill>
                <a:latin typeface="Arial" panose="020B0604020202020204" pitchFamily="34" charset="0"/>
                <a:ea typeface="微软雅黑" panose="020B0503020204020204" pitchFamily="34" charset="-122"/>
              </a:endParaRPr>
            </a:p>
          </p:txBody>
        </p:sp>
      </p:grpSp>
      <p:sp>
        <p:nvSpPr>
          <p:cNvPr id="10" name="灯片编号占位符 9"/>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(1) </a:t>
            </a:r>
            <a:r>
              <a:rPr lang="zh-CN" altLang="en-US" sz="2600" dirty="0">
                <a:latin typeface="微软雅黑" panose="020B0503020204020204" pitchFamily="34" charset="-122"/>
                <a:ea typeface="微软雅黑" panose="020B0503020204020204" pitchFamily="34" charset="-122"/>
              </a:rPr>
              <a:t>背景</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t>示例：初始</a:t>
            </a:r>
            <a:r>
              <a:rPr lang="en-US" altLang="zh-CN" sz="2000" b="0" dirty="0"/>
              <a:t>B+</a:t>
            </a:r>
            <a:r>
              <a:rPr lang="zh-CN" altLang="en-US" sz="2000" b="0" dirty="0"/>
              <a:t>树</a:t>
            </a:r>
            <a:endParaRPr lang="zh-CN" altLang="en-US" sz="2000" b="0" dirty="0"/>
          </a:p>
          <a:p>
            <a:pPr marL="0" indent="0">
              <a:lnSpc>
                <a:spcPct val="100000"/>
              </a:lnSpc>
              <a:spcBef>
                <a:spcPct val="20000"/>
              </a:spcBef>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zh-CN" altLang="en-US" dirty="0"/>
              <a:t>分裂与合并过程再示例</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10" name="Group 4"/>
          <p:cNvGraphicFramePr>
            <a:graphicFrameLocks noGrp="1"/>
          </p:cNvGraphicFramePr>
          <p:nvPr/>
        </p:nvGraphicFramePr>
        <p:xfrm>
          <a:off x="4641850" y="204470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1" name="Group 26"/>
          <p:cNvGraphicFramePr>
            <a:graphicFrameLocks noGrp="1"/>
          </p:cNvGraphicFramePr>
          <p:nvPr/>
        </p:nvGraphicFramePr>
        <p:xfrm>
          <a:off x="2813050" y="295910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2" name="Group 48"/>
          <p:cNvGraphicFramePr>
            <a:graphicFrameLocks noGrp="1"/>
          </p:cNvGraphicFramePr>
          <p:nvPr/>
        </p:nvGraphicFramePr>
        <p:xfrm>
          <a:off x="6242050" y="295910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3" name="Group 70"/>
          <p:cNvGraphicFramePr>
            <a:graphicFrameLocks noGrp="1"/>
          </p:cNvGraphicFramePr>
          <p:nvPr/>
        </p:nvGraphicFramePr>
        <p:xfrm>
          <a:off x="1898650" y="44069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4" name="Group 92"/>
          <p:cNvGraphicFramePr>
            <a:graphicFrameLocks noGrp="1"/>
          </p:cNvGraphicFramePr>
          <p:nvPr/>
        </p:nvGraphicFramePr>
        <p:xfrm>
          <a:off x="3727450" y="44069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5" name="Group 114"/>
          <p:cNvGraphicFramePr>
            <a:graphicFrameLocks noGrp="1"/>
          </p:cNvGraphicFramePr>
          <p:nvPr/>
        </p:nvGraphicFramePr>
        <p:xfrm>
          <a:off x="5480050" y="44069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6" name="Group 136"/>
          <p:cNvGraphicFramePr>
            <a:graphicFrameLocks noGrp="1"/>
          </p:cNvGraphicFramePr>
          <p:nvPr/>
        </p:nvGraphicFramePr>
        <p:xfrm>
          <a:off x="7232650" y="44069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 name="Line 158"/>
          <p:cNvSpPr/>
          <p:nvPr/>
        </p:nvSpPr>
        <p:spPr>
          <a:xfrm flipH="1">
            <a:off x="2813050" y="2578100"/>
            <a:ext cx="1981200" cy="381000"/>
          </a:xfrm>
          <a:prstGeom prst="line">
            <a:avLst/>
          </a:prstGeom>
          <a:ln w="9525" cap="flat" cmpd="sng">
            <a:solidFill>
              <a:schemeClr val="tx1"/>
            </a:solidFill>
            <a:prstDash val="solid"/>
            <a:round/>
            <a:headEnd type="none" w="med" len="med"/>
            <a:tailEnd type="triangle" w="med" len="med"/>
          </a:ln>
        </p:spPr>
      </p:sp>
      <p:sp>
        <p:nvSpPr>
          <p:cNvPr id="18" name="Line 159"/>
          <p:cNvSpPr/>
          <p:nvPr/>
        </p:nvSpPr>
        <p:spPr>
          <a:xfrm>
            <a:off x="5175250" y="2578100"/>
            <a:ext cx="1066800" cy="381000"/>
          </a:xfrm>
          <a:prstGeom prst="line">
            <a:avLst/>
          </a:prstGeom>
          <a:ln w="9525" cap="flat" cmpd="sng">
            <a:solidFill>
              <a:schemeClr val="tx1"/>
            </a:solidFill>
            <a:prstDash val="solid"/>
            <a:round/>
            <a:headEnd type="none" w="med" len="med"/>
            <a:tailEnd type="triangle" w="med" len="med"/>
          </a:ln>
        </p:spPr>
      </p:sp>
      <p:sp>
        <p:nvSpPr>
          <p:cNvPr id="19" name="Line 160"/>
          <p:cNvSpPr/>
          <p:nvPr/>
        </p:nvSpPr>
        <p:spPr>
          <a:xfrm flipH="1">
            <a:off x="1898650" y="3492500"/>
            <a:ext cx="1066800" cy="914400"/>
          </a:xfrm>
          <a:prstGeom prst="line">
            <a:avLst/>
          </a:prstGeom>
          <a:ln w="9525" cap="flat" cmpd="sng">
            <a:solidFill>
              <a:schemeClr val="tx1"/>
            </a:solidFill>
            <a:prstDash val="solid"/>
            <a:round/>
            <a:headEnd type="none" w="med" len="med"/>
            <a:tailEnd type="triangle" w="med" len="med"/>
          </a:ln>
        </p:spPr>
      </p:sp>
      <p:sp>
        <p:nvSpPr>
          <p:cNvPr id="20" name="Line 161"/>
          <p:cNvSpPr/>
          <p:nvPr/>
        </p:nvSpPr>
        <p:spPr>
          <a:xfrm>
            <a:off x="3346450" y="3492500"/>
            <a:ext cx="381000" cy="914400"/>
          </a:xfrm>
          <a:prstGeom prst="line">
            <a:avLst/>
          </a:prstGeom>
          <a:ln w="9525" cap="flat" cmpd="sng">
            <a:solidFill>
              <a:schemeClr val="tx1"/>
            </a:solidFill>
            <a:prstDash val="solid"/>
            <a:round/>
            <a:headEnd type="none" w="med" len="med"/>
            <a:tailEnd type="triangle" w="med" len="med"/>
          </a:ln>
        </p:spPr>
      </p:sp>
      <p:sp>
        <p:nvSpPr>
          <p:cNvPr id="21" name="Line 162"/>
          <p:cNvSpPr/>
          <p:nvPr/>
        </p:nvSpPr>
        <p:spPr>
          <a:xfrm>
            <a:off x="3803650" y="3492500"/>
            <a:ext cx="1676400" cy="914400"/>
          </a:xfrm>
          <a:prstGeom prst="line">
            <a:avLst/>
          </a:prstGeom>
          <a:ln w="9525" cap="flat" cmpd="sng">
            <a:solidFill>
              <a:schemeClr val="tx1"/>
            </a:solidFill>
            <a:prstDash val="solid"/>
            <a:round/>
            <a:headEnd type="none" w="med" len="med"/>
            <a:tailEnd type="triangle" w="med" len="med"/>
          </a:ln>
        </p:spPr>
      </p:sp>
      <p:sp>
        <p:nvSpPr>
          <p:cNvPr id="22" name="Line 163"/>
          <p:cNvSpPr/>
          <p:nvPr/>
        </p:nvSpPr>
        <p:spPr>
          <a:xfrm>
            <a:off x="6394450" y="3492500"/>
            <a:ext cx="838200" cy="914400"/>
          </a:xfrm>
          <a:prstGeom prst="line">
            <a:avLst/>
          </a:prstGeom>
          <a:ln w="9525" cap="flat" cmpd="sng">
            <a:solidFill>
              <a:schemeClr val="tx1"/>
            </a:solidFill>
            <a:prstDash val="solid"/>
            <a:round/>
            <a:headEnd type="none" w="med" len="med"/>
            <a:tailEnd type="triangle" w="med" len="med"/>
          </a:ln>
        </p:spPr>
      </p:sp>
      <p:sp>
        <p:nvSpPr>
          <p:cNvPr id="23" name="Line 164"/>
          <p:cNvSpPr/>
          <p:nvPr/>
        </p:nvSpPr>
        <p:spPr>
          <a:xfrm>
            <a:off x="6775450" y="3492500"/>
            <a:ext cx="2438400" cy="838200"/>
          </a:xfrm>
          <a:prstGeom prst="line">
            <a:avLst/>
          </a:prstGeom>
          <a:ln w="9525" cap="flat" cmpd="sng">
            <a:solidFill>
              <a:schemeClr val="tx1"/>
            </a:solidFill>
            <a:prstDash val="solid"/>
            <a:round/>
            <a:headEnd type="none" w="med" len="med"/>
            <a:tailEnd type="triangle" w="med" len="med"/>
          </a:ln>
        </p:spPr>
      </p:sp>
      <p:sp>
        <p:nvSpPr>
          <p:cNvPr id="24" name="Line 165"/>
          <p:cNvSpPr/>
          <p:nvPr/>
        </p:nvSpPr>
        <p:spPr>
          <a:xfrm>
            <a:off x="7385050" y="3568700"/>
            <a:ext cx="2362200" cy="838200"/>
          </a:xfrm>
          <a:prstGeom prst="line">
            <a:avLst/>
          </a:prstGeom>
          <a:ln w="9525" cap="flat" cmpd="sng">
            <a:solidFill>
              <a:schemeClr val="tx1"/>
            </a:solidFill>
            <a:prstDash val="solid"/>
            <a:round/>
            <a:headEnd type="none" w="med" len="med"/>
            <a:tailEnd type="triangle" w="med" len="med"/>
          </a:ln>
        </p:spPr>
      </p:sp>
      <p:sp>
        <p:nvSpPr>
          <p:cNvPr id="25" name="Line 166"/>
          <p:cNvSpPr/>
          <p:nvPr/>
        </p:nvSpPr>
        <p:spPr>
          <a:xfrm>
            <a:off x="7918450" y="3492500"/>
            <a:ext cx="2209800" cy="838200"/>
          </a:xfrm>
          <a:prstGeom prst="line">
            <a:avLst/>
          </a:prstGeom>
          <a:ln w="9525" cap="flat" cmpd="sng">
            <a:solidFill>
              <a:schemeClr val="tx1"/>
            </a:solidFill>
            <a:prstDash val="solid"/>
            <a:round/>
            <a:headEnd type="none" w="med" len="med"/>
            <a:tailEnd type="triangle" w="med" len="med"/>
          </a:ln>
        </p:spPr>
      </p:sp>
      <p:sp>
        <p:nvSpPr>
          <p:cNvPr id="26" name="Line 167"/>
          <p:cNvSpPr/>
          <p:nvPr/>
        </p:nvSpPr>
        <p:spPr>
          <a:xfrm>
            <a:off x="3422650" y="4940300"/>
            <a:ext cx="304800" cy="0"/>
          </a:xfrm>
          <a:prstGeom prst="line">
            <a:avLst/>
          </a:prstGeom>
          <a:ln w="9525" cap="flat" cmpd="sng">
            <a:solidFill>
              <a:schemeClr val="tx1"/>
            </a:solidFill>
            <a:prstDash val="solid"/>
            <a:round/>
            <a:headEnd type="none" w="med" len="med"/>
            <a:tailEnd type="triangle" w="med" len="med"/>
          </a:ln>
        </p:spPr>
      </p:sp>
      <p:sp>
        <p:nvSpPr>
          <p:cNvPr id="27" name="Line 168"/>
          <p:cNvSpPr/>
          <p:nvPr/>
        </p:nvSpPr>
        <p:spPr>
          <a:xfrm>
            <a:off x="5175250" y="4940300"/>
            <a:ext cx="304800" cy="0"/>
          </a:xfrm>
          <a:prstGeom prst="line">
            <a:avLst/>
          </a:prstGeom>
          <a:ln w="9525" cap="flat" cmpd="sng">
            <a:solidFill>
              <a:schemeClr val="tx1"/>
            </a:solidFill>
            <a:prstDash val="solid"/>
            <a:round/>
            <a:headEnd type="none" w="med" len="med"/>
            <a:tailEnd type="triangle" w="med" len="med"/>
          </a:ln>
        </p:spPr>
      </p:sp>
      <p:sp>
        <p:nvSpPr>
          <p:cNvPr id="28" name="Line 169"/>
          <p:cNvSpPr/>
          <p:nvPr/>
        </p:nvSpPr>
        <p:spPr>
          <a:xfrm>
            <a:off x="7004050" y="4940300"/>
            <a:ext cx="228600" cy="0"/>
          </a:xfrm>
          <a:prstGeom prst="line">
            <a:avLst/>
          </a:prstGeom>
          <a:ln w="9525" cap="flat" cmpd="sng">
            <a:solidFill>
              <a:schemeClr val="tx1"/>
            </a:solidFill>
            <a:prstDash val="solid"/>
            <a:round/>
            <a:headEnd type="none" w="med" len="med"/>
            <a:tailEnd type="triangle" w="med" len="med"/>
          </a:ln>
        </p:spPr>
      </p:sp>
      <p:sp>
        <p:nvSpPr>
          <p:cNvPr id="29" name="Rectangle 170"/>
          <p:cNvSpPr/>
          <p:nvPr/>
        </p:nvSpPr>
        <p:spPr>
          <a:xfrm>
            <a:off x="1898650" y="57785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10</a:t>
            </a:r>
            <a:endParaRPr lang="en-US" altLang="zh-CN" sz="1400" b="0" dirty="0">
              <a:latin typeface="Times New Roman" panose="02020603050405020304" pitchFamily="18" charset="0"/>
              <a:ea typeface="宋体" panose="02010600030101010101" pitchFamily="2" charset="-122"/>
            </a:endParaRPr>
          </a:p>
        </p:txBody>
      </p:sp>
      <p:sp>
        <p:nvSpPr>
          <p:cNvPr id="30" name="Rectangle 171"/>
          <p:cNvSpPr/>
          <p:nvPr/>
        </p:nvSpPr>
        <p:spPr>
          <a:xfrm>
            <a:off x="2432050" y="57785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15</a:t>
            </a:r>
            <a:endParaRPr lang="en-US" altLang="zh-CN" sz="1400" b="0" dirty="0">
              <a:latin typeface="Times New Roman" panose="02020603050405020304" pitchFamily="18" charset="0"/>
              <a:ea typeface="宋体" panose="02010600030101010101" pitchFamily="2" charset="-122"/>
            </a:endParaRPr>
          </a:p>
        </p:txBody>
      </p:sp>
      <p:sp>
        <p:nvSpPr>
          <p:cNvPr id="31" name="Rectangle 172"/>
          <p:cNvSpPr/>
          <p:nvPr/>
        </p:nvSpPr>
        <p:spPr>
          <a:xfrm>
            <a:off x="2965450" y="57785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18</a:t>
            </a:r>
            <a:endParaRPr lang="en-US" altLang="zh-CN" sz="1400" b="0" dirty="0">
              <a:latin typeface="Times New Roman" panose="02020603050405020304" pitchFamily="18" charset="0"/>
              <a:ea typeface="宋体" panose="02010600030101010101" pitchFamily="2" charset="-122"/>
            </a:endParaRPr>
          </a:p>
        </p:txBody>
      </p:sp>
      <p:sp>
        <p:nvSpPr>
          <p:cNvPr id="33" name="Rectangle 173"/>
          <p:cNvSpPr/>
          <p:nvPr/>
        </p:nvSpPr>
        <p:spPr>
          <a:xfrm>
            <a:off x="3575050" y="57785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20</a:t>
            </a:r>
            <a:endParaRPr lang="en-US" altLang="zh-CN" sz="1400" b="0" dirty="0">
              <a:latin typeface="Times New Roman" panose="02020603050405020304" pitchFamily="18" charset="0"/>
              <a:ea typeface="宋体" panose="02010600030101010101" pitchFamily="2" charset="-122"/>
            </a:endParaRPr>
          </a:p>
        </p:txBody>
      </p:sp>
      <p:sp>
        <p:nvSpPr>
          <p:cNvPr id="34" name="Rectangle 174"/>
          <p:cNvSpPr/>
          <p:nvPr/>
        </p:nvSpPr>
        <p:spPr>
          <a:xfrm>
            <a:off x="4184650" y="57785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30</a:t>
            </a:r>
            <a:endParaRPr lang="en-US" altLang="zh-CN" sz="1400" b="0" dirty="0">
              <a:latin typeface="Times New Roman" panose="02020603050405020304" pitchFamily="18" charset="0"/>
              <a:ea typeface="宋体" panose="02010600030101010101" pitchFamily="2" charset="-122"/>
            </a:endParaRPr>
          </a:p>
        </p:txBody>
      </p:sp>
      <p:sp>
        <p:nvSpPr>
          <p:cNvPr id="35" name="Rectangle 175"/>
          <p:cNvSpPr/>
          <p:nvPr/>
        </p:nvSpPr>
        <p:spPr>
          <a:xfrm>
            <a:off x="4641850" y="57785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40</a:t>
            </a:r>
            <a:endParaRPr lang="en-US" altLang="zh-CN" sz="1400" b="0" dirty="0">
              <a:latin typeface="Times New Roman" panose="02020603050405020304" pitchFamily="18" charset="0"/>
              <a:ea typeface="宋体" panose="02010600030101010101" pitchFamily="2" charset="-122"/>
            </a:endParaRPr>
          </a:p>
        </p:txBody>
      </p:sp>
      <p:sp>
        <p:nvSpPr>
          <p:cNvPr id="36" name="Rectangle 176"/>
          <p:cNvSpPr/>
          <p:nvPr/>
        </p:nvSpPr>
        <p:spPr>
          <a:xfrm>
            <a:off x="5175250" y="57785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50</a:t>
            </a:r>
            <a:endParaRPr lang="en-US" altLang="zh-CN" sz="1400" b="0" dirty="0">
              <a:latin typeface="Times New Roman" panose="02020603050405020304" pitchFamily="18" charset="0"/>
              <a:ea typeface="宋体" panose="02010600030101010101" pitchFamily="2" charset="-122"/>
            </a:endParaRPr>
          </a:p>
        </p:txBody>
      </p:sp>
      <p:sp>
        <p:nvSpPr>
          <p:cNvPr id="37" name="Rectangle 177"/>
          <p:cNvSpPr/>
          <p:nvPr/>
        </p:nvSpPr>
        <p:spPr>
          <a:xfrm>
            <a:off x="5632450" y="57785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60</a:t>
            </a:r>
            <a:endParaRPr lang="en-US" altLang="zh-CN" sz="1400" b="0" dirty="0">
              <a:latin typeface="Times New Roman" panose="02020603050405020304" pitchFamily="18" charset="0"/>
              <a:ea typeface="宋体" panose="02010600030101010101" pitchFamily="2" charset="-122"/>
            </a:endParaRPr>
          </a:p>
        </p:txBody>
      </p:sp>
      <p:sp>
        <p:nvSpPr>
          <p:cNvPr id="38" name="Rectangle 178"/>
          <p:cNvSpPr/>
          <p:nvPr/>
        </p:nvSpPr>
        <p:spPr>
          <a:xfrm>
            <a:off x="6089650" y="57785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65</a:t>
            </a:r>
            <a:endParaRPr lang="en-US" altLang="zh-CN" sz="1400" b="0" dirty="0">
              <a:latin typeface="Times New Roman" panose="02020603050405020304" pitchFamily="18" charset="0"/>
              <a:ea typeface="宋体" panose="02010600030101010101" pitchFamily="2" charset="-122"/>
            </a:endParaRPr>
          </a:p>
        </p:txBody>
      </p:sp>
      <p:sp>
        <p:nvSpPr>
          <p:cNvPr id="39" name="Rectangle 179"/>
          <p:cNvSpPr/>
          <p:nvPr/>
        </p:nvSpPr>
        <p:spPr>
          <a:xfrm>
            <a:off x="6546850" y="57785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80</a:t>
            </a:r>
            <a:endParaRPr lang="en-US" altLang="zh-CN" sz="1400" b="0" dirty="0">
              <a:latin typeface="Times New Roman" panose="02020603050405020304" pitchFamily="18" charset="0"/>
              <a:ea typeface="宋体" panose="02010600030101010101" pitchFamily="2" charset="-122"/>
            </a:endParaRPr>
          </a:p>
        </p:txBody>
      </p:sp>
      <p:sp>
        <p:nvSpPr>
          <p:cNvPr id="40" name="Rectangle 180"/>
          <p:cNvSpPr/>
          <p:nvPr/>
        </p:nvSpPr>
        <p:spPr>
          <a:xfrm>
            <a:off x="7080250" y="57785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85</a:t>
            </a:r>
            <a:endParaRPr lang="en-US" altLang="zh-CN" sz="1400" b="0" dirty="0">
              <a:latin typeface="Times New Roman" panose="02020603050405020304" pitchFamily="18" charset="0"/>
              <a:ea typeface="宋体" panose="02010600030101010101" pitchFamily="2" charset="-122"/>
            </a:endParaRPr>
          </a:p>
        </p:txBody>
      </p:sp>
      <p:sp>
        <p:nvSpPr>
          <p:cNvPr id="41" name="Rectangle 181"/>
          <p:cNvSpPr/>
          <p:nvPr/>
        </p:nvSpPr>
        <p:spPr>
          <a:xfrm>
            <a:off x="7613650" y="57785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90</a:t>
            </a:r>
            <a:endParaRPr lang="en-US" altLang="zh-CN" sz="1400" b="0" dirty="0">
              <a:latin typeface="Times New Roman" panose="02020603050405020304" pitchFamily="18" charset="0"/>
              <a:ea typeface="宋体" panose="02010600030101010101" pitchFamily="2" charset="-122"/>
            </a:endParaRPr>
          </a:p>
        </p:txBody>
      </p:sp>
      <p:sp>
        <p:nvSpPr>
          <p:cNvPr id="42" name="Line 182"/>
          <p:cNvSpPr/>
          <p:nvPr/>
        </p:nvSpPr>
        <p:spPr>
          <a:xfrm flipH="1">
            <a:off x="1898650" y="4940300"/>
            <a:ext cx="152400" cy="838200"/>
          </a:xfrm>
          <a:prstGeom prst="line">
            <a:avLst/>
          </a:prstGeom>
          <a:ln w="9525" cap="flat" cmpd="sng">
            <a:solidFill>
              <a:schemeClr val="tx1"/>
            </a:solidFill>
            <a:prstDash val="solid"/>
            <a:round/>
            <a:headEnd type="none" w="med" len="med"/>
            <a:tailEnd type="triangle" w="med" len="med"/>
          </a:ln>
        </p:spPr>
      </p:sp>
      <p:sp>
        <p:nvSpPr>
          <p:cNvPr id="43" name="Line 183"/>
          <p:cNvSpPr/>
          <p:nvPr/>
        </p:nvSpPr>
        <p:spPr>
          <a:xfrm>
            <a:off x="2355850" y="4940300"/>
            <a:ext cx="76200" cy="838200"/>
          </a:xfrm>
          <a:prstGeom prst="line">
            <a:avLst/>
          </a:prstGeom>
          <a:ln w="9525" cap="flat" cmpd="sng">
            <a:solidFill>
              <a:schemeClr val="tx1"/>
            </a:solidFill>
            <a:prstDash val="solid"/>
            <a:round/>
            <a:headEnd type="none" w="med" len="med"/>
            <a:tailEnd type="triangle" w="med" len="med"/>
          </a:ln>
        </p:spPr>
      </p:sp>
      <p:sp>
        <p:nvSpPr>
          <p:cNvPr id="44" name="Line 184"/>
          <p:cNvSpPr/>
          <p:nvPr/>
        </p:nvSpPr>
        <p:spPr>
          <a:xfrm>
            <a:off x="2736850" y="4940300"/>
            <a:ext cx="228600" cy="838200"/>
          </a:xfrm>
          <a:prstGeom prst="line">
            <a:avLst/>
          </a:prstGeom>
          <a:ln w="9525" cap="flat" cmpd="sng">
            <a:solidFill>
              <a:schemeClr val="tx1"/>
            </a:solidFill>
            <a:prstDash val="solid"/>
            <a:round/>
            <a:headEnd type="none" w="med" len="med"/>
            <a:tailEnd type="triangle" w="med" len="med"/>
          </a:ln>
        </p:spPr>
      </p:sp>
      <p:sp>
        <p:nvSpPr>
          <p:cNvPr id="45" name="Line 185"/>
          <p:cNvSpPr/>
          <p:nvPr/>
        </p:nvSpPr>
        <p:spPr>
          <a:xfrm flipH="1">
            <a:off x="3575050" y="4940300"/>
            <a:ext cx="304800" cy="838200"/>
          </a:xfrm>
          <a:prstGeom prst="line">
            <a:avLst/>
          </a:prstGeom>
          <a:ln w="9525" cap="flat" cmpd="sng">
            <a:solidFill>
              <a:schemeClr val="tx1"/>
            </a:solidFill>
            <a:prstDash val="solid"/>
            <a:round/>
            <a:headEnd type="none" w="med" len="med"/>
            <a:tailEnd type="triangle" w="med" len="med"/>
          </a:ln>
        </p:spPr>
      </p:sp>
      <p:sp>
        <p:nvSpPr>
          <p:cNvPr id="46" name="Line 186"/>
          <p:cNvSpPr/>
          <p:nvPr/>
        </p:nvSpPr>
        <p:spPr>
          <a:xfrm>
            <a:off x="4184650" y="4940300"/>
            <a:ext cx="0" cy="838200"/>
          </a:xfrm>
          <a:prstGeom prst="line">
            <a:avLst/>
          </a:prstGeom>
          <a:ln w="9525" cap="flat" cmpd="sng">
            <a:solidFill>
              <a:schemeClr val="tx1"/>
            </a:solidFill>
            <a:prstDash val="solid"/>
            <a:round/>
            <a:headEnd type="none" w="med" len="med"/>
            <a:tailEnd type="triangle" w="med" len="med"/>
          </a:ln>
        </p:spPr>
      </p:sp>
      <p:sp>
        <p:nvSpPr>
          <p:cNvPr id="47" name="Line 187"/>
          <p:cNvSpPr/>
          <p:nvPr/>
        </p:nvSpPr>
        <p:spPr>
          <a:xfrm>
            <a:off x="4489450" y="4940300"/>
            <a:ext cx="152400" cy="838200"/>
          </a:xfrm>
          <a:prstGeom prst="line">
            <a:avLst/>
          </a:prstGeom>
          <a:ln w="9525" cap="flat" cmpd="sng">
            <a:solidFill>
              <a:schemeClr val="tx1"/>
            </a:solidFill>
            <a:prstDash val="solid"/>
            <a:round/>
            <a:headEnd type="none" w="med" len="med"/>
            <a:tailEnd type="triangle" w="med" len="med"/>
          </a:ln>
        </p:spPr>
      </p:sp>
      <p:sp>
        <p:nvSpPr>
          <p:cNvPr id="48" name="Line 188"/>
          <p:cNvSpPr/>
          <p:nvPr/>
        </p:nvSpPr>
        <p:spPr>
          <a:xfrm>
            <a:off x="4870450" y="4940300"/>
            <a:ext cx="304800" cy="838200"/>
          </a:xfrm>
          <a:prstGeom prst="line">
            <a:avLst/>
          </a:prstGeom>
          <a:ln w="9525" cap="flat" cmpd="sng">
            <a:solidFill>
              <a:schemeClr val="tx1"/>
            </a:solidFill>
            <a:prstDash val="solid"/>
            <a:round/>
            <a:headEnd type="none" w="med" len="med"/>
            <a:tailEnd type="triangle" w="med" len="med"/>
          </a:ln>
        </p:spPr>
      </p:sp>
      <p:sp>
        <p:nvSpPr>
          <p:cNvPr id="49" name="Line 189"/>
          <p:cNvSpPr/>
          <p:nvPr/>
        </p:nvSpPr>
        <p:spPr>
          <a:xfrm>
            <a:off x="5632450" y="4940300"/>
            <a:ext cx="0" cy="838200"/>
          </a:xfrm>
          <a:prstGeom prst="line">
            <a:avLst/>
          </a:prstGeom>
          <a:ln w="9525" cap="flat" cmpd="sng">
            <a:solidFill>
              <a:schemeClr val="tx1"/>
            </a:solidFill>
            <a:prstDash val="solid"/>
            <a:round/>
            <a:headEnd type="none" w="med" len="med"/>
            <a:tailEnd type="triangle" w="med" len="med"/>
          </a:ln>
        </p:spPr>
      </p:sp>
      <p:sp>
        <p:nvSpPr>
          <p:cNvPr id="50" name="Line 190"/>
          <p:cNvSpPr/>
          <p:nvPr/>
        </p:nvSpPr>
        <p:spPr>
          <a:xfrm>
            <a:off x="5861050" y="4864100"/>
            <a:ext cx="228600" cy="914400"/>
          </a:xfrm>
          <a:prstGeom prst="line">
            <a:avLst/>
          </a:prstGeom>
          <a:ln w="9525" cap="flat" cmpd="sng">
            <a:solidFill>
              <a:schemeClr val="tx1"/>
            </a:solidFill>
            <a:prstDash val="solid"/>
            <a:round/>
            <a:headEnd type="none" w="med" len="med"/>
            <a:tailEnd type="triangle" w="med" len="med"/>
          </a:ln>
        </p:spPr>
      </p:sp>
      <p:sp>
        <p:nvSpPr>
          <p:cNvPr id="51" name="Line 191"/>
          <p:cNvSpPr/>
          <p:nvPr/>
        </p:nvSpPr>
        <p:spPr>
          <a:xfrm flipH="1">
            <a:off x="6546850" y="4940300"/>
            <a:ext cx="838200" cy="838200"/>
          </a:xfrm>
          <a:prstGeom prst="line">
            <a:avLst/>
          </a:prstGeom>
          <a:ln w="9525" cap="flat" cmpd="sng">
            <a:solidFill>
              <a:schemeClr val="tx1"/>
            </a:solidFill>
            <a:prstDash val="solid"/>
            <a:round/>
            <a:headEnd type="none" w="med" len="med"/>
            <a:tailEnd type="triangle" w="med" len="med"/>
          </a:ln>
        </p:spPr>
      </p:sp>
      <p:sp>
        <p:nvSpPr>
          <p:cNvPr id="52" name="Line 192"/>
          <p:cNvSpPr/>
          <p:nvPr/>
        </p:nvSpPr>
        <p:spPr>
          <a:xfrm flipH="1">
            <a:off x="7080250" y="4940300"/>
            <a:ext cx="609600" cy="838200"/>
          </a:xfrm>
          <a:prstGeom prst="line">
            <a:avLst/>
          </a:prstGeom>
          <a:ln w="9525" cap="flat" cmpd="sng">
            <a:solidFill>
              <a:schemeClr val="tx1"/>
            </a:solidFill>
            <a:prstDash val="solid"/>
            <a:round/>
            <a:headEnd type="none" w="med" len="med"/>
            <a:tailEnd type="triangle" w="med" len="med"/>
          </a:ln>
        </p:spPr>
      </p:sp>
      <p:sp>
        <p:nvSpPr>
          <p:cNvPr id="53" name="Line 193"/>
          <p:cNvSpPr/>
          <p:nvPr/>
        </p:nvSpPr>
        <p:spPr>
          <a:xfrm flipH="1">
            <a:off x="7613650" y="4940300"/>
            <a:ext cx="457200" cy="838200"/>
          </a:xfrm>
          <a:prstGeom prst="line">
            <a:avLst/>
          </a:prstGeom>
          <a:ln w="9525" cap="flat" cmpd="sng">
            <a:solidFill>
              <a:schemeClr val="tx1"/>
            </a:solidFill>
            <a:prstDash val="solid"/>
            <a:round/>
            <a:headEnd type="none" w="med" len="med"/>
            <a:tailEnd type="triangle" w="med" len="med"/>
          </a:ln>
        </p:spPr>
      </p:sp>
      <p:sp>
        <p:nvSpPr>
          <p:cNvPr id="54" name="Line 194"/>
          <p:cNvSpPr/>
          <p:nvPr/>
        </p:nvSpPr>
        <p:spPr>
          <a:xfrm>
            <a:off x="8756650" y="4940300"/>
            <a:ext cx="304800" cy="0"/>
          </a:xfrm>
          <a:prstGeom prst="line">
            <a:avLst/>
          </a:prstGeom>
          <a:ln w="9525" cap="flat" cmpd="sng">
            <a:solidFill>
              <a:schemeClr val="tx1"/>
            </a:solidFill>
            <a:prstDash val="solid"/>
            <a:round/>
            <a:headEnd type="none" w="med" len="med"/>
            <a:tailEnd type="triangle" w="med" len="med"/>
          </a:ln>
        </p:spPr>
      </p:sp>
      <p:sp>
        <p:nvSpPr>
          <p:cNvPr id="55" name="Line 204"/>
          <p:cNvSpPr/>
          <p:nvPr/>
        </p:nvSpPr>
        <p:spPr>
          <a:xfrm>
            <a:off x="1073150" y="4002088"/>
            <a:ext cx="9144000" cy="28575"/>
          </a:xfrm>
          <a:prstGeom prst="line">
            <a:avLst/>
          </a:prstGeom>
          <a:ln w="38100" cap="flat" cmpd="dbl">
            <a:solidFill>
              <a:srgbClr val="CC0000"/>
            </a:solidFill>
            <a:prstDash val="dash"/>
            <a:round/>
            <a:headEnd type="none" w="med" len="med"/>
            <a:tailEnd type="none" w="med" len="med"/>
          </a:ln>
        </p:spPr>
      </p:sp>
      <p:sp>
        <p:nvSpPr>
          <p:cNvPr id="56" name="Line 205"/>
          <p:cNvSpPr/>
          <p:nvPr/>
        </p:nvSpPr>
        <p:spPr>
          <a:xfrm>
            <a:off x="1058863" y="5481638"/>
            <a:ext cx="9144000" cy="28575"/>
          </a:xfrm>
          <a:prstGeom prst="line">
            <a:avLst/>
          </a:prstGeom>
          <a:ln w="38100" cap="flat" cmpd="dbl">
            <a:solidFill>
              <a:srgbClr val="CC0000"/>
            </a:solidFill>
            <a:prstDash val="dash"/>
            <a:round/>
            <a:headEnd type="none" w="med" len="med"/>
            <a:tailEnd type="none" w="med" len="med"/>
          </a:ln>
        </p:spPr>
      </p:sp>
      <p:sp>
        <p:nvSpPr>
          <p:cNvPr id="57" name="Text Box 206"/>
          <p:cNvSpPr txBox="1"/>
          <p:nvPr/>
        </p:nvSpPr>
        <p:spPr>
          <a:xfrm>
            <a:off x="8929688" y="3551238"/>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非叶结点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58" name="Text Box 207"/>
          <p:cNvSpPr txBox="1"/>
          <p:nvPr/>
        </p:nvSpPr>
        <p:spPr>
          <a:xfrm>
            <a:off x="8945563" y="4038600"/>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叶子结点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59" name="Text Box 208"/>
          <p:cNvSpPr txBox="1"/>
          <p:nvPr/>
        </p:nvSpPr>
        <p:spPr>
          <a:xfrm>
            <a:off x="9059863" y="5519738"/>
            <a:ext cx="1025525" cy="701675"/>
          </a:xfrm>
          <a:prstGeom prst="rect">
            <a:avLst/>
          </a:prstGeom>
          <a:noFill/>
          <a:ln w="9525">
            <a:noFill/>
          </a:ln>
        </p:spPr>
        <p:txBody>
          <a:bodyPr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主文件的记录</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a:t>
            </a:r>
            <a:r>
              <a:rPr lang="zh-CN" altLang="en-US" sz="2600" dirty="0">
                <a:latin typeface="微软雅黑" panose="020B0503020204020204" pitchFamily="34" charset="-122"/>
                <a:ea typeface="微软雅黑" panose="020B0503020204020204" pitchFamily="34" charset="-122"/>
              </a:rPr>
              <a:t> 简单插入</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t>问题：插入键值为</a:t>
            </a:r>
            <a:r>
              <a:rPr lang="en-US" altLang="zh-CN" sz="2000" b="0" dirty="0"/>
              <a:t>19</a:t>
            </a:r>
            <a:r>
              <a:rPr lang="zh-CN" altLang="en-US" sz="2000" b="0" dirty="0"/>
              <a:t>的记录</a:t>
            </a:r>
            <a:endParaRPr lang="zh-CN" altLang="en-US" sz="2000" b="0" dirty="0"/>
          </a:p>
          <a:p>
            <a:pPr marL="0" indent="0">
              <a:lnSpc>
                <a:spcPct val="100000"/>
              </a:lnSpc>
              <a:buNone/>
            </a:pPr>
            <a:endParaRPr lang="zh-CN" altLang="en-US" sz="2000" dirty="0"/>
          </a:p>
          <a:p>
            <a:pPr marL="0" indent="0">
              <a:lnSpc>
                <a:spcPct val="100000"/>
              </a:lnSpc>
              <a:spcBef>
                <a:spcPct val="20000"/>
              </a:spcBef>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zh-CN" altLang="en-US" dirty="0"/>
              <a:t>分裂与合并过程再示例</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2" name="Group 2"/>
          <p:cNvGraphicFramePr>
            <a:graphicFrameLocks noGrp="1"/>
          </p:cNvGraphicFramePr>
          <p:nvPr/>
        </p:nvGraphicFramePr>
        <p:xfrm>
          <a:off x="3721100" y="232410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24"/>
          <p:cNvGraphicFramePr>
            <a:graphicFrameLocks noGrp="1"/>
          </p:cNvGraphicFramePr>
          <p:nvPr/>
        </p:nvGraphicFramePr>
        <p:xfrm>
          <a:off x="1892300" y="323850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 name="Group 46"/>
          <p:cNvGraphicFramePr>
            <a:graphicFrameLocks noGrp="1"/>
          </p:cNvGraphicFramePr>
          <p:nvPr/>
        </p:nvGraphicFramePr>
        <p:xfrm>
          <a:off x="5321300" y="323850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 name="Group 68"/>
          <p:cNvGraphicFramePr>
            <a:graphicFrameLocks noGrp="1"/>
          </p:cNvGraphicFramePr>
          <p:nvPr/>
        </p:nvGraphicFramePr>
        <p:xfrm>
          <a:off x="977900" y="46863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9" name="Group 90"/>
          <p:cNvGraphicFramePr>
            <a:graphicFrameLocks noGrp="1"/>
          </p:cNvGraphicFramePr>
          <p:nvPr/>
        </p:nvGraphicFramePr>
        <p:xfrm>
          <a:off x="2806700" y="46863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0" name="Group 112"/>
          <p:cNvGraphicFramePr>
            <a:graphicFrameLocks noGrp="1"/>
          </p:cNvGraphicFramePr>
          <p:nvPr/>
        </p:nvGraphicFramePr>
        <p:xfrm>
          <a:off x="4559300" y="46863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1" name="Group 134"/>
          <p:cNvGraphicFramePr>
            <a:graphicFrameLocks noGrp="1"/>
          </p:cNvGraphicFramePr>
          <p:nvPr/>
        </p:nvGraphicFramePr>
        <p:xfrm>
          <a:off x="6311900" y="46863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2" name="Line 156"/>
          <p:cNvSpPr/>
          <p:nvPr/>
        </p:nvSpPr>
        <p:spPr>
          <a:xfrm flipH="1">
            <a:off x="1892300" y="2857500"/>
            <a:ext cx="1981200" cy="381000"/>
          </a:xfrm>
          <a:prstGeom prst="line">
            <a:avLst/>
          </a:prstGeom>
          <a:ln w="9525" cap="flat" cmpd="sng">
            <a:solidFill>
              <a:schemeClr val="tx1"/>
            </a:solidFill>
            <a:prstDash val="solid"/>
            <a:round/>
            <a:headEnd type="none" w="med" len="med"/>
            <a:tailEnd type="triangle" w="med" len="med"/>
          </a:ln>
        </p:spPr>
      </p:sp>
      <p:sp>
        <p:nvSpPr>
          <p:cNvPr id="63" name="Line 157"/>
          <p:cNvSpPr/>
          <p:nvPr/>
        </p:nvSpPr>
        <p:spPr>
          <a:xfrm>
            <a:off x="4254500" y="2857500"/>
            <a:ext cx="1066800" cy="381000"/>
          </a:xfrm>
          <a:prstGeom prst="line">
            <a:avLst/>
          </a:prstGeom>
          <a:ln w="9525" cap="flat" cmpd="sng">
            <a:solidFill>
              <a:schemeClr val="tx1"/>
            </a:solidFill>
            <a:prstDash val="solid"/>
            <a:round/>
            <a:headEnd type="none" w="med" len="med"/>
            <a:tailEnd type="triangle" w="med" len="med"/>
          </a:ln>
        </p:spPr>
      </p:sp>
      <p:sp>
        <p:nvSpPr>
          <p:cNvPr id="64" name="Line 158"/>
          <p:cNvSpPr/>
          <p:nvPr/>
        </p:nvSpPr>
        <p:spPr>
          <a:xfrm flipH="1">
            <a:off x="977900" y="3771900"/>
            <a:ext cx="1066800" cy="914400"/>
          </a:xfrm>
          <a:prstGeom prst="line">
            <a:avLst/>
          </a:prstGeom>
          <a:ln w="9525" cap="flat" cmpd="sng">
            <a:solidFill>
              <a:schemeClr val="tx1"/>
            </a:solidFill>
            <a:prstDash val="solid"/>
            <a:round/>
            <a:headEnd type="none" w="med" len="med"/>
            <a:tailEnd type="triangle" w="med" len="med"/>
          </a:ln>
        </p:spPr>
      </p:sp>
      <p:sp>
        <p:nvSpPr>
          <p:cNvPr id="65" name="Line 159"/>
          <p:cNvSpPr/>
          <p:nvPr/>
        </p:nvSpPr>
        <p:spPr>
          <a:xfrm>
            <a:off x="2425700" y="3771900"/>
            <a:ext cx="381000" cy="914400"/>
          </a:xfrm>
          <a:prstGeom prst="line">
            <a:avLst/>
          </a:prstGeom>
          <a:ln w="9525" cap="flat" cmpd="sng">
            <a:solidFill>
              <a:schemeClr val="tx1"/>
            </a:solidFill>
            <a:prstDash val="solid"/>
            <a:round/>
            <a:headEnd type="none" w="med" len="med"/>
            <a:tailEnd type="triangle" w="med" len="med"/>
          </a:ln>
        </p:spPr>
      </p:sp>
      <p:sp>
        <p:nvSpPr>
          <p:cNvPr id="66" name="Line 160"/>
          <p:cNvSpPr/>
          <p:nvPr/>
        </p:nvSpPr>
        <p:spPr>
          <a:xfrm>
            <a:off x="2882900" y="3771900"/>
            <a:ext cx="1676400" cy="914400"/>
          </a:xfrm>
          <a:prstGeom prst="line">
            <a:avLst/>
          </a:prstGeom>
          <a:ln w="9525" cap="flat" cmpd="sng">
            <a:solidFill>
              <a:schemeClr val="tx1"/>
            </a:solidFill>
            <a:prstDash val="solid"/>
            <a:round/>
            <a:headEnd type="none" w="med" len="med"/>
            <a:tailEnd type="triangle" w="med" len="med"/>
          </a:ln>
        </p:spPr>
      </p:sp>
      <p:sp>
        <p:nvSpPr>
          <p:cNvPr id="67" name="Line 161"/>
          <p:cNvSpPr/>
          <p:nvPr/>
        </p:nvSpPr>
        <p:spPr>
          <a:xfrm>
            <a:off x="5473700" y="3771900"/>
            <a:ext cx="838200" cy="914400"/>
          </a:xfrm>
          <a:prstGeom prst="line">
            <a:avLst/>
          </a:prstGeom>
          <a:ln w="9525" cap="flat" cmpd="sng">
            <a:solidFill>
              <a:schemeClr val="tx1"/>
            </a:solidFill>
            <a:prstDash val="solid"/>
            <a:round/>
            <a:headEnd type="none" w="med" len="med"/>
            <a:tailEnd type="triangle" w="med" len="med"/>
          </a:ln>
        </p:spPr>
      </p:sp>
      <p:sp>
        <p:nvSpPr>
          <p:cNvPr id="68" name="Line 162"/>
          <p:cNvSpPr/>
          <p:nvPr/>
        </p:nvSpPr>
        <p:spPr>
          <a:xfrm>
            <a:off x="5854700" y="3771900"/>
            <a:ext cx="2438400" cy="838200"/>
          </a:xfrm>
          <a:prstGeom prst="line">
            <a:avLst/>
          </a:prstGeom>
          <a:ln w="9525" cap="flat" cmpd="sng">
            <a:solidFill>
              <a:schemeClr val="tx1"/>
            </a:solidFill>
            <a:prstDash val="solid"/>
            <a:round/>
            <a:headEnd type="none" w="med" len="med"/>
            <a:tailEnd type="triangle" w="med" len="med"/>
          </a:ln>
        </p:spPr>
      </p:sp>
      <p:sp>
        <p:nvSpPr>
          <p:cNvPr id="69" name="Line 163"/>
          <p:cNvSpPr/>
          <p:nvPr/>
        </p:nvSpPr>
        <p:spPr>
          <a:xfrm>
            <a:off x="6464300" y="3848100"/>
            <a:ext cx="2362200" cy="838200"/>
          </a:xfrm>
          <a:prstGeom prst="line">
            <a:avLst/>
          </a:prstGeom>
          <a:ln w="9525" cap="flat" cmpd="sng">
            <a:solidFill>
              <a:schemeClr val="tx1"/>
            </a:solidFill>
            <a:prstDash val="solid"/>
            <a:round/>
            <a:headEnd type="none" w="med" len="med"/>
            <a:tailEnd type="triangle" w="med" len="med"/>
          </a:ln>
        </p:spPr>
      </p:sp>
      <p:sp>
        <p:nvSpPr>
          <p:cNvPr id="70" name="Line 164"/>
          <p:cNvSpPr/>
          <p:nvPr/>
        </p:nvSpPr>
        <p:spPr>
          <a:xfrm>
            <a:off x="6997700" y="3771900"/>
            <a:ext cx="2209800" cy="838200"/>
          </a:xfrm>
          <a:prstGeom prst="line">
            <a:avLst/>
          </a:prstGeom>
          <a:ln w="9525" cap="flat" cmpd="sng">
            <a:solidFill>
              <a:schemeClr val="tx1"/>
            </a:solidFill>
            <a:prstDash val="solid"/>
            <a:round/>
            <a:headEnd type="none" w="med" len="med"/>
            <a:tailEnd type="triangle" w="med" len="med"/>
          </a:ln>
        </p:spPr>
      </p:sp>
      <p:sp>
        <p:nvSpPr>
          <p:cNvPr id="71" name="Line 165"/>
          <p:cNvSpPr/>
          <p:nvPr/>
        </p:nvSpPr>
        <p:spPr>
          <a:xfrm>
            <a:off x="2501900" y="5219700"/>
            <a:ext cx="304800" cy="0"/>
          </a:xfrm>
          <a:prstGeom prst="line">
            <a:avLst/>
          </a:prstGeom>
          <a:ln w="9525" cap="flat" cmpd="sng">
            <a:solidFill>
              <a:schemeClr val="tx1"/>
            </a:solidFill>
            <a:prstDash val="solid"/>
            <a:round/>
            <a:headEnd type="none" w="med" len="med"/>
            <a:tailEnd type="triangle" w="med" len="med"/>
          </a:ln>
        </p:spPr>
      </p:sp>
      <p:sp>
        <p:nvSpPr>
          <p:cNvPr id="72" name="Line 166"/>
          <p:cNvSpPr/>
          <p:nvPr/>
        </p:nvSpPr>
        <p:spPr>
          <a:xfrm>
            <a:off x="4254500" y="5219700"/>
            <a:ext cx="304800" cy="0"/>
          </a:xfrm>
          <a:prstGeom prst="line">
            <a:avLst/>
          </a:prstGeom>
          <a:ln w="9525" cap="flat" cmpd="sng">
            <a:solidFill>
              <a:schemeClr val="tx1"/>
            </a:solidFill>
            <a:prstDash val="solid"/>
            <a:round/>
            <a:headEnd type="none" w="med" len="med"/>
            <a:tailEnd type="triangle" w="med" len="med"/>
          </a:ln>
        </p:spPr>
      </p:sp>
      <p:sp>
        <p:nvSpPr>
          <p:cNvPr id="73" name="Line 167"/>
          <p:cNvSpPr/>
          <p:nvPr/>
        </p:nvSpPr>
        <p:spPr>
          <a:xfrm>
            <a:off x="6083300" y="5219700"/>
            <a:ext cx="228600" cy="0"/>
          </a:xfrm>
          <a:prstGeom prst="line">
            <a:avLst/>
          </a:prstGeom>
          <a:ln w="9525" cap="flat" cmpd="sng">
            <a:solidFill>
              <a:schemeClr val="tx1"/>
            </a:solidFill>
            <a:prstDash val="solid"/>
            <a:round/>
            <a:headEnd type="none" w="med" len="med"/>
            <a:tailEnd type="triangle" w="med" len="med"/>
          </a:ln>
        </p:spPr>
      </p:sp>
      <p:sp>
        <p:nvSpPr>
          <p:cNvPr id="74" name="Rectangle 168"/>
          <p:cNvSpPr/>
          <p:nvPr/>
        </p:nvSpPr>
        <p:spPr>
          <a:xfrm>
            <a:off x="97790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10</a:t>
            </a:r>
            <a:endParaRPr lang="en-US" altLang="zh-CN" sz="1400" b="0" dirty="0">
              <a:latin typeface="Times New Roman" panose="02020603050405020304" pitchFamily="18" charset="0"/>
              <a:ea typeface="宋体" panose="02010600030101010101" pitchFamily="2" charset="-122"/>
            </a:endParaRPr>
          </a:p>
        </p:txBody>
      </p:sp>
      <p:sp>
        <p:nvSpPr>
          <p:cNvPr id="75" name="Rectangle 169"/>
          <p:cNvSpPr/>
          <p:nvPr/>
        </p:nvSpPr>
        <p:spPr>
          <a:xfrm>
            <a:off x="151130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15</a:t>
            </a:r>
            <a:endParaRPr lang="en-US" altLang="zh-CN" sz="1400" b="0" dirty="0">
              <a:latin typeface="Times New Roman" panose="02020603050405020304" pitchFamily="18" charset="0"/>
              <a:ea typeface="宋体" panose="02010600030101010101" pitchFamily="2" charset="-122"/>
            </a:endParaRPr>
          </a:p>
        </p:txBody>
      </p:sp>
      <p:sp>
        <p:nvSpPr>
          <p:cNvPr id="76" name="Rectangle 170"/>
          <p:cNvSpPr/>
          <p:nvPr/>
        </p:nvSpPr>
        <p:spPr>
          <a:xfrm>
            <a:off x="204470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18</a:t>
            </a:r>
            <a:endParaRPr lang="en-US" altLang="zh-CN" sz="1400" b="0" dirty="0">
              <a:latin typeface="Times New Roman" panose="02020603050405020304" pitchFamily="18" charset="0"/>
              <a:ea typeface="宋体" panose="02010600030101010101" pitchFamily="2" charset="-122"/>
            </a:endParaRPr>
          </a:p>
        </p:txBody>
      </p:sp>
      <p:sp>
        <p:nvSpPr>
          <p:cNvPr id="77" name="Rectangle 171"/>
          <p:cNvSpPr/>
          <p:nvPr/>
        </p:nvSpPr>
        <p:spPr>
          <a:xfrm>
            <a:off x="265430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20</a:t>
            </a:r>
            <a:endParaRPr lang="en-US" altLang="zh-CN" sz="1400" b="0" dirty="0">
              <a:latin typeface="Times New Roman" panose="02020603050405020304" pitchFamily="18" charset="0"/>
              <a:ea typeface="宋体" panose="02010600030101010101" pitchFamily="2" charset="-122"/>
            </a:endParaRPr>
          </a:p>
        </p:txBody>
      </p:sp>
      <p:sp>
        <p:nvSpPr>
          <p:cNvPr id="78" name="Rectangle 172"/>
          <p:cNvSpPr/>
          <p:nvPr/>
        </p:nvSpPr>
        <p:spPr>
          <a:xfrm>
            <a:off x="326390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30</a:t>
            </a:r>
            <a:endParaRPr lang="en-US" altLang="zh-CN" sz="1400" b="0" dirty="0">
              <a:latin typeface="Times New Roman" panose="02020603050405020304" pitchFamily="18" charset="0"/>
              <a:ea typeface="宋体" panose="02010600030101010101" pitchFamily="2" charset="-122"/>
            </a:endParaRPr>
          </a:p>
        </p:txBody>
      </p:sp>
      <p:sp>
        <p:nvSpPr>
          <p:cNvPr id="79" name="Rectangle 173"/>
          <p:cNvSpPr/>
          <p:nvPr/>
        </p:nvSpPr>
        <p:spPr>
          <a:xfrm>
            <a:off x="372110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40</a:t>
            </a:r>
            <a:endParaRPr lang="en-US" altLang="zh-CN" sz="1400" b="0" dirty="0">
              <a:latin typeface="Times New Roman" panose="02020603050405020304" pitchFamily="18" charset="0"/>
              <a:ea typeface="宋体" panose="02010600030101010101" pitchFamily="2" charset="-122"/>
            </a:endParaRPr>
          </a:p>
        </p:txBody>
      </p:sp>
      <p:sp>
        <p:nvSpPr>
          <p:cNvPr id="80" name="Rectangle 174"/>
          <p:cNvSpPr/>
          <p:nvPr/>
        </p:nvSpPr>
        <p:spPr>
          <a:xfrm>
            <a:off x="425450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50</a:t>
            </a:r>
            <a:endParaRPr lang="en-US" altLang="zh-CN" sz="1400" b="0" dirty="0">
              <a:latin typeface="Times New Roman" panose="02020603050405020304" pitchFamily="18" charset="0"/>
              <a:ea typeface="宋体" panose="02010600030101010101" pitchFamily="2" charset="-122"/>
            </a:endParaRPr>
          </a:p>
        </p:txBody>
      </p:sp>
      <p:sp>
        <p:nvSpPr>
          <p:cNvPr id="81" name="Rectangle 175"/>
          <p:cNvSpPr/>
          <p:nvPr/>
        </p:nvSpPr>
        <p:spPr>
          <a:xfrm>
            <a:off x="471170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60</a:t>
            </a:r>
            <a:endParaRPr lang="en-US" altLang="zh-CN" sz="1400" b="0" dirty="0">
              <a:latin typeface="Times New Roman" panose="02020603050405020304" pitchFamily="18" charset="0"/>
              <a:ea typeface="宋体" panose="02010600030101010101" pitchFamily="2" charset="-122"/>
            </a:endParaRPr>
          </a:p>
        </p:txBody>
      </p:sp>
      <p:sp>
        <p:nvSpPr>
          <p:cNvPr id="82" name="Rectangle 176"/>
          <p:cNvSpPr/>
          <p:nvPr/>
        </p:nvSpPr>
        <p:spPr>
          <a:xfrm>
            <a:off x="516890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65</a:t>
            </a:r>
            <a:endParaRPr lang="en-US" altLang="zh-CN" sz="1400" b="0" dirty="0">
              <a:latin typeface="Times New Roman" panose="02020603050405020304" pitchFamily="18" charset="0"/>
              <a:ea typeface="宋体" panose="02010600030101010101" pitchFamily="2" charset="-122"/>
            </a:endParaRPr>
          </a:p>
        </p:txBody>
      </p:sp>
      <p:sp>
        <p:nvSpPr>
          <p:cNvPr id="83" name="Rectangle 177"/>
          <p:cNvSpPr/>
          <p:nvPr/>
        </p:nvSpPr>
        <p:spPr>
          <a:xfrm>
            <a:off x="562610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80</a:t>
            </a:r>
            <a:endParaRPr lang="en-US" altLang="zh-CN" sz="1400" b="0" dirty="0">
              <a:latin typeface="Times New Roman" panose="02020603050405020304" pitchFamily="18" charset="0"/>
              <a:ea typeface="宋体" panose="02010600030101010101" pitchFamily="2" charset="-122"/>
            </a:endParaRPr>
          </a:p>
        </p:txBody>
      </p:sp>
      <p:sp>
        <p:nvSpPr>
          <p:cNvPr id="84" name="Rectangle 178"/>
          <p:cNvSpPr/>
          <p:nvPr/>
        </p:nvSpPr>
        <p:spPr>
          <a:xfrm>
            <a:off x="615950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85</a:t>
            </a:r>
            <a:endParaRPr lang="en-US" altLang="zh-CN" sz="1400" b="0" dirty="0">
              <a:latin typeface="Times New Roman" panose="02020603050405020304" pitchFamily="18" charset="0"/>
              <a:ea typeface="宋体" panose="02010600030101010101" pitchFamily="2" charset="-122"/>
            </a:endParaRPr>
          </a:p>
        </p:txBody>
      </p:sp>
      <p:sp>
        <p:nvSpPr>
          <p:cNvPr id="85" name="Rectangle 179"/>
          <p:cNvSpPr/>
          <p:nvPr/>
        </p:nvSpPr>
        <p:spPr>
          <a:xfrm>
            <a:off x="669290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90</a:t>
            </a:r>
            <a:endParaRPr lang="en-US" altLang="zh-CN" sz="1400" b="0" dirty="0">
              <a:latin typeface="Times New Roman" panose="02020603050405020304" pitchFamily="18" charset="0"/>
              <a:ea typeface="宋体" panose="02010600030101010101" pitchFamily="2" charset="-122"/>
            </a:endParaRPr>
          </a:p>
        </p:txBody>
      </p:sp>
      <p:sp>
        <p:nvSpPr>
          <p:cNvPr id="86" name="Line 180"/>
          <p:cNvSpPr/>
          <p:nvPr/>
        </p:nvSpPr>
        <p:spPr>
          <a:xfrm flipH="1">
            <a:off x="977900" y="5219700"/>
            <a:ext cx="152400" cy="838200"/>
          </a:xfrm>
          <a:prstGeom prst="line">
            <a:avLst/>
          </a:prstGeom>
          <a:ln w="9525" cap="flat" cmpd="sng">
            <a:solidFill>
              <a:schemeClr val="tx1"/>
            </a:solidFill>
            <a:prstDash val="solid"/>
            <a:round/>
            <a:headEnd type="none" w="med" len="med"/>
            <a:tailEnd type="triangle" w="med" len="med"/>
          </a:ln>
        </p:spPr>
      </p:sp>
      <p:sp>
        <p:nvSpPr>
          <p:cNvPr id="87" name="Line 181"/>
          <p:cNvSpPr/>
          <p:nvPr/>
        </p:nvSpPr>
        <p:spPr>
          <a:xfrm>
            <a:off x="1435100" y="5219700"/>
            <a:ext cx="76200" cy="838200"/>
          </a:xfrm>
          <a:prstGeom prst="line">
            <a:avLst/>
          </a:prstGeom>
          <a:ln w="9525" cap="flat" cmpd="sng">
            <a:solidFill>
              <a:schemeClr val="tx1"/>
            </a:solidFill>
            <a:prstDash val="solid"/>
            <a:round/>
            <a:headEnd type="none" w="med" len="med"/>
            <a:tailEnd type="triangle" w="med" len="med"/>
          </a:ln>
        </p:spPr>
      </p:sp>
      <p:sp>
        <p:nvSpPr>
          <p:cNvPr id="88" name="Line 182"/>
          <p:cNvSpPr/>
          <p:nvPr/>
        </p:nvSpPr>
        <p:spPr>
          <a:xfrm>
            <a:off x="1816100" y="5219700"/>
            <a:ext cx="228600" cy="838200"/>
          </a:xfrm>
          <a:prstGeom prst="line">
            <a:avLst/>
          </a:prstGeom>
          <a:ln w="9525" cap="flat" cmpd="sng">
            <a:solidFill>
              <a:schemeClr val="tx1"/>
            </a:solidFill>
            <a:prstDash val="solid"/>
            <a:round/>
            <a:headEnd type="none" w="med" len="med"/>
            <a:tailEnd type="triangle" w="med" len="med"/>
          </a:ln>
        </p:spPr>
      </p:sp>
      <p:sp>
        <p:nvSpPr>
          <p:cNvPr id="89" name="Line 183"/>
          <p:cNvSpPr/>
          <p:nvPr/>
        </p:nvSpPr>
        <p:spPr>
          <a:xfrm flipH="1">
            <a:off x="2654300" y="5219700"/>
            <a:ext cx="304800" cy="838200"/>
          </a:xfrm>
          <a:prstGeom prst="line">
            <a:avLst/>
          </a:prstGeom>
          <a:ln w="9525" cap="flat" cmpd="sng">
            <a:solidFill>
              <a:schemeClr val="tx1"/>
            </a:solidFill>
            <a:prstDash val="solid"/>
            <a:round/>
            <a:headEnd type="none" w="med" len="med"/>
            <a:tailEnd type="triangle" w="med" len="med"/>
          </a:ln>
        </p:spPr>
      </p:sp>
      <p:sp>
        <p:nvSpPr>
          <p:cNvPr id="90" name="Line 184"/>
          <p:cNvSpPr/>
          <p:nvPr/>
        </p:nvSpPr>
        <p:spPr>
          <a:xfrm>
            <a:off x="3263900" y="5219700"/>
            <a:ext cx="0" cy="838200"/>
          </a:xfrm>
          <a:prstGeom prst="line">
            <a:avLst/>
          </a:prstGeom>
          <a:ln w="9525" cap="flat" cmpd="sng">
            <a:solidFill>
              <a:schemeClr val="tx1"/>
            </a:solidFill>
            <a:prstDash val="solid"/>
            <a:round/>
            <a:headEnd type="none" w="med" len="med"/>
            <a:tailEnd type="triangle" w="med" len="med"/>
          </a:ln>
        </p:spPr>
      </p:sp>
      <p:sp>
        <p:nvSpPr>
          <p:cNvPr id="91" name="Line 185"/>
          <p:cNvSpPr/>
          <p:nvPr/>
        </p:nvSpPr>
        <p:spPr>
          <a:xfrm>
            <a:off x="3568700" y="5219700"/>
            <a:ext cx="152400" cy="838200"/>
          </a:xfrm>
          <a:prstGeom prst="line">
            <a:avLst/>
          </a:prstGeom>
          <a:ln w="9525" cap="flat" cmpd="sng">
            <a:solidFill>
              <a:schemeClr val="tx1"/>
            </a:solidFill>
            <a:prstDash val="solid"/>
            <a:round/>
            <a:headEnd type="none" w="med" len="med"/>
            <a:tailEnd type="triangle" w="med" len="med"/>
          </a:ln>
        </p:spPr>
      </p:sp>
      <p:sp>
        <p:nvSpPr>
          <p:cNvPr id="92" name="Line 186"/>
          <p:cNvSpPr/>
          <p:nvPr/>
        </p:nvSpPr>
        <p:spPr>
          <a:xfrm>
            <a:off x="3949700" y="5219700"/>
            <a:ext cx="304800" cy="838200"/>
          </a:xfrm>
          <a:prstGeom prst="line">
            <a:avLst/>
          </a:prstGeom>
          <a:ln w="9525" cap="flat" cmpd="sng">
            <a:solidFill>
              <a:schemeClr val="tx1"/>
            </a:solidFill>
            <a:prstDash val="solid"/>
            <a:round/>
            <a:headEnd type="none" w="med" len="med"/>
            <a:tailEnd type="triangle" w="med" len="med"/>
          </a:ln>
        </p:spPr>
      </p:sp>
      <p:sp>
        <p:nvSpPr>
          <p:cNvPr id="93" name="Line 187"/>
          <p:cNvSpPr/>
          <p:nvPr/>
        </p:nvSpPr>
        <p:spPr>
          <a:xfrm>
            <a:off x="4711700" y="5219700"/>
            <a:ext cx="0" cy="838200"/>
          </a:xfrm>
          <a:prstGeom prst="line">
            <a:avLst/>
          </a:prstGeom>
          <a:ln w="9525" cap="flat" cmpd="sng">
            <a:solidFill>
              <a:schemeClr val="tx1"/>
            </a:solidFill>
            <a:prstDash val="solid"/>
            <a:round/>
            <a:headEnd type="none" w="med" len="med"/>
            <a:tailEnd type="triangle" w="med" len="med"/>
          </a:ln>
        </p:spPr>
      </p:sp>
      <p:sp>
        <p:nvSpPr>
          <p:cNvPr id="94" name="Line 188"/>
          <p:cNvSpPr/>
          <p:nvPr/>
        </p:nvSpPr>
        <p:spPr>
          <a:xfrm>
            <a:off x="4940300" y="5143500"/>
            <a:ext cx="228600" cy="914400"/>
          </a:xfrm>
          <a:prstGeom prst="line">
            <a:avLst/>
          </a:prstGeom>
          <a:ln w="9525" cap="flat" cmpd="sng">
            <a:solidFill>
              <a:schemeClr val="tx1"/>
            </a:solidFill>
            <a:prstDash val="solid"/>
            <a:round/>
            <a:headEnd type="none" w="med" len="med"/>
            <a:tailEnd type="triangle" w="med" len="med"/>
          </a:ln>
        </p:spPr>
      </p:sp>
      <p:sp>
        <p:nvSpPr>
          <p:cNvPr id="95" name="Line 189"/>
          <p:cNvSpPr/>
          <p:nvPr/>
        </p:nvSpPr>
        <p:spPr>
          <a:xfrm flipH="1">
            <a:off x="5626100" y="5219700"/>
            <a:ext cx="838200" cy="838200"/>
          </a:xfrm>
          <a:prstGeom prst="line">
            <a:avLst/>
          </a:prstGeom>
          <a:ln w="9525" cap="flat" cmpd="sng">
            <a:solidFill>
              <a:schemeClr val="tx1"/>
            </a:solidFill>
            <a:prstDash val="solid"/>
            <a:round/>
            <a:headEnd type="none" w="med" len="med"/>
            <a:tailEnd type="triangle" w="med" len="med"/>
          </a:ln>
        </p:spPr>
      </p:sp>
      <p:sp>
        <p:nvSpPr>
          <p:cNvPr id="96" name="Line 190"/>
          <p:cNvSpPr/>
          <p:nvPr/>
        </p:nvSpPr>
        <p:spPr>
          <a:xfrm flipH="1">
            <a:off x="6159500" y="5219700"/>
            <a:ext cx="609600" cy="838200"/>
          </a:xfrm>
          <a:prstGeom prst="line">
            <a:avLst/>
          </a:prstGeom>
          <a:ln w="9525" cap="flat" cmpd="sng">
            <a:solidFill>
              <a:schemeClr val="tx1"/>
            </a:solidFill>
            <a:prstDash val="solid"/>
            <a:round/>
            <a:headEnd type="none" w="med" len="med"/>
            <a:tailEnd type="triangle" w="med" len="med"/>
          </a:ln>
        </p:spPr>
      </p:sp>
      <p:sp>
        <p:nvSpPr>
          <p:cNvPr id="97" name="Line 191"/>
          <p:cNvSpPr/>
          <p:nvPr/>
        </p:nvSpPr>
        <p:spPr>
          <a:xfrm flipH="1">
            <a:off x="6692900" y="5219700"/>
            <a:ext cx="457200" cy="838200"/>
          </a:xfrm>
          <a:prstGeom prst="line">
            <a:avLst/>
          </a:prstGeom>
          <a:ln w="9525" cap="flat" cmpd="sng">
            <a:solidFill>
              <a:schemeClr val="tx1"/>
            </a:solidFill>
            <a:prstDash val="solid"/>
            <a:round/>
            <a:headEnd type="none" w="med" len="med"/>
            <a:tailEnd type="triangle" w="med" len="med"/>
          </a:ln>
        </p:spPr>
      </p:sp>
      <p:sp>
        <p:nvSpPr>
          <p:cNvPr id="98" name="Line 192"/>
          <p:cNvSpPr/>
          <p:nvPr/>
        </p:nvSpPr>
        <p:spPr>
          <a:xfrm>
            <a:off x="7835900" y="5219700"/>
            <a:ext cx="304800" cy="0"/>
          </a:xfrm>
          <a:prstGeom prst="line">
            <a:avLst/>
          </a:prstGeom>
          <a:ln w="9525" cap="flat" cmpd="sng">
            <a:solidFill>
              <a:schemeClr val="tx1"/>
            </a:solidFill>
            <a:prstDash val="solid"/>
            <a:round/>
            <a:headEnd type="none" w="med" len="med"/>
            <a:tailEnd type="triangle" w="med" len="med"/>
          </a:ln>
        </p:spPr>
      </p:sp>
      <p:sp>
        <p:nvSpPr>
          <p:cNvPr id="99" name="Line 200"/>
          <p:cNvSpPr/>
          <p:nvPr/>
        </p:nvSpPr>
        <p:spPr>
          <a:xfrm>
            <a:off x="152400" y="4281488"/>
            <a:ext cx="9144000" cy="28575"/>
          </a:xfrm>
          <a:prstGeom prst="line">
            <a:avLst/>
          </a:prstGeom>
          <a:ln w="38100" cap="flat" cmpd="dbl">
            <a:solidFill>
              <a:srgbClr val="CC0000"/>
            </a:solidFill>
            <a:prstDash val="dash"/>
            <a:round/>
            <a:headEnd type="none" w="med" len="med"/>
            <a:tailEnd type="none" w="med" len="med"/>
          </a:ln>
        </p:spPr>
      </p:sp>
      <p:sp>
        <p:nvSpPr>
          <p:cNvPr id="100" name="Line 201"/>
          <p:cNvSpPr/>
          <p:nvPr/>
        </p:nvSpPr>
        <p:spPr>
          <a:xfrm>
            <a:off x="138113" y="5761038"/>
            <a:ext cx="9144000" cy="28575"/>
          </a:xfrm>
          <a:prstGeom prst="line">
            <a:avLst/>
          </a:prstGeom>
          <a:ln w="38100" cap="flat" cmpd="dbl">
            <a:solidFill>
              <a:srgbClr val="CC0000"/>
            </a:solidFill>
            <a:prstDash val="dash"/>
            <a:round/>
            <a:headEnd type="none" w="med" len="med"/>
            <a:tailEnd type="none" w="med" len="med"/>
          </a:ln>
        </p:spPr>
      </p:sp>
      <p:sp>
        <p:nvSpPr>
          <p:cNvPr id="101" name="Text Box 202"/>
          <p:cNvSpPr txBox="1"/>
          <p:nvPr/>
        </p:nvSpPr>
        <p:spPr>
          <a:xfrm>
            <a:off x="8008938" y="3830638"/>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非叶结点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02" name="Text Box 203"/>
          <p:cNvSpPr txBox="1"/>
          <p:nvPr/>
        </p:nvSpPr>
        <p:spPr>
          <a:xfrm>
            <a:off x="8024813" y="4318000"/>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叶子结点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03" name="Text Box 204"/>
          <p:cNvSpPr txBox="1"/>
          <p:nvPr/>
        </p:nvSpPr>
        <p:spPr>
          <a:xfrm>
            <a:off x="8139113" y="5799138"/>
            <a:ext cx="1025525" cy="701675"/>
          </a:xfrm>
          <a:prstGeom prst="rect">
            <a:avLst/>
          </a:prstGeom>
          <a:noFill/>
          <a:ln w="9525">
            <a:noFill/>
          </a:ln>
        </p:spPr>
        <p:txBody>
          <a:bodyPr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主文件的记录</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04" name="Rectangle 205"/>
          <p:cNvSpPr/>
          <p:nvPr/>
        </p:nvSpPr>
        <p:spPr>
          <a:xfrm>
            <a:off x="936625" y="4673600"/>
            <a:ext cx="1654175" cy="723900"/>
          </a:xfrm>
          <a:prstGeom prst="rect">
            <a:avLst/>
          </a:prstGeom>
          <a:noFill/>
          <a:ln w="76200" cap="flat" cmpd="sng">
            <a:solidFill>
              <a:srgbClr val="CC0000"/>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grpSp>
        <p:nvGrpSpPr>
          <p:cNvPr id="105" name="Group 196"/>
          <p:cNvGrpSpPr/>
          <p:nvPr/>
        </p:nvGrpSpPr>
        <p:grpSpPr>
          <a:xfrm>
            <a:off x="7806469" y="2035175"/>
            <a:ext cx="3371850" cy="1406525"/>
            <a:chOff x="1265" y="3268"/>
            <a:chExt cx="1154" cy="629"/>
          </a:xfrm>
        </p:grpSpPr>
        <p:sp>
          <p:nvSpPr>
            <p:cNvPr id="106"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07"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08" name="Text Box 84"/>
            <p:cNvSpPr/>
            <p:nvPr/>
          </p:nvSpPr>
          <p:spPr>
            <a:xfrm>
              <a:off x="1269" y="3299"/>
              <a:ext cx="1150" cy="574"/>
            </a:xfrm>
            <a:prstGeom prst="roundRect">
              <a:avLst>
                <a:gd name="adj" fmla="val 16667"/>
              </a:avLst>
            </a:prstGeom>
            <a:noFill/>
            <a:ln w="9525">
              <a:noFill/>
            </a:ln>
          </p:spPr>
          <p:txBody>
            <a:bodyPr anchor="t">
              <a:spAutoFit/>
            </a:bodyPr>
            <a:lstStyle/>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先定位待插入键值的叶子结点：从根结点开始向下；</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检查叶子结点是否已满？</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rgbClr val="CC0000"/>
                  </a:solidFill>
                  <a:latin typeface="Arial" panose="020B0604020202020204" pitchFamily="34" charset="0"/>
                  <a:ea typeface="微软雅黑" panose="020B0503020204020204" pitchFamily="34" charset="-122"/>
                </a:rPr>
                <a:t>如未满，则可直接插入</a:t>
              </a:r>
              <a:endParaRPr lang="zh-CN" altLang="en-US" sz="1600" dirty="0">
                <a:solidFill>
                  <a:srgbClr val="CC0000"/>
                </a:solidFill>
                <a:latin typeface="Arial" panose="020B0604020202020204" pitchFamily="34" charset="0"/>
                <a:ea typeface="微软雅黑" panose="020B0503020204020204" pitchFamily="34" charset="-122"/>
              </a:endParaRPr>
            </a:p>
          </p:txBody>
        </p:sp>
      </p:grpSp>
      <p:sp>
        <p:nvSpPr>
          <p:cNvPr id="10" name="灯片编号占位符 9"/>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checkerboard(across)">
                                      <p:cBhvr>
                                        <p:cTn id="7" dur="500"/>
                                        <p:tgtEl>
                                          <p:spTgt spid="10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5"/>
                                        </p:tgtEl>
                                        <p:attrNameLst>
                                          <p:attrName>style.visibility</p:attrName>
                                        </p:attrNameLst>
                                      </p:cBhvr>
                                      <p:to>
                                        <p:strVal val="visible"/>
                                      </p:to>
                                    </p:set>
                                    <p:anim calcmode="lin" valueType="num">
                                      <p:cBhvr additive="base">
                                        <p:cTn id="12" dur="500" fill="hold"/>
                                        <p:tgtEl>
                                          <p:spTgt spid="105"/>
                                        </p:tgtEl>
                                        <p:attrNameLst>
                                          <p:attrName>ppt_x</p:attrName>
                                        </p:attrNameLst>
                                      </p:cBhvr>
                                      <p:tavLst>
                                        <p:tav tm="0">
                                          <p:val>
                                            <p:strVal val="#ppt_x"/>
                                          </p:val>
                                        </p:tav>
                                        <p:tav tm="100000">
                                          <p:val>
                                            <p:strVal val="#ppt_x"/>
                                          </p:val>
                                        </p:tav>
                                      </p:tavLst>
                                    </p:anim>
                                    <p:anim calcmode="lin" valueType="num">
                                      <p:cBhvr additive="base">
                                        <p:cTn id="13"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ldLvl="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复杂插入</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latin typeface="微软雅黑" panose="020B0503020204020204" pitchFamily="34" charset="-122"/>
                <a:ea typeface="微软雅黑" panose="020B0503020204020204" pitchFamily="34" charset="-122"/>
              </a:rPr>
              <a:t>键值为</a:t>
            </a:r>
            <a:r>
              <a:rPr lang="en-US" altLang="zh-CN" sz="2000" b="0" dirty="0">
                <a:latin typeface="微软雅黑" panose="020B0503020204020204" pitchFamily="34" charset="-122"/>
                <a:ea typeface="微软雅黑" panose="020B0503020204020204" pitchFamily="34" charset="-122"/>
              </a:rPr>
              <a:t>19</a:t>
            </a:r>
            <a:r>
              <a:rPr lang="zh-CN" altLang="en-US" sz="2000" b="0" dirty="0">
                <a:latin typeface="微软雅黑" panose="020B0503020204020204" pitchFamily="34" charset="-122"/>
                <a:ea typeface="微软雅黑" panose="020B0503020204020204" pitchFamily="34" charset="-122"/>
              </a:rPr>
              <a:t>的记录插入后，问题：再插入键值为</a:t>
            </a:r>
            <a:r>
              <a:rPr lang="en-US" altLang="zh-CN" sz="2000" b="0" dirty="0">
                <a:latin typeface="微软雅黑" panose="020B0503020204020204" pitchFamily="34" charset="-122"/>
                <a:ea typeface="微软雅黑" panose="020B0503020204020204" pitchFamily="34" charset="-122"/>
              </a:rPr>
              <a:t>25</a:t>
            </a:r>
            <a:r>
              <a:rPr lang="zh-CN" altLang="en-US" sz="2000" b="0" dirty="0">
                <a:latin typeface="微软雅黑" panose="020B0503020204020204" pitchFamily="34" charset="-122"/>
                <a:ea typeface="微软雅黑" panose="020B0503020204020204" pitchFamily="34" charset="-122"/>
              </a:rPr>
              <a:t>的记录</a:t>
            </a:r>
            <a:endParaRPr lang="zh-CN" altLang="en-US" sz="2000" b="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2000" dirty="0"/>
          </a:p>
          <a:p>
            <a:pPr marL="0" indent="0">
              <a:lnSpc>
                <a:spcPct val="100000"/>
              </a:lnSpc>
              <a:buNone/>
            </a:pPr>
            <a:endParaRPr lang="zh-CN" altLang="en-US" sz="2000" dirty="0"/>
          </a:p>
          <a:p>
            <a:pPr marL="0" indent="0">
              <a:lnSpc>
                <a:spcPct val="100000"/>
              </a:lnSpc>
              <a:spcBef>
                <a:spcPct val="20000"/>
              </a:spcBef>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zh-CN" altLang="en-US" dirty="0"/>
              <a:t>分裂与合并过程再示例</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10" name="Group 194"/>
          <p:cNvGraphicFramePr>
            <a:graphicFrameLocks noGrp="1"/>
          </p:cNvGraphicFramePr>
          <p:nvPr/>
        </p:nvGraphicFramePr>
        <p:xfrm>
          <a:off x="4165600" y="234315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1" name="Group 216"/>
          <p:cNvGraphicFramePr>
            <a:graphicFrameLocks noGrp="1"/>
          </p:cNvGraphicFramePr>
          <p:nvPr/>
        </p:nvGraphicFramePr>
        <p:xfrm>
          <a:off x="2336800" y="325755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2" name="Group 238"/>
          <p:cNvGraphicFramePr>
            <a:graphicFrameLocks noGrp="1"/>
          </p:cNvGraphicFramePr>
          <p:nvPr/>
        </p:nvGraphicFramePr>
        <p:xfrm>
          <a:off x="5765800" y="325755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3" name="Group 260"/>
          <p:cNvGraphicFramePr>
            <a:graphicFrameLocks noGrp="1"/>
          </p:cNvGraphicFramePr>
          <p:nvPr/>
        </p:nvGraphicFramePr>
        <p:xfrm>
          <a:off x="1422400" y="470535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rgbClr val="CC0000"/>
                          </a:solidFill>
                          <a:effectLst/>
                          <a:latin typeface="Arial" panose="020B0604020202020204" pitchFamily="34" charset="0"/>
                          <a:ea typeface="宋体" panose="02010600030101010101" pitchFamily="2" charset="-122"/>
                        </a:rPr>
                        <a:t>19</a:t>
                      </a:r>
                      <a:endParaRPr kumimoji="1" lang="en-US" altLang="zh-CN" sz="14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4" name="Group 282"/>
          <p:cNvGraphicFramePr>
            <a:graphicFrameLocks noGrp="1"/>
          </p:cNvGraphicFramePr>
          <p:nvPr/>
        </p:nvGraphicFramePr>
        <p:xfrm>
          <a:off x="3251200" y="470535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5" name="Group 304"/>
          <p:cNvGraphicFramePr>
            <a:graphicFrameLocks noGrp="1"/>
          </p:cNvGraphicFramePr>
          <p:nvPr/>
        </p:nvGraphicFramePr>
        <p:xfrm>
          <a:off x="5003800" y="470535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6" name="Group 326"/>
          <p:cNvGraphicFramePr>
            <a:graphicFrameLocks noGrp="1"/>
          </p:cNvGraphicFramePr>
          <p:nvPr/>
        </p:nvGraphicFramePr>
        <p:xfrm>
          <a:off x="6756400" y="470535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 name="Line 348"/>
          <p:cNvSpPr/>
          <p:nvPr/>
        </p:nvSpPr>
        <p:spPr>
          <a:xfrm flipH="1">
            <a:off x="2336800" y="2876550"/>
            <a:ext cx="1981200" cy="381000"/>
          </a:xfrm>
          <a:prstGeom prst="line">
            <a:avLst/>
          </a:prstGeom>
          <a:ln w="9525" cap="flat" cmpd="sng">
            <a:solidFill>
              <a:schemeClr val="tx1"/>
            </a:solidFill>
            <a:prstDash val="solid"/>
            <a:round/>
            <a:headEnd type="none" w="med" len="med"/>
            <a:tailEnd type="triangle" w="med" len="med"/>
          </a:ln>
        </p:spPr>
      </p:sp>
      <p:sp>
        <p:nvSpPr>
          <p:cNvPr id="18" name="Line 349"/>
          <p:cNvSpPr/>
          <p:nvPr/>
        </p:nvSpPr>
        <p:spPr>
          <a:xfrm>
            <a:off x="4699000" y="2876550"/>
            <a:ext cx="1066800" cy="381000"/>
          </a:xfrm>
          <a:prstGeom prst="line">
            <a:avLst/>
          </a:prstGeom>
          <a:ln w="9525" cap="flat" cmpd="sng">
            <a:solidFill>
              <a:schemeClr val="tx1"/>
            </a:solidFill>
            <a:prstDash val="solid"/>
            <a:round/>
            <a:headEnd type="none" w="med" len="med"/>
            <a:tailEnd type="triangle" w="med" len="med"/>
          </a:ln>
        </p:spPr>
      </p:sp>
      <p:sp>
        <p:nvSpPr>
          <p:cNvPr id="19" name="Line 350"/>
          <p:cNvSpPr/>
          <p:nvPr/>
        </p:nvSpPr>
        <p:spPr>
          <a:xfrm flipH="1">
            <a:off x="1422400" y="3790950"/>
            <a:ext cx="1066800" cy="914400"/>
          </a:xfrm>
          <a:prstGeom prst="line">
            <a:avLst/>
          </a:prstGeom>
          <a:ln w="9525" cap="flat" cmpd="sng">
            <a:solidFill>
              <a:schemeClr val="tx1"/>
            </a:solidFill>
            <a:prstDash val="solid"/>
            <a:round/>
            <a:headEnd type="none" w="med" len="med"/>
            <a:tailEnd type="triangle" w="med" len="med"/>
          </a:ln>
        </p:spPr>
      </p:sp>
      <p:sp>
        <p:nvSpPr>
          <p:cNvPr id="20" name="Line 351"/>
          <p:cNvSpPr/>
          <p:nvPr/>
        </p:nvSpPr>
        <p:spPr>
          <a:xfrm>
            <a:off x="2870200" y="3790950"/>
            <a:ext cx="381000" cy="914400"/>
          </a:xfrm>
          <a:prstGeom prst="line">
            <a:avLst/>
          </a:prstGeom>
          <a:ln w="9525" cap="flat" cmpd="sng">
            <a:solidFill>
              <a:schemeClr val="tx1"/>
            </a:solidFill>
            <a:prstDash val="solid"/>
            <a:round/>
            <a:headEnd type="none" w="med" len="med"/>
            <a:tailEnd type="triangle" w="med" len="med"/>
          </a:ln>
        </p:spPr>
      </p:sp>
      <p:sp>
        <p:nvSpPr>
          <p:cNvPr id="21" name="Line 352"/>
          <p:cNvSpPr/>
          <p:nvPr/>
        </p:nvSpPr>
        <p:spPr>
          <a:xfrm>
            <a:off x="3327400" y="3790950"/>
            <a:ext cx="1676400" cy="914400"/>
          </a:xfrm>
          <a:prstGeom prst="line">
            <a:avLst/>
          </a:prstGeom>
          <a:ln w="9525" cap="flat" cmpd="sng">
            <a:solidFill>
              <a:schemeClr val="tx1"/>
            </a:solidFill>
            <a:prstDash val="solid"/>
            <a:round/>
            <a:headEnd type="none" w="med" len="med"/>
            <a:tailEnd type="triangle" w="med" len="med"/>
          </a:ln>
        </p:spPr>
      </p:sp>
      <p:sp>
        <p:nvSpPr>
          <p:cNvPr id="22" name="Line 353"/>
          <p:cNvSpPr/>
          <p:nvPr/>
        </p:nvSpPr>
        <p:spPr>
          <a:xfrm>
            <a:off x="5918200" y="3790950"/>
            <a:ext cx="838200" cy="914400"/>
          </a:xfrm>
          <a:prstGeom prst="line">
            <a:avLst/>
          </a:prstGeom>
          <a:ln w="9525" cap="flat" cmpd="sng">
            <a:solidFill>
              <a:schemeClr val="tx1"/>
            </a:solidFill>
            <a:prstDash val="solid"/>
            <a:round/>
            <a:headEnd type="none" w="med" len="med"/>
            <a:tailEnd type="triangle" w="med" len="med"/>
          </a:ln>
        </p:spPr>
      </p:sp>
      <p:sp>
        <p:nvSpPr>
          <p:cNvPr id="23" name="Line 354"/>
          <p:cNvSpPr/>
          <p:nvPr/>
        </p:nvSpPr>
        <p:spPr>
          <a:xfrm>
            <a:off x="6299200" y="3790950"/>
            <a:ext cx="2438400" cy="838200"/>
          </a:xfrm>
          <a:prstGeom prst="line">
            <a:avLst/>
          </a:prstGeom>
          <a:ln w="9525" cap="flat" cmpd="sng">
            <a:solidFill>
              <a:schemeClr val="tx1"/>
            </a:solidFill>
            <a:prstDash val="solid"/>
            <a:round/>
            <a:headEnd type="none" w="med" len="med"/>
            <a:tailEnd type="triangle" w="med" len="med"/>
          </a:ln>
        </p:spPr>
      </p:sp>
      <p:sp>
        <p:nvSpPr>
          <p:cNvPr id="24" name="Line 355"/>
          <p:cNvSpPr/>
          <p:nvPr/>
        </p:nvSpPr>
        <p:spPr>
          <a:xfrm>
            <a:off x="6908800" y="3867150"/>
            <a:ext cx="2362200" cy="838200"/>
          </a:xfrm>
          <a:prstGeom prst="line">
            <a:avLst/>
          </a:prstGeom>
          <a:ln w="9525" cap="flat" cmpd="sng">
            <a:solidFill>
              <a:schemeClr val="tx1"/>
            </a:solidFill>
            <a:prstDash val="solid"/>
            <a:round/>
            <a:headEnd type="none" w="med" len="med"/>
            <a:tailEnd type="triangle" w="med" len="med"/>
          </a:ln>
        </p:spPr>
      </p:sp>
      <p:sp>
        <p:nvSpPr>
          <p:cNvPr id="25" name="Line 356"/>
          <p:cNvSpPr/>
          <p:nvPr/>
        </p:nvSpPr>
        <p:spPr>
          <a:xfrm>
            <a:off x="7442200" y="3790950"/>
            <a:ext cx="2209800" cy="838200"/>
          </a:xfrm>
          <a:prstGeom prst="line">
            <a:avLst/>
          </a:prstGeom>
          <a:ln w="9525" cap="flat" cmpd="sng">
            <a:solidFill>
              <a:schemeClr val="tx1"/>
            </a:solidFill>
            <a:prstDash val="solid"/>
            <a:round/>
            <a:headEnd type="none" w="med" len="med"/>
            <a:tailEnd type="triangle" w="med" len="med"/>
          </a:ln>
        </p:spPr>
      </p:sp>
      <p:sp>
        <p:nvSpPr>
          <p:cNvPr id="26" name="Line 357"/>
          <p:cNvSpPr/>
          <p:nvPr/>
        </p:nvSpPr>
        <p:spPr>
          <a:xfrm>
            <a:off x="2946400" y="5238750"/>
            <a:ext cx="304800" cy="0"/>
          </a:xfrm>
          <a:prstGeom prst="line">
            <a:avLst/>
          </a:prstGeom>
          <a:ln w="9525" cap="flat" cmpd="sng">
            <a:solidFill>
              <a:schemeClr val="tx1"/>
            </a:solidFill>
            <a:prstDash val="solid"/>
            <a:round/>
            <a:headEnd type="none" w="med" len="med"/>
            <a:tailEnd type="triangle" w="med" len="med"/>
          </a:ln>
        </p:spPr>
      </p:sp>
      <p:sp>
        <p:nvSpPr>
          <p:cNvPr id="27" name="Line 358"/>
          <p:cNvSpPr/>
          <p:nvPr/>
        </p:nvSpPr>
        <p:spPr>
          <a:xfrm>
            <a:off x="4699000" y="5238750"/>
            <a:ext cx="304800" cy="0"/>
          </a:xfrm>
          <a:prstGeom prst="line">
            <a:avLst/>
          </a:prstGeom>
          <a:ln w="9525" cap="flat" cmpd="sng">
            <a:solidFill>
              <a:schemeClr val="tx1"/>
            </a:solidFill>
            <a:prstDash val="solid"/>
            <a:round/>
            <a:headEnd type="none" w="med" len="med"/>
            <a:tailEnd type="triangle" w="med" len="med"/>
          </a:ln>
        </p:spPr>
      </p:sp>
      <p:sp>
        <p:nvSpPr>
          <p:cNvPr id="28" name="Line 359"/>
          <p:cNvSpPr/>
          <p:nvPr/>
        </p:nvSpPr>
        <p:spPr>
          <a:xfrm>
            <a:off x="6527800" y="5238750"/>
            <a:ext cx="228600" cy="0"/>
          </a:xfrm>
          <a:prstGeom prst="line">
            <a:avLst/>
          </a:prstGeom>
          <a:ln w="9525" cap="flat" cmpd="sng">
            <a:solidFill>
              <a:schemeClr val="tx1"/>
            </a:solidFill>
            <a:prstDash val="solid"/>
            <a:round/>
            <a:headEnd type="none" w="med" len="med"/>
            <a:tailEnd type="triangle" w="med" len="med"/>
          </a:ln>
        </p:spPr>
      </p:sp>
      <p:sp>
        <p:nvSpPr>
          <p:cNvPr id="29" name="Rectangle 360"/>
          <p:cNvSpPr/>
          <p:nvPr/>
        </p:nvSpPr>
        <p:spPr>
          <a:xfrm>
            <a:off x="1422400" y="60769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10</a:t>
            </a:r>
            <a:endParaRPr lang="en-US" altLang="zh-CN" sz="1400" b="0" dirty="0">
              <a:latin typeface="Times New Roman" panose="02020603050405020304" pitchFamily="18" charset="0"/>
              <a:ea typeface="宋体" panose="02010600030101010101" pitchFamily="2" charset="-122"/>
            </a:endParaRPr>
          </a:p>
        </p:txBody>
      </p:sp>
      <p:sp>
        <p:nvSpPr>
          <p:cNvPr id="30" name="Rectangle 361"/>
          <p:cNvSpPr/>
          <p:nvPr/>
        </p:nvSpPr>
        <p:spPr>
          <a:xfrm>
            <a:off x="1955800" y="60769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15</a:t>
            </a:r>
            <a:endParaRPr lang="en-US" altLang="zh-CN" sz="1400" b="0" dirty="0">
              <a:latin typeface="Times New Roman" panose="02020603050405020304" pitchFamily="18" charset="0"/>
              <a:ea typeface="宋体" panose="02010600030101010101" pitchFamily="2" charset="-122"/>
            </a:endParaRPr>
          </a:p>
        </p:txBody>
      </p:sp>
      <p:sp>
        <p:nvSpPr>
          <p:cNvPr id="31" name="Rectangle 362"/>
          <p:cNvSpPr/>
          <p:nvPr/>
        </p:nvSpPr>
        <p:spPr>
          <a:xfrm>
            <a:off x="2413000" y="60769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18</a:t>
            </a:r>
            <a:endParaRPr lang="en-US" altLang="zh-CN" sz="1400" b="0" dirty="0">
              <a:latin typeface="Times New Roman" panose="02020603050405020304" pitchFamily="18" charset="0"/>
              <a:ea typeface="宋体" panose="02010600030101010101" pitchFamily="2" charset="-122"/>
            </a:endParaRPr>
          </a:p>
        </p:txBody>
      </p:sp>
      <p:sp>
        <p:nvSpPr>
          <p:cNvPr id="33" name="Rectangle 363"/>
          <p:cNvSpPr/>
          <p:nvPr/>
        </p:nvSpPr>
        <p:spPr>
          <a:xfrm>
            <a:off x="3251200" y="60769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20</a:t>
            </a:r>
            <a:endParaRPr lang="en-US" altLang="zh-CN" sz="1400" b="0" dirty="0">
              <a:latin typeface="Times New Roman" panose="02020603050405020304" pitchFamily="18" charset="0"/>
              <a:ea typeface="宋体" panose="02010600030101010101" pitchFamily="2" charset="-122"/>
            </a:endParaRPr>
          </a:p>
        </p:txBody>
      </p:sp>
      <p:sp>
        <p:nvSpPr>
          <p:cNvPr id="34" name="Rectangle 364"/>
          <p:cNvSpPr/>
          <p:nvPr/>
        </p:nvSpPr>
        <p:spPr>
          <a:xfrm>
            <a:off x="3708400" y="60769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30</a:t>
            </a:r>
            <a:endParaRPr lang="en-US" altLang="zh-CN" sz="1400" b="0" dirty="0">
              <a:latin typeface="Times New Roman" panose="02020603050405020304" pitchFamily="18" charset="0"/>
              <a:ea typeface="宋体" panose="02010600030101010101" pitchFamily="2" charset="-122"/>
            </a:endParaRPr>
          </a:p>
        </p:txBody>
      </p:sp>
      <p:sp>
        <p:nvSpPr>
          <p:cNvPr id="35" name="Rectangle 365"/>
          <p:cNvSpPr/>
          <p:nvPr/>
        </p:nvSpPr>
        <p:spPr>
          <a:xfrm>
            <a:off x="4165600" y="60769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40</a:t>
            </a:r>
            <a:endParaRPr lang="en-US" altLang="zh-CN" sz="1400" b="0" dirty="0">
              <a:latin typeface="Times New Roman" panose="02020603050405020304" pitchFamily="18" charset="0"/>
              <a:ea typeface="宋体" panose="02010600030101010101" pitchFamily="2" charset="-122"/>
            </a:endParaRPr>
          </a:p>
        </p:txBody>
      </p:sp>
      <p:sp>
        <p:nvSpPr>
          <p:cNvPr id="36" name="Rectangle 366"/>
          <p:cNvSpPr/>
          <p:nvPr/>
        </p:nvSpPr>
        <p:spPr>
          <a:xfrm>
            <a:off x="4699000" y="60769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50</a:t>
            </a:r>
            <a:endParaRPr lang="en-US" altLang="zh-CN" sz="1400" b="0" dirty="0">
              <a:latin typeface="Times New Roman" panose="02020603050405020304" pitchFamily="18" charset="0"/>
              <a:ea typeface="宋体" panose="02010600030101010101" pitchFamily="2" charset="-122"/>
            </a:endParaRPr>
          </a:p>
        </p:txBody>
      </p:sp>
      <p:sp>
        <p:nvSpPr>
          <p:cNvPr id="37" name="Rectangle 367"/>
          <p:cNvSpPr/>
          <p:nvPr/>
        </p:nvSpPr>
        <p:spPr>
          <a:xfrm>
            <a:off x="5156200" y="60769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60</a:t>
            </a:r>
            <a:endParaRPr lang="en-US" altLang="zh-CN" sz="1400" b="0" dirty="0">
              <a:latin typeface="Times New Roman" panose="02020603050405020304" pitchFamily="18" charset="0"/>
              <a:ea typeface="宋体" panose="02010600030101010101" pitchFamily="2" charset="-122"/>
            </a:endParaRPr>
          </a:p>
        </p:txBody>
      </p:sp>
      <p:sp>
        <p:nvSpPr>
          <p:cNvPr id="38" name="Rectangle 368"/>
          <p:cNvSpPr/>
          <p:nvPr/>
        </p:nvSpPr>
        <p:spPr>
          <a:xfrm>
            <a:off x="5613400" y="60769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65</a:t>
            </a:r>
            <a:endParaRPr lang="en-US" altLang="zh-CN" sz="1400" b="0" dirty="0">
              <a:latin typeface="Times New Roman" panose="02020603050405020304" pitchFamily="18" charset="0"/>
              <a:ea typeface="宋体" panose="02010600030101010101" pitchFamily="2" charset="-122"/>
            </a:endParaRPr>
          </a:p>
        </p:txBody>
      </p:sp>
      <p:sp>
        <p:nvSpPr>
          <p:cNvPr id="39" name="Rectangle 369"/>
          <p:cNvSpPr/>
          <p:nvPr/>
        </p:nvSpPr>
        <p:spPr>
          <a:xfrm>
            <a:off x="6070600" y="60769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80</a:t>
            </a:r>
            <a:endParaRPr lang="en-US" altLang="zh-CN" sz="1400" b="0" dirty="0">
              <a:latin typeface="Times New Roman" panose="02020603050405020304" pitchFamily="18" charset="0"/>
              <a:ea typeface="宋体" panose="02010600030101010101" pitchFamily="2" charset="-122"/>
            </a:endParaRPr>
          </a:p>
        </p:txBody>
      </p:sp>
      <p:sp>
        <p:nvSpPr>
          <p:cNvPr id="40" name="Rectangle 370"/>
          <p:cNvSpPr/>
          <p:nvPr/>
        </p:nvSpPr>
        <p:spPr>
          <a:xfrm>
            <a:off x="6604000" y="60769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85</a:t>
            </a:r>
            <a:endParaRPr lang="en-US" altLang="zh-CN" sz="1400" b="0" dirty="0">
              <a:latin typeface="Times New Roman" panose="02020603050405020304" pitchFamily="18" charset="0"/>
              <a:ea typeface="宋体" panose="02010600030101010101" pitchFamily="2" charset="-122"/>
            </a:endParaRPr>
          </a:p>
        </p:txBody>
      </p:sp>
      <p:sp>
        <p:nvSpPr>
          <p:cNvPr id="41" name="Rectangle 371"/>
          <p:cNvSpPr/>
          <p:nvPr/>
        </p:nvSpPr>
        <p:spPr>
          <a:xfrm>
            <a:off x="7137400" y="60769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90</a:t>
            </a:r>
            <a:endParaRPr lang="en-US" altLang="zh-CN" sz="1400" b="0" dirty="0">
              <a:latin typeface="Times New Roman" panose="02020603050405020304" pitchFamily="18" charset="0"/>
              <a:ea typeface="宋体" panose="02010600030101010101" pitchFamily="2" charset="-122"/>
            </a:endParaRPr>
          </a:p>
        </p:txBody>
      </p:sp>
      <p:sp>
        <p:nvSpPr>
          <p:cNvPr id="42" name="Line 372"/>
          <p:cNvSpPr/>
          <p:nvPr/>
        </p:nvSpPr>
        <p:spPr>
          <a:xfrm flipH="1">
            <a:off x="1422400" y="5238750"/>
            <a:ext cx="152400" cy="838200"/>
          </a:xfrm>
          <a:prstGeom prst="line">
            <a:avLst/>
          </a:prstGeom>
          <a:ln w="9525" cap="flat" cmpd="sng">
            <a:solidFill>
              <a:schemeClr val="tx1"/>
            </a:solidFill>
            <a:prstDash val="solid"/>
            <a:round/>
            <a:headEnd type="none" w="med" len="med"/>
            <a:tailEnd type="triangle" w="med" len="med"/>
          </a:ln>
        </p:spPr>
      </p:sp>
      <p:sp>
        <p:nvSpPr>
          <p:cNvPr id="43" name="Line 373"/>
          <p:cNvSpPr/>
          <p:nvPr/>
        </p:nvSpPr>
        <p:spPr>
          <a:xfrm>
            <a:off x="1879600" y="5238750"/>
            <a:ext cx="76200" cy="838200"/>
          </a:xfrm>
          <a:prstGeom prst="line">
            <a:avLst/>
          </a:prstGeom>
          <a:ln w="9525" cap="flat" cmpd="sng">
            <a:solidFill>
              <a:schemeClr val="tx1"/>
            </a:solidFill>
            <a:prstDash val="solid"/>
            <a:round/>
            <a:headEnd type="none" w="med" len="med"/>
            <a:tailEnd type="triangle" w="med" len="med"/>
          </a:ln>
        </p:spPr>
      </p:sp>
      <p:sp>
        <p:nvSpPr>
          <p:cNvPr id="44" name="Line 374"/>
          <p:cNvSpPr/>
          <p:nvPr/>
        </p:nvSpPr>
        <p:spPr>
          <a:xfrm>
            <a:off x="2260600" y="5238750"/>
            <a:ext cx="228600" cy="838200"/>
          </a:xfrm>
          <a:prstGeom prst="line">
            <a:avLst/>
          </a:prstGeom>
          <a:ln w="9525" cap="flat" cmpd="sng">
            <a:solidFill>
              <a:schemeClr val="tx1"/>
            </a:solidFill>
            <a:prstDash val="solid"/>
            <a:round/>
            <a:headEnd type="none" w="med" len="med"/>
            <a:tailEnd type="triangle" w="med" len="med"/>
          </a:ln>
        </p:spPr>
      </p:sp>
      <p:sp>
        <p:nvSpPr>
          <p:cNvPr id="45" name="Line 375"/>
          <p:cNvSpPr/>
          <p:nvPr/>
        </p:nvSpPr>
        <p:spPr>
          <a:xfrm flipH="1">
            <a:off x="3327400" y="5238750"/>
            <a:ext cx="76200" cy="838200"/>
          </a:xfrm>
          <a:prstGeom prst="line">
            <a:avLst/>
          </a:prstGeom>
          <a:ln w="9525" cap="flat" cmpd="sng">
            <a:solidFill>
              <a:schemeClr val="tx1"/>
            </a:solidFill>
            <a:prstDash val="solid"/>
            <a:round/>
            <a:headEnd type="none" w="med" len="med"/>
            <a:tailEnd type="triangle" w="med" len="med"/>
          </a:ln>
        </p:spPr>
      </p:sp>
      <p:sp>
        <p:nvSpPr>
          <p:cNvPr id="46" name="Line 376"/>
          <p:cNvSpPr/>
          <p:nvPr/>
        </p:nvSpPr>
        <p:spPr>
          <a:xfrm>
            <a:off x="3708400" y="5238750"/>
            <a:ext cx="0" cy="838200"/>
          </a:xfrm>
          <a:prstGeom prst="line">
            <a:avLst/>
          </a:prstGeom>
          <a:ln w="9525" cap="flat" cmpd="sng">
            <a:solidFill>
              <a:schemeClr val="tx1"/>
            </a:solidFill>
            <a:prstDash val="solid"/>
            <a:round/>
            <a:headEnd type="none" w="med" len="med"/>
            <a:tailEnd type="triangle" w="med" len="med"/>
          </a:ln>
        </p:spPr>
      </p:sp>
      <p:sp>
        <p:nvSpPr>
          <p:cNvPr id="47" name="Line 377"/>
          <p:cNvSpPr/>
          <p:nvPr/>
        </p:nvSpPr>
        <p:spPr>
          <a:xfrm>
            <a:off x="4013200" y="5238750"/>
            <a:ext cx="152400" cy="838200"/>
          </a:xfrm>
          <a:prstGeom prst="line">
            <a:avLst/>
          </a:prstGeom>
          <a:ln w="9525" cap="flat" cmpd="sng">
            <a:solidFill>
              <a:schemeClr val="tx1"/>
            </a:solidFill>
            <a:prstDash val="solid"/>
            <a:round/>
            <a:headEnd type="none" w="med" len="med"/>
            <a:tailEnd type="triangle" w="med" len="med"/>
          </a:ln>
        </p:spPr>
      </p:sp>
      <p:sp>
        <p:nvSpPr>
          <p:cNvPr id="48" name="Line 378"/>
          <p:cNvSpPr/>
          <p:nvPr/>
        </p:nvSpPr>
        <p:spPr>
          <a:xfrm>
            <a:off x="4394200" y="5238750"/>
            <a:ext cx="304800" cy="838200"/>
          </a:xfrm>
          <a:prstGeom prst="line">
            <a:avLst/>
          </a:prstGeom>
          <a:ln w="9525" cap="flat" cmpd="sng">
            <a:solidFill>
              <a:schemeClr val="tx1"/>
            </a:solidFill>
            <a:prstDash val="solid"/>
            <a:round/>
            <a:headEnd type="none" w="med" len="med"/>
            <a:tailEnd type="triangle" w="med" len="med"/>
          </a:ln>
        </p:spPr>
      </p:sp>
      <p:sp>
        <p:nvSpPr>
          <p:cNvPr id="49" name="Line 379"/>
          <p:cNvSpPr/>
          <p:nvPr/>
        </p:nvSpPr>
        <p:spPr>
          <a:xfrm>
            <a:off x="5156200" y="5238750"/>
            <a:ext cx="0" cy="838200"/>
          </a:xfrm>
          <a:prstGeom prst="line">
            <a:avLst/>
          </a:prstGeom>
          <a:ln w="9525" cap="flat" cmpd="sng">
            <a:solidFill>
              <a:schemeClr val="tx1"/>
            </a:solidFill>
            <a:prstDash val="solid"/>
            <a:round/>
            <a:headEnd type="none" w="med" len="med"/>
            <a:tailEnd type="triangle" w="med" len="med"/>
          </a:ln>
        </p:spPr>
      </p:sp>
      <p:sp>
        <p:nvSpPr>
          <p:cNvPr id="50" name="Line 380"/>
          <p:cNvSpPr/>
          <p:nvPr/>
        </p:nvSpPr>
        <p:spPr>
          <a:xfrm>
            <a:off x="5384800" y="5162550"/>
            <a:ext cx="228600" cy="914400"/>
          </a:xfrm>
          <a:prstGeom prst="line">
            <a:avLst/>
          </a:prstGeom>
          <a:ln w="9525" cap="flat" cmpd="sng">
            <a:solidFill>
              <a:schemeClr val="tx1"/>
            </a:solidFill>
            <a:prstDash val="solid"/>
            <a:round/>
            <a:headEnd type="none" w="med" len="med"/>
            <a:tailEnd type="triangle" w="med" len="med"/>
          </a:ln>
        </p:spPr>
      </p:sp>
      <p:sp>
        <p:nvSpPr>
          <p:cNvPr id="51" name="Line 381"/>
          <p:cNvSpPr/>
          <p:nvPr/>
        </p:nvSpPr>
        <p:spPr>
          <a:xfrm flipH="1">
            <a:off x="6070600" y="5238750"/>
            <a:ext cx="838200" cy="838200"/>
          </a:xfrm>
          <a:prstGeom prst="line">
            <a:avLst/>
          </a:prstGeom>
          <a:ln w="9525" cap="flat" cmpd="sng">
            <a:solidFill>
              <a:schemeClr val="tx1"/>
            </a:solidFill>
            <a:prstDash val="solid"/>
            <a:round/>
            <a:headEnd type="none" w="med" len="med"/>
            <a:tailEnd type="triangle" w="med" len="med"/>
          </a:ln>
        </p:spPr>
      </p:sp>
      <p:sp>
        <p:nvSpPr>
          <p:cNvPr id="52" name="Line 382"/>
          <p:cNvSpPr/>
          <p:nvPr/>
        </p:nvSpPr>
        <p:spPr>
          <a:xfrm flipH="1">
            <a:off x="6604000" y="5238750"/>
            <a:ext cx="609600" cy="838200"/>
          </a:xfrm>
          <a:prstGeom prst="line">
            <a:avLst/>
          </a:prstGeom>
          <a:ln w="9525" cap="flat" cmpd="sng">
            <a:solidFill>
              <a:schemeClr val="tx1"/>
            </a:solidFill>
            <a:prstDash val="solid"/>
            <a:round/>
            <a:headEnd type="none" w="med" len="med"/>
            <a:tailEnd type="triangle" w="med" len="med"/>
          </a:ln>
        </p:spPr>
      </p:sp>
      <p:sp>
        <p:nvSpPr>
          <p:cNvPr id="53" name="Line 383"/>
          <p:cNvSpPr/>
          <p:nvPr/>
        </p:nvSpPr>
        <p:spPr>
          <a:xfrm flipH="1">
            <a:off x="7137400" y="5238750"/>
            <a:ext cx="457200" cy="838200"/>
          </a:xfrm>
          <a:prstGeom prst="line">
            <a:avLst/>
          </a:prstGeom>
          <a:ln w="9525" cap="flat" cmpd="sng">
            <a:solidFill>
              <a:schemeClr val="tx1"/>
            </a:solidFill>
            <a:prstDash val="solid"/>
            <a:round/>
            <a:headEnd type="none" w="med" len="med"/>
            <a:tailEnd type="triangle" w="med" len="med"/>
          </a:ln>
        </p:spPr>
      </p:sp>
      <p:sp>
        <p:nvSpPr>
          <p:cNvPr id="54" name="Line 384"/>
          <p:cNvSpPr/>
          <p:nvPr/>
        </p:nvSpPr>
        <p:spPr>
          <a:xfrm>
            <a:off x="8280400" y="5238750"/>
            <a:ext cx="304800" cy="0"/>
          </a:xfrm>
          <a:prstGeom prst="line">
            <a:avLst/>
          </a:prstGeom>
          <a:ln w="9525" cap="flat" cmpd="sng">
            <a:solidFill>
              <a:schemeClr val="tx1"/>
            </a:solidFill>
            <a:prstDash val="solid"/>
            <a:round/>
            <a:headEnd type="none" w="med" len="med"/>
            <a:tailEnd type="triangle" w="med" len="med"/>
          </a:ln>
        </p:spPr>
      </p:sp>
      <p:sp>
        <p:nvSpPr>
          <p:cNvPr id="55" name="Rectangle 385"/>
          <p:cNvSpPr/>
          <p:nvPr/>
        </p:nvSpPr>
        <p:spPr>
          <a:xfrm>
            <a:off x="2822575" y="6076950"/>
            <a:ext cx="390525" cy="314325"/>
          </a:xfrm>
          <a:prstGeom prst="rect">
            <a:avLst/>
          </a:prstGeom>
          <a:solidFill>
            <a:srgbClr val="DDDDDD"/>
          </a:solidFill>
          <a:ln w="9525" cap="flat" cmpd="sng">
            <a:solidFill>
              <a:srgbClr val="CC0000"/>
            </a:solidFill>
            <a:prstDash val="solid"/>
            <a:miter/>
            <a:headEnd type="none" w="med" len="med"/>
            <a:tailEnd type="none" w="med" len="med"/>
          </a:ln>
        </p:spPr>
        <p:txBody>
          <a:bodyPr wrap="none" anchor="ctr">
            <a:spAutoFit/>
          </a:bodyPr>
          <a:lstStyle/>
          <a:p>
            <a:pPr algn="ctr"/>
            <a:r>
              <a:rPr lang="en-US" altLang="zh-CN" sz="1400" dirty="0">
                <a:solidFill>
                  <a:srgbClr val="CC0000"/>
                </a:solidFill>
                <a:latin typeface="Arial" panose="020B0604020202020204" pitchFamily="34" charset="0"/>
                <a:ea typeface="宋体" panose="02010600030101010101" pitchFamily="2" charset="-122"/>
              </a:rPr>
              <a:t>19</a:t>
            </a:r>
            <a:endParaRPr lang="en-US" altLang="zh-CN" sz="1400" dirty="0">
              <a:solidFill>
                <a:srgbClr val="CC0000"/>
              </a:solidFill>
              <a:latin typeface="Arial" panose="020B0604020202020204" pitchFamily="34" charset="0"/>
              <a:ea typeface="宋体" panose="02010600030101010101" pitchFamily="2" charset="-122"/>
            </a:endParaRPr>
          </a:p>
        </p:txBody>
      </p:sp>
      <p:sp>
        <p:nvSpPr>
          <p:cNvPr id="56" name="Line 386"/>
          <p:cNvSpPr/>
          <p:nvPr/>
        </p:nvSpPr>
        <p:spPr>
          <a:xfrm>
            <a:off x="2641600" y="5238750"/>
            <a:ext cx="228600" cy="762000"/>
          </a:xfrm>
          <a:prstGeom prst="line">
            <a:avLst/>
          </a:prstGeom>
          <a:ln w="9525" cap="flat" cmpd="sng">
            <a:solidFill>
              <a:schemeClr val="tx1"/>
            </a:solidFill>
            <a:prstDash val="solid"/>
            <a:round/>
            <a:headEnd type="none" w="med" len="med"/>
            <a:tailEnd type="triangle" w="med" len="med"/>
          </a:ln>
        </p:spPr>
      </p:sp>
      <p:sp>
        <p:nvSpPr>
          <p:cNvPr id="57" name="Line 392"/>
          <p:cNvSpPr/>
          <p:nvPr/>
        </p:nvSpPr>
        <p:spPr>
          <a:xfrm>
            <a:off x="596900" y="4300538"/>
            <a:ext cx="9144000" cy="28575"/>
          </a:xfrm>
          <a:prstGeom prst="line">
            <a:avLst/>
          </a:prstGeom>
          <a:ln w="38100" cap="flat" cmpd="dbl">
            <a:solidFill>
              <a:srgbClr val="CC0000"/>
            </a:solidFill>
            <a:prstDash val="dash"/>
            <a:round/>
            <a:headEnd type="none" w="med" len="med"/>
            <a:tailEnd type="none" w="med" len="med"/>
          </a:ln>
        </p:spPr>
      </p:sp>
      <p:sp>
        <p:nvSpPr>
          <p:cNvPr id="58" name="Line 393"/>
          <p:cNvSpPr/>
          <p:nvPr/>
        </p:nvSpPr>
        <p:spPr>
          <a:xfrm>
            <a:off x="582613" y="5780088"/>
            <a:ext cx="9144000" cy="28575"/>
          </a:xfrm>
          <a:prstGeom prst="line">
            <a:avLst/>
          </a:prstGeom>
          <a:ln w="38100" cap="flat" cmpd="dbl">
            <a:solidFill>
              <a:srgbClr val="CC0000"/>
            </a:solidFill>
            <a:prstDash val="dash"/>
            <a:round/>
            <a:headEnd type="none" w="med" len="med"/>
            <a:tailEnd type="none" w="med" len="med"/>
          </a:ln>
        </p:spPr>
      </p:sp>
      <p:sp>
        <p:nvSpPr>
          <p:cNvPr id="59" name="Text Box 394"/>
          <p:cNvSpPr txBox="1"/>
          <p:nvPr/>
        </p:nvSpPr>
        <p:spPr>
          <a:xfrm>
            <a:off x="8453438" y="3849688"/>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非叶结点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09" name="Text Box 395"/>
          <p:cNvSpPr txBox="1"/>
          <p:nvPr/>
        </p:nvSpPr>
        <p:spPr>
          <a:xfrm>
            <a:off x="8469313" y="4337050"/>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叶子结点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0" name="Text Box 396"/>
          <p:cNvSpPr txBox="1"/>
          <p:nvPr/>
        </p:nvSpPr>
        <p:spPr>
          <a:xfrm>
            <a:off x="8583613" y="5818188"/>
            <a:ext cx="1025525" cy="701675"/>
          </a:xfrm>
          <a:prstGeom prst="rect">
            <a:avLst/>
          </a:prstGeom>
          <a:noFill/>
          <a:ln w="9525">
            <a:noFill/>
          </a:ln>
        </p:spPr>
        <p:txBody>
          <a:bodyPr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主文件的记录</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1" name="Rectangle 403"/>
          <p:cNvSpPr/>
          <p:nvPr/>
        </p:nvSpPr>
        <p:spPr>
          <a:xfrm>
            <a:off x="3224213" y="4692650"/>
            <a:ext cx="1654175" cy="723900"/>
          </a:xfrm>
          <a:prstGeom prst="rect">
            <a:avLst/>
          </a:prstGeom>
          <a:noFill/>
          <a:ln w="76200" cap="flat" cmpd="sng">
            <a:solidFill>
              <a:srgbClr val="CC0000"/>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grpSp>
        <p:nvGrpSpPr>
          <p:cNvPr id="112" name="Group 398"/>
          <p:cNvGrpSpPr/>
          <p:nvPr/>
        </p:nvGrpSpPr>
        <p:grpSpPr>
          <a:xfrm>
            <a:off x="8139113" y="2012157"/>
            <a:ext cx="3371850" cy="1406525"/>
            <a:chOff x="1265" y="3268"/>
            <a:chExt cx="1154" cy="629"/>
          </a:xfrm>
        </p:grpSpPr>
        <p:sp>
          <p:nvSpPr>
            <p:cNvPr id="113"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14"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15" name="Text Box 84"/>
            <p:cNvSpPr/>
            <p:nvPr/>
          </p:nvSpPr>
          <p:spPr>
            <a:xfrm>
              <a:off x="1269" y="3299"/>
              <a:ext cx="1150" cy="574"/>
            </a:xfrm>
            <a:prstGeom prst="roundRect">
              <a:avLst>
                <a:gd name="adj" fmla="val 16667"/>
              </a:avLst>
            </a:prstGeom>
            <a:noFill/>
            <a:ln w="9525">
              <a:noFill/>
            </a:ln>
          </p:spPr>
          <p:txBody>
            <a:bodyPr anchor="t">
              <a:spAutoFit/>
            </a:bodyPr>
            <a:lstStyle/>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先定位待插入键值的叶子结点：从根结点开始向下；</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检查叶子结点是否已满？</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rgbClr val="CC0000"/>
                  </a:solidFill>
                  <a:latin typeface="Arial" panose="020B0604020202020204" pitchFamily="34" charset="0"/>
                  <a:ea typeface="微软雅黑" panose="020B0503020204020204" pitchFamily="34" charset="-122"/>
                </a:rPr>
                <a:t>如已满，则需分裂该结点为两个</a:t>
              </a:r>
              <a:endParaRPr lang="zh-CN" altLang="en-US" sz="1600" dirty="0">
                <a:solidFill>
                  <a:srgbClr val="CC0000"/>
                </a:solidFill>
                <a:latin typeface="Arial" panose="020B0604020202020204" pitchFamily="34" charset="0"/>
                <a:ea typeface="微软雅黑" panose="020B0503020204020204" pitchFamily="34" charset="-122"/>
              </a:endParaRPr>
            </a:p>
          </p:txBody>
        </p:sp>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checkerboard(across)">
                                      <p:cBhvr>
                                        <p:cTn id="7" dur="5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2"/>
                                        </p:tgtEl>
                                        <p:attrNameLst>
                                          <p:attrName>style.visibility</p:attrName>
                                        </p:attrNameLst>
                                      </p:cBhvr>
                                      <p:to>
                                        <p:strVal val="visible"/>
                                      </p:to>
                                    </p:set>
                                    <p:anim calcmode="lin" valueType="num">
                                      <p:cBhvr additive="base">
                                        <p:cTn id="12" dur="500" fill="hold"/>
                                        <p:tgtEl>
                                          <p:spTgt spid="112"/>
                                        </p:tgtEl>
                                        <p:attrNameLst>
                                          <p:attrName>ppt_x</p:attrName>
                                        </p:attrNameLst>
                                      </p:cBhvr>
                                      <p:tavLst>
                                        <p:tav tm="0">
                                          <p:val>
                                            <p:strVal val="#ppt_x"/>
                                          </p:val>
                                        </p:tav>
                                        <p:tav tm="100000">
                                          <p:val>
                                            <p:strVal val="#ppt_x"/>
                                          </p:val>
                                        </p:tav>
                                      </p:tavLst>
                                    </p:anim>
                                    <p:anim calcmode="lin" valueType="num">
                                      <p:cBhvr additive="base">
                                        <p:cTn id="13" dur="500" fill="hold"/>
                                        <p:tgtEl>
                                          <p:spTgt spid="1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bldLvl="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分裂条件与分裂过程</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2000" dirty="0"/>
          </a:p>
          <a:p>
            <a:pPr marL="0" indent="0">
              <a:lnSpc>
                <a:spcPct val="100000"/>
              </a:lnSpc>
              <a:spcBef>
                <a:spcPct val="20000"/>
              </a:spcBef>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zh-CN" altLang="en-US" dirty="0"/>
              <a:t>分裂与合并过程再示例</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2" name="Group 2"/>
          <p:cNvGraphicFramePr>
            <a:graphicFrameLocks noGrp="1"/>
          </p:cNvGraphicFramePr>
          <p:nvPr/>
        </p:nvGraphicFramePr>
        <p:xfrm>
          <a:off x="4787895" y="2590189"/>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24"/>
          <p:cNvGraphicFramePr>
            <a:graphicFrameLocks noGrp="1"/>
          </p:cNvGraphicFramePr>
          <p:nvPr/>
        </p:nvGraphicFramePr>
        <p:xfrm>
          <a:off x="2959095" y="3504589"/>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rgbClr val="CC0000"/>
                          </a:solidFill>
                          <a:effectLst/>
                          <a:latin typeface="Arial" panose="020B0604020202020204" pitchFamily="34" charset="0"/>
                          <a:ea typeface="宋体" panose="02010600030101010101" pitchFamily="2" charset="-122"/>
                        </a:rPr>
                        <a:t>30</a:t>
                      </a:r>
                      <a:endParaRPr kumimoji="1" lang="en-US" altLang="zh-CN" sz="16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 name="Group 46"/>
          <p:cNvGraphicFramePr>
            <a:graphicFrameLocks noGrp="1"/>
          </p:cNvGraphicFramePr>
          <p:nvPr/>
        </p:nvGraphicFramePr>
        <p:xfrm>
          <a:off x="6388095" y="3504589"/>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 name="Group 68"/>
          <p:cNvGraphicFramePr>
            <a:graphicFrameLocks noGrp="1"/>
          </p:cNvGraphicFramePr>
          <p:nvPr/>
        </p:nvGraphicFramePr>
        <p:xfrm>
          <a:off x="1511295" y="4952389"/>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9" name="Group 235"/>
          <p:cNvGraphicFramePr>
            <a:graphicFrameLocks noGrp="1"/>
          </p:cNvGraphicFramePr>
          <p:nvPr/>
        </p:nvGraphicFramePr>
        <p:xfrm>
          <a:off x="3340095" y="4952389"/>
          <a:ext cx="1595755" cy="685800"/>
        </p:xfrm>
        <a:graphic>
          <a:graphicData uri="http://schemas.openxmlformats.org/drawingml/2006/table">
            <a:tbl>
              <a:tblPr/>
              <a:tblGrid>
                <a:gridCol w="223838"/>
                <a:gridCol w="185737"/>
                <a:gridCol w="185738"/>
                <a:gridCol w="244475"/>
                <a:gridCol w="182562"/>
                <a:gridCol w="182563"/>
                <a:gridCol w="182562"/>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rgbClr val="CC0000"/>
                          </a:solidFill>
                          <a:effectLst/>
                          <a:latin typeface="Arial" panose="020B0604020202020204" pitchFamily="34" charset="0"/>
                          <a:ea typeface="宋体" panose="02010600030101010101" pitchFamily="2" charset="-122"/>
                        </a:rPr>
                        <a:t>25</a:t>
                      </a:r>
                      <a:endParaRPr kumimoji="1" lang="en-US" altLang="zh-CN" sz="14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0" name="Group 112"/>
          <p:cNvGraphicFramePr>
            <a:graphicFrameLocks noGrp="1"/>
          </p:cNvGraphicFramePr>
          <p:nvPr/>
        </p:nvGraphicFramePr>
        <p:xfrm>
          <a:off x="6616695" y="4952389"/>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1" name="Group 134"/>
          <p:cNvGraphicFramePr>
            <a:graphicFrameLocks noGrp="1"/>
          </p:cNvGraphicFramePr>
          <p:nvPr/>
        </p:nvGraphicFramePr>
        <p:xfrm>
          <a:off x="8369295" y="4952389"/>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2" name="Line 156"/>
          <p:cNvSpPr/>
          <p:nvPr/>
        </p:nvSpPr>
        <p:spPr>
          <a:xfrm flipH="1">
            <a:off x="2959095" y="3123589"/>
            <a:ext cx="1981200" cy="381000"/>
          </a:xfrm>
          <a:prstGeom prst="line">
            <a:avLst/>
          </a:prstGeom>
          <a:ln w="9525" cap="flat" cmpd="sng">
            <a:solidFill>
              <a:schemeClr val="tx1"/>
            </a:solidFill>
            <a:prstDash val="solid"/>
            <a:round/>
            <a:headEnd type="none" w="med" len="med"/>
            <a:tailEnd type="triangle" w="med" len="med"/>
          </a:ln>
        </p:spPr>
      </p:sp>
      <p:sp>
        <p:nvSpPr>
          <p:cNvPr id="63" name="Line 157"/>
          <p:cNvSpPr/>
          <p:nvPr/>
        </p:nvSpPr>
        <p:spPr>
          <a:xfrm>
            <a:off x="5321295" y="3123589"/>
            <a:ext cx="1066800" cy="381000"/>
          </a:xfrm>
          <a:prstGeom prst="line">
            <a:avLst/>
          </a:prstGeom>
          <a:ln w="9525" cap="flat" cmpd="sng">
            <a:solidFill>
              <a:schemeClr val="tx1"/>
            </a:solidFill>
            <a:prstDash val="solid"/>
            <a:round/>
            <a:headEnd type="none" w="med" len="med"/>
            <a:tailEnd type="triangle" w="med" len="med"/>
          </a:ln>
        </p:spPr>
      </p:sp>
      <p:sp>
        <p:nvSpPr>
          <p:cNvPr id="64" name="Line 158"/>
          <p:cNvSpPr/>
          <p:nvPr/>
        </p:nvSpPr>
        <p:spPr>
          <a:xfrm flipH="1">
            <a:off x="2044695" y="4037989"/>
            <a:ext cx="1066800" cy="914400"/>
          </a:xfrm>
          <a:prstGeom prst="line">
            <a:avLst/>
          </a:prstGeom>
          <a:ln w="9525" cap="flat" cmpd="sng">
            <a:solidFill>
              <a:schemeClr val="tx1"/>
            </a:solidFill>
            <a:prstDash val="solid"/>
            <a:round/>
            <a:headEnd type="none" w="med" len="med"/>
            <a:tailEnd type="triangle" w="med" len="med"/>
          </a:ln>
        </p:spPr>
      </p:sp>
      <p:sp>
        <p:nvSpPr>
          <p:cNvPr id="65" name="Line 159"/>
          <p:cNvSpPr/>
          <p:nvPr/>
        </p:nvSpPr>
        <p:spPr>
          <a:xfrm>
            <a:off x="3492495" y="4037989"/>
            <a:ext cx="381000" cy="914400"/>
          </a:xfrm>
          <a:prstGeom prst="line">
            <a:avLst/>
          </a:prstGeom>
          <a:ln w="9525" cap="flat" cmpd="sng">
            <a:solidFill>
              <a:schemeClr val="tx1"/>
            </a:solidFill>
            <a:prstDash val="solid"/>
            <a:round/>
            <a:headEnd type="none" w="med" len="med"/>
            <a:tailEnd type="triangle" w="med" len="med"/>
          </a:ln>
        </p:spPr>
      </p:sp>
      <p:sp>
        <p:nvSpPr>
          <p:cNvPr id="66" name="Line 160"/>
          <p:cNvSpPr/>
          <p:nvPr/>
        </p:nvSpPr>
        <p:spPr>
          <a:xfrm>
            <a:off x="4483095" y="4037989"/>
            <a:ext cx="2133600" cy="914400"/>
          </a:xfrm>
          <a:prstGeom prst="line">
            <a:avLst/>
          </a:prstGeom>
          <a:ln w="9525" cap="flat" cmpd="sng">
            <a:solidFill>
              <a:schemeClr val="tx1"/>
            </a:solidFill>
            <a:prstDash val="solid"/>
            <a:round/>
            <a:headEnd type="none" w="med" len="med"/>
            <a:tailEnd type="triangle" w="med" len="med"/>
          </a:ln>
        </p:spPr>
      </p:sp>
      <p:sp>
        <p:nvSpPr>
          <p:cNvPr id="67" name="Line 161"/>
          <p:cNvSpPr/>
          <p:nvPr/>
        </p:nvSpPr>
        <p:spPr>
          <a:xfrm>
            <a:off x="6540495" y="4037989"/>
            <a:ext cx="1828800" cy="914400"/>
          </a:xfrm>
          <a:prstGeom prst="line">
            <a:avLst/>
          </a:prstGeom>
          <a:ln w="9525" cap="flat" cmpd="sng">
            <a:solidFill>
              <a:schemeClr val="tx1"/>
            </a:solidFill>
            <a:prstDash val="solid"/>
            <a:round/>
            <a:headEnd type="none" w="med" len="med"/>
            <a:tailEnd type="triangle" w="med" len="med"/>
          </a:ln>
        </p:spPr>
      </p:sp>
      <p:sp>
        <p:nvSpPr>
          <p:cNvPr id="68" name="Line 162"/>
          <p:cNvSpPr/>
          <p:nvPr/>
        </p:nvSpPr>
        <p:spPr>
          <a:xfrm>
            <a:off x="6921495" y="4037989"/>
            <a:ext cx="2438400" cy="838200"/>
          </a:xfrm>
          <a:prstGeom prst="line">
            <a:avLst/>
          </a:prstGeom>
          <a:ln w="9525" cap="flat" cmpd="sng">
            <a:solidFill>
              <a:schemeClr val="tx1"/>
            </a:solidFill>
            <a:prstDash val="solid"/>
            <a:round/>
            <a:headEnd type="none" w="med" len="med"/>
            <a:tailEnd type="triangle" w="med" len="med"/>
          </a:ln>
        </p:spPr>
      </p:sp>
      <p:sp>
        <p:nvSpPr>
          <p:cNvPr id="69" name="Line 163"/>
          <p:cNvSpPr/>
          <p:nvPr/>
        </p:nvSpPr>
        <p:spPr>
          <a:xfrm>
            <a:off x="7531095" y="4114189"/>
            <a:ext cx="2362200" cy="838200"/>
          </a:xfrm>
          <a:prstGeom prst="line">
            <a:avLst/>
          </a:prstGeom>
          <a:ln w="9525" cap="flat" cmpd="sng">
            <a:solidFill>
              <a:schemeClr val="tx1"/>
            </a:solidFill>
            <a:prstDash val="solid"/>
            <a:round/>
            <a:headEnd type="none" w="med" len="med"/>
            <a:tailEnd type="triangle" w="med" len="med"/>
          </a:ln>
        </p:spPr>
      </p:sp>
      <p:sp>
        <p:nvSpPr>
          <p:cNvPr id="70" name="Line 164"/>
          <p:cNvSpPr/>
          <p:nvPr/>
        </p:nvSpPr>
        <p:spPr>
          <a:xfrm>
            <a:off x="8064495" y="4037989"/>
            <a:ext cx="2209800" cy="838200"/>
          </a:xfrm>
          <a:prstGeom prst="line">
            <a:avLst/>
          </a:prstGeom>
          <a:ln w="9525" cap="flat" cmpd="sng">
            <a:solidFill>
              <a:schemeClr val="tx1"/>
            </a:solidFill>
            <a:prstDash val="solid"/>
            <a:round/>
            <a:headEnd type="none" w="med" len="med"/>
            <a:tailEnd type="triangle" w="med" len="med"/>
          </a:ln>
        </p:spPr>
      </p:sp>
      <p:sp>
        <p:nvSpPr>
          <p:cNvPr id="71" name="Line 165"/>
          <p:cNvSpPr/>
          <p:nvPr/>
        </p:nvSpPr>
        <p:spPr>
          <a:xfrm>
            <a:off x="3035295" y="5485789"/>
            <a:ext cx="304800" cy="0"/>
          </a:xfrm>
          <a:prstGeom prst="line">
            <a:avLst/>
          </a:prstGeom>
          <a:ln w="9525" cap="flat" cmpd="sng">
            <a:solidFill>
              <a:schemeClr val="tx1"/>
            </a:solidFill>
            <a:prstDash val="solid"/>
            <a:round/>
            <a:headEnd type="none" w="med" len="med"/>
            <a:tailEnd type="triangle" w="med" len="med"/>
          </a:ln>
        </p:spPr>
      </p:sp>
      <p:sp>
        <p:nvSpPr>
          <p:cNvPr id="72" name="Line 167"/>
          <p:cNvSpPr/>
          <p:nvPr/>
        </p:nvSpPr>
        <p:spPr>
          <a:xfrm>
            <a:off x="7531095" y="5485789"/>
            <a:ext cx="228600" cy="0"/>
          </a:xfrm>
          <a:prstGeom prst="line">
            <a:avLst/>
          </a:prstGeom>
          <a:ln w="9525" cap="flat" cmpd="sng">
            <a:solidFill>
              <a:schemeClr val="tx1"/>
            </a:solidFill>
            <a:prstDash val="solid"/>
            <a:round/>
            <a:headEnd type="none" w="med" len="med"/>
            <a:tailEnd type="triangle" w="med" len="med"/>
          </a:ln>
        </p:spPr>
      </p:sp>
      <p:sp>
        <p:nvSpPr>
          <p:cNvPr id="73" name="Rectangle 168"/>
          <p:cNvSpPr/>
          <p:nvPr/>
        </p:nvSpPr>
        <p:spPr>
          <a:xfrm>
            <a:off x="15112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10</a:t>
            </a:r>
            <a:endParaRPr lang="en-US" altLang="zh-CN" sz="1400" b="0" dirty="0">
              <a:latin typeface="Times New Roman" panose="02020603050405020304" pitchFamily="18" charset="0"/>
              <a:ea typeface="宋体" panose="02010600030101010101" pitchFamily="2" charset="-122"/>
            </a:endParaRPr>
          </a:p>
        </p:txBody>
      </p:sp>
      <p:sp>
        <p:nvSpPr>
          <p:cNvPr id="74" name="Rectangle 169"/>
          <p:cNvSpPr/>
          <p:nvPr/>
        </p:nvSpPr>
        <p:spPr>
          <a:xfrm>
            <a:off x="20446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15</a:t>
            </a:r>
            <a:endParaRPr lang="en-US" altLang="zh-CN" sz="1400" b="0" dirty="0">
              <a:latin typeface="Times New Roman" panose="02020603050405020304" pitchFamily="18" charset="0"/>
              <a:ea typeface="宋体" panose="02010600030101010101" pitchFamily="2" charset="-122"/>
            </a:endParaRPr>
          </a:p>
        </p:txBody>
      </p:sp>
      <p:sp>
        <p:nvSpPr>
          <p:cNvPr id="75" name="Rectangle 170"/>
          <p:cNvSpPr/>
          <p:nvPr/>
        </p:nvSpPr>
        <p:spPr>
          <a:xfrm>
            <a:off x="25018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18</a:t>
            </a:r>
            <a:endParaRPr lang="en-US" altLang="zh-CN" sz="1400" b="0" dirty="0">
              <a:latin typeface="Times New Roman" panose="02020603050405020304" pitchFamily="18" charset="0"/>
              <a:ea typeface="宋体" panose="02010600030101010101" pitchFamily="2" charset="-122"/>
            </a:endParaRPr>
          </a:p>
        </p:txBody>
      </p:sp>
      <p:sp>
        <p:nvSpPr>
          <p:cNvPr id="76" name="Rectangle 171"/>
          <p:cNvSpPr/>
          <p:nvPr/>
        </p:nvSpPr>
        <p:spPr>
          <a:xfrm>
            <a:off x="33400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20</a:t>
            </a:r>
            <a:endParaRPr lang="en-US" altLang="zh-CN" sz="1400" b="0" dirty="0">
              <a:latin typeface="Times New Roman" panose="02020603050405020304" pitchFamily="18" charset="0"/>
              <a:ea typeface="宋体" panose="02010600030101010101" pitchFamily="2" charset="-122"/>
            </a:endParaRPr>
          </a:p>
        </p:txBody>
      </p:sp>
      <p:sp>
        <p:nvSpPr>
          <p:cNvPr id="77" name="Rectangle 172"/>
          <p:cNvSpPr/>
          <p:nvPr/>
        </p:nvSpPr>
        <p:spPr>
          <a:xfrm>
            <a:off x="3787770" y="6323989"/>
            <a:ext cx="390525" cy="314325"/>
          </a:xfrm>
          <a:prstGeom prst="rect">
            <a:avLst/>
          </a:prstGeom>
          <a:noFill/>
          <a:ln w="9525" cap="flat" cmpd="sng">
            <a:solidFill>
              <a:srgbClr val="CC0000"/>
            </a:solidFill>
            <a:prstDash val="solid"/>
            <a:miter/>
            <a:headEnd type="none" w="med" len="med"/>
            <a:tailEnd type="none" w="med" len="med"/>
          </a:ln>
        </p:spPr>
        <p:txBody>
          <a:bodyPr wrap="none" anchor="ctr">
            <a:spAutoFit/>
          </a:bodyPr>
          <a:lstStyle/>
          <a:p>
            <a:pPr algn="ctr"/>
            <a:r>
              <a:rPr lang="en-US" altLang="zh-CN" sz="1400" b="0" dirty="0">
                <a:solidFill>
                  <a:srgbClr val="CC0000"/>
                </a:solidFill>
                <a:latin typeface="Arial" panose="020B0604020202020204" pitchFamily="34" charset="0"/>
                <a:ea typeface="宋体" panose="02010600030101010101" pitchFamily="2" charset="-122"/>
              </a:rPr>
              <a:t>25</a:t>
            </a:r>
            <a:endParaRPr lang="en-US" altLang="zh-CN" sz="1400" b="0" dirty="0">
              <a:solidFill>
                <a:srgbClr val="CC0000"/>
              </a:solidFill>
              <a:latin typeface="Arial" panose="020B0604020202020204" pitchFamily="34" charset="0"/>
              <a:ea typeface="宋体" panose="02010600030101010101" pitchFamily="2" charset="-122"/>
            </a:endParaRPr>
          </a:p>
        </p:txBody>
      </p:sp>
      <p:sp>
        <p:nvSpPr>
          <p:cNvPr id="78" name="Rectangle 173"/>
          <p:cNvSpPr/>
          <p:nvPr/>
        </p:nvSpPr>
        <p:spPr>
          <a:xfrm>
            <a:off x="42544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30</a:t>
            </a:r>
            <a:endParaRPr lang="en-US" altLang="zh-CN" sz="1400" b="0" dirty="0">
              <a:latin typeface="Times New Roman" panose="02020603050405020304" pitchFamily="18" charset="0"/>
              <a:ea typeface="宋体" panose="02010600030101010101" pitchFamily="2" charset="-122"/>
            </a:endParaRPr>
          </a:p>
        </p:txBody>
      </p:sp>
      <p:sp>
        <p:nvSpPr>
          <p:cNvPr id="79" name="Rectangle 174"/>
          <p:cNvSpPr/>
          <p:nvPr/>
        </p:nvSpPr>
        <p:spPr>
          <a:xfrm>
            <a:off x="47116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40</a:t>
            </a:r>
            <a:endParaRPr lang="en-US" altLang="zh-CN" sz="1400" b="0" dirty="0">
              <a:latin typeface="Times New Roman" panose="02020603050405020304" pitchFamily="18" charset="0"/>
              <a:ea typeface="宋体" panose="02010600030101010101" pitchFamily="2" charset="-122"/>
            </a:endParaRPr>
          </a:p>
        </p:txBody>
      </p:sp>
      <p:sp>
        <p:nvSpPr>
          <p:cNvPr id="80" name="Rectangle 175"/>
          <p:cNvSpPr/>
          <p:nvPr/>
        </p:nvSpPr>
        <p:spPr>
          <a:xfrm>
            <a:off x="67690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60</a:t>
            </a:r>
            <a:endParaRPr lang="en-US" altLang="zh-CN" sz="1400" b="0" dirty="0">
              <a:latin typeface="Times New Roman" panose="02020603050405020304" pitchFamily="18" charset="0"/>
              <a:ea typeface="宋体" panose="02010600030101010101" pitchFamily="2" charset="-122"/>
            </a:endParaRPr>
          </a:p>
        </p:txBody>
      </p:sp>
      <p:sp>
        <p:nvSpPr>
          <p:cNvPr id="81" name="Rectangle 176"/>
          <p:cNvSpPr/>
          <p:nvPr/>
        </p:nvSpPr>
        <p:spPr>
          <a:xfrm>
            <a:off x="72262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65</a:t>
            </a:r>
            <a:endParaRPr lang="en-US" altLang="zh-CN" sz="1400" b="0" dirty="0">
              <a:latin typeface="Times New Roman" panose="02020603050405020304" pitchFamily="18" charset="0"/>
              <a:ea typeface="宋体" panose="02010600030101010101" pitchFamily="2" charset="-122"/>
            </a:endParaRPr>
          </a:p>
        </p:txBody>
      </p:sp>
      <p:sp>
        <p:nvSpPr>
          <p:cNvPr id="82" name="Rectangle 177"/>
          <p:cNvSpPr/>
          <p:nvPr/>
        </p:nvSpPr>
        <p:spPr>
          <a:xfrm>
            <a:off x="76834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80</a:t>
            </a:r>
            <a:endParaRPr lang="en-US" altLang="zh-CN" sz="1400" b="0" dirty="0">
              <a:latin typeface="Times New Roman" panose="02020603050405020304" pitchFamily="18" charset="0"/>
              <a:ea typeface="宋体" panose="02010600030101010101" pitchFamily="2" charset="-122"/>
            </a:endParaRPr>
          </a:p>
        </p:txBody>
      </p:sp>
      <p:sp>
        <p:nvSpPr>
          <p:cNvPr id="83" name="Rectangle 178"/>
          <p:cNvSpPr/>
          <p:nvPr/>
        </p:nvSpPr>
        <p:spPr>
          <a:xfrm>
            <a:off x="82168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85</a:t>
            </a:r>
            <a:endParaRPr lang="en-US" altLang="zh-CN" sz="1400" b="0" dirty="0">
              <a:latin typeface="Times New Roman" panose="02020603050405020304" pitchFamily="18" charset="0"/>
              <a:ea typeface="宋体" panose="02010600030101010101" pitchFamily="2" charset="-122"/>
            </a:endParaRPr>
          </a:p>
        </p:txBody>
      </p:sp>
      <p:sp>
        <p:nvSpPr>
          <p:cNvPr id="84" name="Rectangle 179"/>
          <p:cNvSpPr/>
          <p:nvPr/>
        </p:nvSpPr>
        <p:spPr>
          <a:xfrm>
            <a:off x="87502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90</a:t>
            </a:r>
            <a:endParaRPr lang="en-US" altLang="zh-CN" sz="1400" b="0" dirty="0">
              <a:latin typeface="Times New Roman" panose="02020603050405020304" pitchFamily="18" charset="0"/>
              <a:ea typeface="宋体" panose="02010600030101010101" pitchFamily="2" charset="-122"/>
            </a:endParaRPr>
          </a:p>
        </p:txBody>
      </p:sp>
      <p:sp>
        <p:nvSpPr>
          <p:cNvPr id="85" name="Line 180"/>
          <p:cNvSpPr/>
          <p:nvPr/>
        </p:nvSpPr>
        <p:spPr>
          <a:xfrm flipH="1">
            <a:off x="1511295" y="5485789"/>
            <a:ext cx="152400" cy="838200"/>
          </a:xfrm>
          <a:prstGeom prst="line">
            <a:avLst/>
          </a:prstGeom>
          <a:ln w="9525" cap="flat" cmpd="sng">
            <a:solidFill>
              <a:schemeClr val="tx1"/>
            </a:solidFill>
            <a:prstDash val="solid"/>
            <a:round/>
            <a:headEnd type="none" w="med" len="med"/>
            <a:tailEnd type="triangle" w="med" len="med"/>
          </a:ln>
        </p:spPr>
      </p:sp>
      <p:sp>
        <p:nvSpPr>
          <p:cNvPr id="86" name="Line 181"/>
          <p:cNvSpPr/>
          <p:nvPr/>
        </p:nvSpPr>
        <p:spPr>
          <a:xfrm>
            <a:off x="1968495" y="5485789"/>
            <a:ext cx="76200" cy="838200"/>
          </a:xfrm>
          <a:prstGeom prst="line">
            <a:avLst/>
          </a:prstGeom>
          <a:ln w="9525" cap="flat" cmpd="sng">
            <a:solidFill>
              <a:schemeClr val="tx1"/>
            </a:solidFill>
            <a:prstDash val="solid"/>
            <a:round/>
            <a:headEnd type="none" w="med" len="med"/>
            <a:tailEnd type="triangle" w="med" len="med"/>
          </a:ln>
        </p:spPr>
      </p:sp>
      <p:sp>
        <p:nvSpPr>
          <p:cNvPr id="87" name="Line 182"/>
          <p:cNvSpPr/>
          <p:nvPr/>
        </p:nvSpPr>
        <p:spPr>
          <a:xfrm>
            <a:off x="2349495" y="5485789"/>
            <a:ext cx="228600" cy="838200"/>
          </a:xfrm>
          <a:prstGeom prst="line">
            <a:avLst/>
          </a:prstGeom>
          <a:ln w="9525" cap="flat" cmpd="sng">
            <a:solidFill>
              <a:schemeClr val="tx1"/>
            </a:solidFill>
            <a:prstDash val="solid"/>
            <a:round/>
            <a:headEnd type="none" w="med" len="med"/>
            <a:tailEnd type="triangle" w="med" len="med"/>
          </a:ln>
        </p:spPr>
      </p:sp>
      <p:sp>
        <p:nvSpPr>
          <p:cNvPr id="88" name="Line 183"/>
          <p:cNvSpPr/>
          <p:nvPr/>
        </p:nvSpPr>
        <p:spPr>
          <a:xfrm flipH="1">
            <a:off x="3416295" y="5485789"/>
            <a:ext cx="76200" cy="838200"/>
          </a:xfrm>
          <a:prstGeom prst="line">
            <a:avLst/>
          </a:prstGeom>
          <a:ln w="9525" cap="flat" cmpd="sng">
            <a:solidFill>
              <a:schemeClr val="tx1"/>
            </a:solidFill>
            <a:prstDash val="solid"/>
            <a:round/>
            <a:headEnd type="none" w="med" len="med"/>
            <a:tailEnd type="triangle" w="med" len="med"/>
          </a:ln>
        </p:spPr>
      </p:sp>
      <p:sp>
        <p:nvSpPr>
          <p:cNvPr id="89" name="Line 184"/>
          <p:cNvSpPr/>
          <p:nvPr/>
        </p:nvSpPr>
        <p:spPr>
          <a:xfrm>
            <a:off x="3797295" y="5485789"/>
            <a:ext cx="0" cy="838200"/>
          </a:xfrm>
          <a:prstGeom prst="line">
            <a:avLst/>
          </a:prstGeom>
          <a:ln w="9525" cap="flat" cmpd="sng">
            <a:solidFill>
              <a:schemeClr val="tx1"/>
            </a:solidFill>
            <a:prstDash val="solid"/>
            <a:round/>
            <a:headEnd type="none" w="med" len="med"/>
            <a:tailEnd type="triangle" w="med" len="med"/>
          </a:ln>
        </p:spPr>
      </p:sp>
      <p:sp>
        <p:nvSpPr>
          <p:cNvPr id="90" name="Line 185"/>
          <p:cNvSpPr/>
          <p:nvPr/>
        </p:nvSpPr>
        <p:spPr>
          <a:xfrm flipH="1">
            <a:off x="4254495" y="5485789"/>
            <a:ext cx="914400" cy="838200"/>
          </a:xfrm>
          <a:prstGeom prst="line">
            <a:avLst/>
          </a:prstGeom>
          <a:ln w="9525" cap="flat" cmpd="sng">
            <a:solidFill>
              <a:schemeClr val="tx1"/>
            </a:solidFill>
            <a:prstDash val="solid"/>
            <a:round/>
            <a:headEnd type="none" w="med" len="med"/>
            <a:tailEnd type="triangle" w="med" len="med"/>
          </a:ln>
        </p:spPr>
      </p:sp>
      <p:sp>
        <p:nvSpPr>
          <p:cNvPr id="91" name="Line 186"/>
          <p:cNvSpPr/>
          <p:nvPr/>
        </p:nvSpPr>
        <p:spPr>
          <a:xfrm flipH="1">
            <a:off x="4787895" y="5485789"/>
            <a:ext cx="685800" cy="838200"/>
          </a:xfrm>
          <a:prstGeom prst="line">
            <a:avLst/>
          </a:prstGeom>
          <a:ln w="9525" cap="flat" cmpd="sng">
            <a:solidFill>
              <a:schemeClr val="tx1"/>
            </a:solidFill>
            <a:prstDash val="solid"/>
            <a:round/>
            <a:headEnd type="none" w="med" len="med"/>
            <a:tailEnd type="triangle" w="med" len="med"/>
          </a:ln>
        </p:spPr>
      </p:sp>
      <p:sp>
        <p:nvSpPr>
          <p:cNvPr id="92" name="Line 187"/>
          <p:cNvSpPr/>
          <p:nvPr/>
        </p:nvSpPr>
        <p:spPr>
          <a:xfrm>
            <a:off x="6769095" y="5485789"/>
            <a:ext cx="0" cy="838200"/>
          </a:xfrm>
          <a:prstGeom prst="line">
            <a:avLst/>
          </a:prstGeom>
          <a:ln w="9525" cap="flat" cmpd="sng">
            <a:solidFill>
              <a:schemeClr val="tx1"/>
            </a:solidFill>
            <a:prstDash val="solid"/>
            <a:round/>
            <a:headEnd type="none" w="med" len="med"/>
            <a:tailEnd type="triangle" w="med" len="med"/>
          </a:ln>
        </p:spPr>
      </p:sp>
      <p:sp>
        <p:nvSpPr>
          <p:cNvPr id="93" name="Line 188"/>
          <p:cNvSpPr/>
          <p:nvPr/>
        </p:nvSpPr>
        <p:spPr>
          <a:xfrm>
            <a:off x="6997695" y="5409589"/>
            <a:ext cx="228600" cy="914400"/>
          </a:xfrm>
          <a:prstGeom prst="line">
            <a:avLst/>
          </a:prstGeom>
          <a:ln w="9525" cap="flat" cmpd="sng">
            <a:solidFill>
              <a:schemeClr val="tx1"/>
            </a:solidFill>
            <a:prstDash val="solid"/>
            <a:round/>
            <a:headEnd type="none" w="med" len="med"/>
            <a:tailEnd type="triangle" w="med" len="med"/>
          </a:ln>
        </p:spPr>
      </p:sp>
      <p:sp>
        <p:nvSpPr>
          <p:cNvPr id="94" name="Line 189"/>
          <p:cNvSpPr/>
          <p:nvPr/>
        </p:nvSpPr>
        <p:spPr>
          <a:xfrm flipH="1">
            <a:off x="7683495" y="5485789"/>
            <a:ext cx="838200" cy="838200"/>
          </a:xfrm>
          <a:prstGeom prst="line">
            <a:avLst/>
          </a:prstGeom>
          <a:ln w="9525" cap="flat" cmpd="sng">
            <a:solidFill>
              <a:schemeClr val="tx1"/>
            </a:solidFill>
            <a:prstDash val="solid"/>
            <a:round/>
            <a:headEnd type="none" w="med" len="med"/>
            <a:tailEnd type="triangle" w="med" len="med"/>
          </a:ln>
        </p:spPr>
      </p:sp>
      <p:sp>
        <p:nvSpPr>
          <p:cNvPr id="95" name="Line 190"/>
          <p:cNvSpPr/>
          <p:nvPr/>
        </p:nvSpPr>
        <p:spPr>
          <a:xfrm flipH="1">
            <a:off x="8216895" y="5485789"/>
            <a:ext cx="609600" cy="838200"/>
          </a:xfrm>
          <a:prstGeom prst="line">
            <a:avLst/>
          </a:prstGeom>
          <a:ln w="9525" cap="flat" cmpd="sng">
            <a:solidFill>
              <a:schemeClr val="tx1"/>
            </a:solidFill>
            <a:prstDash val="solid"/>
            <a:round/>
            <a:headEnd type="none" w="med" len="med"/>
            <a:tailEnd type="triangle" w="med" len="med"/>
          </a:ln>
        </p:spPr>
      </p:sp>
      <p:sp>
        <p:nvSpPr>
          <p:cNvPr id="96" name="Line 191"/>
          <p:cNvSpPr/>
          <p:nvPr/>
        </p:nvSpPr>
        <p:spPr>
          <a:xfrm flipH="1">
            <a:off x="8750295" y="5485789"/>
            <a:ext cx="457200" cy="838200"/>
          </a:xfrm>
          <a:prstGeom prst="line">
            <a:avLst/>
          </a:prstGeom>
          <a:ln w="9525" cap="flat" cmpd="sng">
            <a:solidFill>
              <a:schemeClr val="tx1"/>
            </a:solidFill>
            <a:prstDash val="solid"/>
            <a:round/>
            <a:headEnd type="none" w="med" len="med"/>
            <a:tailEnd type="triangle" w="med" len="med"/>
          </a:ln>
        </p:spPr>
      </p:sp>
      <p:sp>
        <p:nvSpPr>
          <p:cNvPr id="97" name="Line 192"/>
          <p:cNvSpPr/>
          <p:nvPr/>
        </p:nvSpPr>
        <p:spPr>
          <a:xfrm>
            <a:off x="9283695" y="5485789"/>
            <a:ext cx="304800" cy="0"/>
          </a:xfrm>
          <a:prstGeom prst="line">
            <a:avLst/>
          </a:prstGeom>
          <a:ln w="9525" cap="flat" cmpd="sng">
            <a:solidFill>
              <a:schemeClr val="tx1"/>
            </a:solidFill>
            <a:prstDash val="solid"/>
            <a:round/>
            <a:headEnd type="none" w="med" len="med"/>
            <a:tailEnd type="triangle" w="med" len="med"/>
          </a:ln>
        </p:spPr>
      </p:sp>
      <p:sp>
        <p:nvSpPr>
          <p:cNvPr id="98" name="Rectangle 193"/>
          <p:cNvSpPr/>
          <p:nvPr/>
        </p:nvSpPr>
        <p:spPr>
          <a:xfrm>
            <a:off x="29209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19</a:t>
            </a:r>
            <a:endParaRPr lang="en-US" altLang="zh-CN" sz="1400" b="0" dirty="0">
              <a:latin typeface="Times New Roman" panose="02020603050405020304" pitchFamily="18" charset="0"/>
              <a:ea typeface="宋体" panose="02010600030101010101" pitchFamily="2" charset="-122"/>
            </a:endParaRPr>
          </a:p>
        </p:txBody>
      </p:sp>
      <p:sp>
        <p:nvSpPr>
          <p:cNvPr id="99" name="Line 194"/>
          <p:cNvSpPr/>
          <p:nvPr/>
        </p:nvSpPr>
        <p:spPr>
          <a:xfrm>
            <a:off x="2730495" y="5485789"/>
            <a:ext cx="228600" cy="762000"/>
          </a:xfrm>
          <a:prstGeom prst="line">
            <a:avLst/>
          </a:prstGeom>
          <a:ln w="9525" cap="flat" cmpd="sng">
            <a:solidFill>
              <a:schemeClr val="tx1"/>
            </a:solidFill>
            <a:prstDash val="solid"/>
            <a:round/>
            <a:headEnd type="none" w="med" len="med"/>
            <a:tailEnd type="triangle" w="med" len="med"/>
          </a:ln>
        </p:spPr>
      </p:sp>
      <p:sp>
        <p:nvSpPr>
          <p:cNvPr id="100" name="Rectangle 196"/>
          <p:cNvSpPr/>
          <p:nvPr/>
        </p:nvSpPr>
        <p:spPr>
          <a:xfrm>
            <a:off x="6311895" y="6323989"/>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50</a:t>
            </a:r>
            <a:endParaRPr lang="en-US" altLang="zh-CN" sz="1400" b="0" dirty="0">
              <a:latin typeface="Times New Roman" panose="02020603050405020304" pitchFamily="18" charset="0"/>
              <a:ea typeface="宋体" panose="02010600030101010101" pitchFamily="2" charset="-122"/>
            </a:endParaRPr>
          </a:p>
        </p:txBody>
      </p:sp>
      <p:sp>
        <p:nvSpPr>
          <p:cNvPr id="101" name="Line 197"/>
          <p:cNvSpPr/>
          <p:nvPr/>
        </p:nvSpPr>
        <p:spPr>
          <a:xfrm>
            <a:off x="5778495" y="5485789"/>
            <a:ext cx="685800" cy="838200"/>
          </a:xfrm>
          <a:prstGeom prst="line">
            <a:avLst/>
          </a:prstGeom>
          <a:ln w="9525" cap="flat" cmpd="sng">
            <a:solidFill>
              <a:schemeClr val="tx1"/>
            </a:solidFill>
            <a:prstDash val="solid"/>
            <a:round/>
            <a:headEnd type="none" w="med" len="med"/>
            <a:tailEnd type="triangle" w="med" len="med"/>
          </a:ln>
        </p:spPr>
      </p:sp>
      <p:graphicFrame>
        <p:nvGraphicFramePr>
          <p:cNvPr id="102" name="Group 198"/>
          <p:cNvGraphicFramePr>
            <a:graphicFrameLocks noGrp="1"/>
          </p:cNvGraphicFramePr>
          <p:nvPr/>
        </p:nvGraphicFramePr>
        <p:xfrm>
          <a:off x="5016495" y="4922227"/>
          <a:ext cx="1537018" cy="685800"/>
        </p:xfrm>
        <a:graphic>
          <a:graphicData uri="http://schemas.openxmlformats.org/drawingml/2006/table">
            <a:tbl>
              <a:tblPr/>
              <a:tblGrid>
                <a:gridCol w="223838"/>
                <a:gridCol w="185737"/>
                <a:gridCol w="185738"/>
                <a:gridCol w="185737"/>
                <a:gridCol w="182563"/>
                <a:gridCol w="182562"/>
                <a:gridCol w="182563"/>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3" name="Line 220"/>
          <p:cNvSpPr/>
          <p:nvPr/>
        </p:nvSpPr>
        <p:spPr>
          <a:xfrm>
            <a:off x="6464295" y="5485789"/>
            <a:ext cx="228600" cy="0"/>
          </a:xfrm>
          <a:prstGeom prst="line">
            <a:avLst/>
          </a:prstGeom>
          <a:ln w="9525" cap="flat" cmpd="sng">
            <a:solidFill>
              <a:schemeClr val="tx1"/>
            </a:solidFill>
            <a:prstDash val="solid"/>
            <a:round/>
            <a:headEnd type="none" w="med" len="med"/>
            <a:tailEnd type="triangle" w="med" len="med"/>
          </a:ln>
        </p:spPr>
      </p:sp>
      <p:sp>
        <p:nvSpPr>
          <p:cNvPr id="104" name="Line 221"/>
          <p:cNvSpPr/>
          <p:nvPr/>
        </p:nvSpPr>
        <p:spPr>
          <a:xfrm>
            <a:off x="4025895" y="4037989"/>
            <a:ext cx="990600" cy="914400"/>
          </a:xfrm>
          <a:prstGeom prst="line">
            <a:avLst/>
          </a:prstGeom>
          <a:ln w="38100" cap="flat" cmpd="sng">
            <a:solidFill>
              <a:schemeClr val="accent2"/>
            </a:solidFill>
            <a:prstDash val="solid"/>
            <a:round/>
            <a:headEnd type="none" w="med" len="med"/>
            <a:tailEnd type="triangle" w="med" len="med"/>
          </a:ln>
        </p:spPr>
      </p:sp>
      <p:sp>
        <p:nvSpPr>
          <p:cNvPr id="105" name="Line 224"/>
          <p:cNvSpPr/>
          <p:nvPr/>
        </p:nvSpPr>
        <p:spPr>
          <a:xfrm>
            <a:off x="1219195" y="4547577"/>
            <a:ext cx="9144000" cy="28575"/>
          </a:xfrm>
          <a:prstGeom prst="line">
            <a:avLst/>
          </a:prstGeom>
          <a:ln w="38100" cap="flat" cmpd="dbl">
            <a:solidFill>
              <a:srgbClr val="CC0000"/>
            </a:solidFill>
            <a:prstDash val="dash"/>
            <a:round/>
            <a:headEnd type="none" w="med" len="med"/>
            <a:tailEnd type="none" w="med" len="med"/>
          </a:ln>
        </p:spPr>
      </p:sp>
      <p:sp>
        <p:nvSpPr>
          <p:cNvPr id="106" name="Line 225"/>
          <p:cNvSpPr/>
          <p:nvPr/>
        </p:nvSpPr>
        <p:spPr>
          <a:xfrm>
            <a:off x="1204908" y="6027127"/>
            <a:ext cx="9144000" cy="28575"/>
          </a:xfrm>
          <a:prstGeom prst="line">
            <a:avLst/>
          </a:prstGeom>
          <a:ln w="38100" cap="flat" cmpd="dbl">
            <a:solidFill>
              <a:srgbClr val="CC0000"/>
            </a:solidFill>
            <a:prstDash val="dash"/>
            <a:round/>
            <a:headEnd type="none" w="med" len="med"/>
            <a:tailEnd type="none" w="med" len="med"/>
          </a:ln>
        </p:spPr>
      </p:sp>
      <p:sp>
        <p:nvSpPr>
          <p:cNvPr id="107" name="Text Box 226"/>
          <p:cNvSpPr txBox="1"/>
          <p:nvPr/>
        </p:nvSpPr>
        <p:spPr>
          <a:xfrm>
            <a:off x="9075733" y="4096727"/>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非叶结点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08" name="Text Box 227"/>
          <p:cNvSpPr txBox="1"/>
          <p:nvPr/>
        </p:nvSpPr>
        <p:spPr>
          <a:xfrm>
            <a:off x="9091608" y="4584089"/>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叶子结点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6" name="Text Box 228"/>
          <p:cNvSpPr txBox="1"/>
          <p:nvPr/>
        </p:nvSpPr>
        <p:spPr>
          <a:xfrm>
            <a:off x="9205908" y="6065227"/>
            <a:ext cx="1025525" cy="701675"/>
          </a:xfrm>
          <a:prstGeom prst="rect">
            <a:avLst/>
          </a:prstGeom>
          <a:noFill/>
          <a:ln w="9525">
            <a:noFill/>
          </a:ln>
        </p:spPr>
        <p:txBody>
          <a:bodyPr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主文件的记录</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7" name="Rectangle 231"/>
          <p:cNvSpPr/>
          <p:nvPr/>
        </p:nvSpPr>
        <p:spPr>
          <a:xfrm>
            <a:off x="3351208" y="4925402"/>
            <a:ext cx="1522412" cy="723900"/>
          </a:xfrm>
          <a:prstGeom prst="rect">
            <a:avLst/>
          </a:prstGeom>
          <a:noFill/>
          <a:ln w="76200" cap="flat" cmpd="sng">
            <a:solidFill>
              <a:srgbClr val="CC0000"/>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18" name="Rectangle 232"/>
          <p:cNvSpPr/>
          <p:nvPr/>
        </p:nvSpPr>
        <p:spPr>
          <a:xfrm>
            <a:off x="5000620" y="4923814"/>
            <a:ext cx="1522413" cy="723900"/>
          </a:xfrm>
          <a:prstGeom prst="rect">
            <a:avLst/>
          </a:prstGeom>
          <a:noFill/>
          <a:ln w="76200" cap="flat" cmpd="sng">
            <a:solidFill>
              <a:srgbClr val="CC0000"/>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19" name="Line 166"/>
          <p:cNvSpPr/>
          <p:nvPr/>
        </p:nvSpPr>
        <p:spPr>
          <a:xfrm>
            <a:off x="4787895" y="5485789"/>
            <a:ext cx="304800" cy="0"/>
          </a:xfrm>
          <a:prstGeom prst="line">
            <a:avLst/>
          </a:prstGeom>
          <a:ln w="38100" cap="flat" cmpd="sng">
            <a:solidFill>
              <a:schemeClr val="accent2"/>
            </a:solidFill>
            <a:prstDash val="solid"/>
            <a:round/>
            <a:headEnd type="none" w="med" len="med"/>
            <a:tailEnd type="triangle" w="med" len="med"/>
          </a:ln>
        </p:spPr>
      </p:sp>
      <p:grpSp>
        <p:nvGrpSpPr>
          <p:cNvPr id="120" name="Group 240"/>
          <p:cNvGrpSpPr/>
          <p:nvPr/>
        </p:nvGrpSpPr>
        <p:grpSpPr>
          <a:xfrm>
            <a:off x="487172" y="1904389"/>
            <a:ext cx="3336925" cy="1371600"/>
            <a:chOff x="1265" y="3268"/>
            <a:chExt cx="1153" cy="629"/>
          </a:xfrm>
        </p:grpSpPr>
        <p:sp>
          <p:nvSpPr>
            <p:cNvPr id="121"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22"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23" name="Text Box 84"/>
            <p:cNvSpPr/>
            <p:nvPr/>
          </p:nvSpPr>
          <p:spPr>
            <a:xfrm>
              <a:off x="1275" y="3301"/>
              <a:ext cx="1139" cy="540"/>
            </a:xfrm>
            <a:prstGeom prst="roundRect">
              <a:avLst>
                <a:gd name="adj" fmla="val 16667"/>
              </a:avLst>
            </a:prstGeom>
            <a:noFill/>
            <a:ln w="9525">
              <a:noFill/>
            </a:ln>
          </p:spPr>
          <p:txBody>
            <a:bodyPr anchor="t">
              <a:spAutoFit/>
            </a:bodyPr>
            <a:lstStyle/>
            <a:p>
              <a:pPr>
                <a:buChar char="•"/>
              </a:pPr>
              <a:r>
                <a:rPr lang="zh-CN" altLang="en-US" sz="1600" dirty="0">
                  <a:solidFill>
                    <a:schemeClr val="accent2"/>
                  </a:solidFill>
                  <a:latin typeface="Arial" panose="020B0604020202020204" pitchFamily="34" charset="0"/>
                  <a:ea typeface="微软雅黑" panose="020B0503020204020204" pitchFamily="34" charset="-122"/>
                </a:rPr>
                <a:t>如父结点已满，则如此继续将其分裂为两个结点，保存相应键值 </a:t>
              </a:r>
              <a:endParaRPr lang="zh-CN" altLang="en-US" sz="1600" dirty="0">
                <a:solidFill>
                  <a:schemeClr val="accent2"/>
                </a:solidFill>
                <a:latin typeface="Arial" panose="020B0604020202020204" pitchFamily="34" charset="0"/>
                <a:ea typeface="微软雅黑" panose="020B0503020204020204" pitchFamily="34" charset="-122"/>
              </a:endParaRPr>
            </a:p>
            <a:p>
              <a:pPr>
                <a:buChar char="•"/>
              </a:pPr>
              <a:r>
                <a:rPr lang="zh-CN" altLang="en-US" sz="1600" dirty="0">
                  <a:solidFill>
                    <a:srgbClr val="CC0000"/>
                  </a:solidFill>
                  <a:latin typeface="Arial" panose="020B0604020202020204" pitchFamily="34" charset="0"/>
                  <a:ea typeface="微软雅黑" panose="020B0503020204020204" pitchFamily="34" charset="-122"/>
                </a:rPr>
                <a:t>一直到根结点。如根结点也满，则再生成新的根结点，结束。</a:t>
              </a:r>
              <a:endParaRPr lang="zh-CN" altLang="en-US" sz="1600" dirty="0">
                <a:solidFill>
                  <a:srgbClr val="CC0000"/>
                </a:solidFill>
                <a:latin typeface="Arial" panose="020B0604020202020204" pitchFamily="34" charset="0"/>
                <a:ea typeface="微软雅黑" panose="020B0503020204020204" pitchFamily="34" charset="-122"/>
              </a:endParaRPr>
            </a:p>
          </p:txBody>
        </p:sp>
      </p:grpSp>
      <p:grpSp>
        <p:nvGrpSpPr>
          <p:cNvPr id="124" name="Group 236"/>
          <p:cNvGrpSpPr/>
          <p:nvPr/>
        </p:nvGrpSpPr>
        <p:grpSpPr>
          <a:xfrm>
            <a:off x="7337420" y="1512513"/>
            <a:ext cx="4197350" cy="1828800"/>
            <a:chOff x="1265" y="3268"/>
            <a:chExt cx="1154" cy="629"/>
          </a:xfrm>
        </p:grpSpPr>
        <p:sp>
          <p:nvSpPr>
            <p:cNvPr id="125"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26"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27" name="Text Box 84"/>
            <p:cNvSpPr/>
            <p:nvPr/>
          </p:nvSpPr>
          <p:spPr>
            <a:xfrm>
              <a:off x="1268" y="3301"/>
              <a:ext cx="1151" cy="591"/>
            </a:xfrm>
            <a:prstGeom prst="roundRect">
              <a:avLst>
                <a:gd name="adj" fmla="val 16667"/>
              </a:avLst>
            </a:prstGeom>
            <a:noFill/>
            <a:ln w="9525">
              <a:noFill/>
            </a:ln>
          </p:spPr>
          <p:txBody>
            <a:bodyPr anchor="t">
              <a:spAutoFit/>
            </a:bodyPr>
            <a:lstStyle/>
            <a:p>
              <a:pPr>
                <a:buChar char="•"/>
              </a:pPr>
              <a:r>
                <a:rPr lang="zh-CN" altLang="en-US" sz="1600" dirty="0">
                  <a:solidFill>
                    <a:schemeClr val="accent2"/>
                  </a:solidFill>
                  <a:latin typeface="Arial" panose="020B0604020202020204" pitchFamily="34" charset="0"/>
                  <a:ea typeface="微软雅黑" panose="020B0503020204020204" pitchFamily="34" charset="-122"/>
                </a:rPr>
                <a:t>分裂结点，将所涉及的键值 准均分为两个结点中存储</a:t>
              </a:r>
              <a:r>
                <a:rPr lang="en-US" altLang="zh-CN" sz="1600" dirty="0">
                  <a:solidFill>
                    <a:schemeClr val="accent2"/>
                  </a:solidFill>
                  <a:latin typeface="Arial" panose="020B0604020202020204" pitchFamily="34" charset="0"/>
                  <a:ea typeface="微软雅黑" panose="020B0503020204020204" pitchFamily="34" charset="-122"/>
                </a:rPr>
                <a:t>(</a:t>
              </a:r>
              <a:r>
                <a:rPr lang="zh-CN" altLang="en-US" sz="1600" dirty="0">
                  <a:solidFill>
                    <a:schemeClr val="accent2"/>
                  </a:solidFill>
                  <a:latin typeface="Arial" panose="020B0604020202020204" pitchFamily="34" charset="0"/>
                  <a:ea typeface="微软雅黑" panose="020B0503020204020204" pitchFamily="34" charset="-122"/>
                </a:rPr>
                <a:t>包含待插入的</a:t>
              </a:r>
              <a:r>
                <a:rPr lang="en-US" altLang="zh-CN" sz="1600" dirty="0">
                  <a:solidFill>
                    <a:schemeClr val="accent2"/>
                  </a:solidFill>
                  <a:latin typeface="Arial" panose="020B0604020202020204" pitchFamily="34" charset="0"/>
                  <a:ea typeface="微软雅黑" panose="020B0503020204020204" pitchFamily="34" charset="-122"/>
                </a:rPr>
                <a:t>)</a:t>
              </a:r>
              <a:endParaRPr lang="en-US" altLang="zh-CN" sz="1600" dirty="0">
                <a:solidFill>
                  <a:schemeClr val="accent2"/>
                </a:solidFill>
                <a:latin typeface="Arial" panose="020B0604020202020204" pitchFamily="34" charset="0"/>
                <a:ea typeface="微软雅黑" panose="020B0503020204020204" pitchFamily="34" charset="-122"/>
              </a:endParaRPr>
            </a:p>
            <a:p>
              <a:pPr>
                <a:buChar char="•"/>
              </a:pPr>
              <a:r>
                <a:rPr lang="zh-CN" altLang="en-US" sz="1600" dirty="0">
                  <a:solidFill>
                    <a:srgbClr val="CC0000"/>
                  </a:solidFill>
                  <a:latin typeface="Arial" panose="020B0604020202020204" pitchFamily="34" charset="0"/>
                  <a:ea typeface="微软雅黑" panose="020B0503020204020204" pitchFamily="34" charset="-122"/>
                </a:rPr>
                <a:t>插入键值为</a:t>
              </a:r>
              <a:r>
                <a:rPr lang="en-US" altLang="zh-CN" sz="1600" dirty="0">
                  <a:solidFill>
                    <a:srgbClr val="CC0000"/>
                  </a:solidFill>
                  <a:latin typeface="Arial" panose="020B0604020202020204" pitchFamily="34" charset="0"/>
                  <a:ea typeface="微软雅黑" panose="020B0503020204020204" pitchFamily="34" charset="-122"/>
                </a:rPr>
                <a:t>25</a:t>
              </a:r>
              <a:r>
                <a:rPr lang="zh-CN" altLang="en-US" sz="1600" dirty="0">
                  <a:solidFill>
                    <a:srgbClr val="CC0000"/>
                  </a:solidFill>
                  <a:latin typeface="Arial" panose="020B0604020202020204" pitchFamily="34" charset="0"/>
                  <a:ea typeface="微软雅黑" panose="020B0503020204020204" pitchFamily="34" charset="-122"/>
                </a:rPr>
                <a:t>的键值并指向主文件记录 </a:t>
              </a:r>
              <a:endParaRPr lang="zh-CN" altLang="en-US" sz="1600" dirty="0">
                <a:solidFill>
                  <a:srgbClr val="CC0000"/>
                </a:solidFill>
                <a:latin typeface="Arial" panose="020B0604020202020204" pitchFamily="34" charset="0"/>
                <a:ea typeface="微软雅黑" panose="020B0503020204020204" pitchFamily="34" charset="-122"/>
              </a:endParaRPr>
            </a:p>
            <a:p>
              <a:pPr>
                <a:buChar char="•"/>
              </a:pPr>
              <a:r>
                <a:rPr lang="zh-CN" altLang="en-US" sz="1600" dirty="0">
                  <a:solidFill>
                    <a:schemeClr val="accent2"/>
                  </a:solidFill>
                  <a:latin typeface="Arial" panose="020B0604020202020204" pitchFamily="34" charset="0"/>
                  <a:ea typeface="微软雅黑" panose="020B0503020204020204" pitchFamily="34" charset="-122"/>
                </a:rPr>
                <a:t>调整父结点的指针及键值：在父结点中插入键值为</a:t>
              </a:r>
              <a:r>
                <a:rPr lang="en-US" altLang="zh-CN" sz="1600" dirty="0">
                  <a:solidFill>
                    <a:schemeClr val="accent2"/>
                  </a:solidFill>
                  <a:latin typeface="Arial" panose="020B0604020202020204" pitchFamily="34" charset="0"/>
                  <a:ea typeface="微软雅黑" panose="020B0503020204020204" pitchFamily="34" charset="-122"/>
                </a:rPr>
                <a:t>30</a:t>
              </a:r>
              <a:r>
                <a:rPr lang="zh-CN" altLang="en-US" sz="1600" dirty="0">
                  <a:solidFill>
                    <a:schemeClr val="accent2"/>
                  </a:solidFill>
                  <a:latin typeface="Arial" panose="020B0604020202020204" pitchFamily="34" charset="0"/>
                  <a:ea typeface="微软雅黑" panose="020B0503020204020204" pitchFamily="34" charset="-122"/>
                </a:rPr>
                <a:t>的索引项</a:t>
              </a:r>
              <a:endParaRPr lang="zh-CN" altLang="en-US" sz="1600" dirty="0">
                <a:solidFill>
                  <a:schemeClr val="accent2"/>
                </a:solidFill>
                <a:latin typeface="Arial" panose="020B0604020202020204" pitchFamily="34" charset="0"/>
                <a:ea typeface="微软雅黑" panose="020B0503020204020204" pitchFamily="34" charset="-122"/>
              </a:endParaRPr>
            </a:p>
            <a:p>
              <a:pPr>
                <a:buChar char="•"/>
              </a:pPr>
              <a:r>
                <a:rPr lang="zh-CN" altLang="en-US" sz="1600" dirty="0">
                  <a:solidFill>
                    <a:srgbClr val="CC0000"/>
                  </a:solidFill>
                  <a:latin typeface="Arial" panose="020B0604020202020204" pitchFamily="34" charset="0"/>
                  <a:ea typeface="微软雅黑" panose="020B0503020204020204" pitchFamily="34" charset="-122"/>
                </a:rPr>
                <a:t>建立叶结点之间的指针</a:t>
              </a:r>
              <a:endParaRPr lang="zh-CN" altLang="en-US" sz="1600" dirty="0">
                <a:solidFill>
                  <a:srgbClr val="CC0000"/>
                </a:solidFill>
                <a:latin typeface="Arial" panose="020B0604020202020204" pitchFamily="34" charset="0"/>
                <a:ea typeface="微软雅黑" panose="020B0503020204020204" pitchFamily="34" charset="-122"/>
              </a:endParaRPr>
            </a:p>
          </p:txBody>
        </p:sp>
      </p:grpSp>
      <p:sp>
        <p:nvSpPr>
          <p:cNvPr id="10" name="灯片编号占位符 9"/>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checkerboard(across)">
                                      <p:cBhvr>
                                        <p:cTn id="7" dur="500"/>
                                        <p:tgtEl>
                                          <p:spTgt spid="117"/>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18"/>
                                        </p:tgtEl>
                                        <p:attrNameLst>
                                          <p:attrName>style.visibility</p:attrName>
                                        </p:attrNameLst>
                                      </p:cBhvr>
                                      <p:to>
                                        <p:strVal val="visible"/>
                                      </p:to>
                                    </p:set>
                                    <p:animEffect transition="in" filter="checkerboard(across)">
                                      <p:cBhvr>
                                        <p:cTn id="10" dur="500"/>
                                        <p:tgtEl>
                                          <p:spTgt spid="11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20"/>
                                        </p:tgtEl>
                                        <p:attrNameLst>
                                          <p:attrName>style.visibility</p:attrName>
                                        </p:attrNameLst>
                                      </p:cBhvr>
                                      <p:to>
                                        <p:strVal val="visible"/>
                                      </p:to>
                                    </p:set>
                                    <p:anim calcmode="lin" valueType="num">
                                      <p:cBhvr additive="base">
                                        <p:cTn id="15" dur="500" fill="hold"/>
                                        <p:tgtEl>
                                          <p:spTgt spid="120"/>
                                        </p:tgtEl>
                                        <p:attrNameLst>
                                          <p:attrName>ppt_x</p:attrName>
                                        </p:attrNameLst>
                                      </p:cBhvr>
                                      <p:tavLst>
                                        <p:tav tm="0">
                                          <p:val>
                                            <p:strVal val="#ppt_x"/>
                                          </p:val>
                                        </p:tav>
                                        <p:tav tm="100000">
                                          <p:val>
                                            <p:strVal val="#ppt_x"/>
                                          </p:val>
                                        </p:tav>
                                      </p:tavLst>
                                    </p:anim>
                                    <p:anim calcmode="lin" valueType="num">
                                      <p:cBhvr additive="base">
                                        <p:cTn id="16"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bldLvl="0" animBg="1"/>
      <p:bldP spid="118" grpId="0" bldLvl="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(5) </a:t>
            </a:r>
            <a:r>
              <a:rPr lang="zh-CN" altLang="en-US" sz="2600" dirty="0">
                <a:latin typeface="微软雅黑" panose="020B0503020204020204" pitchFamily="34" charset="-122"/>
                <a:ea typeface="微软雅黑" panose="020B0503020204020204" pitchFamily="34" charset="-122"/>
              </a:rPr>
              <a:t>简单删除</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latin typeface="微软雅黑" panose="020B0503020204020204" pitchFamily="34" charset="-122"/>
                <a:ea typeface="微软雅黑" panose="020B0503020204020204" pitchFamily="34" charset="-122"/>
              </a:rPr>
              <a:t>键值为</a:t>
            </a:r>
            <a:r>
              <a:rPr lang="en-US" altLang="zh-CN" sz="2000" b="0" dirty="0">
                <a:latin typeface="微软雅黑" panose="020B0503020204020204" pitchFamily="34" charset="-122"/>
                <a:ea typeface="微软雅黑" panose="020B0503020204020204" pitchFamily="34" charset="-122"/>
              </a:rPr>
              <a:t>25</a:t>
            </a:r>
            <a:r>
              <a:rPr lang="zh-CN" altLang="en-US" sz="2000" b="0" dirty="0">
                <a:latin typeface="微软雅黑" panose="020B0503020204020204" pitchFamily="34" charset="-122"/>
                <a:ea typeface="微软雅黑" panose="020B0503020204020204" pitchFamily="34" charset="-122"/>
              </a:rPr>
              <a:t>的记录插入后，问题：删除键值为</a:t>
            </a:r>
            <a:r>
              <a:rPr lang="en-US" altLang="zh-CN" sz="2000" b="0" dirty="0">
                <a:latin typeface="微软雅黑" panose="020B0503020204020204" pitchFamily="34" charset="-122"/>
                <a:ea typeface="微软雅黑" panose="020B0503020204020204" pitchFamily="34" charset="-122"/>
              </a:rPr>
              <a:t>30</a:t>
            </a:r>
            <a:r>
              <a:rPr lang="zh-CN" altLang="en-US" sz="2000" b="0" dirty="0">
                <a:latin typeface="微软雅黑" panose="020B0503020204020204" pitchFamily="34" charset="-122"/>
                <a:ea typeface="微软雅黑" panose="020B0503020204020204" pitchFamily="34" charset="-122"/>
              </a:rPr>
              <a:t>的记录</a:t>
            </a:r>
            <a:endParaRPr lang="zh-CN" altLang="en-US" sz="2000" b="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2000" dirty="0"/>
          </a:p>
          <a:p>
            <a:pPr marL="0" indent="0">
              <a:lnSpc>
                <a:spcPct val="100000"/>
              </a:lnSpc>
              <a:buNone/>
            </a:pPr>
            <a:endParaRPr lang="zh-CN" altLang="en-US" sz="2000" dirty="0"/>
          </a:p>
          <a:p>
            <a:pPr marL="0" indent="0">
              <a:lnSpc>
                <a:spcPct val="100000"/>
              </a:lnSpc>
              <a:spcBef>
                <a:spcPct val="20000"/>
              </a:spcBef>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0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500" dirty="0">
              <a:solidFill>
                <a:srgbClr val="CC0000"/>
              </a:solidFill>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zh-CN" altLang="en-US" dirty="0"/>
              <a:t>分裂与合并过程再示例</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2" name="Group 2"/>
          <p:cNvGraphicFramePr>
            <a:graphicFrameLocks noGrp="1"/>
          </p:cNvGraphicFramePr>
          <p:nvPr/>
        </p:nvGraphicFramePr>
        <p:xfrm>
          <a:off x="3765550" y="232410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241"/>
          <p:cNvGraphicFramePr>
            <a:graphicFrameLocks noGrp="1"/>
          </p:cNvGraphicFramePr>
          <p:nvPr/>
        </p:nvGraphicFramePr>
        <p:xfrm>
          <a:off x="1936750" y="3238500"/>
          <a:ext cx="2133600" cy="73914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accent2"/>
                          </a:solidFill>
                          <a:effectLst/>
                          <a:latin typeface="Arial" panose="020B0604020202020204" pitchFamily="34" charset="0"/>
                          <a:ea typeface="宋体" panose="02010600030101010101" pitchFamily="2" charset="-122"/>
                        </a:rPr>
                        <a:t>30</a:t>
                      </a:r>
                      <a:endParaRPr kumimoji="1" lang="en-US" altLang="zh-CN" sz="20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 name="Group 46"/>
          <p:cNvGraphicFramePr>
            <a:graphicFrameLocks noGrp="1"/>
          </p:cNvGraphicFramePr>
          <p:nvPr/>
        </p:nvGraphicFramePr>
        <p:xfrm>
          <a:off x="5365750" y="323850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 name="Group 68"/>
          <p:cNvGraphicFramePr>
            <a:graphicFrameLocks noGrp="1"/>
          </p:cNvGraphicFramePr>
          <p:nvPr/>
        </p:nvGraphicFramePr>
        <p:xfrm>
          <a:off x="488950" y="46863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9" name="Group 90"/>
          <p:cNvGraphicFramePr>
            <a:graphicFrameLocks noGrp="1"/>
          </p:cNvGraphicFramePr>
          <p:nvPr/>
        </p:nvGraphicFramePr>
        <p:xfrm>
          <a:off x="2317750" y="4686300"/>
          <a:ext cx="1537018" cy="685800"/>
        </p:xfrm>
        <a:graphic>
          <a:graphicData uri="http://schemas.openxmlformats.org/drawingml/2006/table">
            <a:tbl>
              <a:tblPr/>
              <a:tblGrid>
                <a:gridCol w="223838"/>
                <a:gridCol w="185737"/>
                <a:gridCol w="185738"/>
                <a:gridCol w="185737"/>
                <a:gridCol w="182563"/>
                <a:gridCol w="182562"/>
                <a:gridCol w="182563"/>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0" name="Group 112"/>
          <p:cNvGraphicFramePr>
            <a:graphicFrameLocks noGrp="1"/>
          </p:cNvGraphicFramePr>
          <p:nvPr/>
        </p:nvGraphicFramePr>
        <p:xfrm>
          <a:off x="5594350" y="46863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1" name="Group 134"/>
          <p:cNvGraphicFramePr>
            <a:graphicFrameLocks noGrp="1"/>
          </p:cNvGraphicFramePr>
          <p:nvPr/>
        </p:nvGraphicFramePr>
        <p:xfrm>
          <a:off x="7346950" y="46863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2" name="Line 156"/>
          <p:cNvSpPr/>
          <p:nvPr/>
        </p:nvSpPr>
        <p:spPr>
          <a:xfrm flipH="1">
            <a:off x="1936750" y="2857500"/>
            <a:ext cx="1981200" cy="381000"/>
          </a:xfrm>
          <a:prstGeom prst="line">
            <a:avLst/>
          </a:prstGeom>
          <a:ln w="9525" cap="flat" cmpd="sng">
            <a:solidFill>
              <a:schemeClr val="tx1"/>
            </a:solidFill>
            <a:prstDash val="solid"/>
            <a:round/>
            <a:headEnd type="none" w="med" len="med"/>
            <a:tailEnd type="triangle" w="med" len="med"/>
          </a:ln>
        </p:spPr>
      </p:sp>
      <p:sp>
        <p:nvSpPr>
          <p:cNvPr id="63" name="Line 157"/>
          <p:cNvSpPr/>
          <p:nvPr/>
        </p:nvSpPr>
        <p:spPr>
          <a:xfrm>
            <a:off x="4298950" y="2857500"/>
            <a:ext cx="1066800" cy="381000"/>
          </a:xfrm>
          <a:prstGeom prst="line">
            <a:avLst/>
          </a:prstGeom>
          <a:ln w="9525" cap="flat" cmpd="sng">
            <a:solidFill>
              <a:schemeClr val="tx1"/>
            </a:solidFill>
            <a:prstDash val="solid"/>
            <a:round/>
            <a:headEnd type="none" w="med" len="med"/>
            <a:tailEnd type="triangle" w="med" len="med"/>
          </a:ln>
        </p:spPr>
      </p:sp>
      <p:sp>
        <p:nvSpPr>
          <p:cNvPr id="64" name="Line 158"/>
          <p:cNvSpPr/>
          <p:nvPr/>
        </p:nvSpPr>
        <p:spPr>
          <a:xfrm flipH="1">
            <a:off x="1022350" y="3771900"/>
            <a:ext cx="1066800" cy="914400"/>
          </a:xfrm>
          <a:prstGeom prst="line">
            <a:avLst/>
          </a:prstGeom>
          <a:ln w="9525" cap="flat" cmpd="sng">
            <a:solidFill>
              <a:schemeClr val="tx1"/>
            </a:solidFill>
            <a:prstDash val="solid"/>
            <a:round/>
            <a:headEnd type="none" w="med" len="med"/>
            <a:tailEnd type="triangle" w="med" len="med"/>
          </a:ln>
        </p:spPr>
      </p:sp>
      <p:sp>
        <p:nvSpPr>
          <p:cNvPr id="65" name="Line 159"/>
          <p:cNvSpPr/>
          <p:nvPr/>
        </p:nvSpPr>
        <p:spPr>
          <a:xfrm>
            <a:off x="2470150" y="3771900"/>
            <a:ext cx="381000" cy="914400"/>
          </a:xfrm>
          <a:prstGeom prst="line">
            <a:avLst/>
          </a:prstGeom>
          <a:ln w="9525" cap="flat" cmpd="sng">
            <a:solidFill>
              <a:schemeClr val="tx1"/>
            </a:solidFill>
            <a:prstDash val="solid"/>
            <a:round/>
            <a:headEnd type="none" w="med" len="med"/>
            <a:tailEnd type="triangle" w="med" len="med"/>
          </a:ln>
        </p:spPr>
      </p:sp>
      <p:sp>
        <p:nvSpPr>
          <p:cNvPr id="66" name="Line 160"/>
          <p:cNvSpPr/>
          <p:nvPr/>
        </p:nvSpPr>
        <p:spPr>
          <a:xfrm>
            <a:off x="3460750" y="3771900"/>
            <a:ext cx="2133600" cy="914400"/>
          </a:xfrm>
          <a:prstGeom prst="line">
            <a:avLst/>
          </a:prstGeom>
          <a:ln w="9525" cap="flat" cmpd="sng">
            <a:solidFill>
              <a:schemeClr val="tx1"/>
            </a:solidFill>
            <a:prstDash val="solid"/>
            <a:round/>
            <a:headEnd type="none" w="med" len="med"/>
            <a:tailEnd type="triangle" w="med" len="med"/>
          </a:ln>
        </p:spPr>
      </p:sp>
      <p:sp>
        <p:nvSpPr>
          <p:cNvPr id="67" name="Line 161"/>
          <p:cNvSpPr/>
          <p:nvPr/>
        </p:nvSpPr>
        <p:spPr>
          <a:xfrm>
            <a:off x="5518150" y="3771900"/>
            <a:ext cx="1828800" cy="914400"/>
          </a:xfrm>
          <a:prstGeom prst="line">
            <a:avLst/>
          </a:prstGeom>
          <a:ln w="9525" cap="flat" cmpd="sng">
            <a:solidFill>
              <a:schemeClr val="tx1"/>
            </a:solidFill>
            <a:prstDash val="solid"/>
            <a:round/>
            <a:headEnd type="none" w="med" len="med"/>
            <a:tailEnd type="triangle" w="med" len="med"/>
          </a:ln>
        </p:spPr>
      </p:sp>
      <p:sp>
        <p:nvSpPr>
          <p:cNvPr id="68" name="Line 162"/>
          <p:cNvSpPr/>
          <p:nvPr/>
        </p:nvSpPr>
        <p:spPr>
          <a:xfrm>
            <a:off x="5899150" y="3771900"/>
            <a:ext cx="2438400" cy="838200"/>
          </a:xfrm>
          <a:prstGeom prst="line">
            <a:avLst/>
          </a:prstGeom>
          <a:ln w="9525" cap="flat" cmpd="sng">
            <a:solidFill>
              <a:schemeClr val="tx1"/>
            </a:solidFill>
            <a:prstDash val="solid"/>
            <a:round/>
            <a:headEnd type="none" w="med" len="med"/>
            <a:tailEnd type="triangle" w="med" len="med"/>
          </a:ln>
        </p:spPr>
      </p:sp>
      <p:sp>
        <p:nvSpPr>
          <p:cNvPr id="69" name="Line 163"/>
          <p:cNvSpPr/>
          <p:nvPr/>
        </p:nvSpPr>
        <p:spPr>
          <a:xfrm>
            <a:off x="6508750" y="3848100"/>
            <a:ext cx="2362200" cy="838200"/>
          </a:xfrm>
          <a:prstGeom prst="line">
            <a:avLst/>
          </a:prstGeom>
          <a:ln w="9525" cap="flat" cmpd="sng">
            <a:solidFill>
              <a:schemeClr val="tx1"/>
            </a:solidFill>
            <a:prstDash val="solid"/>
            <a:round/>
            <a:headEnd type="none" w="med" len="med"/>
            <a:tailEnd type="triangle" w="med" len="med"/>
          </a:ln>
        </p:spPr>
      </p:sp>
      <p:sp>
        <p:nvSpPr>
          <p:cNvPr id="70" name="Line 164"/>
          <p:cNvSpPr/>
          <p:nvPr/>
        </p:nvSpPr>
        <p:spPr>
          <a:xfrm>
            <a:off x="7042150" y="3771900"/>
            <a:ext cx="2209800" cy="838200"/>
          </a:xfrm>
          <a:prstGeom prst="line">
            <a:avLst/>
          </a:prstGeom>
          <a:ln w="9525" cap="flat" cmpd="sng">
            <a:solidFill>
              <a:schemeClr val="tx1"/>
            </a:solidFill>
            <a:prstDash val="solid"/>
            <a:round/>
            <a:headEnd type="none" w="med" len="med"/>
            <a:tailEnd type="triangle" w="med" len="med"/>
          </a:ln>
        </p:spPr>
      </p:sp>
      <p:sp>
        <p:nvSpPr>
          <p:cNvPr id="71" name="Line 165"/>
          <p:cNvSpPr/>
          <p:nvPr/>
        </p:nvSpPr>
        <p:spPr>
          <a:xfrm>
            <a:off x="2012950" y="5219700"/>
            <a:ext cx="304800" cy="0"/>
          </a:xfrm>
          <a:prstGeom prst="line">
            <a:avLst/>
          </a:prstGeom>
          <a:ln w="9525" cap="flat" cmpd="sng">
            <a:solidFill>
              <a:schemeClr val="tx1"/>
            </a:solidFill>
            <a:prstDash val="solid"/>
            <a:round/>
            <a:headEnd type="none" w="med" len="med"/>
            <a:tailEnd type="triangle" w="med" len="med"/>
          </a:ln>
        </p:spPr>
      </p:sp>
      <p:sp>
        <p:nvSpPr>
          <p:cNvPr id="72" name="Line 166"/>
          <p:cNvSpPr/>
          <p:nvPr/>
        </p:nvSpPr>
        <p:spPr>
          <a:xfrm>
            <a:off x="3765550" y="5219700"/>
            <a:ext cx="304800" cy="0"/>
          </a:xfrm>
          <a:prstGeom prst="line">
            <a:avLst/>
          </a:prstGeom>
          <a:ln w="9525" cap="flat" cmpd="sng">
            <a:solidFill>
              <a:schemeClr val="tx1"/>
            </a:solidFill>
            <a:prstDash val="solid"/>
            <a:round/>
            <a:headEnd type="none" w="med" len="med"/>
            <a:tailEnd type="triangle" w="med" len="med"/>
          </a:ln>
        </p:spPr>
      </p:sp>
      <p:sp>
        <p:nvSpPr>
          <p:cNvPr id="73" name="Line 167"/>
          <p:cNvSpPr/>
          <p:nvPr/>
        </p:nvSpPr>
        <p:spPr>
          <a:xfrm>
            <a:off x="6508750" y="5219700"/>
            <a:ext cx="228600" cy="0"/>
          </a:xfrm>
          <a:prstGeom prst="line">
            <a:avLst/>
          </a:prstGeom>
          <a:ln w="9525" cap="flat" cmpd="sng">
            <a:solidFill>
              <a:schemeClr val="tx1"/>
            </a:solidFill>
            <a:prstDash val="solid"/>
            <a:round/>
            <a:headEnd type="none" w="med" len="med"/>
            <a:tailEnd type="triangle" w="med" len="med"/>
          </a:ln>
        </p:spPr>
      </p:sp>
      <p:sp>
        <p:nvSpPr>
          <p:cNvPr id="74" name="Rectangle 168"/>
          <p:cNvSpPr/>
          <p:nvPr/>
        </p:nvSpPr>
        <p:spPr>
          <a:xfrm>
            <a:off x="4889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10</a:t>
            </a:r>
            <a:endParaRPr lang="en-US" altLang="zh-CN" sz="1400" b="0" dirty="0">
              <a:latin typeface="Times New Roman" panose="02020603050405020304" pitchFamily="18" charset="0"/>
              <a:ea typeface="宋体" panose="02010600030101010101" pitchFamily="2" charset="-122"/>
            </a:endParaRPr>
          </a:p>
        </p:txBody>
      </p:sp>
      <p:sp>
        <p:nvSpPr>
          <p:cNvPr id="75" name="Rectangle 169"/>
          <p:cNvSpPr/>
          <p:nvPr/>
        </p:nvSpPr>
        <p:spPr>
          <a:xfrm>
            <a:off x="10223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15</a:t>
            </a:r>
            <a:endParaRPr lang="en-US" altLang="zh-CN" sz="1400" b="0" dirty="0">
              <a:latin typeface="Times New Roman" panose="02020603050405020304" pitchFamily="18" charset="0"/>
              <a:ea typeface="宋体" panose="02010600030101010101" pitchFamily="2" charset="-122"/>
            </a:endParaRPr>
          </a:p>
        </p:txBody>
      </p:sp>
      <p:sp>
        <p:nvSpPr>
          <p:cNvPr id="76" name="Rectangle 170"/>
          <p:cNvSpPr/>
          <p:nvPr/>
        </p:nvSpPr>
        <p:spPr>
          <a:xfrm>
            <a:off x="14795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18</a:t>
            </a:r>
            <a:endParaRPr lang="en-US" altLang="zh-CN" sz="1400" b="0" dirty="0">
              <a:latin typeface="Times New Roman" panose="02020603050405020304" pitchFamily="18" charset="0"/>
              <a:ea typeface="宋体" panose="02010600030101010101" pitchFamily="2" charset="-122"/>
            </a:endParaRPr>
          </a:p>
        </p:txBody>
      </p:sp>
      <p:sp>
        <p:nvSpPr>
          <p:cNvPr id="77" name="Rectangle 171"/>
          <p:cNvSpPr/>
          <p:nvPr/>
        </p:nvSpPr>
        <p:spPr>
          <a:xfrm>
            <a:off x="23177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20</a:t>
            </a:r>
            <a:endParaRPr lang="en-US" altLang="zh-CN" sz="1400" b="0" dirty="0">
              <a:latin typeface="Times New Roman" panose="02020603050405020304" pitchFamily="18" charset="0"/>
              <a:ea typeface="宋体" panose="02010600030101010101" pitchFamily="2" charset="-122"/>
            </a:endParaRPr>
          </a:p>
        </p:txBody>
      </p:sp>
      <p:sp>
        <p:nvSpPr>
          <p:cNvPr id="78" name="Rectangle 172"/>
          <p:cNvSpPr/>
          <p:nvPr/>
        </p:nvSpPr>
        <p:spPr>
          <a:xfrm>
            <a:off x="27749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25</a:t>
            </a:r>
            <a:endParaRPr lang="en-US" altLang="zh-CN" sz="1400" b="0" dirty="0">
              <a:latin typeface="Times New Roman" panose="02020603050405020304" pitchFamily="18" charset="0"/>
              <a:ea typeface="宋体" panose="02010600030101010101" pitchFamily="2" charset="-122"/>
            </a:endParaRPr>
          </a:p>
        </p:txBody>
      </p:sp>
      <p:sp>
        <p:nvSpPr>
          <p:cNvPr id="79" name="Rectangle 173"/>
          <p:cNvSpPr/>
          <p:nvPr/>
        </p:nvSpPr>
        <p:spPr>
          <a:xfrm>
            <a:off x="3232150" y="6057900"/>
            <a:ext cx="371475" cy="314325"/>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solidFill>
                  <a:srgbClr val="CC0000"/>
                </a:solidFill>
                <a:latin typeface="Times New Roman" panose="02020603050405020304" pitchFamily="18" charset="0"/>
                <a:ea typeface="宋体" panose="02010600030101010101" pitchFamily="2" charset="-122"/>
              </a:rPr>
              <a:t>30</a:t>
            </a:r>
            <a:endParaRPr lang="en-US" altLang="zh-CN" sz="1400" b="0" dirty="0">
              <a:solidFill>
                <a:srgbClr val="CC0000"/>
              </a:solidFill>
              <a:latin typeface="Times New Roman" panose="02020603050405020304" pitchFamily="18" charset="0"/>
              <a:ea typeface="宋体" panose="02010600030101010101" pitchFamily="2" charset="-122"/>
            </a:endParaRPr>
          </a:p>
        </p:txBody>
      </p:sp>
      <p:sp>
        <p:nvSpPr>
          <p:cNvPr id="80" name="Rectangle 174"/>
          <p:cNvSpPr/>
          <p:nvPr/>
        </p:nvSpPr>
        <p:spPr>
          <a:xfrm>
            <a:off x="36893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40</a:t>
            </a:r>
            <a:endParaRPr lang="en-US" altLang="zh-CN" sz="1400" b="0" dirty="0">
              <a:latin typeface="Times New Roman" panose="02020603050405020304" pitchFamily="18" charset="0"/>
              <a:ea typeface="宋体" panose="02010600030101010101" pitchFamily="2" charset="-122"/>
            </a:endParaRPr>
          </a:p>
        </p:txBody>
      </p:sp>
      <p:sp>
        <p:nvSpPr>
          <p:cNvPr id="81" name="Rectangle 175"/>
          <p:cNvSpPr/>
          <p:nvPr/>
        </p:nvSpPr>
        <p:spPr>
          <a:xfrm>
            <a:off x="57467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60</a:t>
            </a:r>
            <a:endParaRPr lang="en-US" altLang="zh-CN" sz="1400" b="0" dirty="0">
              <a:latin typeface="Times New Roman" panose="02020603050405020304" pitchFamily="18" charset="0"/>
              <a:ea typeface="宋体" panose="02010600030101010101" pitchFamily="2" charset="-122"/>
            </a:endParaRPr>
          </a:p>
        </p:txBody>
      </p:sp>
      <p:sp>
        <p:nvSpPr>
          <p:cNvPr id="82" name="Rectangle 176"/>
          <p:cNvSpPr/>
          <p:nvPr/>
        </p:nvSpPr>
        <p:spPr>
          <a:xfrm>
            <a:off x="62039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65</a:t>
            </a:r>
            <a:endParaRPr lang="en-US" altLang="zh-CN" sz="1400" b="0" dirty="0">
              <a:latin typeface="Times New Roman" panose="02020603050405020304" pitchFamily="18" charset="0"/>
              <a:ea typeface="宋体" panose="02010600030101010101" pitchFamily="2" charset="-122"/>
            </a:endParaRPr>
          </a:p>
        </p:txBody>
      </p:sp>
      <p:sp>
        <p:nvSpPr>
          <p:cNvPr id="83" name="Rectangle 177"/>
          <p:cNvSpPr/>
          <p:nvPr/>
        </p:nvSpPr>
        <p:spPr>
          <a:xfrm>
            <a:off x="66611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80</a:t>
            </a:r>
            <a:endParaRPr lang="en-US" altLang="zh-CN" sz="1400" b="0" dirty="0">
              <a:latin typeface="Times New Roman" panose="02020603050405020304" pitchFamily="18" charset="0"/>
              <a:ea typeface="宋体" panose="02010600030101010101" pitchFamily="2" charset="-122"/>
            </a:endParaRPr>
          </a:p>
        </p:txBody>
      </p:sp>
      <p:sp>
        <p:nvSpPr>
          <p:cNvPr id="84" name="Rectangle 178"/>
          <p:cNvSpPr/>
          <p:nvPr/>
        </p:nvSpPr>
        <p:spPr>
          <a:xfrm>
            <a:off x="71945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85</a:t>
            </a:r>
            <a:endParaRPr lang="en-US" altLang="zh-CN" sz="1400" b="0" dirty="0">
              <a:latin typeface="Times New Roman" panose="02020603050405020304" pitchFamily="18" charset="0"/>
              <a:ea typeface="宋体" panose="02010600030101010101" pitchFamily="2" charset="-122"/>
            </a:endParaRPr>
          </a:p>
        </p:txBody>
      </p:sp>
      <p:sp>
        <p:nvSpPr>
          <p:cNvPr id="85" name="Rectangle 179"/>
          <p:cNvSpPr/>
          <p:nvPr/>
        </p:nvSpPr>
        <p:spPr>
          <a:xfrm>
            <a:off x="77279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90</a:t>
            </a:r>
            <a:endParaRPr lang="en-US" altLang="zh-CN" sz="1400" b="0" dirty="0">
              <a:latin typeface="Times New Roman" panose="02020603050405020304" pitchFamily="18" charset="0"/>
              <a:ea typeface="宋体" panose="02010600030101010101" pitchFamily="2" charset="-122"/>
            </a:endParaRPr>
          </a:p>
        </p:txBody>
      </p:sp>
      <p:sp>
        <p:nvSpPr>
          <p:cNvPr id="86" name="Line 180"/>
          <p:cNvSpPr/>
          <p:nvPr/>
        </p:nvSpPr>
        <p:spPr>
          <a:xfrm flipH="1">
            <a:off x="488950" y="5219700"/>
            <a:ext cx="152400" cy="838200"/>
          </a:xfrm>
          <a:prstGeom prst="line">
            <a:avLst/>
          </a:prstGeom>
          <a:ln w="9525" cap="flat" cmpd="sng">
            <a:solidFill>
              <a:schemeClr val="tx1"/>
            </a:solidFill>
            <a:prstDash val="solid"/>
            <a:round/>
            <a:headEnd type="none" w="med" len="med"/>
            <a:tailEnd type="triangle" w="med" len="med"/>
          </a:ln>
        </p:spPr>
      </p:sp>
      <p:sp>
        <p:nvSpPr>
          <p:cNvPr id="87" name="Line 181"/>
          <p:cNvSpPr/>
          <p:nvPr/>
        </p:nvSpPr>
        <p:spPr>
          <a:xfrm>
            <a:off x="946150" y="5219700"/>
            <a:ext cx="76200" cy="838200"/>
          </a:xfrm>
          <a:prstGeom prst="line">
            <a:avLst/>
          </a:prstGeom>
          <a:ln w="9525" cap="flat" cmpd="sng">
            <a:solidFill>
              <a:schemeClr val="tx1"/>
            </a:solidFill>
            <a:prstDash val="solid"/>
            <a:round/>
            <a:headEnd type="none" w="med" len="med"/>
            <a:tailEnd type="triangle" w="med" len="med"/>
          </a:ln>
        </p:spPr>
      </p:sp>
      <p:sp>
        <p:nvSpPr>
          <p:cNvPr id="88" name="Line 182"/>
          <p:cNvSpPr/>
          <p:nvPr/>
        </p:nvSpPr>
        <p:spPr>
          <a:xfrm>
            <a:off x="1327150" y="5219700"/>
            <a:ext cx="228600" cy="838200"/>
          </a:xfrm>
          <a:prstGeom prst="line">
            <a:avLst/>
          </a:prstGeom>
          <a:ln w="9525" cap="flat" cmpd="sng">
            <a:solidFill>
              <a:schemeClr val="tx1"/>
            </a:solidFill>
            <a:prstDash val="solid"/>
            <a:round/>
            <a:headEnd type="none" w="med" len="med"/>
            <a:tailEnd type="triangle" w="med" len="med"/>
          </a:ln>
        </p:spPr>
      </p:sp>
      <p:sp>
        <p:nvSpPr>
          <p:cNvPr id="89" name="Line 183"/>
          <p:cNvSpPr/>
          <p:nvPr/>
        </p:nvSpPr>
        <p:spPr>
          <a:xfrm flipH="1">
            <a:off x="2393950" y="5219700"/>
            <a:ext cx="76200" cy="838200"/>
          </a:xfrm>
          <a:prstGeom prst="line">
            <a:avLst/>
          </a:prstGeom>
          <a:ln w="9525" cap="flat" cmpd="sng">
            <a:solidFill>
              <a:schemeClr val="tx1"/>
            </a:solidFill>
            <a:prstDash val="solid"/>
            <a:round/>
            <a:headEnd type="none" w="med" len="med"/>
            <a:tailEnd type="triangle" w="med" len="med"/>
          </a:ln>
        </p:spPr>
      </p:sp>
      <p:sp>
        <p:nvSpPr>
          <p:cNvPr id="90" name="Line 184"/>
          <p:cNvSpPr/>
          <p:nvPr/>
        </p:nvSpPr>
        <p:spPr>
          <a:xfrm>
            <a:off x="2774950" y="5219700"/>
            <a:ext cx="0" cy="838200"/>
          </a:xfrm>
          <a:prstGeom prst="line">
            <a:avLst/>
          </a:prstGeom>
          <a:ln w="9525" cap="flat" cmpd="sng">
            <a:solidFill>
              <a:schemeClr val="tx1"/>
            </a:solidFill>
            <a:prstDash val="solid"/>
            <a:round/>
            <a:headEnd type="none" w="med" len="med"/>
            <a:tailEnd type="triangle" w="med" len="med"/>
          </a:ln>
        </p:spPr>
      </p:sp>
      <p:sp>
        <p:nvSpPr>
          <p:cNvPr id="91" name="Line 185"/>
          <p:cNvSpPr/>
          <p:nvPr/>
        </p:nvSpPr>
        <p:spPr>
          <a:xfrm flipH="1">
            <a:off x="3232150" y="5219700"/>
            <a:ext cx="914400" cy="838200"/>
          </a:xfrm>
          <a:prstGeom prst="line">
            <a:avLst/>
          </a:prstGeom>
          <a:ln w="9525" cap="flat" cmpd="sng">
            <a:solidFill>
              <a:schemeClr val="tx1"/>
            </a:solidFill>
            <a:prstDash val="solid"/>
            <a:round/>
            <a:headEnd type="none" w="med" len="med"/>
            <a:tailEnd type="triangle" w="med" len="med"/>
          </a:ln>
        </p:spPr>
      </p:sp>
      <p:sp>
        <p:nvSpPr>
          <p:cNvPr id="92" name="Line 186"/>
          <p:cNvSpPr/>
          <p:nvPr/>
        </p:nvSpPr>
        <p:spPr>
          <a:xfrm flipH="1">
            <a:off x="3765550" y="5219700"/>
            <a:ext cx="685800" cy="838200"/>
          </a:xfrm>
          <a:prstGeom prst="line">
            <a:avLst/>
          </a:prstGeom>
          <a:ln w="9525" cap="flat" cmpd="sng">
            <a:solidFill>
              <a:schemeClr val="tx1"/>
            </a:solidFill>
            <a:prstDash val="solid"/>
            <a:round/>
            <a:headEnd type="none" w="med" len="med"/>
            <a:tailEnd type="triangle" w="med" len="med"/>
          </a:ln>
        </p:spPr>
      </p:sp>
      <p:sp>
        <p:nvSpPr>
          <p:cNvPr id="93" name="Line 187"/>
          <p:cNvSpPr/>
          <p:nvPr/>
        </p:nvSpPr>
        <p:spPr>
          <a:xfrm>
            <a:off x="5746750" y="5219700"/>
            <a:ext cx="0" cy="838200"/>
          </a:xfrm>
          <a:prstGeom prst="line">
            <a:avLst/>
          </a:prstGeom>
          <a:ln w="9525" cap="flat" cmpd="sng">
            <a:solidFill>
              <a:schemeClr val="tx1"/>
            </a:solidFill>
            <a:prstDash val="solid"/>
            <a:round/>
            <a:headEnd type="none" w="med" len="med"/>
            <a:tailEnd type="triangle" w="med" len="med"/>
          </a:ln>
        </p:spPr>
      </p:sp>
      <p:sp>
        <p:nvSpPr>
          <p:cNvPr id="94" name="Line 188"/>
          <p:cNvSpPr/>
          <p:nvPr/>
        </p:nvSpPr>
        <p:spPr>
          <a:xfrm>
            <a:off x="5975350" y="5143500"/>
            <a:ext cx="228600" cy="914400"/>
          </a:xfrm>
          <a:prstGeom prst="line">
            <a:avLst/>
          </a:prstGeom>
          <a:ln w="9525" cap="flat" cmpd="sng">
            <a:solidFill>
              <a:schemeClr val="tx1"/>
            </a:solidFill>
            <a:prstDash val="solid"/>
            <a:round/>
            <a:headEnd type="none" w="med" len="med"/>
            <a:tailEnd type="triangle" w="med" len="med"/>
          </a:ln>
        </p:spPr>
      </p:sp>
      <p:sp>
        <p:nvSpPr>
          <p:cNvPr id="95" name="Line 189"/>
          <p:cNvSpPr/>
          <p:nvPr/>
        </p:nvSpPr>
        <p:spPr>
          <a:xfrm flipH="1">
            <a:off x="6661150" y="5219700"/>
            <a:ext cx="838200" cy="838200"/>
          </a:xfrm>
          <a:prstGeom prst="line">
            <a:avLst/>
          </a:prstGeom>
          <a:ln w="9525" cap="flat" cmpd="sng">
            <a:solidFill>
              <a:schemeClr val="tx1"/>
            </a:solidFill>
            <a:prstDash val="solid"/>
            <a:round/>
            <a:headEnd type="none" w="med" len="med"/>
            <a:tailEnd type="triangle" w="med" len="med"/>
          </a:ln>
        </p:spPr>
      </p:sp>
      <p:sp>
        <p:nvSpPr>
          <p:cNvPr id="96" name="Line 190"/>
          <p:cNvSpPr/>
          <p:nvPr/>
        </p:nvSpPr>
        <p:spPr>
          <a:xfrm flipH="1">
            <a:off x="7194550" y="5219700"/>
            <a:ext cx="609600" cy="838200"/>
          </a:xfrm>
          <a:prstGeom prst="line">
            <a:avLst/>
          </a:prstGeom>
          <a:ln w="9525" cap="flat" cmpd="sng">
            <a:solidFill>
              <a:schemeClr val="tx1"/>
            </a:solidFill>
            <a:prstDash val="solid"/>
            <a:round/>
            <a:headEnd type="none" w="med" len="med"/>
            <a:tailEnd type="triangle" w="med" len="med"/>
          </a:ln>
        </p:spPr>
      </p:sp>
      <p:sp>
        <p:nvSpPr>
          <p:cNvPr id="97" name="Line 191"/>
          <p:cNvSpPr/>
          <p:nvPr/>
        </p:nvSpPr>
        <p:spPr>
          <a:xfrm flipH="1">
            <a:off x="7727950" y="5219700"/>
            <a:ext cx="457200" cy="838200"/>
          </a:xfrm>
          <a:prstGeom prst="line">
            <a:avLst/>
          </a:prstGeom>
          <a:ln w="9525" cap="flat" cmpd="sng">
            <a:solidFill>
              <a:schemeClr val="tx1"/>
            </a:solidFill>
            <a:prstDash val="solid"/>
            <a:round/>
            <a:headEnd type="none" w="med" len="med"/>
            <a:tailEnd type="triangle" w="med" len="med"/>
          </a:ln>
        </p:spPr>
      </p:sp>
      <p:sp>
        <p:nvSpPr>
          <p:cNvPr id="98" name="Line 192"/>
          <p:cNvSpPr/>
          <p:nvPr/>
        </p:nvSpPr>
        <p:spPr>
          <a:xfrm>
            <a:off x="8261350" y="5219700"/>
            <a:ext cx="304800" cy="0"/>
          </a:xfrm>
          <a:prstGeom prst="line">
            <a:avLst/>
          </a:prstGeom>
          <a:ln w="9525" cap="flat" cmpd="sng">
            <a:solidFill>
              <a:schemeClr val="tx1"/>
            </a:solidFill>
            <a:prstDash val="solid"/>
            <a:round/>
            <a:headEnd type="none" w="med" len="med"/>
            <a:tailEnd type="triangle" w="med" len="med"/>
          </a:ln>
        </p:spPr>
      </p:sp>
      <p:sp>
        <p:nvSpPr>
          <p:cNvPr id="99" name="Rectangle 193"/>
          <p:cNvSpPr/>
          <p:nvPr/>
        </p:nvSpPr>
        <p:spPr>
          <a:xfrm>
            <a:off x="18986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19</a:t>
            </a:r>
            <a:endParaRPr lang="en-US" altLang="zh-CN" sz="1400" b="0" dirty="0">
              <a:latin typeface="Times New Roman" panose="02020603050405020304" pitchFamily="18" charset="0"/>
              <a:ea typeface="宋体" panose="02010600030101010101" pitchFamily="2" charset="-122"/>
            </a:endParaRPr>
          </a:p>
        </p:txBody>
      </p:sp>
      <p:sp>
        <p:nvSpPr>
          <p:cNvPr id="100" name="Line 194"/>
          <p:cNvSpPr/>
          <p:nvPr/>
        </p:nvSpPr>
        <p:spPr>
          <a:xfrm>
            <a:off x="1708150" y="5219700"/>
            <a:ext cx="228600" cy="762000"/>
          </a:xfrm>
          <a:prstGeom prst="line">
            <a:avLst/>
          </a:prstGeom>
          <a:ln w="9525" cap="flat" cmpd="sng">
            <a:solidFill>
              <a:schemeClr val="tx1"/>
            </a:solidFill>
            <a:prstDash val="solid"/>
            <a:round/>
            <a:headEnd type="none" w="med" len="med"/>
            <a:tailEnd type="triangle" w="med" len="med"/>
          </a:ln>
        </p:spPr>
      </p:sp>
      <p:sp>
        <p:nvSpPr>
          <p:cNvPr id="101" name="Rectangle 196"/>
          <p:cNvSpPr/>
          <p:nvPr/>
        </p:nvSpPr>
        <p:spPr>
          <a:xfrm>
            <a:off x="5289550" y="60579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50</a:t>
            </a:r>
            <a:endParaRPr lang="en-US" altLang="zh-CN" sz="1400" b="0" dirty="0">
              <a:latin typeface="Times New Roman" panose="02020603050405020304" pitchFamily="18" charset="0"/>
              <a:ea typeface="宋体" panose="02010600030101010101" pitchFamily="2" charset="-122"/>
            </a:endParaRPr>
          </a:p>
        </p:txBody>
      </p:sp>
      <p:sp>
        <p:nvSpPr>
          <p:cNvPr id="102" name="Line 197"/>
          <p:cNvSpPr/>
          <p:nvPr/>
        </p:nvSpPr>
        <p:spPr>
          <a:xfrm>
            <a:off x="4756150" y="5219700"/>
            <a:ext cx="685800" cy="838200"/>
          </a:xfrm>
          <a:prstGeom prst="line">
            <a:avLst/>
          </a:prstGeom>
          <a:ln w="9525" cap="flat" cmpd="sng">
            <a:solidFill>
              <a:schemeClr val="tx1"/>
            </a:solidFill>
            <a:prstDash val="solid"/>
            <a:round/>
            <a:headEnd type="none" w="med" len="med"/>
            <a:tailEnd type="triangle" w="med" len="med"/>
          </a:ln>
        </p:spPr>
      </p:sp>
      <p:graphicFrame>
        <p:nvGraphicFramePr>
          <p:cNvPr id="103" name="Group 198"/>
          <p:cNvGraphicFramePr>
            <a:graphicFrameLocks noGrp="1"/>
          </p:cNvGraphicFramePr>
          <p:nvPr/>
        </p:nvGraphicFramePr>
        <p:xfrm>
          <a:off x="3994150" y="4686300"/>
          <a:ext cx="1537018" cy="685800"/>
        </p:xfrm>
        <a:graphic>
          <a:graphicData uri="http://schemas.openxmlformats.org/drawingml/2006/table">
            <a:tbl>
              <a:tblPr/>
              <a:tblGrid>
                <a:gridCol w="223838"/>
                <a:gridCol w="185737"/>
                <a:gridCol w="185738"/>
                <a:gridCol w="185737"/>
                <a:gridCol w="182563"/>
                <a:gridCol w="182562"/>
                <a:gridCol w="182563"/>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30</a:t>
                      </a:r>
                      <a:endPar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4" name="Line 220"/>
          <p:cNvSpPr/>
          <p:nvPr/>
        </p:nvSpPr>
        <p:spPr>
          <a:xfrm>
            <a:off x="5441950" y="5219700"/>
            <a:ext cx="228600" cy="0"/>
          </a:xfrm>
          <a:prstGeom prst="line">
            <a:avLst/>
          </a:prstGeom>
          <a:ln w="9525" cap="flat" cmpd="sng">
            <a:solidFill>
              <a:schemeClr val="tx1"/>
            </a:solidFill>
            <a:prstDash val="solid"/>
            <a:round/>
            <a:headEnd type="none" w="med" len="med"/>
            <a:tailEnd type="triangle" w="med" len="med"/>
          </a:ln>
        </p:spPr>
      </p:sp>
      <p:sp>
        <p:nvSpPr>
          <p:cNvPr id="105" name="Line 221"/>
          <p:cNvSpPr/>
          <p:nvPr/>
        </p:nvSpPr>
        <p:spPr>
          <a:xfrm>
            <a:off x="3003550" y="3771900"/>
            <a:ext cx="990600" cy="914400"/>
          </a:xfrm>
          <a:prstGeom prst="line">
            <a:avLst/>
          </a:prstGeom>
          <a:ln w="9525" cap="flat" cmpd="sng">
            <a:solidFill>
              <a:schemeClr val="tx1"/>
            </a:solidFill>
            <a:prstDash val="solid"/>
            <a:round/>
            <a:headEnd type="none" w="med" len="med"/>
            <a:tailEnd type="triangle" w="med" len="med"/>
          </a:ln>
        </p:spPr>
      </p:sp>
      <p:sp>
        <p:nvSpPr>
          <p:cNvPr id="106" name="Line 224"/>
          <p:cNvSpPr/>
          <p:nvPr/>
        </p:nvSpPr>
        <p:spPr>
          <a:xfrm>
            <a:off x="196850" y="4281488"/>
            <a:ext cx="9144000" cy="28575"/>
          </a:xfrm>
          <a:prstGeom prst="line">
            <a:avLst/>
          </a:prstGeom>
          <a:ln w="38100" cap="flat" cmpd="dbl">
            <a:solidFill>
              <a:srgbClr val="CC0000"/>
            </a:solidFill>
            <a:prstDash val="dash"/>
            <a:round/>
            <a:headEnd type="none" w="med" len="med"/>
            <a:tailEnd type="none" w="med" len="med"/>
          </a:ln>
        </p:spPr>
      </p:sp>
      <p:sp>
        <p:nvSpPr>
          <p:cNvPr id="107" name="Line 225"/>
          <p:cNvSpPr/>
          <p:nvPr/>
        </p:nvSpPr>
        <p:spPr>
          <a:xfrm>
            <a:off x="182563" y="5761038"/>
            <a:ext cx="9144000" cy="28575"/>
          </a:xfrm>
          <a:prstGeom prst="line">
            <a:avLst/>
          </a:prstGeom>
          <a:ln w="38100" cap="flat" cmpd="dbl">
            <a:solidFill>
              <a:srgbClr val="CC0000"/>
            </a:solidFill>
            <a:prstDash val="dash"/>
            <a:round/>
            <a:headEnd type="none" w="med" len="med"/>
            <a:tailEnd type="none" w="med" len="med"/>
          </a:ln>
        </p:spPr>
      </p:sp>
      <p:sp>
        <p:nvSpPr>
          <p:cNvPr id="108" name="Text Box 226"/>
          <p:cNvSpPr txBox="1"/>
          <p:nvPr/>
        </p:nvSpPr>
        <p:spPr>
          <a:xfrm>
            <a:off x="8053388" y="3830638"/>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非叶结点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6" name="Text Box 227"/>
          <p:cNvSpPr txBox="1"/>
          <p:nvPr/>
        </p:nvSpPr>
        <p:spPr>
          <a:xfrm>
            <a:off x="8069263" y="4318000"/>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叶子结点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7" name="Text Box 228"/>
          <p:cNvSpPr txBox="1"/>
          <p:nvPr/>
        </p:nvSpPr>
        <p:spPr>
          <a:xfrm>
            <a:off x="8183563" y="5799138"/>
            <a:ext cx="1025525" cy="701675"/>
          </a:xfrm>
          <a:prstGeom prst="rect">
            <a:avLst/>
          </a:prstGeom>
          <a:noFill/>
          <a:ln w="9525">
            <a:noFill/>
          </a:ln>
        </p:spPr>
        <p:txBody>
          <a:bodyPr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主文件的记录</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8" name="Rectangle 239"/>
          <p:cNvSpPr/>
          <p:nvPr/>
        </p:nvSpPr>
        <p:spPr>
          <a:xfrm>
            <a:off x="3978275" y="4657725"/>
            <a:ext cx="1522413" cy="723900"/>
          </a:xfrm>
          <a:prstGeom prst="rect">
            <a:avLst/>
          </a:prstGeom>
          <a:noFill/>
          <a:ln w="76200" cap="flat" cmpd="sng">
            <a:solidFill>
              <a:srgbClr val="CC0000"/>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19" name="Rectangle 240"/>
          <p:cNvSpPr/>
          <p:nvPr/>
        </p:nvSpPr>
        <p:spPr>
          <a:xfrm>
            <a:off x="1900238" y="3205163"/>
            <a:ext cx="2219325" cy="752475"/>
          </a:xfrm>
          <a:prstGeom prst="rect">
            <a:avLst/>
          </a:prstGeom>
          <a:noFill/>
          <a:ln w="76200" cap="flat" cmpd="sng">
            <a:solidFill>
              <a:srgbClr val="CC0000"/>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grpSp>
        <p:nvGrpSpPr>
          <p:cNvPr id="120" name="Group 235"/>
          <p:cNvGrpSpPr/>
          <p:nvPr/>
        </p:nvGrpSpPr>
        <p:grpSpPr>
          <a:xfrm>
            <a:off x="7610470" y="1938338"/>
            <a:ext cx="4441825" cy="1747837"/>
            <a:chOff x="1265" y="3268"/>
            <a:chExt cx="1154" cy="629"/>
          </a:xfrm>
        </p:grpSpPr>
        <p:sp>
          <p:nvSpPr>
            <p:cNvPr id="121"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22"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23" name="Text Box 84"/>
            <p:cNvSpPr/>
            <p:nvPr/>
          </p:nvSpPr>
          <p:spPr>
            <a:xfrm>
              <a:off x="1269" y="3300"/>
              <a:ext cx="1150" cy="579"/>
            </a:xfrm>
            <a:prstGeom prst="roundRect">
              <a:avLst>
                <a:gd name="adj" fmla="val 16667"/>
              </a:avLst>
            </a:prstGeom>
            <a:noFill/>
            <a:ln w="9525">
              <a:noFill/>
            </a:ln>
          </p:spPr>
          <p:txBody>
            <a:bodyPr anchor="t">
              <a:spAutoFit/>
            </a:bodyPr>
            <a:lstStyle/>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先定位待删除键值的叶子结点：从根结点开始向下；</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rgbClr val="CC0000"/>
                  </a:solidFill>
                  <a:latin typeface="Arial" panose="020B0604020202020204" pitchFamily="34" charset="0"/>
                  <a:ea typeface="微软雅黑" panose="020B0503020204020204" pitchFamily="34" charset="-122"/>
                </a:rPr>
                <a:t>删除键值及其主文件记录？</a:t>
              </a:r>
              <a:endParaRPr lang="zh-CN" altLang="en-US" sz="1600" dirty="0">
                <a:solidFill>
                  <a:srgbClr val="CC0000"/>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如指针数目不少于规定数目，则可以结束</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rgbClr val="CC0000"/>
                  </a:solidFill>
                  <a:latin typeface="Arial" panose="020B0604020202020204" pitchFamily="34" charset="0"/>
                  <a:ea typeface="微软雅黑" panose="020B0503020204020204" pitchFamily="34" charset="-122"/>
                </a:rPr>
                <a:t>如是第一个，则要更新父结点的相应键值</a:t>
              </a:r>
              <a:endParaRPr lang="zh-CN" altLang="en-US" sz="1600" dirty="0">
                <a:solidFill>
                  <a:srgbClr val="CC0000"/>
                </a:solidFill>
                <a:latin typeface="Arial" panose="020B0604020202020204" pitchFamily="34" charset="0"/>
                <a:ea typeface="微软雅黑" panose="020B0503020204020204" pitchFamily="34" charset="-122"/>
              </a:endParaRPr>
            </a:p>
          </p:txBody>
        </p:sp>
      </p:grpSp>
      <p:sp>
        <p:nvSpPr>
          <p:cNvPr id="10" name="灯片编号占位符 9"/>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checkerboard(across)">
                                      <p:cBhvr>
                                        <p:cTn id="7" dur="500"/>
                                        <p:tgtEl>
                                          <p:spTgt spid="11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checkerboard(across)">
                                      <p:cBhvr>
                                        <p:cTn id="12" dur="500"/>
                                        <p:tgtEl>
                                          <p:spTgt spid="11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0"/>
                                        </p:tgtEl>
                                        <p:attrNameLst>
                                          <p:attrName>style.visibility</p:attrName>
                                        </p:attrNameLst>
                                      </p:cBhvr>
                                      <p:to>
                                        <p:strVal val="visible"/>
                                      </p:to>
                                    </p:set>
                                    <p:anim calcmode="lin" valueType="num">
                                      <p:cBhvr additive="base">
                                        <p:cTn id="17" dur="500" fill="hold"/>
                                        <p:tgtEl>
                                          <p:spTgt spid="120"/>
                                        </p:tgtEl>
                                        <p:attrNameLst>
                                          <p:attrName>ppt_x</p:attrName>
                                        </p:attrNameLst>
                                      </p:cBhvr>
                                      <p:tavLst>
                                        <p:tav tm="0">
                                          <p:val>
                                            <p:strVal val="#ppt_x"/>
                                          </p:val>
                                        </p:tav>
                                        <p:tav tm="100000">
                                          <p:val>
                                            <p:strVal val="#ppt_x"/>
                                          </p:val>
                                        </p:tav>
                                      </p:tavLst>
                                    </p:anim>
                                    <p:anim calcmode="lin" valueType="num">
                                      <p:cBhvr additive="base">
                                        <p:cTn id="18"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bldLvl="0" animBg="1"/>
      <p:bldP spid="119" grpId="0" bldLvl="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(6) </a:t>
            </a:r>
            <a:r>
              <a:rPr lang="zh-CN" altLang="en-US" sz="2600" dirty="0">
                <a:latin typeface="微软雅黑" panose="020B0503020204020204" pitchFamily="34" charset="-122"/>
                <a:ea typeface="微软雅黑" panose="020B0503020204020204" pitchFamily="34" charset="-122"/>
              </a:rPr>
              <a:t>复杂删除</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latin typeface="微软雅黑" panose="020B0503020204020204" pitchFamily="34" charset="-122"/>
                <a:ea typeface="微软雅黑" panose="020B0503020204020204" pitchFamily="34" charset="-122"/>
              </a:rPr>
              <a:t>键值为</a:t>
            </a:r>
            <a:r>
              <a:rPr lang="en-US" altLang="zh-CN" sz="2000" b="0" dirty="0">
                <a:latin typeface="微软雅黑" panose="020B0503020204020204" pitchFamily="34" charset="-122"/>
                <a:ea typeface="微软雅黑" panose="020B0503020204020204" pitchFamily="34" charset="-122"/>
              </a:rPr>
              <a:t>30</a:t>
            </a:r>
            <a:r>
              <a:rPr lang="zh-CN" altLang="en-US" sz="2000" b="0" dirty="0">
                <a:latin typeface="微软雅黑" panose="020B0503020204020204" pitchFamily="34" charset="-122"/>
                <a:ea typeface="微软雅黑" panose="020B0503020204020204" pitchFamily="34" charset="-122"/>
              </a:rPr>
              <a:t>的记录删除后，问题：删除键值为</a:t>
            </a:r>
            <a:r>
              <a:rPr lang="en-US" altLang="zh-CN" sz="2000" b="0" dirty="0">
                <a:latin typeface="微软雅黑" panose="020B0503020204020204" pitchFamily="34" charset="-122"/>
                <a:ea typeface="微软雅黑" panose="020B0503020204020204" pitchFamily="34" charset="-122"/>
              </a:rPr>
              <a:t>25</a:t>
            </a:r>
            <a:r>
              <a:rPr lang="zh-CN" altLang="en-US" sz="2000" b="0" dirty="0">
                <a:latin typeface="微软雅黑" panose="020B0503020204020204" pitchFamily="34" charset="-122"/>
                <a:ea typeface="微软雅黑" panose="020B0503020204020204" pitchFamily="34" charset="-122"/>
              </a:rPr>
              <a:t>的记录</a:t>
            </a:r>
            <a:endParaRPr lang="zh-CN" altLang="en-US" sz="2000" b="0" dirty="0">
              <a:latin typeface="微软雅黑" panose="020B0503020204020204" pitchFamily="34" charset="-122"/>
              <a:ea typeface="微软雅黑" panose="020B0503020204020204" pitchFamily="34" charset="-122"/>
            </a:endParaRPr>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zh-CN" altLang="en-US" dirty="0"/>
              <a:t>分裂与合并过程再示例</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114" name="Group 2"/>
          <p:cNvGraphicFramePr>
            <a:graphicFrameLocks noGrp="1"/>
          </p:cNvGraphicFramePr>
          <p:nvPr/>
        </p:nvGraphicFramePr>
        <p:xfrm>
          <a:off x="4070159" y="233680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15" name="Group 24"/>
          <p:cNvGraphicFramePr>
            <a:graphicFrameLocks noGrp="1"/>
          </p:cNvGraphicFramePr>
          <p:nvPr/>
        </p:nvGraphicFramePr>
        <p:xfrm>
          <a:off x="2241359" y="325120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24" name="Group 46"/>
          <p:cNvGraphicFramePr>
            <a:graphicFrameLocks noGrp="1"/>
          </p:cNvGraphicFramePr>
          <p:nvPr/>
        </p:nvGraphicFramePr>
        <p:xfrm>
          <a:off x="5670359" y="325120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25" name="Group 68"/>
          <p:cNvGraphicFramePr>
            <a:graphicFrameLocks noGrp="1"/>
          </p:cNvGraphicFramePr>
          <p:nvPr/>
        </p:nvGraphicFramePr>
        <p:xfrm>
          <a:off x="793559" y="46990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26" name="Group 90"/>
          <p:cNvGraphicFramePr>
            <a:graphicFrameLocks noGrp="1"/>
          </p:cNvGraphicFramePr>
          <p:nvPr/>
        </p:nvGraphicFramePr>
        <p:xfrm>
          <a:off x="2622359" y="4699000"/>
          <a:ext cx="1537018" cy="685800"/>
        </p:xfrm>
        <a:graphic>
          <a:graphicData uri="http://schemas.openxmlformats.org/drawingml/2006/table">
            <a:tbl>
              <a:tblPr/>
              <a:tblGrid>
                <a:gridCol w="223838"/>
                <a:gridCol w="185737"/>
                <a:gridCol w="185738"/>
                <a:gridCol w="185737"/>
                <a:gridCol w="182563"/>
                <a:gridCol w="182562"/>
                <a:gridCol w="182563"/>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25</a:t>
                      </a:r>
                      <a:endPar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27" name="Group 112"/>
          <p:cNvGraphicFramePr>
            <a:graphicFrameLocks noGrp="1"/>
          </p:cNvGraphicFramePr>
          <p:nvPr/>
        </p:nvGraphicFramePr>
        <p:xfrm>
          <a:off x="5898959" y="46990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28" name="Group 134"/>
          <p:cNvGraphicFramePr>
            <a:graphicFrameLocks noGrp="1"/>
          </p:cNvGraphicFramePr>
          <p:nvPr/>
        </p:nvGraphicFramePr>
        <p:xfrm>
          <a:off x="7651559" y="469900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9" name="Line 156"/>
          <p:cNvSpPr/>
          <p:nvPr/>
        </p:nvSpPr>
        <p:spPr>
          <a:xfrm flipH="1">
            <a:off x="2241359" y="2870200"/>
            <a:ext cx="1981200" cy="381000"/>
          </a:xfrm>
          <a:prstGeom prst="line">
            <a:avLst/>
          </a:prstGeom>
          <a:ln w="9525" cap="flat" cmpd="sng">
            <a:solidFill>
              <a:schemeClr val="tx1"/>
            </a:solidFill>
            <a:prstDash val="solid"/>
            <a:round/>
            <a:headEnd type="none" w="med" len="med"/>
            <a:tailEnd type="triangle" w="med" len="med"/>
          </a:ln>
        </p:spPr>
      </p:sp>
      <p:sp>
        <p:nvSpPr>
          <p:cNvPr id="130" name="Line 157"/>
          <p:cNvSpPr/>
          <p:nvPr/>
        </p:nvSpPr>
        <p:spPr>
          <a:xfrm>
            <a:off x="4603559" y="2870200"/>
            <a:ext cx="1066800" cy="381000"/>
          </a:xfrm>
          <a:prstGeom prst="line">
            <a:avLst/>
          </a:prstGeom>
          <a:ln w="9525" cap="flat" cmpd="sng">
            <a:solidFill>
              <a:schemeClr val="tx1"/>
            </a:solidFill>
            <a:prstDash val="solid"/>
            <a:round/>
            <a:headEnd type="none" w="med" len="med"/>
            <a:tailEnd type="triangle" w="med" len="med"/>
          </a:ln>
        </p:spPr>
      </p:sp>
      <p:sp>
        <p:nvSpPr>
          <p:cNvPr id="131" name="Line 158"/>
          <p:cNvSpPr/>
          <p:nvPr/>
        </p:nvSpPr>
        <p:spPr>
          <a:xfrm flipH="1">
            <a:off x="1326959" y="3784600"/>
            <a:ext cx="1066800" cy="914400"/>
          </a:xfrm>
          <a:prstGeom prst="line">
            <a:avLst/>
          </a:prstGeom>
          <a:ln w="9525" cap="flat" cmpd="sng">
            <a:solidFill>
              <a:schemeClr val="tx1"/>
            </a:solidFill>
            <a:prstDash val="solid"/>
            <a:round/>
            <a:headEnd type="none" w="med" len="med"/>
            <a:tailEnd type="triangle" w="med" len="med"/>
          </a:ln>
        </p:spPr>
      </p:sp>
      <p:sp>
        <p:nvSpPr>
          <p:cNvPr id="132" name="Line 159"/>
          <p:cNvSpPr/>
          <p:nvPr/>
        </p:nvSpPr>
        <p:spPr>
          <a:xfrm>
            <a:off x="2774759" y="3784600"/>
            <a:ext cx="381000" cy="914400"/>
          </a:xfrm>
          <a:prstGeom prst="line">
            <a:avLst/>
          </a:prstGeom>
          <a:ln w="9525" cap="flat" cmpd="sng">
            <a:solidFill>
              <a:schemeClr val="tx1"/>
            </a:solidFill>
            <a:prstDash val="solid"/>
            <a:round/>
            <a:headEnd type="none" w="med" len="med"/>
            <a:tailEnd type="triangle" w="med" len="med"/>
          </a:ln>
        </p:spPr>
      </p:sp>
      <p:sp>
        <p:nvSpPr>
          <p:cNvPr id="133" name="Line 160"/>
          <p:cNvSpPr/>
          <p:nvPr/>
        </p:nvSpPr>
        <p:spPr>
          <a:xfrm>
            <a:off x="3765359" y="3784600"/>
            <a:ext cx="2133600" cy="914400"/>
          </a:xfrm>
          <a:prstGeom prst="line">
            <a:avLst/>
          </a:prstGeom>
          <a:ln w="9525" cap="flat" cmpd="sng">
            <a:solidFill>
              <a:schemeClr val="tx1"/>
            </a:solidFill>
            <a:prstDash val="solid"/>
            <a:round/>
            <a:headEnd type="none" w="med" len="med"/>
            <a:tailEnd type="triangle" w="med" len="med"/>
          </a:ln>
        </p:spPr>
      </p:sp>
      <p:sp>
        <p:nvSpPr>
          <p:cNvPr id="134" name="Line 161"/>
          <p:cNvSpPr/>
          <p:nvPr/>
        </p:nvSpPr>
        <p:spPr>
          <a:xfrm>
            <a:off x="5822759" y="3784600"/>
            <a:ext cx="1828800" cy="914400"/>
          </a:xfrm>
          <a:prstGeom prst="line">
            <a:avLst/>
          </a:prstGeom>
          <a:ln w="9525" cap="flat" cmpd="sng">
            <a:solidFill>
              <a:schemeClr val="tx1"/>
            </a:solidFill>
            <a:prstDash val="solid"/>
            <a:round/>
            <a:headEnd type="none" w="med" len="med"/>
            <a:tailEnd type="triangle" w="med" len="med"/>
          </a:ln>
        </p:spPr>
      </p:sp>
      <p:sp>
        <p:nvSpPr>
          <p:cNvPr id="135" name="Line 162"/>
          <p:cNvSpPr/>
          <p:nvPr/>
        </p:nvSpPr>
        <p:spPr>
          <a:xfrm>
            <a:off x="6203759" y="3784600"/>
            <a:ext cx="2438400" cy="838200"/>
          </a:xfrm>
          <a:prstGeom prst="line">
            <a:avLst/>
          </a:prstGeom>
          <a:ln w="9525" cap="flat" cmpd="sng">
            <a:solidFill>
              <a:schemeClr val="tx1"/>
            </a:solidFill>
            <a:prstDash val="solid"/>
            <a:round/>
            <a:headEnd type="none" w="med" len="med"/>
            <a:tailEnd type="triangle" w="med" len="med"/>
          </a:ln>
        </p:spPr>
      </p:sp>
      <p:sp>
        <p:nvSpPr>
          <p:cNvPr id="136" name="Line 163"/>
          <p:cNvSpPr/>
          <p:nvPr/>
        </p:nvSpPr>
        <p:spPr>
          <a:xfrm>
            <a:off x="6813359" y="3860800"/>
            <a:ext cx="2362200" cy="838200"/>
          </a:xfrm>
          <a:prstGeom prst="line">
            <a:avLst/>
          </a:prstGeom>
          <a:ln w="9525" cap="flat" cmpd="sng">
            <a:solidFill>
              <a:schemeClr val="tx1"/>
            </a:solidFill>
            <a:prstDash val="solid"/>
            <a:round/>
            <a:headEnd type="none" w="med" len="med"/>
            <a:tailEnd type="triangle" w="med" len="med"/>
          </a:ln>
        </p:spPr>
      </p:sp>
      <p:sp>
        <p:nvSpPr>
          <p:cNvPr id="137" name="Line 164"/>
          <p:cNvSpPr/>
          <p:nvPr/>
        </p:nvSpPr>
        <p:spPr>
          <a:xfrm>
            <a:off x="7346759" y="3784600"/>
            <a:ext cx="2209800" cy="838200"/>
          </a:xfrm>
          <a:prstGeom prst="line">
            <a:avLst/>
          </a:prstGeom>
          <a:ln w="9525" cap="flat" cmpd="sng">
            <a:solidFill>
              <a:schemeClr val="tx1"/>
            </a:solidFill>
            <a:prstDash val="solid"/>
            <a:round/>
            <a:headEnd type="none" w="med" len="med"/>
            <a:tailEnd type="triangle" w="med" len="med"/>
          </a:ln>
        </p:spPr>
      </p:sp>
      <p:sp>
        <p:nvSpPr>
          <p:cNvPr id="138" name="Line 165"/>
          <p:cNvSpPr/>
          <p:nvPr/>
        </p:nvSpPr>
        <p:spPr>
          <a:xfrm>
            <a:off x="2317559" y="5232400"/>
            <a:ext cx="304800" cy="0"/>
          </a:xfrm>
          <a:prstGeom prst="line">
            <a:avLst/>
          </a:prstGeom>
          <a:ln w="9525" cap="flat" cmpd="sng">
            <a:solidFill>
              <a:schemeClr val="tx1"/>
            </a:solidFill>
            <a:prstDash val="solid"/>
            <a:round/>
            <a:headEnd type="none" w="med" len="med"/>
            <a:tailEnd type="triangle" w="med" len="med"/>
          </a:ln>
        </p:spPr>
      </p:sp>
      <p:sp>
        <p:nvSpPr>
          <p:cNvPr id="139" name="Line 166"/>
          <p:cNvSpPr/>
          <p:nvPr/>
        </p:nvSpPr>
        <p:spPr>
          <a:xfrm>
            <a:off x="4070159" y="5232400"/>
            <a:ext cx="304800" cy="0"/>
          </a:xfrm>
          <a:prstGeom prst="line">
            <a:avLst/>
          </a:prstGeom>
          <a:ln w="9525" cap="flat" cmpd="sng">
            <a:solidFill>
              <a:schemeClr val="tx1"/>
            </a:solidFill>
            <a:prstDash val="solid"/>
            <a:round/>
            <a:headEnd type="none" w="med" len="med"/>
            <a:tailEnd type="triangle" w="med" len="med"/>
          </a:ln>
        </p:spPr>
      </p:sp>
      <p:sp>
        <p:nvSpPr>
          <p:cNvPr id="140" name="Line 167"/>
          <p:cNvSpPr/>
          <p:nvPr/>
        </p:nvSpPr>
        <p:spPr>
          <a:xfrm>
            <a:off x="6813359" y="5232400"/>
            <a:ext cx="228600" cy="0"/>
          </a:xfrm>
          <a:prstGeom prst="line">
            <a:avLst/>
          </a:prstGeom>
          <a:ln w="9525" cap="flat" cmpd="sng">
            <a:solidFill>
              <a:schemeClr val="tx1"/>
            </a:solidFill>
            <a:prstDash val="solid"/>
            <a:round/>
            <a:headEnd type="none" w="med" len="med"/>
            <a:tailEnd type="triangle" w="med" len="med"/>
          </a:ln>
        </p:spPr>
      </p:sp>
      <p:sp>
        <p:nvSpPr>
          <p:cNvPr id="141" name="Rectangle 168"/>
          <p:cNvSpPr/>
          <p:nvPr/>
        </p:nvSpPr>
        <p:spPr>
          <a:xfrm>
            <a:off x="793559" y="60706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10</a:t>
            </a:r>
            <a:endParaRPr lang="en-US" altLang="zh-CN" sz="1400" b="0" dirty="0">
              <a:latin typeface="Times New Roman" panose="02020603050405020304" pitchFamily="18" charset="0"/>
              <a:ea typeface="宋体" panose="02010600030101010101" pitchFamily="2" charset="-122"/>
            </a:endParaRPr>
          </a:p>
        </p:txBody>
      </p:sp>
      <p:sp>
        <p:nvSpPr>
          <p:cNvPr id="142" name="Rectangle 169"/>
          <p:cNvSpPr/>
          <p:nvPr/>
        </p:nvSpPr>
        <p:spPr>
          <a:xfrm>
            <a:off x="1326959" y="60706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15</a:t>
            </a:r>
            <a:endParaRPr lang="en-US" altLang="zh-CN" sz="1400" b="0" dirty="0">
              <a:latin typeface="Times New Roman" panose="02020603050405020304" pitchFamily="18" charset="0"/>
              <a:ea typeface="宋体" panose="02010600030101010101" pitchFamily="2" charset="-122"/>
            </a:endParaRPr>
          </a:p>
        </p:txBody>
      </p:sp>
      <p:sp>
        <p:nvSpPr>
          <p:cNvPr id="143" name="Rectangle 170"/>
          <p:cNvSpPr/>
          <p:nvPr/>
        </p:nvSpPr>
        <p:spPr>
          <a:xfrm>
            <a:off x="1784159" y="60706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18</a:t>
            </a:r>
            <a:endParaRPr lang="en-US" altLang="zh-CN" sz="1400" b="0" dirty="0">
              <a:latin typeface="Times New Roman" panose="02020603050405020304" pitchFamily="18" charset="0"/>
              <a:ea typeface="宋体" panose="02010600030101010101" pitchFamily="2" charset="-122"/>
            </a:endParaRPr>
          </a:p>
        </p:txBody>
      </p:sp>
      <p:sp>
        <p:nvSpPr>
          <p:cNvPr id="144" name="Rectangle 171"/>
          <p:cNvSpPr/>
          <p:nvPr/>
        </p:nvSpPr>
        <p:spPr>
          <a:xfrm>
            <a:off x="2622359" y="60706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20</a:t>
            </a:r>
            <a:endParaRPr lang="en-US" altLang="zh-CN" sz="1400" b="0" dirty="0">
              <a:latin typeface="Times New Roman" panose="02020603050405020304" pitchFamily="18" charset="0"/>
              <a:ea typeface="宋体" panose="02010600030101010101" pitchFamily="2" charset="-122"/>
            </a:endParaRPr>
          </a:p>
        </p:txBody>
      </p:sp>
      <p:sp>
        <p:nvSpPr>
          <p:cNvPr id="145" name="Rectangle 172"/>
          <p:cNvSpPr/>
          <p:nvPr/>
        </p:nvSpPr>
        <p:spPr>
          <a:xfrm>
            <a:off x="3079559" y="6070600"/>
            <a:ext cx="371475" cy="314325"/>
          </a:xfrm>
          <a:prstGeom prst="rect">
            <a:avLst/>
          </a:prstGeom>
          <a:noFill/>
          <a:ln w="9525" cap="flat" cmpd="sng">
            <a:solidFill>
              <a:srgbClr val="CC0000"/>
            </a:solidFill>
            <a:prstDash val="solid"/>
            <a:miter/>
            <a:headEnd type="none" w="med" len="med"/>
            <a:tailEnd type="none" w="med" len="med"/>
          </a:ln>
        </p:spPr>
        <p:txBody>
          <a:bodyPr wrap="none" anchor="ctr">
            <a:spAutoFit/>
          </a:bodyPr>
          <a:lstStyle/>
          <a:p>
            <a:pPr algn="ctr"/>
            <a:r>
              <a:rPr lang="en-US" altLang="zh-CN" sz="1400" b="0" dirty="0">
                <a:solidFill>
                  <a:srgbClr val="CC0000"/>
                </a:solidFill>
                <a:latin typeface="Times New Roman" panose="02020603050405020304" pitchFamily="18" charset="0"/>
                <a:ea typeface="宋体" panose="02010600030101010101" pitchFamily="2" charset="-122"/>
              </a:rPr>
              <a:t>25</a:t>
            </a:r>
            <a:endParaRPr lang="en-US" altLang="zh-CN" sz="1400" b="0" dirty="0">
              <a:solidFill>
                <a:srgbClr val="CC0000"/>
              </a:solidFill>
              <a:latin typeface="Times New Roman" panose="02020603050405020304" pitchFamily="18" charset="0"/>
              <a:ea typeface="宋体" panose="02010600030101010101" pitchFamily="2" charset="-122"/>
            </a:endParaRPr>
          </a:p>
        </p:txBody>
      </p:sp>
      <p:sp>
        <p:nvSpPr>
          <p:cNvPr id="146" name="Rectangle 173"/>
          <p:cNvSpPr/>
          <p:nvPr/>
        </p:nvSpPr>
        <p:spPr>
          <a:xfrm>
            <a:off x="3993959" y="60706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40</a:t>
            </a:r>
            <a:endParaRPr lang="en-US" altLang="zh-CN" sz="1400" b="0" dirty="0">
              <a:latin typeface="Times New Roman" panose="02020603050405020304" pitchFamily="18" charset="0"/>
              <a:ea typeface="宋体" panose="02010600030101010101" pitchFamily="2" charset="-122"/>
            </a:endParaRPr>
          </a:p>
        </p:txBody>
      </p:sp>
      <p:sp>
        <p:nvSpPr>
          <p:cNvPr id="147" name="Rectangle 174"/>
          <p:cNvSpPr/>
          <p:nvPr/>
        </p:nvSpPr>
        <p:spPr>
          <a:xfrm>
            <a:off x="6051359" y="60706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60</a:t>
            </a:r>
            <a:endParaRPr lang="en-US" altLang="zh-CN" sz="1400" b="0" dirty="0">
              <a:latin typeface="Times New Roman" panose="02020603050405020304" pitchFamily="18" charset="0"/>
              <a:ea typeface="宋体" panose="02010600030101010101" pitchFamily="2" charset="-122"/>
            </a:endParaRPr>
          </a:p>
        </p:txBody>
      </p:sp>
      <p:sp>
        <p:nvSpPr>
          <p:cNvPr id="148" name="Rectangle 175"/>
          <p:cNvSpPr/>
          <p:nvPr/>
        </p:nvSpPr>
        <p:spPr>
          <a:xfrm>
            <a:off x="6508559" y="60706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65</a:t>
            </a:r>
            <a:endParaRPr lang="en-US" altLang="zh-CN" sz="1400" b="0" dirty="0">
              <a:latin typeface="Times New Roman" panose="02020603050405020304" pitchFamily="18" charset="0"/>
              <a:ea typeface="宋体" panose="02010600030101010101" pitchFamily="2" charset="-122"/>
            </a:endParaRPr>
          </a:p>
        </p:txBody>
      </p:sp>
      <p:sp>
        <p:nvSpPr>
          <p:cNvPr id="149" name="Rectangle 176"/>
          <p:cNvSpPr/>
          <p:nvPr/>
        </p:nvSpPr>
        <p:spPr>
          <a:xfrm>
            <a:off x="6965759" y="60706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80</a:t>
            </a:r>
            <a:endParaRPr lang="en-US" altLang="zh-CN" sz="1400" b="0" dirty="0">
              <a:latin typeface="Times New Roman" panose="02020603050405020304" pitchFamily="18" charset="0"/>
              <a:ea typeface="宋体" panose="02010600030101010101" pitchFamily="2" charset="-122"/>
            </a:endParaRPr>
          </a:p>
        </p:txBody>
      </p:sp>
      <p:sp>
        <p:nvSpPr>
          <p:cNvPr id="150" name="Rectangle 177"/>
          <p:cNvSpPr/>
          <p:nvPr/>
        </p:nvSpPr>
        <p:spPr>
          <a:xfrm>
            <a:off x="7499159" y="60706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85</a:t>
            </a:r>
            <a:endParaRPr lang="en-US" altLang="zh-CN" sz="1400" b="0" dirty="0">
              <a:latin typeface="Times New Roman" panose="02020603050405020304" pitchFamily="18" charset="0"/>
              <a:ea typeface="宋体" panose="02010600030101010101" pitchFamily="2" charset="-122"/>
            </a:endParaRPr>
          </a:p>
        </p:txBody>
      </p:sp>
      <p:sp>
        <p:nvSpPr>
          <p:cNvPr id="151" name="Rectangle 178"/>
          <p:cNvSpPr/>
          <p:nvPr/>
        </p:nvSpPr>
        <p:spPr>
          <a:xfrm>
            <a:off x="8032559" y="60706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90</a:t>
            </a:r>
            <a:endParaRPr lang="en-US" altLang="zh-CN" sz="1400" b="0" dirty="0">
              <a:latin typeface="Times New Roman" panose="02020603050405020304" pitchFamily="18" charset="0"/>
              <a:ea typeface="宋体" panose="02010600030101010101" pitchFamily="2" charset="-122"/>
            </a:endParaRPr>
          </a:p>
        </p:txBody>
      </p:sp>
      <p:sp>
        <p:nvSpPr>
          <p:cNvPr id="152" name="Line 179"/>
          <p:cNvSpPr/>
          <p:nvPr/>
        </p:nvSpPr>
        <p:spPr>
          <a:xfrm flipH="1">
            <a:off x="793559" y="5232400"/>
            <a:ext cx="152400" cy="838200"/>
          </a:xfrm>
          <a:prstGeom prst="line">
            <a:avLst/>
          </a:prstGeom>
          <a:ln w="9525" cap="flat" cmpd="sng">
            <a:solidFill>
              <a:schemeClr val="tx1"/>
            </a:solidFill>
            <a:prstDash val="solid"/>
            <a:round/>
            <a:headEnd type="none" w="med" len="med"/>
            <a:tailEnd type="triangle" w="med" len="med"/>
          </a:ln>
        </p:spPr>
      </p:sp>
      <p:sp>
        <p:nvSpPr>
          <p:cNvPr id="153" name="Line 180"/>
          <p:cNvSpPr/>
          <p:nvPr/>
        </p:nvSpPr>
        <p:spPr>
          <a:xfrm>
            <a:off x="1250759" y="5232400"/>
            <a:ext cx="76200" cy="838200"/>
          </a:xfrm>
          <a:prstGeom prst="line">
            <a:avLst/>
          </a:prstGeom>
          <a:ln w="9525" cap="flat" cmpd="sng">
            <a:solidFill>
              <a:schemeClr val="tx1"/>
            </a:solidFill>
            <a:prstDash val="solid"/>
            <a:round/>
            <a:headEnd type="none" w="med" len="med"/>
            <a:tailEnd type="triangle" w="med" len="med"/>
          </a:ln>
        </p:spPr>
      </p:sp>
      <p:sp>
        <p:nvSpPr>
          <p:cNvPr id="154" name="Line 181"/>
          <p:cNvSpPr/>
          <p:nvPr/>
        </p:nvSpPr>
        <p:spPr>
          <a:xfrm>
            <a:off x="1631759" y="5232400"/>
            <a:ext cx="228600" cy="838200"/>
          </a:xfrm>
          <a:prstGeom prst="line">
            <a:avLst/>
          </a:prstGeom>
          <a:ln w="9525" cap="flat" cmpd="sng">
            <a:solidFill>
              <a:schemeClr val="tx1"/>
            </a:solidFill>
            <a:prstDash val="solid"/>
            <a:round/>
            <a:headEnd type="none" w="med" len="med"/>
            <a:tailEnd type="triangle" w="med" len="med"/>
          </a:ln>
        </p:spPr>
      </p:sp>
      <p:sp>
        <p:nvSpPr>
          <p:cNvPr id="155" name="Line 182"/>
          <p:cNvSpPr/>
          <p:nvPr/>
        </p:nvSpPr>
        <p:spPr>
          <a:xfrm flipH="1">
            <a:off x="2698559" y="5232400"/>
            <a:ext cx="76200" cy="838200"/>
          </a:xfrm>
          <a:prstGeom prst="line">
            <a:avLst/>
          </a:prstGeom>
          <a:ln w="9525" cap="flat" cmpd="sng">
            <a:solidFill>
              <a:schemeClr val="tx1"/>
            </a:solidFill>
            <a:prstDash val="solid"/>
            <a:round/>
            <a:headEnd type="none" w="med" len="med"/>
            <a:tailEnd type="triangle" w="med" len="med"/>
          </a:ln>
        </p:spPr>
      </p:sp>
      <p:sp>
        <p:nvSpPr>
          <p:cNvPr id="156" name="Line 183"/>
          <p:cNvSpPr/>
          <p:nvPr/>
        </p:nvSpPr>
        <p:spPr>
          <a:xfrm>
            <a:off x="3079559" y="5232400"/>
            <a:ext cx="0" cy="838200"/>
          </a:xfrm>
          <a:prstGeom prst="line">
            <a:avLst/>
          </a:prstGeom>
          <a:ln w="9525" cap="flat" cmpd="sng">
            <a:solidFill>
              <a:schemeClr val="tx1"/>
            </a:solidFill>
            <a:prstDash val="solid"/>
            <a:round/>
            <a:headEnd type="none" w="med" len="med"/>
            <a:tailEnd type="triangle" w="med" len="med"/>
          </a:ln>
        </p:spPr>
      </p:sp>
      <p:sp>
        <p:nvSpPr>
          <p:cNvPr id="157" name="Line 184"/>
          <p:cNvSpPr/>
          <p:nvPr/>
        </p:nvSpPr>
        <p:spPr>
          <a:xfrm flipH="1">
            <a:off x="4070159" y="5232400"/>
            <a:ext cx="381000" cy="838200"/>
          </a:xfrm>
          <a:prstGeom prst="line">
            <a:avLst/>
          </a:prstGeom>
          <a:ln w="9525" cap="flat" cmpd="sng">
            <a:solidFill>
              <a:schemeClr val="tx1"/>
            </a:solidFill>
            <a:prstDash val="solid"/>
            <a:round/>
            <a:headEnd type="none" w="med" len="med"/>
            <a:tailEnd type="triangle" w="med" len="med"/>
          </a:ln>
        </p:spPr>
      </p:sp>
      <p:sp>
        <p:nvSpPr>
          <p:cNvPr id="158" name="Line 185"/>
          <p:cNvSpPr/>
          <p:nvPr/>
        </p:nvSpPr>
        <p:spPr>
          <a:xfrm>
            <a:off x="6051359" y="5232400"/>
            <a:ext cx="0" cy="838200"/>
          </a:xfrm>
          <a:prstGeom prst="line">
            <a:avLst/>
          </a:prstGeom>
          <a:ln w="9525" cap="flat" cmpd="sng">
            <a:solidFill>
              <a:schemeClr val="tx1"/>
            </a:solidFill>
            <a:prstDash val="solid"/>
            <a:round/>
            <a:headEnd type="none" w="med" len="med"/>
            <a:tailEnd type="triangle" w="med" len="med"/>
          </a:ln>
        </p:spPr>
      </p:sp>
      <p:sp>
        <p:nvSpPr>
          <p:cNvPr id="159" name="Line 186"/>
          <p:cNvSpPr/>
          <p:nvPr/>
        </p:nvSpPr>
        <p:spPr>
          <a:xfrm>
            <a:off x="6279959" y="5156200"/>
            <a:ext cx="228600" cy="914400"/>
          </a:xfrm>
          <a:prstGeom prst="line">
            <a:avLst/>
          </a:prstGeom>
          <a:ln w="9525" cap="flat" cmpd="sng">
            <a:solidFill>
              <a:schemeClr val="tx1"/>
            </a:solidFill>
            <a:prstDash val="solid"/>
            <a:round/>
            <a:headEnd type="none" w="med" len="med"/>
            <a:tailEnd type="triangle" w="med" len="med"/>
          </a:ln>
        </p:spPr>
      </p:sp>
      <p:sp>
        <p:nvSpPr>
          <p:cNvPr id="160" name="Line 187"/>
          <p:cNvSpPr/>
          <p:nvPr/>
        </p:nvSpPr>
        <p:spPr>
          <a:xfrm flipH="1">
            <a:off x="6965759" y="5232400"/>
            <a:ext cx="838200" cy="838200"/>
          </a:xfrm>
          <a:prstGeom prst="line">
            <a:avLst/>
          </a:prstGeom>
          <a:ln w="9525" cap="flat" cmpd="sng">
            <a:solidFill>
              <a:schemeClr val="tx1"/>
            </a:solidFill>
            <a:prstDash val="solid"/>
            <a:round/>
            <a:headEnd type="none" w="med" len="med"/>
            <a:tailEnd type="triangle" w="med" len="med"/>
          </a:ln>
        </p:spPr>
      </p:sp>
      <p:sp>
        <p:nvSpPr>
          <p:cNvPr id="161" name="Line 188"/>
          <p:cNvSpPr/>
          <p:nvPr/>
        </p:nvSpPr>
        <p:spPr>
          <a:xfrm flipH="1">
            <a:off x="7499159" y="5232400"/>
            <a:ext cx="609600" cy="838200"/>
          </a:xfrm>
          <a:prstGeom prst="line">
            <a:avLst/>
          </a:prstGeom>
          <a:ln w="9525" cap="flat" cmpd="sng">
            <a:solidFill>
              <a:schemeClr val="tx1"/>
            </a:solidFill>
            <a:prstDash val="solid"/>
            <a:round/>
            <a:headEnd type="none" w="med" len="med"/>
            <a:tailEnd type="triangle" w="med" len="med"/>
          </a:ln>
        </p:spPr>
      </p:sp>
      <p:sp>
        <p:nvSpPr>
          <p:cNvPr id="162" name="Line 189"/>
          <p:cNvSpPr/>
          <p:nvPr/>
        </p:nvSpPr>
        <p:spPr>
          <a:xfrm flipH="1">
            <a:off x="8032559" y="5232400"/>
            <a:ext cx="457200" cy="838200"/>
          </a:xfrm>
          <a:prstGeom prst="line">
            <a:avLst/>
          </a:prstGeom>
          <a:ln w="9525" cap="flat" cmpd="sng">
            <a:solidFill>
              <a:schemeClr val="tx1"/>
            </a:solidFill>
            <a:prstDash val="solid"/>
            <a:round/>
            <a:headEnd type="none" w="med" len="med"/>
            <a:tailEnd type="triangle" w="med" len="med"/>
          </a:ln>
        </p:spPr>
      </p:sp>
      <p:sp>
        <p:nvSpPr>
          <p:cNvPr id="163" name="Line 190"/>
          <p:cNvSpPr/>
          <p:nvPr/>
        </p:nvSpPr>
        <p:spPr>
          <a:xfrm>
            <a:off x="8565959" y="5232400"/>
            <a:ext cx="304800" cy="0"/>
          </a:xfrm>
          <a:prstGeom prst="line">
            <a:avLst/>
          </a:prstGeom>
          <a:ln w="9525" cap="flat" cmpd="sng">
            <a:solidFill>
              <a:schemeClr val="tx1"/>
            </a:solidFill>
            <a:prstDash val="solid"/>
            <a:round/>
            <a:headEnd type="none" w="med" len="med"/>
            <a:tailEnd type="triangle" w="med" len="med"/>
          </a:ln>
        </p:spPr>
      </p:sp>
      <p:sp>
        <p:nvSpPr>
          <p:cNvPr id="164" name="Rectangle 191"/>
          <p:cNvSpPr/>
          <p:nvPr/>
        </p:nvSpPr>
        <p:spPr>
          <a:xfrm>
            <a:off x="2203259" y="60706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19</a:t>
            </a:r>
            <a:endParaRPr lang="en-US" altLang="zh-CN" sz="1400" b="0" dirty="0">
              <a:latin typeface="Times New Roman" panose="02020603050405020304" pitchFamily="18" charset="0"/>
              <a:ea typeface="宋体" panose="02010600030101010101" pitchFamily="2" charset="-122"/>
            </a:endParaRPr>
          </a:p>
        </p:txBody>
      </p:sp>
      <p:sp>
        <p:nvSpPr>
          <p:cNvPr id="165" name="Line 192"/>
          <p:cNvSpPr/>
          <p:nvPr/>
        </p:nvSpPr>
        <p:spPr>
          <a:xfrm>
            <a:off x="2012759" y="5232400"/>
            <a:ext cx="228600" cy="762000"/>
          </a:xfrm>
          <a:prstGeom prst="line">
            <a:avLst/>
          </a:prstGeom>
          <a:ln w="9525" cap="flat" cmpd="sng">
            <a:solidFill>
              <a:schemeClr val="tx1"/>
            </a:solidFill>
            <a:prstDash val="solid"/>
            <a:round/>
            <a:headEnd type="none" w="med" len="med"/>
            <a:tailEnd type="triangle" w="med" len="med"/>
          </a:ln>
        </p:spPr>
      </p:sp>
      <p:sp>
        <p:nvSpPr>
          <p:cNvPr id="166" name="Rectangle 194"/>
          <p:cNvSpPr/>
          <p:nvPr/>
        </p:nvSpPr>
        <p:spPr>
          <a:xfrm>
            <a:off x="5594159" y="607060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50</a:t>
            </a:r>
            <a:endParaRPr lang="en-US" altLang="zh-CN" sz="1400" b="0" dirty="0">
              <a:latin typeface="Times New Roman" panose="02020603050405020304" pitchFamily="18" charset="0"/>
              <a:ea typeface="宋体" panose="02010600030101010101" pitchFamily="2" charset="-122"/>
            </a:endParaRPr>
          </a:p>
        </p:txBody>
      </p:sp>
      <p:sp>
        <p:nvSpPr>
          <p:cNvPr id="167" name="Line 195"/>
          <p:cNvSpPr/>
          <p:nvPr/>
        </p:nvSpPr>
        <p:spPr>
          <a:xfrm>
            <a:off x="4679759" y="5232400"/>
            <a:ext cx="1066800" cy="838200"/>
          </a:xfrm>
          <a:prstGeom prst="line">
            <a:avLst/>
          </a:prstGeom>
          <a:ln w="9525" cap="flat" cmpd="sng">
            <a:solidFill>
              <a:schemeClr val="tx1"/>
            </a:solidFill>
            <a:prstDash val="solid"/>
            <a:round/>
            <a:headEnd type="none" w="med" len="med"/>
            <a:tailEnd type="triangle" w="med" len="med"/>
          </a:ln>
        </p:spPr>
      </p:sp>
      <p:graphicFrame>
        <p:nvGraphicFramePr>
          <p:cNvPr id="168" name="Group 196"/>
          <p:cNvGraphicFramePr>
            <a:graphicFrameLocks noGrp="1"/>
          </p:cNvGraphicFramePr>
          <p:nvPr/>
        </p:nvGraphicFramePr>
        <p:xfrm>
          <a:off x="4298759" y="4699000"/>
          <a:ext cx="1537018" cy="685800"/>
        </p:xfrm>
        <a:graphic>
          <a:graphicData uri="http://schemas.openxmlformats.org/drawingml/2006/table">
            <a:tbl>
              <a:tblPr/>
              <a:tblGrid>
                <a:gridCol w="223838"/>
                <a:gridCol w="185737"/>
                <a:gridCol w="185738"/>
                <a:gridCol w="185737"/>
                <a:gridCol w="182563"/>
                <a:gridCol w="182562"/>
                <a:gridCol w="182563"/>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69" name="Line 218"/>
          <p:cNvSpPr/>
          <p:nvPr/>
        </p:nvSpPr>
        <p:spPr>
          <a:xfrm>
            <a:off x="5746559" y="5232400"/>
            <a:ext cx="228600" cy="0"/>
          </a:xfrm>
          <a:prstGeom prst="line">
            <a:avLst/>
          </a:prstGeom>
          <a:ln w="9525" cap="flat" cmpd="sng">
            <a:solidFill>
              <a:schemeClr val="tx1"/>
            </a:solidFill>
            <a:prstDash val="solid"/>
            <a:round/>
            <a:headEnd type="none" w="med" len="med"/>
            <a:tailEnd type="triangle" w="med" len="med"/>
          </a:ln>
        </p:spPr>
      </p:sp>
      <p:sp>
        <p:nvSpPr>
          <p:cNvPr id="170" name="Line 219"/>
          <p:cNvSpPr/>
          <p:nvPr/>
        </p:nvSpPr>
        <p:spPr>
          <a:xfrm>
            <a:off x="3308159" y="3784600"/>
            <a:ext cx="990600" cy="914400"/>
          </a:xfrm>
          <a:prstGeom prst="line">
            <a:avLst/>
          </a:prstGeom>
          <a:ln w="9525" cap="flat" cmpd="sng">
            <a:solidFill>
              <a:schemeClr val="tx1"/>
            </a:solidFill>
            <a:prstDash val="solid"/>
            <a:round/>
            <a:headEnd type="none" w="med" len="med"/>
            <a:tailEnd type="triangle" w="med" len="med"/>
          </a:ln>
        </p:spPr>
      </p:sp>
      <p:sp>
        <p:nvSpPr>
          <p:cNvPr id="171" name="Line 223"/>
          <p:cNvSpPr/>
          <p:nvPr/>
        </p:nvSpPr>
        <p:spPr>
          <a:xfrm>
            <a:off x="501459" y="4294188"/>
            <a:ext cx="9144000" cy="28575"/>
          </a:xfrm>
          <a:prstGeom prst="line">
            <a:avLst/>
          </a:prstGeom>
          <a:ln w="38100" cap="flat" cmpd="dbl">
            <a:solidFill>
              <a:srgbClr val="CC0000"/>
            </a:solidFill>
            <a:prstDash val="dash"/>
            <a:round/>
            <a:headEnd type="none" w="med" len="med"/>
            <a:tailEnd type="none" w="med" len="med"/>
          </a:ln>
        </p:spPr>
      </p:sp>
      <p:sp>
        <p:nvSpPr>
          <p:cNvPr id="172" name="Line 224"/>
          <p:cNvSpPr/>
          <p:nvPr/>
        </p:nvSpPr>
        <p:spPr>
          <a:xfrm>
            <a:off x="487172" y="5773738"/>
            <a:ext cx="9144000" cy="28575"/>
          </a:xfrm>
          <a:prstGeom prst="line">
            <a:avLst/>
          </a:prstGeom>
          <a:ln w="38100" cap="flat" cmpd="dbl">
            <a:solidFill>
              <a:srgbClr val="CC0000"/>
            </a:solidFill>
            <a:prstDash val="dash"/>
            <a:round/>
            <a:headEnd type="none" w="med" len="med"/>
            <a:tailEnd type="none" w="med" len="med"/>
          </a:ln>
        </p:spPr>
      </p:sp>
      <p:sp>
        <p:nvSpPr>
          <p:cNvPr id="173" name="Text Box 225"/>
          <p:cNvSpPr txBox="1"/>
          <p:nvPr/>
        </p:nvSpPr>
        <p:spPr>
          <a:xfrm>
            <a:off x="8357997" y="3843338"/>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非叶结点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74" name="Text Box 226"/>
          <p:cNvSpPr txBox="1"/>
          <p:nvPr/>
        </p:nvSpPr>
        <p:spPr>
          <a:xfrm>
            <a:off x="8373872" y="4330700"/>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叶子结点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75" name="Text Box 227"/>
          <p:cNvSpPr txBox="1"/>
          <p:nvPr/>
        </p:nvSpPr>
        <p:spPr>
          <a:xfrm>
            <a:off x="8488172" y="5811838"/>
            <a:ext cx="1025525" cy="701675"/>
          </a:xfrm>
          <a:prstGeom prst="rect">
            <a:avLst/>
          </a:prstGeom>
          <a:noFill/>
          <a:ln w="9525">
            <a:noFill/>
          </a:ln>
        </p:spPr>
        <p:txBody>
          <a:bodyPr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主文件的记录</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76" name="Rectangle 234"/>
          <p:cNvSpPr/>
          <p:nvPr/>
        </p:nvSpPr>
        <p:spPr>
          <a:xfrm>
            <a:off x="2612834" y="4684713"/>
            <a:ext cx="1522413" cy="723900"/>
          </a:xfrm>
          <a:prstGeom prst="rect">
            <a:avLst/>
          </a:prstGeom>
          <a:noFill/>
          <a:ln w="76200" cap="flat" cmpd="sng">
            <a:solidFill>
              <a:srgbClr val="CC0000"/>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grpSp>
        <p:nvGrpSpPr>
          <p:cNvPr id="177" name="Group 230"/>
          <p:cNvGrpSpPr/>
          <p:nvPr/>
        </p:nvGrpSpPr>
        <p:grpSpPr>
          <a:xfrm>
            <a:off x="7756520" y="1951037"/>
            <a:ext cx="2914650" cy="1081088"/>
            <a:chOff x="1265" y="3268"/>
            <a:chExt cx="1153" cy="629"/>
          </a:xfrm>
        </p:grpSpPr>
        <p:sp>
          <p:nvSpPr>
            <p:cNvPr id="178"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79"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80" name="Text Box 84"/>
            <p:cNvSpPr/>
            <p:nvPr/>
          </p:nvSpPr>
          <p:spPr>
            <a:xfrm>
              <a:off x="1271" y="3304"/>
              <a:ext cx="1146" cy="526"/>
            </a:xfrm>
            <a:prstGeom prst="roundRect">
              <a:avLst>
                <a:gd name="adj" fmla="val 16667"/>
              </a:avLst>
            </a:prstGeom>
            <a:noFill/>
            <a:ln w="9525">
              <a:noFill/>
            </a:ln>
          </p:spPr>
          <p:txBody>
            <a:bodyPr anchor="t">
              <a:spAutoFit/>
            </a:bodyPr>
            <a:lstStyle/>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先定位待删除键值的叶子结点：从根结点开始向下；</a:t>
              </a:r>
              <a:r>
                <a:rPr lang="zh-CN" altLang="en-US" sz="1600" dirty="0">
                  <a:solidFill>
                    <a:srgbClr val="CC0000"/>
                  </a:solidFill>
                  <a:latin typeface="Arial" panose="020B0604020202020204" pitchFamily="34" charset="0"/>
                  <a:ea typeface="微软雅黑" panose="020B0503020204020204" pitchFamily="34" charset="-122"/>
                </a:rPr>
                <a:t>删除键值及其主文件记录？</a:t>
              </a:r>
              <a:endParaRPr lang="zh-CN" altLang="en-US" sz="1600" dirty="0">
                <a:solidFill>
                  <a:srgbClr val="CC0000"/>
                </a:solidFill>
                <a:latin typeface="Arial" panose="020B0604020202020204" pitchFamily="34" charset="0"/>
                <a:ea typeface="微软雅黑" panose="020B0503020204020204" pitchFamily="34" charset="-122"/>
              </a:endParaRPr>
            </a:p>
          </p:txBody>
        </p:sp>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checkerboard(across)">
                                      <p:cBhvr>
                                        <p:cTn id="7" dur="500"/>
                                        <p:tgtEl>
                                          <p:spTgt spid="17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7"/>
                                        </p:tgtEl>
                                        <p:attrNameLst>
                                          <p:attrName>style.visibility</p:attrName>
                                        </p:attrNameLst>
                                      </p:cBhvr>
                                      <p:to>
                                        <p:strVal val="visible"/>
                                      </p:to>
                                    </p:set>
                                    <p:anim calcmode="lin" valueType="num">
                                      <p:cBhvr additive="base">
                                        <p:cTn id="12" dur="500" fill="hold"/>
                                        <p:tgtEl>
                                          <p:spTgt spid="177"/>
                                        </p:tgtEl>
                                        <p:attrNameLst>
                                          <p:attrName>ppt_x</p:attrName>
                                        </p:attrNameLst>
                                      </p:cBhvr>
                                      <p:tavLst>
                                        <p:tav tm="0">
                                          <p:val>
                                            <p:strVal val="#ppt_x"/>
                                          </p:val>
                                        </p:tav>
                                        <p:tav tm="100000">
                                          <p:val>
                                            <p:strVal val="#ppt_x"/>
                                          </p:val>
                                        </p:tav>
                                      </p:tavLst>
                                    </p:anim>
                                    <p:anim calcmode="lin" valueType="num">
                                      <p:cBhvr additive="base">
                                        <p:cTn id="13" dur="500" fill="hold"/>
                                        <p:tgtEl>
                                          <p:spTgt spid="1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(7) </a:t>
            </a:r>
            <a:r>
              <a:rPr lang="zh-CN" altLang="en-US" sz="2600" dirty="0">
                <a:latin typeface="微软雅黑" panose="020B0503020204020204" pitchFamily="34" charset="-122"/>
                <a:ea typeface="微软雅黑" panose="020B0503020204020204" pitchFamily="34" charset="-122"/>
              </a:rPr>
              <a:t>键值之合并</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latin typeface="微软雅黑" panose="020B0503020204020204" pitchFamily="34" charset="-122"/>
                <a:ea typeface="微软雅黑" panose="020B0503020204020204" pitchFamily="34" charset="-122"/>
              </a:rPr>
              <a:t>键值为</a:t>
            </a:r>
            <a:r>
              <a:rPr lang="en-US" altLang="zh-CN" sz="2000" b="0" dirty="0">
                <a:latin typeface="微软雅黑" panose="020B0503020204020204" pitchFamily="34" charset="-122"/>
                <a:ea typeface="微软雅黑" panose="020B0503020204020204" pitchFamily="34" charset="-122"/>
              </a:rPr>
              <a:t>25</a:t>
            </a:r>
            <a:r>
              <a:rPr lang="zh-CN" altLang="en-US" sz="2000" b="0" dirty="0">
                <a:latin typeface="微软雅黑" panose="020B0503020204020204" pitchFamily="34" charset="-122"/>
                <a:ea typeface="微软雅黑" panose="020B0503020204020204" pitchFamily="34" charset="-122"/>
              </a:rPr>
              <a:t>的记录删除后，问题：删除键值为</a:t>
            </a:r>
            <a:r>
              <a:rPr lang="en-US" altLang="zh-CN" sz="2000" b="0" dirty="0">
                <a:latin typeface="微软雅黑" panose="020B0503020204020204" pitchFamily="34" charset="-122"/>
                <a:ea typeface="微软雅黑" panose="020B0503020204020204" pitchFamily="34" charset="-122"/>
              </a:rPr>
              <a:t>40</a:t>
            </a:r>
            <a:r>
              <a:rPr lang="zh-CN" altLang="en-US" sz="2000" b="0" dirty="0">
                <a:latin typeface="微软雅黑" panose="020B0503020204020204" pitchFamily="34" charset="-122"/>
                <a:ea typeface="微软雅黑" panose="020B0503020204020204" pitchFamily="34" charset="-122"/>
              </a:rPr>
              <a:t>的记录</a:t>
            </a:r>
            <a:endParaRPr lang="zh-CN" altLang="en-US" sz="2000" b="0" dirty="0">
              <a:latin typeface="微软雅黑" panose="020B0503020204020204" pitchFamily="34" charset="-122"/>
              <a:ea typeface="微软雅黑" panose="020B0503020204020204" pitchFamily="34" charset="-122"/>
            </a:endParaRPr>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zh-CN" altLang="en-US" dirty="0"/>
              <a:t>分裂与合并过程再示例</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65" name="Group 2"/>
          <p:cNvGraphicFramePr>
            <a:graphicFrameLocks noGrp="1"/>
          </p:cNvGraphicFramePr>
          <p:nvPr/>
        </p:nvGraphicFramePr>
        <p:xfrm>
          <a:off x="4070159" y="229235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6" name="Group 236"/>
          <p:cNvGraphicFramePr>
            <a:graphicFrameLocks noGrp="1"/>
          </p:cNvGraphicFramePr>
          <p:nvPr/>
        </p:nvGraphicFramePr>
        <p:xfrm>
          <a:off x="2241359" y="3206750"/>
          <a:ext cx="2133600" cy="73914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rgbClr val="CC0000"/>
                          </a:solidFill>
                          <a:effectLst/>
                          <a:latin typeface="Arial" panose="020B0604020202020204" pitchFamily="34" charset="0"/>
                          <a:ea typeface="宋体" panose="02010600030101010101" pitchFamily="2" charset="-122"/>
                        </a:rPr>
                        <a:t>40</a:t>
                      </a:r>
                      <a:endParaRPr kumimoji="1" lang="en-US" altLang="zh-CN" sz="20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7" name="Group 46"/>
          <p:cNvGraphicFramePr>
            <a:graphicFrameLocks noGrp="1"/>
          </p:cNvGraphicFramePr>
          <p:nvPr/>
        </p:nvGraphicFramePr>
        <p:xfrm>
          <a:off x="5670359" y="3206750"/>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8" name="Group 68"/>
          <p:cNvGraphicFramePr>
            <a:graphicFrameLocks noGrp="1"/>
          </p:cNvGraphicFramePr>
          <p:nvPr/>
        </p:nvGraphicFramePr>
        <p:xfrm>
          <a:off x="793559" y="465455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9" name="Group 90"/>
          <p:cNvGraphicFramePr>
            <a:graphicFrameLocks noGrp="1"/>
          </p:cNvGraphicFramePr>
          <p:nvPr/>
        </p:nvGraphicFramePr>
        <p:xfrm>
          <a:off x="2622359" y="4654550"/>
          <a:ext cx="1537018" cy="685800"/>
        </p:xfrm>
        <a:graphic>
          <a:graphicData uri="http://schemas.openxmlformats.org/drawingml/2006/table">
            <a:tbl>
              <a:tblPr/>
              <a:tblGrid>
                <a:gridCol w="223838"/>
                <a:gridCol w="185737"/>
                <a:gridCol w="185738"/>
                <a:gridCol w="185737"/>
                <a:gridCol w="182563"/>
                <a:gridCol w="182562"/>
                <a:gridCol w="182563"/>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0" name="Group 112"/>
          <p:cNvGraphicFramePr>
            <a:graphicFrameLocks noGrp="1"/>
          </p:cNvGraphicFramePr>
          <p:nvPr/>
        </p:nvGraphicFramePr>
        <p:xfrm>
          <a:off x="5898959" y="465455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1" name="Group 134"/>
          <p:cNvGraphicFramePr>
            <a:graphicFrameLocks noGrp="1"/>
          </p:cNvGraphicFramePr>
          <p:nvPr/>
        </p:nvGraphicFramePr>
        <p:xfrm>
          <a:off x="7651559" y="4654550"/>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2" name="Line 156"/>
          <p:cNvSpPr/>
          <p:nvPr/>
        </p:nvSpPr>
        <p:spPr>
          <a:xfrm flipH="1">
            <a:off x="2241359" y="2825750"/>
            <a:ext cx="1981200" cy="381000"/>
          </a:xfrm>
          <a:prstGeom prst="line">
            <a:avLst/>
          </a:prstGeom>
          <a:ln w="9525" cap="flat" cmpd="sng">
            <a:solidFill>
              <a:schemeClr val="tx1"/>
            </a:solidFill>
            <a:prstDash val="solid"/>
            <a:round/>
            <a:headEnd type="none" w="med" len="med"/>
            <a:tailEnd type="triangle" w="med" len="med"/>
          </a:ln>
        </p:spPr>
      </p:sp>
      <p:sp>
        <p:nvSpPr>
          <p:cNvPr id="73" name="Line 157"/>
          <p:cNvSpPr/>
          <p:nvPr/>
        </p:nvSpPr>
        <p:spPr>
          <a:xfrm>
            <a:off x="4603559" y="2825750"/>
            <a:ext cx="1066800" cy="381000"/>
          </a:xfrm>
          <a:prstGeom prst="line">
            <a:avLst/>
          </a:prstGeom>
          <a:ln w="9525" cap="flat" cmpd="sng">
            <a:solidFill>
              <a:schemeClr val="tx1"/>
            </a:solidFill>
            <a:prstDash val="solid"/>
            <a:round/>
            <a:headEnd type="none" w="med" len="med"/>
            <a:tailEnd type="triangle" w="med" len="med"/>
          </a:ln>
        </p:spPr>
      </p:sp>
      <p:sp>
        <p:nvSpPr>
          <p:cNvPr id="74" name="Line 158"/>
          <p:cNvSpPr/>
          <p:nvPr/>
        </p:nvSpPr>
        <p:spPr>
          <a:xfrm flipH="1">
            <a:off x="1326959" y="3740150"/>
            <a:ext cx="1066800" cy="914400"/>
          </a:xfrm>
          <a:prstGeom prst="line">
            <a:avLst/>
          </a:prstGeom>
          <a:ln w="9525" cap="flat" cmpd="sng">
            <a:solidFill>
              <a:schemeClr val="tx1"/>
            </a:solidFill>
            <a:prstDash val="solid"/>
            <a:round/>
            <a:headEnd type="none" w="med" len="med"/>
            <a:tailEnd type="triangle" w="med" len="med"/>
          </a:ln>
        </p:spPr>
      </p:sp>
      <p:sp>
        <p:nvSpPr>
          <p:cNvPr id="75" name="Line 159"/>
          <p:cNvSpPr/>
          <p:nvPr/>
        </p:nvSpPr>
        <p:spPr>
          <a:xfrm>
            <a:off x="2774759" y="3740150"/>
            <a:ext cx="381000" cy="914400"/>
          </a:xfrm>
          <a:prstGeom prst="line">
            <a:avLst/>
          </a:prstGeom>
          <a:ln w="9525" cap="flat" cmpd="sng">
            <a:solidFill>
              <a:schemeClr val="tx1"/>
            </a:solidFill>
            <a:prstDash val="solid"/>
            <a:round/>
            <a:headEnd type="none" w="med" len="med"/>
            <a:tailEnd type="triangle" w="med" len="med"/>
          </a:ln>
        </p:spPr>
      </p:sp>
      <p:sp>
        <p:nvSpPr>
          <p:cNvPr id="76" name="Line 160"/>
          <p:cNvSpPr/>
          <p:nvPr/>
        </p:nvSpPr>
        <p:spPr>
          <a:xfrm>
            <a:off x="3765359" y="3740150"/>
            <a:ext cx="2133600" cy="914400"/>
          </a:xfrm>
          <a:prstGeom prst="line">
            <a:avLst/>
          </a:prstGeom>
          <a:ln w="9525" cap="flat" cmpd="sng">
            <a:solidFill>
              <a:schemeClr val="tx1"/>
            </a:solidFill>
            <a:prstDash val="solid"/>
            <a:round/>
            <a:headEnd type="none" w="med" len="med"/>
            <a:tailEnd type="triangle" w="med" len="med"/>
          </a:ln>
        </p:spPr>
      </p:sp>
      <p:sp>
        <p:nvSpPr>
          <p:cNvPr id="77" name="Line 161"/>
          <p:cNvSpPr/>
          <p:nvPr/>
        </p:nvSpPr>
        <p:spPr>
          <a:xfrm>
            <a:off x="5822759" y="3740150"/>
            <a:ext cx="1828800" cy="914400"/>
          </a:xfrm>
          <a:prstGeom prst="line">
            <a:avLst/>
          </a:prstGeom>
          <a:ln w="9525" cap="flat" cmpd="sng">
            <a:solidFill>
              <a:schemeClr val="tx1"/>
            </a:solidFill>
            <a:prstDash val="solid"/>
            <a:round/>
            <a:headEnd type="none" w="med" len="med"/>
            <a:tailEnd type="triangle" w="med" len="med"/>
          </a:ln>
        </p:spPr>
      </p:sp>
      <p:sp>
        <p:nvSpPr>
          <p:cNvPr id="78" name="Line 162"/>
          <p:cNvSpPr/>
          <p:nvPr/>
        </p:nvSpPr>
        <p:spPr>
          <a:xfrm>
            <a:off x="6203759" y="3740150"/>
            <a:ext cx="2438400" cy="838200"/>
          </a:xfrm>
          <a:prstGeom prst="line">
            <a:avLst/>
          </a:prstGeom>
          <a:ln w="9525" cap="flat" cmpd="sng">
            <a:solidFill>
              <a:schemeClr val="tx1"/>
            </a:solidFill>
            <a:prstDash val="solid"/>
            <a:round/>
            <a:headEnd type="none" w="med" len="med"/>
            <a:tailEnd type="triangle" w="med" len="med"/>
          </a:ln>
        </p:spPr>
      </p:sp>
      <p:sp>
        <p:nvSpPr>
          <p:cNvPr id="79" name="Line 163"/>
          <p:cNvSpPr/>
          <p:nvPr/>
        </p:nvSpPr>
        <p:spPr>
          <a:xfrm>
            <a:off x="6813359" y="3816350"/>
            <a:ext cx="2362200" cy="838200"/>
          </a:xfrm>
          <a:prstGeom prst="line">
            <a:avLst/>
          </a:prstGeom>
          <a:ln w="9525" cap="flat" cmpd="sng">
            <a:solidFill>
              <a:schemeClr val="tx1"/>
            </a:solidFill>
            <a:prstDash val="solid"/>
            <a:round/>
            <a:headEnd type="none" w="med" len="med"/>
            <a:tailEnd type="triangle" w="med" len="med"/>
          </a:ln>
        </p:spPr>
      </p:sp>
      <p:sp>
        <p:nvSpPr>
          <p:cNvPr id="80" name="Line 164"/>
          <p:cNvSpPr/>
          <p:nvPr/>
        </p:nvSpPr>
        <p:spPr>
          <a:xfrm>
            <a:off x="7346759" y="3740150"/>
            <a:ext cx="2209800" cy="838200"/>
          </a:xfrm>
          <a:prstGeom prst="line">
            <a:avLst/>
          </a:prstGeom>
          <a:ln w="9525" cap="flat" cmpd="sng">
            <a:solidFill>
              <a:schemeClr val="tx1"/>
            </a:solidFill>
            <a:prstDash val="solid"/>
            <a:round/>
            <a:headEnd type="none" w="med" len="med"/>
            <a:tailEnd type="triangle" w="med" len="med"/>
          </a:ln>
        </p:spPr>
      </p:sp>
      <p:sp>
        <p:nvSpPr>
          <p:cNvPr id="81" name="Line 165"/>
          <p:cNvSpPr/>
          <p:nvPr/>
        </p:nvSpPr>
        <p:spPr>
          <a:xfrm>
            <a:off x="2317559" y="5187950"/>
            <a:ext cx="304800" cy="0"/>
          </a:xfrm>
          <a:prstGeom prst="line">
            <a:avLst/>
          </a:prstGeom>
          <a:ln w="9525" cap="flat" cmpd="sng">
            <a:solidFill>
              <a:schemeClr val="tx1"/>
            </a:solidFill>
            <a:prstDash val="solid"/>
            <a:round/>
            <a:headEnd type="none" w="med" len="med"/>
            <a:tailEnd type="triangle" w="med" len="med"/>
          </a:ln>
        </p:spPr>
      </p:sp>
      <p:sp>
        <p:nvSpPr>
          <p:cNvPr id="82" name="Line 166"/>
          <p:cNvSpPr/>
          <p:nvPr/>
        </p:nvSpPr>
        <p:spPr>
          <a:xfrm>
            <a:off x="4070159" y="5187950"/>
            <a:ext cx="304800" cy="0"/>
          </a:xfrm>
          <a:prstGeom prst="line">
            <a:avLst/>
          </a:prstGeom>
          <a:ln w="9525" cap="flat" cmpd="sng">
            <a:solidFill>
              <a:schemeClr val="tx1"/>
            </a:solidFill>
            <a:prstDash val="solid"/>
            <a:round/>
            <a:headEnd type="none" w="med" len="med"/>
            <a:tailEnd type="triangle" w="med" len="med"/>
          </a:ln>
        </p:spPr>
      </p:sp>
      <p:sp>
        <p:nvSpPr>
          <p:cNvPr id="83" name="Line 167"/>
          <p:cNvSpPr/>
          <p:nvPr/>
        </p:nvSpPr>
        <p:spPr>
          <a:xfrm>
            <a:off x="6813359" y="5187950"/>
            <a:ext cx="228600" cy="0"/>
          </a:xfrm>
          <a:prstGeom prst="line">
            <a:avLst/>
          </a:prstGeom>
          <a:ln w="9525" cap="flat" cmpd="sng">
            <a:solidFill>
              <a:schemeClr val="tx1"/>
            </a:solidFill>
            <a:prstDash val="solid"/>
            <a:round/>
            <a:headEnd type="none" w="med" len="med"/>
            <a:tailEnd type="triangle" w="med" len="med"/>
          </a:ln>
        </p:spPr>
      </p:sp>
      <p:sp>
        <p:nvSpPr>
          <p:cNvPr id="84" name="Rectangle 168"/>
          <p:cNvSpPr/>
          <p:nvPr/>
        </p:nvSpPr>
        <p:spPr>
          <a:xfrm>
            <a:off x="793559" y="60261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10</a:t>
            </a:r>
            <a:endParaRPr lang="en-US" altLang="zh-CN" sz="1400" b="0" dirty="0">
              <a:latin typeface="Times New Roman" panose="02020603050405020304" pitchFamily="18" charset="0"/>
              <a:ea typeface="宋体" panose="02010600030101010101" pitchFamily="2" charset="-122"/>
            </a:endParaRPr>
          </a:p>
        </p:txBody>
      </p:sp>
      <p:sp>
        <p:nvSpPr>
          <p:cNvPr id="85" name="Rectangle 169"/>
          <p:cNvSpPr/>
          <p:nvPr/>
        </p:nvSpPr>
        <p:spPr>
          <a:xfrm>
            <a:off x="1326959" y="60261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15</a:t>
            </a:r>
            <a:endParaRPr lang="en-US" altLang="zh-CN" sz="1400" b="0" dirty="0">
              <a:latin typeface="Times New Roman" panose="02020603050405020304" pitchFamily="18" charset="0"/>
              <a:ea typeface="宋体" panose="02010600030101010101" pitchFamily="2" charset="-122"/>
            </a:endParaRPr>
          </a:p>
        </p:txBody>
      </p:sp>
      <p:sp>
        <p:nvSpPr>
          <p:cNvPr id="86" name="Rectangle 170"/>
          <p:cNvSpPr/>
          <p:nvPr/>
        </p:nvSpPr>
        <p:spPr>
          <a:xfrm>
            <a:off x="1784159" y="60261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18</a:t>
            </a:r>
            <a:endParaRPr lang="en-US" altLang="zh-CN" sz="1400" b="0" dirty="0">
              <a:latin typeface="Times New Roman" panose="02020603050405020304" pitchFamily="18" charset="0"/>
              <a:ea typeface="宋体" panose="02010600030101010101" pitchFamily="2" charset="-122"/>
            </a:endParaRPr>
          </a:p>
        </p:txBody>
      </p:sp>
      <p:sp>
        <p:nvSpPr>
          <p:cNvPr id="87" name="Rectangle 171"/>
          <p:cNvSpPr/>
          <p:nvPr/>
        </p:nvSpPr>
        <p:spPr>
          <a:xfrm>
            <a:off x="2622359" y="60261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20</a:t>
            </a:r>
            <a:endParaRPr lang="en-US" altLang="zh-CN" sz="1400" b="0" dirty="0">
              <a:latin typeface="Times New Roman" panose="02020603050405020304" pitchFamily="18" charset="0"/>
              <a:ea typeface="宋体" panose="02010600030101010101" pitchFamily="2" charset="-122"/>
            </a:endParaRPr>
          </a:p>
        </p:txBody>
      </p:sp>
      <p:sp>
        <p:nvSpPr>
          <p:cNvPr id="88" name="Rectangle 172"/>
          <p:cNvSpPr/>
          <p:nvPr/>
        </p:nvSpPr>
        <p:spPr>
          <a:xfrm>
            <a:off x="3993959" y="6026150"/>
            <a:ext cx="371475" cy="314325"/>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solidFill>
                  <a:srgbClr val="CC0000"/>
                </a:solidFill>
                <a:latin typeface="Times New Roman" panose="02020603050405020304" pitchFamily="18" charset="0"/>
                <a:ea typeface="宋体" panose="02010600030101010101" pitchFamily="2" charset="-122"/>
              </a:rPr>
              <a:t>40</a:t>
            </a:r>
            <a:endParaRPr lang="en-US" altLang="zh-CN" sz="1400" b="0" dirty="0">
              <a:solidFill>
                <a:srgbClr val="CC0000"/>
              </a:solidFill>
              <a:latin typeface="Times New Roman" panose="02020603050405020304" pitchFamily="18" charset="0"/>
              <a:ea typeface="宋体" panose="02010600030101010101" pitchFamily="2" charset="-122"/>
            </a:endParaRPr>
          </a:p>
        </p:txBody>
      </p:sp>
      <p:sp>
        <p:nvSpPr>
          <p:cNvPr id="89" name="Rectangle 173"/>
          <p:cNvSpPr/>
          <p:nvPr/>
        </p:nvSpPr>
        <p:spPr>
          <a:xfrm>
            <a:off x="6051359" y="60261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60</a:t>
            </a:r>
            <a:endParaRPr lang="en-US" altLang="zh-CN" sz="1400" b="0" dirty="0">
              <a:latin typeface="Times New Roman" panose="02020603050405020304" pitchFamily="18" charset="0"/>
              <a:ea typeface="宋体" panose="02010600030101010101" pitchFamily="2" charset="-122"/>
            </a:endParaRPr>
          </a:p>
        </p:txBody>
      </p:sp>
      <p:sp>
        <p:nvSpPr>
          <p:cNvPr id="90" name="Rectangle 174"/>
          <p:cNvSpPr/>
          <p:nvPr/>
        </p:nvSpPr>
        <p:spPr>
          <a:xfrm>
            <a:off x="6508559" y="60261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65</a:t>
            </a:r>
            <a:endParaRPr lang="en-US" altLang="zh-CN" sz="1400" b="0" dirty="0">
              <a:latin typeface="Times New Roman" panose="02020603050405020304" pitchFamily="18" charset="0"/>
              <a:ea typeface="宋体" panose="02010600030101010101" pitchFamily="2" charset="-122"/>
            </a:endParaRPr>
          </a:p>
        </p:txBody>
      </p:sp>
      <p:sp>
        <p:nvSpPr>
          <p:cNvPr id="91" name="Rectangle 175"/>
          <p:cNvSpPr/>
          <p:nvPr/>
        </p:nvSpPr>
        <p:spPr>
          <a:xfrm>
            <a:off x="6965759" y="60261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80</a:t>
            </a:r>
            <a:endParaRPr lang="en-US" altLang="zh-CN" sz="1400" b="0" dirty="0">
              <a:latin typeface="Times New Roman" panose="02020603050405020304" pitchFamily="18" charset="0"/>
              <a:ea typeface="宋体" panose="02010600030101010101" pitchFamily="2" charset="-122"/>
            </a:endParaRPr>
          </a:p>
        </p:txBody>
      </p:sp>
      <p:sp>
        <p:nvSpPr>
          <p:cNvPr id="92" name="Rectangle 176"/>
          <p:cNvSpPr/>
          <p:nvPr/>
        </p:nvSpPr>
        <p:spPr>
          <a:xfrm>
            <a:off x="7499159" y="60261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85</a:t>
            </a:r>
            <a:endParaRPr lang="en-US" altLang="zh-CN" sz="1400" b="0" dirty="0">
              <a:latin typeface="Times New Roman" panose="02020603050405020304" pitchFamily="18" charset="0"/>
              <a:ea typeface="宋体" panose="02010600030101010101" pitchFamily="2" charset="-122"/>
            </a:endParaRPr>
          </a:p>
        </p:txBody>
      </p:sp>
      <p:sp>
        <p:nvSpPr>
          <p:cNvPr id="93" name="Rectangle 177"/>
          <p:cNvSpPr/>
          <p:nvPr/>
        </p:nvSpPr>
        <p:spPr>
          <a:xfrm>
            <a:off x="8032559" y="60261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90</a:t>
            </a:r>
            <a:endParaRPr lang="en-US" altLang="zh-CN" sz="1400" b="0" dirty="0">
              <a:latin typeface="Times New Roman" panose="02020603050405020304" pitchFamily="18" charset="0"/>
              <a:ea typeface="宋体" panose="02010600030101010101" pitchFamily="2" charset="-122"/>
            </a:endParaRPr>
          </a:p>
        </p:txBody>
      </p:sp>
      <p:sp>
        <p:nvSpPr>
          <p:cNvPr id="94" name="Line 178"/>
          <p:cNvSpPr/>
          <p:nvPr/>
        </p:nvSpPr>
        <p:spPr>
          <a:xfrm flipH="1">
            <a:off x="793559" y="5187950"/>
            <a:ext cx="152400" cy="838200"/>
          </a:xfrm>
          <a:prstGeom prst="line">
            <a:avLst/>
          </a:prstGeom>
          <a:ln w="9525" cap="flat" cmpd="sng">
            <a:solidFill>
              <a:schemeClr val="tx1"/>
            </a:solidFill>
            <a:prstDash val="solid"/>
            <a:round/>
            <a:headEnd type="none" w="med" len="med"/>
            <a:tailEnd type="triangle" w="med" len="med"/>
          </a:ln>
        </p:spPr>
      </p:sp>
      <p:sp>
        <p:nvSpPr>
          <p:cNvPr id="95" name="Line 179"/>
          <p:cNvSpPr/>
          <p:nvPr/>
        </p:nvSpPr>
        <p:spPr>
          <a:xfrm>
            <a:off x="1250759" y="5187950"/>
            <a:ext cx="76200" cy="838200"/>
          </a:xfrm>
          <a:prstGeom prst="line">
            <a:avLst/>
          </a:prstGeom>
          <a:ln w="9525" cap="flat" cmpd="sng">
            <a:solidFill>
              <a:schemeClr val="tx1"/>
            </a:solidFill>
            <a:prstDash val="solid"/>
            <a:round/>
            <a:headEnd type="none" w="med" len="med"/>
            <a:tailEnd type="triangle" w="med" len="med"/>
          </a:ln>
        </p:spPr>
      </p:sp>
      <p:sp>
        <p:nvSpPr>
          <p:cNvPr id="96" name="Line 180"/>
          <p:cNvSpPr/>
          <p:nvPr/>
        </p:nvSpPr>
        <p:spPr>
          <a:xfrm>
            <a:off x="1631759" y="5187950"/>
            <a:ext cx="228600" cy="838200"/>
          </a:xfrm>
          <a:prstGeom prst="line">
            <a:avLst/>
          </a:prstGeom>
          <a:ln w="9525" cap="flat" cmpd="sng">
            <a:solidFill>
              <a:schemeClr val="tx1"/>
            </a:solidFill>
            <a:prstDash val="solid"/>
            <a:round/>
            <a:headEnd type="none" w="med" len="med"/>
            <a:tailEnd type="triangle" w="med" len="med"/>
          </a:ln>
        </p:spPr>
      </p:sp>
      <p:sp>
        <p:nvSpPr>
          <p:cNvPr id="97" name="Line 181"/>
          <p:cNvSpPr/>
          <p:nvPr/>
        </p:nvSpPr>
        <p:spPr>
          <a:xfrm flipH="1">
            <a:off x="2698559" y="5187950"/>
            <a:ext cx="304800" cy="838200"/>
          </a:xfrm>
          <a:prstGeom prst="line">
            <a:avLst/>
          </a:prstGeom>
          <a:ln w="9525" cap="flat" cmpd="sng">
            <a:solidFill>
              <a:schemeClr val="tx1"/>
            </a:solidFill>
            <a:prstDash val="solid"/>
            <a:round/>
            <a:headEnd type="none" w="med" len="med"/>
            <a:tailEnd type="triangle" w="med" len="med"/>
          </a:ln>
        </p:spPr>
      </p:sp>
      <p:sp>
        <p:nvSpPr>
          <p:cNvPr id="98" name="Line 182"/>
          <p:cNvSpPr/>
          <p:nvPr/>
        </p:nvSpPr>
        <p:spPr>
          <a:xfrm flipH="1">
            <a:off x="4070159" y="5187950"/>
            <a:ext cx="381000" cy="838200"/>
          </a:xfrm>
          <a:prstGeom prst="line">
            <a:avLst/>
          </a:prstGeom>
          <a:ln w="9525" cap="flat" cmpd="sng">
            <a:solidFill>
              <a:schemeClr val="tx1"/>
            </a:solidFill>
            <a:prstDash val="solid"/>
            <a:round/>
            <a:headEnd type="none" w="med" len="med"/>
            <a:tailEnd type="triangle" w="med" len="med"/>
          </a:ln>
        </p:spPr>
      </p:sp>
      <p:sp>
        <p:nvSpPr>
          <p:cNvPr id="99" name="Line 183"/>
          <p:cNvSpPr/>
          <p:nvPr/>
        </p:nvSpPr>
        <p:spPr>
          <a:xfrm>
            <a:off x="6051359" y="5187950"/>
            <a:ext cx="0" cy="838200"/>
          </a:xfrm>
          <a:prstGeom prst="line">
            <a:avLst/>
          </a:prstGeom>
          <a:ln w="9525" cap="flat" cmpd="sng">
            <a:solidFill>
              <a:schemeClr val="tx1"/>
            </a:solidFill>
            <a:prstDash val="solid"/>
            <a:round/>
            <a:headEnd type="none" w="med" len="med"/>
            <a:tailEnd type="triangle" w="med" len="med"/>
          </a:ln>
        </p:spPr>
      </p:sp>
      <p:sp>
        <p:nvSpPr>
          <p:cNvPr id="100" name="Line 184"/>
          <p:cNvSpPr/>
          <p:nvPr/>
        </p:nvSpPr>
        <p:spPr>
          <a:xfrm>
            <a:off x="6279959" y="5111750"/>
            <a:ext cx="228600" cy="914400"/>
          </a:xfrm>
          <a:prstGeom prst="line">
            <a:avLst/>
          </a:prstGeom>
          <a:ln w="9525" cap="flat" cmpd="sng">
            <a:solidFill>
              <a:schemeClr val="tx1"/>
            </a:solidFill>
            <a:prstDash val="solid"/>
            <a:round/>
            <a:headEnd type="none" w="med" len="med"/>
            <a:tailEnd type="triangle" w="med" len="med"/>
          </a:ln>
        </p:spPr>
      </p:sp>
      <p:sp>
        <p:nvSpPr>
          <p:cNvPr id="101" name="Line 185"/>
          <p:cNvSpPr/>
          <p:nvPr/>
        </p:nvSpPr>
        <p:spPr>
          <a:xfrm flipH="1">
            <a:off x="6965759" y="5187950"/>
            <a:ext cx="838200" cy="838200"/>
          </a:xfrm>
          <a:prstGeom prst="line">
            <a:avLst/>
          </a:prstGeom>
          <a:ln w="9525" cap="flat" cmpd="sng">
            <a:solidFill>
              <a:schemeClr val="tx1"/>
            </a:solidFill>
            <a:prstDash val="solid"/>
            <a:round/>
            <a:headEnd type="none" w="med" len="med"/>
            <a:tailEnd type="triangle" w="med" len="med"/>
          </a:ln>
        </p:spPr>
      </p:sp>
      <p:sp>
        <p:nvSpPr>
          <p:cNvPr id="102" name="Line 186"/>
          <p:cNvSpPr/>
          <p:nvPr/>
        </p:nvSpPr>
        <p:spPr>
          <a:xfrm flipH="1">
            <a:off x="7499159" y="5187950"/>
            <a:ext cx="609600" cy="838200"/>
          </a:xfrm>
          <a:prstGeom prst="line">
            <a:avLst/>
          </a:prstGeom>
          <a:ln w="9525" cap="flat" cmpd="sng">
            <a:solidFill>
              <a:schemeClr val="tx1"/>
            </a:solidFill>
            <a:prstDash val="solid"/>
            <a:round/>
            <a:headEnd type="none" w="med" len="med"/>
            <a:tailEnd type="triangle" w="med" len="med"/>
          </a:ln>
        </p:spPr>
      </p:sp>
      <p:sp>
        <p:nvSpPr>
          <p:cNvPr id="103" name="Line 187"/>
          <p:cNvSpPr/>
          <p:nvPr/>
        </p:nvSpPr>
        <p:spPr>
          <a:xfrm flipH="1">
            <a:off x="8032559" y="5187950"/>
            <a:ext cx="457200" cy="838200"/>
          </a:xfrm>
          <a:prstGeom prst="line">
            <a:avLst/>
          </a:prstGeom>
          <a:ln w="9525" cap="flat" cmpd="sng">
            <a:solidFill>
              <a:schemeClr val="tx1"/>
            </a:solidFill>
            <a:prstDash val="solid"/>
            <a:round/>
            <a:headEnd type="none" w="med" len="med"/>
            <a:tailEnd type="triangle" w="med" len="med"/>
          </a:ln>
        </p:spPr>
      </p:sp>
      <p:sp>
        <p:nvSpPr>
          <p:cNvPr id="104" name="Line 188"/>
          <p:cNvSpPr/>
          <p:nvPr/>
        </p:nvSpPr>
        <p:spPr>
          <a:xfrm>
            <a:off x="8565959" y="5187950"/>
            <a:ext cx="304800" cy="0"/>
          </a:xfrm>
          <a:prstGeom prst="line">
            <a:avLst/>
          </a:prstGeom>
          <a:ln w="9525" cap="flat" cmpd="sng">
            <a:solidFill>
              <a:schemeClr val="tx1"/>
            </a:solidFill>
            <a:prstDash val="solid"/>
            <a:round/>
            <a:headEnd type="none" w="med" len="med"/>
            <a:tailEnd type="triangle" w="med" len="med"/>
          </a:ln>
        </p:spPr>
      </p:sp>
      <p:sp>
        <p:nvSpPr>
          <p:cNvPr id="105" name="Rectangle 189"/>
          <p:cNvSpPr/>
          <p:nvPr/>
        </p:nvSpPr>
        <p:spPr>
          <a:xfrm>
            <a:off x="2203259" y="60261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19</a:t>
            </a:r>
            <a:endParaRPr lang="en-US" altLang="zh-CN" sz="1400" b="0" dirty="0">
              <a:latin typeface="Times New Roman" panose="02020603050405020304" pitchFamily="18" charset="0"/>
              <a:ea typeface="宋体" panose="02010600030101010101" pitchFamily="2" charset="-122"/>
            </a:endParaRPr>
          </a:p>
        </p:txBody>
      </p:sp>
      <p:sp>
        <p:nvSpPr>
          <p:cNvPr id="106" name="Line 190"/>
          <p:cNvSpPr/>
          <p:nvPr/>
        </p:nvSpPr>
        <p:spPr>
          <a:xfrm flipH="1">
            <a:off x="2241359" y="5187950"/>
            <a:ext cx="533400" cy="762000"/>
          </a:xfrm>
          <a:prstGeom prst="line">
            <a:avLst/>
          </a:prstGeom>
          <a:ln w="9525" cap="flat" cmpd="sng">
            <a:solidFill>
              <a:schemeClr val="tx1"/>
            </a:solidFill>
            <a:prstDash val="solid"/>
            <a:round/>
            <a:headEnd type="none" w="med" len="med"/>
            <a:tailEnd type="triangle" w="med" len="med"/>
          </a:ln>
        </p:spPr>
      </p:sp>
      <p:sp>
        <p:nvSpPr>
          <p:cNvPr id="107" name="Rectangle 192"/>
          <p:cNvSpPr/>
          <p:nvPr/>
        </p:nvSpPr>
        <p:spPr>
          <a:xfrm>
            <a:off x="5594159" y="6026150"/>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50</a:t>
            </a:r>
            <a:endParaRPr lang="en-US" altLang="zh-CN" sz="1400" b="0" dirty="0">
              <a:latin typeface="Times New Roman" panose="02020603050405020304" pitchFamily="18" charset="0"/>
              <a:ea typeface="宋体" panose="02010600030101010101" pitchFamily="2" charset="-122"/>
            </a:endParaRPr>
          </a:p>
        </p:txBody>
      </p:sp>
      <p:sp>
        <p:nvSpPr>
          <p:cNvPr id="108" name="Line 193"/>
          <p:cNvSpPr/>
          <p:nvPr/>
        </p:nvSpPr>
        <p:spPr>
          <a:xfrm>
            <a:off x="4679759" y="5187950"/>
            <a:ext cx="1066800" cy="838200"/>
          </a:xfrm>
          <a:prstGeom prst="line">
            <a:avLst/>
          </a:prstGeom>
          <a:ln w="9525" cap="flat" cmpd="sng">
            <a:solidFill>
              <a:schemeClr val="tx1"/>
            </a:solidFill>
            <a:prstDash val="solid"/>
            <a:round/>
            <a:headEnd type="none" w="med" len="med"/>
            <a:tailEnd type="triangle" w="med" len="med"/>
          </a:ln>
        </p:spPr>
      </p:sp>
      <p:graphicFrame>
        <p:nvGraphicFramePr>
          <p:cNvPr id="109" name="Group 194"/>
          <p:cNvGraphicFramePr>
            <a:graphicFrameLocks noGrp="1"/>
          </p:cNvGraphicFramePr>
          <p:nvPr/>
        </p:nvGraphicFramePr>
        <p:xfrm>
          <a:off x="4298759" y="4654550"/>
          <a:ext cx="1537018" cy="685800"/>
        </p:xfrm>
        <a:graphic>
          <a:graphicData uri="http://schemas.openxmlformats.org/drawingml/2006/table">
            <a:tbl>
              <a:tblPr/>
              <a:tblGrid>
                <a:gridCol w="223838"/>
                <a:gridCol w="185737"/>
                <a:gridCol w="185738"/>
                <a:gridCol w="185737"/>
                <a:gridCol w="182563"/>
                <a:gridCol w="182562"/>
                <a:gridCol w="182563"/>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40</a:t>
                      </a:r>
                      <a:endPar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0" name="Line 216"/>
          <p:cNvSpPr/>
          <p:nvPr/>
        </p:nvSpPr>
        <p:spPr>
          <a:xfrm>
            <a:off x="5746559" y="5187950"/>
            <a:ext cx="228600" cy="0"/>
          </a:xfrm>
          <a:prstGeom prst="line">
            <a:avLst/>
          </a:prstGeom>
          <a:ln w="9525" cap="flat" cmpd="sng">
            <a:solidFill>
              <a:schemeClr val="tx1"/>
            </a:solidFill>
            <a:prstDash val="solid"/>
            <a:round/>
            <a:headEnd type="none" w="med" len="med"/>
            <a:tailEnd type="triangle" w="med" len="med"/>
          </a:ln>
        </p:spPr>
      </p:sp>
      <p:sp>
        <p:nvSpPr>
          <p:cNvPr id="111" name="Line 217"/>
          <p:cNvSpPr/>
          <p:nvPr/>
        </p:nvSpPr>
        <p:spPr>
          <a:xfrm>
            <a:off x="3308159" y="3740150"/>
            <a:ext cx="990600" cy="914400"/>
          </a:xfrm>
          <a:prstGeom prst="line">
            <a:avLst/>
          </a:prstGeom>
          <a:ln w="9525" cap="flat" cmpd="sng">
            <a:solidFill>
              <a:schemeClr val="tx1"/>
            </a:solidFill>
            <a:prstDash val="solid"/>
            <a:round/>
            <a:headEnd type="none" w="med" len="med"/>
            <a:tailEnd type="triangle" w="med" len="med"/>
          </a:ln>
        </p:spPr>
      </p:sp>
      <p:sp>
        <p:nvSpPr>
          <p:cNvPr id="112" name="Line 221"/>
          <p:cNvSpPr/>
          <p:nvPr/>
        </p:nvSpPr>
        <p:spPr>
          <a:xfrm>
            <a:off x="501459" y="4249738"/>
            <a:ext cx="9144000" cy="28575"/>
          </a:xfrm>
          <a:prstGeom prst="line">
            <a:avLst/>
          </a:prstGeom>
          <a:ln w="38100" cap="flat" cmpd="dbl">
            <a:solidFill>
              <a:srgbClr val="CC0000"/>
            </a:solidFill>
            <a:prstDash val="dash"/>
            <a:round/>
            <a:headEnd type="none" w="med" len="med"/>
            <a:tailEnd type="none" w="med" len="med"/>
          </a:ln>
        </p:spPr>
      </p:sp>
      <p:sp>
        <p:nvSpPr>
          <p:cNvPr id="113" name="Line 222"/>
          <p:cNvSpPr/>
          <p:nvPr/>
        </p:nvSpPr>
        <p:spPr>
          <a:xfrm>
            <a:off x="487172" y="5729288"/>
            <a:ext cx="9144000" cy="28575"/>
          </a:xfrm>
          <a:prstGeom prst="line">
            <a:avLst/>
          </a:prstGeom>
          <a:ln w="38100" cap="flat" cmpd="dbl">
            <a:solidFill>
              <a:srgbClr val="CC0000"/>
            </a:solidFill>
            <a:prstDash val="dash"/>
            <a:round/>
            <a:headEnd type="none" w="med" len="med"/>
            <a:tailEnd type="none" w="med" len="med"/>
          </a:ln>
        </p:spPr>
      </p:sp>
      <p:sp>
        <p:nvSpPr>
          <p:cNvPr id="116" name="Text Box 223"/>
          <p:cNvSpPr txBox="1"/>
          <p:nvPr/>
        </p:nvSpPr>
        <p:spPr>
          <a:xfrm>
            <a:off x="8357997" y="3798888"/>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非叶结点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7" name="Text Box 224"/>
          <p:cNvSpPr txBox="1"/>
          <p:nvPr/>
        </p:nvSpPr>
        <p:spPr>
          <a:xfrm>
            <a:off x="8373872" y="4286250"/>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叶子结点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8" name="Text Box 225"/>
          <p:cNvSpPr txBox="1"/>
          <p:nvPr/>
        </p:nvSpPr>
        <p:spPr>
          <a:xfrm>
            <a:off x="8488172" y="5767388"/>
            <a:ext cx="1025525" cy="701675"/>
          </a:xfrm>
          <a:prstGeom prst="rect">
            <a:avLst/>
          </a:prstGeom>
          <a:noFill/>
          <a:ln w="9525">
            <a:noFill/>
          </a:ln>
        </p:spPr>
        <p:txBody>
          <a:bodyPr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主文件的记录</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9" name="Rectangle 235"/>
          <p:cNvSpPr/>
          <p:nvPr/>
        </p:nvSpPr>
        <p:spPr>
          <a:xfrm>
            <a:off x="4311459" y="4625975"/>
            <a:ext cx="1522413" cy="723900"/>
          </a:xfrm>
          <a:prstGeom prst="rect">
            <a:avLst/>
          </a:prstGeom>
          <a:noFill/>
          <a:ln w="76200" cap="flat" cmpd="sng">
            <a:solidFill>
              <a:srgbClr val="CC0000"/>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grpSp>
        <p:nvGrpSpPr>
          <p:cNvPr id="120" name="Group 231"/>
          <p:cNvGrpSpPr/>
          <p:nvPr/>
        </p:nvGrpSpPr>
        <p:grpSpPr>
          <a:xfrm>
            <a:off x="7072915" y="1936868"/>
            <a:ext cx="4205287" cy="1052512"/>
            <a:chOff x="1265" y="3268"/>
            <a:chExt cx="1153" cy="629"/>
          </a:xfrm>
        </p:grpSpPr>
        <p:sp>
          <p:nvSpPr>
            <p:cNvPr id="121"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22"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23" name="Text Box 84"/>
            <p:cNvSpPr/>
            <p:nvPr/>
          </p:nvSpPr>
          <p:spPr>
            <a:xfrm>
              <a:off x="1269" y="3302"/>
              <a:ext cx="1149" cy="573"/>
            </a:xfrm>
            <a:prstGeom prst="roundRect">
              <a:avLst>
                <a:gd name="adj" fmla="val 16667"/>
              </a:avLst>
            </a:prstGeom>
            <a:noFill/>
            <a:ln w="9525">
              <a:noFill/>
            </a:ln>
          </p:spPr>
          <p:txBody>
            <a:bodyPr anchor="t">
              <a:spAutoFit/>
            </a:bodyPr>
            <a:lstStyle/>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先定位待删除键值的叶子结点：从根结点开始向下；</a:t>
              </a:r>
              <a:r>
                <a:rPr lang="zh-CN" altLang="en-US" sz="1600" dirty="0">
                  <a:solidFill>
                    <a:srgbClr val="CC0000"/>
                  </a:solidFill>
                  <a:latin typeface="Arial" panose="020B0604020202020204" pitchFamily="34" charset="0"/>
                  <a:ea typeface="微软雅黑" panose="020B0503020204020204" pitchFamily="34" charset="-122"/>
                </a:rPr>
                <a:t>删除键值及其主文件记录？</a:t>
              </a:r>
              <a:endParaRPr lang="zh-CN" altLang="en-US" sz="1600" dirty="0">
                <a:solidFill>
                  <a:srgbClr val="CC0000"/>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rgbClr val="CC0000"/>
                  </a:solidFill>
                  <a:latin typeface="Arial" panose="020B0604020202020204" pitchFamily="34" charset="0"/>
                  <a:ea typeface="微软雅黑" panose="020B0503020204020204" pitchFamily="34" charset="-122"/>
                </a:rPr>
                <a:t>如是第一个，则需调整父结点的键值</a:t>
              </a:r>
              <a:endParaRPr lang="zh-CN" altLang="en-US" sz="1600" dirty="0">
                <a:solidFill>
                  <a:srgbClr val="CC0000"/>
                </a:solidFill>
                <a:latin typeface="Arial" panose="020B0604020202020204" pitchFamily="34" charset="0"/>
                <a:ea typeface="微软雅黑" panose="020B0503020204020204" pitchFamily="34" charset="-122"/>
              </a:endParaRPr>
            </a:p>
          </p:txBody>
        </p:sp>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checkerboard(across)">
                                      <p:cBhvr>
                                        <p:cTn id="7" dur="500"/>
                                        <p:tgtEl>
                                          <p:spTgt spid="11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0"/>
                                        </p:tgtEl>
                                        <p:attrNameLst>
                                          <p:attrName>style.visibility</p:attrName>
                                        </p:attrNameLst>
                                      </p:cBhvr>
                                      <p:to>
                                        <p:strVal val="visible"/>
                                      </p:to>
                                    </p:set>
                                    <p:anim calcmode="lin" valueType="num">
                                      <p:cBhvr additive="base">
                                        <p:cTn id="12" dur="500" fill="hold"/>
                                        <p:tgtEl>
                                          <p:spTgt spid="120"/>
                                        </p:tgtEl>
                                        <p:attrNameLst>
                                          <p:attrName>ppt_x</p:attrName>
                                        </p:attrNameLst>
                                      </p:cBhvr>
                                      <p:tavLst>
                                        <p:tav tm="0">
                                          <p:val>
                                            <p:strVal val="#ppt_x"/>
                                          </p:val>
                                        </p:tav>
                                        <p:tav tm="100000">
                                          <p:val>
                                            <p:strVal val="#ppt_x"/>
                                          </p:val>
                                        </p:tav>
                                      </p:tavLst>
                                    </p:anim>
                                    <p:anim calcmode="lin" valueType="num">
                                      <p:cBhvr additive="base">
                                        <p:cTn id="13"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bldLvl="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(8) </a:t>
            </a:r>
            <a:r>
              <a:rPr lang="zh-CN" altLang="en-US" sz="2600" dirty="0">
                <a:latin typeface="微软雅黑" panose="020B0503020204020204" pitchFamily="34" charset="-122"/>
                <a:ea typeface="微软雅黑" panose="020B0503020204020204" pitchFamily="34" charset="-122"/>
              </a:rPr>
              <a:t>更复杂之删除</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000" b="0" dirty="0">
                <a:latin typeface="微软雅黑" panose="020B0503020204020204" pitchFamily="34" charset="-122"/>
                <a:ea typeface="微软雅黑" panose="020B0503020204020204" pitchFamily="34" charset="-122"/>
              </a:rPr>
              <a:t>转移键值后</a:t>
            </a:r>
            <a:endParaRPr lang="zh-CN" altLang="en-US" sz="2000" b="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2000" dirty="0">
              <a:latin typeface="微软雅黑" panose="020B0503020204020204" pitchFamily="34" charset="-122"/>
              <a:ea typeface="微软雅黑" panose="020B0503020204020204" pitchFamily="34" charset="-122"/>
            </a:endParaRPr>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zh-CN" altLang="en-US" dirty="0"/>
              <a:t>分裂与合并过程再示例</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2" name="Group 220"/>
          <p:cNvGraphicFramePr>
            <a:graphicFrameLocks noGrp="1"/>
          </p:cNvGraphicFramePr>
          <p:nvPr/>
        </p:nvGraphicFramePr>
        <p:xfrm>
          <a:off x="3980150" y="2277576"/>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242"/>
          <p:cNvGraphicFramePr>
            <a:graphicFrameLocks noGrp="1"/>
          </p:cNvGraphicFramePr>
          <p:nvPr/>
        </p:nvGraphicFramePr>
        <p:xfrm>
          <a:off x="2151350" y="3191976"/>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 name="Group 264"/>
          <p:cNvGraphicFramePr>
            <a:graphicFrameLocks noGrp="1"/>
          </p:cNvGraphicFramePr>
          <p:nvPr/>
        </p:nvGraphicFramePr>
        <p:xfrm>
          <a:off x="5580350" y="3191976"/>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 name="Group 286"/>
          <p:cNvGraphicFramePr>
            <a:graphicFrameLocks noGrp="1"/>
          </p:cNvGraphicFramePr>
          <p:nvPr/>
        </p:nvGraphicFramePr>
        <p:xfrm>
          <a:off x="703550" y="4639776"/>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9" name="Group 308"/>
          <p:cNvGraphicFramePr>
            <a:graphicFrameLocks noGrp="1"/>
          </p:cNvGraphicFramePr>
          <p:nvPr/>
        </p:nvGraphicFramePr>
        <p:xfrm>
          <a:off x="2532350" y="4639776"/>
          <a:ext cx="1537018" cy="685800"/>
        </p:xfrm>
        <a:graphic>
          <a:graphicData uri="http://schemas.openxmlformats.org/drawingml/2006/table">
            <a:tbl>
              <a:tblPr/>
              <a:tblGrid>
                <a:gridCol w="223838"/>
                <a:gridCol w="185737"/>
                <a:gridCol w="185738"/>
                <a:gridCol w="185737"/>
                <a:gridCol w="182563"/>
                <a:gridCol w="182562"/>
                <a:gridCol w="182563"/>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 name="Group 330"/>
          <p:cNvGraphicFramePr>
            <a:graphicFrameLocks noGrp="1"/>
          </p:cNvGraphicFramePr>
          <p:nvPr/>
        </p:nvGraphicFramePr>
        <p:xfrm>
          <a:off x="5808950" y="4639776"/>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1" name="Group 352"/>
          <p:cNvGraphicFramePr>
            <a:graphicFrameLocks noGrp="1"/>
          </p:cNvGraphicFramePr>
          <p:nvPr/>
        </p:nvGraphicFramePr>
        <p:xfrm>
          <a:off x="7561550" y="4639776"/>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 name="Line 374"/>
          <p:cNvSpPr/>
          <p:nvPr/>
        </p:nvSpPr>
        <p:spPr>
          <a:xfrm flipH="1">
            <a:off x="2151350" y="2810976"/>
            <a:ext cx="1981200" cy="381000"/>
          </a:xfrm>
          <a:prstGeom prst="line">
            <a:avLst/>
          </a:prstGeom>
          <a:ln w="9525" cap="flat" cmpd="sng">
            <a:solidFill>
              <a:schemeClr val="tx1"/>
            </a:solidFill>
            <a:prstDash val="solid"/>
            <a:round/>
            <a:headEnd type="none" w="med" len="med"/>
            <a:tailEnd type="triangle" w="med" len="med"/>
          </a:ln>
        </p:spPr>
      </p:sp>
      <p:sp>
        <p:nvSpPr>
          <p:cNvPr id="13" name="Line 375"/>
          <p:cNvSpPr/>
          <p:nvPr/>
        </p:nvSpPr>
        <p:spPr>
          <a:xfrm>
            <a:off x="4513550" y="2810976"/>
            <a:ext cx="1066800" cy="381000"/>
          </a:xfrm>
          <a:prstGeom prst="line">
            <a:avLst/>
          </a:prstGeom>
          <a:ln w="9525" cap="flat" cmpd="sng">
            <a:solidFill>
              <a:schemeClr val="tx1"/>
            </a:solidFill>
            <a:prstDash val="solid"/>
            <a:round/>
            <a:headEnd type="none" w="med" len="med"/>
            <a:tailEnd type="triangle" w="med" len="med"/>
          </a:ln>
        </p:spPr>
      </p:sp>
      <p:sp>
        <p:nvSpPr>
          <p:cNvPr id="14" name="Line 376"/>
          <p:cNvSpPr/>
          <p:nvPr/>
        </p:nvSpPr>
        <p:spPr>
          <a:xfrm flipH="1">
            <a:off x="1236950" y="3725376"/>
            <a:ext cx="1066800" cy="914400"/>
          </a:xfrm>
          <a:prstGeom prst="line">
            <a:avLst/>
          </a:prstGeom>
          <a:ln w="9525" cap="flat" cmpd="sng">
            <a:solidFill>
              <a:schemeClr val="tx1"/>
            </a:solidFill>
            <a:prstDash val="solid"/>
            <a:round/>
            <a:headEnd type="none" w="med" len="med"/>
            <a:tailEnd type="triangle" w="med" len="med"/>
          </a:ln>
        </p:spPr>
      </p:sp>
      <p:sp>
        <p:nvSpPr>
          <p:cNvPr id="15" name="Line 377"/>
          <p:cNvSpPr/>
          <p:nvPr/>
        </p:nvSpPr>
        <p:spPr>
          <a:xfrm>
            <a:off x="2684750" y="3725376"/>
            <a:ext cx="381000" cy="914400"/>
          </a:xfrm>
          <a:prstGeom prst="line">
            <a:avLst/>
          </a:prstGeom>
          <a:ln w="9525" cap="flat" cmpd="sng">
            <a:solidFill>
              <a:schemeClr val="tx1"/>
            </a:solidFill>
            <a:prstDash val="solid"/>
            <a:round/>
            <a:headEnd type="none" w="med" len="med"/>
            <a:tailEnd type="triangle" w="med" len="med"/>
          </a:ln>
        </p:spPr>
      </p:sp>
      <p:sp>
        <p:nvSpPr>
          <p:cNvPr id="16" name="Line 378"/>
          <p:cNvSpPr/>
          <p:nvPr/>
        </p:nvSpPr>
        <p:spPr>
          <a:xfrm>
            <a:off x="3675350" y="3725376"/>
            <a:ext cx="2133600" cy="914400"/>
          </a:xfrm>
          <a:prstGeom prst="line">
            <a:avLst/>
          </a:prstGeom>
          <a:ln w="9525" cap="flat" cmpd="sng">
            <a:solidFill>
              <a:schemeClr val="tx1"/>
            </a:solidFill>
            <a:prstDash val="solid"/>
            <a:round/>
            <a:headEnd type="none" w="med" len="med"/>
            <a:tailEnd type="triangle" w="med" len="med"/>
          </a:ln>
        </p:spPr>
      </p:sp>
      <p:sp>
        <p:nvSpPr>
          <p:cNvPr id="17" name="Line 379"/>
          <p:cNvSpPr/>
          <p:nvPr/>
        </p:nvSpPr>
        <p:spPr>
          <a:xfrm>
            <a:off x="5732750" y="3725376"/>
            <a:ext cx="1828800" cy="914400"/>
          </a:xfrm>
          <a:prstGeom prst="line">
            <a:avLst/>
          </a:prstGeom>
          <a:ln w="9525" cap="flat" cmpd="sng">
            <a:solidFill>
              <a:schemeClr val="tx1"/>
            </a:solidFill>
            <a:prstDash val="solid"/>
            <a:round/>
            <a:headEnd type="none" w="med" len="med"/>
            <a:tailEnd type="triangle" w="med" len="med"/>
          </a:ln>
        </p:spPr>
      </p:sp>
      <p:sp>
        <p:nvSpPr>
          <p:cNvPr id="18" name="Line 380"/>
          <p:cNvSpPr/>
          <p:nvPr/>
        </p:nvSpPr>
        <p:spPr>
          <a:xfrm>
            <a:off x="6113750" y="3725376"/>
            <a:ext cx="2438400" cy="838200"/>
          </a:xfrm>
          <a:prstGeom prst="line">
            <a:avLst/>
          </a:prstGeom>
          <a:ln w="9525" cap="flat" cmpd="sng">
            <a:solidFill>
              <a:schemeClr val="tx1"/>
            </a:solidFill>
            <a:prstDash val="solid"/>
            <a:round/>
            <a:headEnd type="none" w="med" len="med"/>
            <a:tailEnd type="triangle" w="med" len="med"/>
          </a:ln>
        </p:spPr>
      </p:sp>
      <p:sp>
        <p:nvSpPr>
          <p:cNvPr id="19" name="Line 381"/>
          <p:cNvSpPr/>
          <p:nvPr/>
        </p:nvSpPr>
        <p:spPr>
          <a:xfrm>
            <a:off x="6723350" y="3801576"/>
            <a:ext cx="2362200" cy="838200"/>
          </a:xfrm>
          <a:prstGeom prst="line">
            <a:avLst/>
          </a:prstGeom>
          <a:ln w="9525" cap="flat" cmpd="sng">
            <a:solidFill>
              <a:schemeClr val="tx1"/>
            </a:solidFill>
            <a:prstDash val="solid"/>
            <a:round/>
            <a:headEnd type="none" w="med" len="med"/>
            <a:tailEnd type="triangle" w="med" len="med"/>
          </a:ln>
        </p:spPr>
      </p:sp>
      <p:sp>
        <p:nvSpPr>
          <p:cNvPr id="20" name="Line 382"/>
          <p:cNvSpPr/>
          <p:nvPr/>
        </p:nvSpPr>
        <p:spPr>
          <a:xfrm>
            <a:off x="7256750" y="3725376"/>
            <a:ext cx="2209800" cy="838200"/>
          </a:xfrm>
          <a:prstGeom prst="line">
            <a:avLst/>
          </a:prstGeom>
          <a:ln w="9525" cap="flat" cmpd="sng">
            <a:solidFill>
              <a:schemeClr val="tx1"/>
            </a:solidFill>
            <a:prstDash val="solid"/>
            <a:round/>
            <a:headEnd type="none" w="med" len="med"/>
            <a:tailEnd type="triangle" w="med" len="med"/>
          </a:ln>
        </p:spPr>
      </p:sp>
      <p:sp>
        <p:nvSpPr>
          <p:cNvPr id="21" name="Line 383"/>
          <p:cNvSpPr/>
          <p:nvPr/>
        </p:nvSpPr>
        <p:spPr>
          <a:xfrm>
            <a:off x="2227550" y="5173176"/>
            <a:ext cx="304800" cy="0"/>
          </a:xfrm>
          <a:prstGeom prst="line">
            <a:avLst/>
          </a:prstGeom>
          <a:ln w="9525" cap="flat" cmpd="sng">
            <a:solidFill>
              <a:schemeClr val="tx1"/>
            </a:solidFill>
            <a:prstDash val="solid"/>
            <a:round/>
            <a:headEnd type="none" w="med" len="med"/>
            <a:tailEnd type="triangle" w="med" len="med"/>
          </a:ln>
        </p:spPr>
      </p:sp>
      <p:sp>
        <p:nvSpPr>
          <p:cNvPr id="22" name="Line 384"/>
          <p:cNvSpPr/>
          <p:nvPr/>
        </p:nvSpPr>
        <p:spPr>
          <a:xfrm>
            <a:off x="3980150" y="5173176"/>
            <a:ext cx="304800" cy="0"/>
          </a:xfrm>
          <a:prstGeom prst="line">
            <a:avLst/>
          </a:prstGeom>
          <a:ln w="9525" cap="flat" cmpd="sng">
            <a:solidFill>
              <a:schemeClr val="tx1"/>
            </a:solidFill>
            <a:prstDash val="solid"/>
            <a:round/>
            <a:headEnd type="none" w="med" len="med"/>
            <a:tailEnd type="triangle" w="med" len="med"/>
          </a:ln>
        </p:spPr>
      </p:sp>
      <p:sp>
        <p:nvSpPr>
          <p:cNvPr id="23" name="Line 385"/>
          <p:cNvSpPr/>
          <p:nvPr/>
        </p:nvSpPr>
        <p:spPr>
          <a:xfrm>
            <a:off x="6723350" y="5173176"/>
            <a:ext cx="228600" cy="0"/>
          </a:xfrm>
          <a:prstGeom prst="line">
            <a:avLst/>
          </a:prstGeom>
          <a:ln w="9525" cap="flat" cmpd="sng">
            <a:solidFill>
              <a:schemeClr val="tx1"/>
            </a:solidFill>
            <a:prstDash val="solid"/>
            <a:round/>
            <a:headEnd type="none" w="med" len="med"/>
            <a:tailEnd type="triangle" w="med" len="med"/>
          </a:ln>
        </p:spPr>
      </p:sp>
      <p:sp>
        <p:nvSpPr>
          <p:cNvPr id="24" name="Rectangle 386"/>
          <p:cNvSpPr/>
          <p:nvPr/>
        </p:nvSpPr>
        <p:spPr>
          <a:xfrm>
            <a:off x="703550" y="6011376"/>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10</a:t>
            </a:r>
            <a:endParaRPr lang="en-US" altLang="zh-CN" sz="1400" b="0" dirty="0">
              <a:latin typeface="Times New Roman" panose="02020603050405020304" pitchFamily="18" charset="0"/>
              <a:ea typeface="宋体" panose="02010600030101010101" pitchFamily="2" charset="-122"/>
            </a:endParaRPr>
          </a:p>
        </p:txBody>
      </p:sp>
      <p:sp>
        <p:nvSpPr>
          <p:cNvPr id="25" name="Rectangle 387"/>
          <p:cNvSpPr/>
          <p:nvPr/>
        </p:nvSpPr>
        <p:spPr>
          <a:xfrm>
            <a:off x="1236950" y="6011376"/>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15</a:t>
            </a:r>
            <a:endParaRPr lang="en-US" altLang="zh-CN" sz="1400" b="0" dirty="0">
              <a:latin typeface="Times New Roman" panose="02020603050405020304" pitchFamily="18" charset="0"/>
              <a:ea typeface="宋体" panose="02010600030101010101" pitchFamily="2" charset="-122"/>
            </a:endParaRPr>
          </a:p>
        </p:txBody>
      </p:sp>
      <p:sp>
        <p:nvSpPr>
          <p:cNvPr id="26" name="Rectangle 388"/>
          <p:cNvSpPr/>
          <p:nvPr/>
        </p:nvSpPr>
        <p:spPr>
          <a:xfrm>
            <a:off x="1694150" y="6011376"/>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18</a:t>
            </a:r>
            <a:endParaRPr lang="en-US" altLang="zh-CN" sz="1400" b="0" dirty="0">
              <a:latin typeface="Times New Roman" panose="02020603050405020304" pitchFamily="18" charset="0"/>
              <a:ea typeface="宋体" panose="02010600030101010101" pitchFamily="2" charset="-122"/>
            </a:endParaRPr>
          </a:p>
        </p:txBody>
      </p:sp>
      <p:sp>
        <p:nvSpPr>
          <p:cNvPr id="27" name="Rectangle 389"/>
          <p:cNvSpPr/>
          <p:nvPr/>
        </p:nvSpPr>
        <p:spPr>
          <a:xfrm>
            <a:off x="2532350" y="6011376"/>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20</a:t>
            </a:r>
            <a:endParaRPr lang="en-US" altLang="zh-CN" sz="1400" b="0" dirty="0">
              <a:latin typeface="Times New Roman" panose="02020603050405020304" pitchFamily="18" charset="0"/>
              <a:ea typeface="宋体" panose="02010600030101010101" pitchFamily="2" charset="-122"/>
            </a:endParaRPr>
          </a:p>
        </p:txBody>
      </p:sp>
      <p:sp>
        <p:nvSpPr>
          <p:cNvPr id="28" name="Rectangle 390"/>
          <p:cNvSpPr/>
          <p:nvPr/>
        </p:nvSpPr>
        <p:spPr>
          <a:xfrm>
            <a:off x="3903950" y="6011376"/>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40</a:t>
            </a:r>
            <a:endParaRPr lang="en-US" altLang="zh-CN" sz="1400" b="0" dirty="0">
              <a:latin typeface="Times New Roman" panose="02020603050405020304" pitchFamily="18" charset="0"/>
              <a:ea typeface="宋体" panose="02010600030101010101" pitchFamily="2" charset="-122"/>
            </a:endParaRPr>
          </a:p>
        </p:txBody>
      </p:sp>
      <p:sp>
        <p:nvSpPr>
          <p:cNvPr id="29" name="Rectangle 391"/>
          <p:cNvSpPr/>
          <p:nvPr/>
        </p:nvSpPr>
        <p:spPr>
          <a:xfrm>
            <a:off x="5961350" y="6011376"/>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60</a:t>
            </a:r>
            <a:endParaRPr lang="en-US" altLang="zh-CN" sz="1400" b="0" dirty="0">
              <a:latin typeface="Times New Roman" panose="02020603050405020304" pitchFamily="18" charset="0"/>
              <a:ea typeface="宋体" panose="02010600030101010101" pitchFamily="2" charset="-122"/>
            </a:endParaRPr>
          </a:p>
        </p:txBody>
      </p:sp>
      <p:sp>
        <p:nvSpPr>
          <p:cNvPr id="30" name="Rectangle 392"/>
          <p:cNvSpPr/>
          <p:nvPr/>
        </p:nvSpPr>
        <p:spPr>
          <a:xfrm>
            <a:off x="6418550" y="6011376"/>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65</a:t>
            </a:r>
            <a:endParaRPr lang="en-US" altLang="zh-CN" sz="1400" b="0" dirty="0">
              <a:latin typeface="Times New Roman" panose="02020603050405020304" pitchFamily="18" charset="0"/>
              <a:ea typeface="宋体" panose="02010600030101010101" pitchFamily="2" charset="-122"/>
            </a:endParaRPr>
          </a:p>
        </p:txBody>
      </p:sp>
      <p:sp>
        <p:nvSpPr>
          <p:cNvPr id="31" name="Rectangle 393"/>
          <p:cNvSpPr/>
          <p:nvPr/>
        </p:nvSpPr>
        <p:spPr>
          <a:xfrm>
            <a:off x="6875750" y="6011376"/>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80</a:t>
            </a:r>
            <a:endParaRPr lang="en-US" altLang="zh-CN" sz="1400" b="0" dirty="0">
              <a:latin typeface="Times New Roman" panose="02020603050405020304" pitchFamily="18" charset="0"/>
              <a:ea typeface="宋体" panose="02010600030101010101" pitchFamily="2" charset="-122"/>
            </a:endParaRPr>
          </a:p>
        </p:txBody>
      </p:sp>
      <p:sp>
        <p:nvSpPr>
          <p:cNvPr id="33" name="Rectangle 394"/>
          <p:cNvSpPr/>
          <p:nvPr/>
        </p:nvSpPr>
        <p:spPr>
          <a:xfrm>
            <a:off x="7409150" y="6011376"/>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85</a:t>
            </a:r>
            <a:endParaRPr lang="en-US" altLang="zh-CN" sz="1400" b="0" dirty="0">
              <a:latin typeface="Times New Roman" panose="02020603050405020304" pitchFamily="18" charset="0"/>
              <a:ea typeface="宋体" panose="02010600030101010101" pitchFamily="2" charset="-122"/>
            </a:endParaRPr>
          </a:p>
        </p:txBody>
      </p:sp>
      <p:sp>
        <p:nvSpPr>
          <p:cNvPr id="34" name="Rectangle 395"/>
          <p:cNvSpPr/>
          <p:nvPr/>
        </p:nvSpPr>
        <p:spPr>
          <a:xfrm>
            <a:off x="7942550" y="6011376"/>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90</a:t>
            </a:r>
            <a:endParaRPr lang="en-US" altLang="zh-CN" sz="1400" b="0" dirty="0">
              <a:latin typeface="Times New Roman" panose="02020603050405020304" pitchFamily="18" charset="0"/>
              <a:ea typeface="宋体" panose="02010600030101010101" pitchFamily="2" charset="-122"/>
            </a:endParaRPr>
          </a:p>
        </p:txBody>
      </p:sp>
      <p:sp>
        <p:nvSpPr>
          <p:cNvPr id="35" name="Line 396"/>
          <p:cNvSpPr/>
          <p:nvPr/>
        </p:nvSpPr>
        <p:spPr>
          <a:xfrm flipH="1">
            <a:off x="703550" y="5173176"/>
            <a:ext cx="152400" cy="838200"/>
          </a:xfrm>
          <a:prstGeom prst="line">
            <a:avLst/>
          </a:prstGeom>
          <a:ln w="9525" cap="flat" cmpd="sng">
            <a:solidFill>
              <a:schemeClr val="tx1"/>
            </a:solidFill>
            <a:prstDash val="solid"/>
            <a:round/>
            <a:headEnd type="none" w="med" len="med"/>
            <a:tailEnd type="triangle" w="med" len="med"/>
          </a:ln>
        </p:spPr>
      </p:sp>
      <p:sp>
        <p:nvSpPr>
          <p:cNvPr id="36" name="Line 397"/>
          <p:cNvSpPr/>
          <p:nvPr/>
        </p:nvSpPr>
        <p:spPr>
          <a:xfrm>
            <a:off x="1160750" y="5173176"/>
            <a:ext cx="76200" cy="838200"/>
          </a:xfrm>
          <a:prstGeom prst="line">
            <a:avLst/>
          </a:prstGeom>
          <a:ln w="9525" cap="flat" cmpd="sng">
            <a:solidFill>
              <a:schemeClr val="tx1"/>
            </a:solidFill>
            <a:prstDash val="solid"/>
            <a:round/>
            <a:headEnd type="none" w="med" len="med"/>
            <a:tailEnd type="triangle" w="med" len="med"/>
          </a:ln>
        </p:spPr>
      </p:sp>
      <p:sp>
        <p:nvSpPr>
          <p:cNvPr id="37" name="Line 398"/>
          <p:cNvSpPr/>
          <p:nvPr/>
        </p:nvSpPr>
        <p:spPr>
          <a:xfrm>
            <a:off x="1541750" y="5173176"/>
            <a:ext cx="228600" cy="838200"/>
          </a:xfrm>
          <a:prstGeom prst="line">
            <a:avLst/>
          </a:prstGeom>
          <a:ln w="9525" cap="flat" cmpd="sng">
            <a:solidFill>
              <a:schemeClr val="tx1"/>
            </a:solidFill>
            <a:prstDash val="solid"/>
            <a:round/>
            <a:headEnd type="none" w="med" len="med"/>
            <a:tailEnd type="triangle" w="med" len="med"/>
          </a:ln>
        </p:spPr>
      </p:sp>
      <p:sp>
        <p:nvSpPr>
          <p:cNvPr id="38" name="Line 399"/>
          <p:cNvSpPr/>
          <p:nvPr/>
        </p:nvSpPr>
        <p:spPr>
          <a:xfrm flipH="1">
            <a:off x="2608550" y="5173176"/>
            <a:ext cx="76200" cy="838200"/>
          </a:xfrm>
          <a:prstGeom prst="line">
            <a:avLst/>
          </a:prstGeom>
          <a:ln w="9525" cap="flat" cmpd="sng">
            <a:solidFill>
              <a:schemeClr val="tx1"/>
            </a:solidFill>
            <a:prstDash val="solid"/>
            <a:round/>
            <a:headEnd type="none" w="med" len="med"/>
            <a:tailEnd type="triangle" w="med" len="med"/>
          </a:ln>
        </p:spPr>
      </p:sp>
      <p:sp>
        <p:nvSpPr>
          <p:cNvPr id="39" name="Line 400"/>
          <p:cNvSpPr/>
          <p:nvPr/>
        </p:nvSpPr>
        <p:spPr>
          <a:xfrm flipH="1">
            <a:off x="3980150" y="5173176"/>
            <a:ext cx="381000" cy="838200"/>
          </a:xfrm>
          <a:prstGeom prst="line">
            <a:avLst/>
          </a:prstGeom>
          <a:ln w="9525" cap="flat" cmpd="sng">
            <a:solidFill>
              <a:schemeClr val="tx1"/>
            </a:solidFill>
            <a:prstDash val="solid"/>
            <a:round/>
            <a:headEnd type="none" w="med" len="med"/>
            <a:tailEnd type="triangle" w="med" len="med"/>
          </a:ln>
        </p:spPr>
      </p:sp>
      <p:sp>
        <p:nvSpPr>
          <p:cNvPr id="40" name="Line 401"/>
          <p:cNvSpPr/>
          <p:nvPr/>
        </p:nvSpPr>
        <p:spPr>
          <a:xfrm>
            <a:off x="5961350" y="5173176"/>
            <a:ext cx="0" cy="838200"/>
          </a:xfrm>
          <a:prstGeom prst="line">
            <a:avLst/>
          </a:prstGeom>
          <a:ln w="9525" cap="flat" cmpd="sng">
            <a:solidFill>
              <a:schemeClr val="tx1"/>
            </a:solidFill>
            <a:prstDash val="solid"/>
            <a:round/>
            <a:headEnd type="none" w="med" len="med"/>
            <a:tailEnd type="triangle" w="med" len="med"/>
          </a:ln>
        </p:spPr>
      </p:sp>
      <p:sp>
        <p:nvSpPr>
          <p:cNvPr id="41" name="Line 402"/>
          <p:cNvSpPr/>
          <p:nvPr/>
        </p:nvSpPr>
        <p:spPr>
          <a:xfrm>
            <a:off x="6189950" y="5096976"/>
            <a:ext cx="228600" cy="914400"/>
          </a:xfrm>
          <a:prstGeom prst="line">
            <a:avLst/>
          </a:prstGeom>
          <a:ln w="9525" cap="flat" cmpd="sng">
            <a:solidFill>
              <a:schemeClr val="tx1"/>
            </a:solidFill>
            <a:prstDash val="solid"/>
            <a:round/>
            <a:headEnd type="none" w="med" len="med"/>
            <a:tailEnd type="triangle" w="med" len="med"/>
          </a:ln>
        </p:spPr>
      </p:sp>
      <p:sp>
        <p:nvSpPr>
          <p:cNvPr id="42" name="Line 403"/>
          <p:cNvSpPr/>
          <p:nvPr/>
        </p:nvSpPr>
        <p:spPr>
          <a:xfrm flipH="1">
            <a:off x="6875750" y="5173176"/>
            <a:ext cx="838200" cy="838200"/>
          </a:xfrm>
          <a:prstGeom prst="line">
            <a:avLst/>
          </a:prstGeom>
          <a:ln w="9525" cap="flat" cmpd="sng">
            <a:solidFill>
              <a:schemeClr val="tx1"/>
            </a:solidFill>
            <a:prstDash val="solid"/>
            <a:round/>
            <a:headEnd type="none" w="med" len="med"/>
            <a:tailEnd type="triangle" w="med" len="med"/>
          </a:ln>
        </p:spPr>
      </p:sp>
      <p:sp>
        <p:nvSpPr>
          <p:cNvPr id="43" name="Line 404"/>
          <p:cNvSpPr/>
          <p:nvPr/>
        </p:nvSpPr>
        <p:spPr>
          <a:xfrm flipH="1">
            <a:off x="7409150" y="5173176"/>
            <a:ext cx="609600" cy="838200"/>
          </a:xfrm>
          <a:prstGeom prst="line">
            <a:avLst/>
          </a:prstGeom>
          <a:ln w="9525" cap="flat" cmpd="sng">
            <a:solidFill>
              <a:schemeClr val="tx1"/>
            </a:solidFill>
            <a:prstDash val="solid"/>
            <a:round/>
            <a:headEnd type="none" w="med" len="med"/>
            <a:tailEnd type="triangle" w="med" len="med"/>
          </a:ln>
        </p:spPr>
      </p:sp>
      <p:sp>
        <p:nvSpPr>
          <p:cNvPr id="44" name="Line 405"/>
          <p:cNvSpPr/>
          <p:nvPr/>
        </p:nvSpPr>
        <p:spPr>
          <a:xfrm flipH="1">
            <a:off x="7942550" y="5173176"/>
            <a:ext cx="457200" cy="838200"/>
          </a:xfrm>
          <a:prstGeom prst="line">
            <a:avLst/>
          </a:prstGeom>
          <a:ln w="9525" cap="flat" cmpd="sng">
            <a:solidFill>
              <a:schemeClr val="tx1"/>
            </a:solidFill>
            <a:prstDash val="solid"/>
            <a:round/>
            <a:headEnd type="none" w="med" len="med"/>
            <a:tailEnd type="triangle" w="med" len="med"/>
          </a:ln>
        </p:spPr>
      </p:sp>
      <p:sp>
        <p:nvSpPr>
          <p:cNvPr id="45" name="Line 406"/>
          <p:cNvSpPr/>
          <p:nvPr/>
        </p:nvSpPr>
        <p:spPr>
          <a:xfrm>
            <a:off x="8475950" y="5173176"/>
            <a:ext cx="304800" cy="0"/>
          </a:xfrm>
          <a:prstGeom prst="line">
            <a:avLst/>
          </a:prstGeom>
          <a:ln w="9525" cap="flat" cmpd="sng">
            <a:solidFill>
              <a:schemeClr val="tx1"/>
            </a:solidFill>
            <a:prstDash val="solid"/>
            <a:round/>
            <a:headEnd type="none" w="med" len="med"/>
            <a:tailEnd type="triangle" w="med" len="med"/>
          </a:ln>
        </p:spPr>
      </p:sp>
      <p:sp>
        <p:nvSpPr>
          <p:cNvPr id="46" name="Rectangle 407"/>
          <p:cNvSpPr/>
          <p:nvPr/>
        </p:nvSpPr>
        <p:spPr>
          <a:xfrm>
            <a:off x="2113250" y="6011376"/>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19</a:t>
            </a:r>
            <a:endParaRPr lang="en-US" altLang="zh-CN" sz="1400" b="0" dirty="0">
              <a:latin typeface="Times New Roman" panose="02020603050405020304" pitchFamily="18" charset="0"/>
              <a:ea typeface="宋体" panose="02010600030101010101" pitchFamily="2" charset="-122"/>
            </a:endParaRPr>
          </a:p>
        </p:txBody>
      </p:sp>
      <p:sp>
        <p:nvSpPr>
          <p:cNvPr id="47" name="Line 408"/>
          <p:cNvSpPr/>
          <p:nvPr/>
        </p:nvSpPr>
        <p:spPr>
          <a:xfrm>
            <a:off x="1922750" y="5173176"/>
            <a:ext cx="228600" cy="762000"/>
          </a:xfrm>
          <a:prstGeom prst="line">
            <a:avLst/>
          </a:prstGeom>
          <a:ln w="9525" cap="flat" cmpd="sng">
            <a:solidFill>
              <a:schemeClr val="tx1"/>
            </a:solidFill>
            <a:prstDash val="solid"/>
            <a:round/>
            <a:headEnd type="none" w="med" len="med"/>
            <a:tailEnd type="triangle" w="med" len="med"/>
          </a:ln>
        </p:spPr>
      </p:sp>
      <p:sp>
        <p:nvSpPr>
          <p:cNvPr id="48" name="Rectangle 410"/>
          <p:cNvSpPr/>
          <p:nvPr/>
        </p:nvSpPr>
        <p:spPr>
          <a:xfrm>
            <a:off x="5504150" y="6011376"/>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50</a:t>
            </a:r>
            <a:endParaRPr lang="en-US" altLang="zh-CN" sz="1400" b="0" dirty="0">
              <a:latin typeface="Times New Roman" panose="02020603050405020304" pitchFamily="18" charset="0"/>
              <a:ea typeface="宋体" panose="02010600030101010101" pitchFamily="2" charset="-122"/>
            </a:endParaRPr>
          </a:p>
        </p:txBody>
      </p:sp>
      <p:sp>
        <p:nvSpPr>
          <p:cNvPr id="49" name="Line 411"/>
          <p:cNvSpPr/>
          <p:nvPr/>
        </p:nvSpPr>
        <p:spPr>
          <a:xfrm>
            <a:off x="4589750" y="5173176"/>
            <a:ext cx="1066800" cy="838200"/>
          </a:xfrm>
          <a:prstGeom prst="line">
            <a:avLst/>
          </a:prstGeom>
          <a:ln w="9525" cap="flat" cmpd="sng">
            <a:solidFill>
              <a:schemeClr val="tx1"/>
            </a:solidFill>
            <a:prstDash val="solid"/>
            <a:round/>
            <a:headEnd type="none" w="med" len="med"/>
            <a:tailEnd type="triangle" w="med" len="med"/>
          </a:ln>
        </p:spPr>
      </p:sp>
      <p:graphicFrame>
        <p:nvGraphicFramePr>
          <p:cNvPr id="50" name="Group 412"/>
          <p:cNvGraphicFramePr>
            <a:graphicFrameLocks noGrp="1"/>
          </p:cNvGraphicFramePr>
          <p:nvPr/>
        </p:nvGraphicFramePr>
        <p:xfrm>
          <a:off x="4208750" y="4639776"/>
          <a:ext cx="1537018" cy="685800"/>
        </p:xfrm>
        <a:graphic>
          <a:graphicData uri="http://schemas.openxmlformats.org/drawingml/2006/table">
            <a:tbl>
              <a:tblPr/>
              <a:tblGrid>
                <a:gridCol w="223838"/>
                <a:gridCol w="185737"/>
                <a:gridCol w="185738"/>
                <a:gridCol w="185737"/>
                <a:gridCol w="182563"/>
                <a:gridCol w="182562"/>
                <a:gridCol w="182563"/>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1" name="Line 434"/>
          <p:cNvSpPr/>
          <p:nvPr/>
        </p:nvSpPr>
        <p:spPr>
          <a:xfrm>
            <a:off x="5656550" y="5173176"/>
            <a:ext cx="228600" cy="0"/>
          </a:xfrm>
          <a:prstGeom prst="line">
            <a:avLst/>
          </a:prstGeom>
          <a:ln w="9525" cap="flat" cmpd="sng">
            <a:solidFill>
              <a:schemeClr val="tx1"/>
            </a:solidFill>
            <a:prstDash val="solid"/>
            <a:round/>
            <a:headEnd type="none" w="med" len="med"/>
            <a:tailEnd type="triangle" w="med" len="med"/>
          </a:ln>
        </p:spPr>
      </p:sp>
      <p:sp>
        <p:nvSpPr>
          <p:cNvPr id="52" name="Line 435"/>
          <p:cNvSpPr/>
          <p:nvPr/>
        </p:nvSpPr>
        <p:spPr>
          <a:xfrm>
            <a:off x="3218150" y="3725376"/>
            <a:ext cx="990600" cy="914400"/>
          </a:xfrm>
          <a:prstGeom prst="line">
            <a:avLst/>
          </a:prstGeom>
          <a:ln w="9525" cap="flat" cmpd="sng">
            <a:solidFill>
              <a:schemeClr val="tx1"/>
            </a:solidFill>
            <a:prstDash val="solid"/>
            <a:round/>
            <a:headEnd type="none" w="med" len="med"/>
            <a:tailEnd type="triangle" w="med" len="med"/>
          </a:ln>
        </p:spPr>
      </p:sp>
      <p:sp>
        <p:nvSpPr>
          <p:cNvPr id="53" name="AutoShape 436"/>
          <p:cNvSpPr/>
          <p:nvPr/>
        </p:nvSpPr>
        <p:spPr>
          <a:xfrm>
            <a:off x="1998950" y="3953976"/>
            <a:ext cx="1062038" cy="685800"/>
          </a:xfrm>
          <a:prstGeom prst="curvedDownArrow">
            <a:avLst>
              <a:gd name="adj1" fmla="val 21465"/>
              <a:gd name="adj2" fmla="val 61543"/>
              <a:gd name="adj3" fmla="val 41555"/>
            </a:avLst>
          </a:prstGeom>
          <a:solidFill>
            <a:srgbClr val="CC0000"/>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楷体_GB2312" pitchFamily="49" charset="-122"/>
            </a:endParaRPr>
          </a:p>
        </p:txBody>
      </p:sp>
      <p:sp>
        <p:nvSpPr>
          <p:cNvPr id="54" name="Line 439"/>
          <p:cNvSpPr/>
          <p:nvPr/>
        </p:nvSpPr>
        <p:spPr>
          <a:xfrm>
            <a:off x="411450" y="4234964"/>
            <a:ext cx="9144000" cy="28575"/>
          </a:xfrm>
          <a:prstGeom prst="line">
            <a:avLst/>
          </a:prstGeom>
          <a:ln w="38100" cap="flat" cmpd="dbl">
            <a:solidFill>
              <a:srgbClr val="CC0000"/>
            </a:solidFill>
            <a:prstDash val="dash"/>
            <a:round/>
            <a:headEnd type="none" w="med" len="med"/>
            <a:tailEnd type="none" w="med" len="med"/>
          </a:ln>
        </p:spPr>
      </p:sp>
      <p:sp>
        <p:nvSpPr>
          <p:cNvPr id="55" name="Line 440"/>
          <p:cNvSpPr/>
          <p:nvPr/>
        </p:nvSpPr>
        <p:spPr>
          <a:xfrm>
            <a:off x="397163" y="5714514"/>
            <a:ext cx="9144000" cy="28575"/>
          </a:xfrm>
          <a:prstGeom prst="line">
            <a:avLst/>
          </a:prstGeom>
          <a:ln w="38100" cap="flat" cmpd="dbl">
            <a:solidFill>
              <a:srgbClr val="CC0000"/>
            </a:solidFill>
            <a:prstDash val="dash"/>
            <a:round/>
            <a:headEnd type="none" w="med" len="med"/>
            <a:tailEnd type="none" w="med" len="med"/>
          </a:ln>
        </p:spPr>
      </p:sp>
      <p:sp>
        <p:nvSpPr>
          <p:cNvPr id="56" name="Text Box 441"/>
          <p:cNvSpPr txBox="1"/>
          <p:nvPr/>
        </p:nvSpPr>
        <p:spPr>
          <a:xfrm>
            <a:off x="8267988" y="3784114"/>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非叶结点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57" name="Text Box 442"/>
          <p:cNvSpPr txBox="1"/>
          <p:nvPr/>
        </p:nvSpPr>
        <p:spPr>
          <a:xfrm>
            <a:off x="8283863" y="4271476"/>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叶子结点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58" name="Text Box 443"/>
          <p:cNvSpPr txBox="1"/>
          <p:nvPr/>
        </p:nvSpPr>
        <p:spPr>
          <a:xfrm>
            <a:off x="8398163" y="5752614"/>
            <a:ext cx="1025525" cy="701675"/>
          </a:xfrm>
          <a:prstGeom prst="rect">
            <a:avLst/>
          </a:prstGeom>
          <a:noFill/>
          <a:ln w="9525">
            <a:noFill/>
          </a:ln>
        </p:spPr>
        <p:txBody>
          <a:bodyPr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主文件的记录</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59" name="Rectangle 451"/>
          <p:cNvSpPr/>
          <p:nvPr/>
        </p:nvSpPr>
        <p:spPr>
          <a:xfrm>
            <a:off x="2522825" y="4625489"/>
            <a:ext cx="1522413" cy="723900"/>
          </a:xfrm>
          <a:prstGeom prst="rect">
            <a:avLst/>
          </a:prstGeom>
          <a:noFill/>
          <a:ln w="76200" cap="flat" cmpd="sng">
            <a:solidFill>
              <a:srgbClr val="CC0000"/>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60" name="Rectangle 452"/>
          <p:cNvSpPr/>
          <p:nvPr/>
        </p:nvSpPr>
        <p:spPr>
          <a:xfrm>
            <a:off x="2129125" y="3171339"/>
            <a:ext cx="2174875" cy="723900"/>
          </a:xfrm>
          <a:prstGeom prst="rect">
            <a:avLst/>
          </a:prstGeom>
          <a:noFill/>
          <a:ln w="76200" cap="flat" cmpd="sng">
            <a:solidFill>
              <a:srgbClr val="CC0000"/>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grpSp>
        <p:nvGrpSpPr>
          <p:cNvPr id="61" name="Group 444"/>
          <p:cNvGrpSpPr/>
          <p:nvPr/>
        </p:nvGrpSpPr>
        <p:grpSpPr>
          <a:xfrm>
            <a:off x="6559551" y="1949450"/>
            <a:ext cx="5303002" cy="1362351"/>
            <a:chOff x="1265" y="3268"/>
            <a:chExt cx="1169" cy="789"/>
          </a:xfrm>
        </p:grpSpPr>
        <p:sp>
          <p:nvSpPr>
            <p:cNvPr id="62" name="AutoShape 39"/>
            <p:cNvSpPr/>
            <p:nvPr/>
          </p:nvSpPr>
          <p:spPr>
            <a:xfrm>
              <a:off x="1265" y="3268"/>
              <a:ext cx="1169" cy="612"/>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63" name="Oval 40"/>
            <p:cNvSpPr/>
            <p:nvPr/>
          </p:nvSpPr>
          <p:spPr>
            <a:xfrm>
              <a:off x="1285" y="3294"/>
              <a:ext cx="1130" cy="548"/>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64" name="Text Box 84"/>
            <p:cNvSpPr/>
            <p:nvPr/>
          </p:nvSpPr>
          <p:spPr>
            <a:xfrm>
              <a:off x="1303" y="3304"/>
              <a:ext cx="1131" cy="753"/>
            </a:xfrm>
            <a:prstGeom prst="roundRect">
              <a:avLst>
                <a:gd name="adj" fmla="val 16667"/>
              </a:avLst>
            </a:prstGeom>
            <a:noFill/>
            <a:ln w="9525">
              <a:noFill/>
            </a:ln>
          </p:spPr>
          <p:txBody>
            <a:bodyPr wrap="square" anchor="t">
              <a:spAutoFit/>
            </a:bodyPr>
            <a:lstStyle/>
            <a:p>
              <a:pPr>
                <a:spcBef>
                  <a:spcPct val="20000"/>
                </a:spcBef>
                <a:buChar char="•"/>
              </a:pPr>
              <a:r>
                <a:rPr lang="zh-CN" altLang="en-US" sz="1600" dirty="0">
                  <a:solidFill>
                    <a:srgbClr val="CC0000"/>
                  </a:solidFill>
                  <a:latin typeface="Arial" panose="020B0604020202020204" pitchFamily="34" charset="0"/>
                  <a:ea typeface="微软雅黑" panose="020B0503020204020204" pitchFamily="34" charset="-122"/>
                </a:rPr>
                <a:t>键值删除后，</a:t>
              </a:r>
              <a:r>
                <a:rPr lang="zh-CN" altLang="en-US" sz="1600" dirty="0">
                  <a:solidFill>
                    <a:schemeClr val="accent2"/>
                  </a:solidFill>
                  <a:latin typeface="Arial" panose="020B0604020202020204" pitchFamily="34" charset="0"/>
                  <a:ea typeface="微软雅黑" panose="020B0503020204020204" pitchFamily="34" charset="-122"/>
                </a:rPr>
                <a:t>如指针数目少于规定数目，则需要合并</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从相邻结点能否转移一些键值到该结点，如可以，则转移；并更新父结点之相应键值</a:t>
              </a:r>
              <a:endParaRPr lang="zh-CN" altLang="en-US" sz="1600" dirty="0">
                <a:solidFill>
                  <a:schemeClr val="accent2"/>
                </a:solidFill>
                <a:latin typeface="Arial" panose="020B0604020202020204" pitchFamily="34" charset="0"/>
                <a:ea typeface="微软雅黑" panose="020B0503020204020204" pitchFamily="34" charset="-122"/>
              </a:endParaRPr>
            </a:p>
          </p:txBody>
        </p:sp>
      </p:grpSp>
      <p:sp>
        <p:nvSpPr>
          <p:cNvPr id="65" name="灯片编号占位符 64"/>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checkerboard(across)">
                                      <p:cBhvr>
                                        <p:cTn id="7" dur="500"/>
                                        <p:tgtEl>
                                          <p:spTgt spid="5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checkerboard(across)">
                                      <p:cBhvr>
                                        <p:cTn id="10" dur="500"/>
                                        <p:tgtEl>
                                          <p:spTgt spid="60"/>
                                        </p:tgtEl>
                                      </p:cBhvr>
                                    </p:animEffect>
                                  </p:childTnLst>
                                </p:cTn>
                              </p:par>
                              <p:par>
                                <p:cTn id="11" presetID="2" presetClass="entr" presetSubtype="4"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 calcmode="lin" valueType="num">
                                      <p:cBhvr additive="base">
                                        <p:cTn id="13" dur="500" fill="hold"/>
                                        <p:tgtEl>
                                          <p:spTgt spid="53"/>
                                        </p:tgtEl>
                                        <p:attrNameLst>
                                          <p:attrName>ppt_x</p:attrName>
                                        </p:attrNameLst>
                                      </p:cBhvr>
                                      <p:tavLst>
                                        <p:tav tm="0">
                                          <p:val>
                                            <p:strVal val="#ppt_x"/>
                                          </p:val>
                                        </p:tav>
                                        <p:tav tm="100000">
                                          <p:val>
                                            <p:strVal val="#ppt_x"/>
                                          </p:val>
                                        </p:tav>
                                      </p:tavLst>
                                    </p:anim>
                                    <p:anim calcmode="lin" valueType="num">
                                      <p:cBhvr additive="base">
                                        <p:cTn id="1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1"/>
                                        </p:tgtEl>
                                        <p:attrNameLst>
                                          <p:attrName>style.visibility</p:attrName>
                                        </p:attrNameLst>
                                      </p:cBhvr>
                                      <p:to>
                                        <p:strVal val="visible"/>
                                      </p:to>
                                    </p:set>
                                    <p:anim calcmode="lin" valueType="num">
                                      <p:cBhvr additive="base">
                                        <p:cTn id="19" dur="500" fill="hold"/>
                                        <p:tgtEl>
                                          <p:spTgt spid="61"/>
                                        </p:tgtEl>
                                        <p:attrNameLst>
                                          <p:attrName>ppt_x</p:attrName>
                                        </p:attrNameLst>
                                      </p:cBhvr>
                                      <p:tavLst>
                                        <p:tav tm="0">
                                          <p:val>
                                            <p:strVal val="#ppt_x"/>
                                          </p:val>
                                        </p:tav>
                                        <p:tav tm="100000">
                                          <p:val>
                                            <p:strVal val="#ppt_x"/>
                                          </p:val>
                                        </p:tav>
                                      </p:tavLst>
                                    </p:anim>
                                    <p:anim calcmode="lin" valueType="num">
                                      <p:cBhvr additive="base">
                                        <p:cTn id="20"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9" grpId="0" bldLvl="0" animBg="1"/>
      <p:bldP spid="60" grpId="0" bldLvl="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(9) </a:t>
            </a:r>
            <a:r>
              <a:rPr lang="zh-CN" altLang="en-US" sz="2600" dirty="0">
                <a:latin typeface="微软雅黑" panose="020B0503020204020204" pitchFamily="34" charset="-122"/>
                <a:ea typeface="微软雅黑" panose="020B0503020204020204" pitchFamily="34" charset="-122"/>
              </a:rPr>
              <a:t>结点之合并</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键值为</a:t>
            </a:r>
            <a:r>
              <a:rPr lang="en-US" altLang="zh-CN" sz="2000" b="0" dirty="0">
                <a:latin typeface="微软雅黑" panose="020B0503020204020204" pitchFamily="34" charset="-122"/>
                <a:ea typeface="微软雅黑" panose="020B0503020204020204" pitchFamily="34" charset="-122"/>
              </a:rPr>
              <a:t>40</a:t>
            </a:r>
            <a:r>
              <a:rPr lang="zh-CN" altLang="en-US" sz="2000" b="0" dirty="0">
                <a:latin typeface="微软雅黑" panose="020B0503020204020204" pitchFamily="34" charset="-122"/>
                <a:ea typeface="微软雅黑" panose="020B0503020204020204" pitchFamily="34" charset="-122"/>
              </a:rPr>
              <a:t>的记录删除后</a:t>
            </a:r>
            <a:endParaRPr lang="zh-CN" altLang="en-US" sz="36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zh-CN" altLang="en-US" dirty="0"/>
              <a:t>分裂与合并过程再示例</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65" name="Group 2"/>
          <p:cNvGraphicFramePr>
            <a:graphicFrameLocks noGrp="1"/>
          </p:cNvGraphicFramePr>
          <p:nvPr/>
        </p:nvGraphicFramePr>
        <p:xfrm>
          <a:off x="4146550" y="2179637"/>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6" name="Group 231"/>
          <p:cNvGraphicFramePr>
            <a:graphicFrameLocks noGrp="1"/>
          </p:cNvGraphicFramePr>
          <p:nvPr/>
        </p:nvGraphicFramePr>
        <p:xfrm>
          <a:off x="2317750" y="3094037"/>
          <a:ext cx="2133600" cy="73914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rgbClr val="CC0000"/>
                          </a:solidFill>
                          <a:effectLst/>
                          <a:latin typeface="Arial" panose="020B0604020202020204" pitchFamily="34" charset="0"/>
                          <a:ea typeface="宋体" panose="02010600030101010101" pitchFamily="2" charset="-122"/>
                        </a:rPr>
                        <a:t>50</a:t>
                      </a:r>
                      <a:endParaRPr kumimoji="1" lang="en-US" altLang="zh-CN" sz="20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7" name="Group 46"/>
          <p:cNvGraphicFramePr>
            <a:graphicFrameLocks noGrp="1"/>
          </p:cNvGraphicFramePr>
          <p:nvPr/>
        </p:nvGraphicFramePr>
        <p:xfrm>
          <a:off x="5746750" y="3094037"/>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8" name="Group 68"/>
          <p:cNvGraphicFramePr>
            <a:graphicFrameLocks noGrp="1"/>
          </p:cNvGraphicFramePr>
          <p:nvPr/>
        </p:nvGraphicFramePr>
        <p:xfrm>
          <a:off x="869950" y="4541837"/>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9" name="Group 90"/>
          <p:cNvGraphicFramePr>
            <a:graphicFrameLocks noGrp="1"/>
          </p:cNvGraphicFramePr>
          <p:nvPr/>
        </p:nvGraphicFramePr>
        <p:xfrm>
          <a:off x="2698750" y="4541837"/>
          <a:ext cx="1537018" cy="685800"/>
        </p:xfrm>
        <a:graphic>
          <a:graphicData uri="http://schemas.openxmlformats.org/drawingml/2006/table">
            <a:tbl>
              <a:tblPr/>
              <a:tblGrid>
                <a:gridCol w="223838"/>
                <a:gridCol w="185737"/>
                <a:gridCol w="185738"/>
                <a:gridCol w="185737"/>
                <a:gridCol w="182563"/>
                <a:gridCol w="182562"/>
                <a:gridCol w="182563"/>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0" name="Group 112"/>
          <p:cNvGraphicFramePr>
            <a:graphicFrameLocks noGrp="1"/>
          </p:cNvGraphicFramePr>
          <p:nvPr/>
        </p:nvGraphicFramePr>
        <p:xfrm>
          <a:off x="5975350" y="4541837"/>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1" name="Group 134"/>
          <p:cNvGraphicFramePr>
            <a:graphicFrameLocks noGrp="1"/>
          </p:cNvGraphicFramePr>
          <p:nvPr/>
        </p:nvGraphicFramePr>
        <p:xfrm>
          <a:off x="7727950" y="4541837"/>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2" name="Line 156"/>
          <p:cNvSpPr/>
          <p:nvPr/>
        </p:nvSpPr>
        <p:spPr>
          <a:xfrm flipH="1">
            <a:off x="2317750" y="2713037"/>
            <a:ext cx="1981200" cy="381000"/>
          </a:xfrm>
          <a:prstGeom prst="line">
            <a:avLst/>
          </a:prstGeom>
          <a:ln w="9525" cap="flat" cmpd="sng">
            <a:solidFill>
              <a:schemeClr val="tx1"/>
            </a:solidFill>
            <a:prstDash val="solid"/>
            <a:round/>
            <a:headEnd type="none" w="med" len="med"/>
            <a:tailEnd type="triangle" w="med" len="med"/>
          </a:ln>
        </p:spPr>
      </p:sp>
      <p:sp>
        <p:nvSpPr>
          <p:cNvPr id="73" name="Line 157"/>
          <p:cNvSpPr/>
          <p:nvPr/>
        </p:nvSpPr>
        <p:spPr>
          <a:xfrm>
            <a:off x="4679950" y="2713037"/>
            <a:ext cx="1066800" cy="381000"/>
          </a:xfrm>
          <a:prstGeom prst="line">
            <a:avLst/>
          </a:prstGeom>
          <a:ln w="9525" cap="flat" cmpd="sng">
            <a:solidFill>
              <a:schemeClr val="tx1"/>
            </a:solidFill>
            <a:prstDash val="solid"/>
            <a:round/>
            <a:headEnd type="none" w="med" len="med"/>
            <a:tailEnd type="triangle" w="med" len="med"/>
          </a:ln>
        </p:spPr>
      </p:sp>
      <p:sp>
        <p:nvSpPr>
          <p:cNvPr id="74" name="Line 158"/>
          <p:cNvSpPr/>
          <p:nvPr/>
        </p:nvSpPr>
        <p:spPr>
          <a:xfrm flipH="1">
            <a:off x="1403350" y="3627437"/>
            <a:ext cx="1066800" cy="914400"/>
          </a:xfrm>
          <a:prstGeom prst="line">
            <a:avLst/>
          </a:prstGeom>
          <a:ln w="9525" cap="flat" cmpd="sng">
            <a:solidFill>
              <a:schemeClr val="tx1"/>
            </a:solidFill>
            <a:prstDash val="solid"/>
            <a:round/>
            <a:headEnd type="none" w="med" len="med"/>
            <a:tailEnd type="triangle" w="med" len="med"/>
          </a:ln>
        </p:spPr>
      </p:sp>
      <p:sp>
        <p:nvSpPr>
          <p:cNvPr id="75" name="Line 159"/>
          <p:cNvSpPr/>
          <p:nvPr/>
        </p:nvSpPr>
        <p:spPr>
          <a:xfrm>
            <a:off x="2851150" y="3627437"/>
            <a:ext cx="381000" cy="914400"/>
          </a:xfrm>
          <a:prstGeom prst="line">
            <a:avLst/>
          </a:prstGeom>
          <a:ln w="9525" cap="flat" cmpd="sng">
            <a:solidFill>
              <a:schemeClr val="tx1"/>
            </a:solidFill>
            <a:prstDash val="solid"/>
            <a:round/>
            <a:headEnd type="none" w="med" len="med"/>
            <a:tailEnd type="triangle" w="med" len="med"/>
          </a:ln>
        </p:spPr>
      </p:sp>
      <p:sp>
        <p:nvSpPr>
          <p:cNvPr id="76" name="Line 160"/>
          <p:cNvSpPr/>
          <p:nvPr/>
        </p:nvSpPr>
        <p:spPr>
          <a:xfrm>
            <a:off x="3841750" y="3627437"/>
            <a:ext cx="2133600" cy="914400"/>
          </a:xfrm>
          <a:prstGeom prst="line">
            <a:avLst/>
          </a:prstGeom>
          <a:ln w="9525" cap="flat" cmpd="sng">
            <a:solidFill>
              <a:schemeClr val="tx1"/>
            </a:solidFill>
            <a:prstDash val="solid"/>
            <a:round/>
            <a:headEnd type="none" w="med" len="med"/>
            <a:tailEnd type="triangle" w="med" len="med"/>
          </a:ln>
        </p:spPr>
      </p:sp>
      <p:sp>
        <p:nvSpPr>
          <p:cNvPr id="77" name="Line 161"/>
          <p:cNvSpPr/>
          <p:nvPr/>
        </p:nvSpPr>
        <p:spPr>
          <a:xfrm>
            <a:off x="5899150" y="3627437"/>
            <a:ext cx="1828800" cy="914400"/>
          </a:xfrm>
          <a:prstGeom prst="line">
            <a:avLst/>
          </a:prstGeom>
          <a:ln w="9525" cap="flat" cmpd="sng">
            <a:solidFill>
              <a:schemeClr val="tx1"/>
            </a:solidFill>
            <a:prstDash val="solid"/>
            <a:round/>
            <a:headEnd type="none" w="med" len="med"/>
            <a:tailEnd type="triangle" w="med" len="med"/>
          </a:ln>
        </p:spPr>
      </p:sp>
      <p:sp>
        <p:nvSpPr>
          <p:cNvPr id="78" name="Line 162"/>
          <p:cNvSpPr/>
          <p:nvPr/>
        </p:nvSpPr>
        <p:spPr>
          <a:xfrm>
            <a:off x="6280150" y="3627437"/>
            <a:ext cx="2438400" cy="838200"/>
          </a:xfrm>
          <a:prstGeom prst="line">
            <a:avLst/>
          </a:prstGeom>
          <a:ln w="9525" cap="flat" cmpd="sng">
            <a:solidFill>
              <a:schemeClr val="tx1"/>
            </a:solidFill>
            <a:prstDash val="solid"/>
            <a:round/>
            <a:headEnd type="none" w="med" len="med"/>
            <a:tailEnd type="triangle" w="med" len="med"/>
          </a:ln>
        </p:spPr>
      </p:sp>
      <p:sp>
        <p:nvSpPr>
          <p:cNvPr id="79" name="Line 163"/>
          <p:cNvSpPr/>
          <p:nvPr/>
        </p:nvSpPr>
        <p:spPr>
          <a:xfrm>
            <a:off x="6889750" y="3703637"/>
            <a:ext cx="2362200" cy="838200"/>
          </a:xfrm>
          <a:prstGeom prst="line">
            <a:avLst/>
          </a:prstGeom>
          <a:ln w="9525" cap="flat" cmpd="sng">
            <a:solidFill>
              <a:schemeClr val="tx1"/>
            </a:solidFill>
            <a:prstDash val="solid"/>
            <a:round/>
            <a:headEnd type="none" w="med" len="med"/>
            <a:tailEnd type="triangle" w="med" len="med"/>
          </a:ln>
        </p:spPr>
      </p:sp>
      <p:sp>
        <p:nvSpPr>
          <p:cNvPr id="80" name="Line 164"/>
          <p:cNvSpPr/>
          <p:nvPr/>
        </p:nvSpPr>
        <p:spPr>
          <a:xfrm>
            <a:off x="7423150" y="3627437"/>
            <a:ext cx="2209800" cy="838200"/>
          </a:xfrm>
          <a:prstGeom prst="line">
            <a:avLst/>
          </a:prstGeom>
          <a:ln w="9525" cap="flat" cmpd="sng">
            <a:solidFill>
              <a:schemeClr val="tx1"/>
            </a:solidFill>
            <a:prstDash val="solid"/>
            <a:round/>
            <a:headEnd type="none" w="med" len="med"/>
            <a:tailEnd type="triangle" w="med" len="med"/>
          </a:ln>
        </p:spPr>
      </p:sp>
      <p:sp>
        <p:nvSpPr>
          <p:cNvPr id="81" name="Line 165"/>
          <p:cNvSpPr/>
          <p:nvPr/>
        </p:nvSpPr>
        <p:spPr>
          <a:xfrm>
            <a:off x="2393950" y="5075237"/>
            <a:ext cx="304800" cy="0"/>
          </a:xfrm>
          <a:prstGeom prst="line">
            <a:avLst/>
          </a:prstGeom>
          <a:ln w="9525" cap="flat" cmpd="sng">
            <a:solidFill>
              <a:schemeClr val="tx1"/>
            </a:solidFill>
            <a:prstDash val="solid"/>
            <a:round/>
            <a:headEnd type="none" w="med" len="med"/>
            <a:tailEnd type="triangle" w="med" len="med"/>
          </a:ln>
        </p:spPr>
      </p:sp>
      <p:sp>
        <p:nvSpPr>
          <p:cNvPr id="82" name="Line 167"/>
          <p:cNvSpPr/>
          <p:nvPr/>
        </p:nvSpPr>
        <p:spPr>
          <a:xfrm>
            <a:off x="6889750" y="5075237"/>
            <a:ext cx="228600" cy="0"/>
          </a:xfrm>
          <a:prstGeom prst="line">
            <a:avLst/>
          </a:prstGeom>
          <a:ln w="9525" cap="flat" cmpd="sng">
            <a:solidFill>
              <a:schemeClr val="tx1"/>
            </a:solidFill>
            <a:prstDash val="solid"/>
            <a:round/>
            <a:headEnd type="none" w="med" len="med"/>
            <a:tailEnd type="triangle" w="med" len="med"/>
          </a:ln>
        </p:spPr>
      </p:sp>
      <p:sp>
        <p:nvSpPr>
          <p:cNvPr id="83" name="Rectangle 168"/>
          <p:cNvSpPr/>
          <p:nvPr/>
        </p:nvSpPr>
        <p:spPr>
          <a:xfrm>
            <a:off x="869950"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10</a:t>
            </a:r>
            <a:endParaRPr lang="en-US" altLang="zh-CN" sz="1400" b="0" dirty="0">
              <a:latin typeface="Times New Roman" panose="02020603050405020304" pitchFamily="18" charset="0"/>
              <a:ea typeface="宋体" panose="02010600030101010101" pitchFamily="2" charset="-122"/>
            </a:endParaRPr>
          </a:p>
        </p:txBody>
      </p:sp>
      <p:sp>
        <p:nvSpPr>
          <p:cNvPr id="84" name="Rectangle 169"/>
          <p:cNvSpPr/>
          <p:nvPr/>
        </p:nvSpPr>
        <p:spPr>
          <a:xfrm>
            <a:off x="1403350"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15</a:t>
            </a:r>
            <a:endParaRPr lang="en-US" altLang="zh-CN" sz="1400" b="0" dirty="0">
              <a:latin typeface="Times New Roman" panose="02020603050405020304" pitchFamily="18" charset="0"/>
              <a:ea typeface="宋体" panose="02010600030101010101" pitchFamily="2" charset="-122"/>
            </a:endParaRPr>
          </a:p>
        </p:txBody>
      </p:sp>
      <p:sp>
        <p:nvSpPr>
          <p:cNvPr id="85" name="Rectangle 170"/>
          <p:cNvSpPr/>
          <p:nvPr/>
        </p:nvSpPr>
        <p:spPr>
          <a:xfrm>
            <a:off x="1860550"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18</a:t>
            </a:r>
            <a:endParaRPr lang="en-US" altLang="zh-CN" sz="1400" b="0" dirty="0">
              <a:latin typeface="Times New Roman" panose="02020603050405020304" pitchFamily="18" charset="0"/>
              <a:ea typeface="宋体" panose="02010600030101010101" pitchFamily="2" charset="-122"/>
            </a:endParaRPr>
          </a:p>
        </p:txBody>
      </p:sp>
      <p:sp>
        <p:nvSpPr>
          <p:cNvPr id="86" name="Rectangle 171"/>
          <p:cNvSpPr/>
          <p:nvPr/>
        </p:nvSpPr>
        <p:spPr>
          <a:xfrm>
            <a:off x="2698750"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20</a:t>
            </a:r>
            <a:endParaRPr lang="en-US" altLang="zh-CN" sz="1400" b="0" dirty="0">
              <a:latin typeface="Times New Roman" panose="02020603050405020304" pitchFamily="18" charset="0"/>
              <a:ea typeface="宋体" panose="02010600030101010101" pitchFamily="2" charset="-122"/>
            </a:endParaRPr>
          </a:p>
        </p:txBody>
      </p:sp>
      <p:sp>
        <p:nvSpPr>
          <p:cNvPr id="87" name="Rectangle 172"/>
          <p:cNvSpPr/>
          <p:nvPr/>
        </p:nvSpPr>
        <p:spPr>
          <a:xfrm>
            <a:off x="6127750"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60</a:t>
            </a:r>
            <a:endParaRPr lang="en-US" altLang="zh-CN" sz="1400" b="0" dirty="0">
              <a:latin typeface="Times New Roman" panose="02020603050405020304" pitchFamily="18" charset="0"/>
              <a:ea typeface="宋体" panose="02010600030101010101" pitchFamily="2" charset="-122"/>
            </a:endParaRPr>
          </a:p>
        </p:txBody>
      </p:sp>
      <p:sp>
        <p:nvSpPr>
          <p:cNvPr id="88" name="Rectangle 173"/>
          <p:cNvSpPr/>
          <p:nvPr/>
        </p:nvSpPr>
        <p:spPr>
          <a:xfrm>
            <a:off x="6584950"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65</a:t>
            </a:r>
            <a:endParaRPr lang="en-US" altLang="zh-CN" sz="1400" b="0" dirty="0">
              <a:latin typeface="Times New Roman" panose="02020603050405020304" pitchFamily="18" charset="0"/>
              <a:ea typeface="宋体" panose="02010600030101010101" pitchFamily="2" charset="-122"/>
            </a:endParaRPr>
          </a:p>
        </p:txBody>
      </p:sp>
      <p:sp>
        <p:nvSpPr>
          <p:cNvPr id="89" name="Rectangle 174"/>
          <p:cNvSpPr/>
          <p:nvPr/>
        </p:nvSpPr>
        <p:spPr>
          <a:xfrm>
            <a:off x="7042150"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80</a:t>
            </a:r>
            <a:endParaRPr lang="en-US" altLang="zh-CN" sz="1400" b="0" dirty="0">
              <a:latin typeface="Times New Roman" panose="02020603050405020304" pitchFamily="18" charset="0"/>
              <a:ea typeface="宋体" panose="02010600030101010101" pitchFamily="2" charset="-122"/>
            </a:endParaRPr>
          </a:p>
        </p:txBody>
      </p:sp>
      <p:sp>
        <p:nvSpPr>
          <p:cNvPr id="90" name="Rectangle 175"/>
          <p:cNvSpPr/>
          <p:nvPr/>
        </p:nvSpPr>
        <p:spPr>
          <a:xfrm>
            <a:off x="7575550"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85</a:t>
            </a:r>
            <a:endParaRPr lang="en-US" altLang="zh-CN" sz="1400" b="0" dirty="0">
              <a:latin typeface="Times New Roman" panose="02020603050405020304" pitchFamily="18" charset="0"/>
              <a:ea typeface="宋体" panose="02010600030101010101" pitchFamily="2" charset="-122"/>
            </a:endParaRPr>
          </a:p>
        </p:txBody>
      </p:sp>
      <p:sp>
        <p:nvSpPr>
          <p:cNvPr id="91" name="Rectangle 176"/>
          <p:cNvSpPr/>
          <p:nvPr/>
        </p:nvSpPr>
        <p:spPr>
          <a:xfrm>
            <a:off x="8108950"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90</a:t>
            </a:r>
            <a:endParaRPr lang="en-US" altLang="zh-CN" sz="1400" b="0" dirty="0">
              <a:latin typeface="Times New Roman" panose="02020603050405020304" pitchFamily="18" charset="0"/>
              <a:ea typeface="宋体" panose="02010600030101010101" pitchFamily="2" charset="-122"/>
            </a:endParaRPr>
          </a:p>
        </p:txBody>
      </p:sp>
      <p:sp>
        <p:nvSpPr>
          <p:cNvPr id="92" name="Line 177"/>
          <p:cNvSpPr/>
          <p:nvPr/>
        </p:nvSpPr>
        <p:spPr>
          <a:xfrm flipH="1">
            <a:off x="869950" y="5075237"/>
            <a:ext cx="152400" cy="838200"/>
          </a:xfrm>
          <a:prstGeom prst="line">
            <a:avLst/>
          </a:prstGeom>
          <a:ln w="9525" cap="flat" cmpd="sng">
            <a:solidFill>
              <a:schemeClr val="tx1"/>
            </a:solidFill>
            <a:prstDash val="solid"/>
            <a:round/>
            <a:headEnd type="none" w="med" len="med"/>
            <a:tailEnd type="triangle" w="med" len="med"/>
          </a:ln>
        </p:spPr>
      </p:sp>
      <p:sp>
        <p:nvSpPr>
          <p:cNvPr id="93" name="Line 178"/>
          <p:cNvSpPr/>
          <p:nvPr/>
        </p:nvSpPr>
        <p:spPr>
          <a:xfrm>
            <a:off x="1327150" y="5075237"/>
            <a:ext cx="76200" cy="838200"/>
          </a:xfrm>
          <a:prstGeom prst="line">
            <a:avLst/>
          </a:prstGeom>
          <a:ln w="9525" cap="flat" cmpd="sng">
            <a:solidFill>
              <a:schemeClr val="tx1"/>
            </a:solidFill>
            <a:prstDash val="solid"/>
            <a:round/>
            <a:headEnd type="none" w="med" len="med"/>
            <a:tailEnd type="triangle" w="med" len="med"/>
          </a:ln>
        </p:spPr>
      </p:sp>
      <p:sp>
        <p:nvSpPr>
          <p:cNvPr id="94" name="Line 179"/>
          <p:cNvSpPr/>
          <p:nvPr/>
        </p:nvSpPr>
        <p:spPr>
          <a:xfrm>
            <a:off x="1708150" y="5075237"/>
            <a:ext cx="228600" cy="838200"/>
          </a:xfrm>
          <a:prstGeom prst="line">
            <a:avLst/>
          </a:prstGeom>
          <a:ln w="9525" cap="flat" cmpd="sng">
            <a:solidFill>
              <a:schemeClr val="tx1"/>
            </a:solidFill>
            <a:prstDash val="solid"/>
            <a:round/>
            <a:headEnd type="none" w="med" len="med"/>
            <a:tailEnd type="triangle" w="med" len="med"/>
          </a:ln>
        </p:spPr>
      </p:sp>
      <p:sp>
        <p:nvSpPr>
          <p:cNvPr id="95" name="Line 180"/>
          <p:cNvSpPr/>
          <p:nvPr/>
        </p:nvSpPr>
        <p:spPr>
          <a:xfrm flipH="1">
            <a:off x="2774950" y="5075237"/>
            <a:ext cx="304800" cy="838200"/>
          </a:xfrm>
          <a:prstGeom prst="line">
            <a:avLst/>
          </a:prstGeom>
          <a:ln w="9525" cap="flat" cmpd="sng">
            <a:solidFill>
              <a:schemeClr val="tx1"/>
            </a:solidFill>
            <a:prstDash val="solid"/>
            <a:round/>
            <a:headEnd type="none" w="med" len="med"/>
            <a:tailEnd type="triangle" w="med" len="med"/>
          </a:ln>
        </p:spPr>
      </p:sp>
      <p:sp>
        <p:nvSpPr>
          <p:cNvPr id="96" name="Line 181"/>
          <p:cNvSpPr/>
          <p:nvPr/>
        </p:nvSpPr>
        <p:spPr>
          <a:xfrm>
            <a:off x="6127750" y="5075237"/>
            <a:ext cx="0" cy="838200"/>
          </a:xfrm>
          <a:prstGeom prst="line">
            <a:avLst/>
          </a:prstGeom>
          <a:ln w="9525" cap="flat" cmpd="sng">
            <a:solidFill>
              <a:schemeClr val="tx1"/>
            </a:solidFill>
            <a:prstDash val="solid"/>
            <a:round/>
            <a:headEnd type="none" w="med" len="med"/>
            <a:tailEnd type="triangle" w="med" len="med"/>
          </a:ln>
        </p:spPr>
      </p:sp>
      <p:sp>
        <p:nvSpPr>
          <p:cNvPr id="97" name="Line 182"/>
          <p:cNvSpPr/>
          <p:nvPr/>
        </p:nvSpPr>
        <p:spPr>
          <a:xfrm>
            <a:off x="6356350" y="4999037"/>
            <a:ext cx="228600" cy="914400"/>
          </a:xfrm>
          <a:prstGeom prst="line">
            <a:avLst/>
          </a:prstGeom>
          <a:ln w="9525" cap="flat" cmpd="sng">
            <a:solidFill>
              <a:schemeClr val="tx1"/>
            </a:solidFill>
            <a:prstDash val="solid"/>
            <a:round/>
            <a:headEnd type="none" w="med" len="med"/>
            <a:tailEnd type="triangle" w="med" len="med"/>
          </a:ln>
        </p:spPr>
      </p:sp>
      <p:sp>
        <p:nvSpPr>
          <p:cNvPr id="98" name="Line 183"/>
          <p:cNvSpPr/>
          <p:nvPr/>
        </p:nvSpPr>
        <p:spPr>
          <a:xfrm flipH="1">
            <a:off x="7042150" y="5075237"/>
            <a:ext cx="838200" cy="838200"/>
          </a:xfrm>
          <a:prstGeom prst="line">
            <a:avLst/>
          </a:prstGeom>
          <a:ln w="9525" cap="flat" cmpd="sng">
            <a:solidFill>
              <a:schemeClr val="tx1"/>
            </a:solidFill>
            <a:prstDash val="solid"/>
            <a:round/>
            <a:headEnd type="none" w="med" len="med"/>
            <a:tailEnd type="triangle" w="med" len="med"/>
          </a:ln>
        </p:spPr>
      </p:sp>
      <p:sp>
        <p:nvSpPr>
          <p:cNvPr id="99" name="Line 184"/>
          <p:cNvSpPr/>
          <p:nvPr/>
        </p:nvSpPr>
        <p:spPr>
          <a:xfrm flipH="1">
            <a:off x="7575550" y="5075237"/>
            <a:ext cx="609600" cy="838200"/>
          </a:xfrm>
          <a:prstGeom prst="line">
            <a:avLst/>
          </a:prstGeom>
          <a:ln w="9525" cap="flat" cmpd="sng">
            <a:solidFill>
              <a:schemeClr val="tx1"/>
            </a:solidFill>
            <a:prstDash val="solid"/>
            <a:round/>
            <a:headEnd type="none" w="med" len="med"/>
            <a:tailEnd type="triangle" w="med" len="med"/>
          </a:ln>
        </p:spPr>
      </p:sp>
      <p:sp>
        <p:nvSpPr>
          <p:cNvPr id="100" name="Line 185"/>
          <p:cNvSpPr/>
          <p:nvPr/>
        </p:nvSpPr>
        <p:spPr>
          <a:xfrm flipH="1">
            <a:off x="8108950" y="5075237"/>
            <a:ext cx="457200" cy="838200"/>
          </a:xfrm>
          <a:prstGeom prst="line">
            <a:avLst/>
          </a:prstGeom>
          <a:ln w="9525" cap="flat" cmpd="sng">
            <a:solidFill>
              <a:schemeClr val="tx1"/>
            </a:solidFill>
            <a:prstDash val="solid"/>
            <a:round/>
            <a:headEnd type="none" w="med" len="med"/>
            <a:tailEnd type="triangle" w="med" len="med"/>
          </a:ln>
        </p:spPr>
      </p:sp>
      <p:sp>
        <p:nvSpPr>
          <p:cNvPr id="101" name="Line 186"/>
          <p:cNvSpPr/>
          <p:nvPr/>
        </p:nvSpPr>
        <p:spPr>
          <a:xfrm>
            <a:off x="8642350" y="5075237"/>
            <a:ext cx="304800" cy="0"/>
          </a:xfrm>
          <a:prstGeom prst="line">
            <a:avLst/>
          </a:prstGeom>
          <a:ln w="9525" cap="flat" cmpd="sng">
            <a:solidFill>
              <a:schemeClr val="tx1"/>
            </a:solidFill>
            <a:prstDash val="solid"/>
            <a:round/>
            <a:headEnd type="none" w="med" len="med"/>
            <a:tailEnd type="triangle" w="med" len="med"/>
          </a:ln>
        </p:spPr>
      </p:sp>
      <p:sp>
        <p:nvSpPr>
          <p:cNvPr id="102" name="Rectangle 187"/>
          <p:cNvSpPr/>
          <p:nvPr/>
        </p:nvSpPr>
        <p:spPr>
          <a:xfrm>
            <a:off x="2279650"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19</a:t>
            </a:r>
            <a:endParaRPr lang="en-US" altLang="zh-CN" sz="1400" b="0" dirty="0">
              <a:latin typeface="Times New Roman" panose="02020603050405020304" pitchFamily="18" charset="0"/>
              <a:ea typeface="宋体" panose="02010600030101010101" pitchFamily="2" charset="-122"/>
            </a:endParaRPr>
          </a:p>
        </p:txBody>
      </p:sp>
      <p:sp>
        <p:nvSpPr>
          <p:cNvPr id="103" name="Line 188"/>
          <p:cNvSpPr/>
          <p:nvPr/>
        </p:nvSpPr>
        <p:spPr>
          <a:xfrm flipH="1">
            <a:off x="2317750" y="5075237"/>
            <a:ext cx="533400" cy="762000"/>
          </a:xfrm>
          <a:prstGeom prst="line">
            <a:avLst/>
          </a:prstGeom>
          <a:ln w="9525" cap="flat" cmpd="sng">
            <a:solidFill>
              <a:schemeClr val="tx1"/>
            </a:solidFill>
            <a:prstDash val="solid"/>
            <a:round/>
            <a:headEnd type="none" w="med" len="med"/>
            <a:tailEnd type="triangle" w="med" len="med"/>
          </a:ln>
        </p:spPr>
      </p:sp>
      <p:sp>
        <p:nvSpPr>
          <p:cNvPr id="104" name="Rectangle 190"/>
          <p:cNvSpPr/>
          <p:nvPr/>
        </p:nvSpPr>
        <p:spPr>
          <a:xfrm>
            <a:off x="5670550"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50</a:t>
            </a:r>
            <a:endParaRPr lang="en-US" altLang="zh-CN" sz="1400" b="0" dirty="0">
              <a:latin typeface="Times New Roman" panose="02020603050405020304" pitchFamily="18" charset="0"/>
              <a:ea typeface="宋体" panose="02010600030101010101" pitchFamily="2" charset="-122"/>
            </a:endParaRPr>
          </a:p>
        </p:txBody>
      </p:sp>
      <p:sp>
        <p:nvSpPr>
          <p:cNvPr id="105" name="Line 191"/>
          <p:cNvSpPr/>
          <p:nvPr/>
        </p:nvSpPr>
        <p:spPr>
          <a:xfrm>
            <a:off x="4527550" y="5075237"/>
            <a:ext cx="1295400" cy="838200"/>
          </a:xfrm>
          <a:prstGeom prst="line">
            <a:avLst/>
          </a:prstGeom>
          <a:ln w="9525" cap="flat" cmpd="sng">
            <a:solidFill>
              <a:schemeClr val="tx1"/>
            </a:solidFill>
            <a:prstDash val="solid"/>
            <a:round/>
            <a:headEnd type="none" w="med" len="med"/>
            <a:tailEnd type="triangle" w="med" len="med"/>
          </a:ln>
        </p:spPr>
      </p:sp>
      <p:graphicFrame>
        <p:nvGraphicFramePr>
          <p:cNvPr id="106" name="Group 192"/>
          <p:cNvGraphicFramePr>
            <a:graphicFrameLocks noGrp="1"/>
          </p:cNvGraphicFramePr>
          <p:nvPr/>
        </p:nvGraphicFramePr>
        <p:xfrm>
          <a:off x="4375150" y="4541837"/>
          <a:ext cx="1537018" cy="685800"/>
        </p:xfrm>
        <a:graphic>
          <a:graphicData uri="http://schemas.openxmlformats.org/drawingml/2006/table">
            <a:tbl>
              <a:tblPr/>
              <a:tblGrid>
                <a:gridCol w="223838"/>
                <a:gridCol w="185737"/>
                <a:gridCol w="185738"/>
                <a:gridCol w="185737"/>
                <a:gridCol w="182563"/>
                <a:gridCol w="182562"/>
                <a:gridCol w="182563"/>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50</a:t>
                      </a:r>
                      <a:endPar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7" name="Line 214"/>
          <p:cNvSpPr/>
          <p:nvPr/>
        </p:nvSpPr>
        <p:spPr>
          <a:xfrm>
            <a:off x="5822950" y="5075237"/>
            <a:ext cx="228600" cy="0"/>
          </a:xfrm>
          <a:prstGeom prst="line">
            <a:avLst/>
          </a:prstGeom>
          <a:ln w="9525" cap="flat" cmpd="sng">
            <a:solidFill>
              <a:schemeClr val="tx1"/>
            </a:solidFill>
            <a:prstDash val="solid"/>
            <a:round/>
            <a:headEnd type="none" w="med" len="med"/>
            <a:tailEnd type="triangle" w="med" len="med"/>
          </a:ln>
        </p:spPr>
      </p:sp>
      <p:sp>
        <p:nvSpPr>
          <p:cNvPr id="108" name="Line 215"/>
          <p:cNvSpPr/>
          <p:nvPr/>
        </p:nvSpPr>
        <p:spPr>
          <a:xfrm>
            <a:off x="3384550" y="3613150"/>
            <a:ext cx="990600" cy="914400"/>
          </a:xfrm>
          <a:prstGeom prst="line">
            <a:avLst/>
          </a:prstGeom>
          <a:ln w="57150" cap="flat" cmpd="sng">
            <a:solidFill>
              <a:schemeClr val="accent2"/>
            </a:solidFill>
            <a:prstDash val="solid"/>
            <a:round/>
            <a:headEnd type="none" w="med" len="med"/>
            <a:tailEnd type="triangle" w="med" len="med"/>
          </a:ln>
        </p:spPr>
      </p:sp>
      <p:sp>
        <p:nvSpPr>
          <p:cNvPr id="109" name="Line 219"/>
          <p:cNvSpPr/>
          <p:nvPr/>
        </p:nvSpPr>
        <p:spPr>
          <a:xfrm>
            <a:off x="577850" y="4137025"/>
            <a:ext cx="9144000" cy="28575"/>
          </a:xfrm>
          <a:prstGeom prst="line">
            <a:avLst/>
          </a:prstGeom>
          <a:ln w="38100" cap="flat" cmpd="dbl">
            <a:solidFill>
              <a:srgbClr val="CC0000"/>
            </a:solidFill>
            <a:prstDash val="dash"/>
            <a:round/>
            <a:headEnd type="none" w="med" len="med"/>
            <a:tailEnd type="none" w="med" len="med"/>
          </a:ln>
        </p:spPr>
      </p:sp>
      <p:sp>
        <p:nvSpPr>
          <p:cNvPr id="110" name="Line 220"/>
          <p:cNvSpPr/>
          <p:nvPr/>
        </p:nvSpPr>
        <p:spPr>
          <a:xfrm>
            <a:off x="563563" y="5616575"/>
            <a:ext cx="9144000" cy="28575"/>
          </a:xfrm>
          <a:prstGeom prst="line">
            <a:avLst/>
          </a:prstGeom>
          <a:ln w="38100" cap="flat" cmpd="dbl">
            <a:solidFill>
              <a:srgbClr val="CC0000"/>
            </a:solidFill>
            <a:prstDash val="dash"/>
            <a:round/>
            <a:headEnd type="none" w="med" len="med"/>
            <a:tailEnd type="none" w="med" len="med"/>
          </a:ln>
        </p:spPr>
      </p:sp>
      <p:sp>
        <p:nvSpPr>
          <p:cNvPr id="111" name="Text Box 221"/>
          <p:cNvSpPr txBox="1"/>
          <p:nvPr/>
        </p:nvSpPr>
        <p:spPr>
          <a:xfrm>
            <a:off x="8434388" y="3686175"/>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非叶结点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2" name="Text Box 222"/>
          <p:cNvSpPr txBox="1"/>
          <p:nvPr/>
        </p:nvSpPr>
        <p:spPr>
          <a:xfrm>
            <a:off x="8450263" y="4173537"/>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叶子结点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3" name="Text Box 223"/>
          <p:cNvSpPr txBox="1"/>
          <p:nvPr/>
        </p:nvSpPr>
        <p:spPr>
          <a:xfrm>
            <a:off x="8564563" y="5654675"/>
            <a:ext cx="1025525" cy="701675"/>
          </a:xfrm>
          <a:prstGeom prst="rect">
            <a:avLst/>
          </a:prstGeom>
          <a:noFill/>
          <a:ln w="9525">
            <a:noFill/>
          </a:ln>
        </p:spPr>
        <p:txBody>
          <a:bodyPr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主文件的记录</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114" name="Rectangle 229"/>
          <p:cNvSpPr/>
          <p:nvPr/>
        </p:nvSpPr>
        <p:spPr>
          <a:xfrm>
            <a:off x="2689225" y="4527550"/>
            <a:ext cx="1522413" cy="723900"/>
          </a:xfrm>
          <a:prstGeom prst="rect">
            <a:avLst/>
          </a:prstGeom>
          <a:noFill/>
          <a:ln w="76200" cap="flat" cmpd="sng">
            <a:solidFill>
              <a:srgbClr val="CC0000"/>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15" name="Rectangle 230"/>
          <p:cNvSpPr/>
          <p:nvPr/>
        </p:nvSpPr>
        <p:spPr>
          <a:xfrm>
            <a:off x="4384675" y="4525962"/>
            <a:ext cx="1522413" cy="723900"/>
          </a:xfrm>
          <a:prstGeom prst="rect">
            <a:avLst/>
          </a:prstGeom>
          <a:noFill/>
          <a:ln w="76200" cap="flat" cmpd="sng">
            <a:solidFill>
              <a:srgbClr val="CC0000"/>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sp>
        <p:nvSpPr>
          <p:cNvPr id="116" name="Line 166"/>
          <p:cNvSpPr/>
          <p:nvPr/>
        </p:nvSpPr>
        <p:spPr>
          <a:xfrm>
            <a:off x="4132263" y="5060950"/>
            <a:ext cx="304800" cy="0"/>
          </a:xfrm>
          <a:prstGeom prst="line">
            <a:avLst/>
          </a:prstGeom>
          <a:ln w="38100" cap="flat" cmpd="sng">
            <a:solidFill>
              <a:schemeClr val="accent2"/>
            </a:solidFill>
            <a:prstDash val="solid"/>
            <a:round/>
            <a:headEnd type="none" w="med" len="med"/>
            <a:tailEnd type="triangle" w="med" len="med"/>
          </a:ln>
        </p:spPr>
      </p:sp>
      <p:grpSp>
        <p:nvGrpSpPr>
          <p:cNvPr id="117" name="Group 224"/>
          <p:cNvGrpSpPr/>
          <p:nvPr/>
        </p:nvGrpSpPr>
        <p:grpSpPr>
          <a:xfrm>
            <a:off x="6508750" y="1590674"/>
            <a:ext cx="5353046" cy="1438276"/>
            <a:chOff x="1265" y="3268"/>
            <a:chExt cx="1154" cy="629"/>
          </a:xfrm>
        </p:grpSpPr>
        <p:sp>
          <p:nvSpPr>
            <p:cNvPr id="118"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19" name="Oval 40"/>
            <p:cNvSpPr/>
            <p:nvPr/>
          </p:nvSpPr>
          <p:spPr>
            <a:xfrm>
              <a:off x="1296" y="3308"/>
              <a:ext cx="1083" cy="544"/>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20" name="Text Box 84"/>
            <p:cNvSpPr/>
            <p:nvPr/>
          </p:nvSpPr>
          <p:spPr>
            <a:xfrm>
              <a:off x="1269" y="3303"/>
              <a:ext cx="1150" cy="569"/>
            </a:xfrm>
            <a:prstGeom prst="roundRect">
              <a:avLst>
                <a:gd name="adj" fmla="val 16667"/>
              </a:avLst>
            </a:prstGeom>
            <a:noFill/>
            <a:ln w="9525">
              <a:noFill/>
            </a:ln>
          </p:spPr>
          <p:txBody>
            <a:bodyPr anchor="t">
              <a:spAutoFit/>
            </a:bodyPr>
            <a:lstStyle/>
            <a:p>
              <a:pPr>
                <a:spcBef>
                  <a:spcPct val="20000"/>
                </a:spcBef>
                <a:buChar char="•"/>
              </a:pPr>
              <a:r>
                <a:rPr lang="zh-CN" altLang="en-US" sz="1600" dirty="0">
                  <a:solidFill>
                    <a:srgbClr val="CC0000"/>
                  </a:solidFill>
                  <a:latin typeface="Arial" panose="020B0604020202020204" pitchFamily="34" charset="0"/>
                  <a:ea typeface="微软雅黑" panose="020B0503020204020204" pitchFamily="34" charset="-122"/>
                </a:rPr>
                <a:t>键值删除后，</a:t>
              </a:r>
              <a:r>
                <a:rPr lang="zh-CN" altLang="en-US" sz="1600" dirty="0">
                  <a:solidFill>
                    <a:schemeClr val="accent2"/>
                  </a:solidFill>
                  <a:latin typeface="Arial" panose="020B0604020202020204" pitchFamily="34" charset="0"/>
                  <a:ea typeface="微软雅黑" panose="020B0503020204020204" pitchFamily="34" charset="-122"/>
                </a:rPr>
                <a:t>如指针数目少于规定数目，则需要合并</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如不能从相邻结点转移键值到该结点，则考虑结点合并。合并后调整父结点键值及次序。</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调整叶子结点的指针链接</a:t>
              </a:r>
              <a:endParaRPr lang="zh-CN" altLang="en-US" sz="1600" dirty="0">
                <a:solidFill>
                  <a:schemeClr val="accent2"/>
                </a:solidFill>
                <a:latin typeface="Arial" panose="020B0604020202020204" pitchFamily="34" charset="0"/>
                <a:ea typeface="微软雅黑" panose="020B0503020204020204" pitchFamily="34" charset="-122"/>
              </a:endParaRPr>
            </a:p>
          </p:txBody>
        </p:sp>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checkerboard(across)">
                                      <p:cBhvr>
                                        <p:cTn id="7" dur="5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5"/>
                                        </p:tgtEl>
                                        <p:attrNameLst>
                                          <p:attrName>style.visibility</p:attrName>
                                        </p:attrNameLst>
                                      </p:cBhvr>
                                      <p:to>
                                        <p:strVal val="visible"/>
                                      </p:to>
                                    </p:set>
                                    <p:animEffect transition="in" filter="checkerboard(across)">
                                      <p:cBhvr>
                                        <p:cTn id="12" dur="500"/>
                                        <p:tgtEl>
                                          <p:spTgt spid="11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7"/>
                                        </p:tgtEl>
                                        <p:attrNameLst>
                                          <p:attrName>style.visibility</p:attrName>
                                        </p:attrNameLst>
                                      </p:cBhvr>
                                      <p:to>
                                        <p:strVal val="visible"/>
                                      </p:to>
                                    </p:set>
                                    <p:anim calcmode="lin" valueType="num">
                                      <p:cBhvr additive="base">
                                        <p:cTn id="17" dur="500" fill="hold"/>
                                        <p:tgtEl>
                                          <p:spTgt spid="117"/>
                                        </p:tgtEl>
                                        <p:attrNameLst>
                                          <p:attrName>ppt_x</p:attrName>
                                        </p:attrNameLst>
                                      </p:cBhvr>
                                      <p:tavLst>
                                        <p:tav tm="0">
                                          <p:val>
                                            <p:strVal val="#ppt_x"/>
                                          </p:val>
                                        </p:tav>
                                        <p:tav tm="100000">
                                          <p:val>
                                            <p:strVal val="#ppt_x"/>
                                          </p:val>
                                        </p:tav>
                                      </p:tavLst>
                                    </p:anim>
                                    <p:anim calcmode="lin" valueType="num">
                                      <p:cBhvr additive="base">
                                        <p:cTn id="18"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bldLvl="0" animBg="1"/>
      <p:bldP spid="115" grpId="0" bldLvl="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(10) </a:t>
            </a:r>
            <a:r>
              <a:rPr lang="zh-CN" altLang="en-US" sz="2600" dirty="0">
                <a:latin typeface="微软雅黑" panose="020B0503020204020204" pitchFamily="34" charset="-122"/>
                <a:ea typeface="微软雅黑" panose="020B0503020204020204" pitchFamily="34" charset="-122"/>
              </a:rPr>
              <a:t>合并之连锁反应</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结点合并后 </a:t>
            </a:r>
            <a:endParaRPr lang="zh-CN" altLang="en-US" sz="2200" b="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-B+树</a:t>
            </a:r>
            <a:r>
              <a:rPr lang="zh-CN" altLang="en-US" dirty="0"/>
              <a:t>分裂与合并过程再示例</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2" name="Group 2"/>
          <p:cNvGraphicFramePr>
            <a:graphicFrameLocks noGrp="1"/>
          </p:cNvGraphicFramePr>
          <p:nvPr/>
        </p:nvGraphicFramePr>
        <p:xfrm>
          <a:off x="3950134" y="2179637"/>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24"/>
          <p:cNvGraphicFramePr>
            <a:graphicFrameLocks noGrp="1"/>
          </p:cNvGraphicFramePr>
          <p:nvPr/>
        </p:nvGraphicFramePr>
        <p:xfrm>
          <a:off x="2121334" y="3094037"/>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 name="Group 46"/>
          <p:cNvGraphicFramePr>
            <a:graphicFrameLocks noGrp="1"/>
          </p:cNvGraphicFramePr>
          <p:nvPr/>
        </p:nvGraphicFramePr>
        <p:xfrm>
          <a:off x="5550334" y="3094037"/>
          <a:ext cx="2133600" cy="685800"/>
        </p:xfrm>
        <a:graphic>
          <a:graphicData uri="http://schemas.openxmlformats.org/drawingml/2006/table">
            <a:tbl>
              <a:tblPr/>
              <a:tblGrid>
                <a:gridCol w="298450"/>
                <a:gridCol w="246063"/>
                <a:gridCol w="249237"/>
                <a:gridCol w="247650"/>
                <a:gridCol w="298450"/>
                <a:gridCol w="249238"/>
                <a:gridCol w="246062"/>
                <a:gridCol w="29845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 name="Group 68"/>
          <p:cNvGraphicFramePr>
            <a:graphicFrameLocks noGrp="1"/>
          </p:cNvGraphicFramePr>
          <p:nvPr/>
        </p:nvGraphicFramePr>
        <p:xfrm>
          <a:off x="673534" y="4541837"/>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9" name="Group 90"/>
          <p:cNvGraphicFramePr>
            <a:graphicFrameLocks noGrp="1"/>
          </p:cNvGraphicFramePr>
          <p:nvPr/>
        </p:nvGraphicFramePr>
        <p:xfrm>
          <a:off x="2502334" y="4541837"/>
          <a:ext cx="1537018" cy="685800"/>
        </p:xfrm>
        <a:graphic>
          <a:graphicData uri="http://schemas.openxmlformats.org/drawingml/2006/table">
            <a:tbl>
              <a:tblPr/>
              <a:tblGrid>
                <a:gridCol w="223838"/>
                <a:gridCol w="185737"/>
                <a:gridCol w="185738"/>
                <a:gridCol w="185737"/>
                <a:gridCol w="182563"/>
                <a:gridCol w="182562"/>
                <a:gridCol w="182563"/>
                <a:gridCol w="208280"/>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 name="Group 112"/>
          <p:cNvGraphicFramePr>
            <a:graphicFrameLocks noGrp="1"/>
          </p:cNvGraphicFramePr>
          <p:nvPr/>
        </p:nvGraphicFramePr>
        <p:xfrm>
          <a:off x="5778934" y="4541837"/>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1" name="Group 134"/>
          <p:cNvGraphicFramePr>
            <a:graphicFrameLocks noGrp="1"/>
          </p:cNvGraphicFramePr>
          <p:nvPr/>
        </p:nvGraphicFramePr>
        <p:xfrm>
          <a:off x="7531534" y="4541837"/>
          <a:ext cx="1600200" cy="685800"/>
        </p:xfrm>
        <a:graphic>
          <a:graphicData uri="http://schemas.openxmlformats.org/drawingml/2006/table">
            <a:tbl>
              <a:tblPr/>
              <a:tblGrid>
                <a:gridCol w="223838"/>
                <a:gridCol w="185737"/>
                <a:gridCol w="185738"/>
                <a:gridCol w="185737"/>
                <a:gridCol w="223838"/>
                <a:gridCol w="185737"/>
                <a:gridCol w="185738"/>
                <a:gridCol w="223837"/>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 name="Line 156"/>
          <p:cNvSpPr/>
          <p:nvPr/>
        </p:nvSpPr>
        <p:spPr>
          <a:xfrm flipH="1">
            <a:off x="2121334" y="2713037"/>
            <a:ext cx="1981200" cy="381000"/>
          </a:xfrm>
          <a:prstGeom prst="line">
            <a:avLst/>
          </a:prstGeom>
          <a:ln w="9525" cap="flat" cmpd="sng">
            <a:solidFill>
              <a:schemeClr val="tx1"/>
            </a:solidFill>
            <a:prstDash val="solid"/>
            <a:round/>
            <a:headEnd type="none" w="med" len="med"/>
            <a:tailEnd type="triangle" w="med" len="med"/>
          </a:ln>
        </p:spPr>
      </p:sp>
      <p:sp>
        <p:nvSpPr>
          <p:cNvPr id="13" name="Line 157"/>
          <p:cNvSpPr/>
          <p:nvPr/>
        </p:nvSpPr>
        <p:spPr>
          <a:xfrm>
            <a:off x="4483534" y="2713037"/>
            <a:ext cx="1066800" cy="381000"/>
          </a:xfrm>
          <a:prstGeom prst="line">
            <a:avLst/>
          </a:prstGeom>
          <a:ln w="9525" cap="flat" cmpd="sng">
            <a:solidFill>
              <a:schemeClr val="tx1"/>
            </a:solidFill>
            <a:prstDash val="solid"/>
            <a:round/>
            <a:headEnd type="none" w="med" len="med"/>
            <a:tailEnd type="triangle" w="med" len="med"/>
          </a:ln>
        </p:spPr>
      </p:sp>
      <p:sp>
        <p:nvSpPr>
          <p:cNvPr id="14" name="Line 158"/>
          <p:cNvSpPr/>
          <p:nvPr/>
        </p:nvSpPr>
        <p:spPr>
          <a:xfrm flipH="1">
            <a:off x="1206934" y="3627437"/>
            <a:ext cx="1066800" cy="914400"/>
          </a:xfrm>
          <a:prstGeom prst="line">
            <a:avLst/>
          </a:prstGeom>
          <a:ln w="9525" cap="flat" cmpd="sng">
            <a:solidFill>
              <a:schemeClr val="tx1"/>
            </a:solidFill>
            <a:prstDash val="solid"/>
            <a:round/>
            <a:headEnd type="none" w="med" len="med"/>
            <a:tailEnd type="triangle" w="med" len="med"/>
          </a:ln>
        </p:spPr>
      </p:sp>
      <p:sp>
        <p:nvSpPr>
          <p:cNvPr id="15" name="Line 159"/>
          <p:cNvSpPr/>
          <p:nvPr/>
        </p:nvSpPr>
        <p:spPr>
          <a:xfrm>
            <a:off x="2654734" y="3627437"/>
            <a:ext cx="381000" cy="914400"/>
          </a:xfrm>
          <a:prstGeom prst="line">
            <a:avLst/>
          </a:prstGeom>
          <a:ln w="9525" cap="flat" cmpd="sng">
            <a:solidFill>
              <a:schemeClr val="tx1"/>
            </a:solidFill>
            <a:prstDash val="solid"/>
            <a:round/>
            <a:headEnd type="none" w="med" len="med"/>
            <a:tailEnd type="triangle" w="med" len="med"/>
          </a:ln>
        </p:spPr>
      </p:sp>
      <p:sp>
        <p:nvSpPr>
          <p:cNvPr id="16" name="Line 160"/>
          <p:cNvSpPr/>
          <p:nvPr/>
        </p:nvSpPr>
        <p:spPr>
          <a:xfrm>
            <a:off x="3188134" y="3627437"/>
            <a:ext cx="2590800" cy="914400"/>
          </a:xfrm>
          <a:prstGeom prst="line">
            <a:avLst/>
          </a:prstGeom>
          <a:ln w="9525" cap="flat" cmpd="sng">
            <a:solidFill>
              <a:schemeClr val="tx1"/>
            </a:solidFill>
            <a:prstDash val="solid"/>
            <a:round/>
            <a:headEnd type="none" w="med" len="med"/>
            <a:tailEnd type="triangle" w="med" len="med"/>
          </a:ln>
        </p:spPr>
      </p:sp>
      <p:sp>
        <p:nvSpPr>
          <p:cNvPr id="17" name="Line 161"/>
          <p:cNvSpPr/>
          <p:nvPr/>
        </p:nvSpPr>
        <p:spPr>
          <a:xfrm>
            <a:off x="5702734" y="3627437"/>
            <a:ext cx="1828800" cy="914400"/>
          </a:xfrm>
          <a:prstGeom prst="line">
            <a:avLst/>
          </a:prstGeom>
          <a:ln w="9525" cap="flat" cmpd="sng">
            <a:solidFill>
              <a:schemeClr val="tx1"/>
            </a:solidFill>
            <a:prstDash val="solid"/>
            <a:round/>
            <a:headEnd type="none" w="med" len="med"/>
            <a:tailEnd type="triangle" w="med" len="med"/>
          </a:ln>
        </p:spPr>
      </p:sp>
      <p:sp>
        <p:nvSpPr>
          <p:cNvPr id="18" name="Line 162"/>
          <p:cNvSpPr/>
          <p:nvPr/>
        </p:nvSpPr>
        <p:spPr>
          <a:xfrm>
            <a:off x="6083734" y="3627437"/>
            <a:ext cx="2438400" cy="838200"/>
          </a:xfrm>
          <a:prstGeom prst="line">
            <a:avLst/>
          </a:prstGeom>
          <a:ln w="9525" cap="flat" cmpd="sng">
            <a:solidFill>
              <a:schemeClr val="tx1"/>
            </a:solidFill>
            <a:prstDash val="solid"/>
            <a:round/>
            <a:headEnd type="none" w="med" len="med"/>
            <a:tailEnd type="triangle" w="med" len="med"/>
          </a:ln>
        </p:spPr>
      </p:sp>
      <p:sp>
        <p:nvSpPr>
          <p:cNvPr id="19" name="Line 163"/>
          <p:cNvSpPr/>
          <p:nvPr/>
        </p:nvSpPr>
        <p:spPr>
          <a:xfrm>
            <a:off x="6693334" y="3703637"/>
            <a:ext cx="2362200" cy="838200"/>
          </a:xfrm>
          <a:prstGeom prst="line">
            <a:avLst/>
          </a:prstGeom>
          <a:ln w="9525" cap="flat" cmpd="sng">
            <a:solidFill>
              <a:schemeClr val="tx1"/>
            </a:solidFill>
            <a:prstDash val="solid"/>
            <a:round/>
            <a:headEnd type="none" w="med" len="med"/>
            <a:tailEnd type="triangle" w="med" len="med"/>
          </a:ln>
        </p:spPr>
      </p:sp>
      <p:sp>
        <p:nvSpPr>
          <p:cNvPr id="20" name="Line 164"/>
          <p:cNvSpPr/>
          <p:nvPr/>
        </p:nvSpPr>
        <p:spPr>
          <a:xfrm>
            <a:off x="7226734" y="3627437"/>
            <a:ext cx="2209800" cy="838200"/>
          </a:xfrm>
          <a:prstGeom prst="line">
            <a:avLst/>
          </a:prstGeom>
          <a:ln w="9525" cap="flat" cmpd="sng">
            <a:solidFill>
              <a:schemeClr val="tx1"/>
            </a:solidFill>
            <a:prstDash val="solid"/>
            <a:round/>
            <a:headEnd type="none" w="med" len="med"/>
            <a:tailEnd type="triangle" w="med" len="med"/>
          </a:ln>
        </p:spPr>
      </p:sp>
      <p:sp>
        <p:nvSpPr>
          <p:cNvPr id="21" name="Line 165"/>
          <p:cNvSpPr/>
          <p:nvPr/>
        </p:nvSpPr>
        <p:spPr>
          <a:xfrm>
            <a:off x="2197534" y="5075237"/>
            <a:ext cx="304800" cy="0"/>
          </a:xfrm>
          <a:prstGeom prst="line">
            <a:avLst/>
          </a:prstGeom>
          <a:ln w="9525" cap="flat" cmpd="sng">
            <a:solidFill>
              <a:schemeClr val="tx1"/>
            </a:solidFill>
            <a:prstDash val="solid"/>
            <a:round/>
            <a:headEnd type="none" w="med" len="med"/>
            <a:tailEnd type="triangle" w="med" len="med"/>
          </a:ln>
        </p:spPr>
      </p:sp>
      <p:sp>
        <p:nvSpPr>
          <p:cNvPr id="22" name="Line 166"/>
          <p:cNvSpPr/>
          <p:nvPr/>
        </p:nvSpPr>
        <p:spPr>
          <a:xfrm>
            <a:off x="3950134" y="5075237"/>
            <a:ext cx="1981200" cy="0"/>
          </a:xfrm>
          <a:prstGeom prst="line">
            <a:avLst/>
          </a:prstGeom>
          <a:ln w="9525" cap="flat" cmpd="sng">
            <a:solidFill>
              <a:schemeClr val="tx1"/>
            </a:solidFill>
            <a:prstDash val="solid"/>
            <a:round/>
            <a:headEnd type="none" w="med" len="med"/>
            <a:tailEnd type="triangle" w="med" len="med"/>
          </a:ln>
        </p:spPr>
      </p:sp>
      <p:sp>
        <p:nvSpPr>
          <p:cNvPr id="23" name="Line 167"/>
          <p:cNvSpPr/>
          <p:nvPr/>
        </p:nvSpPr>
        <p:spPr>
          <a:xfrm>
            <a:off x="6693334" y="5075237"/>
            <a:ext cx="228600" cy="0"/>
          </a:xfrm>
          <a:prstGeom prst="line">
            <a:avLst/>
          </a:prstGeom>
          <a:ln w="9525" cap="flat" cmpd="sng">
            <a:solidFill>
              <a:schemeClr val="tx1"/>
            </a:solidFill>
            <a:prstDash val="solid"/>
            <a:round/>
            <a:headEnd type="none" w="med" len="med"/>
            <a:tailEnd type="triangle" w="med" len="med"/>
          </a:ln>
        </p:spPr>
      </p:sp>
      <p:sp>
        <p:nvSpPr>
          <p:cNvPr id="24" name="Rectangle 168"/>
          <p:cNvSpPr/>
          <p:nvPr/>
        </p:nvSpPr>
        <p:spPr>
          <a:xfrm>
            <a:off x="673534"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10</a:t>
            </a:r>
            <a:endParaRPr lang="en-US" altLang="zh-CN" sz="1400" b="0" dirty="0">
              <a:latin typeface="Times New Roman" panose="02020603050405020304" pitchFamily="18" charset="0"/>
              <a:ea typeface="宋体" panose="02010600030101010101" pitchFamily="2" charset="-122"/>
            </a:endParaRPr>
          </a:p>
        </p:txBody>
      </p:sp>
      <p:sp>
        <p:nvSpPr>
          <p:cNvPr id="25" name="Rectangle 169"/>
          <p:cNvSpPr/>
          <p:nvPr/>
        </p:nvSpPr>
        <p:spPr>
          <a:xfrm>
            <a:off x="1206934"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15</a:t>
            </a:r>
            <a:endParaRPr lang="en-US" altLang="zh-CN" sz="1400" b="0" dirty="0">
              <a:latin typeface="Times New Roman" panose="02020603050405020304" pitchFamily="18" charset="0"/>
              <a:ea typeface="宋体" panose="02010600030101010101" pitchFamily="2" charset="-122"/>
            </a:endParaRPr>
          </a:p>
        </p:txBody>
      </p:sp>
      <p:sp>
        <p:nvSpPr>
          <p:cNvPr id="26" name="Rectangle 170"/>
          <p:cNvSpPr/>
          <p:nvPr/>
        </p:nvSpPr>
        <p:spPr>
          <a:xfrm>
            <a:off x="1664134"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18</a:t>
            </a:r>
            <a:endParaRPr lang="en-US" altLang="zh-CN" sz="1400" b="0" dirty="0">
              <a:latin typeface="Times New Roman" panose="02020603050405020304" pitchFamily="18" charset="0"/>
              <a:ea typeface="宋体" panose="02010600030101010101" pitchFamily="2" charset="-122"/>
            </a:endParaRPr>
          </a:p>
        </p:txBody>
      </p:sp>
      <p:sp>
        <p:nvSpPr>
          <p:cNvPr id="27" name="Rectangle 171"/>
          <p:cNvSpPr/>
          <p:nvPr/>
        </p:nvSpPr>
        <p:spPr>
          <a:xfrm>
            <a:off x="2502334"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20</a:t>
            </a:r>
            <a:endParaRPr lang="en-US" altLang="zh-CN" sz="1400" b="0" dirty="0">
              <a:latin typeface="Times New Roman" panose="02020603050405020304" pitchFamily="18" charset="0"/>
              <a:ea typeface="宋体" panose="02010600030101010101" pitchFamily="2" charset="-122"/>
            </a:endParaRPr>
          </a:p>
        </p:txBody>
      </p:sp>
      <p:sp>
        <p:nvSpPr>
          <p:cNvPr id="28" name="Rectangle 172"/>
          <p:cNvSpPr/>
          <p:nvPr/>
        </p:nvSpPr>
        <p:spPr>
          <a:xfrm>
            <a:off x="5931334"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60</a:t>
            </a:r>
            <a:endParaRPr lang="en-US" altLang="zh-CN" sz="1400" b="0" dirty="0">
              <a:latin typeface="Times New Roman" panose="02020603050405020304" pitchFamily="18" charset="0"/>
              <a:ea typeface="宋体" panose="02010600030101010101" pitchFamily="2" charset="-122"/>
            </a:endParaRPr>
          </a:p>
        </p:txBody>
      </p:sp>
      <p:sp>
        <p:nvSpPr>
          <p:cNvPr id="29" name="Rectangle 173"/>
          <p:cNvSpPr/>
          <p:nvPr/>
        </p:nvSpPr>
        <p:spPr>
          <a:xfrm>
            <a:off x="6388534"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65</a:t>
            </a:r>
            <a:endParaRPr lang="en-US" altLang="zh-CN" sz="1400" b="0" dirty="0">
              <a:latin typeface="Times New Roman" panose="02020603050405020304" pitchFamily="18" charset="0"/>
              <a:ea typeface="宋体" panose="02010600030101010101" pitchFamily="2" charset="-122"/>
            </a:endParaRPr>
          </a:p>
        </p:txBody>
      </p:sp>
      <p:sp>
        <p:nvSpPr>
          <p:cNvPr id="30" name="Rectangle 174"/>
          <p:cNvSpPr/>
          <p:nvPr/>
        </p:nvSpPr>
        <p:spPr>
          <a:xfrm>
            <a:off x="6845734"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80</a:t>
            </a:r>
            <a:endParaRPr lang="en-US" altLang="zh-CN" sz="1400" b="0" dirty="0">
              <a:latin typeface="Times New Roman" panose="02020603050405020304" pitchFamily="18" charset="0"/>
              <a:ea typeface="宋体" panose="02010600030101010101" pitchFamily="2" charset="-122"/>
            </a:endParaRPr>
          </a:p>
        </p:txBody>
      </p:sp>
      <p:sp>
        <p:nvSpPr>
          <p:cNvPr id="31" name="Rectangle 175"/>
          <p:cNvSpPr/>
          <p:nvPr/>
        </p:nvSpPr>
        <p:spPr>
          <a:xfrm>
            <a:off x="7379134"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85</a:t>
            </a:r>
            <a:endParaRPr lang="en-US" altLang="zh-CN" sz="1400" b="0" dirty="0">
              <a:latin typeface="Times New Roman" panose="02020603050405020304" pitchFamily="18" charset="0"/>
              <a:ea typeface="宋体" panose="02010600030101010101" pitchFamily="2" charset="-122"/>
            </a:endParaRPr>
          </a:p>
        </p:txBody>
      </p:sp>
      <p:sp>
        <p:nvSpPr>
          <p:cNvPr id="33" name="Rectangle 176"/>
          <p:cNvSpPr/>
          <p:nvPr/>
        </p:nvSpPr>
        <p:spPr>
          <a:xfrm>
            <a:off x="7912534"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90</a:t>
            </a:r>
            <a:endParaRPr lang="en-US" altLang="zh-CN" sz="1400" b="0" dirty="0">
              <a:latin typeface="Times New Roman" panose="02020603050405020304" pitchFamily="18" charset="0"/>
              <a:ea typeface="宋体" panose="02010600030101010101" pitchFamily="2" charset="-122"/>
            </a:endParaRPr>
          </a:p>
        </p:txBody>
      </p:sp>
      <p:sp>
        <p:nvSpPr>
          <p:cNvPr id="34" name="Line 177"/>
          <p:cNvSpPr/>
          <p:nvPr/>
        </p:nvSpPr>
        <p:spPr>
          <a:xfrm flipH="1">
            <a:off x="673534" y="5075237"/>
            <a:ext cx="152400" cy="838200"/>
          </a:xfrm>
          <a:prstGeom prst="line">
            <a:avLst/>
          </a:prstGeom>
          <a:ln w="9525" cap="flat" cmpd="sng">
            <a:solidFill>
              <a:schemeClr val="tx1"/>
            </a:solidFill>
            <a:prstDash val="solid"/>
            <a:round/>
            <a:headEnd type="none" w="med" len="med"/>
            <a:tailEnd type="triangle" w="med" len="med"/>
          </a:ln>
        </p:spPr>
      </p:sp>
      <p:sp>
        <p:nvSpPr>
          <p:cNvPr id="35" name="Line 178"/>
          <p:cNvSpPr/>
          <p:nvPr/>
        </p:nvSpPr>
        <p:spPr>
          <a:xfrm>
            <a:off x="1130734" y="5075237"/>
            <a:ext cx="76200" cy="838200"/>
          </a:xfrm>
          <a:prstGeom prst="line">
            <a:avLst/>
          </a:prstGeom>
          <a:ln w="9525" cap="flat" cmpd="sng">
            <a:solidFill>
              <a:schemeClr val="tx1"/>
            </a:solidFill>
            <a:prstDash val="solid"/>
            <a:round/>
            <a:headEnd type="none" w="med" len="med"/>
            <a:tailEnd type="triangle" w="med" len="med"/>
          </a:ln>
        </p:spPr>
      </p:sp>
      <p:sp>
        <p:nvSpPr>
          <p:cNvPr id="36" name="Line 179"/>
          <p:cNvSpPr/>
          <p:nvPr/>
        </p:nvSpPr>
        <p:spPr>
          <a:xfrm>
            <a:off x="1511734" y="5075237"/>
            <a:ext cx="228600" cy="838200"/>
          </a:xfrm>
          <a:prstGeom prst="line">
            <a:avLst/>
          </a:prstGeom>
          <a:ln w="9525" cap="flat" cmpd="sng">
            <a:solidFill>
              <a:schemeClr val="tx1"/>
            </a:solidFill>
            <a:prstDash val="solid"/>
            <a:round/>
            <a:headEnd type="none" w="med" len="med"/>
            <a:tailEnd type="triangle" w="med" len="med"/>
          </a:ln>
        </p:spPr>
      </p:sp>
      <p:sp>
        <p:nvSpPr>
          <p:cNvPr id="37" name="Line 180"/>
          <p:cNvSpPr/>
          <p:nvPr/>
        </p:nvSpPr>
        <p:spPr>
          <a:xfrm flipH="1">
            <a:off x="2578534" y="5075237"/>
            <a:ext cx="304800" cy="838200"/>
          </a:xfrm>
          <a:prstGeom prst="line">
            <a:avLst/>
          </a:prstGeom>
          <a:ln w="9525" cap="flat" cmpd="sng">
            <a:solidFill>
              <a:schemeClr val="tx1"/>
            </a:solidFill>
            <a:prstDash val="solid"/>
            <a:round/>
            <a:headEnd type="none" w="med" len="med"/>
            <a:tailEnd type="triangle" w="med" len="med"/>
          </a:ln>
        </p:spPr>
      </p:sp>
      <p:sp>
        <p:nvSpPr>
          <p:cNvPr id="38" name="Line 181"/>
          <p:cNvSpPr/>
          <p:nvPr/>
        </p:nvSpPr>
        <p:spPr>
          <a:xfrm>
            <a:off x="5931334" y="5075237"/>
            <a:ext cx="0" cy="838200"/>
          </a:xfrm>
          <a:prstGeom prst="line">
            <a:avLst/>
          </a:prstGeom>
          <a:ln w="9525" cap="flat" cmpd="sng">
            <a:solidFill>
              <a:schemeClr val="tx1"/>
            </a:solidFill>
            <a:prstDash val="solid"/>
            <a:round/>
            <a:headEnd type="none" w="med" len="med"/>
            <a:tailEnd type="triangle" w="med" len="med"/>
          </a:ln>
        </p:spPr>
      </p:sp>
      <p:sp>
        <p:nvSpPr>
          <p:cNvPr id="39" name="Line 182"/>
          <p:cNvSpPr/>
          <p:nvPr/>
        </p:nvSpPr>
        <p:spPr>
          <a:xfrm>
            <a:off x="6159934" y="4999037"/>
            <a:ext cx="228600" cy="914400"/>
          </a:xfrm>
          <a:prstGeom prst="line">
            <a:avLst/>
          </a:prstGeom>
          <a:ln w="9525" cap="flat" cmpd="sng">
            <a:solidFill>
              <a:schemeClr val="tx1"/>
            </a:solidFill>
            <a:prstDash val="solid"/>
            <a:round/>
            <a:headEnd type="none" w="med" len="med"/>
            <a:tailEnd type="triangle" w="med" len="med"/>
          </a:ln>
        </p:spPr>
      </p:sp>
      <p:sp>
        <p:nvSpPr>
          <p:cNvPr id="40" name="Line 183"/>
          <p:cNvSpPr/>
          <p:nvPr/>
        </p:nvSpPr>
        <p:spPr>
          <a:xfrm flipH="1">
            <a:off x="6845734" y="5075237"/>
            <a:ext cx="838200" cy="838200"/>
          </a:xfrm>
          <a:prstGeom prst="line">
            <a:avLst/>
          </a:prstGeom>
          <a:ln w="9525" cap="flat" cmpd="sng">
            <a:solidFill>
              <a:schemeClr val="tx1"/>
            </a:solidFill>
            <a:prstDash val="solid"/>
            <a:round/>
            <a:headEnd type="none" w="med" len="med"/>
            <a:tailEnd type="triangle" w="med" len="med"/>
          </a:ln>
        </p:spPr>
      </p:sp>
      <p:sp>
        <p:nvSpPr>
          <p:cNvPr id="41" name="Line 184"/>
          <p:cNvSpPr/>
          <p:nvPr/>
        </p:nvSpPr>
        <p:spPr>
          <a:xfrm flipH="1">
            <a:off x="7379134" y="5075237"/>
            <a:ext cx="609600" cy="838200"/>
          </a:xfrm>
          <a:prstGeom prst="line">
            <a:avLst/>
          </a:prstGeom>
          <a:ln w="9525" cap="flat" cmpd="sng">
            <a:solidFill>
              <a:schemeClr val="tx1"/>
            </a:solidFill>
            <a:prstDash val="solid"/>
            <a:round/>
            <a:headEnd type="none" w="med" len="med"/>
            <a:tailEnd type="triangle" w="med" len="med"/>
          </a:ln>
        </p:spPr>
      </p:sp>
      <p:sp>
        <p:nvSpPr>
          <p:cNvPr id="42" name="Line 185"/>
          <p:cNvSpPr/>
          <p:nvPr/>
        </p:nvSpPr>
        <p:spPr>
          <a:xfrm flipH="1">
            <a:off x="7912534" y="5075237"/>
            <a:ext cx="457200" cy="838200"/>
          </a:xfrm>
          <a:prstGeom prst="line">
            <a:avLst/>
          </a:prstGeom>
          <a:ln w="9525" cap="flat" cmpd="sng">
            <a:solidFill>
              <a:schemeClr val="tx1"/>
            </a:solidFill>
            <a:prstDash val="solid"/>
            <a:round/>
            <a:headEnd type="none" w="med" len="med"/>
            <a:tailEnd type="triangle" w="med" len="med"/>
          </a:ln>
        </p:spPr>
      </p:sp>
      <p:sp>
        <p:nvSpPr>
          <p:cNvPr id="43" name="Line 186"/>
          <p:cNvSpPr/>
          <p:nvPr/>
        </p:nvSpPr>
        <p:spPr>
          <a:xfrm>
            <a:off x="8445934" y="5075237"/>
            <a:ext cx="304800" cy="0"/>
          </a:xfrm>
          <a:prstGeom prst="line">
            <a:avLst/>
          </a:prstGeom>
          <a:ln w="9525" cap="flat" cmpd="sng">
            <a:solidFill>
              <a:schemeClr val="tx1"/>
            </a:solidFill>
            <a:prstDash val="solid"/>
            <a:round/>
            <a:headEnd type="none" w="med" len="med"/>
            <a:tailEnd type="triangle" w="med" len="med"/>
          </a:ln>
        </p:spPr>
      </p:sp>
      <p:sp>
        <p:nvSpPr>
          <p:cNvPr id="44" name="Rectangle 187"/>
          <p:cNvSpPr/>
          <p:nvPr/>
        </p:nvSpPr>
        <p:spPr>
          <a:xfrm>
            <a:off x="2083234"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19</a:t>
            </a:r>
            <a:endParaRPr lang="en-US" altLang="zh-CN" sz="1400" b="0" dirty="0">
              <a:latin typeface="Times New Roman" panose="02020603050405020304" pitchFamily="18" charset="0"/>
              <a:ea typeface="宋体" panose="02010600030101010101" pitchFamily="2" charset="-122"/>
            </a:endParaRPr>
          </a:p>
        </p:txBody>
      </p:sp>
      <p:sp>
        <p:nvSpPr>
          <p:cNvPr id="45" name="Line 188"/>
          <p:cNvSpPr/>
          <p:nvPr/>
        </p:nvSpPr>
        <p:spPr>
          <a:xfrm flipH="1">
            <a:off x="2121334" y="5075237"/>
            <a:ext cx="533400" cy="762000"/>
          </a:xfrm>
          <a:prstGeom prst="line">
            <a:avLst/>
          </a:prstGeom>
          <a:ln w="9525" cap="flat" cmpd="sng">
            <a:solidFill>
              <a:schemeClr val="tx1"/>
            </a:solidFill>
            <a:prstDash val="solid"/>
            <a:round/>
            <a:headEnd type="none" w="med" len="med"/>
            <a:tailEnd type="triangle" w="med" len="med"/>
          </a:ln>
        </p:spPr>
      </p:sp>
      <p:sp>
        <p:nvSpPr>
          <p:cNvPr id="46" name="Rectangle 190"/>
          <p:cNvSpPr/>
          <p:nvPr/>
        </p:nvSpPr>
        <p:spPr>
          <a:xfrm>
            <a:off x="5474134" y="5913437"/>
            <a:ext cx="371475" cy="314325"/>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pPr algn="ctr"/>
            <a:r>
              <a:rPr lang="en-US" altLang="zh-CN" sz="1400" b="0" dirty="0">
                <a:latin typeface="Times New Roman" panose="02020603050405020304" pitchFamily="18" charset="0"/>
                <a:ea typeface="宋体" panose="02010600030101010101" pitchFamily="2" charset="-122"/>
              </a:rPr>
              <a:t>50</a:t>
            </a:r>
            <a:endParaRPr lang="en-US" altLang="zh-CN" sz="1400" b="0" dirty="0">
              <a:latin typeface="Times New Roman" panose="02020603050405020304" pitchFamily="18" charset="0"/>
              <a:ea typeface="宋体" panose="02010600030101010101" pitchFamily="2" charset="-122"/>
            </a:endParaRPr>
          </a:p>
        </p:txBody>
      </p:sp>
      <p:sp>
        <p:nvSpPr>
          <p:cNvPr id="47" name="Line 191"/>
          <p:cNvSpPr/>
          <p:nvPr/>
        </p:nvSpPr>
        <p:spPr>
          <a:xfrm>
            <a:off x="3264334" y="5075237"/>
            <a:ext cx="2362200" cy="838200"/>
          </a:xfrm>
          <a:prstGeom prst="line">
            <a:avLst/>
          </a:prstGeom>
          <a:ln w="9525" cap="flat" cmpd="sng">
            <a:solidFill>
              <a:schemeClr val="tx1"/>
            </a:solidFill>
            <a:prstDash val="solid"/>
            <a:round/>
            <a:headEnd type="none" w="med" len="med"/>
            <a:tailEnd type="triangle" w="med" len="med"/>
          </a:ln>
        </p:spPr>
      </p:sp>
      <p:sp>
        <p:nvSpPr>
          <p:cNvPr id="48" name="Line 194"/>
          <p:cNvSpPr/>
          <p:nvPr/>
        </p:nvSpPr>
        <p:spPr>
          <a:xfrm>
            <a:off x="381434" y="4137025"/>
            <a:ext cx="9144000" cy="28575"/>
          </a:xfrm>
          <a:prstGeom prst="line">
            <a:avLst/>
          </a:prstGeom>
          <a:ln w="38100" cap="flat" cmpd="dbl">
            <a:solidFill>
              <a:srgbClr val="CC0000"/>
            </a:solidFill>
            <a:prstDash val="dash"/>
            <a:round/>
            <a:headEnd type="none" w="med" len="med"/>
            <a:tailEnd type="none" w="med" len="med"/>
          </a:ln>
        </p:spPr>
      </p:sp>
      <p:sp>
        <p:nvSpPr>
          <p:cNvPr id="49" name="Line 195"/>
          <p:cNvSpPr/>
          <p:nvPr/>
        </p:nvSpPr>
        <p:spPr>
          <a:xfrm>
            <a:off x="367147" y="5616575"/>
            <a:ext cx="9144000" cy="28575"/>
          </a:xfrm>
          <a:prstGeom prst="line">
            <a:avLst/>
          </a:prstGeom>
          <a:ln w="38100" cap="flat" cmpd="dbl">
            <a:solidFill>
              <a:srgbClr val="CC0000"/>
            </a:solidFill>
            <a:prstDash val="dash"/>
            <a:round/>
            <a:headEnd type="none" w="med" len="med"/>
            <a:tailEnd type="none" w="med" len="med"/>
          </a:ln>
        </p:spPr>
      </p:sp>
      <p:sp>
        <p:nvSpPr>
          <p:cNvPr id="50" name="Text Box 196"/>
          <p:cNvSpPr txBox="1"/>
          <p:nvPr/>
        </p:nvSpPr>
        <p:spPr>
          <a:xfrm>
            <a:off x="8237972" y="3686175"/>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非叶结点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51" name="Text Box 197"/>
          <p:cNvSpPr txBox="1"/>
          <p:nvPr/>
        </p:nvSpPr>
        <p:spPr>
          <a:xfrm>
            <a:off x="8253847" y="4173537"/>
            <a:ext cx="1200150" cy="396875"/>
          </a:xfrm>
          <a:prstGeom prst="rect">
            <a:avLst/>
          </a:prstGeom>
          <a:noFill/>
          <a:ln w="9525">
            <a:noFill/>
          </a:ln>
        </p:spPr>
        <p:txBody>
          <a:bodyPr wrap="none"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叶子结点</a:t>
            </a:r>
            <a:endParaRPr lang="zh-CN" altLang="en-US" dirty="0">
              <a:solidFill>
                <a:srgbClr val="CC0000"/>
              </a:solidFill>
              <a:latin typeface="Times New Roman" panose="02020603050405020304" pitchFamily="18" charset="0"/>
              <a:ea typeface="微软雅黑" panose="020B0503020204020204" pitchFamily="34" charset="-122"/>
            </a:endParaRPr>
          </a:p>
        </p:txBody>
      </p:sp>
      <p:sp>
        <p:nvSpPr>
          <p:cNvPr id="52" name="Text Box 198"/>
          <p:cNvSpPr txBox="1"/>
          <p:nvPr/>
        </p:nvSpPr>
        <p:spPr>
          <a:xfrm>
            <a:off x="8368147" y="5654675"/>
            <a:ext cx="1025525" cy="701675"/>
          </a:xfrm>
          <a:prstGeom prst="rect">
            <a:avLst/>
          </a:prstGeom>
          <a:noFill/>
          <a:ln w="9525">
            <a:noFill/>
          </a:ln>
        </p:spPr>
        <p:txBody>
          <a:bodyPr anchor="t">
            <a:spAutoFit/>
          </a:bodyPr>
          <a:lstStyle/>
          <a:p>
            <a:r>
              <a:rPr lang="zh-CN" altLang="en-US" dirty="0">
                <a:solidFill>
                  <a:srgbClr val="CC0000"/>
                </a:solidFill>
                <a:latin typeface="Times New Roman" panose="02020603050405020304" pitchFamily="18" charset="0"/>
                <a:ea typeface="微软雅黑" panose="020B0503020204020204" pitchFamily="34" charset="-122"/>
              </a:rPr>
              <a:t>主文件的记录</a:t>
            </a:r>
            <a:endParaRPr lang="zh-CN" altLang="en-US" dirty="0">
              <a:solidFill>
                <a:srgbClr val="CC0000"/>
              </a:solidFill>
              <a:latin typeface="Times New Roman" panose="02020603050405020304" pitchFamily="18" charset="0"/>
              <a:ea typeface="微软雅黑" panose="020B0503020204020204" pitchFamily="34" charset="-122"/>
            </a:endParaRPr>
          </a:p>
        </p:txBody>
      </p:sp>
      <p:grpSp>
        <p:nvGrpSpPr>
          <p:cNvPr id="53" name="Group 200"/>
          <p:cNvGrpSpPr/>
          <p:nvPr/>
        </p:nvGrpSpPr>
        <p:grpSpPr>
          <a:xfrm>
            <a:off x="6807634" y="1630363"/>
            <a:ext cx="4491038" cy="1384300"/>
            <a:chOff x="1265" y="3268"/>
            <a:chExt cx="1153" cy="629"/>
          </a:xfrm>
        </p:grpSpPr>
        <p:sp>
          <p:nvSpPr>
            <p:cNvPr id="54"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55"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56" name="Text Box 84"/>
            <p:cNvSpPr/>
            <p:nvPr/>
          </p:nvSpPr>
          <p:spPr>
            <a:xfrm>
              <a:off x="1271" y="3304"/>
              <a:ext cx="1147" cy="559"/>
            </a:xfrm>
            <a:prstGeom prst="roundRect">
              <a:avLst>
                <a:gd name="adj" fmla="val 16667"/>
              </a:avLst>
            </a:prstGeom>
            <a:noFill/>
            <a:ln w="9525">
              <a:noFill/>
            </a:ln>
          </p:spPr>
          <p:txBody>
            <a:bodyPr anchor="t">
              <a:spAutoFit/>
            </a:bodyPr>
            <a:lstStyle/>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父结点，如在删除掉索引项及指针后，指针数目小于规定的数目，则继续前面的步骤处理，直至根结点；</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如指针不小于规定的数目，则结束。</a:t>
              </a:r>
              <a:endParaRPr lang="zh-CN" altLang="en-US" sz="1600" dirty="0">
                <a:solidFill>
                  <a:schemeClr val="accent2"/>
                </a:solidFill>
                <a:latin typeface="Arial" panose="020B0604020202020204" pitchFamily="34" charset="0"/>
                <a:ea typeface="微软雅黑" panose="020B0503020204020204" pitchFamily="34" charset="-122"/>
              </a:endParaRPr>
            </a:p>
          </p:txBody>
        </p:sp>
      </p:grpSp>
      <p:sp>
        <p:nvSpPr>
          <p:cNvPr id="57" name="灯片编号占位符 56"/>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476832" y="1850661"/>
            <a:ext cx="5562598" cy="4828096"/>
          </a:xfrm>
        </p:spPr>
        <p:txBody>
          <a:bodyPr>
            <a:normAutofit/>
          </a:bodyPr>
          <a:lstStyle/>
          <a:p>
            <a:pPr marL="0" indent="0">
              <a:spcBef>
                <a:spcPct val="20000"/>
              </a:spcBef>
              <a:buNone/>
            </a:pPr>
            <a:r>
              <a:rPr lang="zh-CN" altLang="en-US" sz="2000" b="0" dirty="0">
                <a:solidFill>
                  <a:srgbClr val="FF0000"/>
                </a:solidFill>
                <a:latin typeface="微软雅黑" panose="020B0503020204020204" pitchFamily="34" charset="-122"/>
                <a:ea typeface="微软雅黑" panose="020B0503020204020204" pitchFamily="34" charset="-122"/>
              </a:rPr>
              <a:t>插入记录时：</a:t>
            </a:r>
            <a:endParaRPr lang="zh-CN" altLang="en-US" sz="2000" b="0" dirty="0">
              <a:solidFill>
                <a:srgbClr val="FF0000"/>
              </a:solidFill>
              <a:latin typeface="微软雅黑" panose="020B0503020204020204" pitchFamily="34" charset="-122"/>
              <a:ea typeface="微软雅黑" panose="020B0503020204020204" pitchFamily="34" charset="-122"/>
            </a:endParaRPr>
          </a:p>
          <a:p>
            <a:pPr>
              <a:lnSpc>
                <a:spcPct val="14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可能需要分裂：当索引块充满时，需要分裂。</a:t>
            </a:r>
            <a:endParaRPr lang="zh-CN" altLang="en-US" sz="1800" b="0" dirty="0">
              <a:latin typeface="微软雅黑" panose="020B0503020204020204" pitchFamily="34" charset="-122"/>
              <a:ea typeface="微软雅黑" panose="020B0503020204020204" pitchFamily="34" charset="-122"/>
            </a:endParaRPr>
          </a:p>
          <a:p>
            <a:pPr>
              <a:lnSpc>
                <a:spcPct val="14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分裂可能引发连锁反应，由叶结点直至根结点。</a:t>
            </a:r>
            <a:endParaRPr lang="zh-CN" altLang="en-US" sz="1800" b="0" dirty="0">
              <a:latin typeface="微软雅黑" panose="020B0503020204020204" pitchFamily="34" charset="-122"/>
              <a:ea typeface="微软雅黑" panose="020B0503020204020204" pitchFamily="34" charset="-122"/>
            </a:endParaRPr>
          </a:p>
          <a:p>
            <a:pPr>
              <a:lnSpc>
                <a:spcPct val="14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分裂后需要仔细调整索引键值及指针。</a:t>
            </a:r>
            <a:endParaRPr lang="zh-CN" altLang="en-US" sz="1800" b="0" dirty="0">
              <a:latin typeface="微软雅黑" panose="020B0503020204020204" pitchFamily="34" charset="-122"/>
              <a:ea typeface="微软雅黑" panose="020B0503020204020204" pitchFamily="34" charset="-122"/>
            </a:endParaRPr>
          </a:p>
          <a:p>
            <a:pPr>
              <a:lnSpc>
                <a:spcPct val="14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注意叶子结点之间链接关系的调整</a:t>
            </a:r>
            <a:endParaRPr lang="zh-CN" altLang="en-US" sz="1800" b="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p:txBody>
          <a:bodyPr/>
          <a:lstStyle/>
          <a:p>
            <a:r>
              <a:rPr lang="en-US" altLang="zh-CN" dirty="0"/>
              <a:t>6.2 </a:t>
            </a:r>
            <a:r>
              <a:rPr lang="zh-CN" altLang="zh-CN" dirty="0"/>
              <a:t>数据库</a:t>
            </a:r>
            <a:r>
              <a:rPr lang="zh-CN" altLang="en-US" dirty="0"/>
              <a:t>索引</a:t>
            </a:r>
            <a:r>
              <a:rPr lang="zh-CN" altLang="zh-CN" dirty="0"/>
              <a:t>-B+树</a:t>
            </a:r>
            <a:r>
              <a:rPr lang="zh-CN" altLang="en-US" dirty="0"/>
              <a:t>分裂与合并过程再示例</a:t>
            </a:r>
            <a:endParaRPr kumimoji="1" lang="zh-CN" altLang="en-US" dirty="0"/>
          </a:p>
        </p:txBody>
      </p:sp>
      <p:sp>
        <p:nvSpPr>
          <p:cNvPr id="6" name="内容占位符 5"/>
          <p:cNvSpPr>
            <a:spLocks noGrp="1"/>
          </p:cNvSpPr>
          <p:nvPr>
            <p:ph sz="half" idx="13"/>
          </p:nvPr>
        </p:nvSpPr>
        <p:spPr>
          <a:xfrm>
            <a:off x="6246622" y="1893379"/>
            <a:ext cx="5562598" cy="4828096"/>
          </a:xfrm>
        </p:spPr>
        <p:txBody>
          <a:bodyPr>
            <a:normAutofit/>
          </a:bodyPr>
          <a:lstStyle/>
          <a:p>
            <a:pPr marL="0" indent="0">
              <a:lnSpc>
                <a:spcPct val="130000"/>
              </a:lnSpc>
              <a:spcBef>
                <a:spcPct val="20000"/>
              </a:spcBef>
              <a:buNone/>
            </a:pPr>
            <a:r>
              <a:rPr lang="zh-CN" altLang="en-US" sz="2000" b="1" dirty="0">
                <a:solidFill>
                  <a:srgbClr val="FF0000"/>
                </a:solidFill>
                <a:latin typeface="微软雅黑" panose="020B0503020204020204" pitchFamily="34" charset="-122"/>
                <a:ea typeface="微软雅黑" panose="020B0503020204020204" pitchFamily="34" charset="-122"/>
              </a:rPr>
              <a:t>删除记录时：</a:t>
            </a:r>
            <a:endParaRPr lang="zh-CN" altLang="en-US" sz="2000" b="1" dirty="0">
              <a:solidFill>
                <a:srgbClr val="FF0000"/>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可能需要合并：合并记录</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从相邻结点中转移索引项（仍旧是两个结点块）</a:t>
            </a:r>
            <a:endParaRPr lang="zh-CN" altLang="en-US" sz="1800" b="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可能需要合并：两个结点块合并成一个结点块。</a:t>
            </a:r>
            <a:endParaRPr lang="zh-CN" altLang="en-US" sz="1800" b="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合并可能引发连锁反应，由叶结点直至根结点。</a:t>
            </a:r>
            <a:endParaRPr lang="zh-CN" altLang="en-US" sz="1800" b="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合并后需要仔细调整索引键值及指针。</a:t>
            </a:r>
            <a:endParaRPr lang="zh-CN" altLang="en-US" sz="1800" b="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注意叶子结点之间链接关系的调整</a:t>
            </a:r>
            <a:endParaRPr lang="zh-CN" altLang="en-US" sz="1800" b="0" dirty="0">
              <a:latin typeface="微软雅黑" panose="020B0503020204020204" pitchFamily="34" charset="-122"/>
              <a:ea typeface="微软雅黑" panose="020B0503020204020204" pitchFamily="34" charset="-122"/>
            </a:endParaRPr>
          </a:p>
        </p:txBody>
      </p:sp>
      <p:sp>
        <p:nvSpPr>
          <p:cNvPr id="22" name="内容占位符 5"/>
          <p:cNvSpPr txBox="1"/>
          <p:nvPr/>
        </p:nvSpPr>
        <p:spPr>
          <a:xfrm>
            <a:off x="397163" y="1219203"/>
            <a:ext cx="3743037" cy="67309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Wingdings" panose="05000000000000000000" pitchFamily="2" charset="2"/>
              <a:buChar char="Ø"/>
              <a:defRPr sz="2800" b="0"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ClrTx/>
              <a:buSzTx/>
            </a:pPr>
            <a:r>
              <a:rPr lang="en-US" altLang="zh-CN" sz="2600" b="1" dirty="0">
                <a:latin typeface="微软雅黑" panose="020B0503020204020204" pitchFamily="34" charset="-122"/>
                <a:ea typeface="微软雅黑" panose="020B0503020204020204" pitchFamily="34" charset="-122"/>
              </a:rPr>
              <a:t>(11) 要点概括</a:t>
            </a:r>
            <a:endParaRPr lang="en-US" altLang="zh-CN" sz="26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(1) </a:t>
            </a:r>
            <a:r>
              <a:rPr lang="zh-CN" altLang="en-US" sz="2600" dirty="0">
                <a:latin typeface="微软雅黑" panose="020B0503020204020204" pitchFamily="34" charset="-122"/>
                <a:ea typeface="微软雅黑" panose="020B0503020204020204" pitchFamily="34" charset="-122"/>
              </a:rPr>
              <a:t>散列的基本概念 </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散列（参见</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数据结构</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课程）</a:t>
            </a:r>
            <a:endParaRPr lang="zh-CN" altLang="en-US" sz="20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有</a:t>
            </a:r>
            <a:r>
              <a:rPr lang="en-US" altLang="zh-CN" sz="1800" b="0" dirty="0">
                <a:latin typeface="微软雅黑" panose="020B0503020204020204" pitchFamily="34" charset="-122"/>
                <a:ea typeface="微软雅黑" panose="020B0503020204020204" pitchFamily="34" charset="-122"/>
              </a:rPr>
              <a:t>M</a:t>
            </a:r>
            <a:r>
              <a:rPr lang="zh-CN" altLang="en-US" sz="1800" b="0" dirty="0">
                <a:latin typeface="微软雅黑" panose="020B0503020204020204" pitchFamily="34" charset="-122"/>
                <a:ea typeface="微软雅黑" panose="020B0503020204020204" pitchFamily="34" charset="-122"/>
              </a:rPr>
              <a:t>个桶，每个桶是有相同容量的存储地</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可以是内存页，也可以是磁盘块</a:t>
            </a:r>
            <a:r>
              <a:rPr lang="en-US" altLang="zh-CN"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散列函数 </a:t>
            </a:r>
            <a:r>
              <a:rPr lang="en-US" altLang="zh-CN" sz="1800" b="0" dirty="0">
                <a:latin typeface="微软雅黑" panose="020B0503020204020204" pitchFamily="34" charset="-122"/>
                <a:ea typeface="微软雅黑" panose="020B0503020204020204" pitchFamily="34" charset="-122"/>
              </a:rPr>
              <a:t>h(k)</a:t>
            </a:r>
            <a:r>
              <a:rPr lang="zh-CN" altLang="en-US" sz="1800" b="0" dirty="0">
                <a:latin typeface="微软雅黑" panose="020B0503020204020204" pitchFamily="34" charset="-122"/>
                <a:ea typeface="微软雅黑" panose="020B0503020204020204" pitchFamily="34" charset="-122"/>
              </a:rPr>
              <a:t>，可以将键值</a:t>
            </a:r>
            <a:r>
              <a:rPr lang="en-US" altLang="zh-CN" sz="1800" b="0" dirty="0">
                <a:latin typeface="微软雅黑" panose="020B0503020204020204" pitchFamily="34" charset="-122"/>
                <a:ea typeface="微软雅黑" panose="020B0503020204020204" pitchFamily="34" charset="-122"/>
              </a:rPr>
              <a:t>k</a:t>
            </a:r>
            <a:r>
              <a:rPr lang="zh-CN" altLang="en-US" sz="1800" b="0" dirty="0">
                <a:latin typeface="微软雅黑" panose="020B0503020204020204" pitchFamily="34" charset="-122"/>
                <a:ea typeface="微软雅黑" panose="020B0503020204020204" pitchFamily="34" charset="-122"/>
              </a:rPr>
              <a:t>映射到 </a:t>
            </a:r>
            <a:r>
              <a:rPr lang="en-US" altLang="zh-CN" sz="1800" b="0" dirty="0">
                <a:latin typeface="微软雅黑" panose="020B0503020204020204" pitchFamily="34" charset="-122"/>
                <a:ea typeface="微软雅黑" panose="020B0503020204020204" pitchFamily="34" charset="-122"/>
              </a:rPr>
              <a:t>{ 0, 1, …, M-1 }</a:t>
            </a:r>
            <a:r>
              <a:rPr lang="zh-CN" altLang="en-US" sz="1800" b="0" dirty="0">
                <a:latin typeface="微软雅黑" panose="020B0503020204020204" pitchFamily="34" charset="-122"/>
                <a:ea typeface="微软雅黑" panose="020B0503020204020204" pitchFamily="34" charset="-122"/>
              </a:rPr>
              <a:t>中的某一个值</a:t>
            </a:r>
            <a:endParaRPr lang="zh-CN" altLang="en-US" sz="18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将具有键值</a:t>
            </a:r>
            <a:r>
              <a:rPr lang="en-US" altLang="zh-CN" sz="1800" b="0" dirty="0">
                <a:latin typeface="微软雅黑" panose="020B0503020204020204" pitchFamily="34" charset="-122"/>
                <a:ea typeface="微软雅黑" panose="020B0503020204020204" pitchFamily="34" charset="-122"/>
              </a:rPr>
              <a:t>k</a:t>
            </a:r>
            <a:r>
              <a:rPr lang="zh-CN" altLang="en-US" sz="1800" b="0" dirty="0">
                <a:latin typeface="微软雅黑" panose="020B0503020204020204" pitchFamily="34" charset="-122"/>
                <a:ea typeface="微软雅黑" panose="020B0503020204020204" pitchFamily="34" charset="-122"/>
              </a:rPr>
              <a:t>的记录</a:t>
            </a:r>
            <a:r>
              <a:rPr lang="en-US" altLang="zh-CN" sz="1800" b="0" dirty="0">
                <a:latin typeface="微软雅黑" panose="020B0503020204020204" pitchFamily="34" charset="-122"/>
                <a:ea typeface="微软雅黑" panose="020B0503020204020204" pitchFamily="34" charset="-122"/>
              </a:rPr>
              <a:t>Record(k) </a:t>
            </a:r>
            <a:r>
              <a:rPr lang="zh-CN" altLang="en-US" sz="1800" b="0" dirty="0">
                <a:latin typeface="微软雅黑" panose="020B0503020204020204" pitchFamily="34" charset="-122"/>
                <a:ea typeface="微软雅黑" panose="020B0503020204020204" pitchFamily="34" charset="-122"/>
              </a:rPr>
              <a:t>存储在对应</a:t>
            </a:r>
            <a:r>
              <a:rPr lang="en-US" altLang="zh-CN" sz="1800" b="0" dirty="0">
                <a:latin typeface="微软雅黑" panose="020B0503020204020204" pitchFamily="34" charset="-122"/>
                <a:ea typeface="微软雅黑" panose="020B0503020204020204" pitchFamily="34" charset="-122"/>
              </a:rPr>
              <a:t>h(k)</a:t>
            </a:r>
            <a:r>
              <a:rPr lang="zh-CN" altLang="en-US" sz="1800" b="0" dirty="0">
                <a:latin typeface="微软雅黑" panose="020B0503020204020204" pitchFamily="34" charset="-122"/>
                <a:ea typeface="微软雅黑" panose="020B0503020204020204" pitchFamily="34" charset="-122"/>
              </a:rPr>
              <a:t>编号的桶中</a:t>
            </a:r>
            <a:endParaRPr lang="zh-CN" altLang="en-US" sz="1800" b="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57" name="Text Box 74"/>
          <p:cNvSpPr txBox="1"/>
          <p:nvPr/>
        </p:nvSpPr>
        <p:spPr>
          <a:xfrm>
            <a:off x="330205" y="5062538"/>
            <a:ext cx="1776413" cy="396875"/>
          </a:xfrm>
          <a:prstGeom prst="rect">
            <a:avLst/>
          </a:prstGeom>
          <a:noFill/>
          <a:ln w="9525">
            <a:noFill/>
          </a:ln>
        </p:spPr>
        <p:txBody>
          <a:bodyPr wrap="none" anchor="t">
            <a:spAutoFit/>
          </a:bodyPr>
          <a:lstStyle/>
          <a:p>
            <a:r>
              <a:rPr lang="en-US" altLang="zh-CN" dirty="0">
                <a:solidFill>
                  <a:srgbClr val="CC0000"/>
                </a:solidFill>
                <a:latin typeface="Arial" panose="020B0604020202020204" pitchFamily="34" charset="0"/>
                <a:ea typeface="楷体_GB2312" pitchFamily="49" charset="-122"/>
              </a:rPr>
              <a:t>{ Record(k) } </a:t>
            </a:r>
            <a:endParaRPr lang="en-US" altLang="zh-CN" dirty="0">
              <a:solidFill>
                <a:srgbClr val="CC0000"/>
              </a:solidFill>
              <a:latin typeface="Arial" panose="020B0604020202020204" pitchFamily="34" charset="0"/>
              <a:ea typeface="楷体_GB2312" pitchFamily="49" charset="-122"/>
            </a:endParaRPr>
          </a:p>
        </p:txBody>
      </p:sp>
      <p:sp>
        <p:nvSpPr>
          <p:cNvPr id="58" name="Text Box 75"/>
          <p:cNvSpPr txBox="1"/>
          <p:nvPr/>
        </p:nvSpPr>
        <p:spPr>
          <a:xfrm>
            <a:off x="4826005" y="5062538"/>
            <a:ext cx="1370013" cy="396875"/>
          </a:xfrm>
          <a:prstGeom prst="rect">
            <a:avLst/>
          </a:prstGeom>
          <a:noFill/>
          <a:ln w="9525">
            <a:noFill/>
          </a:ln>
        </p:spPr>
        <p:txBody>
          <a:bodyPr wrap="none" anchor="t">
            <a:spAutoFit/>
          </a:bodyPr>
          <a:lstStyle/>
          <a:p>
            <a:r>
              <a:rPr lang="en-US" altLang="zh-CN" dirty="0">
                <a:solidFill>
                  <a:srgbClr val="CC0000"/>
                </a:solidFill>
                <a:latin typeface="Arial" panose="020B0604020202020204" pitchFamily="34" charset="0"/>
                <a:ea typeface="楷体_GB2312" pitchFamily="49" charset="-122"/>
              </a:rPr>
              <a:t>Record(k)</a:t>
            </a:r>
            <a:endParaRPr lang="en-US" altLang="zh-CN" dirty="0">
              <a:solidFill>
                <a:srgbClr val="CC0000"/>
              </a:solidFill>
              <a:latin typeface="Arial" panose="020B0604020202020204" pitchFamily="34" charset="0"/>
              <a:ea typeface="楷体_GB2312" pitchFamily="49" charset="-122"/>
            </a:endParaRPr>
          </a:p>
        </p:txBody>
      </p:sp>
      <p:grpSp>
        <p:nvGrpSpPr>
          <p:cNvPr id="59" name="Group 86"/>
          <p:cNvGrpSpPr/>
          <p:nvPr/>
        </p:nvGrpSpPr>
        <p:grpSpPr>
          <a:xfrm>
            <a:off x="4078293" y="3563938"/>
            <a:ext cx="2360612" cy="2925762"/>
            <a:chOff x="2269" y="1713"/>
            <a:chExt cx="1487" cy="1843"/>
          </a:xfrm>
        </p:grpSpPr>
        <p:sp>
          <p:nvSpPr>
            <p:cNvPr id="60" name="Rectangle 66"/>
            <p:cNvSpPr/>
            <p:nvPr/>
          </p:nvSpPr>
          <p:spPr>
            <a:xfrm>
              <a:off x="2654" y="1713"/>
              <a:ext cx="1102" cy="268"/>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61" name="Rectangle 67"/>
            <p:cNvSpPr/>
            <p:nvPr/>
          </p:nvSpPr>
          <p:spPr>
            <a:xfrm>
              <a:off x="2654" y="2024"/>
              <a:ext cx="1102" cy="268"/>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62" name="Rectangle 68"/>
            <p:cNvSpPr/>
            <p:nvPr/>
          </p:nvSpPr>
          <p:spPr>
            <a:xfrm>
              <a:off x="2654" y="3288"/>
              <a:ext cx="1102" cy="268"/>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63" name="Rectangle 69"/>
            <p:cNvSpPr/>
            <p:nvPr/>
          </p:nvSpPr>
          <p:spPr>
            <a:xfrm>
              <a:off x="2654" y="2656"/>
              <a:ext cx="1102" cy="268"/>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64" name="Line 71"/>
            <p:cNvSpPr/>
            <p:nvPr/>
          </p:nvSpPr>
          <p:spPr>
            <a:xfrm>
              <a:off x="3205" y="2335"/>
              <a:ext cx="0" cy="278"/>
            </a:xfrm>
            <a:prstGeom prst="line">
              <a:avLst/>
            </a:prstGeom>
            <a:ln w="76200" cap="flat" cmpd="sng">
              <a:solidFill>
                <a:schemeClr val="tx1"/>
              </a:solidFill>
              <a:prstDash val="sysDot"/>
              <a:round/>
              <a:headEnd type="none" w="med" len="med"/>
              <a:tailEnd type="none" w="med" len="med"/>
            </a:ln>
          </p:spPr>
        </p:sp>
        <p:sp>
          <p:nvSpPr>
            <p:cNvPr id="65" name="Line 72"/>
            <p:cNvSpPr/>
            <p:nvPr/>
          </p:nvSpPr>
          <p:spPr>
            <a:xfrm>
              <a:off x="3205" y="2967"/>
              <a:ext cx="0" cy="278"/>
            </a:xfrm>
            <a:prstGeom prst="line">
              <a:avLst/>
            </a:prstGeom>
            <a:ln w="76200" cap="flat" cmpd="sng">
              <a:solidFill>
                <a:schemeClr val="tx1"/>
              </a:solidFill>
              <a:prstDash val="sysDot"/>
              <a:round/>
              <a:headEnd type="none" w="med" len="med"/>
              <a:tailEnd type="none" w="med" len="med"/>
            </a:ln>
          </p:spPr>
        </p:sp>
        <p:sp>
          <p:nvSpPr>
            <p:cNvPr id="66" name="Text Box 76"/>
            <p:cNvSpPr txBox="1"/>
            <p:nvPr/>
          </p:nvSpPr>
          <p:spPr>
            <a:xfrm>
              <a:off x="2345" y="1731"/>
              <a:ext cx="196" cy="250"/>
            </a:xfrm>
            <a:prstGeom prst="rect">
              <a:avLst/>
            </a:prstGeom>
            <a:noFill/>
            <a:ln w="9525">
              <a:noFill/>
            </a:ln>
          </p:spPr>
          <p:txBody>
            <a:bodyPr wrap="none" anchor="t">
              <a:spAutoFit/>
            </a:bodyPr>
            <a:lstStyle/>
            <a:p>
              <a:r>
                <a:rPr lang="en-US" altLang="zh-CN" dirty="0">
                  <a:solidFill>
                    <a:schemeClr val="accent2"/>
                  </a:solidFill>
                  <a:latin typeface="Times New Roman" panose="02020603050405020304" pitchFamily="18" charset="0"/>
                  <a:ea typeface="楷体_GB2312" pitchFamily="49" charset="-122"/>
                </a:rPr>
                <a:t>0</a:t>
              </a:r>
              <a:endParaRPr lang="en-US" altLang="zh-CN" dirty="0">
                <a:solidFill>
                  <a:schemeClr val="accent2"/>
                </a:solidFill>
                <a:latin typeface="Times New Roman" panose="02020603050405020304" pitchFamily="18" charset="0"/>
                <a:ea typeface="楷体_GB2312" pitchFamily="49" charset="-122"/>
              </a:endParaRPr>
            </a:p>
          </p:txBody>
        </p:sp>
        <p:sp>
          <p:nvSpPr>
            <p:cNvPr id="67" name="Text Box 77"/>
            <p:cNvSpPr txBox="1"/>
            <p:nvPr/>
          </p:nvSpPr>
          <p:spPr>
            <a:xfrm>
              <a:off x="2342" y="2033"/>
              <a:ext cx="205" cy="250"/>
            </a:xfrm>
            <a:prstGeom prst="rect">
              <a:avLst/>
            </a:prstGeom>
            <a:noFill/>
            <a:ln w="9525">
              <a:noFill/>
            </a:ln>
          </p:spPr>
          <p:txBody>
            <a:bodyPr wrap="none" anchor="t">
              <a:spAutoFit/>
            </a:bodyPr>
            <a:lstStyle/>
            <a:p>
              <a:r>
                <a:rPr lang="en-US" altLang="zh-CN" dirty="0">
                  <a:solidFill>
                    <a:schemeClr val="accent2"/>
                  </a:solidFill>
                  <a:latin typeface="Arial" panose="020B0604020202020204" pitchFamily="34" charset="0"/>
                  <a:ea typeface="楷体_GB2312" pitchFamily="49" charset="-122"/>
                </a:rPr>
                <a:t>1</a:t>
              </a:r>
              <a:endParaRPr lang="en-US" altLang="zh-CN" dirty="0">
                <a:solidFill>
                  <a:schemeClr val="accent2"/>
                </a:solidFill>
                <a:latin typeface="Arial" panose="020B0604020202020204" pitchFamily="34" charset="0"/>
                <a:ea typeface="楷体_GB2312" pitchFamily="49" charset="-122"/>
              </a:endParaRPr>
            </a:p>
          </p:txBody>
        </p:sp>
        <p:sp>
          <p:nvSpPr>
            <p:cNvPr id="68" name="Text Box 78"/>
            <p:cNvSpPr txBox="1"/>
            <p:nvPr/>
          </p:nvSpPr>
          <p:spPr>
            <a:xfrm>
              <a:off x="2269" y="2666"/>
              <a:ext cx="409" cy="250"/>
            </a:xfrm>
            <a:prstGeom prst="rect">
              <a:avLst/>
            </a:prstGeom>
            <a:noFill/>
            <a:ln w="9525">
              <a:noFill/>
            </a:ln>
          </p:spPr>
          <p:txBody>
            <a:bodyPr wrap="none" anchor="t">
              <a:spAutoFit/>
            </a:bodyPr>
            <a:lstStyle/>
            <a:p>
              <a:r>
                <a:rPr lang="en-US" altLang="zh-CN" dirty="0">
                  <a:solidFill>
                    <a:schemeClr val="accent2"/>
                  </a:solidFill>
                  <a:latin typeface="Arial" panose="020B0604020202020204" pitchFamily="34" charset="0"/>
                  <a:ea typeface="楷体_GB2312" pitchFamily="49" charset="-122"/>
                </a:rPr>
                <a:t>h(k)</a:t>
              </a:r>
              <a:endParaRPr lang="en-US" altLang="zh-CN" dirty="0">
                <a:solidFill>
                  <a:schemeClr val="accent2"/>
                </a:solidFill>
                <a:latin typeface="Arial" panose="020B0604020202020204" pitchFamily="34" charset="0"/>
                <a:ea typeface="楷体_GB2312" pitchFamily="49" charset="-122"/>
              </a:endParaRPr>
            </a:p>
          </p:txBody>
        </p:sp>
        <p:sp>
          <p:nvSpPr>
            <p:cNvPr id="69" name="Text Box 79"/>
            <p:cNvSpPr txBox="1"/>
            <p:nvPr/>
          </p:nvSpPr>
          <p:spPr>
            <a:xfrm>
              <a:off x="2277" y="3279"/>
              <a:ext cx="391" cy="250"/>
            </a:xfrm>
            <a:prstGeom prst="rect">
              <a:avLst/>
            </a:prstGeom>
            <a:noFill/>
            <a:ln w="9525">
              <a:noFill/>
            </a:ln>
          </p:spPr>
          <p:txBody>
            <a:bodyPr wrap="none" anchor="t">
              <a:spAutoFit/>
            </a:bodyPr>
            <a:lstStyle/>
            <a:p>
              <a:r>
                <a:rPr lang="en-US" altLang="zh-CN" dirty="0">
                  <a:solidFill>
                    <a:schemeClr val="accent2"/>
                  </a:solidFill>
                  <a:latin typeface="Arial" panose="020B0604020202020204" pitchFamily="34" charset="0"/>
                  <a:ea typeface="楷体_GB2312" pitchFamily="49" charset="-122"/>
                </a:rPr>
                <a:t>M-1</a:t>
              </a:r>
              <a:endParaRPr lang="en-US" altLang="zh-CN" dirty="0">
                <a:solidFill>
                  <a:schemeClr val="accent2"/>
                </a:solidFill>
                <a:latin typeface="Arial" panose="020B0604020202020204" pitchFamily="34" charset="0"/>
                <a:ea typeface="楷体_GB2312" pitchFamily="49" charset="-122"/>
              </a:endParaRPr>
            </a:p>
          </p:txBody>
        </p:sp>
      </p:grpSp>
      <p:sp>
        <p:nvSpPr>
          <p:cNvPr id="70" name="Line 83"/>
          <p:cNvSpPr/>
          <p:nvPr/>
        </p:nvSpPr>
        <p:spPr>
          <a:xfrm>
            <a:off x="6451605" y="5268913"/>
            <a:ext cx="354013" cy="0"/>
          </a:xfrm>
          <a:prstGeom prst="line">
            <a:avLst/>
          </a:prstGeom>
          <a:ln w="9525" cap="flat" cmpd="sng">
            <a:solidFill>
              <a:schemeClr val="tx1"/>
            </a:solidFill>
            <a:prstDash val="solid"/>
            <a:round/>
            <a:headEnd type="none" w="med" len="med"/>
            <a:tailEnd type="triangle" w="med" len="med"/>
          </a:ln>
        </p:spPr>
      </p:sp>
      <p:sp>
        <p:nvSpPr>
          <p:cNvPr id="71" name="Rectangle 84"/>
          <p:cNvSpPr/>
          <p:nvPr/>
        </p:nvSpPr>
        <p:spPr>
          <a:xfrm>
            <a:off x="6807205" y="5062538"/>
            <a:ext cx="1749425" cy="425450"/>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grpSp>
        <p:nvGrpSpPr>
          <p:cNvPr id="72" name="Group 96"/>
          <p:cNvGrpSpPr/>
          <p:nvPr/>
        </p:nvGrpSpPr>
        <p:grpSpPr>
          <a:xfrm>
            <a:off x="1941518" y="3771900"/>
            <a:ext cx="2208212" cy="2365375"/>
            <a:chOff x="1193" y="1844"/>
            <a:chExt cx="1391" cy="1490"/>
          </a:xfrm>
        </p:grpSpPr>
        <p:sp>
          <p:nvSpPr>
            <p:cNvPr id="73" name="Line 65"/>
            <p:cNvSpPr/>
            <p:nvPr/>
          </p:nvSpPr>
          <p:spPr>
            <a:xfrm>
              <a:off x="2017" y="2787"/>
              <a:ext cx="517" cy="0"/>
            </a:xfrm>
            <a:prstGeom prst="line">
              <a:avLst/>
            </a:prstGeom>
            <a:ln w="9525" cap="flat" cmpd="sng">
              <a:solidFill>
                <a:schemeClr val="tx1"/>
              </a:solidFill>
              <a:prstDash val="solid"/>
              <a:round/>
              <a:headEnd type="none" w="med" len="med"/>
              <a:tailEnd type="triangle" w="med" len="med"/>
            </a:ln>
          </p:spPr>
        </p:sp>
        <p:sp>
          <p:nvSpPr>
            <p:cNvPr id="74" name="Line 80"/>
            <p:cNvSpPr/>
            <p:nvPr/>
          </p:nvSpPr>
          <p:spPr>
            <a:xfrm flipV="1">
              <a:off x="2157" y="1844"/>
              <a:ext cx="427" cy="933"/>
            </a:xfrm>
            <a:prstGeom prst="line">
              <a:avLst/>
            </a:prstGeom>
            <a:ln w="9525" cap="flat" cmpd="sng">
              <a:solidFill>
                <a:schemeClr val="tx1"/>
              </a:solidFill>
              <a:prstDash val="solid"/>
              <a:round/>
              <a:headEnd type="none" w="med" len="med"/>
              <a:tailEnd type="triangle" w="med" len="med"/>
            </a:ln>
          </p:spPr>
        </p:sp>
        <p:sp>
          <p:nvSpPr>
            <p:cNvPr id="75" name="Line 81"/>
            <p:cNvSpPr/>
            <p:nvPr/>
          </p:nvSpPr>
          <p:spPr>
            <a:xfrm flipV="1">
              <a:off x="2157" y="2221"/>
              <a:ext cx="427" cy="576"/>
            </a:xfrm>
            <a:prstGeom prst="line">
              <a:avLst/>
            </a:prstGeom>
            <a:ln w="9525" cap="flat" cmpd="sng">
              <a:solidFill>
                <a:schemeClr val="tx1"/>
              </a:solidFill>
              <a:prstDash val="solid"/>
              <a:round/>
              <a:headEnd type="none" w="med" len="med"/>
              <a:tailEnd type="triangle" w="med" len="med"/>
            </a:ln>
          </p:spPr>
        </p:sp>
        <p:sp>
          <p:nvSpPr>
            <p:cNvPr id="76" name="Line 82"/>
            <p:cNvSpPr/>
            <p:nvPr/>
          </p:nvSpPr>
          <p:spPr>
            <a:xfrm>
              <a:off x="2167" y="2807"/>
              <a:ext cx="377" cy="527"/>
            </a:xfrm>
            <a:prstGeom prst="line">
              <a:avLst/>
            </a:prstGeom>
            <a:ln w="9525" cap="flat" cmpd="sng">
              <a:solidFill>
                <a:schemeClr val="tx1"/>
              </a:solidFill>
              <a:prstDash val="solid"/>
              <a:round/>
              <a:headEnd type="none" w="med" len="med"/>
              <a:tailEnd type="triangle" w="med" len="med"/>
            </a:ln>
          </p:spPr>
        </p:sp>
        <p:sp>
          <p:nvSpPr>
            <p:cNvPr id="77" name="Text Box 87"/>
            <p:cNvSpPr txBox="1"/>
            <p:nvPr/>
          </p:nvSpPr>
          <p:spPr>
            <a:xfrm>
              <a:off x="1603" y="2655"/>
              <a:ext cx="415" cy="256"/>
            </a:xfrm>
            <a:prstGeom prst="rect">
              <a:avLst/>
            </a:prstGeom>
            <a:noFill/>
            <a:ln w="9525" cap="flat" cmpd="sng">
              <a:solidFill>
                <a:schemeClr val="tx1"/>
              </a:solidFill>
              <a:prstDash val="solid"/>
              <a:miter/>
              <a:headEnd type="none" w="med" len="med"/>
              <a:tailEnd type="none" w="med" len="med"/>
            </a:ln>
          </p:spPr>
          <p:txBody>
            <a:bodyPr wrap="none" anchor="t">
              <a:spAutoFit/>
            </a:bodyPr>
            <a:lstStyle/>
            <a:p>
              <a:r>
                <a:rPr lang="en-US" altLang="zh-CN" dirty="0">
                  <a:latin typeface="Arial" panose="020B0604020202020204" pitchFamily="34" charset="0"/>
                  <a:ea typeface="楷体_GB2312" pitchFamily="49" charset="-122"/>
                </a:rPr>
                <a:t>h(k)</a:t>
              </a:r>
              <a:endParaRPr lang="en-US" altLang="zh-CN" dirty="0">
                <a:latin typeface="Arial" panose="020B0604020202020204" pitchFamily="34" charset="0"/>
                <a:ea typeface="楷体_GB2312" pitchFamily="49" charset="-122"/>
              </a:endParaRPr>
            </a:p>
          </p:txBody>
        </p:sp>
        <p:sp>
          <p:nvSpPr>
            <p:cNvPr id="78" name="Line 89"/>
            <p:cNvSpPr/>
            <p:nvPr/>
          </p:nvSpPr>
          <p:spPr>
            <a:xfrm>
              <a:off x="1193" y="2800"/>
              <a:ext cx="417" cy="0"/>
            </a:xfrm>
            <a:prstGeom prst="line">
              <a:avLst/>
            </a:prstGeom>
            <a:ln w="9525" cap="flat" cmpd="sng">
              <a:solidFill>
                <a:schemeClr val="tx1"/>
              </a:solidFill>
              <a:prstDash val="solid"/>
              <a:round/>
              <a:headEnd type="none" w="med" len="med"/>
              <a:tailEnd type="triangle" w="med" len="med"/>
            </a:ln>
          </p:spPr>
        </p:sp>
        <p:sp>
          <p:nvSpPr>
            <p:cNvPr id="79" name="Rectangle 91"/>
            <p:cNvSpPr/>
            <p:nvPr/>
          </p:nvSpPr>
          <p:spPr>
            <a:xfrm>
              <a:off x="1268" y="2552"/>
              <a:ext cx="205" cy="250"/>
            </a:xfrm>
            <a:prstGeom prst="rect">
              <a:avLst/>
            </a:prstGeom>
            <a:noFill/>
            <a:ln w="9525">
              <a:noFill/>
            </a:ln>
          </p:spPr>
          <p:txBody>
            <a:bodyPr wrap="none" anchor="t">
              <a:spAutoFit/>
            </a:bodyPr>
            <a:lstStyle/>
            <a:p>
              <a:r>
                <a:rPr lang="en-US" altLang="zh-CN" dirty="0">
                  <a:latin typeface="Arial" panose="020B0604020202020204" pitchFamily="34" charset="0"/>
                  <a:ea typeface="楷体_GB2312" pitchFamily="49" charset="-122"/>
                </a:rPr>
                <a:t>k</a:t>
              </a:r>
              <a:endParaRPr lang="en-US" altLang="zh-CN" dirty="0">
                <a:latin typeface="Arial" panose="020B0604020202020204" pitchFamily="34" charset="0"/>
                <a:ea typeface="楷体_GB2312" pitchFamily="49" charset="-122"/>
              </a:endParaRPr>
            </a:p>
          </p:txBody>
        </p:sp>
      </p:grpSp>
      <p:sp>
        <p:nvSpPr>
          <p:cNvPr id="80" name="Text Box 93"/>
          <p:cNvSpPr txBox="1"/>
          <p:nvPr/>
        </p:nvSpPr>
        <p:spPr>
          <a:xfrm>
            <a:off x="6469068" y="3498850"/>
            <a:ext cx="895350" cy="519113"/>
          </a:xfrm>
          <a:prstGeom prst="rect">
            <a:avLst/>
          </a:prstGeom>
          <a:noFill/>
          <a:ln w="9525">
            <a:noFill/>
          </a:ln>
        </p:spPr>
        <p:txBody>
          <a:bodyPr wrap="none" anchor="t">
            <a:spAutoFit/>
          </a:bodyPr>
          <a:lstStyle/>
          <a:p>
            <a:r>
              <a:rPr lang="zh-CN" altLang="en-US" sz="2800" dirty="0">
                <a:solidFill>
                  <a:schemeClr val="accent2"/>
                </a:solidFill>
                <a:latin typeface="Times New Roman" panose="02020603050405020304" pitchFamily="18" charset="0"/>
                <a:ea typeface="微软雅黑" panose="020B0503020204020204" pitchFamily="34" charset="-122"/>
              </a:rPr>
              <a:t>主桶</a:t>
            </a:r>
            <a:endParaRPr lang="zh-CN" altLang="en-US" sz="2800" dirty="0">
              <a:solidFill>
                <a:schemeClr val="accent2"/>
              </a:solidFill>
              <a:latin typeface="Times New Roman" panose="02020603050405020304" pitchFamily="18" charset="0"/>
              <a:ea typeface="微软雅黑" panose="020B0503020204020204" pitchFamily="34" charset="-122"/>
            </a:endParaRPr>
          </a:p>
        </p:txBody>
      </p:sp>
      <p:sp>
        <p:nvSpPr>
          <p:cNvPr id="81" name="Text Box 94"/>
          <p:cNvSpPr txBox="1"/>
          <p:nvPr/>
        </p:nvSpPr>
        <p:spPr>
          <a:xfrm>
            <a:off x="6754812" y="4528040"/>
            <a:ext cx="1250950" cy="519112"/>
          </a:xfrm>
          <a:prstGeom prst="rect">
            <a:avLst/>
          </a:prstGeom>
          <a:noFill/>
          <a:ln w="9525">
            <a:noFill/>
          </a:ln>
        </p:spPr>
        <p:txBody>
          <a:bodyPr wrap="none" anchor="t">
            <a:spAutoFit/>
          </a:bodyPr>
          <a:lstStyle/>
          <a:p>
            <a:r>
              <a:rPr lang="zh-CN" altLang="en-US" sz="2800" dirty="0">
                <a:solidFill>
                  <a:schemeClr val="accent2"/>
                </a:solidFill>
                <a:latin typeface="Times New Roman" panose="02020603050405020304" pitchFamily="18" charset="0"/>
                <a:ea typeface="微软雅黑" panose="020B0503020204020204" pitchFamily="34" charset="-122"/>
              </a:rPr>
              <a:t>溢出桶</a:t>
            </a:r>
            <a:endParaRPr lang="zh-CN" altLang="en-US" sz="2800" dirty="0">
              <a:solidFill>
                <a:schemeClr val="accent2"/>
              </a:solidFill>
              <a:latin typeface="Times New Roman" panose="02020603050405020304" pitchFamily="18" charset="0"/>
              <a:ea typeface="微软雅黑" panose="020B0503020204020204" pitchFamily="34" charset="-122"/>
            </a:endParaRPr>
          </a:p>
        </p:txBody>
      </p:sp>
      <p:sp>
        <p:nvSpPr>
          <p:cNvPr id="82" name="Rectangle 95"/>
          <p:cNvSpPr/>
          <p:nvPr/>
        </p:nvSpPr>
        <p:spPr>
          <a:xfrm>
            <a:off x="1004893" y="5648325"/>
            <a:ext cx="2678112" cy="366713"/>
          </a:xfrm>
          <a:prstGeom prst="rect">
            <a:avLst/>
          </a:prstGeom>
          <a:noFill/>
          <a:ln w="9525">
            <a:noFill/>
          </a:ln>
        </p:spPr>
        <p:txBody>
          <a:bodyPr wrap="none" lIns="92075" tIns="46038" rIns="92075" bIns="46038" anchor="t">
            <a:spAutoFit/>
          </a:bodyPr>
          <a:lstStyle/>
          <a:p>
            <a:pPr eaLnBrk="0" hangingPunct="0"/>
            <a:r>
              <a:rPr lang="zh-CN" altLang="en-US" sz="1800" dirty="0">
                <a:solidFill>
                  <a:srgbClr val="000000"/>
                </a:solidFill>
                <a:latin typeface="微软雅黑" panose="020B0503020204020204" pitchFamily="34" charset="-122"/>
                <a:ea typeface="微软雅黑" panose="020B0503020204020204" pitchFamily="34" charset="-122"/>
              </a:rPr>
              <a:t>例如：</a:t>
            </a:r>
            <a:r>
              <a:rPr lang="en-US" altLang="zh-CN" sz="1800" dirty="0">
                <a:solidFill>
                  <a:srgbClr val="000000"/>
                </a:solidFill>
                <a:latin typeface="微软雅黑" panose="020B0503020204020204" pitchFamily="34" charset="-122"/>
                <a:ea typeface="微软雅黑" panose="020B0503020204020204" pitchFamily="34" charset="-122"/>
              </a:rPr>
              <a:t>h(k) = k mod M</a:t>
            </a:r>
            <a:endParaRPr lang="en-US" altLang="zh-CN" sz="1800" dirty="0">
              <a:solidFill>
                <a:srgbClr val="000000"/>
              </a:solidFill>
              <a:latin typeface="微软雅黑" panose="020B0503020204020204" pitchFamily="34" charset="-122"/>
              <a:ea typeface="微软雅黑" panose="020B0503020204020204" pitchFamily="34" charset="-122"/>
            </a:endParaRPr>
          </a:p>
        </p:txBody>
      </p:sp>
      <p:grpSp>
        <p:nvGrpSpPr>
          <p:cNvPr id="83" name="Group 98"/>
          <p:cNvGrpSpPr/>
          <p:nvPr/>
        </p:nvGrpSpPr>
        <p:grpSpPr>
          <a:xfrm>
            <a:off x="1887543" y="3729038"/>
            <a:ext cx="1216025" cy="1106487"/>
            <a:chOff x="3368" y="3555"/>
            <a:chExt cx="836" cy="705"/>
          </a:xfrm>
        </p:grpSpPr>
        <p:sp>
          <p:nvSpPr>
            <p:cNvPr id="84"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85" name="Oval 40"/>
            <p:cNvSpPr/>
            <p:nvPr/>
          </p:nvSpPr>
          <p:spPr>
            <a:xfrm>
              <a:off x="3437" y="3613"/>
              <a:ext cx="698" cy="588"/>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86" name="Text Box 84"/>
            <p:cNvSpPr txBox="1"/>
            <p:nvPr/>
          </p:nvSpPr>
          <p:spPr>
            <a:xfrm>
              <a:off x="3440" y="3686"/>
              <a:ext cx="691" cy="447"/>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快速 定位</a:t>
              </a:r>
              <a:endParaRPr lang="zh-CN" altLang="en-US" dirty="0">
                <a:solidFill>
                  <a:srgbClr val="FFFFFF"/>
                </a:solidFill>
                <a:latin typeface="Arial" panose="020B0604020202020204" pitchFamily="34" charset="0"/>
                <a:ea typeface="微软雅黑" panose="020B0503020204020204" pitchFamily="34" charset="-122"/>
              </a:endParaRPr>
            </a:p>
          </p:txBody>
        </p:sp>
      </p:grpSp>
      <p:sp>
        <p:nvSpPr>
          <p:cNvPr id="88" name="文本框 87"/>
          <p:cNvSpPr txBox="1"/>
          <p:nvPr/>
        </p:nvSpPr>
        <p:spPr>
          <a:xfrm>
            <a:off x="8854276" y="3592513"/>
            <a:ext cx="2709873" cy="2585323"/>
          </a:xfrm>
          <a:prstGeom prst="rect">
            <a:avLst/>
          </a:prstGeom>
          <a:noFill/>
        </p:spPr>
        <p:txBody>
          <a:bodyPr wrap="square">
            <a:spAutoFit/>
          </a:bodyPr>
          <a:lstStyle/>
          <a:p>
            <a:pPr>
              <a:spcBef>
                <a:spcPts val="1000"/>
              </a:spcBef>
            </a:pPr>
            <a:r>
              <a:rPr lang="zh-CN" altLang="en-US" b="1" dirty="0">
                <a:solidFill>
                  <a:srgbClr val="FF0000"/>
                </a:solidFill>
                <a:latin typeface="微软雅黑" panose="020B0503020204020204" pitchFamily="34" charset="-122"/>
                <a:ea typeface="微软雅黑" panose="020B0503020204020204" pitchFamily="34" charset="-122"/>
              </a:rPr>
              <a:t>目标：</a:t>
            </a:r>
            <a:r>
              <a:rPr lang="zh-CN" altLang="en-US" b="1" dirty="0">
                <a:latin typeface="微软雅黑" panose="020B0503020204020204" pitchFamily="34" charset="-122"/>
                <a:ea typeface="微软雅黑" panose="020B0503020204020204" pitchFamily="34" charset="-122"/>
              </a:rPr>
              <a:t>选择一个合适的散列函数，将一个</a:t>
            </a:r>
            <a:r>
              <a:rPr lang="en-US" altLang="zh-CN" b="1" dirty="0">
                <a:latin typeface="微软雅黑" panose="020B0503020204020204" pitchFamily="34" charset="-122"/>
                <a:ea typeface="微软雅黑" panose="020B0503020204020204" pitchFamily="34" charset="-122"/>
              </a:rPr>
              <a:t>Record</a:t>
            </a:r>
            <a:r>
              <a:rPr lang="zh-CN" altLang="en-US" b="1" dirty="0">
                <a:latin typeface="微软雅黑" panose="020B0503020204020204" pitchFamily="34" charset="-122"/>
                <a:ea typeface="微软雅黑" panose="020B0503020204020204" pitchFamily="34" charset="-122"/>
              </a:rPr>
              <a:t>集合</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每个</a:t>
            </a:r>
            <a:r>
              <a:rPr lang="en-US" altLang="zh-CN" b="1" dirty="0">
                <a:latin typeface="微软雅黑" panose="020B0503020204020204" pitchFamily="34" charset="-122"/>
                <a:ea typeface="微软雅黑" panose="020B0503020204020204" pitchFamily="34" charset="-122"/>
              </a:rPr>
              <a:t>Record</a:t>
            </a:r>
            <a:r>
              <a:rPr lang="zh-CN" altLang="en-US" b="1" dirty="0">
                <a:latin typeface="微软雅黑" panose="020B0503020204020204" pitchFamily="34" charset="-122"/>
                <a:ea typeface="微软雅黑" panose="020B0503020204020204" pitchFamily="34" charset="-122"/>
              </a:rPr>
              <a:t>都包含一个关键字</a:t>
            </a:r>
            <a:r>
              <a:rPr lang="en-US" altLang="zh-CN" b="1" dirty="0">
                <a:latin typeface="微软雅黑" panose="020B0503020204020204" pitchFamily="34" charset="-122"/>
                <a:ea typeface="微软雅黑" panose="020B0503020204020204" pitchFamily="34" charset="-122"/>
              </a:rPr>
              <a:t>k) </a:t>
            </a:r>
            <a:r>
              <a:rPr lang="zh-CN" altLang="en-US" b="1" dirty="0">
                <a:latin typeface="微软雅黑" panose="020B0503020204020204" pitchFamily="34" charset="-122"/>
                <a:ea typeface="微软雅黑" panose="020B0503020204020204" pitchFamily="34" charset="-122"/>
              </a:rPr>
              <a:t>均匀地映射到</a:t>
            </a:r>
            <a:r>
              <a:rPr lang="en-US" altLang="zh-CN" b="1" dirty="0">
                <a:latin typeface="微软雅黑" panose="020B0503020204020204" pitchFamily="34" charset="-122"/>
                <a:ea typeface="微软雅黑" panose="020B0503020204020204" pitchFamily="34" charset="-122"/>
              </a:rPr>
              <a:t>M</a:t>
            </a:r>
            <a:r>
              <a:rPr lang="zh-CN" altLang="en-US" b="1" dirty="0">
                <a:latin typeface="微软雅黑" panose="020B0503020204020204" pitchFamily="34" charset="-122"/>
                <a:ea typeface="微软雅黑" panose="020B0503020204020204" pitchFamily="34" charset="-122"/>
              </a:rPr>
              <a:t>个桶中。即：对于集合中任一个关键字，经散列函数映射到地址集合中任何一个地址的概率是近乎相等的。</a:t>
            </a:r>
            <a:endParaRPr lang="zh-CN" altLang="en-US" b="1"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fill="hold"/>
                                        <p:tgtEl>
                                          <p:spTgt spid="59"/>
                                        </p:tgtEl>
                                        <p:attrNameLst>
                                          <p:attrName>ppt_x</p:attrName>
                                        </p:attrNameLst>
                                      </p:cBhvr>
                                      <p:tavLst>
                                        <p:tav tm="0">
                                          <p:val>
                                            <p:strVal val="#ppt_x"/>
                                          </p:val>
                                        </p:tav>
                                        <p:tav tm="100000">
                                          <p:val>
                                            <p:strVal val="#ppt_x"/>
                                          </p:val>
                                        </p:tav>
                                      </p:tavLst>
                                    </p:anim>
                                    <p:anim calcmode="lin" valueType="num">
                                      <p:cBhvr additive="base">
                                        <p:cTn id="8" dur="500" fill="hold"/>
                                        <p:tgtEl>
                                          <p:spTgt spid="5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2"/>
                                        </p:tgtEl>
                                        <p:attrNameLst>
                                          <p:attrName>style.visibility</p:attrName>
                                        </p:attrNameLst>
                                      </p:cBhvr>
                                      <p:to>
                                        <p:strVal val="visible"/>
                                      </p:to>
                                    </p:set>
                                    <p:anim calcmode="lin" valueType="num">
                                      <p:cBhvr additive="base">
                                        <p:cTn id="11" dur="500" fill="hold"/>
                                        <p:tgtEl>
                                          <p:spTgt spid="72"/>
                                        </p:tgtEl>
                                        <p:attrNameLst>
                                          <p:attrName>ppt_x</p:attrName>
                                        </p:attrNameLst>
                                      </p:cBhvr>
                                      <p:tavLst>
                                        <p:tav tm="0">
                                          <p:val>
                                            <p:strVal val="#ppt_x"/>
                                          </p:val>
                                        </p:tav>
                                        <p:tav tm="100000">
                                          <p:val>
                                            <p:strVal val="#ppt_x"/>
                                          </p:val>
                                        </p:tav>
                                      </p:tavLst>
                                    </p:anim>
                                    <p:anim calcmode="lin" valueType="num">
                                      <p:cBhvr additive="base">
                                        <p:cTn id="12"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2"/>
                                        </p:tgtEl>
                                        <p:attrNameLst>
                                          <p:attrName>style.visibility</p:attrName>
                                        </p:attrNameLst>
                                      </p:cBhvr>
                                      <p:to>
                                        <p:strVal val="visible"/>
                                      </p:to>
                                    </p:set>
                                    <p:anim calcmode="lin" valueType="num">
                                      <p:cBhvr additive="base">
                                        <p:cTn id="17" dur="500" fill="hold"/>
                                        <p:tgtEl>
                                          <p:spTgt spid="82"/>
                                        </p:tgtEl>
                                        <p:attrNameLst>
                                          <p:attrName>ppt_x</p:attrName>
                                        </p:attrNameLst>
                                      </p:cBhvr>
                                      <p:tavLst>
                                        <p:tav tm="0">
                                          <p:val>
                                            <p:strVal val="#ppt_x"/>
                                          </p:val>
                                        </p:tav>
                                        <p:tav tm="100000">
                                          <p:val>
                                            <p:strVal val="#ppt_x"/>
                                          </p:val>
                                        </p:tav>
                                      </p:tavLst>
                                    </p:anim>
                                    <p:anim calcmode="lin" valueType="num">
                                      <p:cBhvr additive="base">
                                        <p:cTn id="18"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additive="base">
                                        <p:cTn id="23" dur="500" fill="hold"/>
                                        <p:tgtEl>
                                          <p:spTgt spid="57"/>
                                        </p:tgtEl>
                                        <p:attrNameLst>
                                          <p:attrName>ppt_x</p:attrName>
                                        </p:attrNameLst>
                                      </p:cBhvr>
                                      <p:tavLst>
                                        <p:tav tm="0">
                                          <p:val>
                                            <p:strVal val="#ppt_x"/>
                                          </p:val>
                                        </p:tav>
                                        <p:tav tm="100000">
                                          <p:val>
                                            <p:strVal val="#ppt_x"/>
                                          </p:val>
                                        </p:tav>
                                      </p:tavLst>
                                    </p:anim>
                                    <p:anim calcmode="lin" valueType="num">
                                      <p:cBhvr additive="base">
                                        <p:cTn id="24" dur="500" fill="hold"/>
                                        <p:tgtEl>
                                          <p:spTgt spid="5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8"/>
                                        </p:tgtEl>
                                        <p:attrNameLst>
                                          <p:attrName>style.visibility</p:attrName>
                                        </p:attrNameLst>
                                      </p:cBhvr>
                                      <p:to>
                                        <p:strVal val="visible"/>
                                      </p:to>
                                    </p:set>
                                    <p:anim calcmode="lin" valueType="num">
                                      <p:cBhvr additive="base">
                                        <p:cTn id="27" dur="500" fill="hold"/>
                                        <p:tgtEl>
                                          <p:spTgt spid="58"/>
                                        </p:tgtEl>
                                        <p:attrNameLst>
                                          <p:attrName>ppt_x</p:attrName>
                                        </p:attrNameLst>
                                      </p:cBhvr>
                                      <p:tavLst>
                                        <p:tav tm="0">
                                          <p:val>
                                            <p:strVal val="#ppt_x"/>
                                          </p:val>
                                        </p:tav>
                                        <p:tav tm="100000">
                                          <p:val>
                                            <p:strVal val="#ppt_x"/>
                                          </p:val>
                                        </p:tav>
                                      </p:tavLst>
                                    </p:anim>
                                    <p:anim calcmode="lin" valueType="num">
                                      <p:cBhvr additive="base">
                                        <p:cTn id="28"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80"/>
                                        </p:tgtEl>
                                        <p:attrNameLst>
                                          <p:attrName>style.visibility</p:attrName>
                                        </p:attrNameLst>
                                      </p:cBhvr>
                                      <p:to>
                                        <p:strVal val="visible"/>
                                      </p:to>
                                    </p:set>
                                    <p:anim calcmode="lin" valueType="num">
                                      <p:cBhvr additive="base">
                                        <p:cTn id="33" dur="500" fill="hold"/>
                                        <p:tgtEl>
                                          <p:spTgt spid="80"/>
                                        </p:tgtEl>
                                        <p:attrNameLst>
                                          <p:attrName>ppt_x</p:attrName>
                                        </p:attrNameLst>
                                      </p:cBhvr>
                                      <p:tavLst>
                                        <p:tav tm="0">
                                          <p:val>
                                            <p:strVal val="#ppt_x"/>
                                          </p:val>
                                        </p:tav>
                                        <p:tav tm="100000">
                                          <p:val>
                                            <p:strVal val="#ppt_x"/>
                                          </p:val>
                                        </p:tav>
                                      </p:tavLst>
                                    </p:anim>
                                    <p:anim calcmode="lin" valueType="num">
                                      <p:cBhvr additive="base">
                                        <p:cTn id="34"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70"/>
                                        </p:tgtEl>
                                        <p:attrNameLst>
                                          <p:attrName>style.visibility</p:attrName>
                                        </p:attrNameLst>
                                      </p:cBhvr>
                                      <p:to>
                                        <p:strVal val="visible"/>
                                      </p:to>
                                    </p:set>
                                    <p:anim calcmode="lin" valueType="num">
                                      <p:cBhvr additive="base">
                                        <p:cTn id="39" dur="500" fill="hold"/>
                                        <p:tgtEl>
                                          <p:spTgt spid="70"/>
                                        </p:tgtEl>
                                        <p:attrNameLst>
                                          <p:attrName>ppt_x</p:attrName>
                                        </p:attrNameLst>
                                      </p:cBhvr>
                                      <p:tavLst>
                                        <p:tav tm="0">
                                          <p:val>
                                            <p:strVal val="#ppt_x"/>
                                          </p:val>
                                        </p:tav>
                                        <p:tav tm="100000">
                                          <p:val>
                                            <p:strVal val="#ppt_x"/>
                                          </p:val>
                                        </p:tav>
                                      </p:tavLst>
                                    </p:anim>
                                    <p:anim calcmode="lin" valueType="num">
                                      <p:cBhvr additive="base">
                                        <p:cTn id="40" dur="500" fill="hold"/>
                                        <p:tgtEl>
                                          <p:spTgt spid="7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71"/>
                                        </p:tgtEl>
                                        <p:attrNameLst>
                                          <p:attrName>style.visibility</p:attrName>
                                        </p:attrNameLst>
                                      </p:cBhvr>
                                      <p:to>
                                        <p:strVal val="visible"/>
                                      </p:to>
                                    </p:set>
                                    <p:anim calcmode="lin" valueType="num">
                                      <p:cBhvr additive="base">
                                        <p:cTn id="43" dur="500" fill="hold"/>
                                        <p:tgtEl>
                                          <p:spTgt spid="71"/>
                                        </p:tgtEl>
                                        <p:attrNameLst>
                                          <p:attrName>ppt_x</p:attrName>
                                        </p:attrNameLst>
                                      </p:cBhvr>
                                      <p:tavLst>
                                        <p:tav tm="0">
                                          <p:val>
                                            <p:strVal val="#ppt_x"/>
                                          </p:val>
                                        </p:tav>
                                        <p:tav tm="100000">
                                          <p:val>
                                            <p:strVal val="#ppt_x"/>
                                          </p:val>
                                        </p:tav>
                                      </p:tavLst>
                                    </p:anim>
                                    <p:anim calcmode="lin" valueType="num">
                                      <p:cBhvr additive="base">
                                        <p:cTn id="44" dur="500" fill="hold"/>
                                        <p:tgtEl>
                                          <p:spTgt spid="7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81"/>
                                        </p:tgtEl>
                                        <p:attrNameLst>
                                          <p:attrName>style.visibility</p:attrName>
                                        </p:attrNameLst>
                                      </p:cBhvr>
                                      <p:to>
                                        <p:strVal val="visible"/>
                                      </p:to>
                                    </p:set>
                                    <p:anim calcmode="lin" valueType="num">
                                      <p:cBhvr additive="base">
                                        <p:cTn id="47" dur="500" fill="hold"/>
                                        <p:tgtEl>
                                          <p:spTgt spid="81"/>
                                        </p:tgtEl>
                                        <p:attrNameLst>
                                          <p:attrName>ppt_x</p:attrName>
                                        </p:attrNameLst>
                                      </p:cBhvr>
                                      <p:tavLst>
                                        <p:tav tm="0">
                                          <p:val>
                                            <p:strVal val="#ppt_x"/>
                                          </p:val>
                                        </p:tav>
                                        <p:tav tm="100000">
                                          <p:val>
                                            <p:strVal val="#ppt_x"/>
                                          </p:val>
                                        </p:tav>
                                      </p:tavLst>
                                    </p:anim>
                                    <p:anim calcmode="lin" valueType="num">
                                      <p:cBhvr additive="base">
                                        <p:cTn id="48"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83"/>
                                        </p:tgtEl>
                                        <p:attrNameLst>
                                          <p:attrName>style.visibility</p:attrName>
                                        </p:attrNameLst>
                                      </p:cBhvr>
                                      <p:to>
                                        <p:strVal val="visible"/>
                                      </p:to>
                                    </p:set>
                                    <p:anim calcmode="lin" valueType="num">
                                      <p:cBhvr additive="base">
                                        <p:cTn id="53" dur="500" fill="hold"/>
                                        <p:tgtEl>
                                          <p:spTgt spid="83"/>
                                        </p:tgtEl>
                                        <p:attrNameLst>
                                          <p:attrName>ppt_x</p:attrName>
                                        </p:attrNameLst>
                                      </p:cBhvr>
                                      <p:tavLst>
                                        <p:tav tm="0">
                                          <p:val>
                                            <p:strVal val="#ppt_x"/>
                                          </p:val>
                                        </p:tav>
                                        <p:tav tm="100000">
                                          <p:val>
                                            <p:strVal val="#ppt_x"/>
                                          </p:val>
                                        </p:tav>
                                      </p:tavLst>
                                    </p:anim>
                                    <p:anim calcmode="lin" valueType="num">
                                      <p:cBhvr additive="base">
                                        <p:cTn id="54"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71" grpId="0" bldLvl="0" animBg="1"/>
      <p:bldP spid="80" grpId="0"/>
      <p:bldP spid="81" grpId="0"/>
      <p:bldP spid="8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散列索引 </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散列散列索引</a:t>
            </a:r>
            <a:endParaRPr lang="en-US" altLang="zh-CN" sz="20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内存数据可采用散列确定存储页，主文件可采用散列确定存储块，索引亦可采用散列确定索引项的存储块</a:t>
            </a:r>
            <a:endParaRPr lang="zh-CN" altLang="en-US" sz="18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Ｍ个桶。一个桶可以是一个存储块，亦可是若干个连续的存储块。　</a:t>
            </a:r>
            <a:endParaRPr lang="zh-CN" altLang="en-US" sz="1800" b="0" dirty="0">
              <a:latin typeface="微软雅黑" panose="020B0503020204020204" pitchFamily="34" charset="-122"/>
              <a:ea typeface="微软雅黑" panose="020B0503020204020204" pitchFamily="34" charset="-122"/>
            </a:endParaRPr>
          </a:p>
          <a:p>
            <a:pPr marL="0" indent="0">
              <a:lnSpc>
                <a:spcPct val="100000"/>
              </a:lnSpc>
              <a:buFont typeface="Wingdings" panose="05000000000000000000" pitchFamily="2" charset="2"/>
              <a:buNone/>
            </a:pPr>
            <a:endParaRPr lang="zh-CN" altLang="en-US" sz="1800" dirty="0"/>
          </a:p>
          <a:p>
            <a:pPr marL="0" indent="0">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2" name="表格 1"/>
          <p:cNvGraphicFramePr/>
          <p:nvPr/>
        </p:nvGraphicFramePr>
        <p:xfrm>
          <a:off x="2081647" y="3262312"/>
          <a:ext cx="2057400" cy="3094038"/>
        </p:xfrm>
        <a:graphic>
          <a:graphicData uri="http://schemas.openxmlformats.org/drawingml/2006/table">
            <a:tbl>
              <a:tblPr/>
              <a:tblGrid>
                <a:gridCol w="2057400"/>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e</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b</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f</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g</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a</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4413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c</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4" name="Text Box 68"/>
          <p:cNvSpPr txBox="1"/>
          <p:nvPr/>
        </p:nvSpPr>
        <p:spPr>
          <a:xfrm>
            <a:off x="1621272" y="3414712"/>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a:t>
            </a:r>
            <a:endParaRPr lang="en-US" altLang="zh-CN" sz="2400" b="0" dirty="0">
              <a:latin typeface="Times New Roman" panose="02020603050405020304" pitchFamily="18" charset="0"/>
              <a:ea typeface="宋体" panose="02010600030101010101" pitchFamily="2" charset="-122"/>
            </a:endParaRPr>
          </a:p>
        </p:txBody>
      </p:sp>
      <p:sp>
        <p:nvSpPr>
          <p:cNvPr id="7" name="Text Box 69"/>
          <p:cNvSpPr txBox="1"/>
          <p:nvPr/>
        </p:nvSpPr>
        <p:spPr>
          <a:xfrm>
            <a:off x="1621272" y="4138612"/>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8" name="Text Box 70"/>
          <p:cNvSpPr txBox="1"/>
          <p:nvPr/>
        </p:nvSpPr>
        <p:spPr>
          <a:xfrm>
            <a:off x="1621272" y="4864099"/>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9" name="Text Box 71"/>
          <p:cNvSpPr txBox="1"/>
          <p:nvPr/>
        </p:nvSpPr>
        <p:spPr>
          <a:xfrm>
            <a:off x="1621272" y="5589587"/>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10" name="Rectangle 72"/>
          <p:cNvSpPr/>
          <p:nvPr/>
        </p:nvSpPr>
        <p:spPr>
          <a:xfrm>
            <a:off x="5313363" y="3262312"/>
            <a:ext cx="5686425" cy="3375025"/>
          </a:xfrm>
          <a:prstGeom prst="rect">
            <a:avLst/>
          </a:prstGeom>
          <a:noFill/>
          <a:ln w="9525">
            <a:noFill/>
          </a:ln>
        </p:spPr>
        <p:txBody>
          <a:bodyPr anchor="t">
            <a:spAutoFit/>
          </a:bodyPr>
          <a:lstStyle/>
          <a:p>
            <a:pPr>
              <a:lnSpc>
                <a:spcPct val="110000"/>
              </a:lnSpc>
              <a:buFont typeface="Wingdings" panose="05000000000000000000" pitchFamily="2" charset="2"/>
              <a:buNone/>
            </a:pPr>
            <a:r>
              <a:rPr lang="zh-CN" altLang="pt-BR" dirty="0">
                <a:latin typeface="微软雅黑" panose="020B0503020204020204" pitchFamily="34" charset="-122"/>
                <a:ea typeface="微软雅黑" panose="020B0503020204020204" pitchFamily="34" charset="-122"/>
              </a:rPr>
              <a:t>示例：</a:t>
            </a:r>
            <a:r>
              <a:rPr lang="zh-CN" altLang="pt-BR" b="0" dirty="0">
                <a:latin typeface="微软雅黑" panose="020B0503020204020204" pitchFamily="34" charset="-122"/>
                <a:ea typeface="微软雅黑" panose="020B0503020204020204" pitchFamily="34" charset="-122"/>
              </a:rPr>
              <a:t>假设 </a:t>
            </a:r>
            <a:r>
              <a:rPr lang="pt-BR" altLang="zh-CN" b="0" dirty="0">
                <a:latin typeface="微软雅黑" panose="020B0503020204020204" pitchFamily="34" charset="-122"/>
                <a:ea typeface="微软雅黑" panose="020B0503020204020204" pitchFamily="34" charset="-122"/>
              </a:rPr>
              <a:t>1</a:t>
            </a:r>
            <a:r>
              <a:rPr lang="zh-CN" altLang="pt-BR" b="0" dirty="0">
                <a:latin typeface="微软雅黑" panose="020B0503020204020204" pitchFamily="34" charset="-122"/>
                <a:ea typeface="微软雅黑" panose="020B0503020204020204" pitchFamily="34" charset="-122"/>
              </a:rPr>
              <a:t>存储块可存放</a:t>
            </a:r>
            <a:r>
              <a:rPr lang="pt-BR" altLang="zh-CN" b="0" dirty="0">
                <a:latin typeface="微软雅黑" panose="020B0503020204020204" pitchFamily="34" charset="-122"/>
                <a:ea typeface="微软雅黑" panose="020B0503020204020204" pitchFamily="34" charset="-122"/>
              </a:rPr>
              <a:t>2</a:t>
            </a:r>
            <a:r>
              <a:rPr lang="zh-CN" altLang="pt-BR" b="0" dirty="0">
                <a:latin typeface="微软雅黑" panose="020B0503020204020204" pitchFamily="34" charset="-122"/>
                <a:ea typeface="微软雅黑" panose="020B0503020204020204" pitchFamily="34" charset="-122"/>
              </a:rPr>
              <a:t>个键值及其指针</a:t>
            </a:r>
            <a:endParaRPr lang="zh-CN" altLang="pt-BR" b="0" dirty="0">
              <a:latin typeface="微软雅黑" panose="020B0503020204020204" pitchFamily="34" charset="-122"/>
              <a:ea typeface="微软雅黑" panose="020B0503020204020204" pitchFamily="34" charset="-122"/>
            </a:endParaRPr>
          </a:p>
          <a:p>
            <a:pPr>
              <a:lnSpc>
                <a:spcPct val="110000"/>
              </a:lnSpc>
              <a:buFont typeface="Wingdings" panose="05000000000000000000" pitchFamily="2" charset="2"/>
              <a:buNone/>
            </a:pPr>
            <a:r>
              <a:rPr lang="zh-CN" altLang="pt-BR" b="0" dirty="0">
                <a:latin typeface="微软雅黑" panose="020B0503020204020204" pitchFamily="34" charset="-122"/>
                <a:ea typeface="微软雅黑" panose="020B0503020204020204" pitchFamily="34" charset="-122"/>
              </a:rPr>
              <a:t>　　</a:t>
            </a:r>
            <a:r>
              <a:rPr lang="pt-BR" altLang="zh-CN" b="0" dirty="0">
                <a:latin typeface="微软雅黑" panose="020B0503020204020204" pitchFamily="34" charset="-122"/>
                <a:ea typeface="微软雅黑" panose="020B0503020204020204" pitchFamily="34" charset="-122"/>
              </a:rPr>
              <a:t>M=4; 1</a:t>
            </a:r>
            <a:r>
              <a:rPr lang="zh-CN" altLang="pt-BR" b="0" dirty="0">
                <a:latin typeface="微软雅黑" panose="020B0503020204020204" pitchFamily="34" charset="-122"/>
                <a:ea typeface="微软雅黑" panose="020B0503020204020204" pitchFamily="34" charset="-122"/>
              </a:rPr>
              <a:t>个桶为１个存储块</a:t>
            </a:r>
            <a:endParaRPr lang="zh-CN" altLang="pt-BR" b="0" dirty="0">
              <a:latin typeface="微软雅黑" panose="020B0503020204020204" pitchFamily="34" charset="-122"/>
              <a:ea typeface="微软雅黑" panose="020B0503020204020204" pitchFamily="34" charset="-122"/>
            </a:endParaRPr>
          </a:p>
          <a:p>
            <a:pPr>
              <a:lnSpc>
                <a:spcPct val="110000"/>
              </a:lnSpc>
              <a:buFont typeface="Wingdings" panose="05000000000000000000" pitchFamily="2" charset="2"/>
              <a:buNone/>
            </a:pPr>
            <a:r>
              <a:rPr lang="pt-BR" altLang="zh-CN" b="0" dirty="0">
                <a:latin typeface="微软雅黑" panose="020B0503020204020204" pitchFamily="34" charset="-122"/>
                <a:ea typeface="微软雅黑" panose="020B0503020204020204" pitchFamily="34" charset="-122"/>
              </a:rPr>
              <a:t>      h(x)</a:t>
            </a:r>
            <a:r>
              <a:rPr lang="zh-CN" altLang="pt-BR" b="0" dirty="0">
                <a:latin typeface="微软雅黑" panose="020B0503020204020204" pitchFamily="34" charset="-122"/>
                <a:ea typeface="微软雅黑" panose="020B0503020204020204" pitchFamily="34" charset="-122"/>
              </a:rPr>
              <a:t>满足：</a:t>
            </a:r>
            <a:endParaRPr lang="zh-CN" altLang="pt-BR" b="0" dirty="0">
              <a:latin typeface="微软雅黑" panose="020B0503020204020204" pitchFamily="34" charset="-122"/>
              <a:ea typeface="微软雅黑" panose="020B0503020204020204" pitchFamily="34" charset="-122"/>
            </a:endParaRPr>
          </a:p>
          <a:p>
            <a:pPr lvl="1" indent="0" eaLnBrk="1" hangingPunct="1">
              <a:lnSpc>
                <a:spcPct val="110000"/>
              </a:lnSpc>
              <a:buFont typeface="Wingdings" panose="05000000000000000000" pitchFamily="2" charset="2"/>
              <a:buChar char="ü"/>
            </a:pPr>
            <a:r>
              <a:rPr lang="pt-BR" altLang="zh-CN" b="0" dirty="0">
                <a:solidFill>
                  <a:srgbClr val="CC0000"/>
                </a:solidFill>
                <a:latin typeface="微软雅黑" panose="020B0503020204020204" pitchFamily="34" charset="-122"/>
                <a:ea typeface="微软雅黑" panose="020B0503020204020204" pitchFamily="34" charset="-122"/>
              </a:rPr>
              <a:t>h(e)=0 </a:t>
            </a:r>
            <a:r>
              <a:rPr lang="zh-CN" altLang="pt-BR" b="0" dirty="0">
                <a:solidFill>
                  <a:srgbClr val="CC0000"/>
                </a:solidFill>
                <a:latin typeface="微软雅黑" panose="020B0503020204020204" pitchFamily="34" charset="-122"/>
                <a:ea typeface="微软雅黑" panose="020B0503020204020204" pitchFamily="34" charset="-122"/>
              </a:rPr>
              <a:t>；  </a:t>
            </a:r>
            <a:r>
              <a:rPr lang="pt-BR" altLang="zh-CN" b="0" dirty="0">
                <a:solidFill>
                  <a:srgbClr val="CC0000"/>
                </a:solidFill>
                <a:latin typeface="微软雅黑" panose="020B0503020204020204" pitchFamily="34" charset="-122"/>
                <a:ea typeface="微软雅黑" panose="020B0503020204020204" pitchFamily="34" charset="-122"/>
              </a:rPr>
              <a:t>h(b)=h(f)=h(s)=1</a:t>
            </a:r>
            <a:endParaRPr lang="pt-BR" altLang="zh-CN" b="0" dirty="0">
              <a:solidFill>
                <a:srgbClr val="CC0000"/>
              </a:solidFill>
              <a:latin typeface="微软雅黑" panose="020B0503020204020204" pitchFamily="34" charset="-122"/>
              <a:ea typeface="微软雅黑" panose="020B0503020204020204" pitchFamily="34" charset="-122"/>
            </a:endParaRPr>
          </a:p>
          <a:p>
            <a:pPr lvl="1" indent="0" eaLnBrk="1" hangingPunct="1">
              <a:lnSpc>
                <a:spcPct val="110000"/>
              </a:lnSpc>
              <a:buFont typeface="Wingdings" panose="05000000000000000000" pitchFamily="2" charset="2"/>
              <a:buChar char="ü"/>
            </a:pPr>
            <a:r>
              <a:rPr lang="pt-BR" altLang="zh-CN" b="0" dirty="0">
                <a:solidFill>
                  <a:srgbClr val="CC0000"/>
                </a:solidFill>
                <a:latin typeface="微软雅黑" panose="020B0503020204020204" pitchFamily="34" charset="-122"/>
                <a:ea typeface="微软雅黑" panose="020B0503020204020204" pitchFamily="34" charset="-122"/>
              </a:rPr>
              <a:t>h(g)=2 </a:t>
            </a:r>
            <a:r>
              <a:rPr lang="zh-CN" altLang="pt-BR" b="0" dirty="0">
                <a:solidFill>
                  <a:srgbClr val="CC0000"/>
                </a:solidFill>
                <a:latin typeface="微软雅黑" panose="020B0503020204020204" pitchFamily="34" charset="-122"/>
                <a:ea typeface="微软雅黑" panose="020B0503020204020204" pitchFamily="34" charset="-122"/>
              </a:rPr>
              <a:t>；  </a:t>
            </a:r>
            <a:r>
              <a:rPr lang="pt-BR" altLang="zh-CN" b="0" dirty="0">
                <a:solidFill>
                  <a:srgbClr val="CC0000"/>
                </a:solidFill>
                <a:latin typeface="微软雅黑" panose="020B0503020204020204" pitchFamily="34" charset="-122"/>
                <a:ea typeface="微软雅黑" panose="020B0503020204020204" pitchFamily="34" charset="-122"/>
              </a:rPr>
              <a:t>h(a)=h(c)=3</a:t>
            </a:r>
            <a:endParaRPr lang="pt-BR" altLang="zh-CN" b="0" dirty="0">
              <a:solidFill>
                <a:srgbClr val="CC0000"/>
              </a:solidFill>
              <a:latin typeface="微软雅黑" panose="020B0503020204020204" pitchFamily="34" charset="-122"/>
              <a:ea typeface="微软雅黑" panose="020B0503020204020204" pitchFamily="34" charset="-122"/>
            </a:endParaRPr>
          </a:p>
          <a:p>
            <a:pPr lvl="1" indent="0" eaLnBrk="1" hangingPunct="1">
              <a:lnSpc>
                <a:spcPct val="110000"/>
              </a:lnSpc>
              <a:buFont typeface="Wingdings" panose="05000000000000000000" pitchFamily="2" charset="2"/>
              <a:buChar char="ü"/>
            </a:pPr>
            <a:endParaRPr lang="pt-BR" altLang="zh-CN" b="0" dirty="0">
              <a:latin typeface="微软雅黑" panose="020B0503020204020204" pitchFamily="34" charset="-122"/>
              <a:ea typeface="微软雅黑" panose="020B0503020204020204" pitchFamily="34" charset="-122"/>
            </a:endParaRPr>
          </a:p>
          <a:p>
            <a:pPr>
              <a:lnSpc>
                <a:spcPct val="11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问：如何查询键值 </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的索引项？</a:t>
            </a:r>
            <a:endParaRPr lang="zh-CN" altLang="en-US" dirty="0">
              <a:latin typeface="微软雅黑" panose="020B0503020204020204" pitchFamily="34" charset="-122"/>
              <a:ea typeface="微软雅黑" panose="020B0503020204020204" pitchFamily="34" charset="-122"/>
            </a:endParaRPr>
          </a:p>
          <a:p>
            <a:pPr lvl="1" indent="0" eaLnBrk="1" hangingPunct="1">
              <a:lnSpc>
                <a:spcPct val="110000"/>
              </a:lnSpc>
              <a:buFont typeface="Wingdings" panose="05000000000000000000" pitchFamily="2" charset="2"/>
              <a:buChar char="ü"/>
            </a:pPr>
            <a:r>
              <a:rPr lang="zh-CN" altLang="en-US" b="0" dirty="0">
                <a:latin typeface="微软雅黑" panose="020B0503020204020204" pitchFamily="34" charset="-122"/>
                <a:ea typeface="微软雅黑" panose="020B0503020204020204" pitchFamily="34" charset="-122"/>
              </a:rPr>
              <a:t>计算 </a:t>
            </a:r>
            <a:r>
              <a:rPr lang="en-US" altLang="zh-CN" b="0" dirty="0">
                <a:latin typeface="微软雅黑" panose="020B0503020204020204" pitchFamily="34" charset="-122"/>
                <a:ea typeface="微软雅黑" panose="020B0503020204020204" pitchFamily="34" charset="-122"/>
              </a:rPr>
              <a:t>h(a)=3</a:t>
            </a:r>
            <a:endParaRPr lang="en-US" altLang="zh-CN" b="0" dirty="0">
              <a:latin typeface="微软雅黑" panose="020B0503020204020204" pitchFamily="34" charset="-122"/>
              <a:ea typeface="微软雅黑" panose="020B0503020204020204" pitchFamily="34" charset="-122"/>
            </a:endParaRPr>
          </a:p>
          <a:p>
            <a:pPr lvl="1" indent="0" eaLnBrk="1" hangingPunct="1">
              <a:lnSpc>
                <a:spcPct val="110000"/>
              </a:lnSpc>
              <a:buFont typeface="Wingdings" panose="05000000000000000000" pitchFamily="2" charset="2"/>
              <a:buChar char="ü"/>
            </a:pPr>
            <a:r>
              <a:rPr lang="zh-CN" altLang="en-US" b="0" dirty="0">
                <a:latin typeface="微软雅黑" panose="020B0503020204020204" pitchFamily="34" charset="-122"/>
                <a:ea typeface="微软雅黑" panose="020B0503020204020204" pitchFamily="34" charset="-122"/>
              </a:rPr>
              <a:t>读取 </a:t>
            </a:r>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号桶，获得键值</a:t>
            </a:r>
            <a:r>
              <a:rPr lang="en-US" altLang="zh-CN" b="0" dirty="0">
                <a:latin typeface="微软雅黑" panose="020B0503020204020204" pitchFamily="34" charset="-122"/>
                <a:ea typeface="微软雅黑" panose="020B0503020204020204" pitchFamily="34" charset="-122"/>
              </a:rPr>
              <a:t>a</a:t>
            </a:r>
            <a:r>
              <a:rPr lang="zh-CN" altLang="en-US" b="0" dirty="0">
                <a:latin typeface="微软雅黑" panose="020B0503020204020204" pitchFamily="34" charset="-122"/>
                <a:ea typeface="微软雅黑" panose="020B0503020204020204" pitchFamily="34" charset="-122"/>
              </a:rPr>
              <a:t>的索引项</a:t>
            </a:r>
            <a:r>
              <a:rPr lang="en-US" altLang="zh-CN"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lvl="1" indent="0" eaLnBrk="1" hangingPunct="1">
              <a:lnSpc>
                <a:spcPct val="110000"/>
              </a:lnSpc>
              <a:buFont typeface="Wingdings" panose="05000000000000000000" pitchFamily="2" charset="2"/>
              <a:buNone/>
            </a:pPr>
            <a:r>
              <a:rPr lang="zh-CN" altLang="en-US" sz="1600" b="0" dirty="0">
                <a:solidFill>
                  <a:schemeClr val="accent2"/>
                </a:solidFill>
                <a:latin typeface="微软雅黑" panose="020B0503020204020204" pitchFamily="34" charset="-122"/>
                <a:ea typeface="微软雅黑" panose="020B0503020204020204" pitchFamily="34" charset="-122"/>
              </a:rPr>
              <a:t>需要</a:t>
            </a:r>
            <a:r>
              <a:rPr lang="en-US" altLang="zh-CN" sz="1600" b="0" dirty="0">
                <a:solidFill>
                  <a:schemeClr val="accent2"/>
                </a:solidFill>
                <a:latin typeface="微软雅黑" panose="020B0503020204020204" pitchFamily="34" charset="-122"/>
                <a:ea typeface="微软雅黑" panose="020B0503020204020204" pitchFamily="34" charset="-122"/>
              </a:rPr>
              <a:t>1</a:t>
            </a:r>
            <a:r>
              <a:rPr lang="zh-CN" altLang="en-US" sz="1600" b="0" dirty="0">
                <a:solidFill>
                  <a:schemeClr val="accent2"/>
                </a:solidFill>
                <a:latin typeface="微软雅黑" panose="020B0503020204020204" pitchFamily="34" charset="-122"/>
                <a:ea typeface="微软雅黑" panose="020B0503020204020204" pitchFamily="34" charset="-122"/>
              </a:rPr>
              <a:t>个磁盘块读取</a:t>
            </a:r>
            <a:endParaRPr lang="pt-BR" altLang="zh-CN" sz="1600" b="0" dirty="0">
              <a:solidFill>
                <a:schemeClr val="accent2"/>
              </a:solidFill>
              <a:latin typeface="微软雅黑" panose="020B0503020204020204" pitchFamily="34" charset="-122"/>
              <a:ea typeface="微软雅黑" panose="020B0503020204020204" pitchFamily="34" charset="-122"/>
            </a:endParaRPr>
          </a:p>
        </p:txBody>
      </p:sp>
      <p:sp>
        <p:nvSpPr>
          <p:cNvPr id="11" name="灯片编号占位符 10"/>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0">
                                            <p:txEl>
                                              <p:pRg st="0" end="0"/>
                                            </p:txEl>
                                          </p:spTgt>
                                        </p:tgtEl>
                                        <p:attrNameLst>
                                          <p:attrName>style.visibility</p:attrName>
                                        </p:attrNameLst>
                                      </p:cBhvr>
                                      <p:to>
                                        <p:strVal val="visible"/>
                                      </p:to>
                                    </p:set>
                                    <p:anim calcmode="lin" valueType="num">
                                      <p:cBhvr additive="base">
                                        <p:cTn id="29"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0">
                                            <p:txEl>
                                              <p:pRg st="1" end="1"/>
                                            </p:txEl>
                                          </p:spTgt>
                                        </p:tgtEl>
                                        <p:attrNameLst>
                                          <p:attrName>style.visibility</p:attrName>
                                        </p:attrNameLst>
                                      </p:cBhvr>
                                      <p:to>
                                        <p:strVal val="visible"/>
                                      </p:to>
                                    </p:set>
                                    <p:anim calcmode="lin" valueType="num">
                                      <p:cBhvr additive="base">
                                        <p:cTn id="3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0">
                                            <p:txEl>
                                              <p:pRg st="2" end="2"/>
                                            </p:txEl>
                                          </p:spTgt>
                                        </p:tgtEl>
                                        <p:attrNameLst>
                                          <p:attrName>style.visibility</p:attrName>
                                        </p:attrNameLst>
                                      </p:cBhvr>
                                      <p:to>
                                        <p:strVal val="visible"/>
                                      </p:to>
                                    </p:set>
                                    <p:anim calcmode="lin" valueType="num">
                                      <p:cBhvr additive="base">
                                        <p:cTn id="37"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0">
                                            <p:txEl>
                                              <p:pRg st="3" end="3"/>
                                            </p:txEl>
                                          </p:spTgt>
                                        </p:tgtEl>
                                        <p:attrNameLst>
                                          <p:attrName>style.visibility</p:attrName>
                                        </p:attrNameLst>
                                      </p:cBhvr>
                                      <p:to>
                                        <p:strVal val="visible"/>
                                      </p:to>
                                    </p:set>
                                    <p:anim calcmode="lin" valueType="num">
                                      <p:cBhvr additive="base">
                                        <p:cTn id="41"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0">
                                            <p:txEl>
                                              <p:pRg st="4" end="4"/>
                                            </p:txEl>
                                          </p:spTgt>
                                        </p:tgtEl>
                                        <p:attrNameLst>
                                          <p:attrName>style.visibility</p:attrName>
                                        </p:attrNameLst>
                                      </p:cBhvr>
                                      <p:to>
                                        <p:strVal val="visible"/>
                                      </p:to>
                                    </p:set>
                                    <p:anim calcmode="lin" valueType="num">
                                      <p:cBhvr additive="base">
                                        <p:cTn id="45"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0">
                                            <p:txEl>
                                              <p:pRg st="6" end="6"/>
                                            </p:txEl>
                                          </p:spTgt>
                                        </p:tgtEl>
                                        <p:attrNameLst>
                                          <p:attrName>style.visibility</p:attrName>
                                        </p:attrNameLst>
                                      </p:cBhvr>
                                      <p:to>
                                        <p:strVal val="visible"/>
                                      </p:to>
                                    </p:set>
                                    <p:anim calcmode="lin" valueType="num">
                                      <p:cBhvr additive="base">
                                        <p:cTn id="51"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0">
                                            <p:txEl>
                                              <p:pRg st="7" end="7"/>
                                            </p:txEl>
                                          </p:spTgt>
                                        </p:tgtEl>
                                        <p:attrNameLst>
                                          <p:attrName>style.visibility</p:attrName>
                                        </p:attrNameLst>
                                      </p:cBhvr>
                                      <p:to>
                                        <p:strVal val="visible"/>
                                      </p:to>
                                    </p:set>
                                    <p:anim calcmode="lin" valueType="num">
                                      <p:cBhvr additive="base">
                                        <p:cTn id="57"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10">
                                            <p:txEl>
                                              <p:pRg st="8" end="8"/>
                                            </p:txEl>
                                          </p:spTgt>
                                        </p:tgtEl>
                                        <p:attrNameLst>
                                          <p:attrName>style.visibility</p:attrName>
                                        </p:attrNameLst>
                                      </p:cBhvr>
                                      <p:to>
                                        <p:strVal val="visible"/>
                                      </p:to>
                                    </p:set>
                                    <p:anim calcmode="lin" valueType="num">
                                      <p:cBhvr additive="base">
                                        <p:cTn id="63"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0">
                                            <p:txEl>
                                              <p:pRg st="8" end="8"/>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0">
                                            <p:txEl>
                                              <p:pRg st="9" end="9"/>
                                            </p:txEl>
                                          </p:spTgt>
                                        </p:tgtEl>
                                        <p:attrNameLst>
                                          <p:attrName>style.visibility</p:attrName>
                                        </p:attrNameLst>
                                      </p:cBhvr>
                                      <p:to>
                                        <p:strVal val="visible"/>
                                      </p:to>
                                    </p:set>
                                    <p:anim calcmode="lin" valueType="num">
                                      <p:cBhvr additive="base">
                                        <p:cTn id="67"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5851237" cy="717547"/>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散列索引的插入和删除</a:t>
            </a:r>
            <a:endParaRPr lang="zh-CN" altLang="en-US" sz="260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11" name="表格 10"/>
          <p:cNvGraphicFramePr/>
          <p:nvPr/>
        </p:nvGraphicFramePr>
        <p:xfrm>
          <a:off x="5321300" y="3305683"/>
          <a:ext cx="2057400" cy="3032125"/>
        </p:xfrm>
        <a:graphic>
          <a:graphicData uri="http://schemas.openxmlformats.org/drawingml/2006/table">
            <a:tbl>
              <a:tblPr/>
              <a:tblGrid>
                <a:gridCol w="2057400"/>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e</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b</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f</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g</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d</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DDDDD"/>
                    </a:solidFill>
                  </a:tcPr>
                </a:tc>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a</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c</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2" name="Text Box 77"/>
          <p:cNvSpPr txBox="1"/>
          <p:nvPr/>
        </p:nvSpPr>
        <p:spPr>
          <a:xfrm>
            <a:off x="4845050" y="3458083"/>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a:t>
            </a:r>
            <a:endParaRPr lang="en-US" altLang="zh-CN" sz="2400" b="0" dirty="0">
              <a:latin typeface="Times New Roman" panose="02020603050405020304" pitchFamily="18" charset="0"/>
              <a:ea typeface="宋体" panose="02010600030101010101" pitchFamily="2" charset="-122"/>
            </a:endParaRPr>
          </a:p>
        </p:txBody>
      </p:sp>
      <p:sp>
        <p:nvSpPr>
          <p:cNvPr id="13" name="Text Box 78"/>
          <p:cNvSpPr txBox="1"/>
          <p:nvPr/>
        </p:nvSpPr>
        <p:spPr>
          <a:xfrm>
            <a:off x="4845050" y="4181983"/>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14" name="Text Box 79"/>
          <p:cNvSpPr txBox="1"/>
          <p:nvPr/>
        </p:nvSpPr>
        <p:spPr>
          <a:xfrm>
            <a:off x="4845050" y="4907471"/>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15" name="Text Box 80"/>
          <p:cNvSpPr txBox="1"/>
          <p:nvPr/>
        </p:nvSpPr>
        <p:spPr>
          <a:xfrm>
            <a:off x="4845050" y="5632958"/>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16" name="Rectangle 81"/>
          <p:cNvSpPr>
            <a:spLocks noChangeAspect="1"/>
          </p:cNvSpPr>
          <p:nvPr/>
        </p:nvSpPr>
        <p:spPr>
          <a:xfrm>
            <a:off x="7378700" y="4067683"/>
            <a:ext cx="309562" cy="309563"/>
          </a:xfrm>
          <a:prstGeom prst="rect">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楷体_GB2312" pitchFamily="49" charset="-122"/>
            </a:endParaRPr>
          </a:p>
        </p:txBody>
      </p:sp>
      <p:graphicFrame>
        <p:nvGraphicFramePr>
          <p:cNvPr id="17" name="表格 16"/>
          <p:cNvGraphicFramePr/>
          <p:nvPr/>
        </p:nvGraphicFramePr>
        <p:xfrm>
          <a:off x="8064500" y="4067683"/>
          <a:ext cx="2057400" cy="757238"/>
        </p:xfrm>
        <a:graphic>
          <a:graphicData uri="http://schemas.openxmlformats.org/drawingml/2006/table">
            <a:tbl>
              <a:tblPr/>
              <a:tblGrid>
                <a:gridCol w="2057400"/>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s</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solidFill>
                      <a:srgbClr val="DDDDDD"/>
                    </a:solid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8" name="Line 92"/>
          <p:cNvSpPr/>
          <p:nvPr/>
        </p:nvSpPr>
        <p:spPr>
          <a:xfrm>
            <a:off x="7531100" y="4220083"/>
            <a:ext cx="533400" cy="0"/>
          </a:xfrm>
          <a:prstGeom prst="line">
            <a:avLst/>
          </a:prstGeom>
          <a:ln w="9525" cap="flat" cmpd="sng">
            <a:solidFill>
              <a:schemeClr val="tx1"/>
            </a:solidFill>
            <a:prstDash val="solid"/>
            <a:round/>
            <a:headEnd type="none" w="med" len="med"/>
            <a:tailEnd type="triangle" w="med" len="med"/>
          </a:ln>
        </p:spPr>
      </p:sp>
      <p:graphicFrame>
        <p:nvGraphicFramePr>
          <p:cNvPr id="19" name="表格 18"/>
          <p:cNvGraphicFramePr/>
          <p:nvPr/>
        </p:nvGraphicFramePr>
        <p:xfrm>
          <a:off x="2005012" y="3305683"/>
          <a:ext cx="2057400" cy="3094038"/>
        </p:xfrm>
        <a:graphic>
          <a:graphicData uri="http://schemas.openxmlformats.org/drawingml/2006/table">
            <a:tbl>
              <a:tblPr/>
              <a:tblGrid>
                <a:gridCol w="2057400"/>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e</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b</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f</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g</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a</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4413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c</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0" name="Text Box 116"/>
          <p:cNvSpPr txBox="1"/>
          <p:nvPr/>
        </p:nvSpPr>
        <p:spPr>
          <a:xfrm>
            <a:off x="1544637" y="3458083"/>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a:t>
            </a:r>
            <a:endParaRPr lang="en-US" altLang="zh-CN" sz="2400" b="0" dirty="0">
              <a:latin typeface="Times New Roman" panose="02020603050405020304" pitchFamily="18" charset="0"/>
              <a:ea typeface="宋体" panose="02010600030101010101" pitchFamily="2" charset="-122"/>
            </a:endParaRPr>
          </a:p>
        </p:txBody>
      </p:sp>
      <p:sp>
        <p:nvSpPr>
          <p:cNvPr id="21" name="Text Box 117"/>
          <p:cNvSpPr txBox="1"/>
          <p:nvPr/>
        </p:nvSpPr>
        <p:spPr>
          <a:xfrm>
            <a:off x="1544637" y="4181983"/>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2" name="Text Box 118"/>
          <p:cNvSpPr txBox="1"/>
          <p:nvPr/>
        </p:nvSpPr>
        <p:spPr>
          <a:xfrm>
            <a:off x="1544637" y="4907471"/>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3" name="Text Box 119"/>
          <p:cNvSpPr txBox="1"/>
          <p:nvPr/>
        </p:nvSpPr>
        <p:spPr>
          <a:xfrm>
            <a:off x="1544637" y="5632958"/>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4" name="AutoShape 120"/>
          <p:cNvSpPr/>
          <p:nvPr/>
        </p:nvSpPr>
        <p:spPr>
          <a:xfrm>
            <a:off x="4276725" y="4605846"/>
            <a:ext cx="520700" cy="425450"/>
          </a:xfrm>
          <a:prstGeom prst="rightArrow">
            <a:avLst>
              <a:gd name="adj1" fmla="val 50000"/>
              <a:gd name="adj2" fmla="val 30591"/>
            </a:avLst>
          </a:prstGeom>
          <a:solidFill>
            <a:schemeClr val="tx2"/>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27" name="内容占位符 1"/>
          <p:cNvSpPr txBox="1"/>
          <p:nvPr/>
        </p:nvSpPr>
        <p:spPr>
          <a:xfrm>
            <a:off x="476832" y="1850661"/>
            <a:ext cx="5562598" cy="482809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20000"/>
              </a:spcBef>
              <a:buNone/>
            </a:pPr>
            <a:r>
              <a:rPr lang="zh-CN" altLang="pt-BR" sz="2000" b="0" dirty="0">
                <a:latin typeface="微软雅黑" panose="020B0503020204020204" pitchFamily="34" charset="-122"/>
                <a:ea typeface="微软雅黑" panose="020B0503020204020204" pitchFamily="34" charset="-122"/>
              </a:rPr>
              <a:t>问：如何插入键值</a:t>
            </a:r>
            <a:r>
              <a:rPr lang="pt-BR" altLang="zh-CN" sz="2000" b="0" dirty="0">
                <a:latin typeface="微软雅黑" panose="020B0503020204020204" pitchFamily="34" charset="-122"/>
                <a:ea typeface="微软雅黑" panose="020B0503020204020204" pitchFamily="34" charset="-122"/>
              </a:rPr>
              <a:t>d</a:t>
            </a:r>
            <a:r>
              <a:rPr lang="zh-CN" altLang="pt-BR" sz="2000" b="0" dirty="0">
                <a:latin typeface="微软雅黑" panose="020B0503020204020204" pitchFamily="34" charset="-122"/>
                <a:ea typeface="微软雅黑" panose="020B0503020204020204" pitchFamily="34" charset="-122"/>
              </a:rPr>
              <a:t>的索引项</a:t>
            </a:r>
            <a:r>
              <a:rPr lang="pt-BR" altLang="zh-CN" sz="2000" b="0" dirty="0">
                <a:latin typeface="微软雅黑" panose="020B0503020204020204" pitchFamily="34" charset="-122"/>
                <a:ea typeface="微软雅黑" panose="020B0503020204020204" pitchFamily="34" charset="-122"/>
              </a:rPr>
              <a:t>?</a:t>
            </a:r>
            <a:endParaRPr lang="pt-BR" altLang="zh-CN" sz="2000" b="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pt-BR" sz="1800" dirty="0">
                <a:latin typeface="微软雅黑" panose="020B0503020204020204" pitchFamily="34" charset="-122"/>
                <a:ea typeface="微软雅黑" panose="020B0503020204020204" pitchFamily="34" charset="-122"/>
              </a:rPr>
              <a:t>计算</a:t>
            </a:r>
            <a:r>
              <a:rPr lang="pt-BR" altLang="zh-CN" sz="1800" dirty="0">
                <a:latin typeface="微软雅黑" panose="020B0503020204020204" pitchFamily="34" charset="-122"/>
                <a:ea typeface="微软雅黑" panose="020B0503020204020204" pitchFamily="34" charset="-122"/>
              </a:rPr>
              <a:t>h(d)=2</a:t>
            </a:r>
            <a:endParaRPr lang="pt-BR" altLang="zh-CN" sz="18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pt-BR" sz="1800" dirty="0">
                <a:latin typeface="微软雅黑" panose="020B0503020204020204" pitchFamily="34" charset="-122"/>
                <a:ea typeface="微软雅黑" panose="020B0503020204020204" pitchFamily="34" charset="-122"/>
              </a:rPr>
              <a:t>如</a:t>
            </a:r>
            <a:r>
              <a:rPr lang="pt-BR" altLang="zh-CN" sz="1800" dirty="0">
                <a:latin typeface="微软雅黑" panose="020B0503020204020204" pitchFamily="34" charset="-122"/>
                <a:ea typeface="微软雅黑" panose="020B0503020204020204" pitchFamily="34" charset="-122"/>
              </a:rPr>
              <a:t>2</a:t>
            </a:r>
            <a:r>
              <a:rPr lang="zh-CN" altLang="pt-BR" sz="1800" dirty="0">
                <a:latin typeface="微软雅黑" panose="020B0503020204020204" pitchFamily="34" charset="-122"/>
                <a:ea typeface="微软雅黑" panose="020B0503020204020204" pitchFamily="34" charset="-122"/>
              </a:rPr>
              <a:t>号桶有空间，则将索引项</a:t>
            </a:r>
            <a:r>
              <a:rPr lang="pt-BR" altLang="zh-CN" sz="1800" dirty="0">
                <a:latin typeface="微软雅黑" panose="020B0503020204020204" pitchFamily="34" charset="-122"/>
                <a:ea typeface="微软雅黑" panose="020B0503020204020204" pitchFamily="34" charset="-122"/>
              </a:rPr>
              <a:t>d</a:t>
            </a:r>
            <a:r>
              <a:rPr lang="zh-CN" altLang="pt-BR" sz="1800" dirty="0">
                <a:latin typeface="微软雅黑" panose="020B0503020204020204" pitchFamily="34" charset="-122"/>
                <a:ea typeface="微软雅黑" panose="020B0503020204020204" pitchFamily="34" charset="-122"/>
              </a:rPr>
              <a:t>插入</a:t>
            </a:r>
            <a:r>
              <a:rPr lang="pt-BR" altLang="zh-CN" sz="1800" dirty="0">
                <a:latin typeface="微软雅黑" panose="020B0503020204020204" pitchFamily="34" charset="-122"/>
                <a:ea typeface="微软雅黑" panose="020B0503020204020204" pitchFamily="34" charset="-122"/>
              </a:rPr>
              <a:t>2</a:t>
            </a:r>
            <a:r>
              <a:rPr lang="zh-CN" altLang="pt-BR" sz="1800" dirty="0">
                <a:latin typeface="微软雅黑" panose="020B0503020204020204" pitchFamily="34" charset="-122"/>
                <a:ea typeface="微软雅黑" panose="020B0503020204020204" pitchFamily="34" charset="-122"/>
              </a:rPr>
              <a:t>号桶中</a:t>
            </a:r>
            <a:endParaRPr lang="zh-CN" altLang="en-US" sz="1800" dirty="0">
              <a:latin typeface="微软雅黑" panose="020B0503020204020204" pitchFamily="34" charset="-122"/>
              <a:ea typeface="微软雅黑" panose="020B0503020204020204" pitchFamily="34" charset="-122"/>
            </a:endParaRPr>
          </a:p>
        </p:txBody>
      </p:sp>
      <p:sp>
        <p:nvSpPr>
          <p:cNvPr id="28" name="内容占位符 5"/>
          <p:cNvSpPr txBox="1"/>
          <p:nvPr/>
        </p:nvSpPr>
        <p:spPr>
          <a:xfrm>
            <a:off x="6246622" y="1893379"/>
            <a:ext cx="5562598" cy="482809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20000"/>
              </a:spcBef>
              <a:buNone/>
            </a:pPr>
            <a:r>
              <a:rPr lang="zh-CN" altLang="en-US" sz="2000" dirty="0">
                <a:latin typeface="微软雅黑" panose="020B0503020204020204" pitchFamily="34" charset="-122"/>
                <a:ea typeface="微软雅黑" panose="020B0503020204020204" pitchFamily="34" charset="-122"/>
              </a:rPr>
              <a:t>问：如何插入键值</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的索引项？</a:t>
            </a:r>
            <a:endParaRPr lang="zh-CN" altLang="en-US" sz="20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计算 </a:t>
            </a:r>
            <a:r>
              <a:rPr lang="en-US" altLang="zh-CN" sz="1800" dirty="0">
                <a:latin typeface="微软雅黑" panose="020B0503020204020204" pitchFamily="34" charset="-122"/>
                <a:ea typeface="微软雅黑" panose="020B0503020204020204" pitchFamily="34" charset="-122"/>
              </a:rPr>
              <a:t>h(s)=1</a:t>
            </a:r>
            <a:endParaRPr lang="en-US" altLang="zh-CN" sz="18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号桶无空间，则申请一溢出桶，插入</a:t>
            </a:r>
            <a:r>
              <a:rPr lang="en-US" altLang="zh-CN" sz="1800" dirty="0">
                <a:latin typeface="微软雅黑" panose="020B0503020204020204" pitchFamily="34" charset="-122"/>
                <a:ea typeface="微软雅黑" panose="020B0503020204020204" pitchFamily="34" charset="-122"/>
              </a:rPr>
              <a:t>s</a:t>
            </a:r>
            <a:endParaRPr lang="zh-CN" altLang="en-US" sz="180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bldLvl="0" animBg="1"/>
      <p:bldP spid="24" grpId="0" bldLvl="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散列索引的插入和删除</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buNone/>
            </a:pPr>
            <a:r>
              <a:rPr lang="zh-CN" altLang="pt-BR" sz="2000" b="0" dirty="0">
                <a:latin typeface="微软雅黑" panose="020B0503020204020204" pitchFamily="34" charset="-122"/>
                <a:ea typeface="微软雅黑" panose="020B0503020204020204" pitchFamily="34" charset="-122"/>
              </a:rPr>
              <a:t>问：如何删除键值</a:t>
            </a:r>
            <a:r>
              <a:rPr lang="pt-BR" altLang="zh-CN" sz="2000" b="0" dirty="0">
                <a:latin typeface="微软雅黑" panose="020B0503020204020204" pitchFamily="34" charset="-122"/>
                <a:ea typeface="微软雅黑" panose="020B0503020204020204" pitchFamily="34" charset="-122"/>
              </a:rPr>
              <a:t>f.</a:t>
            </a:r>
            <a:endParaRPr lang="pt-BR" altLang="zh-CN" sz="2000" b="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pt-BR" sz="1800" dirty="0">
                <a:latin typeface="微软雅黑" panose="020B0503020204020204" pitchFamily="34" charset="-122"/>
                <a:ea typeface="微软雅黑" panose="020B0503020204020204" pitchFamily="34" charset="-122"/>
              </a:rPr>
              <a:t>计算</a:t>
            </a:r>
            <a:r>
              <a:rPr lang="pt-BR" altLang="zh-CN" sz="1800" dirty="0">
                <a:latin typeface="微软雅黑" panose="020B0503020204020204" pitchFamily="34" charset="-122"/>
                <a:ea typeface="微软雅黑" panose="020B0503020204020204" pitchFamily="34" charset="-122"/>
              </a:rPr>
              <a:t>h(f)=1</a:t>
            </a:r>
            <a:endParaRPr lang="pt-BR" altLang="zh-CN" sz="18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pt-BR" sz="1800" dirty="0">
                <a:latin typeface="微软雅黑" panose="020B0503020204020204" pitchFamily="34" charset="-122"/>
                <a:ea typeface="微软雅黑" panose="020B0503020204020204" pitchFamily="34" charset="-122"/>
              </a:rPr>
              <a:t>删除</a:t>
            </a:r>
            <a:r>
              <a:rPr lang="pt-BR" altLang="zh-CN" sz="1800" dirty="0">
                <a:latin typeface="微软雅黑" panose="020B0503020204020204" pitchFamily="34" charset="-122"/>
                <a:ea typeface="微软雅黑" panose="020B0503020204020204" pitchFamily="34" charset="-122"/>
              </a:rPr>
              <a:t>1</a:t>
            </a:r>
            <a:r>
              <a:rPr lang="zh-CN" altLang="pt-BR" sz="1800" dirty="0">
                <a:latin typeface="微软雅黑" panose="020B0503020204020204" pitchFamily="34" charset="-122"/>
                <a:ea typeface="微软雅黑" panose="020B0503020204020204" pitchFamily="34" charset="-122"/>
              </a:rPr>
              <a:t>号桶中的键值</a:t>
            </a:r>
            <a:r>
              <a:rPr lang="pt-BR" altLang="zh-CN" sz="1800" dirty="0">
                <a:latin typeface="微软雅黑" panose="020B0503020204020204" pitchFamily="34" charset="-122"/>
                <a:ea typeface="微软雅黑" panose="020B0503020204020204" pitchFamily="34" charset="-122"/>
              </a:rPr>
              <a:t>f</a:t>
            </a:r>
            <a:endParaRPr lang="pt-BR" altLang="zh-CN" sz="18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pt-BR" sz="1800" dirty="0">
                <a:latin typeface="微软雅黑" panose="020B0503020204020204" pitchFamily="34" charset="-122"/>
                <a:ea typeface="微软雅黑" panose="020B0503020204020204" pitchFamily="34" charset="-122"/>
              </a:rPr>
              <a:t>将溢出桶中的</a:t>
            </a:r>
            <a:r>
              <a:rPr lang="pt-BR" altLang="zh-CN" sz="1800" dirty="0">
                <a:latin typeface="微软雅黑" panose="020B0503020204020204" pitchFamily="34" charset="-122"/>
                <a:ea typeface="微软雅黑" panose="020B0503020204020204" pitchFamily="34" charset="-122"/>
              </a:rPr>
              <a:t>s</a:t>
            </a:r>
            <a:r>
              <a:rPr lang="zh-CN" altLang="pt-BR" sz="1800" dirty="0">
                <a:latin typeface="微软雅黑" panose="020B0503020204020204" pitchFamily="34" charset="-122"/>
                <a:ea typeface="微软雅黑" panose="020B0503020204020204" pitchFamily="34" charset="-122"/>
              </a:rPr>
              <a:t>合并到主桶中，删除溢出桶</a:t>
            </a:r>
            <a:endParaRPr lang="zh-CN" altLang="pt-BR" sz="18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3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zh-CN" altLang="en-US" sz="1800" dirty="0"/>
          </a:p>
          <a:p>
            <a:pPr marL="0" indent="0">
              <a:lnSpc>
                <a:spcPct val="100000"/>
              </a:lnSpc>
              <a:buNone/>
            </a:pPr>
            <a:endParaRPr lang="zh-CN" altLang="en-US" sz="220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11" name="表格 10"/>
          <p:cNvGraphicFramePr/>
          <p:nvPr/>
        </p:nvGraphicFramePr>
        <p:xfrm>
          <a:off x="2274888" y="3571875"/>
          <a:ext cx="2057400" cy="3032125"/>
        </p:xfrm>
        <a:graphic>
          <a:graphicData uri="http://schemas.openxmlformats.org/drawingml/2006/table">
            <a:tbl>
              <a:tblPr/>
              <a:tblGrid>
                <a:gridCol w="2057400"/>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e</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b</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f</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g</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d</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a</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c</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2" name="Text Box 51"/>
          <p:cNvSpPr txBox="1"/>
          <p:nvPr/>
        </p:nvSpPr>
        <p:spPr>
          <a:xfrm>
            <a:off x="1798638" y="3724275"/>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a:t>
            </a:r>
            <a:endParaRPr lang="en-US" altLang="zh-CN" sz="2400" b="0" dirty="0">
              <a:latin typeface="Times New Roman" panose="02020603050405020304" pitchFamily="18" charset="0"/>
              <a:ea typeface="宋体" panose="02010600030101010101" pitchFamily="2" charset="-122"/>
            </a:endParaRPr>
          </a:p>
        </p:txBody>
      </p:sp>
      <p:sp>
        <p:nvSpPr>
          <p:cNvPr id="13" name="Text Box 52"/>
          <p:cNvSpPr txBox="1"/>
          <p:nvPr/>
        </p:nvSpPr>
        <p:spPr>
          <a:xfrm>
            <a:off x="1798638" y="4448175"/>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14" name="Text Box 53"/>
          <p:cNvSpPr txBox="1"/>
          <p:nvPr/>
        </p:nvSpPr>
        <p:spPr>
          <a:xfrm>
            <a:off x="1798638" y="5173663"/>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15" name="Text Box 54"/>
          <p:cNvSpPr txBox="1"/>
          <p:nvPr/>
        </p:nvSpPr>
        <p:spPr>
          <a:xfrm>
            <a:off x="1798638" y="5899150"/>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16" name="Rectangle 55"/>
          <p:cNvSpPr>
            <a:spLocks noChangeAspect="1"/>
          </p:cNvSpPr>
          <p:nvPr/>
        </p:nvSpPr>
        <p:spPr>
          <a:xfrm>
            <a:off x="4332288" y="4333875"/>
            <a:ext cx="309562" cy="309563"/>
          </a:xfrm>
          <a:prstGeom prst="rect">
            <a:avLst/>
          </a:prstGeom>
          <a:no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楷体_GB2312" pitchFamily="49" charset="-122"/>
            </a:endParaRPr>
          </a:p>
        </p:txBody>
      </p:sp>
      <p:graphicFrame>
        <p:nvGraphicFramePr>
          <p:cNvPr id="17" name="表格 16"/>
          <p:cNvGraphicFramePr/>
          <p:nvPr/>
        </p:nvGraphicFramePr>
        <p:xfrm>
          <a:off x="5018088" y="4333875"/>
          <a:ext cx="2057400" cy="745173"/>
        </p:xfrm>
        <a:graphic>
          <a:graphicData uri="http://schemas.openxmlformats.org/drawingml/2006/table">
            <a:tbl>
              <a:tblPr/>
              <a:tblGrid>
                <a:gridCol w="2057400"/>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s</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solidFill>
                      <a:srgbClr val="DDDDDD"/>
                    </a:solidFill>
                  </a:tcPr>
                </a:tc>
              </a:tr>
              <a:tr h="3651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8" name="Line 66"/>
          <p:cNvSpPr/>
          <p:nvPr/>
        </p:nvSpPr>
        <p:spPr>
          <a:xfrm>
            <a:off x="4484688" y="4486275"/>
            <a:ext cx="533400" cy="0"/>
          </a:xfrm>
          <a:prstGeom prst="line">
            <a:avLst/>
          </a:prstGeom>
          <a:ln w="9525" cap="flat" cmpd="sng">
            <a:solidFill>
              <a:schemeClr val="tx1"/>
            </a:solidFill>
            <a:prstDash val="solid"/>
            <a:round/>
            <a:headEnd type="none" w="med" len="med"/>
            <a:tailEnd type="triangle" w="med" len="med"/>
          </a:ln>
        </p:spPr>
      </p:sp>
      <p:graphicFrame>
        <p:nvGraphicFramePr>
          <p:cNvPr id="19" name="表格 18"/>
          <p:cNvGraphicFramePr/>
          <p:nvPr/>
        </p:nvGraphicFramePr>
        <p:xfrm>
          <a:off x="7923213" y="3508375"/>
          <a:ext cx="2057400" cy="3032125"/>
        </p:xfrm>
        <a:graphic>
          <a:graphicData uri="http://schemas.openxmlformats.org/drawingml/2006/table">
            <a:tbl>
              <a:tblPr/>
              <a:tblGrid>
                <a:gridCol w="2057400"/>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e</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b</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s</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g</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d</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a</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c</a:t>
                      </a:r>
                      <a:endParaRPr lang="en-US"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0" name="Text Box 91"/>
          <p:cNvSpPr txBox="1"/>
          <p:nvPr/>
        </p:nvSpPr>
        <p:spPr>
          <a:xfrm>
            <a:off x="7446963" y="3660775"/>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a:t>
            </a:r>
            <a:endParaRPr lang="en-US" altLang="zh-CN" sz="2400" b="0" dirty="0">
              <a:latin typeface="Times New Roman" panose="02020603050405020304" pitchFamily="18" charset="0"/>
              <a:ea typeface="宋体" panose="02010600030101010101" pitchFamily="2" charset="-122"/>
            </a:endParaRPr>
          </a:p>
        </p:txBody>
      </p:sp>
      <p:sp>
        <p:nvSpPr>
          <p:cNvPr id="21" name="Text Box 92"/>
          <p:cNvSpPr txBox="1"/>
          <p:nvPr/>
        </p:nvSpPr>
        <p:spPr>
          <a:xfrm>
            <a:off x="7446963" y="4384675"/>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2" name="Text Box 93"/>
          <p:cNvSpPr txBox="1"/>
          <p:nvPr/>
        </p:nvSpPr>
        <p:spPr>
          <a:xfrm>
            <a:off x="7446963" y="5110163"/>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3" name="Text Box 94"/>
          <p:cNvSpPr txBox="1"/>
          <p:nvPr/>
        </p:nvSpPr>
        <p:spPr>
          <a:xfrm>
            <a:off x="7446963" y="5835650"/>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4" name="AutoShape 96"/>
          <p:cNvSpPr/>
          <p:nvPr/>
        </p:nvSpPr>
        <p:spPr>
          <a:xfrm>
            <a:off x="6408738" y="5465763"/>
            <a:ext cx="803275" cy="550862"/>
          </a:xfrm>
          <a:prstGeom prst="rightArrow">
            <a:avLst>
              <a:gd name="adj1" fmla="val 50000"/>
              <a:gd name="adj2" fmla="val 36448"/>
            </a:avLst>
          </a:prstGeom>
          <a:solidFill>
            <a:schemeClr val="tx2"/>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ppt_x"/>
                                          </p:val>
                                        </p:tav>
                                        <p:tav tm="100000">
                                          <p:val>
                                            <p:strVal val="#ppt_x"/>
                                          </p:val>
                                        </p:tav>
                                      </p:tavLst>
                                    </p:anim>
                                    <p:anim calcmode="lin" valueType="num">
                                      <p:cBhvr additive="base">
                                        <p:cTn id="16" dur="500" fill="hold"/>
                                        <p:tgtEl>
                                          <p:spTgt spid="2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bldLvl="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散列的问题</a:t>
            </a:r>
            <a:endParaRPr lang="zh-CN" altLang="en-US" sz="2600" dirty="0">
              <a:latin typeface="微软雅黑" panose="020B0503020204020204" pitchFamily="34" charset="-122"/>
              <a:ea typeface="微软雅黑" panose="020B0503020204020204" pitchFamily="34" charset="-122"/>
            </a:endParaRPr>
          </a:p>
          <a:p>
            <a:pPr>
              <a:lnSpc>
                <a:spcPct val="100000"/>
              </a:lnSpc>
            </a:pPr>
            <a:r>
              <a:rPr lang="zh-CN" altLang="en-US" sz="1800" b="0" dirty="0">
                <a:solidFill>
                  <a:srgbClr val="FF0000"/>
                </a:solidFill>
                <a:latin typeface="微软雅黑" panose="020B0503020204020204" pitchFamily="34" charset="-122"/>
                <a:ea typeface="微软雅黑" panose="020B0503020204020204" pitchFamily="34" charset="-122"/>
              </a:rPr>
              <a:t>散列索引的目标</a:t>
            </a:r>
            <a:r>
              <a:rPr lang="zh-CN" altLang="en-US" sz="1800" b="0" dirty="0">
                <a:latin typeface="微软雅黑" panose="020B0503020204020204" pitchFamily="34" charset="-122"/>
                <a:ea typeface="微软雅黑" panose="020B0503020204020204" pitchFamily="34" charset="-122"/>
              </a:rPr>
              <a:t>：最好是没有溢出桶，每一个散列值仅有一个桶。读写每一个键值都只读写一个存储块。</a:t>
            </a:r>
            <a:endParaRPr lang="zh-CN" altLang="en-US" sz="1800" b="0" dirty="0">
              <a:latin typeface="微软雅黑" panose="020B0503020204020204" pitchFamily="34" charset="-122"/>
              <a:ea typeface="微软雅黑" panose="020B0503020204020204" pitchFamily="34" charset="-122"/>
            </a:endParaRPr>
          </a:p>
          <a:p>
            <a:pPr>
              <a:lnSpc>
                <a:spcPct val="100000"/>
              </a:lnSpc>
            </a:pPr>
            <a:r>
              <a:rPr lang="zh-CN" altLang="en-US" sz="1800" b="0" dirty="0">
                <a:solidFill>
                  <a:srgbClr val="FF0000"/>
                </a:solidFill>
                <a:latin typeface="微软雅黑" panose="020B0503020204020204" pitchFamily="34" charset="-122"/>
                <a:ea typeface="微软雅黑" panose="020B0503020204020204" pitchFamily="34" charset="-122"/>
              </a:rPr>
              <a:t>均匀分布如何做到？</a:t>
            </a:r>
            <a:r>
              <a:rPr lang="zh-CN" altLang="en-US" sz="1800" b="0" dirty="0">
                <a:latin typeface="微软雅黑" panose="020B0503020204020204" pitchFamily="34" charset="-122"/>
                <a:ea typeface="微软雅黑" panose="020B0503020204020204" pitchFamily="34" charset="-122"/>
              </a:rPr>
              <a:t>：期望将所有数据分布均匀地存储于</a:t>
            </a:r>
            <a:r>
              <a:rPr lang="en-US" altLang="zh-CN" sz="1800" b="0" dirty="0">
                <a:latin typeface="微软雅黑" panose="020B0503020204020204" pitchFamily="34" charset="-122"/>
                <a:ea typeface="微软雅黑" panose="020B0503020204020204" pitchFamily="34" charset="-122"/>
              </a:rPr>
              <a:t>M</a:t>
            </a:r>
            <a:r>
              <a:rPr lang="zh-CN" altLang="en-US" sz="1800" b="0" dirty="0">
                <a:latin typeface="微软雅黑" panose="020B0503020204020204" pitchFamily="34" charset="-122"/>
                <a:ea typeface="微软雅黑" panose="020B0503020204020204" pitchFamily="34" charset="-122"/>
              </a:rPr>
              <a:t>个桶中，使每一个桶的数据成为具有某种特征值</a:t>
            </a:r>
            <a:r>
              <a:rPr lang="en-US" altLang="zh-CN" sz="1800" b="0" dirty="0">
                <a:latin typeface="微软雅黑" panose="020B0503020204020204" pitchFamily="34" charset="-122"/>
                <a:ea typeface="微软雅黑" panose="020B0503020204020204" pitchFamily="34" charset="-122"/>
              </a:rPr>
              <a:t>h(k)</a:t>
            </a:r>
            <a:r>
              <a:rPr lang="zh-CN" altLang="en-US" sz="1800" b="0" dirty="0">
                <a:latin typeface="微软雅黑" panose="020B0503020204020204" pitchFamily="34" charset="-122"/>
                <a:ea typeface="微软雅黑" panose="020B0503020204020204" pitchFamily="34" charset="-122"/>
              </a:rPr>
              <a:t>的数据集合。</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散列函数的选择。</a:t>
            </a:r>
            <a:endParaRPr lang="zh-CN" altLang="en-US" sz="1800" b="0" dirty="0">
              <a:latin typeface="微软雅黑" panose="020B0503020204020204" pitchFamily="34" charset="-122"/>
              <a:ea typeface="微软雅黑" panose="020B0503020204020204" pitchFamily="34" charset="-122"/>
            </a:endParaRPr>
          </a:p>
          <a:p>
            <a:pPr>
              <a:lnSpc>
                <a:spcPct val="100000"/>
              </a:lnSpc>
            </a:pPr>
            <a:r>
              <a:rPr lang="zh-CN" altLang="en-US" sz="1800" b="0" dirty="0">
                <a:solidFill>
                  <a:srgbClr val="FF0000"/>
                </a:solidFill>
                <a:latin typeface="微软雅黑" panose="020B0503020204020204" pitchFamily="34" charset="-122"/>
                <a:ea typeface="微软雅黑" panose="020B0503020204020204" pitchFamily="34" charset="-122"/>
              </a:rPr>
              <a:t>桶的数目Ｍ如何确定？</a:t>
            </a:r>
            <a:r>
              <a:rPr lang="zh-CN" altLang="en-US" sz="1800" b="0" dirty="0">
                <a:latin typeface="微软雅黑" panose="020B0503020204020204" pitchFamily="34" charset="-122"/>
                <a:ea typeface="微软雅黑" panose="020B0503020204020204" pitchFamily="34" charset="-122"/>
              </a:rPr>
              <a:t>：在键值几倍于桶的数目时，每个散列值都可能多于一个桶，形成一个主桶和多个溢出桶的列表，此时需要二次检索：先散列找到主桶号，再依据链表逐一找到每个溢出桶。</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桶的数目的确定。</a:t>
            </a:r>
            <a:endParaRPr lang="zh-CN" altLang="en-US" sz="2000" b="0" dirty="0"/>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2" name="Freeform 10"/>
          <p:cNvSpPr/>
          <p:nvPr/>
        </p:nvSpPr>
        <p:spPr>
          <a:xfrm>
            <a:off x="6443658" y="4237651"/>
            <a:ext cx="746125" cy="352425"/>
          </a:xfrm>
          <a:custGeom>
            <a:avLst/>
            <a:gdLst/>
            <a:ahLst/>
            <a:cxnLst>
              <a:cxn ang="0">
                <a:pos x="0" y="221"/>
              </a:cxn>
              <a:cxn ang="0">
                <a:pos x="0" y="0"/>
              </a:cxn>
              <a:cxn ang="0">
                <a:pos x="469" y="0"/>
              </a:cxn>
              <a:cxn ang="0">
                <a:pos x="469" y="221"/>
              </a:cxn>
              <a:cxn ang="0">
                <a:pos x="0" y="221"/>
              </a:cxn>
            </a:cxnLst>
            <a:rect l="0" t="0" r="0" b="0"/>
            <a:pathLst>
              <a:path w="470" h="222">
                <a:moveTo>
                  <a:pt x="0" y="221"/>
                </a:moveTo>
                <a:lnTo>
                  <a:pt x="0" y="0"/>
                </a:lnTo>
                <a:lnTo>
                  <a:pt x="469" y="0"/>
                </a:lnTo>
                <a:lnTo>
                  <a:pt x="469" y="221"/>
                </a:lnTo>
                <a:lnTo>
                  <a:pt x="0" y="22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4" name="Freeform 11"/>
          <p:cNvSpPr/>
          <p:nvPr/>
        </p:nvSpPr>
        <p:spPr>
          <a:xfrm>
            <a:off x="3232145" y="4677388"/>
            <a:ext cx="962025" cy="536575"/>
          </a:xfrm>
          <a:custGeom>
            <a:avLst/>
            <a:gdLst/>
            <a:ahLst/>
            <a:cxnLst>
              <a:cxn ang="0">
                <a:pos x="184" y="110"/>
              </a:cxn>
              <a:cxn ang="0">
                <a:pos x="176" y="67"/>
              </a:cxn>
              <a:cxn ang="0">
                <a:pos x="156" y="32"/>
              </a:cxn>
              <a:cxn ang="0">
                <a:pos x="127" y="8"/>
              </a:cxn>
              <a:cxn ang="0">
                <a:pos x="92" y="0"/>
              </a:cxn>
              <a:cxn ang="0">
                <a:pos x="56" y="8"/>
              </a:cxn>
              <a:cxn ang="0">
                <a:pos x="27" y="32"/>
              </a:cxn>
              <a:cxn ang="0">
                <a:pos x="7" y="67"/>
              </a:cxn>
              <a:cxn ang="0">
                <a:pos x="0" y="110"/>
              </a:cxn>
              <a:cxn ang="0">
                <a:pos x="7" y="153"/>
              </a:cxn>
              <a:cxn ang="0">
                <a:pos x="27" y="188"/>
              </a:cxn>
              <a:cxn ang="0">
                <a:pos x="56" y="212"/>
              </a:cxn>
              <a:cxn ang="0">
                <a:pos x="92" y="221"/>
              </a:cxn>
              <a:cxn ang="0">
                <a:pos x="127" y="212"/>
              </a:cxn>
              <a:cxn ang="0">
                <a:pos x="156" y="188"/>
              </a:cxn>
              <a:cxn ang="0">
                <a:pos x="176" y="153"/>
              </a:cxn>
              <a:cxn ang="0">
                <a:pos x="184" y="110"/>
              </a:cxn>
            </a:cxnLst>
            <a:rect l="0" t="0" r="0" b="0"/>
            <a:pathLst>
              <a:path w="185" h="222">
                <a:moveTo>
                  <a:pt x="184" y="110"/>
                </a:moveTo>
                <a:lnTo>
                  <a:pt x="176" y="67"/>
                </a:lnTo>
                <a:lnTo>
                  <a:pt x="156" y="32"/>
                </a:lnTo>
                <a:lnTo>
                  <a:pt x="127" y="8"/>
                </a:lnTo>
                <a:lnTo>
                  <a:pt x="92" y="0"/>
                </a:lnTo>
                <a:lnTo>
                  <a:pt x="56" y="8"/>
                </a:lnTo>
                <a:lnTo>
                  <a:pt x="27" y="32"/>
                </a:lnTo>
                <a:lnTo>
                  <a:pt x="7" y="67"/>
                </a:lnTo>
                <a:lnTo>
                  <a:pt x="0" y="110"/>
                </a:lnTo>
                <a:lnTo>
                  <a:pt x="7" y="153"/>
                </a:lnTo>
                <a:lnTo>
                  <a:pt x="27" y="188"/>
                </a:lnTo>
                <a:lnTo>
                  <a:pt x="56" y="212"/>
                </a:lnTo>
                <a:lnTo>
                  <a:pt x="92" y="221"/>
                </a:lnTo>
                <a:lnTo>
                  <a:pt x="127" y="212"/>
                </a:lnTo>
                <a:lnTo>
                  <a:pt x="156" y="188"/>
                </a:lnTo>
                <a:lnTo>
                  <a:pt x="176" y="153"/>
                </a:lnTo>
                <a:lnTo>
                  <a:pt x="184" y="110"/>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7" name="Freeform 12"/>
          <p:cNvSpPr/>
          <p:nvPr/>
        </p:nvSpPr>
        <p:spPr>
          <a:xfrm>
            <a:off x="4922833" y="3909038"/>
            <a:ext cx="784225" cy="2357438"/>
          </a:xfrm>
          <a:custGeom>
            <a:avLst/>
            <a:gdLst/>
            <a:ahLst/>
            <a:cxnLst>
              <a:cxn ang="0">
                <a:pos x="0" y="1484"/>
              </a:cxn>
              <a:cxn ang="0">
                <a:pos x="0" y="0"/>
              </a:cxn>
              <a:cxn ang="0">
                <a:pos x="493" y="0"/>
              </a:cxn>
              <a:cxn ang="0">
                <a:pos x="493" y="1484"/>
              </a:cxn>
              <a:cxn ang="0">
                <a:pos x="0" y="1484"/>
              </a:cxn>
            </a:cxnLst>
            <a:rect l="0" t="0" r="0" b="0"/>
            <a:pathLst>
              <a:path w="494" h="1485">
                <a:moveTo>
                  <a:pt x="0" y="1484"/>
                </a:moveTo>
                <a:lnTo>
                  <a:pt x="0" y="0"/>
                </a:lnTo>
                <a:lnTo>
                  <a:pt x="493" y="0"/>
                </a:lnTo>
                <a:lnTo>
                  <a:pt x="493" y="1484"/>
                </a:lnTo>
                <a:lnTo>
                  <a:pt x="0" y="1484"/>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8" name="Rectangle 13"/>
          <p:cNvSpPr/>
          <p:nvPr/>
        </p:nvSpPr>
        <p:spPr>
          <a:xfrm>
            <a:off x="3114670" y="4221776"/>
            <a:ext cx="1212850" cy="396875"/>
          </a:xfrm>
          <a:prstGeom prst="rect">
            <a:avLst/>
          </a:prstGeom>
          <a:noFill/>
          <a:ln w="9525">
            <a:noFill/>
          </a:ln>
        </p:spPr>
        <p:txBody>
          <a:bodyPr wrap="none" lIns="92075" tIns="46038" rIns="92075" bIns="46038" anchor="t">
            <a:spAutoFit/>
          </a:bodyPr>
          <a:lstStyle/>
          <a:p>
            <a:pPr eaLnBrk="0" hangingPunct="0"/>
            <a:r>
              <a:rPr lang="en-US" altLang="zh-CN" dirty="0">
                <a:solidFill>
                  <a:schemeClr val="accent2"/>
                </a:solidFill>
                <a:latin typeface="Arial" panose="020B0604020202020204" pitchFamily="34" charset="0"/>
                <a:ea typeface="宋体" panose="02010600030101010101" pitchFamily="2" charset="-122"/>
              </a:rPr>
              <a:t>k mod M</a:t>
            </a:r>
            <a:endParaRPr lang="en-US" altLang="zh-CN" dirty="0">
              <a:solidFill>
                <a:schemeClr val="accent2"/>
              </a:solidFill>
              <a:latin typeface="Arial" panose="020B0604020202020204" pitchFamily="34" charset="0"/>
              <a:ea typeface="宋体" panose="02010600030101010101" pitchFamily="2" charset="-122"/>
            </a:endParaRPr>
          </a:p>
        </p:txBody>
      </p:sp>
      <p:sp>
        <p:nvSpPr>
          <p:cNvPr id="9" name="Freeform 14"/>
          <p:cNvSpPr/>
          <p:nvPr/>
        </p:nvSpPr>
        <p:spPr>
          <a:xfrm>
            <a:off x="8634408" y="4401163"/>
            <a:ext cx="49212" cy="26988"/>
          </a:xfrm>
          <a:custGeom>
            <a:avLst/>
            <a:gdLst/>
            <a:ahLst/>
            <a:cxnLst>
              <a:cxn ang="0">
                <a:pos x="30" y="8"/>
              </a:cxn>
              <a:cxn ang="0">
                <a:pos x="15" y="0"/>
              </a:cxn>
              <a:cxn ang="0">
                <a:pos x="0" y="8"/>
              </a:cxn>
              <a:cxn ang="0">
                <a:pos x="15" y="16"/>
              </a:cxn>
              <a:cxn ang="0">
                <a:pos x="30" y="8"/>
              </a:cxn>
            </a:cxnLst>
            <a:rect l="0" t="0" r="0" b="0"/>
            <a:pathLst>
              <a:path w="31" h="17">
                <a:moveTo>
                  <a:pt x="30" y="8"/>
                </a:moveTo>
                <a:lnTo>
                  <a:pt x="15" y="0"/>
                </a:lnTo>
                <a:lnTo>
                  <a:pt x="0" y="8"/>
                </a:lnTo>
                <a:lnTo>
                  <a:pt x="15" y="16"/>
                </a:lnTo>
                <a:lnTo>
                  <a:pt x="30" y="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10" name="Freeform 21"/>
          <p:cNvSpPr/>
          <p:nvPr/>
        </p:nvSpPr>
        <p:spPr>
          <a:xfrm>
            <a:off x="8812208" y="4401163"/>
            <a:ext cx="50800" cy="26988"/>
          </a:xfrm>
          <a:custGeom>
            <a:avLst/>
            <a:gdLst/>
            <a:ahLst/>
            <a:cxnLst>
              <a:cxn ang="0">
                <a:pos x="31" y="8"/>
              </a:cxn>
              <a:cxn ang="0">
                <a:pos x="15" y="0"/>
              </a:cxn>
              <a:cxn ang="0">
                <a:pos x="0" y="8"/>
              </a:cxn>
              <a:cxn ang="0">
                <a:pos x="15" y="16"/>
              </a:cxn>
              <a:cxn ang="0">
                <a:pos x="31" y="8"/>
              </a:cxn>
            </a:cxnLst>
            <a:rect l="0" t="0" r="0" b="0"/>
            <a:pathLst>
              <a:path w="32" h="17">
                <a:moveTo>
                  <a:pt x="31" y="8"/>
                </a:moveTo>
                <a:lnTo>
                  <a:pt x="15" y="0"/>
                </a:lnTo>
                <a:lnTo>
                  <a:pt x="0" y="8"/>
                </a:lnTo>
                <a:lnTo>
                  <a:pt x="15" y="16"/>
                </a:lnTo>
                <a:lnTo>
                  <a:pt x="31" y="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25" name="Freeform 22"/>
          <p:cNvSpPr/>
          <p:nvPr/>
        </p:nvSpPr>
        <p:spPr>
          <a:xfrm>
            <a:off x="8990008" y="4401163"/>
            <a:ext cx="50800" cy="26988"/>
          </a:xfrm>
          <a:custGeom>
            <a:avLst/>
            <a:gdLst/>
            <a:ahLst/>
            <a:cxnLst>
              <a:cxn ang="0">
                <a:pos x="31" y="8"/>
              </a:cxn>
              <a:cxn ang="0">
                <a:pos x="15" y="0"/>
              </a:cxn>
              <a:cxn ang="0">
                <a:pos x="0" y="8"/>
              </a:cxn>
              <a:cxn ang="0">
                <a:pos x="15" y="16"/>
              </a:cxn>
              <a:cxn ang="0">
                <a:pos x="31" y="8"/>
              </a:cxn>
            </a:cxnLst>
            <a:rect l="0" t="0" r="0" b="0"/>
            <a:pathLst>
              <a:path w="32" h="17">
                <a:moveTo>
                  <a:pt x="31" y="8"/>
                </a:moveTo>
                <a:lnTo>
                  <a:pt x="15" y="0"/>
                </a:lnTo>
                <a:lnTo>
                  <a:pt x="0" y="8"/>
                </a:lnTo>
                <a:lnTo>
                  <a:pt x="15" y="16"/>
                </a:lnTo>
                <a:lnTo>
                  <a:pt x="31" y="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26" name="Rectangle 26"/>
          <p:cNvSpPr/>
          <p:nvPr/>
        </p:nvSpPr>
        <p:spPr>
          <a:xfrm>
            <a:off x="3352795" y="4686913"/>
            <a:ext cx="742950" cy="457200"/>
          </a:xfrm>
          <a:prstGeom prst="rect">
            <a:avLst/>
          </a:prstGeom>
          <a:noFill/>
          <a:ln w="9525">
            <a:noFill/>
          </a:ln>
        </p:spPr>
        <p:txBody>
          <a:bodyPr wrap="none" lIns="92075" tIns="46038" rIns="92075" bIns="46038" anchor="t">
            <a:spAutoFit/>
          </a:bodyPr>
          <a:lstStyle/>
          <a:p>
            <a:pPr eaLnBrk="0" hangingPunct="0"/>
            <a:r>
              <a:rPr lang="en-US" altLang="zh-CN" sz="2400" dirty="0">
                <a:solidFill>
                  <a:srgbClr val="000000"/>
                </a:solidFill>
                <a:latin typeface="Arial" panose="020B0604020202020204" pitchFamily="34" charset="0"/>
                <a:ea typeface="宋体" panose="02010600030101010101" pitchFamily="2" charset="-122"/>
              </a:rPr>
              <a:t>h(k)</a:t>
            </a:r>
            <a:endParaRPr lang="en-US" altLang="zh-CN" sz="2400" dirty="0">
              <a:solidFill>
                <a:srgbClr val="000000"/>
              </a:solidFill>
              <a:latin typeface="Arial" panose="020B0604020202020204" pitchFamily="34" charset="0"/>
              <a:ea typeface="宋体" panose="02010600030101010101" pitchFamily="2" charset="-122"/>
            </a:endParaRPr>
          </a:p>
        </p:txBody>
      </p:sp>
      <p:sp>
        <p:nvSpPr>
          <p:cNvPr id="27" name="Rectangle 27"/>
          <p:cNvSpPr/>
          <p:nvPr/>
        </p:nvSpPr>
        <p:spPr>
          <a:xfrm>
            <a:off x="2805108" y="4559913"/>
            <a:ext cx="325437" cy="396875"/>
          </a:xfrm>
          <a:prstGeom prst="rect">
            <a:avLst/>
          </a:prstGeom>
          <a:noFill/>
          <a:ln w="9525">
            <a:noFill/>
          </a:ln>
        </p:spPr>
        <p:txBody>
          <a:bodyPr wrap="none" lIns="92075" tIns="46038" rIns="92075" bIns="46038" anchor="t">
            <a:spAutoFit/>
          </a:bodyPr>
          <a:lstStyle/>
          <a:p>
            <a:pPr eaLnBrk="0" hangingPunct="0"/>
            <a:r>
              <a:rPr lang="en-US" altLang="zh-CN" dirty="0">
                <a:solidFill>
                  <a:srgbClr val="000000"/>
                </a:solidFill>
                <a:latin typeface="Arial" panose="020B0604020202020204" pitchFamily="34" charset="0"/>
                <a:ea typeface="宋体" panose="02010600030101010101" pitchFamily="2" charset="-122"/>
              </a:rPr>
              <a:t>k</a:t>
            </a:r>
            <a:endParaRPr lang="en-US" altLang="zh-CN" dirty="0">
              <a:solidFill>
                <a:srgbClr val="000000"/>
              </a:solidFill>
              <a:latin typeface="Arial" panose="020B0604020202020204" pitchFamily="34" charset="0"/>
              <a:ea typeface="宋体" panose="02010600030101010101" pitchFamily="2" charset="-122"/>
            </a:endParaRPr>
          </a:p>
        </p:txBody>
      </p:sp>
      <p:sp>
        <p:nvSpPr>
          <p:cNvPr id="28" name="Rectangle 28"/>
          <p:cNvSpPr/>
          <p:nvPr/>
        </p:nvSpPr>
        <p:spPr>
          <a:xfrm>
            <a:off x="4933945" y="5172688"/>
            <a:ext cx="692150" cy="396875"/>
          </a:xfrm>
          <a:prstGeom prst="rect">
            <a:avLst/>
          </a:prstGeom>
          <a:noFill/>
          <a:ln w="9525">
            <a:noFill/>
          </a:ln>
        </p:spPr>
        <p:txBody>
          <a:bodyPr wrap="none" lIns="92075" tIns="46038" rIns="92075" bIns="46038" anchor="t">
            <a:spAutoFit/>
          </a:bodyPr>
          <a:lstStyle/>
          <a:p>
            <a:pPr eaLnBrk="0" hangingPunct="0"/>
            <a:r>
              <a:rPr lang="zh-CN" altLang="en-US" dirty="0">
                <a:solidFill>
                  <a:srgbClr val="CC0000"/>
                </a:solidFill>
                <a:latin typeface="Courier New" panose="02070309020205020404" pitchFamily="49" charset="0"/>
                <a:ea typeface="微软雅黑" panose="020B0503020204020204" pitchFamily="34" charset="-122"/>
              </a:rPr>
              <a:t>主桶</a:t>
            </a:r>
            <a:endParaRPr lang="zh-CN" altLang="en-US" dirty="0">
              <a:solidFill>
                <a:srgbClr val="CC0000"/>
              </a:solidFill>
              <a:latin typeface="Courier New" panose="02070309020205020404" pitchFamily="49" charset="0"/>
              <a:ea typeface="微软雅黑" panose="020B0503020204020204" pitchFamily="34" charset="-122"/>
            </a:endParaRPr>
          </a:p>
        </p:txBody>
      </p:sp>
      <p:sp>
        <p:nvSpPr>
          <p:cNvPr id="29" name="Rectangle 29"/>
          <p:cNvSpPr/>
          <p:nvPr/>
        </p:nvSpPr>
        <p:spPr>
          <a:xfrm>
            <a:off x="6337295" y="5172688"/>
            <a:ext cx="946150" cy="396875"/>
          </a:xfrm>
          <a:prstGeom prst="rect">
            <a:avLst/>
          </a:prstGeom>
          <a:noFill/>
          <a:ln w="9525">
            <a:noFill/>
          </a:ln>
        </p:spPr>
        <p:txBody>
          <a:bodyPr wrap="none" lIns="92075" tIns="46038" rIns="92075" bIns="46038" anchor="t">
            <a:spAutoFit/>
          </a:bodyPr>
          <a:lstStyle/>
          <a:p>
            <a:pPr eaLnBrk="0" hangingPunct="0"/>
            <a:r>
              <a:rPr lang="zh-CN" altLang="en-US" dirty="0">
                <a:solidFill>
                  <a:srgbClr val="CC0000"/>
                </a:solidFill>
                <a:latin typeface="Courier New" panose="02070309020205020404" pitchFamily="49" charset="0"/>
                <a:ea typeface="微软雅黑" panose="020B0503020204020204" pitchFamily="34" charset="-122"/>
              </a:rPr>
              <a:t>溢出桶</a:t>
            </a:r>
            <a:endParaRPr lang="zh-CN" altLang="en-US" dirty="0">
              <a:solidFill>
                <a:srgbClr val="CC0000"/>
              </a:solidFill>
              <a:latin typeface="Courier New" panose="02070309020205020404" pitchFamily="49" charset="0"/>
              <a:ea typeface="微软雅黑" panose="020B0503020204020204" pitchFamily="34" charset="-122"/>
            </a:endParaRPr>
          </a:p>
        </p:txBody>
      </p:sp>
      <p:sp>
        <p:nvSpPr>
          <p:cNvPr id="30" name="Rectangle 30"/>
          <p:cNvSpPr/>
          <p:nvPr/>
        </p:nvSpPr>
        <p:spPr>
          <a:xfrm>
            <a:off x="5094283" y="4202726"/>
            <a:ext cx="325437" cy="396875"/>
          </a:xfrm>
          <a:prstGeom prst="rect">
            <a:avLst/>
          </a:prstGeom>
          <a:noFill/>
          <a:ln w="9525">
            <a:noFill/>
          </a:ln>
        </p:spPr>
        <p:txBody>
          <a:bodyPr wrap="none" lIns="92075" tIns="46038" rIns="92075" bIns="46038" anchor="t">
            <a:spAutoFit/>
          </a:bodyPr>
          <a:lstStyle/>
          <a:p>
            <a:pPr eaLnBrk="0" hangingPunct="0"/>
            <a:r>
              <a:rPr lang="en-US" altLang="zh-CN" dirty="0">
                <a:solidFill>
                  <a:schemeClr val="tx2"/>
                </a:solidFill>
                <a:latin typeface="Arial" panose="020B0604020202020204" pitchFamily="34" charset="0"/>
                <a:ea typeface="宋体" panose="02010600030101010101" pitchFamily="2" charset="-122"/>
              </a:rPr>
              <a:t>1</a:t>
            </a:r>
            <a:endParaRPr lang="en-US" altLang="zh-CN" dirty="0">
              <a:solidFill>
                <a:schemeClr val="tx2"/>
              </a:solidFill>
              <a:latin typeface="Arial" panose="020B0604020202020204" pitchFamily="34" charset="0"/>
              <a:ea typeface="宋体" panose="02010600030101010101" pitchFamily="2" charset="-122"/>
            </a:endParaRPr>
          </a:p>
        </p:txBody>
      </p:sp>
      <p:sp>
        <p:nvSpPr>
          <p:cNvPr id="31" name="Rectangle 31"/>
          <p:cNvSpPr/>
          <p:nvPr/>
        </p:nvSpPr>
        <p:spPr>
          <a:xfrm>
            <a:off x="5094283" y="3893163"/>
            <a:ext cx="325437" cy="396875"/>
          </a:xfrm>
          <a:prstGeom prst="rect">
            <a:avLst/>
          </a:prstGeom>
          <a:noFill/>
          <a:ln w="9525">
            <a:noFill/>
          </a:ln>
        </p:spPr>
        <p:txBody>
          <a:bodyPr wrap="none" lIns="92075" tIns="46038" rIns="92075" bIns="46038" anchor="t">
            <a:spAutoFit/>
          </a:bodyPr>
          <a:lstStyle/>
          <a:p>
            <a:pPr eaLnBrk="0" hangingPunct="0"/>
            <a:r>
              <a:rPr lang="en-US" altLang="zh-CN" dirty="0">
                <a:solidFill>
                  <a:schemeClr val="tx2"/>
                </a:solidFill>
                <a:latin typeface="Arial" panose="020B0604020202020204" pitchFamily="34" charset="0"/>
                <a:ea typeface="宋体" panose="02010600030101010101" pitchFamily="2" charset="-122"/>
              </a:rPr>
              <a:t>0</a:t>
            </a:r>
            <a:endParaRPr lang="en-US" altLang="zh-CN" dirty="0">
              <a:solidFill>
                <a:schemeClr val="tx2"/>
              </a:solidFill>
              <a:latin typeface="Arial" panose="020B0604020202020204" pitchFamily="34" charset="0"/>
              <a:ea typeface="宋体" panose="02010600030101010101" pitchFamily="2" charset="-122"/>
            </a:endParaRPr>
          </a:p>
        </p:txBody>
      </p:sp>
      <p:sp>
        <p:nvSpPr>
          <p:cNvPr id="33" name="Rectangle 32"/>
          <p:cNvSpPr/>
          <p:nvPr/>
        </p:nvSpPr>
        <p:spPr>
          <a:xfrm>
            <a:off x="4946645" y="5883888"/>
            <a:ext cx="620713" cy="396875"/>
          </a:xfrm>
          <a:prstGeom prst="rect">
            <a:avLst/>
          </a:prstGeom>
          <a:noFill/>
          <a:ln w="9525">
            <a:noFill/>
          </a:ln>
        </p:spPr>
        <p:txBody>
          <a:bodyPr wrap="none" lIns="92075" tIns="46038" rIns="92075" bIns="46038" anchor="t">
            <a:spAutoFit/>
          </a:bodyPr>
          <a:lstStyle/>
          <a:p>
            <a:pPr eaLnBrk="0" hangingPunct="0"/>
            <a:r>
              <a:rPr lang="en-US" altLang="zh-CN" dirty="0">
                <a:solidFill>
                  <a:schemeClr val="tx2"/>
                </a:solidFill>
                <a:latin typeface="Arial" panose="020B0604020202020204" pitchFamily="34" charset="0"/>
                <a:ea typeface="宋体" panose="02010600030101010101" pitchFamily="2" charset="-122"/>
              </a:rPr>
              <a:t>M-1</a:t>
            </a:r>
            <a:endParaRPr lang="en-US" altLang="zh-CN" dirty="0">
              <a:solidFill>
                <a:schemeClr val="tx2"/>
              </a:solidFill>
              <a:latin typeface="Arial" panose="020B0604020202020204" pitchFamily="34" charset="0"/>
              <a:ea typeface="宋体" panose="02010600030101010101" pitchFamily="2" charset="-122"/>
            </a:endParaRPr>
          </a:p>
        </p:txBody>
      </p:sp>
      <p:sp>
        <p:nvSpPr>
          <p:cNvPr id="34" name="Line 33"/>
          <p:cNvSpPr/>
          <p:nvPr/>
        </p:nvSpPr>
        <p:spPr>
          <a:xfrm flipV="1">
            <a:off x="4159245" y="4445613"/>
            <a:ext cx="762000" cy="457200"/>
          </a:xfrm>
          <a:prstGeom prst="line">
            <a:avLst/>
          </a:prstGeom>
          <a:ln w="12700" cap="flat" cmpd="sng">
            <a:solidFill>
              <a:schemeClr val="tx2"/>
            </a:solidFill>
            <a:prstDash val="solid"/>
            <a:round/>
            <a:headEnd type="none" w="sm" len="sm"/>
            <a:tailEnd type="stealth" w="med" len="lg"/>
          </a:ln>
        </p:spPr>
      </p:sp>
      <p:sp>
        <p:nvSpPr>
          <p:cNvPr id="35" name="Line 34"/>
          <p:cNvSpPr/>
          <p:nvPr/>
        </p:nvSpPr>
        <p:spPr>
          <a:xfrm flipV="1">
            <a:off x="4141783" y="4140813"/>
            <a:ext cx="779462" cy="776288"/>
          </a:xfrm>
          <a:prstGeom prst="line">
            <a:avLst/>
          </a:prstGeom>
          <a:ln w="12700" cap="flat" cmpd="sng">
            <a:solidFill>
              <a:schemeClr val="tx2"/>
            </a:solidFill>
            <a:prstDash val="solid"/>
            <a:round/>
            <a:headEnd type="none" w="sm" len="sm"/>
            <a:tailEnd type="stealth" w="med" len="lg"/>
          </a:ln>
        </p:spPr>
      </p:sp>
      <p:sp>
        <p:nvSpPr>
          <p:cNvPr id="36" name="Line 35"/>
          <p:cNvSpPr/>
          <p:nvPr/>
        </p:nvSpPr>
        <p:spPr>
          <a:xfrm>
            <a:off x="2597145" y="4979013"/>
            <a:ext cx="685800" cy="0"/>
          </a:xfrm>
          <a:prstGeom prst="line">
            <a:avLst/>
          </a:prstGeom>
          <a:ln w="12700" cap="flat" cmpd="sng">
            <a:solidFill>
              <a:schemeClr val="tx2"/>
            </a:solidFill>
            <a:prstDash val="solid"/>
            <a:round/>
            <a:headEnd type="none" w="sm" len="sm"/>
            <a:tailEnd type="stealth" w="med" len="lg"/>
          </a:ln>
        </p:spPr>
      </p:sp>
      <p:sp>
        <p:nvSpPr>
          <p:cNvPr id="37" name="Line 36"/>
          <p:cNvSpPr/>
          <p:nvPr/>
        </p:nvSpPr>
        <p:spPr>
          <a:xfrm>
            <a:off x="4141783" y="4917101"/>
            <a:ext cx="779462" cy="1128712"/>
          </a:xfrm>
          <a:prstGeom prst="line">
            <a:avLst/>
          </a:prstGeom>
          <a:ln w="12700" cap="flat" cmpd="sng">
            <a:solidFill>
              <a:schemeClr val="tx2"/>
            </a:solidFill>
            <a:prstDash val="solid"/>
            <a:round/>
            <a:headEnd type="none" w="sm" len="sm"/>
            <a:tailEnd type="stealth" w="med" len="lg"/>
          </a:ln>
        </p:spPr>
      </p:sp>
      <p:sp>
        <p:nvSpPr>
          <p:cNvPr id="38" name="Line 37"/>
          <p:cNvSpPr/>
          <p:nvPr/>
        </p:nvSpPr>
        <p:spPr>
          <a:xfrm>
            <a:off x="5591170" y="4005876"/>
            <a:ext cx="838200" cy="0"/>
          </a:xfrm>
          <a:prstGeom prst="line">
            <a:avLst/>
          </a:prstGeom>
          <a:ln w="12700" cap="flat" cmpd="sng">
            <a:solidFill>
              <a:schemeClr val="tx2"/>
            </a:solidFill>
            <a:prstDash val="solid"/>
            <a:round/>
            <a:headEnd type="none" w="sm" len="sm"/>
            <a:tailEnd type="stealth" w="med" len="lg"/>
          </a:ln>
        </p:spPr>
      </p:sp>
      <p:sp>
        <p:nvSpPr>
          <p:cNvPr id="39" name="Line 38"/>
          <p:cNvSpPr/>
          <p:nvPr/>
        </p:nvSpPr>
        <p:spPr>
          <a:xfrm>
            <a:off x="5591170" y="4413863"/>
            <a:ext cx="838200" cy="0"/>
          </a:xfrm>
          <a:prstGeom prst="line">
            <a:avLst/>
          </a:prstGeom>
          <a:ln w="12700" cap="flat" cmpd="sng">
            <a:solidFill>
              <a:schemeClr val="tx2"/>
            </a:solidFill>
            <a:prstDash val="solid"/>
            <a:round/>
            <a:headEnd type="none" w="sm" len="sm"/>
            <a:tailEnd type="stealth" w="med" len="lg"/>
          </a:ln>
        </p:spPr>
      </p:sp>
      <p:sp>
        <p:nvSpPr>
          <p:cNvPr id="40" name="Line 39"/>
          <p:cNvSpPr/>
          <p:nvPr/>
        </p:nvSpPr>
        <p:spPr>
          <a:xfrm>
            <a:off x="5591170" y="4861538"/>
            <a:ext cx="838200" cy="0"/>
          </a:xfrm>
          <a:prstGeom prst="line">
            <a:avLst/>
          </a:prstGeom>
          <a:ln w="12700" cap="flat" cmpd="sng">
            <a:solidFill>
              <a:schemeClr val="tx2"/>
            </a:solidFill>
            <a:prstDash val="solid"/>
            <a:round/>
            <a:headEnd type="none" w="sm" len="sm"/>
            <a:tailEnd type="stealth" w="med" len="lg"/>
          </a:ln>
        </p:spPr>
      </p:sp>
      <p:sp>
        <p:nvSpPr>
          <p:cNvPr id="41" name="Line 40"/>
          <p:cNvSpPr/>
          <p:nvPr/>
        </p:nvSpPr>
        <p:spPr>
          <a:xfrm>
            <a:off x="5667370" y="6068038"/>
            <a:ext cx="838200" cy="0"/>
          </a:xfrm>
          <a:prstGeom prst="line">
            <a:avLst/>
          </a:prstGeom>
          <a:ln w="12700" cap="flat" cmpd="sng">
            <a:solidFill>
              <a:schemeClr val="tx2"/>
            </a:solidFill>
            <a:prstDash val="solid"/>
            <a:round/>
            <a:headEnd type="none" w="sm" len="sm"/>
            <a:tailEnd type="stealth" w="med" len="lg"/>
          </a:ln>
        </p:spPr>
      </p:sp>
      <p:sp>
        <p:nvSpPr>
          <p:cNvPr id="42" name="Line 41"/>
          <p:cNvSpPr/>
          <p:nvPr/>
        </p:nvSpPr>
        <p:spPr>
          <a:xfrm>
            <a:off x="7019920" y="4413863"/>
            <a:ext cx="457200" cy="0"/>
          </a:xfrm>
          <a:prstGeom prst="line">
            <a:avLst/>
          </a:prstGeom>
          <a:ln w="12700" cap="flat" cmpd="sng">
            <a:solidFill>
              <a:schemeClr val="tx2"/>
            </a:solidFill>
            <a:prstDash val="solid"/>
            <a:round/>
            <a:headEnd type="none" w="sm" len="sm"/>
            <a:tailEnd type="stealth" w="med" len="lg"/>
          </a:ln>
        </p:spPr>
      </p:sp>
      <p:sp>
        <p:nvSpPr>
          <p:cNvPr id="43" name="Line 42"/>
          <p:cNvSpPr/>
          <p:nvPr/>
        </p:nvSpPr>
        <p:spPr>
          <a:xfrm>
            <a:off x="4924420" y="4226538"/>
            <a:ext cx="785813" cy="0"/>
          </a:xfrm>
          <a:prstGeom prst="line">
            <a:avLst/>
          </a:prstGeom>
          <a:ln w="12700" cap="flat" cmpd="sng">
            <a:solidFill>
              <a:schemeClr val="tx2"/>
            </a:solidFill>
            <a:prstDash val="solid"/>
            <a:round/>
            <a:headEnd type="none" w="sm" len="sm"/>
            <a:tailEnd type="none" w="sm" len="sm"/>
          </a:ln>
        </p:spPr>
      </p:sp>
      <p:sp>
        <p:nvSpPr>
          <p:cNvPr id="44" name="Line 43"/>
          <p:cNvSpPr/>
          <p:nvPr/>
        </p:nvSpPr>
        <p:spPr>
          <a:xfrm>
            <a:off x="4922833" y="4580551"/>
            <a:ext cx="785812" cy="0"/>
          </a:xfrm>
          <a:prstGeom prst="line">
            <a:avLst/>
          </a:prstGeom>
          <a:ln w="12700" cap="flat" cmpd="sng">
            <a:solidFill>
              <a:schemeClr val="tx2"/>
            </a:solidFill>
            <a:prstDash val="solid"/>
            <a:round/>
            <a:headEnd type="none" w="sm" len="sm"/>
            <a:tailEnd type="none" w="sm" len="sm"/>
          </a:ln>
        </p:spPr>
      </p:sp>
      <p:sp>
        <p:nvSpPr>
          <p:cNvPr id="45" name="Line 44"/>
          <p:cNvSpPr/>
          <p:nvPr/>
        </p:nvSpPr>
        <p:spPr>
          <a:xfrm>
            <a:off x="4921245" y="4947263"/>
            <a:ext cx="785813" cy="0"/>
          </a:xfrm>
          <a:prstGeom prst="line">
            <a:avLst/>
          </a:prstGeom>
          <a:ln w="12700" cap="flat" cmpd="sng">
            <a:solidFill>
              <a:schemeClr val="tx2"/>
            </a:solidFill>
            <a:prstDash val="solid"/>
            <a:round/>
            <a:headEnd type="none" w="sm" len="sm"/>
            <a:tailEnd type="none" w="sm" len="sm"/>
          </a:ln>
        </p:spPr>
      </p:sp>
      <p:sp>
        <p:nvSpPr>
          <p:cNvPr id="46" name="Line 45"/>
          <p:cNvSpPr/>
          <p:nvPr/>
        </p:nvSpPr>
        <p:spPr>
          <a:xfrm>
            <a:off x="4919658" y="5891826"/>
            <a:ext cx="785812" cy="0"/>
          </a:xfrm>
          <a:prstGeom prst="line">
            <a:avLst/>
          </a:prstGeom>
          <a:ln w="12700" cap="flat" cmpd="sng">
            <a:solidFill>
              <a:schemeClr val="tx2"/>
            </a:solidFill>
            <a:prstDash val="solid"/>
            <a:round/>
            <a:headEnd type="none" w="sm" len="sm"/>
            <a:tailEnd type="none" w="sm" len="sm"/>
          </a:ln>
        </p:spPr>
      </p:sp>
      <p:sp>
        <p:nvSpPr>
          <p:cNvPr id="47" name="Freeform 46"/>
          <p:cNvSpPr/>
          <p:nvPr/>
        </p:nvSpPr>
        <p:spPr>
          <a:xfrm>
            <a:off x="7467595" y="4237651"/>
            <a:ext cx="746125" cy="352425"/>
          </a:xfrm>
          <a:custGeom>
            <a:avLst/>
            <a:gdLst/>
            <a:ahLst/>
            <a:cxnLst>
              <a:cxn ang="0">
                <a:pos x="0" y="221"/>
              </a:cxn>
              <a:cxn ang="0">
                <a:pos x="0" y="0"/>
              </a:cxn>
              <a:cxn ang="0">
                <a:pos x="469" y="0"/>
              </a:cxn>
              <a:cxn ang="0">
                <a:pos x="469" y="221"/>
              </a:cxn>
              <a:cxn ang="0">
                <a:pos x="0" y="221"/>
              </a:cxn>
            </a:cxnLst>
            <a:rect l="0" t="0" r="0" b="0"/>
            <a:pathLst>
              <a:path w="470" h="222">
                <a:moveTo>
                  <a:pt x="0" y="221"/>
                </a:moveTo>
                <a:lnTo>
                  <a:pt x="0" y="0"/>
                </a:lnTo>
                <a:lnTo>
                  <a:pt x="469" y="0"/>
                </a:lnTo>
                <a:lnTo>
                  <a:pt x="469" y="221"/>
                </a:lnTo>
                <a:lnTo>
                  <a:pt x="0" y="22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48" name="Line 48"/>
          <p:cNvSpPr/>
          <p:nvPr/>
        </p:nvSpPr>
        <p:spPr>
          <a:xfrm>
            <a:off x="8043858" y="4413863"/>
            <a:ext cx="457200" cy="0"/>
          </a:xfrm>
          <a:prstGeom prst="line">
            <a:avLst/>
          </a:prstGeom>
          <a:ln w="12700" cap="flat" cmpd="sng">
            <a:solidFill>
              <a:schemeClr val="tx2"/>
            </a:solidFill>
            <a:prstDash val="solid"/>
            <a:round/>
            <a:headEnd type="none" w="sm" len="sm"/>
            <a:tailEnd type="stealth" w="med" len="lg"/>
          </a:ln>
        </p:spPr>
      </p:sp>
      <p:sp>
        <p:nvSpPr>
          <p:cNvPr id="49" name="Freeform 49"/>
          <p:cNvSpPr/>
          <p:nvPr/>
        </p:nvSpPr>
        <p:spPr>
          <a:xfrm>
            <a:off x="6416670" y="3829663"/>
            <a:ext cx="746125" cy="352425"/>
          </a:xfrm>
          <a:custGeom>
            <a:avLst/>
            <a:gdLst/>
            <a:ahLst/>
            <a:cxnLst>
              <a:cxn ang="0">
                <a:pos x="0" y="221"/>
              </a:cxn>
              <a:cxn ang="0">
                <a:pos x="0" y="0"/>
              </a:cxn>
              <a:cxn ang="0">
                <a:pos x="469" y="0"/>
              </a:cxn>
              <a:cxn ang="0">
                <a:pos x="469" y="221"/>
              </a:cxn>
              <a:cxn ang="0">
                <a:pos x="0" y="221"/>
              </a:cxn>
            </a:cxnLst>
            <a:rect l="0" t="0" r="0" b="0"/>
            <a:pathLst>
              <a:path w="470" h="222">
                <a:moveTo>
                  <a:pt x="0" y="221"/>
                </a:moveTo>
                <a:lnTo>
                  <a:pt x="0" y="0"/>
                </a:lnTo>
                <a:lnTo>
                  <a:pt x="469" y="0"/>
                </a:lnTo>
                <a:lnTo>
                  <a:pt x="469" y="221"/>
                </a:lnTo>
                <a:lnTo>
                  <a:pt x="0" y="22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0" name="Freeform 50"/>
          <p:cNvSpPr/>
          <p:nvPr/>
        </p:nvSpPr>
        <p:spPr>
          <a:xfrm>
            <a:off x="8607420" y="3993176"/>
            <a:ext cx="49213" cy="26987"/>
          </a:xfrm>
          <a:custGeom>
            <a:avLst/>
            <a:gdLst/>
            <a:ahLst/>
            <a:cxnLst>
              <a:cxn ang="0">
                <a:pos x="30" y="8"/>
              </a:cxn>
              <a:cxn ang="0">
                <a:pos x="15" y="0"/>
              </a:cxn>
              <a:cxn ang="0">
                <a:pos x="0" y="8"/>
              </a:cxn>
              <a:cxn ang="0">
                <a:pos x="15" y="16"/>
              </a:cxn>
              <a:cxn ang="0">
                <a:pos x="30" y="8"/>
              </a:cxn>
            </a:cxnLst>
            <a:rect l="0" t="0" r="0" b="0"/>
            <a:pathLst>
              <a:path w="31" h="17">
                <a:moveTo>
                  <a:pt x="30" y="8"/>
                </a:moveTo>
                <a:lnTo>
                  <a:pt x="15" y="0"/>
                </a:lnTo>
                <a:lnTo>
                  <a:pt x="0" y="8"/>
                </a:lnTo>
                <a:lnTo>
                  <a:pt x="15" y="16"/>
                </a:lnTo>
                <a:lnTo>
                  <a:pt x="30" y="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1" name="Freeform 51"/>
          <p:cNvSpPr/>
          <p:nvPr/>
        </p:nvSpPr>
        <p:spPr>
          <a:xfrm>
            <a:off x="8785220" y="3993176"/>
            <a:ext cx="50800" cy="26987"/>
          </a:xfrm>
          <a:custGeom>
            <a:avLst/>
            <a:gdLst/>
            <a:ahLst/>
            <a:cxnLst>
              <a:cxn ang="0">
                <a:pos x="31" y="8"/>
              </a:cxn>
              <a:cxn ang="0">
                <a:pos x="15" y="0"/>
              </a:cxn>
              <a:cxn ang="0">
                <a:pos x="0" y="8"/>
              </a:cxn>
              <a:cxn ang="0">
                <a:pos x="15" y="16"/>
              </a:cxn>
              <a:cxn ang="0">
                <a:pos x="31" y="8"/>
              </a:cxn>
            </a:cxnLst>
            <a:rect l="0" t="0" r="0" b="0"/>
            <a:pathLst>
              <a:path w="32" h="17">
                <a:moveTo>
                  <a:pt x="31" y="8"/>
                </a:moveTo>
                <a:lnTo>
                  <a:pt x="15" y="0"/>
                </a:lnTo>
                <a:lnTo>
                  <a:pt x="0" y="8"/>
                </a:lnTo>
                <a:lnTo>
                  <a:pt x="15" y="16"/>
                </a:lnTo>
                <a:lnTo>
                  <a:pt x="31" y="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2" name="Freeform 52"/>
          <p:cNvSpPr/>
          <p:nvPr/>
        </p:nvSpPr>
        <p:spPr>
          <a:xfrm>
            <a:off x="8963020" y="3993176"/>
            <a:ext cx="50800" cy="26987"/>
          </a:xfrm>
          <a:custGeom>
            <a:avLst/>
            <a:gdLst/>
            <a:ahLst/>
            <a:cxnLst>
              <a:cxn ang="0">
                <a:pos x="31" y="8"/>
              </a:cxn>
              <a:cxn ang="0">
                <a:pos x="15" y="0"/>
              </a:cxn>
              <a:cxn ang="0">
                <a:pos x="0" y="8"/>
              </a:cxn>
              <a:cxn ang="0">
                <a:pos x="15" y="16"/>
              </a:cxn>
              <a:cxn ang="0">
                <a:pos x="31" y="8"/>
              </a:cxn>
            </a:cxnLst>
            <a:rect l="0" t="0" r="0" b="0"/>
            <a:pathLst>
              <a:path w="32" h="17">
                <a:moveTo>
                  <a:pt x="31" y="8"/>
                </a:moveTo>
                <a:lnTo>
                  <a:pt x="15" y="0"/>
                </a:lnTo>
                <a:lnTo>
                  <a:pt x="0" y="8"/>
                </a:lnTo>
                <a:lnTo>
                  <a:pt x="15" y="16"/>
                </a:lnTo>
                <a:lnTo>
                  <a:pt x="31" y="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3" name="Line 53"/>
          <p:cNvSpPr/>
          <p:nvPr/>
        </p:nvSpPr>
        <p:spPr>
          <a:xfrm>
            <a:off x="6992933" y="4005876"/>
            <a:ext cx="457200" cy="0"/>
          </a:xfrm>
          <a:prstGeom prst="line">
            <a:avLst/>
          </a:prstGeom>
          <a:ln w="12700" cap="flat" cmpd="sng">
            <a:solidFill>
              <a:schemeClr val="tx2"/>
            </a:solidFill>
            <a:prstDash val="solid"/>
            <a:round/>
            <a:headEnd type="none" w="sm" len="sm"/>
            <a:tailEnd type="stealth" w="med" len="lg"/>
          </a:ln>
        </p:spPr>
      </p:sp>
      <p:sp>
        <p:nvSpPr>
          <p:cNvPr id="54" name="Freeform 54"/>
          <p:cNvSpPr/>
          <p:nvPr/>
        </p:nvSpPr>
        <p:spPr>
          <a:xfrm>
            <a:off x="7440608" y="3829663"/>
            <a:ext cx="746125" cy="352425"/>
          </a:xfrm>
          <a:custGeom>
            <a:avLst/>
            <a:gdLst/>
            <a:ahLst/>
            <a:cxnLst>
              <a:cxn ang="0">
                <a:pos x="0" y="221"/>
              </a:cxn>
              <a:cxn ang="0">
                <a:pos x="0" y="0"/>
              </a:cxn>
              <a:cxn ang="0">
                <a:pos x="469" y="0"/>
              </a:cxn>
              <a:cxn ang="0">
                <a:pos x="469" y="221"/>
              </a:cxn>
              <a:cxn ang="0">
                <a:pos x="0" y="221"/>
              </a:cxn>
            </a:cxnLst>
            <a:rect l="0" t="0" r="0" b="0"/>
            <a:pathLst>
              <a:path w="470" h="222">
                <a:moveTo>
                  <a:pt x="0" y="221"/>
                </a:moveTo>
                <a:lnTo>
                  <a:pt x="0" y="0"/>
                </a:lnTo>
                <a:lnTo>
                  <a:pt x="469" y="0"/>
                </a:lnTo>
                <a:lnTo>
                  <a:pt x="469" y="221"/>
                </a:lnTo>
                <a:lnTo>
                  <a:pt x="0" y="22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5" name="Line 55"/>
          <p:cNvSpPr/>
          <p:nvPr/>
        </p:nvSpPr>
        <p:spPr>
          <a:xfrm>
            <a:off x="8016870" y="4005876"/>
            <a:ext cx="457200" cy="0"/>
          </a:xfrm>
          <a:prstGeom prst="line">
            <a:avLst/>
          </a:prstGeom>
          <a:ln w="12700" cap="flat" cmpd="sng">
            <a:solidFill>
              <a:schemeClr val="tx2"/>
            </a:solidFill>
            <a:prstDash val="solid"/>
            <a:round/>
            <a:headEnd type="none" w="sm" len="sm"/>
            <a:tailEnd type="stealth" w="med" len="lg"/>
          </a:ln>
        </p:spPr>
      </p:sp>
      <p:sp>
        <p:nvSpPr>
          <p:cNvPr id="56" name="Freeform 56"/>
          <p:cNvSpPr/>
          <p:nvPr/>
        </p:nvSpPr>
        <p:spPr>
          <a:xfrm>
            <a:off x="6434133" y="4685326"/>
            <a:ext cx="746125" cy="352425"/>
          </a:xfrm>
          <a:custGeom>
            <a:avLst/>
            <a:gdLst/>
            <a:ahLst/>
            <a:cxnLst>
              <a:cxn ang="0">
                <a:pos x="0" y="221"/>
              </a:cxn>
              <a:cxn ang="0">
                <a:pos x="0" y="0"/>
              </a:cxn>
              <a:cxn ang="0">
                <a:pos x="469" y="0"/>
              </a:cxn>
              <a:cxn ang="0">
                <a:pos x="469" y="221"/>
              </a:cxn>
              <a:cxn ang="0">
                <a:pos x="0" y="221"/>
              </a:cxn>
            </a:cxnLst>
            <a:rect l="0" t="0" r="0" b="0"/>
            <a:pathLst>
              <a:path w="470" h="222">
                <a:moveTo>
                  <a:pt x="0" y="221"/>
                </a:moveTo>
                <a:lnTo>
                  <a:pt x="0" y="0"/>
                </a:lnTo>
                <a:lnTo>
                  <a:pt x="469" y="0"/>
                </a:lnTo>
                <a:lnTo>
                  <a:pt x="469" y="221"/>
                </a:lnTo>
                <a:lnTo>
                  <a:pt x="0" y="22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7" name="Freeform 57"/>
          <p:cNvSpPr/>
          <p:nvPr/>
        </p:nvSpPr>
        <p:spPr>
          <a:xfrm>
            <a:off x="8624883" y="4848838"/>
            <a:ext cx="49212" cy="26988"/>
          </a:xfrm>
          <a:custGeom>
            <a:avLst/>
            <a:gdLst/>
            <a:ahLst/>
            <a:cxnLst>
              <a:cxn ang="0">
                <a:pos x="30" y="8"/>
              </a:cxn>
              <a:cxn ang="0">
                <a:pos x="15" y="0"/>
              </a:cxn>
              <a:cxn ang="0">
                <a:pos x="0" y="8"/>
              </a:cxn>
              <a:cxn ang="0">
                <a:pos x="15" y="16"/>
              </a:cxn>
              <a:cxn ang="0">
                <a:pos x="30" y="8"/>
              </a:cxn>
            </a:cxnLst>
            <a:rect l="0" t="0" r="0" b="0"/>
            <a:pathLst>
              <a:path w="31" h="17">
                <a:moveTo>
                  <a:pt x="30" y="8"/>
                </a:moveTo>
                <a:lnTo>
                  <a:pt x="15" y="0"/>
                </a:lnTo>
                <a:lnTo>
                  <a:pt x="0" y="8"/>
                </a:lnTo>
                <a:lnTo>
                  <a:pt x="15" y="16"/>
                </a:lnTo>
                <a:lnTo>
                  <a:pt x="30" y="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8" name="Freeform 58"/>
          <p:cNvSpPr/>
          <p:nvPr/>
        </p:nvSpPr>
        <p:spPr>
          <a:xfrm>
            <a:off x="8802683" y="4848838"/>
            <a:ext cx="50800" cy="26988"/>
          </a:xfrm>
          <a:custGeom>
            <a:avLst/>
            <a:gdLst/>
            <a:ahLst/>
            <a:cxnLst>
              <a:cxn ang="0">
                <a:pos x="31" y="8"/>
              </a:cxn>
              <a:cxn ang="0">
                <a:pos x="15" y="0"/>
              </a:cxn>
              <a:cxn ang="0">
                <a:pos x="0" y="8"/>
              </a:cxn>
              <a:cxn ang="0">
                <a:pos x="15" y="16"/>
              </a:cxn>
              <a:cxn ang="0">
                <a:pos x="31" y="8"/>
              </a:cxn>
            </a:cxnLst>
            <a:rect l="0" t="0" r="0" b="0"/>
            <a:pathLst>
              <a:path w="32" h="17">
                <a:moveTo>
                  <a:pt x="31" y="8"/>
                </a:moveTo>
                <a:lnTo>
                  <a:pt x="15" y="0"/>
                </a:lnTo>
                <a:lnTo>
                  <a:pt x="0" y="8"/>
                </a:lnTo>
                <a:lnTo>
                  <a:pt x="15" y="16"/>
                </a:lnTo>
                <a:lnTo>
                  <a:pt x="31" y="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59" name="Freeform 59"/>
          <p:cNvSpPr/>
          <p:nvPr/>
        </p:nvSpPr>
        <p:spPr>
          <a:xfrm>
            <a:off x="8980483" y="4848838"/>
            <a:ext cx="50800" cy="26988"/>
          </a:xfrm>
          <a:custGeom>
            <a:avLst/>
            <a:gdLst/>
            <a:ahLst/>
            <a:cxnLst>
              <a:cxn ang="0">
                <a:pos x="31" y="8"/>
              </a:cxn>
              <a:cxn ang="0">
                <a:pos x="15" y="0"/>
              </a:cxn>
              <a:cxn ang="0">
                <a:pos x="0" y="8"/>
              </a:cxn>
              <a:cxn ang="0">
                <a:pos x="15" y="16"/>
              </a:cxn>
              <a:cxn ang="0">
                <a:pos x="31" y="8"/>
              </a:cxn>
            </a:cxnLst>
            <a:rect l="0" t="0" r="0" b="0"/>
            <a:pathLst>
              <a:path w="32" h="17">
                <a:moveTo>
                  <a:pt x="31" y="8"/>
                </a:moveTo>
                <a:lnTo>
                  <a:pt x="15" y="0"/>
                </a:lnTo>
                <a:lnTo>
                  <a:pt x="0" y="8"/>
                </a:lnTo>
                <a:lnTo>
                  <a:pt x="15" y="16"/>
                </a:lnTo>
                <a:lnTo>
                  <a:pt x="31" y="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60" name="Line 60"/>
          <p:cNvSpPr/>
          <p:nvPr/>
        </p:nvSpPr>
        <p:spPr>
          <a:xfrm>
            <a:off x="7010395" y="4861538"/>
            <a:ext cx="457200" cy="0"/>
          </a:xfrm>
          <a:prstGeom prst="line">
            <a:avLst/>
          </a:prstGeom>
          <a:ln w="12700" cap="flat" cmpd="sng">
            <a:solidFill>
              <a:schemeClr val="tx2"/>
            </a:solidFill>
            <a:prstDash val="solid"/>
            <a:round/>
            <a:headEnd type="none" w="sm" len="sm"/>
            <a:tailEnd type="stealth" w="med" len="lg"/>
          </a:ln>
        </p:spPr>
      </p:sp>
      <p:sp>
        <p:nvSpPr>
          <p:cNvPr id="61" name="Freeform 61"/>
          <p:cNvSpPr/>
          <p:nvPr/>
        </p:nvSpPr>
        <p:spPr>
          <a:xfrm>
            <a:off x="7458070" y="4685326"/>
            <a:ext cx="746125" cy="352425"/>
          </a:xfrm>
          <a:custGeom>
            <a:avLst/>
            <a:gdLst/>
            <a:ahLst/>
            <a:cxnLst>
              <a:cxn ang="0">
                <a:pos x="0" y="221"/>
              </a:cxn>
              <a:cxn ang="0">
                <a:pos x="0" y="0"/>
              </a:cxn>
              <a:cxn ang="0">
                <a:pos x="469" y="0"/>
              </a:cxn>
              <a:cxn ang="0">
                <a:pos x="469" y="221"/>
              </a:cxn>
              <a:cxn ang="0">
                <a:pos x="0" y="221"/>
              </a:cxn>
            </a:cxnLst>
            <a:rect l="0" t="0" r="0" b="0"/>
            <a:pathLst>
              <a:path w="470" h="222">
                <a:moveTo>
                  <a:pt x="0" y="221"/>
                </a:moveTo>
                <a:lnTo>
                  <a:pt x="0" y="0"/>
                </a:lnTo>
                <a:lnTo>
                  <a:pt x="469" y="0"/>
                </a:lnTo>
                <a:lnTo>
                  <a:pt x="469" y="221"/>
                </a:lnTo>
                <a:lnTo>
                  <a:pt x="0" y="22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62" name="Line 62"/>
          <p:cNvSpPr/>
          <p:nvPr/>
        </p:nvSpPr>
        <p:spPr>
          <a:xfrm>
            <a:off x="8034333" y="4861538"/>
            <a:ext cx="457200" cy="0"/>
          </a:xfrm>
          <a:prstGeom prst="line">
            <a:avLst/>
          </a:prstGeom>
          <a:ln w="12700" cap="flat" cmpd="sng">
            <a:solidFill>
              <a:schemeClr val="tx2"/>
            </a:solidFill>
            <a:prstDash val="solid"/>
            <a:round/>
            <a:headEnd type="none" w="sm" len="sm"/>
            <a:tailEnd type="stealth" w="med" len="lg"/>
          </a:ln>
        </p:spPr>
      </p:sp>
      <p:sp>
        <p:nvSpPr>
          <p:cNvPr id="63" name="Freeform 63"/>
          <p:cNvSpPr/>
          <p:nvPr/>
        </p:nvSpPr>
        <p:spPr>
          <a:xfrm>
            <a:off x="6483345" y="5891826"/>
            <a:ext cx="746125" cy="352425"/>
          </a:xfrm>
          <a:custGeom>
            <a:avLst/>
            <a:gdLst/>
            <a:ahLst/>
            <a:cxnLst>
              <a:cxn ang="0">
                <a:pos x="0" y="221"/>
              </a:cxn>
              <a:cxn ang="0">
                <a:pos x="0" y="0"/>
              </a:cxn>
              <a:cxn ang="0">
                <a:pos x="469" y="0"/>
              </a:cxn>
              <a:cxn ang="0">
                <a:pos x="469" y="221"/>
              </a:cxn>
              <a:cxn ang="0">
                <a:pos x="0" y="221"/>
              </a:cxn>
            </a:cxnLst>
            <a:rect l="0" t="0" r="0" b="0"/>
            <a:pathLst>
              <a:path w="470" h="222">
                <a:moveTo>
                  <a:pt x="0" y="221"/>
                </a:moveTo>
                <a:lnTo>
                  <a:pt x="0" y="0"/>
                </a:lnTo>
                <a:lnTo>
                  <a:pt x="469" y="0"/>
                </a:lnTo>
                <a:lnTo>
                  <a:pt x="469" y="221"/>
                </a:lnTo>
                <a:lnTo>
                  <a:pt x="0" y="22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64" name="Freeform 64"/>
          <p:cNvSpPr/>
          <p:nvPr/>
        </p:nvSpPr>
        <p:spPr>
          <a:xfrm>
            <a:off x="8674095" y="6053751"/>
            <a:ext cx="49213" cy="26987"/>
          </a:xfrm>
          <a:custGeom>
            <a:avLst/>
            <a:gdLst/>
            <a:ahLst/>
            <a:cxnLst>
              <a:cxn ang="0">
                <a:pos x="30" y="8"/>
              </a:cxn>
              <a:cxn ang="0">
                <a:pos x="15" y="0"/>
              </a:cxn>
              <a:cxn ang="0">
                <a:pos x="0" y="8"/>
              </a:cxn>
              <a:cxn ang="0">
                <a:pos x="15" y="16"/>
              </a:cxn>
              <a:cxn ang="0">
                <a:pos x="30" y="8"/>
              </a:cxn>
            </a:cxnLst>
            <a:rect l="0" t="0" r="0" b="0"/>
            <a:pathLst>
              <a:path w="31" h="17">
                <a:moveTo>
                  <a:pt x="30" y="8"/>
                </a:moveTo>
                <a:lnTo>
                  <a:pt x="15" y="0"/>
                </a:lnTo>
                <a:lnTo>
                  <a:pt x="0" y="8"/>
                </a:lnTo>
                <a:lnTo>
                  <a:pt x="15" y="16"/>
                </a:lnTo>
                <a:lnTo>
                  <a:pt x="30" y="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65" name="Freeform 65"/>
          <p:cNvSpPr/>
          <p:nvPr/>
        </p:nvSpPr>
        <p:spPr>
          <a:xfrm>
            <a:off x="8851895" y="6053751"/>
            <a:ext cx="50800" cy="26987"/>
          </a:xfrm>
          <a:custGeom>
            <a:avLst/>
            <a:gdLst/>
            <a:ahLst/>
            <a:cxnLst>
              <a:cxn ang="0">
                <a:pos x="31" y="8"/>
              </a:cxn>
              <a:cxn ang="0">
                <a:pos x="15" y="0"/>
              </a:cxn>
              <a:cxn ang="0">
                <a:pos x="0" y="8"/>
              </a:cxn>
              <a:cxn ang="0">
                <a:pos x="15" y="16"/>
              </a:cxn>
              <a:cxn ang="0">
                <a:pos x="31" y="8"/>
              </a:cxn>
            </a:cxnLst>
            <a:rect l="0" t="0" r="0" b="0"/>
            <a:pathLst>
              <a:path w="32" h="17">
                <a:moveTo>
                  <a:pt x="31" y="8"/>
                </a:moveTo>
                <a:lnTo>
                  <a:pt x="15" y="0"/>
                </a:lnTo>
                <a:lnTo>
                  <a:pt x="0" y="8"/>
                </a:lnTo>
                <a:lnTo>
                  <a:pt x="15" y="16"/>
                </a:lnTo>
                <a:lnTo>
                  <a:pt x="31" y="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66" name="Freeform 66"/>
          <p:cNvSpPr/>
          <p:nvPr/>
        </p:nvSpPr>
        <p:spPr>
          <a:xfrm>
            <a:off x="9029695" y="6053751"/>
            <a:ext cx="50800" cy="26987"/>
          </a:xfrm>
          <a:custGeom>
            <a:avLst/>
            <a:gdLst/>
            <a:ahLst/>
            <a:cxnLst>
              <a:cxn ang="0">
                <a:pos x="31" y="8"/>
              </a:cxn>
              <a:cxn ang="0">
                <a:pos x="15" y="0"/>
              </a:cxn>
              <a:cxn ang="0">
                <a:pos x="0" y="8"/>
              </a:cxn>
              <a:cxn ang="0">
                <a:pos x="15" y="16"/>
              </a:cxn>
              <a:cxn ang="0">
                <a:pos x="31" y="8"/>
              </a:cxn>
            </a:cxnLst>
            <a:rect l="0" t="0" r="0" b="0"/>
            <a:pathLst>
              <a:path w="32" h="17">
                <a:moveTo>
                  <a:pt x="31" y="8"/>
                </a:moveTo>
                <a:lnTo>
                  <a:pt x="15" y="0"/>
                </a:lnTo>
                <a:lnTo>
                  <a:pt x="0" y="8"/>
                </a:lnTo>
                <a:lnTo>
                  <a:pt x="15" y="16"/>
                </a:lnTo>
                <a:lnTo>
                  <a:pt x="31" y="8"/>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67" name="Line 67"/>
          <p:cNvSpPr/>
          <p:nvPr/>
        </p:nvSpPr>
        <p:spPr>
          <a:xfrm>
            <a:off x="7059608" y="6068038"/>
            <a:ext cx="457200" cy="0"/>
          </a:xfrm>
          <a:prstGeom prst="line">
            <a:avLst/>
          </a:prstGeom>
          <a:ln w="12700" cap="flat" cmpd="sng">
            <a:solidFill>
              <a:schemeClr val="tx2"/>
            </a:solidFill>
            <a:prstDash val="solid"/>
            <a:round/>
            <a:headEnd type="none" w="sm" len="sm"/>
            <a:tailEnd type="stealth" w="med" len="lg"/>
          </a:ln>
        </p:spPr>
      </p:sp>
      <p:sp>
        <p:nvSpPr>
          <p:cNvPr id="68" name="Freeform 68"/>
          <p:cNvSpPr/>
          <p:nvPr/>
        </p:nvSpPr>
        <p:spPr>
          <a:xfrm>
            <a:off x="7507283" y="5891826"/>
            <a:ext cx="746125" cy="352425"/>
          </a:xfrm>
          <a:custGeom>
            <a:avLst/>
            <a:gdLst/>
            <a:ahLst/>
            <a:cxnLst>
              <a:cxn ang="0">
                <a:pos x="0" y="221"/>
              </a:cxn>
              <a:cxn ang="0">
                <a:pos x="0" y="0"/>
              </a:cxn>
              <a:cxn ang="0">
                <a:pos x="469" y="0"/>
              </a:cxn>
              <a:cxn ang="0">
                <a:pos x="469" y="221"/>
              </a:cxn>
              <a:cxn ang="0">
                <a:pos x="0" y="221"/>
              </a:cxn>
            </a:cxnLst>
            <a:rect l="0" t="0" r="0" b="0"/>
            <a:pathLst>
              <a:path w="470" h="222">
                <a:moveTo>
                  <a:pt x="0" y="221"/>
                </a:moveTo>
                <a:lnTo>
                  <a:pt x="0" y="0"/>
                </a:lnTo>
                <a:lnTo>
                  <a:pt x="469" y="0"/>
                </a:lnTo>
                <a:lnTo>
                  <a:pt x="469" y="221"/>
                </a:lnTo>
                <a:lnTo>
                  <a:pt x="0" y="221"/>
                </a:lnTo>
              </a:path>
            </a:pathLst>
          </a:custGeom>
          <a:noFill/>
          <a:ln w="12700" cap="rnd" cmpd="sng">
            <a:solidFill>
              <a:srgbClr val="000000"/>
            </a:solidFill>
            <a:prstDash val="solid"/>
            <a:round/>
            <a:headEnd type="none" w="med" len="med"/>
            <a:tailEnd type="none" w="med" len="med"/>
          </a:ln>
        </p:spPr>
        <p:txBody>
          <a:bodyPr/>
          <a:lstStyle/>
          <a:p>
            <a:endParaRPr lang="zh-CN" altLang="en-US"/>
          </a:p>
        </p:txBody>
      </p:sp>
      <p:sp>
        <p:nvSpPr>
          <p:cNvPr id="69" name="Line 69"/>
          <p:cNvSpPr/>
          <p:nvPr/>
        </p:nvSpPr>
        <p:spPr>
          <a:xfrm>
            <a:off x="8083545" y="6068038"/>
            <a:ext cx="457200" cy="0"/>
          </a:xfrm>
          <a:prstGeom prst="line">
            <a:avLst/>
          </a:prstGeom>
          <a:ln w="12700" cap="flat" cmpd="sng">
            <a:solidFill>
              <a:schemeClr val="tx2"/>
            </a:solidFill>
            <a:prstDash val="solid"/>
            <a:round/>
            <a:headEnd type="none" w="sm" len="sm"/>
            <a:tailEnd type="stealth" w="med" len="lg"/>
          </a:ln>
        </p:spPr>
      </p:sp>
      <p:sp>
        <p:nvSpPr>
          <p:cNvPr id="11" name="灯片编号占位符 10"/>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anim calcmode="lin" valueType="num">
                                      <p:cBhvr additive="base">
                                        <p:cTn id="23" dur="500" fill="hold"/>
                                        <p:tgtEl>
                                          <p:spTgt spid="29"/>
                                        </p:tgtEl>
                                        <p:attrNameLst>
                                          <p:attrName>ppt_x</p:attrName>
                                        </p:attrNameLst>
                                      </p:cBhvr>
                                      <p:tavLst>
                                        <p:tav tm="0">
                                          <p:val>
                                            <p:strVal val="#ppt_x"/>
                                          </p:val>
                                        </p:tav>
                                        <p:tav tm="100000">
                                          <p:val>
                                            <p:strVal val="#ppt_x"/>
                                          </p:val>
                                        </p:tav>
                                      </p:tavLst>
                                    </p:anim>
                                    <p:anim calcmode="lin" valueType="num">
                                      <p:cBhvr additive="base">
                                        <p:cTn id="24" dur="500" fill="hold"/>
                                        <p:tgtEl>
                                          <p:spTgt spid="2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cBhvr additive="base">
                                        <p:cTn id="27" dur="500" fill="hold"/>
                                        <p:tgtEl>
                                          <p:spTgt spid="38"/>
                                        </p:tgtEl>
                                        <p:attrNameLst>
                                          <p:attrName>ppt_x</p:attrName>
                                        </p:attrNameLst>
                                      </p:cBhvr>
                                      <p:tavLst>
                                        <p:tav tm="0">
                                          <p:val>
                                            <p:strVal val="#ppt_x"/>
                                          </p:val>
                                        </p:tav>
                                        <p:tav tm="100000">
                                          <p:val>
                                            <p:strVal val="#ppt_x"/>
                                          </p:val>
                                        </p:tav>
                                      </p:tavLst>
                                    </p:anim>
                                    <p:anim calcmode="lin" valueType="num">
                                      <p:cBhvr additive="base">
                                        <p:cTn id="28" dur="500" fill="hold"/>
                                        <p:tgtEl>
                                          <p:spTgt spid="3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additive="base">
                                        <p:cTn id="31" dur="500" fill="hold"/>
                                        <p:tgtEl>
                                          <p:spTgt spid="39"/>
                                        </p:tgtEl>
                                        <p:attrNameLst>
                                          <p:attrName>ppt_x</p:attrName>
                                        </p:attrNameLst>
                                      </p:cBhvr>
                                      <p:tavLst>
                                        <p:tav tm="0">
                                          <p:val>
                                            <p:strVal val="#ppt_x"/>
                                          </p:val>
                                        </p:tav>
                                        <p:tav tm="100000">
                                          <p:val>
                                            <p:strVal val="#ppt_x"/>
                                          </p:val>
                                        </p:tav>
                                      </p:tavLst>
                                    </p:anim>
                                    <p:anim calcmode="lin" valueType="num">
                                      <p:cBhvr additive="base">
                                        <p:cTn id="32" dur="500" fill="hold"/>
                                        <p:tgtEl>
                                          <p:spTgt spid="3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additive="base">
                                        <p:cTn id="35" dur="500" fill="hold"/>
                                        <p:tgtEl>
                                          <p:spTgt spid="40"/>
                                        </p:tgtEl>
                                        <p:attrNameLst>
                                          <p:attrName>ppt_x</p:attrName>
                                        </p:attrNameLst>
                                      </p:cBhvr>
                                      <p:tavLst>
                                        <p:tav tm="0">
                                          <p:val>
                                            <p:strVal val="#ppt_x"/>
                                          </p:val>
                                        </p:tav>
                                        <p:tav tm="100000">
                                          <p:val>
                                            <p:strVal val="#ppt_x"/>
                                          </p:val>
                                        </p:tav>
                                      </p:tavLst>
                                    </p:anim>
                                    <p:anim calcmode="lin" valueType="num">
                                      <p:cBhvr additive="base">
                                        <p:cTn id="36" dur="500" fill="hold"/>
                                        <p:tgtEl>
                                          <p:spTgt spid="4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 calcmode="lin" valueType="num">
                                      <p:cBhvr additive="base">
                                        <p:cTn id="39" dur="500" fill="hold"/>
                                        <p:tgtEl>
                                          <p:spTgt spid="41"/>
                                        </p:tgtEl>
                                        <p:attrNameLst>
                                          <p:attrName>ppt_x</p:attrName>
                                        </p:attrNameLst>
                                      </p:cBhvr>
                                      <p:tavLst>
                                        <p:tav tm="0">
                                          <p:val>
                                            <p:strVal val="#ppt_x"/>
                                          </p:val>
                                        </p:tav>
                                        <p:tav tm="100000">
                                          <p:val>
                                            <p:strVal val="#ppt_x"/>
                                          </p:val>
                                        </p:tav>
                                      </p:tavLst>
                                    </p:anim>
                                    <p:anim calcmode="lin" valueType="num">
                                      <p:cBhvr additive="base">
                                        <p:cTn id="40" dur="500" fill="hold"/>
                                        <p:tgtEl>
                                          <p:spTgt spid="41"/>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anim calcmode="lin" valueType="num">
                                      <p:cBhvr additive="base">
                                        <p:cTn id="43" dur="500" fill="hold"/>
                                        <p:tgtEl>
                                          <p:spTgt spid="42"/>
                                        </p:tgtEl>
                                        <p:attrNameLst>
                                          <p:attrName>ppt_x</p:attrName>
                                        </p:attrNameLst>
                                      </p:cBhvr>
                                      <p:tavLst>
                                        <p:tav tm="0">
                                          <p:val>
                                            <p:strVal val="#ppt_x"/>
                                          </p:val>
                                        </p:tav>
                                        <p:tav tm="100000">
                                          <p:val>
                                            <p:strVal val="#ppt_x"/>
                                          </p:val>
                                        </p:tav>
                                      </p:tavLst>
                                    </p:anim>
                                    <p:anim calcmode="lin" valueType="num">
                                      <p:cBhvr additive="base">
                                        <p:cTn id="44" dur="500" fill="hold"/>
                                        <p:tgtEl>
                                          <p:spTgt spid="4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anim calcmode="lin" valueType="num">
                                      <p:cBhvr additive="base">
                                        <p:cTn id="47" dur="500" fill="hold"/>
                                        <p:tgtEl>
                                          <p:spTgt spid="47"/>
                                        </p:tgtEl>
                                        <p:attrNameLst>
                                          <p:attrName>ppt_x</p:attrName>
                                        </p:attrNameLst>
                                      </p:cBhvr>
                                      <p:tavLst>
                                        <p:tav tm="0">
                                          <p:val>
                                            <p:strVal val="#ppt_x"/>
                                          </p:val>
                                        </p:tav>
                                        <p:tav tm="100000">
                                          <p:val>
                                            <p:strVal val="#ppt_x"/>
                                          </p:val>
                                        </p:tav>
                                      </p:tavLst>
                                    </p:anim>
                                    <p:anim calcmode="lin" valueType="num">
                                      <p:cBhvr additive="base">
                                        <p:cTn id="48" dur="500" fill="hold"/>
                                        <p:tgtEl>
                                          <p:spTgt spid="47"/>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8"/>
                                        </p:tgtEl>
                                        <p:attrNameLst>
                                          <p:attrName>style.visibility</p:attrName>
                                        </p:attrNameLst>
                                      </p:cBhvr>
                                      <p:to>
                                        <p:strVal val="visible"/>
                                      </p:to>
                                    </p:set>
                                    <p:anim calcmode="lin" valueType="num">
                                      <p:cBhvr additive="base">
                                        <p:cTn id="51" dur="500" fill="hold"/>
                                        <p:tgtEl>
                                          <p:spTgt spid="48"/>
                                        </p:tgtEl>
                                        <p:attrNameLst>
                                          <p:attrName>ppt_x</p:attrName>
                                        </p:attrNameLst>
                                      </p:cBhvr>
                                      <p:tavLst>
                                        <p:tav tm="0">
                                          <p:val>
                                            <p:strVal val="#ppt_x"/>
                                          </p:val>
                                        </p:tav>
                                        <p:tav tm="100000">
                                          <p:val>
                                            <p:strVal val="#ppt_x"/>
                                          </p:val>
                                        </p:tav>
                                      </p:tavLst>
                                    </p:anim>
                                    <p:anim calcmode="lin" valueType="num">
                                      <p:cBhvr additive="base">
                                        <p:cTn id="52" dur="500" fill="hold"/>
                                        <p:tgtEl>
                                          <p:spTgt spid="4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9"/>
                                        </p:tgtEl>
                                        <p:attrNameLst>
                                          <p:attrName>style.visibility</p:attrName>
                                        </p:attrNameLst>
                                      </p:cBhvr>
                                      <p:to>
                                        <p:strVal val="visible"/>
                                      </p:to>
                                    </p:set>
                                    <p:anim calcmode="lin" valueType="num">
                                      <p:cBhvr additive="base">
                                        <p:cTn id="55" dur="500" fill="hold"/>
                                        <p:tgtEl>
                                          <p:spTgt spid="49"/>
                                        </p:tgtEl>
                                        <p:attrNameLst>
                                          <p:attrName>ppt_x</p:attrName>
                                        </p:attrNameLst>
                                      </p:cBhvr>
                                      <p:tavLst>
                                        <p:tav tm="0">
                                          <p:val>
                                            <p:strVal val="#ppt_x"/>
                                          </p:val>
                                        </p:tav>
                                        <p:tav tm="100000">
                                          <p:val>
                                            <p:strVal val="#ppt_x"/>
                                          </p:val>
                                        </p:tav>
                                      </p:tavLst>
                                    </p:anim>
                                    <p:anim calcmode="lin" valueType="num">
                                      <p:cBhvr additive="base">
                                        <p:cTn id="56" dur="500" fill="hold"/>
                                        <p:tgtEl>
                                          <p:spTgt spid="4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0"/>
                                        </p:tgtEl>
                                        <p:attrNameLst>
                                          <p:attrName>style.visibility</p:attrName>
                                        </p:attrNameLst>
                                      </p:cBhvr>
                                      <p:to>
                                        <p:strVal val="visible"/>
                                      </p:to>
                                    </p:set>
                                    <p:anim calcmode="lin" valueType="num">
                                      <p:cBhvr additive="base">
                                        <p:cTn id="59" dur="500" fill="hold"/>
                                        <p:tgtEl>
                                          <p:spTgt spid="50"/>
                                        </p:tgtEl>
                                        <p:attrNameLst>
                                          <p:attrName>ppt_x</p:attrName>
                                        </p:attrNameLst>
                                      </p:cBhvr>
                                      <p:tavLst>
                                        <p:tav tm="0">
                                          <p:val>
                                            <p:strVal val="#ppt_x"/>
                                          </p:val>
                                        </p:tav>
                                        <p:tav tm="100000">
                                          <p:val>
                                            <p:strVal val="#ppt_x"/>
                                          </p:val>
                                        </p:tav>
                                      </p:tavLst>
                                    </p:anim>
                                    <p:anim calcmode="lin" valueType="num">
                                      <p:cBhvr additive="base">
                                        <p:cTn id="60" dur="500" fill="hold"/>
                                        <p:tgtEl>
                                          <p:spTgt spid="50"/>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1"/>
                                        </p:tgtEl>
                                        <p:attrNameLst>
                                          <p:attrName>style.visibility</p:attrName>
                                        </p:attrNameLst>
                                      </p:cBhvr>
                                      <p:to>
                                        <p:strVal val="visible"/>
                                      </p:to>
                                    </p:set>
                                    <p:anim calcmode="lin" valueType="num">
                                      <p:cBhvr additive="base">
                                        <p:cTn id="63" dur="500" fill="hold"/>
                                        <p:tgtEl>
                                          <p:spTgt spid="51"/>
                                        </p:tgtEl>
                                        <p:attrNameLst>
                                          <p:attrName>ppt_x</p:attrName>
                                        </p:attrNameLst>
                                      </p:cBhvr>
                                      <p:tavLst>
                                        <p:tav tm="0">
                                          <p:val>
                                            <p:strVal val="#ppt_x"/>
                                          </p:val>
                                        </p:tav>
                                        <p:tav tm="100000">
                                          <p:val>
                                            <p:strVal val="#ppt_x"/>
                                          </p:val>
                                        </p:tav>
                                      </p:tavLst>
                                    </p:anim>
                                    <p:anim calcmode="lin" valueType="num">
                                      <p:cBhvr additive="base">
                                        <p:cTn id="64" dur="500" fill="hold"/>
                                        <p:tgtEl>
                                          <p:spTgt spid="51"/>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anim calcmode="lin" valueType="num">
                                      <p:cBhvr additive="base">
                                        <p:cTn id="67" dur="500" fill="hold"/>
                                        <p:tgtEl>
                                          <p:spTgt spid="52"/>
                                        </p:tgtEl>
                                        <p:attrNameLst>
                                          <p:attrName>ppt_x</p:attrName>
                                        </p:attrNameLst>
                                      </p:cBhvr>
                                      <p:tavLst>
                                        <p:tav tm="0">
                                          <p:val>
                                            <p:strVal val="#ppt_x"/>
                                          </p:val>
                                        </p:tav>
                                        <p:tav tm="100000">
                                          <p:val>
                                            <p:strVal val="#ppt_x"/>
                                          </p:val>
                                        </p:tav>
                                      </p:tavLst>
                                    </p:anim>
                                    <p:anim calcmode="lin" valueType="num">
                                      <p:cBhvr additive="base">
                                        <p:cTn id="68" dur="500" fill="hold"/>
                                        <p:tgtEl>
                                          <p:spTgt spid="52"/>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53"/>
                                        </p:tgtEl>
                                        <p:attrNameLst>
                                          <p:attrName>style.visibility</p:attrName>
                                        </p:attrNameLst>
                                      </p:cBhvr>
                                      <p:to>
                                        <p:strVal val="visible"/>
                                      </p:to>
                                    </p:set>
                                    <p:anim calcmode="lin" valueType="num">
                                      <p:cBhvr additive="base">
                                        <p:cTn id="71" dur="500" fill="hold"/>
                                        <p:tgtEl>
                                          <p:spTgt spid="53"/>
                                        </p:tgtEl>
                                        <p:attrNameLst>
                                          <p:attrName>ppt_x</p:attrName>
                                        </p:attrNameLst>
                                      </p:cBhvr>
                                      <p:tavLst>
                                        <p:tav tm="0">
                                          <p:val>
                                            <p:strVal val="#ppt_x"/>
                                          </p:val>
                                        </p:tav>
                                        <p:tav tm="100000">
                                          <p:val>
                                            <p:strVal val="#ppt_x"/>
                                          </p:val>
                                        </p:tav>
                                      </p:tavLst>
                                    </p:anim>
                                    <p:anim calcmode="lin" valueType="num">
                                      <p:cBhvr additive="base">
                                        <p:cTn id="72" dur="500" fill="hold"/>
                                        <p:tgtEl>
                                          <p:spTgt spid="53"/>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54"/>
                                        </p:tgtEl>
                                        <p:attrNameLst>
                                          <p:attrName>style.visibility</p:attrName>
                                        </p:attrNameLst>
                                      </p:cBhvr>
                                      <p:to>
                                        <p:strVal val="visible"/>
                                      </p:to>
                                    </p:set>
                                    <p:anim calcmode="lin" valueType="num">
                                      <p:cBhvr additive="base">
                                        <p:cTn id="75" dur="500" fill="hold"/>
                                        <p:tgtEl>
                                          <p:spTgt spid="54"/>
                                        </p:tgtEl>
                                        <p:attrNameLst>
                                          <p:attrName>ppt_x</p:attrName>
                                        </p:attrNameLst>
                                      </p:cBhvr>
                                      <p:tavLst>
                                        <p:tav tm="0">
                                          <p:val>
                                            <p:strVal val="#ppt_x"/>
                                          </p:val>
                                        </p:tav>
                                        <p:tav tm="100000">
                                          <p:val>
                                            <p:strVal val="#ppt_x"/>
                                          </p:val>
                                        </p:tav>
                                      </p:tavLst>
                                    </p:anim>
                                    <p:anim calcmode="lin" valueType="num">
                                      <p:cBhvr additive="base">
                                        <p:cTn id="76" dur="500" fill="hold"/>
                                        <p:tgtEl>
                                          <p:spTgt spid="54"/>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55"/>
                                        </p:tgtEl>
                                        <p:attrNameLst>
                                          <p:attrName>style.visibility</p:attrName>
                                        </p:attrNameLst>
                                      </p:cBhvr>
                                      <p:to>
                                        <p:strVal val="visible"/>
                                      </p:to>
                                    </p:set>
                                    <p:anim calcmode="lin" valueType="num">
                                      <p:cBhvr additive="base">
                                        <p:cTn id="79" dur="500" fill="hold"/>
                                        <p:tgtEl>
                                          <p:spTgt spid="55"/>
                                        </p:tgtEl>
                                        <p:attrNameLst>
                                          <p:attrName>ppt_x</p:attrName>
                                        </p:attrNameLst>
                                      </p:cBhvr>
                                      <p:tavLst>
                                        <p:tav tm="0">
                                          <p:val>
                                            <p:strVal val="#ppt_x"/>
                                          </p:val>
                                        </p:tav>
                                        <p:tav tm="100000">
                                          <p:val>
                                            <p:strVal val="#ppt_x"/>
                                          </p:val>
                                        </p:tav>
                                      </p:tavLst>
                                    </p:anim>
                                    <p:anim calcmode="lin" valueType="num">
                                      <p:cBhvr additive="base">
                                        <p:cTn id="80" dur="500" fill="hold"/>
                                        <p:tgtEl>
                                          <p:spTgt spid="55"/>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56"/>
                                        </p:tgtEl>
                                        <p:attrNameLst>
                                          <p:attrName>style.visibility</p:attrName>
                                        </p:attrNameLst>
                                      </p:cBhvr>
                                      <p:to>
                                        <p:strVal val="visible"/>
                                      </p:to>
                                    </p:set>
                                    <p:anim calcmode="lin" valueType="num">
                                      <p:cBhvr additive="base">
                                        <p:cTn id="83" dur="500" fill="hold"/>
                                        <p:tgtEl>
                                          <p:spTgt spid="56"/>
                                        </p:tgtEl>
                                        <p:attrNameLst>
                                          <p:attrName>ppt_x</p:attrName>
                                        </p:attrNameLst>
                                      </p:cBhvr>
                                      <p:tavLst>
                                        <p:tav tm="0">
                                          <p:val>
                                            <p:strVal val="#ppt_x"/>
                                          </p:val>
                                        </p:tav>
                                        <p:tav tm="100000">
                                          <p:val>
                                            <p:strVal val="#ppt_x"/>
                                          </p:val>
                                        </p:tav>
                                      </p:tavLst>
                                    </p:anim>
                                    <p:anim calcmode="lin" valueType="num">
                                      <p:cBhvr additive="base">
                                        <p:cTn id="84" dur="500" fill="hold"/>
                                        <p:tgtEl>
                                          <p:spTgt spid="56"/>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57"/>
                                        </p:tgtEl>
                                        <p:attrNameLst>
                                          <p:attrName>style.visibility</p:attrName>
                                        </p:attrNameLst>
                                      </p:cBhvr>
                                      <p:to>
                                        <p:strVal val="visible"/>
                                      </p:to>
                                    </p:set>
                                    <p:anim calcmode="lin" valueType="num">
                                      <p:cBhvr additive="base">
                                        <p:cTn id="87" dur="500" fill="hold"/>
                                        <p:tgtEl>
                                          <p:spTgt spid="57"/>
                                        </p:tgtEl>
                                        <p:attrNameLst>
                                          <p:attrName>ppt_x</p:attrName>
                                        </p:attrNameLst>
                                      </p:cBhvr>
                                      <p:tavLst>
                                        <p:tav tm="0">
                                          <p:val>
                                            <p:strVal val="#ppt_x"/>
                                          </p:val>
                                        </p:tav>
                                        <p:tav tm="100000">
                                          <p:val>
                                            <p:strVal val="#ppt_x"/>
                                          </p:val>
                                        </p:tav>
                                      </p:tavLst>
                                    </p:anim>
                                    <p:anim calcmode="lin" valueType="num">
                                      <p:cBhvr additive="base">
                                        <p:cTn id="88" dur="500" fill="hold"/>
                                        <p:tgtEl>
                                          <p:spTgt spid="57"/>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58"/>
                                        </p:tgtEl>
                                        <p:attrNameLst>
                                          <p:attrName>style.visibility</p:attrName>
                                        </p:attrNameLst>
                                      </p:cBhvr>
                                      <p:to>
                                        <p:strVal val="visible"/>
                                      </p:to>
                                    </p:set>
                                    <p:anim calcmode="lin" valueType="num">
                                      <p:cBhvr additive="base">
                                        <p:cTn id="91" dur="500" fill="hold"/>
                                        <p:tgtEl>
                                          <p:spTgt spid="58"/>
                                        </p:tgtEl>
                                        <p:attrNameLst>
                                          <p:attrName>ppt_x</p:attrName>
                                        </p:attrNameLst>
                                      </p:cBhvr>
                                      <p:tavLst>
                                        <p:tav tm="0">
                                          <p:val>
                                            <p:strVal val="#ppt_x"/>
                                          </p:val>
                                        </p:tav>
                                        <p:tav tm="100000">
                                          <p:val>
                                            <p:strVal val="#ppt_x"/>
                                          </p:val>
                                        </p:tav>
                                      </p:tavLst>
                                    </p:anim>
                                    <p:anim calcmode="lin" valueType="num">
                                      <p:cBhvr additive="base">
                                        <p:cTn id="92" dur="500" fill="hold"/>
                                        <p:tgtEl>
                                          <p:spTgt spid="58"/>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9"/>
                                        </p:tgtEl>
                                        <p:attrNameLst>
                                          <p:attrName>style.visibility</p:attrName>
                                        </p:attrNameLst>
                                      </p:cBhvr>
                                      <p:to>
                                        <p:strVal val="visible"/>
                                      </p:to>
                                    </p:set>
                                    <p:anim calcmode="lin" valueType="num">
                                      <p:cBhvr additive="base">
                                        <p:cTn id="95" dur="500" fill="hold"/>
                                        <p:tgtEl>
                                          <p:spTgt spid="59"/>
                                        </p:tgtEl>
                                        <p:attrNameLst>
                                          <p:attrName>ppt_x</p:attrName>
                                        </p:attrNameLst>
                                      </p:cBhvr>
                                      <p:tavLst>
                                        <p:tav tm="0">
                                          <p:val>
                                            <p:strVal val="#ppt_x"/>
                                          </p:val>
                                        </p:tav>
                                        <p:tav tm="100000">
                                          <p:val>
                                            <p:strVal val="#ppt_x"/>
                                          </p:val>
                                        </p:tav>
                                      </p:tavLst>
                                    </p:anim>
                                    <p:anim calcmode="lin" valueType="num">
                                      <p:cBhvr additive="base">
                                        <p:cTn id="96" dur="500" fill="hold"/>
                                        <p:tgtEl>
                                          <p:spTgt spid="59"/>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60"/>
                                        </p:tgtEl>
                                        <p:attrNameLst>
                                          <p:attrName>style.visibility</p:attrName>
                                        </p:attrNameLst>
                                      </p:cBhvr>
                                      <p:to>
                                        <p:strVal val="visible"/>
                                      </p:to>
                                    </p:set>
                                    <p:anim calcmode="lin" valueType="num">
                                      <p:cBhvr additive="base">
                                        <p:cTn id="99" dur="500" fill="hold"/>
                                        <p:tgtEl>
                                          <p:spTgt spid="60"/>
                                        </p:tgtEl>
                                        <p:attrNameLst>
                                          <p:attrName>ppt_x</p:attrName>
                                        </p:attrNameLst>
                                      </p:cBhvr>
                                      <p:tavLst>
                                        <p:tav tm="0">
                                          <p:val>
                                            <p:strVal val="#ppt_x"/>
                                          </p:val>
                                        </p:tav>
                                        <p:tav tm="100000">
                                          <p:val>
                                            <p:strVal val="#ppt_x"/>
                                          </p:val>
                                        </p:tav>
                                      </p:tavLst>
                                    </p:anim>
                                    <p:anim calcmode="lin" valueType="num">
                                      <p:cBhvr additive="base">
                                        <p:cTn id="100" dur="500" fill="hold"/>
                                        <p:tgtEl>
                                          <p:spTgt spid="60"/>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61"/>
                                        </p:tgtEl>
                                        <p:attrNameLst>
                                          <p:attrName>style.visibility</p:attrName>
                                        </p:attrNameLst>
                                      </p:cBhvr>
                                      <p:to>
                                        <p:strVal val="visible"/>
                                      </p:to>
                                    </p:set>
                                    <p:anim calcmode="lin" valueType="num">
                                      <p:cBhvr additive="base">
                                        <p:cTn id="103" dur="500" fill="hold"/>
                                        <p:tgtEl>
                                          <p:spTgt spid="61"/>
                                        </p:tgtEl>
                                        <p:attrNameLst>
                                          <p:attrName>ppt_x</p:attrName>
                                        </p:attrNameLst>
                                      </p:cBhvr>
                                      <p:tavLst>
                                        <p:tav tm="0">
                                          <p:val>
                                            <p:strVal val="#ppt_x"/>
                                          </p:val>
                                        </p:tav>
                                        <p:tav tm="100000">
                                          <p:val>
                                            <p:strVal val="#ppt_x"/>
                                          </p:val>
                                        </p:tav>
                                      </p:tavLst>
                                    </p:anim>
                                    <p:anim calcmode="lin" valueType="num">
                                      <p:cBhvr additive="base">
                                        <p:cTn id="104" dur="500" fill="hold"/>
                                        <p:tgtEl>
                                          <p:spTgt spid="61"/>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62"/>
                                        </p:tgtEl>
                                        <p:attrNameLst>
                                          <p:attrName>style.visibility</p:attrName>
                                        </p:attrNameLst>
                                      </p:cBhvr>
                                      <p:to>
                                        <p:strVal val="visible"/>
                                      </p:to>
                                    </p:set>
                                    <p:anim calcmode="lin" valueType="num">
                                      <p:cBhvr additive="base">
                                        <p:cTn id="107" dur="500" fill="hold"/>
                                        <p:tgtEl>
                                          <p:spTgt spid="62"/>
                                        </p:tgtEl>
                                        <p:attrNameLst>
                                          <p:attrName>ppt_x</p:attrName>
                                        </p:attrNameLst>
                                      </p:cBhvr>
                                      <p:tavLst>
                                        <p:tav tm="0">
                                          <p:val>
                                            <p:strVal val="#ppt_x"/>
                                          </p:val>
                                        </p:tav>
                                        <p:tav tm="100000">
                                          <p:val>
                                            <p:strVal val="#ppt_x"/>
                                          </p:val>
                                        </p:tav>
                                      </p:tavLst>
                                    </p:anim>
                                    <p:anim calcmode="lin" valueType="num">
                                      <p:cBhvr additive="base">
                                        <p:cTn id="108" dur="500" fill="hold"/>
                                        <p:tgtEl>
                                          <p:spTgt spid="62"/>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63"/>
                                        </p:tgtEl>
                                        <p:attrNameLst>
                                          <p:attrName>style.visibility</p:attrName>
                                        </p:attrNameLst>
                                      </p:cBhvr>
                                      <p:to>
                                        <p:strVal val="visible"/>
                                      </p:to>
                                    </p:set>
                                    <p:anim calcmode="lin" valueType="num">
                                      <p:cBhvr additive="base">
                                        <p:cTn id="111" dur="500" fill="hold"/>
                                        <p:tgtEl>
                                          <p:spTgt spid="63"/>
                                        </p:tgtEl>
                                        <p:attrNameLst>
                                          <p:attrName>ppt_x</p:attrName>
                                        </p:attrNameLst>
                                      </p:cBhvr>
                                      <p:tavLst>
                                        <p:tav tm="0">
                                          <p:val>
                                            <p:strVal val="#ppt_x"/>
                                          </p:val>
                                        </p:tav>
                                        <p:tav tm="100000">
                                          <p:val>
                                            <p:strVal val="#ppt_x"/>
                                          </p:val>
                                        </p:tav>
                                      </p:tavLst>
                                    </p:anim>
                                    <p:anim calcmode="lin" valueType="num">
                                      <p:cBhvr additive="base">
                                        <p:cTn id="112" dur="500" fill="hold"/>
                                        <p:tgtEl>
                                          <p:spTgt spid="63"/>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64"/>
                                        </p:tgtEl>
                                        <p:attrNameLst>
                                          <p:attrName>style.visibility</p:attrName>
                                        </p:attrNameLst>
                                      </p:cBhvr>
                                      <p:to>
                                        <p:strVal val="visible"/>
                                      </p:to>
                                    </p:set>
                                    <p:anim calcmode="lin" valueType="num">
                                      <p:cBhvr additive="base">
                                        <p:cTn id="115" dur="500" fill="hold"/>
                                        <p:tgtEl>
                                          <p:spTgt spid="64"/>
                                        </p:tgtEl>
                                        <p:attrNameLst>
                                          <p:attrName>ppt_x</p:attrName>
                                        </p:attrNameLst>
                                      </p:cBhvr>
                                      <p:tavLst>
                                        <p:tav tm="0">
                                          <p:val>
                                            <p:strVal val="#ppt_x"/>
                                          </p:val>
                                        </p:tav>
                                        <p:tav tm="100000">
                                          <p:val>
                                            <p:strVal val="#ppt_x"/>
                                          </p:val>
                                        </p:tav>
                                      </p:tavLst>
                                    </p:anim>
                                    <p:anim calcmode="lin" valueType="num">
                                      <p:cBhvr additive="base">
                                        <p:cTn id="116" dur="500" fill="hold"/>
                                        <p:tgtEl>
                                          <p:spTgt spid="64"/>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65"/>
                                        </p:tgtEl>
                                        <p:attrNameLst>
                                          <p:attrName>style.visibility</p:attrName>
                                        </p:attrNameLst>
                                      </p:cBhvr>
                                      <p:to>
                                        <p:strVal val="visible"/>
                                      </p:to>
                                    </p:set>
                                    <p:anim calcmode="lin" valueType="num">
                                      <p:cBhvr additive="base">
                                        <p:cTn id="119" dur="500" fill="hold"/>
                                        <p:tgtEl>
                                          <p:spTgt spid="65"/>
                                        </p:tgtEl>
                                        <p:attrNameLst>
                                          <p:attrName>ppt_x</p:attrName>
                                        </p:attrNameLst>
                                      </p:cBhvr>
                                      <p:tavLst>
                                        <p:tav tm="0">
                                          <p:val>
                                            <p:strVal val="#ppt_x"/>
                                          </p:val>
                                        </p:tav>
                                        <p:tav tm="100000">
                                          <p:val>
                                            <p:strVal val="#ppt_x"/>
                                          </p:val>
                                        </p:tav>
                                      </p:tavLst>
                                    </p:anim>
                                    <p:anim calcmode="lin" valueType="num">
                                      <p:cBhvr additive="base">
                                        <p:cTn id="120" dur="500" fill="hold"/>
                                        <p:tgtEl>
                                          <p:spTgt spid="65"/>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66"/>
                                        </p:tgtEl>
                                        <p:attrNameLst>
                                          <p:attrName>style.visibility</p:attrName>
                                        </p:attrNameLst>
                                      </p:cBhvr>
                                      <p:to>
                                        <p:strVal val="visible"/>
                                      </p:to>
                                    </p:set>
                                    <p:anim calcmode="lin" valueType="num">
                                      <p:cBhvr additive="base">
                                        <p:cTn id="123" dur="500" fill="hold"/>
                                        <p:tgtEl>
                                          <p:spTgt spid="66"/>
                                        </p:tgtEl>
                                        <p:attrNameLst>
                                          <p:attrName>ppt_x</p:attrName>
                                        </p:attrNameLst>
                                      </p:cBhvr>
                                      <p:tavLst>
                                        <p:tav tm="0">
                                          <p:val>
                                            <p:strVal val="#ppt_x"/>
                                          </p:val>
                                        </p:tav>
                                        <p:tav tm="100000">
                                          <p:val>
                                            <p:strVal val="#ppt_x"/>
                                          </p:val>
                                        </p:tav>
                                      </p:tavLst>
                                    </p:anim>
                                    <p:anim calcmode="lin" valueType="num">
                                      <p:cBhvr additive="base">
                                        <p:cTn id="124" dur="500" fill="hold"/>
                                        <p:tgtEl>
                                          <p:spTgt spid="66"/>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67"/>
                                        </p:tgtEl>
                                        <p:attrNameLst>
                                          <p:attrName>style.visibility</p:attrName>
                                        </p:attrNameLst>
                                      </p:cBhvr>
                                      <p:to>
                                        <p:strVal val="visible"/>
                                      </p:to>
                                    </p:set>
                                    <p:anim calcmode="lin" valueType="num">
                                      <p:cBhvr additive="base">
                                        <p:cTn id="127" dur="500" fill="hold"/>
                                        <p:tgtEl>
                                          <p:spTgt spid="67"/>
                                        </p:tgtEl>
                                        <p:attrNameLst>
                                          <p:attrName>ppt_x</p:attrName>
                                        </p:attrNameLst>
                                      </p:cBhvr>
                                      <p:tavLst>
                                        <p:tav tm="0">
                                          <p:val>
                                            <p:strVal val="#ppt_x"/>
                                          </p:val>
                                        </p:tav>
                                        <p:tav tm="100000">
                                          <p:val>
                                            <p:strVal val="#ppt_x"/>
                                          </p:val>
                                        </p:tav>
                                      </p:tavLst>
                                    </p:anim>
                                    <p:anim calcmode="lin" valueType="num">
                                      <p:cBhvr additive="base">
                                        <p:cTn id="128" dur="500" fill="hold"/>
                                        <p:tgtEl>
                                          <p:spTgt spid="67"/>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68"/>
                                        </p:tgtEl>
                                        <p:attrNameLst>
                                          <p:attrName>style.visibility</p:attrName>
                                        </p:attrNameLst>
                                      </p:cBhvr>
                                      <p:to>
                                        <p:strVal val="visible"/>
                                      </p:to>
                                    </p:set>
                                    <p:anim calcmode="lin" valueType="num">
                                      <p:cBhvr additive="base">
                                        <p:cTn id="131" dur="500" fill="hold"/>
                                        <p:tgtEl>
                                          <p:spTgt spid="68"/>
                                        </p:tgtEl>
                                        <p:attrNameLst>
                                          <p:attrName>ppt_x</p:attrName>
                                        </p:attrNameLst>
                                      </p:cBhvr>
                                      <p:tavLst>
                                        <p:tav tm="0">
                                          <p:val>
                                            <p:strVal val="#ppt_x"/>
                                          </p:val>
                                        </p:tav>
                                        <p:tav tm="100000">
                                          <p:val>
                                            <p:strVal val="#ppt_x"/>
                                          </p:val>
                                        </p:tav>
                                      </p:tavLst>
                                    </p:anim>
                                    <p:anim calcmode="lin" valueType="num">
                                      <p:cBhvr additive="base">
                                        <p:cTn id="132" dur="500" fill="hold"/>
                                        <p:tgtEl>
                                          <p:spTgt spid="68"/>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69"/>
                                        </p:tgtEl>
                                        <p:attrNameLst>
                                          <p:attrName>style.visibility</p:attrName>
                                        </p:attrNameLst>
                                      </p:cBhvr>
                                      <p:to>
                                        <p:strVal val="visible"/>
                                      </p:to>
                                    </p:set>
                                    <p:anim calcmode="lin" valueType="num">
                                      <p:cBhvr additive="base">
                                        <p:cTn id="135" dur="500" fill="hold"/>
                                        <p:tgtEl>
                                          <p:spTgt spid="69"/>
                                        </p:tgtEl>
                                        <p:attrNameLst>
                                          <p:attrName>ppt_x</p:attrName>
                                        </p:attrNameLst>
                                      </p:cBhvr>
                                      <p:tavLst>
                                        <p:tav tm="0">
                                          <p:val>
                                            <p:strVal val="#ppt_x"/>
                                          </p:val>
                                        </p:tav>
                                        <p:tav tm="100000">
                                          <p:val>
                                            <p:strVal val="#ppt_x"/>
                                          </p:val>
                                        </p:tav>
                                      </p:tavLst>
                                    </p:anim>
                                    <p:anim calcmode="lin" valueType="num">
                                      <p:cBhvr additive="base">
                                        <p:cTn id="136"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9" grpId="0" bldLvl="0" animBg="1"/>
      <p:bldP spid="10" grpId="0" bldLvl="0" animBg="1"/>
      <p:bldP spid="25" grpId="0" bldLvl="0" animBg="1"/>
      <p:bldP spid="29" grpId="0"/>
      <p:bldP spid="47" grpId="0" bldLvl="0" animBg="1"/>
      <p:bldP spid="49" grpId="0" bldLvl="0" animBg="1"/>
      <p:bldP spid="50" grpId="0" bldLvl="0" animBg="1"/>
      <p:bldP spid="51" grpId="0" bldLvl="0" animBg="1"/>
      <p:bldP spid="52" grpId="0" bldLvl="0" animBg="1"/>
      <p:bldP spid="54" grpId="0" bldLvl="0" animBg="1"/>
      <p:bldP spid="56" grpId="0" bldLvl="0" animBg="1"/>
      <p:bldP spid="57" grpId="0" bldLvl="0" animBg="1"/>
      <p:bldP spid="58" grpId="0" bldLvl="0" animBg="1"/>
      <p:bldP spid="59" grpId="0" bldLvl="0" animBg="1"/>
      <p:bldP spid="61" grpId="0" bldLvl="0" animBg="1"/>
      <p:bldP spid="63" grpId="0" bldLvl="0" animBg="1"/>
      <p:bldP spid="64" grpId="0" bldLvl="0" animBg="1"/>
      <p:bldP spid="65" grpId="0" bldLvl="0" animBg="1"/>
      <p:bldP spid="66" grpId="0" bldLvl="0" animBg="1"/>
      <p:bldP spid="68" grpId="0" bldLvl="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散列的问题</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桶的数目</a:t>
            </a:r>
            <a:r>
              <a:rPr lang="en-US" altLang="zh-CN" sz="2000" b="0" dirty="0">
                <a:latin typeface="微软雅黑" panose="020B0503020204020204" pitchFamily="34" charset="-122"/>
                <a:ea typeface="微软雅黑" panose="020B0503020204020204" pitchFamily="34" charset="-122"/>
              </a:rPr>
              <a:t>M</a:t>
            </a:r>
            <a:r>
              <a:rPr lang="zh-CN" altLang="en-US" sz="2000" b="0" dirty="0">
                <a:latin typeface="微软雅黑" panose="020B0503020204020204" pitchFamily="34" charset="-122"/>
                <a:ea typeface="微软雅黑" panose="020B0503020204020204" pitchFamily="34" charset="-122"/>
              </a:rPr>
              <a:t>是固定值</a:t>
            </a:r>
            <a:r>
              <a:rPr lang="en-US" altLang="zh-CN" sz="2000" b="0" dirty="0">
                <a:latin typeface="微软雅黑" panose="020B0503020204020204" pitchFamily="34" charset="-122"/>
                <a:ea typeface="微软雅黑" panose="020B0503020204020204" pitchFamily="34" charset="-122"/>
              </a:rPr>
              <a:t>----</a:t>
            </a:r>
            <a:r>
              <a:rPr lang="zh-CN" altLang="en-US" sz="2000" b="0" dirty="0">
                <a:solidFill>
                  <a:srgbClr val="FF0000"/>
                </a:solidFill>
                <a:latin typeface="微软雅黑" panose="020B0503020204020204" pitchFamily="34" charset="-122"/>
                <a:ea typeface="微软雅黑" panose="020B0503020204020204" pitchFamily="34" charset="-122"/>
              </a:rPr>
              <a:t>静态散列索引</a:t>
            </a:r>
            <a:endParaRPr lang="zh-CN" altLang="en-US" sz="2000" b="0" dirty="0">
              <a:solidFill>
                <a:srgbClr val="FF0000"/>
              </a:solidFill>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如果桶的数目</a:t>
            </a:r>
            <a:r>
              <a:rPr lang="en-US" altLang="zh-CN" sz="1800" dirty="0">
                <a:latin typeface="微软雅黑" panose="020B0503020204020204" pitchFamily="34" charset="-122"/>
                <a:ea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rPr>
              <a:t>不变：</a:t>
            </a:r>
            <a:r>
              <a:rPr lang="en-US" altLang="zh-CN" sz="1800" dirty="0">
                <a:latin typeface="微软雅黑" panose="020B0503020204020204" pitchFamily="34" charset="-122"/>
                <a:ea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rPr>
              <a:t>过大，则浪费；</a:t>
            </a:r>
            <a:r>
              <a:rPr lang="en-US" altLang="zh-CN" sz="1800" dirty="0">
                <a:latin typeface="微软雅黑" panose="020B0503020204020204" pitchFamily="34" charset="-122"/>
                <a:ea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rPr>
              <a:t>过小，将产生更多的溢出桶，增加散列索引检索的时间。</a:t>
            </a:r>
            <a:endParaRPr lang="zh-CN" altLang="en-US" sz="18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1800" b="0" dirty="0">
                <a:latin typeface="微软雅黑" panose="020B0503020204020204" pitchFamily="34" charset="-122"/>
                <a:ea typeface="微软雅黑" panose="020B0503020204020204" pitchFamily="34" charset="-122"/>
              </a:rPr>
              <a:t>桶的数目随键值增多，动态增加</a:t>
            </a:r>
            <a:r>
              <a:rPr lang="en-US" altLang="zh-CN" sz="1800" b="0" dirty="0">
                <a:latin typeface="微软雅黑" panose="020B0503020204020204" pitchFamily="34" charset="-122"/>
                <a:ea typeface="微软雅黑" panose="020B0503020204020204" pitchFamily="34" charset="-122"/>
              </a:rPr>
              <a:t>----</a:t>
            </a:r>
            <a:r>
              <a:rPr lang="zh-CN" altLang="en-US" sz="1800" b="0" dirty="0">
                <a:solidFill>
                  <a:srgbClr val="FF0000"/>
                </a:solidFill>
                <a:latin typeface="微软雅黑" panose="020B0503020204020204" pitchFamily="34" charset="-122"/>
                <a:ea typeface="微软雅黑" panose="020B0503020204020204" pitchFamily="34" charset="-122"/>
              </a:rPr>
              <a:t>动态散列索引</a:t>
            </a:r>
            <a:endParaRPr lang="zh-CN" altLang="en-US" sz="1800" b="0" dirty="0">
              <a:solidFill>
                <a:srgbClr val="FF0000"/>
              </a:solidFill>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en-US" altLang="zh-CN" sz="1800" dirty="0">
                <a:latin typeface="微软雅黑" panose="020B0503020204020204" pitchFamily="34" charset="-122"/>
                <a:ea typeface="微软雅黑" panose="020B0503020204020204" pitchFamily="34" charset="-122"/>
              </a:rPr>
              <a:t>h(k)</a:t>
            </a:r>
            <a:r>
              <a:rPr lang="zh-CN" altLang="en-US" sz="1800" dirty="0">
                <a:latin typeface="微软雅黑" panose="020B0503020204020204" pitchFamily="34" charset="-122"/>
                <a:ea typeface="微软雅黑" panose="020B0503020204020204" pitchFamily="34" charset="-122"/>
              </a:rPr>
              <a:t>是和桶的数目</a:t>
            </a:r>
            <a:r>
              <a:rPr lang="en-US" altLang="zh-CN" sz="1800" dirty="0">
                <a:latin typeface="微软雅黑" panose="020B0503020204020204" pitchFamily="34" charset="-122"/>
                <a:ea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rPr>
              <a:t>相关的。</a:t>
            </a:r>
            <a:r>
              <a:rPr lang="en-US" altLang="zh-CN" sz="1800" dirty="0">
                <a:latin typeface="微软雅黑" panose="020B0503020204020204" pitchFamily="34" charset="-122"/>
                <a:ea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rPr>
              <a:t>的变化会否影响原来存储的内容呢？</a:t>
            </a:r>
            <a:endParaRPr lang="zh-CN" altLang="en-US" sz="18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是否需要将原来已经散列</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存储的数据按新的桶数重新进行散列</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存储呢？</a:t>
            </a:r>
            <a:endParaRPr lang="zh-CN" altLang="en-US" sz="180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pSp>
        <p:nvGrpSpPr>
          <p:cNvPr id="11" name="Group 7"/>
          <p:cNvGrpSpPr/>
          <p:nvPr/>
        </p:nvGrpSpPr>
        <p:grpSpPr>
          <a:xfrm>
            <a:off x="8120063" y="3429000"/>
            <a:ext cx="1665287" cy="1265237"/>
            <a:chOff x="3368" y="3555"/>
            <a:chExt cx="836" cy="705"/>
          </a:xfrm>
        </p:grpSpPr>
        <p:sp>
          <p:nvSpPr>
            <p:cNvPr id="12"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3" name="Oval 40"/>
            <p:cNvSpPr/>
            <p:nvPr/>
          </p:nvSpPr>
          <p:spPr>
            <a:xfrm>
              <a:off x="3437" y="3613"/>
              <a:ext cx="698" cy="588"/>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微软雅黑" panose="020B0503020204020204" pitchFamily="34" charset="-122"/>
              </a:endParaRPr>
            </a:p>
          </p:txBody>
        </p:sp>
        <p:sp>
          <p:nvSpPr>
            <p:cNvPr id="14" name="Text Box 84"/>
            <p:cNvSpPr txBox="1"/>
            <p:nvPr/>
          </p:nvSpPr>
          <p:spPr>
            <a:xfrm>
              <a:off x="3440" y="3686"/>
              <a:ext cx="691" cy="391"/>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微软雅黑" panose="020B0503020204020204" pitchFamily="34" charset="-122"/>
                </a:rPr>
                <a:t>这个如何处理呢？</a:t>
              </a:r>
              <a:endParaRPr lang="zh-CN" altLang="en-US" dirty="0">
                <a:solidFill>
                  <a:srgbClr val="FFFFFF"/>
                </a:solidFill>
                <a:latin typeface="Arial" panose="020B0604020202020204" pitchFamily="34" charset="0"/>
                <a:ea typeface="微软雅黑" panose="020B0503020204020204" pitchFamily="34" charset="-122"/>
              </a:endParaRPr>
            </a:p>
          </p:txBody>
        </p:sp>
      </p:grpSp>
      <p:pic>
        <p:nvPicPr>
          <p:cNvPr id="15" name="Picture 15"/>
          <p:cNvPicPr>
            <a:picLocks noChangeAspect="1"/>
          </p:cNvPicPr>
          <p:nvPr/>
        </p:nvPicPr>
        <p:blipFill>
          <a:blip r:embed="rId1">
            <a:clrChange>
              <a:clrFrom>
                <a:srgbClr val="FFFFFF"/>
              </a:clrFrom>
              <a:clrTo>
                <a:srgbClr val="FFFFFF">
                  <a:alpha val="0"/>
                </a:srgbClr>
              </a:clrTo>
            </a:clrChange>
          </a:blip>
          <a:stretch>
            <a:fillRect/>
          </a:stretch>
        </p:blipFill>
        <p:spPr>
          <a:xfrm>
            <a:off x="2970213" y="4203700"/>
            <a:ext cx="5353050" cy="2000250"/>
          </a:xfrm>
          <a:prstGeom prst="rect">
            <a:avLst/>
          </a:prstGeom>
          <a:noFill/>
          <a:ln w="9525" cap="flat" cmpd="sng">
            <a:solidFill>
              <a:schemeClr val="tx1"/>
            </a:solidFill>
            <a:prstDash val="solid"/>
            <a:miter/>
            <a:headEnd type="none" w="med" len="med"/>
            <a:tailEnd type="none" w="med" len="med"/>
          </a:ln>
        </p:spPr>
      </p:pic>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(1) </a:t>
            </a:r>
            <a:r>
              <a:rPr lang="zh-CN" altLang="en-US" sz="2600" dirty="0">
                <a:latin typeface="微软雅黑" panose="020B0503020204020204" pitchFamily="34" charset="-122"/>
                <a:ea typeface="微软雅黑" panose="020B0503020204020204" pitchFamily="34" charset="-122"/>
              </a:rPr>
              <a:t>拟解决的问题</a:t>
            </a:r>
            <a:endParaRPr lang="zh-CN" altLang="en-US"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桶的数目</a:t>
            </a:r>
            <a:r>
              <a:rPr lang="en-US" altLang="zh-CN" sz="2000" b="0" dirty="0">
                <a:latin typeface="微软雅黑" panose="020B0503020204020204" pitchFamily="34" charset="-122"/>
                <a:ea typeface="微软雅黑" panose="020B0503020204020204" pitchFamily="34" charset="-122"/>
              </a:rPr>
              <a:t>M</a:t>
            </a:r>
            <a:r>
              <a:rPr lang="zh-CN" altLang="en-US" sz="2000" b="0" dirty="0">
                <a:latin typeface="微软雅黑" panose="020B0503020204020204" pitchFamily="34" charset="-122"/>
                <a:ea typeface="微软雅黑" panose="020B0503020204020204" pitchFamily="34" charset="-122"/>
              </a:rPr>
              <a:t>是固定值</a:t>
            </a:r>
            <a:r>
              <a:rPr lang="en-US" altLang="zh-CN" sz="2000" b="0" dirty="0">
                <a:latin typeface="微软雅黑" panose="020B0503020204020204" pitchFamily="34" charset="-122"/>
                <a:ea typeface="微软雅黑" panose="020B0503020204020204" pitchFamily="34" charset="-122"/>
              </a:rPr>
              <a:t>----</a:t>
            </a:r>
            <a:r>
              <a:rPr lang="zh-CN" altLang="en-US" sz="2000" b="0" dirty="0">
                <a:solidFill>
                  <a:srgbClr val="FF0000"/>
                </a:solidFill>
                <a:latin typeface="微软雅黑" panose="020B0503020204020204" pitchFamily="34" charset="-122"/>
                <a:ea typeface="微软雅黑" panose="020B0503020204020204" pitchFamily="34" charset="-122"/>
              </a:rPr>
              <a:t>静态散列索引</a:t>
            </a:r>
            <a:endParaRPr lang="zh-CN" altLang="en-US" sz="2000" b="0" dirty="0">
              <a:solidFill>
                <a:srgbClr val="FF0000"/>
              </a:solidFill>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如果桶的数目</a:t>
            </a:r>
            <a:r>
              <a:rPr lang="en-US" altLang="zh-CN" sz="1800" dirty="0">
                <a:latin typeface="微软雅黑" panose="020B0503020204020204" pitchFamily="34" charset="-122"/>
                <a:ea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rPr>
              <a:t>不变：</a:t>
            </a:r>
            <a:r>
              <a:rPr lang="en-US" altLang="zh-CN" sz="1800" dirty="0">
                <a:latin typeface="微软雅黑" panose="020B0503020204020204" pitchFamily="34" charset="-122"/>
                <a:ea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rPr>
              <a:t>过大，则浪费；</a:t>
            </a:r>
            <a:r>
              <a:rPr lang="en-US" altLang="zh-CN" sz="1800" dirty="0">
                <a:latin typeface="微软雅黑" panose="020B0503020204020204" pitchFamily="34" charset="-122"/>
                <a:ea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rPr>
              <a:t>过小，将产生更多的溢出桶，增加散列索引检索的时间。</a:t>
            </a:r>
            <a:endParaRPr lang="zh-CN" altLang="en-US" sz="18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1800" b="0" dirty="0">
                <a:latin typeface="微软雅黑" panose="020B0503020204020204" pitchFamily="34" charset="-122"/>
                <a:ea typeface="微软雅黑" panose="020B0503020204020204" pitchFamily="34" charset="-122"/>
              </a:rPr>
              <a:t>桶的数目随键值增多，动态增加</a:t>
            </a:r>
            <a:r>
              <a:rPr lang="en-US" altLang="zh-CN" sz="1800" b="0" dirty="0">
                <a:latin typeface="微软雅黑" panose="020B0503020204020204" pitchFamily="34" charset="-122"/>
                <a:ea typeface="微软雅黑" panose="020B0503020204020204" pitchFamily="34" charset="-122"/>
              </a:rPr>
              <a:t>----</a:t>
            </a:r>
            <a:r>
              <a:rPr lang="zh-CN" altLang="en-US" sz="1800" b="0" dirty="0">
                <a:solidFill>
                  <a:srgbClr val="FF0000"/>
                </a:solidFill>
                <a:latin typeface="微软雅黑" panose="020B0503020204020204" pitchFamily="34" charset="-122"/>
                <a:ea typeface="微软雅黑" panose="020B0503020204020204" pitchFamily="34" charset="-122"/>
              </a:rPr>
              <a:t>动态散列索引</a:t>
            </a:r>
            <a:endParaRPr lang="zh-CN" altLang="en-US" sz="1800" b="0" dirty="0">
              <a:solidFill>
                <a:srgbClr val="FF0000"/>
              </a:solidFill>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en-US" altLang="zh-CN" sz="1800" dirty="0">
                <a:latin typeface="微软雅黑" panose="020B0503020204020204" pitchFamily="34" charset="-122"/>
                <a:ea typeface="微软雅黑" panose="020B0503020204020204" pitchFamily="34" charset="-122"/>
              </a:rPr>
              <a:t>h(k)</a:t>
            </a:r>
            <a:r>
              <a:rPr lang="zh-CN" altLang="en-US" sz="1800" dirty="0">
                <a:latin typeface="微软雅黑" panose="020B0503020204020204" pitchFamily="34" charset="-122"/>
                <a:ea typeface="微软雅黑" panose="020B0503020204020204" pitchFamily="34" charset="-122"/>
              </a:rPr>
              <a:t>是和桶的数目</a:t>
            </a:r>
            <a:r>
              <a:rPr lang="en-US" altLang="zh-CN" sz="1800" dirty="0">
                <a:latin typeface="微软雅黑" panose="020B0503020204020204" pitchFamily="34" charset="-122"/>
                <a:ea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rPr>
              <a:t>相关的。</a:t>
            </a:r>
            <a:r>
              <a:rPr lang="en-US" altLang="zh-CN" sz="1800" dirty="0">
                <a:latin typeface="微软雅黑" panose="020B0503020204020204" pitchFamily="34" charset="-122"/>
                <a:ea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rPr>
              <a:t>的变化会否影响原来存储的内容呢？</a:t>
            </a:r>
            <a:endParaRPr lang="zh-CN" altLang="en-US" sz="18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是否需要将原来已经散列</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存储的数据按新的桶数重新进行散列</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存储呢？</a:t>
            </a:r>
            <a:endParaRPr lang="zh-CN" altLang="en-US" sz="180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-可扩展散列索引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4" name="文本框 3"/>
          <p:cNvSpPr txBox="1"/>
          <p:nvPr/>
        </p:nvSpPr>
        <p:spPr>
          <a:xfrm>
            <a:off x="2760933" y="4409771"/>
            <a:ext cx="6149974" cy="1006558"/>
          </a:xfrm>
          <a:prstGeom prst="rect">
            <a:avLst/>
          </a:prstGeom>
          <a:noFill/>
        </p:spPr>
        <p:txBody>
          <a:bodyPr wrap="square">
            <a:spAutoFit/>
          </a:bodyPr>
          <a:lstStyle/>
          <a:p>
            <a:pPr lvl="2" indent="0" eaLnBrk="1" hangingPunct="1">
              <a:lnSpc>
                <a:spcPct val="110000"/>
              </a:lnSpc>
              <a:buFont typeface="Wingdings" panose="05000000000000000000" pitchFamily="2" charset="2"/>
              <a:buChar char="n"/>
            </a:pPr>
            <a:r>
              <a:rPr lang="zh-CN" altLang="en-US" sz="2800" dirty="0">
                <a:solidFill>
                  <a:srgbClr val="CC0000"/>
                </a:solidFill>
                <a:latin typeface="Arial" panose="020B0604020202020204" pitchFamily="34" charset="0"/>
                <a:ea typeface="微软雅黑" panose="020B0503020204020204" pitchFamily="34" charset="-122"/>
              </a:rPr>
              <a:t>可扩展散列索引</a:t>
            </a:r>
            <a:endParaRPr lang="zh-CN" altLang="en-US" sz="2800" dirty="0">
              <a:solidFill>
                <a:srgbClr val="CC0000"/>
              </a:solidFill>
              <a:latin typeface="Arial" panose="020B0604020202020204" pitchFamily="34" charset="0"/>
              <a:ea typeface="微软雅黑" panose="020B0503020204020204" pitchFamily="34" charset="-122"/>
            </a:endParaRPr>
          </a:p>
          <a:p>
            <a:pPr lvl="2" indent="0" eaLnBrk="1" hangingPunct="1">
              <a:lnSpc>
                <a:spcPct val="110000"/>
              </a:lnSpc>
              <a:buFont typeface="Wingdings" panose="05000000000000000000" pitchFamily="2" charset="2"/>
              <a:buChar char="n"/>
            </a:pPr>
            <a:r>
              <a:rPr lang="zh-CN" altLang="en-US" sz="2800" dirty="0">
                <a:latin typeface="Arial" panose="020B0604020202020204" pitchFamily="34" charset="0"/>
                <a:ea typeface="微软雅黑" panose="020B0503020204020204" pitchFamily="34" charset="-122"/>
              </a:rPr>
              <a:t>线性散列索引</a:t>
            </a:r>
            <a:endParaRPr lang="zh-CN" altLang="en-US" sz="2800" dirty="0">
              <a:latin typeface="Arial" panose="020B0604020202020204" pitchFamily="34" charset="0"/>
              <a:ea typeface="微软雅黑" panose="020B0503020204020204" pitchFamily="34" charset="-122"/>
            </a:endParaRPr>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基本思想</a:t>
                </a:r>
                <a:endParaRPr lang="en-US" altLang="zh-CN" sz="2600" dirty="0">
                  <a:latin typeface="微软雅黑" panose="020B0503020204020204" pitchFamily="34" charset="-122"/>
                  <a:ea typeface="微软雅黑" panose="020B0503020204020204" pitchFamily="34" charset="-122"/>
                </a:endParaRPr>
              </a:p>
              <a:p>
                <a:pPr marL="228600" lvl="1">
                  <a:lnSpc>
                    <a:spcPct val="15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为桶引入一间接层，即用一个指向块的指针数组来表示桶，而不是用数据块本身组成的数组来表示桶</a:t>
                </a:r>
                <a:endParaRPr lang="zh-CN" altLang="en-US" sz="1800" dirty="0">
                  <a:latin typeface="微软雅黑" panose="020B0503020204020204" pitchFamily="34" charset="-122"/>
                  <a:ea typeface="微软雅黑" panose="020B0503020204020204" pitchFamily="34" charset="-122"/>
                </a:endParaRPr>
              </a:p>
              <a:p>
                <a:pPr marL="228600" lvl="1">
                  <a:lnSpc>
                    <a:spcPct val="15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指针数组能增长，其长度总是</a:t>
                </a: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的幂。因而数组每增长一次，桶的数目就翻倍。不过，并非每个桶都有一个数据块；如果某些桶中的所有记录可以放在一个块中，则这些桶可能共享一个块。</a:t>
                </a:r>
                <a:endParaRPr lang="zh-CN" altLang="en-US" sz="1800" dirty="0">
                  <a:latin typeface="微软雅黑" panose="020B0503020204020204" pitchFamily="34" charset="-122"/>
                  <a:ea typeface="微软雅黑" panose="020B0503020204020204" pitchFamily="34" charset="-122"/>
                </a:endParaRPr>
              </a:p>
              <a:p>
                <a:pPr marL="228600" lvl="1">
                  <a:lnSpc>
                    <a:spcPct val="15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散列函数</a:t>
                </a:r>
                <a:r>
                  <a:rPr lang="en-US" altLang="zh-CN" sz="1800" dirty="0">
                    <a:latin typeface="微软雅黑" panose="020B0503020204020204" pitchFamily="34" charset="-122"/>
                    <a:ea typeface="微软雅黑" panose="020B0503020204020204" pitchFamily="34" charset="-122"/>
                  </a:rPr>
                  <a:t>h</a:t>
                </a:r>
                <a:r>
                  <a:rPr lang="zh-CN" altLang="en-US" sz="1800" dirty="0">
                    <a:latin typeface="微软雅黑" panose="020B0503020204020204" pitchFamily="34" charset="-122"/>
                    <a:ea typeface="微软雅黑" panose="020B0503020204020204" pitchFamily="34" charset="-122"/>
                  </a:rPr>
                  <a:t>为每个键计算出一个</a:t>
                </a:r>
                <a:r>
                  <a:rPr lang="en-US" altLang="zh-CN" sz="1800" dirty="0">
                    <a:latin typeface="微软雅黑" panose="020B0503020204020204" pitchFamily="34" charset="-122"/>
                    <a:ea typeface="微软雅黑" panose="020B0503020204020204" pitchFamily="34" charset="-122"/>
                  </a:rPr>
                  <a:t>K</a:t>
                </a:r>
                <a:r>
                  <a:rPr lang="zh-CN" altLang="en-US" sz="1800" dirty="0">
                    <a:latin typeface="微软雅黑" panose="020B0503020204020204" pitchFamily="34" charset="-122"/>
                    <a:ea typeface="微软雅黑" panose="020B0503020204020204" pitchFamily="34" charset="-122"/>
                  </a:rPr>
                  <a:t>位二进制序列，该</a:t>
                </a:r>
                <a:r>
                  <a:rPr lang="en-US" altLang="zh-CN" sz="1800" dirty="0">
                    <a:latin typeface="微软雅黑" panose="020B0503020204020204" pitchFamily="34" charset="-122"/>
                    <a:ea typeface="微软雅黑" panose="020B0503020204020204" pitchFamily="34" charset="-122"/>
                  </a:rPr>
                  <a:t>K</a:t>
                </a:r>
                <a:r>
                  <a:rPr lang="zh-CN" altLang="en-US" sz="1800" dirty="0">
                    <a:latin typeface="微软雅黑" panose="020B0503020204020204" pitchFamily="34" charset="-122"/>
                    <a:ea typeface="微软雅黑" panose="020B0503020204020204" pitchFamily="34" charset="-122"/>
                  </a:rPr>
                  <a:t>足够大，比如</a:t>
                </a:r>
                <a:r>
                  <a:rPr lang="en-US" altLang="zh-CN" sz="1800" dirty="0">
                    <a:latin typeface="微软雅黑" panose="020B0503020204020204" pitchFamily="34" charset="-122"/>
                    <a:ea typeface="微软雅黑" panose="020B0503020204020204" pitchFamily="34" charset="-122"/>
                  </a:rPr>
                  <a:t>32</a:t>
                </a:r>
                <a:r>
                  <a:rPr lang="zh-CN" altLang="en-US" sz="1800" dirty="0">
                    <a:latin typeface="微软雅黑" panose="020B0503020204020204" pitchFamily="34" charset="-122"/>
                    <a:ea typeface="微软雅黑" panose="020B0503020204020204" pitchFamily="34" charset="-122"/>
                  </a:rPr>
                  <a:t>。但是桶的数目总是使用从序列第一位或最后一位算起的若干位，此位数小于</a:t>
                </a:r>
                <a:r>
                  <a:rPr lang="en-US" altLang="zh-CN" sz="1800" dirty="0">
                    <a:latin typeface="微软雅黑" panose="020B0503020204020204" pitchFamily="34" charset="-122"/>
                    <a:ea typeface="微软雅黑" panose="020B0503020204020204" pitchFamily="34" charset="-122"/>
                  </a:rPr>
                  <a:t>K,</a:t>
                </a:r>
                <a:r>
                  <a:rPr lang="zh-CN" altLang="en-US" sz="1800" dirty="0">
                    <a:latin typeface="微软雅黑" panose="020B0503020204020204" pitchFamily="34" charset="-122"/>
                    <a:ea typeface="微软雅黑" panose="020B0503020204020204" pitchFamily="34" charset="-122"/>
                  </a:rPr>
                  <a:t>比如说</a:t>
                </a:r>
                <a:r>
                  <a:rPr lang="en-US" altLang="zh-CN" sz="1800" dirty="0" err="1">
                    <a:latin typeface="微软雅黑" panose="020B0503020204020204" pitchFamily="34" charset="-122"/>
                    <a:ea typeface="微软雅黑" panose="020B0503020204020204" pitchFamily="34" charset="-122"/>
                  </a:rPr>
                  <a:t>i</a:t>
                </a:r>
                <a:r>
                  <a:rPr lang="zh-CN" altLang="en-US" sz="1800" dirty="0">
                    <a:latin typeface="微软雅黑" panose="020B0503020204020204" pitchFamily="34" charset="-122"/>
                    <a:ea typeface="微软雅黑" panose="020B0503020204020204" pitchFamily="34" charset="-122"/>
                  </a:rPr>
                  <a:t>位。也就是说，当</a:t>
                </a:r>
                <a14:m>
                  <m:oMath xmlns:m="http://schemas.openxmlformats.org/officeDocument/2006/math">
                    <m:r>
                      <a:rPr lang="en-US" altLang="zh-CN" sz="1800" i="1" dirty="0">
                        <a:latin typeface="Cambria Math" panose="02040503050406030204" pitchFamily="18" charset="0"/>
                      </a:rPr>
                      <m:t>𝑖</m:t>
                    </m:r>
                  </m:oMath>
                </a14:m>
                <a:r>
                  <a:rPr lang="zh-CN" altLang="en-US" sz="1800" dirty="0">
                    <a:latin typeface="微软雅黑" panose="020B0503020204020204" pitchFamily="34" charset="-122"/>
                    <a:ea typeface="微软雅黑" panose="020B0503020204020204" pitchFamily="34" charset="-122"/>
                  </a:rPr>
                  <a:t>是使用的位数时，桶数组将有</a:t>
                </a:r>
                <a14:m>
                  <m:oMath xmlns:m="http://schemas.openxmlformats.org/officeDocument/2006/math">
                    <m:sSup>
                      <m:sSupPr>
                        <m:ctrlPr>
                          <a:rPr lang="en-US" altLang="zh-CN" sz="1800" i="1" dirty="0" smtClean="0">
                            <a:solidFill>
                              <a:srgbClr val="836967"/>
                            </a:solidFill>
                            <a:latin typeface="Cambria Math" panose="02040503050406030204" pitchFamily="18" charset="0"/>
                          </a:rPr>
                        </m:ctrlPr>
                      </m:sSupPr>
                      <m:e>
                        <m:r>
                          <a:rPr lang="en-US" altLang="zh-CN" sz="1800" b="0" dirty="0" smtClean="0">
                            <a:latin typeface="Cambria Math" panose="02040503050406030204" pitchFamily="18" charset="0"/>
                          </a:rPr>
                          <m:t>2</m:t>
                        </m:r>
                      </m:e>
                      <m:sup>
                        <m:r>
                          <a:rPr lang="en-US" altLang="zh-CN" sz="1800" i="1" dirty="0">
                            <a:latin typeface="Cambria Math" panose="02040503050406030204" pitchFamily="18" charset="0"/>
                          </a:rPr>
                          <m:t>𝑖</m:t>
                        </m:r>
                      </m:sup>
                    </m:sSup>
                  </m:oMath>
                </a14:m>
                <a:r>
                  <a:rPr lang="zh-CN" altLang="en-US" sz="1800" dirty="0">
                    <a:latin typeface="微软雅黑" panose="020B0503020204020204" pitchFamily="34" charset="-122"/>
                    <a:ea typeface="微软雅黑" panose="020B0503020204020204" pitchFamily="34" charset="-122"/>
                  </a:rPr>
                  <a:t>个项。</a:t>
                </a:r>
                <a:endParaRPr lang="zh-CN" altLang="en-US" sz="18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endParaRPr lang="zh-CN" altLang="en-US" sz="1800" b="1" dirty="0">
                  <a:latin typeface="微软雅黑" panose="020B0503020204020204" pitchFamily="34" charset="-122"/>
                  <a:ea typeface="微软雅黑" panose="020B0503020204020204" pitchFamily="34" charset="-122"/>
                </a:endParaRPr>
              </a:p>
            </p:txBody>
          </p:sp>
        </mc:Choice>
        <mc:Fallback>
          <p:sp>
            <p:nvSpPr>
              <p:cNvPr id="6" name="内容占位符 5"/>
              <p:cNvSpPr>
                <a:spLocks noRot="1" noChangeAspect="1" noMove="1" noResize="1" noEditPoints="1" noAdjustHandles="1" noChangeArrowheads="1" noChangeShapeType="1" noTextEdit="1"/>
              </p:cNvSpPr>
              <p:nvPr>
                <p:ph idx="1"/>
              </p:nvPr>
            </p:nvSpPr>
            <p:spPr>
              <a:xfrm>
                <a:off x="397163" y="1219203"/>
                <a:ext cx="11464632" cy="5061560"/>
              </a:xfrm>
              <a:blipFill rotWithShape="1">
                <a:blip r:embed="rId1"/>
                <a:stretch>
                  <a:fillRect l="-3" r="5" b="12"/>
                </a:stretch>
              </a:blipFill>
            </p:spPr>
            <p:txBody>
              <a:bodyPr/>
              <a:lstStyle/>
              <a:p>
                <a:r>
                  <a:rPr lang="zh-CN" altLang="en-US">
                    <a:noFill/>
                  </a:rPr>
                  <a:t> </a:t>
                </a:r>
              </a:p>
            </p:txBody>
          </p:sp>
        </mc:Fallback>
      </mc:AlternateContent>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-可扩展散列索引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基本思想示例</a:t>
                </a:r>
                <a:endParaRPr lang="en-US" altLang="zh-CN" sz="2600" dirty="0">
                  <a:latin typeface="微软雅黑" panose="020B0503020204020204" pitchFamily="34" charset="-122"/>
                  <a:ea typeface="微软雅黑" panose="020B0503020204020204" pitchFamily="34" charset="-122"/>
                </a:endParaRPr>
              </a:p>
              <a:p>
                <a:pPr>
                  <a:spcBef>
                    <a:spcPct val="20000"/>
                  </a:spcBef>
                  <a:buFont typeface="Wingdings" panose="05000000000000000000" pitchFamily="2" charset="2"/>
                  <a:buChar char="l"/>
                </a:pPr>
                <a:r>
                  <a:rPr lang="zh-CN" altLang="en-US" sz="2400" b="0" dirty="0">
                    <a:latin typeface="微软雅黑" panose="020B0503020204020204" pitchFamily="34" charset="-122"/>
                    <a:ea typeface="微软雅黑" panose="020B0503020204020204" pitchFamily="34" charset="-122"/>
                  </a:rPr>
                  <a:t>参数</a:t>
                </a:r>
                <a:r>
                  <a:rPr lang="en-US" altLang="zh-CN" sz="2400" b="0" dirty="0">
                    <a:latin typeface="微软雅黑" panose="020B0503020204020204" pitchFamily="34" charset="-122"/>
                    <a:ea typeface="微软雅黑" panose="020B0503020204020204" pitchFamily="34" charset="-122"/>
                  </a:rPr>
                  <a:t>k</a:t>
                </a:r>
                <a:endParaRPr lang="en-US" altLang="zh-CN" sz="2400" b="0" dirty="0">
                  <a:latin typeface="微软雅黑" panose="020B0503020204020204" pitchFamily="34" charset="-122"/>
                  <a:ea typeface="微软雅黑" panose="020B0503020204020204" pitchFamily="34" charset="-122"/>
                </a:endParaRPr>
              </a:p>
              <a:p>
                <a:pPr>
                  <a:spcBef>
                    <a:spcPct val="20000"/>
                  </a:spcBef>
                  <a:buFont typeface="Wingdings" panose="05000000000000000000" pitchFamily="2" charset="2"/>
                  <a:buChar char="l"/>
                </a:pPr>
                <a:r>
                  <a:rPr lang="zh-CN" altLang="en-US" sz="2400" b="0" dirty="0">
                    <a:latin typeface="微软雅黑" panose="020B0503020204020204" pitchFamily="34" charset="-122"/>
                    <a:ea typeface="微软雅黑" panose="020B0503020204020204" pitchFamily="34" charset="-122"/>
                  </a:rPr>
                  <a:t>参数</a:t>
                </a:r>
                <a14:m>
                  <m:oMath xmlns:m="http://schemas.openxmlformats.org/officeDocument/2006/math">
                    <m:r>
                      <a:rPr lang="en-US" altLang="zh-CN" sz="2400" b="0" i="1" dirty="0" smtClean="0">
                        <a:latin typeface="Cambria Math" panose="02040503050406030204" pitchFamily="18" charset="0"/>
                        <a:ea typeface="微软雅黑" panose="020B0503020204020204" pitchFamily="34" charset="-122"/>
                      </a:rPr>
                      <m:t>𝑖</m:t>
                    </m:r>
                  </m:oMath>
                </a14:m>
                <a:r>
                  <a:rPr lang="en-US" altLang="zh-CN" sz="2400" b="0" dirty="0">
                    <a:latin typeface="微软雅黑" panose="020B0503020204020204" pitchFamily="34" charset="-122"/>
                    <a:ea typeface="微软雅黑" panose="020B0503020204020204" pitchFamily="34" charset="-122"/>
                  </a:rPr>
                  <a:t>  </a:t>
                </a:r>
                <a:endParaRPr lang="en-US" altLang="zh-CN" sz="2400" b="0" dirty="0">
                  <a:latin typeface="微软雅黑" panose="020B0503020204020204" pitchFamily="34" charset="-122"/>
                  <a:ea typeface="微软雅黑" panose="020B0503020204020204" pitchFamily="34" charset="-122"/>
                </a:endParaRPr>
              </a:p>
              <a:p>
                <a:pPr>
                  <a:spcBef>
                    <a:spcPct val="20000"/>
                  </a:spcBef>
                  <a:buFont typeface="Wingdings" panose="05000000000000000000" pitchFamily="2" charset="2"/>
                  <a:buChar char="l"/>
                </a:pPr>
                <a:r>
                  <a:rPr lang="zh-CN" altLang="en-US" sz="2400" b="0" dirty="0">
                    <a:latin typeface="微软雅黑" panose="020B0503020204020204" pitchFamily="34" charset="-122"/>
                    <a:ea typeface="微软雅黑" panose="020B0503020204020204" pitchFamily="34" charset="-122"/>
                  </a:rPr>
                  <a:t>参数</a:t>
                </a:r>
                <a:r>
                  <a:rPr lang="en-US" altLang="zh-CN" sz="2400" b="0" dirty="0"/>
                  <a:t>n=</a:t>
                </a:r>
                <a14:m>
                  <m:oMath xmlns:m="http://schemas.openxmlformats.org/officeDocument/2006/math">
                    <m:sSup>
                      <m:sSupPr>
                        <m:ctrlPr>
                          <a:rPr lang="en-US" altLang="zh-CN" sz="2400" b="0" i="1" dirty="0" smtClean="0">
                            <a:solidFill>
                              <a:srgbClr val="836967"/>
                            </a:solidFill>
                            <a:latin typeface="Cambria Math" panose="02040503050406030204" pitchFamily="18" charset="0"/>
                          </a:rPr>
                        </m:ctrlPr>
                      </m:sSupPr>
                      <m:e>
                        <m:r>
                          <a:rPr lang="en-US" altLang="zh-CN" sz="2400" b="0" i="1" dirty="0" smtClean="0">
                            <a:solidFill>
                              <a:schemeClr val="tx1"/>
                            </a:solidFill>
                            <a:latin typeface="Cambria Math" panose="02040503050406030204" pitchFamily="18" charset="0"/>
                          </a:rPr>
                          <m:t>2</m:t>
                        </m:r>
                      </m:e>
                      <m:sup>
                        <m:r>
                          <a:rPr lang="en-US" altLang="zh-CN" sz="2400" b="0" i="1" dirty="0" smtClean="0">
                            <a:latin typeface="Cambria Math" panose="02040503050406030204" pitchFamily="18" charset="0"/>
                          </a:rPr>
                          <m:t>𝑖</m:t>
                        </m:r>
                      </m:sup>
                    </m:sSup>
                  </m:oMath>
                </a14:m>
                <a:endParaRPr lang="zh-CN" altLang="en-US" sz="1800" b="0" dirty="0"/>
              </a:p>
            </p:txBody>
          </p:sp>
        </mc:Choice>
        <mc:Fallback>
          <p:sp>
            <p:nvSpPr>
              <p:cNvPr id="6" name="内容占位符 5"/>
              <p:cNvSpPr>
                <a:spLocks noRot="1" noChangeAspect="1" noMove="1" noResize="1" noEditPoints="1" noAdjustHandles="1" noChangeArrowheads="1" noChangeShapeType="1" noTextEdit="1"/>
              </p:cNvSpPr>
              <p:nvPr>
                <p:ph idx="1"/>
              </p:nvPr>
            </p:nvSpPr>
            <p:spPr>
              <a:xfrm>
                <a:off x="397163" y="1219203"/>
                <a:ext cx="11464632" cy="5061560"/>
              </a:xfrm>
              <a:blipFill rotWithShape="1">
                <a:blip r:embed="rId1"/>
                <a:stretch>
                  <a:fillRect l="-3" r="5" b="12"/>
                </a:stretch>
              </a:blipFill>
            </p:spPr>
            <p:txBody>
              <a:bodyPr/>
              <a:lstStyle/>
              <a:p>
                <a:r>
                  <a:rPr lang="zh-CN" altLang="en-US">
                    <a:noFill/>
                  </a:rPr>
                  <a:t> </a:t>
                </a:r>
              </a:p>
            </p:txBody>
          </p:sp>
        </mc:Fallback>
      </mc:AlternateContent>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-可扩展散列索引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graphicFrame>
        <p:nvGraphicFramePr>
          <p:cNvPr id="2" name="Group 44"/>
          <p:cNvGraphicFramePr>
            <a:graphicFrameLocks noGrp="1"/>
          </p:cNvGraphicFramePr>
          <p:nvPr/>
        </p:nvGraphicFramePr>
        <p:xfrm>
          <a:off x="8664575" y="2900691"/>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54"/>
          <p:cNvGraphicFramePr>
            <a:graphicFrameLocks noGrp="1"/>
          </p:cNvGraphicFramePr>
          <p:nvPr/>
        </p:nvGraphicFramePr>
        <p:xfrm>
          <a:off x="8664575" y="4196091"/>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 name="Group 64"/>
          <p:cNvGraphicFramePr>
            <a:graphicFrameLocks noGrp="1"/>
          </p:cNvGraphicFramePr>
          <p:nvPr/>
        </p:nvGraphicFramePr>
        <p:xfrm>
          <a:off x="5356226" y="3672478"/>
          <a:ext cx="914400" cy="75723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8" name="Group 72"/>
              <p:cNvGraphicFramePr>
                <a:graphicFrameLocks noGrp="1"/>
              </p:cNvGraphicFramePr>
              <p:nvPr/>
            </p:nvGraphicFramePr>
            <p:xfrm>
              <a:off x="5356226" y="2758078"/>
              <a:ext cx="914400" cy="379413"/>
            </p:xfrm>
            <a:graphic>
              <a:graphicData uri="http://schemas.openxmlformats.org/drawingml/2006/table">
                <a:tbl>
                  <a:tblPr/>
                  <a:tblGrid>
                    <a:gridCol w="914400"/>
                  </a:tblGrid>
                  <a:tr h="379413">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0" i="1" dirty="0" smtClean="0">
                                  <a:latin typeface="Cambria Math" panose="02040503050406030204" pitchFamily="18" charset="0"/>
                                  <a:ea typeface="微软雅黑" panose="020B0503020204020204" pitchFamily="34" charset="-122"/>
                                </a:rPr>
                                <m:t>𝑖</m:t>
                              </m:r>
                            </m:oMath>
                          </a14:m>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8" name="Group 72"/>
              <p:cNvGraphicFramePr>
                <a:graphicFrameLocks noGrp="1"/>
              </p:cNvGraphicFramePr>
              <p:nvPr/>
            </p:nvGraphicFramePr>
            <p:xfrm>
              <a:off x="5356226" y="2758078"/>
              <a:ext cx="914400" cy="379413"/>
            </p:xfrm>
            <a:graphic>
              <a:graphicData uri="http://schemas.openxmlformats.org/drawingml/2006/table">
                <a:tbl>
                  <a:tblPr/>
                  <a:tblGrid>
                    <a:gridCol w="914400"/>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r>
                </a:tbl>
              </a:graphicData>
            </a:graphic>
          </p:graphicFrame>
        </mc:Fallback>
      </mc:AlternateContent>
      <p:sp>
        <p:nvSpPr>
          <p:cNvPr id="9" name="Line 78"/>
          <p:cNvSpPr/>
          <p:nvPr/>
        </p:nvSpPr>
        <p:spPr>
          <a:xfrm flipV="1">
            <a:off x="6483351" y="3053091"/>
            <a:ext cx="2181224" cy="843236"/>
          </a:xfrm>
          <a:prstGeom prst="line">
            <a:avLst/>
          </a:prstGeom>
          <a:ln w="9525" cap="flat" cmpd="sng">
            <a:solidFill>
              <a:schemeClr val="tx1"/>
            </a:solidFill>
            <a:prstDash val="solid"/>
            <a:round/>
            <a:headEnd type="none" w="med" len="med"/>
            <a:tailEnd type="triangle" w="med" len="med"/>
          </a:ln>
        </p:spPr>
      </p:sp>
      <p:sp>
        <p:nvSpPr>
          <p:cNvPr id="10" name="Line 79"/>
          <p:cNvSpPr/>
          <p:nvPr/>
        </p:nvSpPr>
        <p:spPr>
          <a:xfrm>
            <a:off x="6386318" y="4225003"/>
            <a:ext cx="2278257" cy="580688"/>
          </a:xfrm>
          <a:prstGeom prst="line">
            <a:avLst/>
          </a:prstGeom>
          <a:ln w="9525" cap="flat" cmpd="sng">
            <a:solidFill>
              <a:schemeClr val="tx1"/>
            </a:solidFill>
            <a:prstDash val="solid"/>
            <a:round/>
            <a:headEnd type="none" w="med" len="med"/>
            <a:tailEnd type="triangle" w="med" len="med"/>
          </a:ln>
        </p:spPr>
      </p:sp>
      <p:sp>
        <p:nvSpPr>
          <p:cNvPr id="11" name="Rectangle 80"/>
          <p:cNvSpPr>
            <a:spLocks noChangeAspect="1"/>
          </p:cNvSpPr>
          <p:nvPr/>
        </p:nvSpPr>
        <p:spPr>
          <a:xfrm>
            <a:off x="10721975" y="2900691"/>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1</a:t>
            </a:r>
            <a:endParaRPr lang="en-US" altLang="zh-CN" sz="1600" b="0" dirty="0">
              <a:latin typeface="Times New Roman" panose="02020603050405020304" pitchFamily="18" charset="0"/>
              <a:ea typeface="宋体" panose="02010600030101010101" pitchFamily="2" charset="-122"/>
            </a:endParaRPr>
          </a:p>
        </p:txBody>
      </p:sp>
      <p:sp>
        <p:nvSpPr>
          <p:cNvPr id="12" name="Rectangle 81"/>
          <p:cNvSpPr>
            <a:spLocks noChangeAspect="1"/>
          </p:cNvSpPr>
          <p:nvPr/>
        </p:nvSpPr>
        <p:spPr>
          <a:xfrm>
            <a:off x="10721975" y="4196091"/>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1</a:t>
            </a:r>
            <a:endParaRPr lang="en-US" altLang="zh-CN" sz="1600" b="0" dirty="0">
              <a:latin typeface="Times New Roman" panose="02020603050405020304" pitchFamily="18" charset="0"/>
              <a:ea typeface="宋体" panose="02010600030101010101" pitchFamily="2" charset="-122"/>
            </a:endParaRPr>
          </a:p>
        </p:txBody>
      </p:sp>
      <p:sp>
        <p:nvSpPr>
          <p:cNvPr id="13" name="Text Box 82"/>
          <p:cNvSpPr txBox="1"/>
          <p:nvPr/>
        </p:nvSpPr>
        <p:spPr>
          <a:xfrm>
            <a:off x="4806951" y="3561353"/>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a:t>
            </a:r>
            <a:endParaRPr lang="en-US" altLang="zh-CN" sz="2400" b="0" dirty="0">
              <a:latin typeface="Times New Roman" panose="02020603050405020304" pitchFamily="18" charset="0"/>
              <a:ea typeface="宋体" panose="02010600030101010101" pitchFamily="2" charset="-122"/>
            </a:endParaRPr>
          </a:p>
        </p:txBody>
      </p:sp>
      <p:sp>
        <p:nvSpPr>
          <p:cNvPr id="14" name="Text Box 83"/>
          <p:cNvSpPr txBox="1"/>
          <p:nvPr/>
        </p:nvSpPr>
        <p:spPr>
          <a:xfrm>
            <a:off x="4822826" y="3977278"/>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grpSp>
        <p:nvGrpSpPr>
          <p:cNvPr id="16" name="Group 145"/>
          <p:cNvGrpSpPr/>
          <p:nvPr/>
        </p:nvGrpSpPr>
        <p:grpSpPr>
          <a:xfrm>
            <a:off x="6595777" y="5079003"/>
            <a:ext cx="1641475" cy="1416050"/>
            <a:chOff x="475" y="3180"/>
            <a:chExt cx="917" cy="892"/>
          </a:xfrm>
        </p:grpSpPr>
        <p:grpSp>
          <p:nvGrpSpPr>
            <p:cNvPr id="17" name="Group 139"/>
            <p:cNvGrpSpPr/>
            <p:nvPr/>
          </p:nvGrpSpPr>
          <p:grpSpPr>
            <a:xfrm>
              <a:off x="718" y="3581"/>
              <a:ext cx="588" cy="274"/>
              <a:chOff x="682" y="3428"/>
              <a:chExt cx="588" cy="274"/>
            </a:xfrm>
          </p:grpSpPr>
          <p:sp>
            <p:nvSpPr>
              <p:cNvPr id="23" name="Rectangle 133"/>
              <p:cNvSpPr/>
              <p:nvPr/>
            </p:nvSpPr>
            <p:spPr>
              <a:xfrm>
                <a:off x="682"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24" name="Rectangle 134"/>
              <p:cNvSpPr/>
              <p:nvPr/>
            </p:nvSpPr>
            <p:spPr>
              <a:xfrm>
                <a:off x="827"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25" name="Rectangle 135"/>
              <p:cNvSpPr/>
              <p:nvPr/>
            </p:nvSpPr>
            <p:spPr>
              <a:xfrm>
                <a:off x="972"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26" name="Rectangle 136"/>
              <p:cNvSpPr/>
              <p:nvPr/>
            </p:nvSpPr>
            <p:spPr>
              <a:xfrm>
                <a:off x="1119"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grpSp>
        <p:sp>
          <p:nvSpPr>
            <p:cNvPr id="18" name="Text Box 140"/>
            <p:cNvSpPr txBox="1"/>
            <p:nvPr/>
          </p:nvSpPr>
          <p:spPr>
            <a:xfrm>
              <a:off x="665" y="3555"/>
              <a:ext cx="673" cy="288"/>
            </a:xfrm>
            <a:prstGeom prst="rect">
              <a:avLst/>
            </a:prstGeom>
            <a:noFill/>
            <a:ln w="9525">
              <a:noFill/>
            </a:ln>
          </p:spPr>
          <p:txBody>
            <a:bodyPr wrap="none" anchor="t">
              <a:spAutoFit/>
            </a:bodyPr>
            <a:lstStyle/>
            <a:p>
              <a:r>
                <a:rPr lang="en-US" altLang="zh-CN" sz="2400" dirty="0">
                  <a:latin typeface="微软雅黑" panose="020B0503020204020204" pitchFamily="34" charset="-122"/>
                  <a:ea typeface="微软雅黑" panose="020B0503020204020204" pitchFamily="34" charset="-122"/>
                </a:rPr>
                <a:t>1 0 1 1</a:t>
              </a:r>
              <a:endParaRPr lang="en-US" altLang="zh-CN" sz="2400" dirty="0">
                <a:latin typeface="微软雅黑" panose="020B0503020204020204" pitchFamily="34" charset="-122"/>
                <a:ea typeface="微软雅黑" panose="020B0503020204020204" pitchFamily="34" charset="-122"/>
              </a:endParaRPr>
            </a:p>
          </p:txBody>
        </p:sp>
        <p:sp>
          <p:nvSpPr>
            <p:cNvPr id="19" name="Line 141"/>
            <p:cNvSpPr/>
            <p:nvPr/>
          </p:nvSpPr>
          <p:spPr>
            <a:xfrm>
              <a:off x="701" y="3413"/>
              <a:ext cx="585" cy="0"/>
            </a:xfrm>
            <a:prstGeom prst="line">
              <a:avLst/>
            </a:prstGeom>
            <a:ln w="9525" cap="flat" cmpd="sng">
              <a:solidFill>
                <a:srgbClr val="FF0066"/>
              </a:solidFill>
              <a:prstDash val="solid"/>
              <a:round/>
              <a:headEnd type="none" w="med" len="med"/>
              <a:tailEnd type="triangle" w="med" len="med"/>
            </a:ln>
          </p:spPr>
        </p:sp>
        <p:sp>
          <p:nvSpPr>
            <p:cNvPr id="20" name="Text Box 142"/>
            <p:cNvSpPr txBox="1"/>
            <p:nvPr/>
          </p:nvSpPr>
          <p:spPr>
            <a:xfrm>
              <a:off x="475" y="3180"/>
              <a:ext cx="479" cy="212"/>
            </a:xfrm>
            <a:prstGeom prst="rect">
              <a:avLst/>
            </a:prstGeom>
            <a:noFill/>
            <a:ln w="9525">
              <a:noFill/>
            </a:ln>
          </p:spPr>
          <p:txBody>
            <a:bodyPr wrap="none" anchor="t">
              <a:spAutoFit/>
            </a:bodyPr>
            <a:lstStyle/>
            <a:p>
              <a:pPr algn="ctr"/>
              <a:r>
                <a:rPr lang="en-US" altLang="zh-CN" sz="1600" dirty="0">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的位次</a:t>
              </a:r>
              <a:endParaRPr lang="zh-CN" altLang="en-US" sz="1600" dirty="0">
                <a:latin typeface="微软雅黑" panose="020B0503020204020204" pitchFamily="34" charset="-122"/>
                <a:ea typeface="微软雅黑" panose="020B0503020204020204" pitchFamily="34" charset="-122"/>
              </a:endParaRPr>
            </a:p>
          </p:txBody>
        </p:sp>
        <p:sp>
          <p:nvSpPr>
            <p:cNvPr id="21" name="Text Box 143"/>
            <p:cNvSpPr txBox="1"/>
            <p:nvPr/>
          </p:nvSpPr>
          <p:spPr>
            <a:xfrm>
              <a:off x="620" y="3860"/>
              <a:ext cx="772" cy="212"/>
            </a:xfrm>
            <a:prstGeom prst="rect">
              <a:avLst/>
            </a:prstGeom>
            <a:noFill/>
            <a:ln w="9525">
              <a:noFill/>
            </a:ln>
          </p:spPr>
          <p:txBody>
            <a:bodyPr wrap="none" anchor="t">
              <a:spAutoFit/>
            </a:bodyPr>
            <a:lstStyle/>
            <a:p>
              <a:pPr algn="ctr"/>
              <a:r>
                <a:rPr lang="en-US" altLang="zh-CN" sz="1600" dirty="0">
                  <a:latin typeface="微软雅黑" panose="020B0503020204020204" pitchFamily="34" charset="-122"/>
                  <a:ea typeface="微软雅黑" panose="020B0503020204020204" pitchFamily="34" charset="-122"/>
                </a:rPr>
                <a:t>k</a:t>
              </a:r>
              <a:r>
                <a:rPr lang="zh-CN" altLang="en-US" sz="1600" dirty="0">
                  <a:latin typeface="微软雅黑" panose="020B0503020204020204" pitchFamily="34" charset="-122"/>
                  <a:ea typeface="微软雅黑" panose="020B0503020204020204" pitchFamily="34" charset="-122"/>
                </a:rPr>
                <a:t>位二进制位 </a:t>
              </a:r>
              <a:endParaRPr lang="zh-CN" altLang="en-US" sz="1600" dirty="0">
                <a:latin typeface="微软雅黑" panose="020B0503020204020204" pitchFamily="34" charset="-122"/>
                <a:ea typeface="微软雅黑" panose="020B0503020204020204" pitchFamily="34" charset="-122"/>
              </a:endParaRPr>
            </a:p>
          </p:txBody>
        </p:sp>
        <p:sp>
          <p:nvSpPr>
            <p:cNvPr id="22" name="Text Box 144"/>
            <p:cNvSpPr txBox="1"/>
            <p:nvPr/>
          </p:nvSpPr>
          <p:spPr>
            <a:xfrm>
              <a:off x="684" y="3401"/>
              <a:ext cx="653" cy="212"/>
            </a:xfrm>
            <a:prstGeom prst="rect">
              <a:avLst/>
            </a:prstGeom>
            <a:noFill/>
            <a:ln w="9525">
              <a:noFill/>
            </a:ln>
          </p:spPr>
          <p:txBody>
            <a:bodyPr wrap="none" anchor="t">
              <a:spAutoFit/>
            </a:bodyPr>
            <a:lstStyle/>
            <a:p>
              <a:r>
                <a:rPr lang="en-US" altLang="zh-CN" sz="1600" dirty="0">
                  <a:latin typeface="微软雅黑" panose="020B0503020204020204" pitchFamily="34" charset="-122"/>
                  <a:ea typeface="微软雅黑" panose="020B0503020204020204" pitchFamily="34" charset="-122"/>
                </a:rPr>
                <a:t>1   2  3   4</a:t>
              </a:r>
              <a:endParaRPr lang="en-US" altLang="zh-CN" sz="1600" dirty="0">
                <a:latin typeface="微软雅黑" panose="020B0503020204020204" pitchFamily="34" charset="-122"/>
                <a:ea typeface="微软雅黑" panose="020B0503020204020204" pitchFamily="34" charset="-122"/>
              </a:endParaRPr>
            </a:p>
          </p:txBody>
        </p:sp>
      </p:grpSp>
      <p:graphicFrame>
        <p:nvGraphicFramePr>
          <p:cNvPr id="27" name="Group 149"/>
          <p:cNvGraphicFramePr>
            <a:graphicFrameLocks noGrp="1"/>
          </p:cNvGraphicFramePr>
          <p:nvPr/>
        </p:nvGraphicFramePr>
        <p:xfrm>
          <a:off x="5354091" y="4846549"/>
          <a:ext cx="914400" cy="151288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8" name="Text Box 161"/>
          <p:cNvSpPr txBox="1"/>
          <p:nvPr/>
        </p:nvSpPr>
        <p:spPr>
          <a:xfrm>
            <a:off x="4804816" y="4735424"/>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00</a:t>
            </a:r>
            <a:endParaRPr lang="en-US" altLang="zh-CN" sz="2400" b="0" dirty="0">
              <a:latin typeface="Times New Roman" panose="02020603050405020304" pitchFamily="18" charset="0"/>
              <a:ea typeface="宋体" panose="02010600030101010101" pitchFamily="2" charset="-122"/>
            </a:endParaRPr>
          </a:p>
        </p:txBody>
      </p:sp>
      <p:sp>
        <p:nvSpPr>
          <p:cNvPr id="29" name="Text Box 162"/>
          <p:cNvSpPr txBox="1"/>
          <p:nvPr/>
        </p:nvSpPr>
        <p:spPr>
          <a:xfrm>
            <a:off x="4804816" y="5116424"/>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01</a:t>
            </a:r>
            <a:endParaRPr lang="en-US" altLang="zh-CN" sz="2400" b="0" dirty="0">
              <a:latin typeface="Times New Roman" panose="02020603050405020304" pitchFamily="18" charset="0"/>
              <a:ea typeface="宋体" panose="02010600030101010101" pitchFamily="2" charset="-122"/>
            </a:endParaRPr>
          </a:p>
        </p:txBody>
      </p:sp>
      <p:sp>
        <p:nvSpPr>
          <p:cNvPr id="30" name="Text Box 163"/>
          <p:cNvSpPr txBox="1"/>
          <p:nvPr/>
        </p:nvSpPr>
        <p:spPr>
          <a:xfrm>
            <a:off x="4804816" y="5497424"/>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10</a:t>
            </a:r>
            <a:endParaRPr lang="en-US" altLang="zh-CN" sz="2400" b="0" dirty="0">
              <a:latin typeface="Times New Roman" panose="02020603050405020304" pitchFamily="18" charset="0"/>
              <a:ea typeface="宋体" panose="02010600030101010101" pitchFamily="2" charset="-122"/>
            </a:endParaRPr>
          </a:p>
        </p:txBody>
      </p:sp>
      <p:sp>
        <p:nvSpPr>
          <p:cNvPr id="31" name="Text Box 164"/>
          <p:cNvSpPr txBox="1"/>
          <p:nvPr/>
        </p:nvSpPr>
        <p:spPr>
          <a:xfrm>
            <a:off x="4804816" y="5878424"/>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11</a:t>
            </a:r>
            <a:endParaRPr lang="en-US" altLang="zh-CN" sz="2400" b="0" dirty="0">
              <a:latin typeface="Times New Roman" panose="02020603050405020304" pitchFamily="18" charset="0"/>
              <a:ea typeface="宋体" panose="02010600030101010101" pitchFamily="2" charset="-122"/>
            </a:endParaRPr>
          </a:p>
        </p:txBody>
      </p:sp>
      <p:grpSp>
        <p:nvGrpSpPr>
          <p:cNvPr id="33" name="Group 180"/>
          <p:cNvGrpSpPr/>
          <p:nvPr/>
        </p:nvGrpSpPr>
        <p:grpSpPr>
          <a:xfrm>
            <a:off x="2241973" y="5039515"/>
            <a:ext cx="2398713" cy="1198563"/>
            <a:chOff x="8" y="2996"/>
            <a:chExt cx="1511" cy="755"/>
          </a:xfrm>
        </p:grpSpPr>
        <p:sp>
          <p:nvSpPr>
            <p:cNvPr id="34" name="AutoShape 39"/>
            <p:cNvSpPr/>
            <p:nvPr/>
          </p:nvSpPr>
          <p:spPr>
            <a:xfrm>
              <a:off x="8" y="2996"/>
              <a:ext cx="1511" cy="755"/>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35" name="Oval 40"/>
            <p:cNvSpPr/>
            <p:nvPr/>
          </p:nvSpPr>
          <p:spPr>
            <a:xfrm>
              <a:off x="75" y="3059"/>
              <a:ext cx="1389" cy="640"/>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36" name="AutoShape 172"/>
            <p:cNvSpPr/>
            <p:nvPr/>
          </p:nvSpPr>
          <p:spPr>
            <a:xfrm>
              <a:off x="70" y="3000"/>
              <a:ext cx="1389" cy="751"/>
            </a:xfrm>
            <a:prstGeom prst="roundRect">
              <a:avLst>
                <a:gd name="adj" fmla="val 16667"/>
              </a:avLst>
            </a:prstGeom>
            <a:noFill/>
            <a:ln w="9525">
              <a:noFill/>
            </a:ln>
          </p:spPr>
          <p:txBody>
            <a:bodyPr wrap="square" anchor="t">
              <a:spAutoFit/>
            </a:bodyPr>
            <a:lstStyle/>
            <a:p>
              <a:pPr>
                <a:spcBef>
                  <a:spcPct val="20000"/>
                </a:spcBef>
              </a:pPr>
              <a:r>
                <a:rPr lang="en-US" altLang="zh-CN" sz="1600" dirty="0">
                  <a:solidFill>
                    <a:schemeClr val="accent2"/>
                  </a:solidFill>
                  <a:latin typeface="Arial" panose="020B0604020202020204" pitchFamily="34" charset="0"/>
                  <a:ea typeface="微软雅黑" panose="020B0503020204020204" pitchFamily="34" charset="-122"/>
                </a:rPr>
                <a:t>k</a:t>
              </a:r>
              <a:r>
                <a:rPr lang="zh-CN" altLang="en-US" sz="1600" dirty="0">
                  <a:solidFill>
                    <a:schemeClr val="accent2"/>
                  </a:solidFill>
                  <a:latin typeface="Arial" panose="020B0604020202020204" pitchFamily="34" charset="0"/>
                  <a:ea typeface="微软雅黑" panose="020B0503020204020204" pitchFamily="34" charset="-122"/>
                </a:rPr>
                <a:t>为散列函数所可能使用</a:t>
              </a:r>
              <a:r>
                <a:rPr lang="zh-CN" altLang="en-US" sz="1600" dirty="0">
                  <a:solidFill>
                    <a:srgbClr val="ED7D31"/>
                  </a:solidFill>
                  <a:latin typeface="Arial" panose="020B0604020202020204" pitchFamily="34" charset="0"/>
                  <a:ea typeface="微软雅黑" panose="020B0503020204020204" pitchFamily="34" charset="-122"/>
                </a:rPr>
                <a:t>的最多位数。即可能的最大桶的数目为</a:t>
              </a:r>
              <a:r>
                <a:rPr lang="en-US" altLang="zh-CN" sz="1600" dirty="0">
                  <a:solidFill>
                    <a:srgbClr val="ED7D31"/>
                  </a:solidFill>
                  <a:highlight>
                    <a:srgbClr val="FFFF00"/>
                  </a:highlight>
                  <a:latin typeface="Times New Roman" panose="02020603050405020304" pitchFamily="18" charset="0"/>
                  <a:ea typeface="微软雅黑" panose="020B0503020204020204" pitchFamily="34" charset="-122"/>
                </a:rPr>
                <a:t>2</a:t>
              </a:r>
              <a:r>
                <a:rPr lang="en-US" altLang="zh-CN" sz="1600" i="1" baseline="30000" dirty="0">
                  <a:solidFill>
                    <a:srgbClr val="ED7D31"/>
                  </a:solidFill>
                  <a:highlight>
                    <a:srgbClr val="FFFF00"/>
                  </a:highlight>
                  <a:latin typeface="Times New Roman" panose="02020603050405020304" pitchFamily="18" charset="0"/>
                  <a:ea typeface="微软雅黑" panose="020B0503020204020204" pitchFamily="34" charset="-122"/>
                </a:rPr>
                <a:t>k </a:t>
              </a:r>
              <a:r>
                <a:rPr lang="zh-CN" altLang="en-US" sz="1600" dirty="0">
                  <a:solidFill>
                    <a:srgbClr val="ED7D31"/>
                  </a:solidFill>
                  <a:latin typeface="Arial" panose="020B0604020202020204" pitchFamily="34" charset="0"/>
                  <a:ea typeface="微软雅黑" panose="020B0503020204020204" pitchFamily="34" charset="-122"/>
                </a:rPr>
                <a:t>，逐渐被使用。</a:t>
              </a:r>
              <a:endParaRPr lang="zh-CN" altLang="en-US" sz="1600" dirty="0">
                <a:solidFill>
                  <a:srgbClr val="ED7D31"/>
                </a:solidFill>
                <a:latin typeface="Arial" panose="020B0604020202020204" pitchFamily="34" charset="0"/>
                <a:ea typeface="微软雅黑" panose="020B0503020204020204" pitchFamily="34" charset="-122"/>
              </a:endParaRPr>
            </a:p>
          </p:txBody>
        </p:sp>
      </p:grpSp>
      <p:grpSp>
        <p:nvGrpSpPr>
          <p:cNvPr id="37" name="Group 181"/>
          <p:cNvGrpSpPr/>
          <p:nvPr/>
        </p:nvGrpSpPr>
        <p:grpSpPr>
          <a:xfrm>
            <a:off x="4648002" y="1639721"/>
            <a:ext cx="2323472" cy="1030749"/>
            <a:chOff x="1598" y="270"/>
            <a:chExt cx="1593" cy="682"/>
          </a:xfrm>
        </p:grpSpPr>
        <p:sp>
          <p:nvSpPr>
            <p:cNvPr id="38" name="AutoShape 39"/>
            <p:cNvSpPr/>
            <p:nvPr/>
          </p:nvSpPr>
          <p:spPr>
            <a:xfrm>
              <a:off x="1598" y="270"/>
              <a:ext cx="1562" cy="682"/>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39" name="Oval 40"/>
            <p:cNvSpPr/>
            <p:nvPr/>
          </p:nvSpPr>
          <p:spPr>
            <a:xfrm>
              <a:off x="1665" y="323"/>
              <a:ext cx="1420" cy="545"/>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40" name="AutoShape 179"/>
                <p:cNvSpPr/>
                <p:nvPr/>
              </p:nvSpPr>
              <p:spPr>
                <a:xfrm>
                  <a:off x="1668" y="318"/>
                  <a:ext cx="1523" cy="634"/>
                </a:xfrm>
                <a:prstGeom prst="roundRect">
                  <a:avLst>
                    <a:gd name="adj" fmla="val 16667"/>
                  </a:avLst>
                </a:prstGeom>
                <a:noFill/>
                <a:ln w="9525">
                  <a:noFill/>
                </a:ln>
              </p:spPr>
              <p:txBody>
                <a:bodyPr anchor="t">
                  <a:spAutoFit/>
                </a:bodyPr>
                <a:lstStyle/>
                <a:p>
                  <a14:m>
                    <m:oMath xmlns:m="http://schemas.openxmlformats.org/officeDocument/2006/math">
                      <m:r>
                        <a:rPr lang="en-US" altLang="zh-CN" sz="1600" i="1" dirty="0">
                          <a:latin typeface="Cambria Math" panose="02040503050406030204" pitchFamily="18" charset="0"/>
                          <a:ea typeface="微软雅黑" panose="020B0503020204020204" pitchFamily="34" charset="-122"/>
                        </a:rPr>
                        <m:t>𝑖</m:t>
                      </m:r>
                    </m:oMath>
                  </a14:m>
                  <a:r>
                    <a:rPr lang="zh-CN" altLang="en-US" sz="1600" dirty="0">
                      <a:latin typeface="微软雅黑" panose="020B0503020204020204" pitchFamily="34" charset="-122"/>
                      <a:ea typeface="微软雅黑" panose="020B0503020204020204" pitchFamily="34" charset="-122"/>
                    </a:rPr>
                    <a:t>为散列函数当前已经使用到的最多位数。即当前的桶数为</a:t>
                  </a:r>
                  <a14:m>
                    <m:oMath xmlns:m="http://schemas.openxmlformats.org/officeDocument/2006/math">
                      <m:sSup>
                        <m:sSupPr>
                          <m:ctrlPr>
                            <a:rPr lang="en-US" altLang="zh-CN" sz="1600" i="1" dirty="0" smtClean="0">
                              <a:solidFill>
                                <a:srgbClr val="836967"/>
                              </a:solidFill>
                              <a:latin typeface="Cambria Math" panose="02040503050406030204" pitchFamily="18" charset="0"/>
                            </a:rPr>
                          </m:ctrlPr>
                        </m:sSupPr>
                        <m:e>
                          <m:r>
                            <a:rPr lang="en-US" altLang="zh-CN" sz="1600" dirty="0" smtClean="0">
                              <a:latin typeface="Cambria Math" panose="02040503050406030204" pitchFamily="18" charset="0"/>
                            </a:rPr>
                            <m:t>2</m:t>
                          </m:r>
                        </m:e>
                        <m:sup>
                          <m:r>
                            <m:rPr>
                              <m:nor/>
                            </m:rPr>
                            <a:rPr lang="en-US" altLang="zh-CN" sz="1600" i="1" dirty="0">
                              <a:latin typeface="Times New Roman" panose="02020603050405020304" pitchFamily="18" charset="0"/>
                              <a:ea typeface="微软雅黑" panose="020B0503020204020204" pitchFamily="34" charset="-122"/>
                            </a:rPr>
                            <m:t>i</m:t>
                          </m:r>
                        </m:sup>
                      </m:sSup>
                    </m:oMath>
                  </a14:m>
                  <a:r>
                    <a:rPr lang="en-US" altLang="zh-CN"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p:txBody>
            </p:sp>
          </mc:Choice>
          <mc:Fallback>
            <p:sp>
              <p:nvSpPr>
                <p:cNvPr id="40" name="AutoShape 179"/>
                <p:cNvSpPr>
                  <a:spLocks noRot="1" noChangeAspect="1" noMove="1" noResize="1" noEditPoints="1" noAdjustHandles="1" noChangeArrowheads="1" noChangeShapeType="1" noTextEdit="1"/>
                </p:cNvSpPr>
                <p:nvPr/>
              </p:nvSpPr>
              <p:spPr>
                <a:xfrm>
                  <a:off x="1668" y="318"/>
                  <a:ext cx="1523" cy="634"/>
                </a:xfrm>
                <a:prstGeom prst="roundRect">
                  <a:avLst>
                    <a:gd name="adj" fmla="val 16667"/>
                  </a:avLst>
                </a:prstGeom>
                <a:blipFill rotWithShape="1">
                  <a:blip r:embed="rId3"/>
                </a:blipFill>
                <a:ln w="9525">
                  <a:noFill/>
                </a:ln>
              </p:spPr>
              <p:txBody>
                <a:bodyPr/>
                <a:lstStyle/>
                <a:p>
                  <a:r>
                    <a:rPr lang="zh-CN" altLang="en-US">
                      <a:noFill/>
                    </a:rPr>
                    <a:t> </a:t>
                  </a:r>
                </a:p>
              </p:txBody>
            </p:sp>
          </mc:Fallback>
        </mc:AlternateContent>
      </p:grpSp>
      <p:grpSp>
        <p:nvGrpSpPr>
          <p:cNvPr id="41" name="Group 182"/>
          <p:cNvGrpSpPr/>
          <p:nvPr/>
        </p:nvGrpSpPr>
        <p:grpSpPr>
          <a:xfrm>
            <a:off x="8728075" y="1617992"/>
            <a:ext cx="1970088" cy="1063625"/>
            <a:chOff x="1598" y="270"/>
            <a:chExt cx="1662" cy="834"/>
          </a:xfrm>
        </p:grpSpPr>
        <p:sp>
          <p:nvSpPr>
            <p:cNvPr id="42" name="AutoShape 39"/>
            <p:cNvSpPr/>
            <p:nvPr/>
          </p:nvSpPr>
          <p:spPr>
            <a:xfrm>
              <a:off x="1598" y="270"/>
              <a:ext cx="1662" cy="834"/>
            </a:xfrm>
            <a:prstGeom prst="roundRect">
              <a:avLst>
                <a:gd name="adj" fmla="val 16667"/>
              </a:avLst>
            </a:prstGeom>
            <a:solidFill>
              <a:schemeClr val="accent2"/>
            </a:solidFill>
            <a:ln w="9525">
              <a:noFill/>
            </a:ln>
          </p:spPr>
          <p:txBody>
            <a:bodyPr wrap="none" anchor="ctr"/>
            <a:lstStyle/>
            <a:p>
              <a:endParaRPr lang="zh-CN" altLang="zh-CN" sz="1600" dirty="0">
                <a:solidFill>
                  <a:srgbClr val="000000"/>
                </a:solidFill>
                <a:latin typeface="Arial" panose="020B0604020202020204" pitchFamily="34" charset="0"/>
                <a:ea typeface="宋体" panose="02010600030101010101" pitchFamily="2" charset="-122"/>
              </a:endParaRPr>
            </a:p>
          </p:txBody>
        </p:sp>
        <p:sp>
          <p:nvSpPr>
            <p:cNvPr id="43" name="Oval 40"/>
            <p:cNvSpPr/>
            <p:nvPr/>
          </p:nvSpPr>
          <p:spPr>
            <a:xfrm>
              <a:off x="1665" y="323"/>
              <a:ext cx="1527" cy="728"/>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endParaRPr lang="zh-CN" altLang="zh-CN" sz="1600" dirty="0">
                <a:solidFill>
                  <a:srgbClr val="000000"/>
                </a:solidFill>
                <a:latin typeface="Arial" panose="020B0604020202020204" pitchFamily="34" charset="0"/>
                <a:ea typeface="宋体" panose="02010600030101010101" pitchFamily="2" charset="-122"/>
              </a:endParaRPr>
            </a:p>
          </p:txBody>
        </p:sp>
        <p:sp>
          <p:nvSpPr>
            <p:cNvPr id="44" name="AutoShape 185"/>
            <p:cNvSpPr/>
            <p:nvPr/>
          </p:nvSpPr>
          <p:spPr>
            <a:xfrm>
              <a:off x="1667" y="319"/>
              <a:ext cx="1524" cy="709"/>
            </a:xfrm>
            <a:prstGeom prst="roundRect">
              <a:avLst>
                <a:gd name="adj" fmla="val 16667"/>
              </a:avLst>
            </a:prstGeom>
            <a:noFill/>
            <a:ln w="9525">
              <a:noFill/>
            </a:ln>
          </p:spPr>
          <p:txBody>
            <a:bodyPr anchor="t">
              <a:spAutoFit/>
            </a:bodyPr>
            <a:lstStyle/>
            <a:p>
              <a:r>
                <a:rPr lang="zh-CN" altLang="zh-CN" sz="1600" dirty="0">
                  <a:latin typeface="微软雅黑" panose="020B0503020204020204" pitchFamily="34" charset="-122"/>
                  <a:ea typeface="微软雅黑" panose="020B0503020204020204" pitchFamily="34" charset="-122"/>
                </a:rPr>
                <a:t>右上角标记本块</a:t>
              </a:r>
              <a:r>
                <a:rPr lang="zh-CN" altLang="en-US" sz="1600" dirty="0">
                  <a:latin typeface="微软雅黑" panose="020B0503020204020204" pitchFamily="34" charset="-122"/>
                  <a:ea typeface="微软雅黑" panose="020B0503020204020204" pitchFamily="34" charset="-122"/>
                </a:rPr>
                <a:t>散列</a:t>
              </a:r>
              <a:r>
                <a:rPr lang="zh-CN" altLang="zh-CN" sz="1600" dirty="0">
                  <a:latin typeface="微软雅黑" panose="020B0503020204020204" pitchFamily="34" charset="-122"/>
                  <a:ea typeface="微软雅黑" panose="020B0503020204020204" pitchFamily="34" charset="-122"/>
                </a:rPr>
                <a:t>函数使用位数。--局部 </a:t>
              </a:r>
              <a:endParaRPr lang="zh-CN" altLang="en-US" sz="2400" dirty="0">
                <a:latin typeface="微软雅黑" panose="020B0503020204020204" pitchFamily="34" charset="-122"/>
                <a:ea typeface="微软雅黑" panose="020B0503020204020204" pitchFamily="34" charset="-122"/>
              </a:endParaRPr>
            </a:p>
          </p:txBody>
        </p:sp>
      </p:grpSp>
      <p:sp>
        <p:nvSpPr>
          <p:cNvPr id="45" name="Text Box 186"/>
          <p:cNvSpPr txBox="1"/>
          <p:nvPr/>
        </p:nvSpPr>
        <p:spPr>
          <a:xfrm>
            <a:off x="9064625" y="5210766"/>
            <a:ext cx="1657350" cy="1190625"/>
          </a:xfrm>
          <a:prstGeom prst="rect">
            <a:avLst/>
          </a:prstGeom>
          <a:noFill/>
          <a:ln w="9525">
            <a:noFill/>
          </a:ln>
        </p:spPr>
        <p:txBody>
          <a:bodyPr anchor="t">
            <a:spAutoFit/>
          </a:bodyPr>
          <a:lstStyle/>
          <a:p>
            <a:r>
              <a:rPr lang="zh-CN" altLang="en-US" sz="2400" dirty="0">
                <a:latin typeface="Times New Roman" panose="02020603050405020304" pitchFamily="18" charset="0"/>
                <a:ea typeface="微软雅黑" panose="020B0503020204020204" pitchFamily="34" charset="-122"/>
              </a:rPr>
              <a:t>索引块</a:t>
            </a:r>
            <a:endParaRPr lang="zh-CN" altLang="en-US" sz="2400" dirty="0">
              <a:latin typeface="Times New Roman" panose="02020603050405020304" pitchFamily="18" charset="0"/>
              <a:ea typeface="微软雅黑" panose="020B0503020204020204" pitchFamily="34" charset="-122"/>
            </a:endParaRPr>
          </a:p>
          <a:p>
            <a:r>
              <a:rPr lang="zh-CN" altLang="en-US" sz="1600" dirty="0">
                <a:latin typeface="Times New Roman" panose="02020603050405020304" pitchFamily="18" charset="0"/>
                <a:ea typeface="微软雅黑" panose="020B0503020204020204" pitchFamily="34" charset="-122"/>
              </a:rPr>
              <a:t>取前</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Times New Roman" panose="02020603050405020304" pitchFamily="18" charset="0"/>
                <a:ea typeface="微软雅黑" panose="020B0503020204020204" pitchFamily="34" charset="-122"/>
              </a:rPr>
              <a:t>位，按照前</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Times New Roman" panose="02020603050405020304" pitchFamily="18" charset="0"/>
                <a:ea typeface="微软雅黑" panose="020B0503020204020204" pitchFamily="34" charset="-122"/>
              </a:rPr>
              <a:t>位的值找到对应的索引块</a:t>
            </a:r>
            <a:endParaRPr lang="zh-CN" altLang="en-US" sz="1600" dirty="0">
              <a:latin typeface="Times New Roman" panose="02020603050405020304" pitchFamily="18" charset="0"/>
              <a:ea typeface="微软雅黑" panose="020B0503020204020204" pitchFamily="34" charset="-122"/>
            </a:endParaRPr>
          </a:p>
        </p:txBody>
      </p:sp>
      <p:sp>
        <p:nvSpPr>
          <p:cNvPr id="46" name="Text Box 187"/>
          <p:cNvSpPr txBox="1"/>
          <p:nvPr/>
        </p:nvSpPr>
        <p:spPr>
          <a:xfrm>
            <a:off x="2311824" y="3494416"/>
            <a:ext cx="2278062" cy="1200329"/>
          </a:xfrm>
          <a:prstGeom prst="rect">
            <a:avLst/>
          </a:prstGeom>
          <a:noFill/>
          <a:ln w="9525">
            <a:noFill/>
          </a:ln>
        </p:spPr>
        <p:txBody>
          <a:bodyPr anchor="t">
            <a:spAutoFit/>
          </a:bodyPr>
          <a:lstStyle/>
          <a:p>
            <a:pPr algn="ctr"/>
            <a:r>
              <a:rPr lang="zh-CN" altLang="en-US" dirty="0">
                <a:latin typeface="Times New Roman" panose="02020603050405020304" pitchFamily="18" charset="0"/>
                <a:ea typeface="微软雅黑" panose="020B0503020204020204" pitchFamily="34" charset="-122"/>
              </a:rPr>
              <a:t>可变的桶</a:t>
            </a:r>
            <a:endParaRPr lang="zh-CN" altLang="en-US" dirty="0">
              <a:latin typeface="Times New Roman" panose="02020603050405020304" pitchFamily="18" charset="0"/>
              <a:ea typeface="微软雅黑" panose="020B0503020204020204" pitchFamily="34" charset="-122"/>
            </a:endParaRPr>
          </a:p>
          <a:p>
            <a:pPr algn="ctr"/>
            <a:r>
              <a:rPr lang="en-US" altLang="zh-CN" dirty="0">
                <a:latin typeface="Times New Roman" panose="02020603050405020304" pitchFamily="18" charset="0"/>
                <a:ea typeface="微软雅黑" panose="020B0503020204020204" pitchFamily="34" charset="-122"/>
              </a:rPr>
              <a:t>(</a:t>
            </a:r>
            <a:r>
              <a:rPr lang="zh-CN" altLang="en-US" dirty="0">
                <a:latin typeface="Times New Roman" panose="02020603050405020304" pitchFamily="18" charset="0"/>
                <a:ea typeface="微软雅黑" panose="020B0503020204020204" pitchFamily="34" charset="-122"/>
              </a:rPr>
              <a:t>指针数组</a:t>
            </a:r>
            <a:r>
              <a:rPr lang="en-US" altLang="zh-CN" dirty="0">
                <a:latin typeface="Times New Roman" panose="02020603050405020304" pitchFamily="18" charset="0"/>
                <a:ea typeface="微软雅黑" panose="020B0503020204020204" pitchFamily="34" charset="-122"/>
              </a:rPr>
              <a:t>)</a:t>
            </a:r>
            <a:endParaRPr lang="en-US" altLang="zh-CN" dirty="0">
              <a:latin typeface="Times New Roman" panose="02020603050405020304" pitchFamily="18" charset="0"/>
              <a:ea typeface="微软雅黑" panose="020B0503020204020204" pitchFamily="34" charset="-122"/>
            </a:endParaRPr>
          </a:p>
          <a:p>
            <a:pPr algn="ctr"/>
            <a:r>
              <a:rPr lang="zh-CN" altLang="en-US" dirty="0">
                <a:latin typeface="Times New Roman" panose="02020603050405020304" pitchFamily="18" charset="0"/>
                <a:ea typeface="微软雅黑" panose="020B0503020204020204" pitchFamily="34" charset="-122"/>
              </a:rPr>
              <a:t>由</a:t>
            </a:r>
            <a:r>
              <a:rPr lang="en-US" altLang="zh-CN" dirty="0">
                <a:latin typeface="Times New Roman" panose="02020603050405020304" pitchFamily="18" charset="0"/>
                <a:ea typeface="微软雅黑" panose="020B0503020204020204" pitchFamily="34" charset="-122"/>
              </a:rPr>
              <a:t>2</a:t>
            </a:r>
            <a:r>
              <a:rPr lang="en-US" altLang="zh-CN" baseline="30000" dirty="0">
                <a:latin typeface="Times New Roman" panose="02020603050405020304" pitchFamily="18" charset="0"/>
                <a:ea typeface="微软雅黑" panose="020B0503020204020204" pitchFamily="34" charset="-122"/>
              </a:rPr>
              <a:t>0</a:t>
            </a:r>
            <a:r>
              <a:rPr lang="zh-CN" altLang="en-US" dirty="0">
                <a:latin typeface="Times New Roman" panose="02020603050405020304" pitchFamily="18" charset="0"/>
                <a:ea typeface="微软雅黑" panose="020B0503020204020204" pitchFamily="34" charset="-122"/>
              </a:rPr>
              <a:t>个，</a:t>
            </a:r>
            <a:r>
              <a:rPr lang="en-US" altLang="zh-CN" dirty="0">
                <a:latin typeface="Times New Roman" panose="02020603050405020304" pitchFamily="18" charset="0"/>
                <a:ea typeface="微软雅黑" panose="020B0503020204020204" pitchFamily="34" charset="-122"/>
              </a:rPr>
              <a:t>2</a:t>
            </a:r>
            <a:r>
              <a:rPr lang="en-US" altLang="zh-CN" baseline="30000" dirty="0">
                <a:latin typeface="Times New Roman" panose="02020603050405020304" pitchFamily="18" charset="0"/>
                <a:ea typeface="微软雅黑" panose="020B0503020204020204" pitchFamily="34" charset="-122"/>
              </a:rPr>
              <a:t>1</a:t>
            </a:r>
            <a:r>
              <a:rPr lang="zh-CN" altLang="en-US" dirty="0">
                <a:latin typeface="Times New Roman" panose="02020603050405020304" pitchFamily="18" charset="0"/>
                <a:ea typeface="微软雅黑" panose="020B0503020204020204" pitchFamily="34" charset="-122"/>
              </a:rPr>
              <a:t>个，</a:t>
            </a:r>
            <a:r>
              <a:rPr lang="en-US" altLang="zh-CN" dirty="0">
                <a:latin typeface="Times New Roman" panose="02020603050405020304" pitchFamily="18" charset="0"/>
                <a:ea typeface="微软雅黑" panose="020B0503020204020204" pitchFamily="34" charset="-122"/>
              </a:rPr>
              <a:t>2</a:t>
            </a:r>
            <a:r>
              <a:rPr lang="en-US" altLang="zh-CN" baseline="30000" dirty="0">
                <a:latin typeface="Times New Roman" panose="02020603050405020304" pitchFamily="18" charset="0"/>
                <a:ea typeface="微软雅黑" panose="020B0503020204020204" pitchFamily="34" charset="-122"/>
              </a:rPr>
              <a:t>2</a:t>
            </a:r>
            <a:r>
              <a:rPr lang="zh-CN" altLang="en-US" dirty="0">
                <a:latin typeface="Times New Roman" panose="02020603050405020304" pitchFamily="18" charset="0"/>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a:t>
            </a:r>
            <a:r>
              <a:rPr lang="zh-CN" altLang="en-US" dirty="0">
                <a:latin typeface="Times New Roman" panose="02020603050405020304" pitchFamily="18" charset="0"/>
                <a:ea typeface="微软雅黑" panose="020B0503020204020204" pitchFamily="34" charset="-122"/>
              </a:rPr>
              <a:t>逐渐增加至</a:t>
            </a:r>
            <a:r>
              <a:rPr lang="en-US" altLang="zh-CN" dirty="0">
                <a:latin typeface="Times New Roman" panose="02020603050405020304" pitchFamily="18" charset="0"/>
                <a:ea typeface="微软雅黑" panose="020B0503020204020204" pitchFamily="34" charset="-122"/>
              </a:rPr>
              <a:t>2</a:t>
            </a:r>
            <a:r>
              <a:rPr lang="en-US" altLang="zh-CN" i="1" baseline="30000" dirty="0">
                <a:latin typeface="Times New Roman" panose="02020603050405020304" pitchFamily="18" charset="0"/>
                <a:ea typeface="微软雅黑" panose="020B0503020204020204" pitchFamily="34" charset="-122"/>
              </a:rPr>
              <a:t>k</a:t>
            </a:r>
            <a:r>
              <a:rPr lang="zh-CN" altLang="en-US" dirty="0">
                <a:latin typeface="Times New Roman" panose="02020603050405020304" pitchFamily="18" charset="0"/>
                <a:ea typeface="微软雅黑" panose="020B0503020204020204" pitchFamily="34" charset="-122"/>
              </a:rPr>
              <a:t>个</a:t>
            </a:r>
            <a:endParaRPr lang="zh-CN" altLang="en-US" dirty="0">
              <a:latin typeface="Times New Roman" panose="02020603050405020304" pitchFamily="18" charset="0"/>
              <a:ea typeface="微软雅黑" panose="020B0503020204020204" pitchFamily="34" charset="-122"/>
            </a:endParaRPr>
          </a:p>
        </p:txBody>
      </p:sp>
      <p:sp>
        <p:nvSpPr>
          <p:cNvPr id="47"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sp>
        <p:nvSpPr>
          <p:cNvPr id="3" name="灯片编号占位符 2"/>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操作示例</a:t>
            </a:r>
            <a:endParaRPr lang="en-US" altLang="zh-CN"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latin typeface="微软雅黑" panose="020B0503020204020204" pitchFamily="34" charset="-122"/>
                <a:ea typeface="微软雅黑" panose="020B0503020204020204" pitchFamily="34" charset="-122"/>
              </a:rPr>
              <a:t>插入 </a:t>
            </a:r>
            <a:r>
              <a:rPr lang="en-US" altLang="zh-CN" sz="2000" b="0" dirty="0">
                <a:solidFill>
                  <a:srgbClr val="FF0000"/>
                </a:solidFill>
                <a:latin typeface="微软雅黑" panose="020B0503020204020204" pitchFamily="34" charset="-122"/>
                <a:ea typeface="微软雅黑" panose="020B0503020204020204" pitchFamily="34" charset="-122"/>
              </a:rPr>
              <a:t>1</a:t>
            </a:r>
            <a:r>
              <a:rPr lang="en-US" altLang="zh-CN" sz="2000" b="0" dirty="0">
                <a:latin typeface="微软雅黑" panose="020B0503020204020204" pitchFamily="34" charset="-122"/>
                <a:ea typeface="微软雅黑" panose="020B0503020204020204" pitchFamily="34" charset="-122"/>
              </a:rPr>
              <a:t>110</a:t>
            </a:r>
            <a:endParaRPr lang="en-US" altLang="zh-CN" sz="2000" b="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3500" dirty="0">
              <a:solidFill>
                <a:srgbClr val="CC0000"/>
              </a:solidFill>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endParaRPr lang="zh-CN" altLang="en-US" sz="1800" b="1"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-可扩展散列索引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aphicFrame>
        <p:nvGraphicFramePr>
          <p:cNvPr id="47" name="Group 2"/>
          <p:cNvGraphicFramePr>
            <a:graphicFrameLocks noGrp="1"/>
          </p:cNvGraphicFramePr>
          <p:nvPr/>
        </p:nvGraphicFramePr>
        <p:xfrm>
          <a:off x="7359849" y="1830658"/>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8" name="Group 12"/>
          <p:cNvGraphicFramePr>
            <a:graphicFrameLocks noGrp="1"/>
          </p:cNvGraphicFramePr>
          <p:nvPr/>
        </p:nvGraphicFramePr>
        <p:xfrm>
          <a:off x="7359849" y="3126058"/>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9" name="Group 22"/>
          <p:cNvGraphicFramePr>
            <a:graphicFrameLocks noGrp="1"/>
          </p:cNvGraphicFramePr>
          <p:nvPr/>
        </p:nvGraphicFramePr>
        <p:xfrm>
          <a:off x="5378649" y="2745058"/>
          <a:ext cx="914400" cy="75723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50" name="Group 30"/>
              <p:cNvGraphicFramePr>
                <a:graphicFrameLocks noGrp="1"/>
              </p:cNvGraphicFramePr>
              <p:nvPr/>
            </p:nvGraphicFramePr>
            <p:xfrm>
              <a:off x="5378649" y="2008459"/>
              <a:ext cx="914400" cy="379413"/>
            </p:xfrm>
            <a:graphic>
              <a:graphicData uri="http://schemas.openxmlformats.org/drawingml/2006/table">
                <a:tbl>
                  <a:tblPr/>
                  <a:tblGrid>
                    <a:gridCol w="914400"/>
                  </a:tblGrid>
                  <a:tr h="379413">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0" i="1" dirty="0" smtClean="0">
                                  <a:latin typeface="Cambria Math" panose="02040503050406030204" pitchFamily="18" charset="0"/>
                                  <a:ea typeface="微软雅黑" panose="020B0503020204020204" pitchFamily="34" charset="-122"/>
                                </a:rPr>
                                <m:t>𝑖</m:t>
                              </m:r>
                            </m:oMath>
                          </a14:m>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50" name="Group 30"/>
              <p:cNvGraphicFramePr>
                <a:graphicFrameLocks noGrp="1"/>
              </p:cNvGraphicFramePr>
              <p:nvPr/>
            </p:nvGraphicFramePr>
            <p:xfrm>
              <a:off x="5378649" y="2008459"/>
              <a:ext cx="914400" cy="379413"/>
            </p:xfrm>
            <a:graphic>
              <a:graphicData uri="http://schemas.openxmlformats.org/drawingml/2006/table">
                <a:tbl>
                  <a:tblPr/>
                  <a:tblGrid>
                    <a:gridCol w="914400"/>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r>
                </a:tbl>
              </a:graphicData>
            </a:graphic>
          </p:graphicFrame>
        </mc:Fallback>
      </mc:AlternateContent>
      <p:sp>
        <p:nvSpPr>
          <p:cNvPr id="51" name="Line 36"/>
          <p:cNvSpPr/>
          <p:nvPr/>
        </p:nvSpPr>
        <p:spPr>
          <a:xfrm flipV="1">
            <a:off x="5835849" y="1983058"/>
            <a:ext cx="1524000" cy="990600"/>
          </a:xfrm>
          <a:prstGeom prst="line">
            <a:avLst/>
          </a:prstGeom>
          <a:ln w="9525" cap="flat" cmpd="sng">
            <a:solidFill>
              <a:schemeClr val="tx1"/>
            </a:solidFill>
            <a:prstDash val="solid"/>
            <a:round/>
            <a:headEnd type="none" w="med" len="med"/>
            <a:tailEnd type="triangle" w="med" len="med"/>
          </a:ln>
        </p:spPr>
      </p:sp>
      <p:sp>
        <p:nvSpPr>
          <p:cNvPr id="52" name="Line 37"/>
          <p:cNvSpPr/>
          <p:nvPr/>
        </p:nvSpPr>
        <p:spPr>
          <a:xfrm>
            <a:off x="5835849" y="3278458"/>
            <a:ext cx="1524000" cy="457200"/>
          </a:xfrm>
          <a:prstGeom prst="line">
            <a:avLst/>
          </a:prstGeom>
          <a:ln w="9525" cap="flat" cmpd="sng">
            <a:solidFill>
              <a:schemeClr val="tx1"/>
            </a:solidFill>
            <a:prstDash val="solid"/>
            <a:round/>
            <a:headEnd type="none" w="med" len="med"/>
            <a:tailEnd type="triangle" w="med" len="med"/>
          </a:ln>
        </p:spPr>
      </p:sp>
      <p:sp>
        <p:nvSpPr>
          <p:cNvPr id="53" name="Rectangle 38"/>
          <p:cNvSpPr>
            <a:spLocks noChangeAspect="1"/>
          </p:cNvSpPr>
          <p:nvPr/>
        </p:nvSpPr>
        <p:spPr>
          <a:xfrm>
            <a:off x="9417249" y="183065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1</a:t>
            </a:r>
            <a:endParaRPr lang="en-US" altLang="zh-CN" sz="1600" b="0" dirty="0">
              <a:latin typeface="Times New Roman" panose="02020603050405020304" pitchFamily="18" charset="0"/>
              <a:ea typeface="宋体" panose="02010600030101010101" pitchFamily="2" charset="-122"/>
            </a:endParaRPr>
          </a:p>
        </p:txBody>
      </p:sp>
      <p:sp>
        <p:nvSpPr>
          <p:cNvPr id="54" name="Rectangle 39"/>
          <p:cNvSpPr>
            <a:spLocks noChangeAspect="1"/>
          </p:cNvSpPr>
          <p:nvPr/>
        </p:nvSpPr>
        <p:spPr>
          <a:xfrm>
            <a:off x="9417249" y="312605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1</a:t>
            </a:r>
            <a:endParaRPr lang="en-US" altLang="zh-CN" sz="1600" b="0" dirty="0">
              <a:latin typeface="Times New Roman" panose="02020603050405020304" pitchFamily="18" charset="0"/>
              <a:ea typeface="宋体" panose="02010600030101010101" pitchFamily="2" charset="-122"/>
            </a:endParaRPr>
          </a:p>
        </p:txBody>
      </p:sp>
      <p:sp>
        <p:nvSpPr>
          <p:cNvPr id="55" name="Text Box 40"/>
          <p:cNvSpPr txBox="1"/>
          <p:nvPr/>
        </p:nvSpPr>
        <p:spPr>
          <a:xfrm>
            <a:off x="4878612" y="2711307"/>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a:t>
            </a:r>
            <a:endParaRPr lang="en-US" altLang="zh-CN" sz="2400" b="0" dirty="0">
              <a:latin typeface="Times New Roman" panose="02020603050405020304" pitchFamily="18" charset="0"/>
              <a:ea typeface="宋体" panose="02010600030101010101" pitchFamily="2" charset="-122"/>
            </a:endParaRPr>
          </a:p>
        </p:txBody>
      </p:sp>
      <p:sp>
        <p:nvSpPr>
          <p:cNvPr id="56" name="Text Box 41"/>
          <p:cNvSpPr txBox="1"/>
          <p:nvPr/>
        </p:nvSpPr>
        <p:spPr>
          <a:xfrm>
            <a:off x="4894487" y="3127232"/>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graphicFrame>
        <p:nvGraphicFramePr>
          <p:cNvPr id="57" name="Group 43"/>
          <p:cNvGraphicFramePr>
            <a:graphicFrameLocks noGrp="1"/>
          </p:cNvGraphicFramePr>
          <p:nvPr/>
        </p:nvGraphicFramePr>
        <p:xfrm>
          <a:off x="7945465" y="4408488"/>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8" name="Group 53"/>
          <p:cNvGraphicFramePr>
            <a:graphicFrameLocks noGrp="1"/>
          </p:cNvGraphicFramePr>
          <p:nvPr/>
        </p:nvGraphicFramePr>
        <p:xfrm>
          <a:off x="7945465" y="5703888"/>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1(110)</a:t>
                      </a:r>
                      <a:endParaRPr kumimoji="1" lang="en-US" altLang="zh-CN" sz="1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graphicFrame>
        <p:nvGraphicFramePr>
          <p:cNvPr id="59" name="Group 63"/>
          <p:cNvGraphicFramePr>
            <a:graphicFrameLocks noGrp="1"/>
          </p:cNvGraphicFramePr>
          <p:nvPr/>
        </p:nvGraphicFramePr>
        <p:xfrm>
          <a:off x="5964265" y="5322888"/>
          <a:ext cx="914400" cy="75723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60" name="Group 71"/>
              <p:cNvGraphicFramePr>
                <a:graphicFrameLocks noGrp="1"/>
              </p:cNvGraphicFramePr>
              <p:nvPr/>
            </p:nvGraphicFramePr>
            <p:xfrm>
              <a:off x="5964265" y="4408488"/>
              <a:ext cx="914400" cy="379413"/>
            </p:xfrm>
            <a:graphic>
              <a:graphicData uri="http://schemas.openxmlformats.org/drawingml/2006/table">
                <a:tbl>
                  <a:tblPr/>
                  <a:tblGrid>
                    <a:gridCol w="914400"/>
                  </a:tblGrid>
                  <a:tr h="379413">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0" i="1" dirty="0" smtClean="0">
                                  <a:latin typeface="Cambria Math" panose="02040503050406030204" pitchFamily="18" charset="0"/>
                                  <a:ea typeface="微软雅黑" panose="020B0503020204020204" pitchFamily="34" charset="-122"/>
                                </a:rPr>
                                <m:t>𝑖</m:t>
                              </m:r>
                            </m:oMath>
                          </a14:m>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60" name="Group 71"/>
              <p:cNvGraphicFramePr>
                <a:graphicFrameLocks noGrp="1"/>
              </p:cNvGraphicFramePr>
              <p:nvPr/>
            </p:nvGraphicFramePr>
            <p:xfrm>
              <a:off x="5964265" y="4408488"/>
              <a:ext cx="914400" cy="379413"/>
            </p:xfrm>
            <a:graphic>
              <a:graphicData uri="http://schemas.openxmlformats.org/drawingml/2006/table">
                <a:tbl>
                  <a:tblPr/>
                  <a:tblGrid>
                    <a:gridCol w="914400"/>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r>
                </a:tbl>
              </a:graphicData>
            </a:graphic>
          </p:graphicFrame>
        </mc:Fallback>
      </mc:AlternateContent>
      <p:sp>
        <p:nvSpPr>
          <p:cNvPr id="61" name="Line 77"/>
          <p:cNvSpPr/>
          <p:nvPr/>
        </p:nvSpPr>
        <p:spPr>
          <a:xfrm flipV="1">
            <a:off x="6421465" y="4560888"/>
            <a:ext cx="1524000" cy="990600"/>
          </a:xfrm>
          <a:prstGeom prst="line">
            <a:avLst/>
          </a:prstGeom>
          <a:ln w="9525" cap="flat" cmpd="sng">
            <a:solidFill>
              <a:schemeClr val="tx1"/>
            </a:solidFill>
            <a:prstDash val="solid"/>
            <a:round/>
            <a:headEnd type="none" w="med" len="med"/>
            <a:tailEnd type="triangle" w="med" len="med"/>
          </a:ln>
        </p:spPr>
      </p:sp>
      <p:sp>
        <p:nvSpPr>
          <p:cNvPr id="62" name="Line 78"/>
          <p:cNvSpPr/>
          <p:nvPr/>
        </p:nvSpPr>
        <p:spPr>
          <a:xfrm>
            <a:off x="6421465" y="5856288"/>
            <a:ext cx="1524000" cy="457200"/>
          </a:xfrm>
          <a:prstGeom prst="line">
            <a:avLst/>
          </a:prstGeom>
          <a:ln w="9525" cap="flat" cmpd="sng">
            <a:solidFill>
              <a:schemeClr val="tx1"/>
            </a:solidFill>
            <a:prstDash val="solid"/>
            <a:round/>
            <a:headEnd type="none" w="med" len="med"/>
            <a:tailEnd type="triangle" w="med" len="med"/>
          </a:ln>
        </p:spPr>
      </p:sp>
      <p:sp>
        <p:nvSpPr>
          <p:cNvPr id="63" name="Rectangle 79"/>
          <p:cNvSpPr>
            <a:spLocks noChangeAspect="1"/>
          </p:cNvSpPr>
          <p:nvPr/>
        </p:nvSpPr>
        <p:spPr>
          <a:xfrm>
            <a:off x="10002865" y="440848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1</a:t>
            </a:r>
            <a:endParaRPr lang="en-US" altLang="zh-CN" sz="1600" b="0" dirty="0">
              <a:latin typeface="Times New Roman" panose="02020603050405020304" pitchFamily="18" charset="0"/>
              <a:ea typeface="宋体" panose="02010600030101010101" pitchFamily="2" charset="-122"/>
            </a:endParaRPr>
          </a:p>
        </p:txBody>
      </p:sp>
      <p:sp>
        <p:nvSpPr>
          <p:cNvPr id="64" name="Rectangle 80"/>
          <p:cNvSpPr>
            <a:spLocks noChangeAspect="1"/>
          </p:cNvSpPr>
          <p:nvPr/>
        </p:nvSpPr>
        <p:spPr>
          <a:xfrm>
            <a:off x="10002865" y="570388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1</a:t>
            </a:r>
            <a:endParaRPr lang="en-US" altLang="zh-CN" sz="1600" b="0" dirty="0">
              <a:latin typeface="Times New Roman" panose="02020603050405020304" pitchFamily="18" charset="0"/>
              <a:ea typeface="宋体" panose="02010600030101010101" pitchFamily="2" charset="-122"/>
            </a:endParaRPr>
          </a:p>
        </p:txBody>
      </p:sp>
      <p:sp>
        <p:nvSpPr>
          <p:cNvPr id="65" name="Text Box 81"/>
          <p:cNvSpPr txBox="1"/>
          <p:nvPr/>
        </p:nvSpPr>
        <p:spPr>
          <a:xfrm>
            <a:off x="5543578" y="5278807"/>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a:t>
            </a:r>
            <a:endParaRPr lang="en-US" altLang="zh-CN" sz="2400" b="0" dirty="0">
              <a:latin typeface="Times New Roman" panose="02020603050405020304" pitchFamily="18" charset="0"/>
              <a:ea typeface="宋体" panose="02010600030101010101" pitchFamily="2" charset="-122"/>
            </a:endParaRPr>
          </a:p>
        </p:txBody>
      </p:sp>
      <p:sp>
        <p:nvSpPr>
          <p:cNvPr id="66" name="Text Box 82"/>
          <p:cNvSpPr txBox="1"/>
          <p:nvPr/>
        </p:nvSpPr>
        <p:spPr>
          <a:xfrm>
            <a:off x="5559453" y="5694732"/>
            <a:ext cx="3365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68" name="Line 84"/>
          <p:cNvSpPr/>
          <p:nvPr/>
        </p:nvSpPr>
        <p:spPr>
          <a:xfrm flipV="1">
            <a:off x="0" y="4005263"/>
            <a:ext cx="12115800" cy="0"/>
          </a:xfrm>
          <a:prstGeom prst="line">
            <a:avLst/>
          </a:prstGeom>
          <a:ln w="9525" cap="flat" cmpd="sng">
            <a:solidFill>
              <a:schemeClr val="tx1"/>
            </a:solidFill>
            <a:prstDash val="solid"/>
            <a:round/>
            <a:headEnd type="none" w="med" len="med"/>
            <a:tailEnd type="none" w="med" len="med"/>
          </a:ln>
        </p:spPr>
      </p:sp>
      <mc:AlternateContent xmlns:mc="http://schemas.openxmlformats.org/markup-compatibility/2006">
        <mc:Choice xmlns:a14="http://schemas.microsoft.com/office/drawing/2010/main" Requires="a14">
          <p:sp>
            <p:nvSpPr>
              <p:cNvPr id="69" name="Rectangle 102"/>
              <p:cNvSpPr/>
              <p:nvPr/>
            </p:nvSpPr>
            <p:spPr>
              <a:xfrm>
                <a:off x="2771974" y="2049180"/>
                <a:ext cx="1751012" cy="1601592"/>
              </a:xfrm>
              <a:prstGeom prst="rect">
                <a:avLst/>
              </a:prstGeom>
              <a:noFill/>
              <a:ln w="9525">
                <a:noFill/>
              </a:ln>
            </p:spPr>
            <p:txBody>
              <a:bodyPr anchor="t">
                <a:spAutoFit/>
              </a:bodyPr>
              <a:lstStyle/>
              <a:p>
                <a:pPr>
                  <a:spcBef>
                    <a:spcPct val="20000"/>
                  </a:spcBef>
                </a:pPr>
                <a:r>
                  <a:rPr lang="en-US" altLang="zh-CN" sz="2800" dirty="0">
                    <a:latin typeface="Arial" panose="020B0604020202020204" pitchFamily="34" charset="0"/>
                    <a:ea typeface="楷体_GB2312" pitchFamily="49" charset="-122"/>
                  </a:rPr>
                  <a:t>k=4</a:t>
                </a:r>
                <a:endParaRPr lang="en-US" altLang="zh-CN" sz="2800" dirty="0">
                  <a:latin typeface="Arial" panose="020B0604020202020204" pitchFamily="34" charset="0"/>
                  <a:ea typeface="楷体_GB2312" pitchFamily="49" charset="-122"/>
                </a:endParaRPr>
              </a:p>
              <a:p>
                <a:pPr>
                  <a:spcBef>
                    <a:spcPct val="20000"/>
                  </a:spcBef>
                </a:pPr>
                <a14:m>
                  <m:oMath xmlns:m="http://schemas.openxmlformats.org/officeDocument/2006/math">
                    <m:r>
                      <a:rPr lang="en-US" altLang="zh-CN" sz="2800" b="0" i="1" dirty="0" smtClean="0">
                        <a:latin typeface="Cambria Math" panose="02040503050406030204" pitchFamily="18" charset="0"/>
                        <a:ea typeface="微软雅黑" panose="020B0503020204020204" pitchFamily="34" charset="-122"/>
                      </a:rPr>
                      <m:t>𝑖</m:t>
                    </m:r>
                    <m:r>
                      <a:rPr lang="en-US" altLang="zh-CN" sz="2800" b="0" i="1" dirty="0" smtClean="0">
                        <a:latin typeface="Cambria Math" panose="02040503050406030204" pitchFamily="18" charset="0"/>
                        <a:ea typeface="微软雅黑" panose="020B0503020204020204" pitchFamily="34" charset="-122"/>
                      </a:rPr>
                      <m:t> </m:t>
                    </m:r>
                  </m:oMath>
                </a14:m>
                <a:r>
                  <a:rPr lang="en-US" altLang="zh-CN" sz="2800" dirty="0">
                    <a:latin typeface="Arial" panose="020B0604020202020204" pitchFamily="34" charset="0"/>
                    <a:ea typeface="楷体_GB2312" pitchFamily="49" charset="-122"/>
                  </a:rPr>
                  <a:t>=1  </a:t>
                </a:r>
                <a:endParaRPr lang="en-US" altLang="zh-CN" sz="2800" dirty="0">
                  <a:latin typeface="Arial" panose="020B0604020202020204" pitchFamily="34" charset="0"/>
                  <a:ea typeface="楷体_GB2312" pitchFamily="49" charset="-122"/>
                </a:endParaRPr>
              </a:p>
              <a:p>
                <a:pPr>
                  <a:spcBef>
                    <a:spcPct val="20000"/>
                  </a:spcBef>
                </a:pPr>
                <a:r>
                  <a:rPr lang="en-US" altLang="zh-CN" sz="2800" dirty="0">
                    <a:latin typeface="Arial" panose="020B0604020202020204" pitchFamily="34" charset="0"/>
                    <a:ea typeface="楷体_GB2312" pitchFamily="49" charset="-122"/>
                  </a:rPr>
                  <a:t>n=</a:t>
                </a:r>
                <a14:m>
                  <m:oMath xmlns:m="http://schemas.openxmlformats.org/officeDocument/2006/math">
                    <m:sSup>
                      <m:sSupPr>
                        <m:ctrlPr>
                          <a:rPr lang="en-US" altLang="zh-CN" sz="2800" i="1" dirty="0" smtClean="0">
                            <a:latin typeface="Cambria Math" panose="02040503050406030204" pitchFamily="18" charset="0"/>
                            <a:ea typeface="楷体_GB2312" pitchFamily="49" charset="-122"/>
                          </a:rPr>
                        </m:ctrlPr>
                      </m:sSupPr>
                      <m:e>
                        <m:r>
                          <a:rPr lang="en-US" altLang="zh-CN" sz="2800" i="1" dirty="0">
                            <a:latin typeface="Cambria Math" panose="02040503050406030204" pitchFamily="18" charset="0"/>
                            <a:ea typeface="楷体_GB2312" pitchFamily="49" charset="-122"/>
                          </a:rPr>
                          <m:t>2</m:t>
                        </m:r>
                      </m:e>
                      <m:sup>
                        <m:r>
                          <a:rPr lang="en-US" altLang="zh-CN" sz="2800" i="1" dirty="0">
                            <a:latin typeface="Cambria Math" panose="02040503050406030204" pitchFamily="18" charset="0"/>
                            <a:ea typeface="微软雅黑" panose="020B0503020204020204" pitchFamily="34" charset="-122"/>
                          </a:rPr>
                          <m:t>𝑖</m:t>
                        </m:r>
                      </m:sup>
                    </m:sSup>
                    <m:r>
                      <a:rPr lang="en-US" altLang="zh-CN" sz="2800" b="0" i="1" dirty="0" smtClean="0">
                        <a:latin typeface="Cambria Math" panose="02040503050406030204" pitchFamily="18" charset="0"/>
                        <a:ea typeface="微软雅黑" panose="020B0503020204020204" pitchFamily="34" charset="-122"/>
                      </a:rPr>
                      <m:t> </m:t>
                    </m:r>
                  </m:oMath>
                </a14:m>
                <a:r>
                  <a:rPr lang="en-US" altLang="zh-CN" sz="2800" dirty="0">
                    <a:latin typeface="Arial" panose="020B0604020202020204" pitchFamily="34" charset="0"/>
                    <a:ea typeface="楷体_GB2312" pitchFamily="49" charset="-122"/>
                  </a:rPr>
                  <a:t>=2</a:t>
                </a:r>
                <a:endParaRPr lang="en-US" altLang="zh-CN" sz="2800" dirty="0">
                  <a:latin typeface="Arial" panose="020B0604020202020204" pitchFamily="34" charset="0"/>
                  <a:ea typeface="楷体_GB2312" pitchFamily="49" charset="-122"/>
                </a:endParaRPr>
              </a:p>
            </p:txBody>
          </p:sp>
        </mc:Choice>
        <mc:Fallback>
          <p:sp>
            <p:nvSpPr>
              <p:cNvPr id="69" name="Rectangle 102"/>
              <p:cNvSpPr>
                <a:spLocks noRot="1" noChangeAspect="1" noMove="1" noResize="1" noEditPoints="1" noAdjustHandles="1" noChangeArrowheads="1" noChangeShapeType="1" noTextEdit="1"/>
              </p:cNvSpPr>
              <p:nvPr/>
            </p:nvSpPr>
            <p:spPr>
              <a:xfrm>
                <a:off x="2771974" y="2049180"/>
                <a:ext cx="1751012" cy="1601592"/>
              </a:xfrm>
              <a:prstGeom prst="rect">
                <a:avLst/>
              </a:prstGeom>
              <a:blipFill rotWithShape="1">
                <a:blip r:embed="rId2"/>
                <a:stretch>
                  <a:fillRect l="-11" t="-2" r="29" b="10"/>
                </a:stretch>
              </a:blipFill>
              <a:ln w="9525">
                <a:noFill/>
              </a:ln>
            </p:spPr>
            <p:txBody>
              <a:bodyPr/>
              <a:lstStyle/>
              <a:p>
                <a:r>
                  <a:rPr lang="zh-CN" altLang="en-US">
                    <a:noFill/>
                  </a:rPr>
                  <a:t> </a:t>
                </a:r>
              </a:p>
            </p:txBody>
          </p:sp>
        </mc:Fallback>
      </mc:AlternateContent>
      <p:grpSp>
        <p:nvGrpSpPr>
          <p:cNvPr id="70" name="Group 104"/>
          <p:cNvGrpSpPr/>
          <p:nvPr/>
        </p:nvGrpSpPr>
        <p:grpSpPr>
          <a:xfrm>
            <a:off x="1872341" y="4741863"/>
            <a:ext cx="2900362" cy="847725"/>
            <a:chOff x="1265" y="3268"/>
            <a:chExt cx="1153" cy="629"/>
          </a:xfrm>
        </p:grpSpPr>
        <p:sp>
          <p:nvSpPr>
            <p:cNvPr id="71"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72"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73" name="Text Box 84"/>
            <p:cNvSpPr/>
            <p:nvPr/>
          </p:nvSpPr>
          <p:spPr>
            <a:xfrm>
              <a:off x="1274" y="3303"/>
              <a:ext cx="1140" cy="512"/>
            </a:xfrm>
            <a:prstGeom prst="roundRect">
              <a:avLst>
                <a:gd name="adj" fmla="val 16667"/>
              </a:avLst>
            </a:prstGeom>
            <a:noFill/>
            <a:ln w="9525">
              <a:noFill/>
            </a:ln>
          </p:spPr>
          <p:txBody>
            <a:bodyPr anchor="t">
              <a:spAutoFit/>
            </a:bodyPr>
            <a:lstStyle/>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取前</a:t>
              </a:r>
              <a:r>
                <a:rPr lang="en-US" altLang="zh-CN" sz="1600" dirty="0">
                  <a:solidFill>
                    <a:schemeClr val="accent2"/>
                  </a:solidFill>
                  <a:latin typeface="Arial" panose="020B0604020202020204" pitchFamily="34" charset="0"/>
                  <a:ea typeface="微软雅黑" panose="020B0503020204020204" pitchFamily="34" charset="-122"/>
                </a:rPr>
                <a:t>i</a:t>
              </a:r>
              <a:r>
                <a:rPr lang="zh-CN" altLang="en-US" sz="1600" dirty="0">
                  <a:solidFill>
                    <a:schemeClr val="accent2"/>
                  </a:solidFill>
                  <a:latin typeface="Arial" panose="020B0604020202020204" pitchFamily="34" charset="0"/>
                  <a:ea typeface="微软雅黑" panose="020B0503020204020204" pitchFamily="34" charset="-122"/>
                </a:rPr>
                <a:t>位，确定索引块。</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如有空间，则存储</a:t>
              </a:r>
              <a:endParaRPr lang="zh-CN" altLang="en-US" sz="1600" dirty="0">
                <a:solidFill>
                  <a:schemeClr val="accent2"/>
                </a:solidFill>
                <a:latin typeface="Arial" panose="020B0604020202020204" pitchFamily="34" charset="0"/>
                <a:ea typeface="微软雅黑" panose="020B0503020204020204" pitchFamily="34" charset="-122"/>
              </a:endParaRPr>
            </a:p>
          </p:txBody>
        </p:sp>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additive="base">
                                        <p:cTn id="7" dur="500" fill="hold"/>
                                        <p:tgtEl>
                                          <p:spTgt spid="70"/>
                                        </p:tgtEl>
                                        <p:attrNameLst>
                                          <p:attrName>ppt_x</p:attrName>
                                        </p:attrNameLst>
                                      </p:cBhvr>
                                      <p:tavLst>
                                        <p:tav tm="0">
                                          <p:val>
                                            <p:strVal val="#ppt_x"/>
                                          </p:val>
                                        </p:tav>
                                        <p:tav tm="100000">
                                          <p:val>
                                            <p:strVal val="#ppt_x"/>
                                          </p:val>
                                        </p:tav>
                                      </p:tavLst>
                                    </p:anim>
                                    <p:anim calcmode="lin" valueType="num">
                                      <p:cBhvr additive="base">
                                        <p:cTn id="8"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7"/>
                                        </p:tgtEl>
                                        <p:attrNameLst>
                                          <p:attrName>style.visibility</p:attrName>
                                        </p:attrNameLst>
                                      </p:cBhvr>
                                      <p:to>
                                        <p:strVal val="visible"/>
                                      </p:to>
                                    </p:set>
                                    <p:anim calcmode="lin" valueType="num">
                                      <p:cBhvr additive="base">
                                        <p:cTn id="13" dur="500" fill="hold"/>
                                        <p:tgtEl>
                                          <p:spTgt spid="57"/>
                                        </p:tgtEl>
                                        <p:attrNameLst>
                                          <p:attrName>ppt_x</p:attrName>
                                        </p:attrNameLst>
                                      </p:cBhvr>
                                      <p:tavLst>
                                        <p:tav tm="0">
                                          <p:val>
                                            <p:strVal val="#ppt_x"/>
                                          </p:val>
                                        </p:tav>
                                        <p:tav tm="100000">
                                          <p:val>
                                            <p:strVal val="#ppt_x"/>
                                          </p:val>
                                        </p:tav>
                                      </p:tavLst>
                                    </p:anim>
                                    <p:anim calcmode="lin" valueType="num">
                                      <p:cBhvr additive="base">
                                        <p:cTn id="14" dur="500" fill="hold"/>
                                        <p:tgtEl>
                                          <p:spTgt spid="57"/>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8"/>
                                        </p:tgtEl>
                                        <p:attrNameLst>
                                          <p:attrName>style.visibility</p:attrName>
                                        </p:attrNameLst>
                                      </p:cBhvr>
                                      <p:to>
                                        <p:strVal val="visible"/>
                                      </p:to>
                                    </p:set>
                                    <p:anim calcmode="lin" valueType="num">
                                      <p:cBhvr additive="base">
                                        <p:cTn id="17" dur="500" fill="hold"/>
                                        <p:tgtEl>
                                          <p:spTgt spid="58"/>
                                        </p:tgtEl>
                                        <p:attrNameLst>
                                          <p:attrName>ppt_x</p:attrName>
                                        </p:attrNameLst>
                                      </p:cBhvr>
                                      <p:tavLst>
                                        <p:tav tm="0">
                                          <p:val>
                                            <p:strVal val="#ppt_x"/>
                                          </p:val>
                                        </p:tav>
                                        <p:tav tm="100000">
                                          <p:val>
                                            <p:strVal val="#ppt_x"/>
                                          </p:val>
                                        </p:tav>
                                      </p:tavLst>
                                    </p:anim>
                                    <p:anim calcmode="lin" valueType="num">
                                      <p:cBhvr additive="base">
                                        <p:cTn id="18" dur="500" fill="hold"/>
                                        <p:tgtEl>
                                          <p:spTgt spid="5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anim calcmode="lin" valueType="num">
                                      <p:cBhvr additive="base">
                                        <p:cTn id="21" dur="500" fill="hold"/>
                                        <p:tgtEl>
                                          <p:spTgt spid="59"/>
                                        </p:tgtEl>
                                        <p:attrNameLst>
                                          <p:attrName>ppt_x</p:attrName>
                                        </p:attrNameLst>
                                      </p:cBhvr>
                                      <p:tavLst>
                                        <p:tav tm="0">
                                          <p:val>
                                            <p:strVal val="#ppt_x"/>
                                          </p:val>
                                        </p:tav>
                                        <p:tav tm="100000">
                                          <p:val>
                                            <p:strVal val="#ppt_x"/>
                                          </p:val>
                                        </p:tav>
                                      </p:tavLst>
                                    </p:anim>
                                    <p:anim calcmode="lin" valueType="num">
                                      <p:cBhvr additive="base">
                                        <p:cTn id="22" dur="500" fill="hold"/>
                                        <p:tgtEl>
                                          <p:spTgt spid="5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0"/>
                                        </p:tgtEl>
                                        <p:attrNameLst>
                                          <p:attrName>style.visibility</p:attrName>
                                        </p:attrNameLst>
                                      </p:cBhvr>
                                      <p:to>
                                        <p:strVal val="visible"/>
                                      </p:to>
                                    </p:set>
                                    <p:anim calcmode="lin" valueType="num">
                                      <p:cBhvr additive="base">
                                        <p:cTn id="25" dur="500" fill="hold"/>
                                        <p:tgtEl>
                                          <p:spTgt spid="60"/>
                                        </p:tgtEl>
                                        <p:attrNameLst>
                                          <p:attrName>ppt_x</p:attrName>
                                        </p:attrNameLst>
                                      </p:cBhvr>
                                      <p:tavLst>
                                        <p:tav tm="0">
                                          <p:val>
                                            <p:strVal val="#ppt_x"/>
                                          </p:val>
                                        </p:tav>
                                        <p:tav tm="100000">
                                          <p:val>
                                            <p:strVal val="#ppt_x"/>
                                          </p:val>
                                        </p:tav>
                                      </p:tavLst>
                                    </p:anim>
                                    <p:anim calcmode="lin" valueType="num">
                                      <p:cBhvr additive="base">
                                        <p:cTn id="26" dur="500" fill="hold"/>
                                        <p:tgtEl>
                                          <p:spTgt spid="60"/>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anim calcmode="lin" valueType="num">
                                      <p:cBhvr additive="base">
                                        <p:cTn id="29" dur="500" fill="hold"/>
                                        <p:tgtEl>
                                          <p:spTgt spid="61"/>
                                        </p:tgtEl>
                                        <p:attrNameLst>
                                          <p:attrName>ppt_x</p:attrName>
                                        </p:attrNameLst>
                                      </p:cBhvr>
                                      <p:tavLst>
                                        <p:tav tm="0">
                                          <p:val>
                                            <p:strVal val="#ppt_x"/>
                                          </p:val>
                                        </p:tav>
                                        <p:tav tm="100000">
                                          <p:val>
                                            <p:strVal val="#ppt_x"/>
                                          </p:val>
                                        </p:tav>
                                      </p:tavLst>
                                    </p:anim>
                                    <p:anim calcmode="lin" valueType="num">
                                      <p:cBhvr additive="base">
                                        <p:cTn id="30" dur="500" fill="hold"/>
                                        <p:tgtEl>
                                          <p:spTgt spid="61"/>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2"/>
                                        </p:tgtEl>
                                        <p:attrNameLst>
                                          <p:attrName>style.visibility</p:attrName>
                                        </p:attrNameLst>
                                      </p:cBhvr>
                                      <p:to>
                                        <p:strVal val="visible"/>
                                      </p:to>
                                    </p:set>
                                    <p:anim calcmode="lin" valueType="num">
                                      <p:cBhvr additive="base">
                                        <p:cTn id="33" dur="500" fill="hold"/>
                                        <p:tgtEl>
                                          <p:spTgt spid="62"/>
                                        </p:tgtEl>
                                        <p:attrNameLst>
                                          <p:attrName>ppt_x</p:attrName>
                                        </p:attrNameLst>
                                      </p:cBhvr>
                                      <p:tavLst>
                                        <p:tav tm="0">
                                          <p:val>
                                            <p:strVal val="#ppt_x"/>
                                          </p:val>
                                        </p:tav>
                                        <p:tav tm="100000">
                                          <p:val>
                                            <p:strVal val="#ppt_x"/>
                                          </p:val>
                                        </p:tav>
                                      </p:tavLst>
                                    </p:anim>
                                    <p:anim calcmode="lin" valueType="num">
                                      <p:cBhvr additive="base">
                                        <p:cTn id="34" dur="500" fill="hold"/>
                                        <p:tgtEl>
                                          <p:spTgt spid="6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63"/>
                                        </p:tgtEl>
                                        <p:attrNameLst>
                                          <p:attrName>style.visibility</p:attrName>
                                        </p:attrNameLst>
                                      </p:cBhvr>
                                      <p:to>
                                        <p:strVal val="visible"/>
                                      </p:to>
                                    </p:set>
                                    <p:anim calcmode="lin" valueType="num">
                                      <p:cBhvr additive="base">
                                        <p:cTn id="37" dur="500" fill="hold"/>
                                        <p:tgtEl>
                                          <p:spTgt spid="63"/>
                                        </p:tgtEl>
                                        <p:attrNameLst>
                                          <p:attrName>ppt_x</p:attrName>
                                        </p:attrNameLst>
                                      </p:cBhvr>
                                      <p:tavLst>
                                        <p:tav tm="0">
                                          <p:val>
                                            <p:strVal val="#ppt_x"/>
                                          </p:val>
                                        </p:tav>
                                        <p:tav tm="100000">
                                          <p:val>
                                            <p:strVal val="#ppt_x"/>
                                          </p:val>
                                        </p:tav>
                                      </p:tavLst>
                                    </p:anim>
                                    <p:anim calcmode="lin" valueType="num">
                                      <p:cBhvr additive="base">
                                        <p:cTn id="38" dur="500" fill="hold"/>
                                        <p:tgtEl>
                                          <p:spTgt spid="63"/>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64"/>
                                        </p:tgtEl>
                                        <p:attrNameLst>
                                          <p:attrName>style.visibility</p:attrName>
                                        </p:attrNameLst>
                                      </p:cBhvr>
                                      <p:to>
                                        <p:strVal val="visible"/>
                                      </p:to>
                                    </p:set>
                                    <p:anim calcmode="lin" valueType="num">
                                      <p:cBhvr additive="base">
                                        <p:cTn id="41" dur="500" fill="hold"/>
                                        <p:tgtEl>
                                          <p:spTgt spid="64"/>
                                        </p:tgtEl>
                                        <p:attrNameLst>
                                          <p:attrName>ppt_x</p:attrName>
                                        </p:attrNameLst>
                                      </p:cBhvr>
                                      <p:tavLst>
                                        <p:tav tm="0">
                                          <p:val>
                                            <p:strVal val="#ppt_x"/>
                                          </p:val>
                                        </p:tav>
                                        <p:tav tm="100000">
                                          <p:val>
                                            <p:strVal val="#ppt_x"/>
                                          </p:val>
                                        </p:tav>
                                      </p:tavLst>
                                    </p:anim>
                                    <p:anim calcmode="lin" valueType="num">
                                      <p:cBhvr additive="base">
                                        <p:cTn id="42" dur="500" fill="hold"/>
                                        <p:tgtEl>
                                          <p:spTgt spid="64"/>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65"/>
                                        </p:tgtEl>
                                        <p:attrNameLst>
                                          <p:attrName>style.visibility</p:attrName>
                                        </p:attrNameLst>
                                      </p:cBhvr>
                                      <p:to>
                                        <p:strVal val="visible"/>
                                      </p:to>
                                    </p:set>
                                    <p:anim calcmode="lin" valueType="num">
                                      <p:cBhvr additive="base">
                                        <p:cTn id="45" dur="500" fill="hold"/>
                                        <p:tgtEl>
                                          <p:spTgt spid="65"/>
                                        </p:tgtEl>
                                        <p:attrNameLst>
                                          <p:attrName>ppt_x</p:attrName>
                                        </p:attrNameLst>
                                      </p:cBhvr>
                                      <p:tavLst>
                                        <p:tav tm="0">
                                          <p:val>
                                            <p:strVal val="#ppt_x"/>
                                          </p:val>
                                        </p:tav>
                                        <p:tav tm="100000">
                                          <p:val>
                                            <p:strVal val="#ppt_x"/>
                                          </p:val>
                                        </p:tav>
                                      </p:tavLst>
                                    </p:anim>
                                    <p:anim calcmode="lin" valueType="num">
                                      <p:cBhvr additive="base">
                                        <p:cTn id="46" dur="500" fill="hold"/>
                                        <p:tgtEl>
                                          <p:spTgt spid="65"/>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66"/>
                                        </p:tgtEl>
                                        <p:attrNameLst>
                                          <p:attrName>style.visibility</p:attrName>
                                        </p:attrNameLst>
                                      </p:cBhvr>
                                      <p:to>
                                        <p:strVal val="visible"/>
                                      </p:to>
                                    </p:set>
                                    <p:anim calcmode="lin" valueType="num">
                                      <p:cBhvr additive="base">
                                        <p:cTn id="49" dur="500" fill="hold"/>
                                        <p:tgtEl>
                                          <p:spTgt spid="66"/>
                                        </p:tgtEl>
                                        <p:attrNameLst>
                                          <p:attrName>ppt_x</p:attrName>
                                        </p:attrNameLst>
                                      </p:cBhvr>
                                      <p:tavLst>
                                        <p:tav tm="0">
                                          <p:val>
                                            <p:strVal val="#ppt_x"/>
                                          </p:val>
                                        </p:tav>
                                        <p:tav tm="100000">
                                          <p:val>
                                            <p:strVal val="#ppt_x"/>
                                          </p:val>
                                        </p:tav>
                                      </p:tavLst>
                                    </p:anim>
                                    <p:anim calcmode="lin" valueType="num">
                                      <p:cBhvr additive="base">
                                        <p:cTn id="50" dur="500" fill="hold"/>
                                        <p:tgtEl>
                                          <p:spTgt spid="66"/>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68"/>
                                        </p:tgtEl>
                                        <p:attrNameLst>
                                          <p:attrName>style.visibility</p:attrName>
                                        </p:attrNameLst>
                                      </p:cBhvr>
                                      <p:to>
                                        <p:strVal val="visible"/>
                                      </p:to>
                                    </p:set>
                                    <p:anim calcmode="lin" valueType="num">
                                      <p:cBhvr additive="base">
                                        <p:cTn id="53" dur="500" fill="hold"/>
                                        <p:tgtEl>
                                          <p:spTgt spid="68"/>
                                        </p:tgtEl>
                                        <p:attrNameLst>
                                          <p:attrName>ppt_x</p:attrName>
                                        </p:attrNameLst>
                                      </p:cBhvr>
                                      <p:tavLst>
                                        <p:tav tm="0">
                                          <p:val>
                                            <p:strVal val="#ppt_x"/>
                                          </p:val>
                                        </p:tav>
                                        <p:tav tm="100000">
                                          <p:val>
                                            <p:strVal val="#ppt_x"/>
                                          </p:val>
                                        </p:tav>
                                      </p:tavLst>
                                    </p:anim>
                                    <p:anim calcmode="lin" valueType="num">
                                      <p:cBhvr additive="base">
                                        <p:cTn id="54"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bldLvl="0" animBg="1"/>
      <p:bldP spid="64" grpId="0" bldLvl="0" animBg="1"/>
      <p:bldP spid="65" grpId="0"/>
      <p:bldP spid="66"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操作示例</a:t>
            </a:r>
            <a:endParaRPr lang="en-US" altLang="zh-CN"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t>插入</a:t>
            </a:r>
            <a:r>
              <a:rPr lang="en-US" altLang="zh-CN" sz="2000" b="0" dirty="0"/>
              <a:t>0000</a:t>
            </a:r>
            <a:r>
              <a:rPr lang="zh-CN" altLang="en-US" sz="2000" b="0" dirty="0"/>
              <a:t>，再插入</a:t>
            </a:r>
            <a:r>
              <a:rPr lang="en-US" altLang="zh-CN" sz="2000" b="0" dirty="0"/>
              <a:t>0101</a:t>
            </a:r>
            <a:endParaRPr lang="en-US" altLang="zh-CN" sz="2000" b="0" dirty="0"/>
          </a:p>
          <a:p>
            <a:pPr marL="0" indent="0">
              <a:lnSpc>
                <a:spcPct val="100000"/>
              </a:lnSpc>
              <a:spcBef>
                <a:spcPct val="20000"/>
              </a:spcBef>
              <a:buNone/>
            </a:pPr>
            <a:endParaRPr lang="en-US" altLang="zh-CN" sz="24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3500" dirty="0">
              <a:solidFill>
                <a:srgbClr val="CC0000"/>
              </a:solidFill>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endParaRPr lang="zh-CN" altLang="en-US" sz="1800" b="1"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-可扩展散列索引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aphicFrame>
        <p:nvGraphicFramePr>
          <p:cNvPr id="41" name="Group 103"/>
          <p:cNvGraphicFramePr>
            <a:graphicFrameLocks noGrp="1"/>
          </p:cNvGraphicFramePr>
          <p:nvPr/>
        </p:nvGraphicFramePr>
        <p:xfrm>
          <a:off x="8741268" y="1299474"/>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graphicFrame>
        <p:nvGraphicFramePr>
          <p:cNvPr id="42" name="Group 113"/>
          <p:cNvGraphicFramePr>
            <a:graphicFrameLocks noGrp="1"/>
          </p:cNvGraphicFramePr>
          <p:nvPr/>
        </p:nvGraphicFramePr>
        <p:xfrm>
          <a:off x="8741268" y="2594874"/>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3" name="Group 123"/>
          <p:cNvGraphicFramePr>
            <a:graphicFrameLocks noGrp="1"/>
          </p:cNvGraphicFramePr>
          <p:nvPr/>
        </p:nvGraphicFramePr>
        <p:xfrm>
          <a:off x="6760068" y="2213874"/>
          <a:ext cx="914400" cy="151288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44" name="Group 135"/>
              <p:cNvGraphicFramePr>
                <a:graphicFrameLocks noGrp="1"/>
              </p:cNvGraphicFramePr>
              <p:nvPr/>
            </p:nvGraphicFramePr>
            <p:xfrm>
              <a:off x="6765168" y="1622625"/>
              <a:ext cx="914400" cy="379413"/>
            </p:xfrm>
            <a:graphic>
              <a:graphicData uri="http://schemas.openxmlformats.org/drawingml/2006/table">
                <a:tbl>
                  <a:tblPr/>
                  <a:tblGrid>
                    <a:gridCol w="914400"/>
                  </a:tblGrid>
                  <a:tr h="379413">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0" i="1" dirty="0" smtClean="0">
                                  <a:latin typeface="Cambria Math" panose="02040503050406030204" pitchFamily="18" charset="0"/>
                                  <a:ea typeface="微软雅黑" panose="020B0503020204020204" pitchFamily="34" charset="-122"/>
                                </a:rPr>
                                <m:t>𝑖</m:t>
                              </m:r>
                            </m:oMath>
                          </a14:m>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44" name="Group 135"/>
              <p:cNvGraphicFramePr>
                <a:graphicFrameLocks noGrp="1"/>
              </p:cNvGraphicFramePr>
              <p:nvPr/>
            </p:nvGraphicFramePr>
            <p:xfrm>
              <a:off x="6765168" y="1622625"/>
              <a:ext cx="914400" cy="379413"/>
            </p:xfrm>
            <a:graphic>
              <a:graphicData uri="http://schemas.openxmlformats.org/drawingml/2006/table">
                <a:tbl>
                  <a:tblPr/>
                  <a:tblGrid>
                    <a:gridCol w="914400"/>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r>
                </a:tbl>
              </a:graphicData>
            </a:graphic>
          </p:graphicFrame>
        </mc:Fallback>
      </mc:AlternateContent>
      <p:sp>
        <p:nvSpPr>
          <p:cNvPr id="45" name="Line 141"/>
          <p:cNvSpPr/>
          <p:nvPr/>
        </p:nvSpPr>
        <p:spPr>
          <a:xfrm flipV="1">
            <a:off x="7217268" y="1451874"/>
            <a:ext cx="1524000" cy="990600"/>
          </a:xfrm>
          <a:prstGeom prst="line">
            <a:avLst/>
          </a:prstGeom>
          <a:ln w="9525" cap="flat" cmpd="sng">
            <a:solidFill>
              <a:schemeClr val="tx1"/>
            </a:solidFill>
            <a:prstDash val="solid"/>
            <a:round/>
            <a:headEnd type="none" w="med" len="med"/>
            <a:tailEnd type="triangle" w="med" len="med"/>
          </a:ln>
        </p:spPr>
      </p:sp>
      <p:sp>
        <p:nvSpPr>
          <p:cNvPr id="46" name="Line 142"/>
          <p:cNvSpPr/>
          <p:nvPr/>
        </p:nvSpPr>
        <p:spPr>
          <a:xfrm>
            <a:off x="7217268" y="3204474"/>
            <a:ext cx="1524000" cy="0"/>
          </a:xfrm>
          <a:prstGeom prst="line">
            <a:avLst/>
          </a:prstGeom>
          <a:ln w="9525" cap="flat" cmpd="sng">
            <a:solidFill>
              <a:schemeClr val="tx1"/>
            </a:solidFill>
            <a:prstDash val="solid"/>
            <a:round/>
            <a:headEnd type="none" w="med" len="med"/>
            <a:tailEnd type="triangle" w="med" len="med"/>
          </a:ln>
        </p:spPr>
      </p:sp>
      <p:sp>
        <p:nvSpPr>
          <p:cNvPr id="67" name="Rectangle 143"/>
          <p:cNvSpPr>
            <a:spLocks noChangeAspect="1"/>
          </p:cNvSpPr>
          <p:nvPr/>
        </p:nvSpPr>
        <p:spPr>
          <a:xfrm>
            <a:off x="10798668" y="1299474"/>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1</a:t>
            </a:r>
            <a:endParaRPr lang="en-US" altLang="zh-CN" sz="1600" b="0" dirty="0">
              <a:latin typeface="Times New Roman" panose="02020603050405020304" pitchFamily="18" charset="0"/>
              <a:ea typeface="宋体" panose="02010600030101010101" pitchFamily="2" charset="-122"/>
            </a:endParaRPr>
          </a:p>
        </p:txBody>
      </p:sp>
      <p:sp>
        <p:nvSpPr>
          <p:cNvPr id="74" name="Rectangle 144"/>
          <p:cNvSpPr>
            <a:spLocks noChangeAspect="1"/>
          </p:cNvSpPr>
          <p:nvPr/>
        </p:nvSpPr>
        <p:spPr>
          <a:xfrm>
            <a:off x="10798668" y="2594874"/>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sp>
        <p:nvSpPr>
          <p:cNvPr id="75" name="Text Box 145"/>
          <p:cNvSpPr txBox="1"/>
          <p:nvPr/>
        </p:nvSpPr>
        <p:spPr>
          <a:xfrm>
            <a:off x="6210793" y="2102749"/>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00</a:t>
            </a:r>
            <a:endParaRPr lang="en-US" altLang="zh-CN" sz="2400" b="0" dirty="0">
              <a:latin typeface="Times New Roman" panose="02020603050405020304" pitchFamily="18" charset="0"/>
              <a:ea typeface="宋体" panose="02010600030101010101" pitchFamily="2" charset="-122"/>
            </a:endParaRPr>
          </a:p>
        </p:txBody>
      </p:sp>
      <p:sp>
        <p:nvSpPr>
          <p:cNvPr id="76" name="Text Box 146"/>
          <p:cNvSpPr txBox="1"/>
          <p:nvPr/>
        </p:nvSpPr>
        <p:spPr>
          <a:xfrm>
            <a:off x="6210793" y="2483749"/>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01</a:t>
            </a:r>
            <a:endParaRPr lang="en-US" altLang="zh-CN" sz="2400" b="0" dirty="0">
              <a:latin typeface="Times New Roman" panose="02020603050405020304" pitchFamily="18" charset="0"/>
              <a:ea typeface="宋体" panose="02010600030101010101" pitchFamily="2" charset="-122"/>
            </a:endParaRPr>
          </a:p>
        </p:txBody>
      </p:sp>
      <p:sp>
        <p:nvSpPr>
          <p:cNvPr id="77" name="Text Box 147"/>
          <p:cNvSpPr txBox="1"/>
          <p:nvPr/>
        </p:nvSpPr>
        <p:spPr>
          <a:xfrm>
            <a:off x="6210793" y="2864749"/>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10</a:t>
            </a:r>
            <a:endParaRPr lang="en-US" altLang="zh-CN" sz="2400" b="0" dirty="0">
              <a:latin typeface="Times New Roman" panose="02020603050405020304" pitchFamily="18" charset="0"/>
              <a:ea typeface="宋体" panose="02010600030101010101" pitchFamily="2" charset="-122"/>
            </a:endParaRPr>
          </a:p>
        </p:txBody>
      </p:sp>
      <p:sp>
        <p:nvSpPr>
          <p:cNvPr id="78" name="Text Box 148"/>
          <p:cNvSpPr txBox="1"/>
          <p:nvPr/>
        </p:nvSpPr>
        <p:spPr>
          <a:xfrm>
            <a:off x="6210793" y="3245749"/>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11</a:t>
            </a:r>
            <a:endParaRPr lang="en-US" altLang="zh-CN" sz="2400" b="0" dirty="0">
              <a:latin typeface="Times New Roman" panose="02020603050405020304" pitchFamily="18" charset="0"/>
              <a:ea typeface="宋体" panose="02010600030101010101" pitchFamily="2" charset="-122"/>
            </a:endParaRPr>
          </a:p>
        </p:txBody>
      </p:sp>
      <p:graphicFrame>
        <p:nvGraphicFramePr>
          <p:cNvPr id="79" name="Group 149"/>
          <p:cNvGraphicFramePr>
            <a:graphicFrameLocks noGrp="1"/>
          </p:cNvGraphicFramePr>
          <p:nvPr/>
        </p:nvGraphicFramePr>
        <p:xfrm>
          <a:off x="8741268" y="3661674"/>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0" name="Rectangle 159"/>
          <p:cNvSpPr>
            <a:spLocks noChangeAspect="1"/>
          </p:cNvSpPr>
          <p:nvPr/>
        </p:nvSpPr>
        <p:spPr>
          <a:xfrm>
            <a:off x="10798668" y="3661674"/>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sp>
        <p:nvSpPr>
          <p:cNvPr id="81" name="Line 160"/>
          <p:cNvSpPr/>
          <p:nvPr/>
        </p:nvSpPr>
        <p:spPr>
          <a:xfrm>
            <a:off x="7217268" y="3509274"/>
            <a:ext cx="1524000" cy="152400"/>
          </a:xfrm>
          <a:prstGeom prst="line">
            <a:avLst/>
          </a:prstGeom>
          <a:ln w="9525" cap="flat" cmpd="sng">
            <a:solidFill>
              <a:schemeClr val="tx1"/>
            </a:solidFill>
            <a:prstDash val="solid"/>
            <a:round/>
            <a:headEnd type="none" w="med" len="med"/>
            <a:tailEnd type="triangle" w="med" len="med"/>
          </a:ln>
        </p:spPr>
      </p:sp>
      <p:sp>
        <p:nvSpPr>
          <p:cNvPr id="82" name="Line 161"/>
          <p:cNvSpPr/>
          <p:nvPr/>
        </p:nvSpPr>
        <p:spPr>
          <a:xfrm flipV="1">
            <a:off x="7293468" y="1528074"/>
            <a:ext cx="1447800" cy="1295400"/>
          </a:xfrm>
          <a:prstGeom prst="line">
            <a:avLst/>
          </a:prstGeom>
          <a:ln w="9525" cap="flat" cmpd="sng">
            <a:solidFill>
              <a:schemeClr val="tx1"/>
            </a:solidFill>
            <a:prstDash val="solid"/>
            <a:round/>
            <a:headEnd type="none" w="med" len="med"/>
            <a:tailEnd type="triangle" w="med" len="med"/>
          </a:ln>
        </p:spPr>
      </p:sp>
      <p:graphicFrame>
        <p:nvGraphicFramePr>
          <p:cNvPr id="83" name="Group 162"/>
          <p:cNvGraphicFramePr>
            <a:graphicFrameLocks noGrp="1"/>
          </p:cNvGraphicFramePr>
          <p:nvPr/>
        </p:nvGraphicFramePr>
        <p:xfrm>
          <a:off x="2941409" y="2671762"/>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00(00)</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graphicFrame>
        <p:nvGraphicFramePr>
          <p:cNvPr id="84" name="Group 172"/>
          <p:cNvGraphicFramePr>
            <a:graphicFrameLocks noGrp="1"/>
          </p:cNvGraphicFramePr>
          <p:nvPr/>
        </p:nvGraphicFramePr>
        <p:xfrm>
          <a:off x="2941409" y="4348162"/>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5" name="Group 182"/>
          <p:cNvGraphicFramePr>
            <a:graphicFrameLocks noGrp="1"/>
          </p:cNvGraphicFramePr>
          <p:nvPr/>
        </p:nvGraphicFramePr>
        <p:xfrm>
          <a:off x="991959" y="3748087"/>
          <a:ext cx="914400" cy="151288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86" name="Group 194"/>
              <p:cNvGraphicFramePr>
                <a:graphicFrameLocks noGrp="1"/>
              </p:cNvGraphicFramePr>
              <p:nvPr/>
            </p:nvGraphicFramePr>
            <p:xfrm>
              <a:off x="991959" y="3144159"/>
              <a:ext cx="914400" cy="379413"/>
            </p:xfrm>
            <a:graphic>
              <a:graphicData uri="http://schemas.openxmlformats.org/drawingml/2006/table">
                <a:tbl>
                  <a:tblPr/>
                  <a:tblGrid>
                    <a:gridCol w="914400"/>
                  </a:tblGrid>
                  <a:tr h="379413">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0" i="1" dirty="0" smtClean="0">
                                  <a:latin typeface="Cambria Math" panose="02040503050406030204" pitchFamily="18" charset="0"/>
                                  <a:ea typeface="微软雅黑" panose="020B0503020204020204" pitchFamily="34" charset="-122"/>
                                </a:rPr>
                                <m:t>𝑖</m:t>
                              </m:r>
                            </m:oMath>
                          </a14:m>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86" name="Group 194"/>
              <p:cNvGraphicFramePr>
                <a:graphicFrameLocks noGrp="1"/>
              </p:cNvGraphicFramePr>
              <p:nvPr/>
            </p:nvGraphicFramePr>
            <p:xfrm>
              <a:off x="991959" y="3144159"/>
              <a:ext cx="914400" cy="379413"/>
            </p:xfrm>
            <a:graphic>
              <a:graphicData uri="http://schemas.openxmlformats.org/drawingml/2006/table">
                <a:tbl>
                  <a:tblPr/>
                  <a:tblGrid>
                    <a:gridCol w="914400"/>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r>
                </a:tbl>
              </a:graphicData>
            </a:graphic>
          </p:graphicFrame>
        </mc:Fallback>
      </mc:AlternateContent>
      <p:sp>
        <p:nvSpPr>
          <p:cNvPr id="87" name="Line 200"/>
          <p:cNvSpPr/>
          <p:nvPr/>
        </p:nvSpPr>
        <p:spPr>
          <a:xfrm flipV="1">
            <a:off x="1449159" y="2986087"/>
            <a:ext cx="1524000" cy="990600"/>
          </a:xfrm>
          <a:prstGeom prst="line">
            <a:avLst/>
          </a:prstGeom>
          <a:ln w="9525" cap="flat" cmpd="sng">
            <a:solidFill>
              <a:schemeClr val="tx1"/>
            </a:solidFill>
            <a:prstDash val="solid"/>
            <a:round/>
            <a:headEnd type="none" w="med" len="med"/>
            <a:tailEnd type="triangle" w="med" len="med"/>
          </a:ln>
        </p:spPr>
      </p:sp>
      <p:sp>
        <p:nvSpPr>
          <p:cNvPr id="88" name="Line 201"/>
          <p:cNvSpPr/>
          <p:nvPr/>
        </p:nvSpPr>
        <p:spPr>
          <a:xfrm>
            <a:off x="1449159" y="4738687"/>
            <a:ext cx="1524000" cy="0"/>
          </a:xfrm>
          <a:prstGeom prst="line">
            <a:avLst/>
          </a:prstGeom>
          <a:ln w="9525" cap="flat" cmpd="sng">
            <a:solidFill>
              <a:schemeClr val="tx1"/>
            </a:solidFill>
            <a:prstDash val="solid"/>
            <a:round/>
            <a:headEnd type="none" w="med" len="med"/>
            <a:tailEnd type="triangle" w="med" len="med"/>
          </a:ln>
        </p:spPr>
      </p:sp>
      <p:sp>
        <p:nvSpPr>
          <p:cNvPr id="89" name="Rectangle 202"/>
          <p:cNvSpPr>
            <a:spLocks noChangeAspect="1"/>
          </p:cNvSpPr>
          <p:nvPr/>
        </p:nvSpPr>
        <p:spPr>
          <a:xfrm>
            <a:off x="5006449" y="2681287"/>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sp>
        <p:nvSpPr>
          <p:cNvPr id="90" name="Rectangle 203"/>
          <p:cNvSpPr>
            <a:spLocks noChangeAspect="1"/>
          </p:cNvSpPr>
          <p:nvPr/>
        </p:nvSpPr>
        <p:spPr>
          <a:xfrm>
            <a:off x="4998809" y="4348162"/>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sp>
        <p:nvSpPr>
          <p:cNvPr id="91" name="Text Box 204"/>
          <p:cNvSpPr txBox="1"/>
          <p:nvPr/>
        </p:nvSpPr>
        <p:spPr>
          <a:xfrm>
            <a:off x="442684" y="3636962"/>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00</a:t>
            </a:r>
            <a:endParaRPr lang="en-US" altLang="zh-CN" sz="2400" b="0" dirty="0">
              <a:latin typeface="Times New Roman" panose="02020603050405020304" pitchFamily="18" charset="0"/>
              <a:ea typeface="宋体" panose="02010600030101010101" pitchFamily="2" charset="-122"/>
            </a:endParaRPr>
          </a:p>
        </p:txBody>
      </p:sp>
      <p:sp>
        <p:nvSpPr>
          <p:cNvPr id="92" name="Text Box 205"/>
          <p:cNvSpPr txBox="1"/>
          <p:nvPr/>
        </p:nvSpPr>
        <p:spPr>
          <a:xfrm>
            <a:off x="442684" y="4017962"/>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01</a:t>
            </a:r>
            <a:endParaRPr lang="en-US" altLang="zh-CN" sz="2400" b="0" dirty="0">
              <a:latin typeface="Times New Roman" panose="02020603050405020304" pitchFamily="18" charset="0"/>
              <a:ea typeface="宋体" panose="02010600030101010101" pitchFamily="2" charset="-122"/>
            </a:endParaRPr>
          </a:p>
        </p:txBody>
      </p:sp>
      <p:sp>
        <p:nvSpPr>
          <p:cNvPr id="93" name="Text Box 206"/>
          <p:cNvSpPr txBox="1"/>
          <p:nvPr/>
        </p:nvSpPr>
        <p:spPr>
          <a:xfrm>
            <a:off x="442684" y="4398962"/>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10</a:t>
            </a:r>
            <a:endParaRPr lang="en-US" altLang="zh-CN" sz="2400" b="0" dirty="0">
              <a:latin typeface="Times New Roman" panose="02020603050405020304" pitchFamily="18" charset="0"/>
              <a:ea typeface="宋体" panose="02010600030101010101" pitchFamily="2" charset="-122"/>
            </a:endParaRPr>
          </a:p>
        </p:txBody>
      </p:sp>
      <p:sp>
        <p:nvSpPr>
          <p:cNvPr id="94" name="Text Box 207"/>
          <p:cNvSpPr txBox="1"/>
          <p:nvPr/>
        </p:nvSpPr>
        <p:spPr>
          <a:xfrm>
            <a:off x="442684" y="4779962"/>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11</a:t>
            </a:r>
            <a:endParaRPr lang="en-US" altLang="zh-CN" sz="2400" b="0" dirty="0">
              <a:latin typeface="Times New Roman" panose="02020603050405020304" pitchFamily="18" charset="0"/>
              <a:ea typeface="宋体" panose="02010600030101010101" pitchFamily="2" charset="-122"/>
            </a:endParaRPr>
          </a:p>
        </p:txBody>
      </p:sp>
      <p:graphicFrame>
        <p:nvGraphicFramePr>
          <p:cNvPr id="95" name="Group 208"/>
          <p:cNvGraphicFramePr>
            <a:graphicFrameLocks noGrp="1"/>
          </p:cNvGraphicFramePr>
          <p:nvPr/>
        </p:nvGraphicFramePr>
        <p:xfrm>
          <a:off x="2973159" y="5195887"/>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6" name="Rectangle 218"/>
          <p:cNvSpPr>
            <a:spLocks noChangeAspect="1"/>
          </p:cNvSpPr>
          <p:nvPr/>
        </p:nvSpPr>
        <p:spPr>
          <a:xfrm>
            <a:off x="5030559" y="5195887"/>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sp>
        <p:nvSpPr>
          <p:cNvPr id="97" name="Line 219"/>
          <p:cNvSpPr/>
          <p:nvPr/>
        </p:nvSpPr>
        <p:spPr>
          <a:xfrm>
            <a:off x="1449159" y="5043487"/>
            <a:ext cx="1524000" cy="152400"/>
          </a:xfrm>
          <a:prstGeom prst="line">
            <a:avLst/>
          </a:prstGeom>
          <a:ln w="9525" cap="flat" cmpd="sng">
            <a:solidFill>
              <a:schemeClr val="tx1"/>
            </a:solidFill>
            <a:prstDash val="solid"/>
            <a:round/>
            <a:headEnd type="none" w="med" len="med"/>
            <a:tailEnd type="triangle" w="med" len="med"/>
          </a:ln>
        </p:spPr>
      </p:sp>
      <p:sp>
        <p:nvSpPr>
          <p:cNvPr id="98" name="Line 220"/>
          <p:cNvSpPr/>
          <p:nvPr/>
        </p:nvSpPr>
        <p:spPr>
          <a:xfrm flipV="1">
            <a:off x="1525359" y="3519487"/>
            <a:ext cx="1447800" cy="838200"/>
          </a:xfrm>
          <a:prstGeom prst="line">
            <a:avLst/>
          </a:prstGeom>
          <a:ln w="9525" cap="flat" cmpd="sng">
            <a:solidFill>
              <a:schemeClr val="tx1"/>
            </a:solidFill>
            <a:prstDash val="solid"/>
            <a:round/>
            <a:headEnd type="none" w="med" len="med"/>
            <a:tailEnd type="triangle" w="med" len="med"/>
          </a:ln>
        </p:spPr>
      </p:sp>
      <p:graphicFrame>
        <p:nvGraphicFramePr>
          <p:cNvPr id="99" name="Group 221"/>
          <p:cNvGraphicFramePr>
            <a:graphicFrameLocks noGrp="1"/>
          </p:cNvGraphicFramePr>
          <p:nvPr/>
        </p:nvGraphicFramePr>
        <p:xfrm>
          <a:off x="2941409" y="3509962"/>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0" name="Rectangle 231"/>
          <p:cNvSpPr>
            <a:spLocks noChangeAspect="1"/>
          </p:cNvSpPr>
          <p:nvPr/>
        </p:nvSpPr>
        <p:spPr>
          <a:xfrm>
            <a:off x="4998809" y="3509962"/>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grpSp>
        <p:nvGrpSpPr>
          <p:cNvPr id="101" name="Group 233"/>
          <p:cNvGrpSpPr/>
          <p:nvPr/>
        </p:nvGrpSpPr>
        <p:grpSpPr>
          <a:xfrm>
            <a:off x="6116040" y="4601475"/>
            <a:ext cx="5250455" cy="1866858"/>
            <a:chOff x="1265" y="3268"/>
            <a:chExt cx="1153" cy="629"/>
          </a:xfrm>
        </p:grpSpPr>
        <p:sp>
          <p:nvSpPr>
            <p:cNvPr id="102" name="AutoShape 39"/>
            <p:cNvSpPr/>
            <p:nvPr/>
          </p:nvSpPr>
          <p:spPr>
            <a:xfrm>
              <a:off x="1265" y="3268"/>
              <a:ext cx="1153" cy="62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103"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104" name="Text Box 84"/>
                <p:cNvSpPr/>
                <p:nvPr/>
              </p:nvSpPr>
              <p:spPr>
                <a:xfrm>
                  <a:off x="1285" y="3303"/>
                  <a:ext cx="1119" cy="567"/>
                </a:xfrm>
                <a:prstGeom prst="roundRect">
                  <a:avLst>
                    <a:gd name="adj" fmla="val 16667"/>
                  </a:avLst>
                </a:prstGeom>
                <a:noFill/>
                <a:ln w="9525">
                  <a:noFill/>
                </a:ln>
              </p:spPr>
              <p:txBody>
                <a:bodyPr anchor="t">
                  <a:spAutoFit/>
                </a:bodyPr>
                <a:lstStyle/>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取</a:t>
                  </a:r>
                  <a14:m>
                    <m:oMath xmlns:m="http://schemas.openxmlformats.org/officeDocument/2006/math">
                      <m:r>
                        <a:rPr lang="en-US" altLang="zh-CN" sz="1600" dirty="0">
                          <a:solidFill>
                            <a:schemeClr val="accent2"/>
                          </a:solidFill>
                          <a:latin typeface="Cambria Math" panose="02040503050406030204" pitchFamily="18" charset="0"/>
                          <a:ea typeface="微软雅黑" panose="020B0503020204020204" pitchFamily="34" charset="-122"/>
                        </a:rPr>
                        <m:t>𝑖</m:t>
                      </m:r>
                    </m:oMath>
                  </a14:m>
                  <a:r>
                    <a:rPr lang="zh-CN" altLang="en-US" sz="1600" dirty="0">
                      <a:solidFill>
                        <a:schemeClr val="accent2"/>
                      </a:solidFill>
                      <a:latin typeface="Arial" panose="020B0604020202020204" pitchFamily="34" charset="0"/>
                      <a:ea typeface="微软雅黑" panose="020B0503020204020204" pitchFamily="34" charset="-122"/>
                    </a:rPr>
                    <a:t>前位，确定索引块。</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如未满，则存入。</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如已满，则需要扩展散列桶，进行分裂：</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Font typeface="Wingdings" panose="05000000000000000000" pitchFamily="2" charset="2"/>
                    <a:buChar char="ü"/>
                  </a:pPr>
                  <a:r>
                    <a:rPr lang="zh-CN" altLang="en-US" sz="1600" dirty="0">
                      <a:solidFill>
                        <a:schemeClr val="accent2"/>
                      </a:solidFill>
                      <a:latin typeface="Arial" panose="020B0604020202020204" pitchFamily="34" charset="0"/>
                      <a:ea typeface="微软雅黑" panose="020B0503020204020204" pitchFamily="34" charset="-122"/>
                    </a:rPr>
                    <a:t>暂时</a:t>
                  </a:r>
                  <a:r>
                    <a:rPr lang="en-US" altLang="zh-CN" sz="1600" dirty="0">
                      <a:solidFill>
                        <a:schemeClr val="accent2"/>
                      </a:solidFill>
                      <a:latin typeface="Arial" panose="020B0604020202020204" pitchFamily="34" charset="0"/>
                      <a:ea typeface="微软雅黑" panose="020B0503020204020204" pitchFamily="34" charset="-122"/>
                    </a:rPr>
                    <a:t>i</a:t>
                  </a:r>
                  <a:r>
                    <a:rPr lang="zh-CN" altLang="en-US" sz="1600" dirty="0">
                      <a:solidFill>
                        <a:schemeClr val="accent2"/>
                      </a:solidFill>
                      <a:latin typeface="Arial" panose="020B0604020202020204" pitchFamily="34" charset="0"/>
                      <a:ea typeface="微软雅黑" panose="020B0503020204020204" pitchFamily="34" charset="-122"/>
                    </a:rPr>
                    <a:t>可能无需增加</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Font typeface="Wingdings" panose="05000000000000000000" pitchFamily="2" charset="2"/>
                    <a:buChar char="ü"/>
                  </a:pPr>
                  <a:r>
                    <a:rPr lang="zh-CN" altLang="en-US" sz="1600" dirty="0">
                      <a:solidFill>
                        <a:schemeClr val="accent2"/>
                      </a:solidFill>
                      <a:latin typeface="Arial" panose="020B0604020202020204" pitchFamily="34" charset="0"/>
                      <a:ea typeface="微软雅黑" panose="020B0503020204020204" pitchFamily="34" charset="-122"/>
                    </a:rPr>
                    <a:t>重新散列该块的数据到两个块中。其他不变</a:t>
                  </a:r>
                  <a:endParaRPr lang="zh-CN" altLang="en-US" sz="1600" dirty="0">
                    <a:solidFill>
                      <a:schemeClr val="accent2"/>
                    </a:solidFill>
                    <a:latin typeface="Arial" panose="020B0604020202020204" pitchFamily="34" charset="0"/>
                    <a:ea typeface="微软雅黑" panose="020B0503020204020204" pitchFamily="34" charset="-122"/>
                  </a:endParaRPr>
                </a:p>
              </p:txBody>
            </p:sp>
          </mc:Choice>
          <mc:Fallback>
            <p:sp>
              <p:nvSpPr>
                <p:cNvPr id="104" name="Text Box 84"/>
                <p:cNvSpPr>
                  <a:spLocks noRot="1" noChangeAspect="1" noMove="1" noResize="1" noEditPoints="1" noAdjustHandles="1" noChangeArrowheads="1" noChangeShapeType="1" noTextEdit="1"/>
                </p:cNvSpPr>
                <p:nvPr/>
              </p:nvSpPr>
              <p:spPr>
                <a:xfrm>
                  <a:off x="1285" y="3303"/>
                  <a:ext cx="1119" cy="567"/>
                </a:xfrm>
                <a:prstGeom prst="roundRect">
                  <a:avLst>
                    <a:gd name="adj" fmla="val 16667"/>
                  </a:avLst>
                </a:prstGeom>
                <a:blipFill rotWithShape="1">
                  <a:blip r:embed="rId2"/>
                </a:blipFill>
                <a:ln w="9525">
                  <a:noFill/>
                </a:ln>
              </p:spPr>
              <p:txBody>
                <a:bodyPr/>
                <a:lstStyle/>
                <a:p>
                  <a:r>
                    <a:rPr lang="zh-CN" altLang="en-US">
                      <a:noFill/>
                    </a:rPr>
                    <a:t> </a:t>
                  </a:r>
                </a:p>
              </p:txBody>
            </p:sp>
          </mc:Fallback>
        </mc:AlternateContent>
      </p:grpSp>
      <p:sp>
        <p:nvSpPr>
          <p:cNvPr id="105" name="Rectangle 239"/>
          <p:cNvSpPr/>
          <p:nvPr/>
        </p:nvSpPr>
        <p:spPr>
          <a:xfrm>
            <a:off x="8712693" y="1650311"/>
            <a:ext cx="917575" cy="396875"/>
          </a:xfrm>
          <a:prstGeom prst="rect">
            <a:avLst/>
          </a:prstGeom>
          <a:noFill/>
          <a:ln w="9525">
            <a:noFill/>
          </a:ln>
        </p:spPr>
        <p:txBody>
          <a:bodyPr wrap="none" anchor="t">
            <a:spAutoFit/>
          </a:bodyPr>
          <a:lstStyle/>
          <a:p>
            <a:r>
              <a:rPr lang="en-US" altLang="zh-CN" dirty="0">
                <a:solidFill>
                  <a:srgbClr val="CC0000"/>
                </a:solidFill>
                <a:latin typeface="Arial" panose="020B0604020202020204" pitchFamily="34" charset="0"/>
                <a:ea typeface="楷体_GB2312" pitchFamily="49" charset="-122"/>
              </a:rPr>
              <a:t>0(000)</a:t>
            </a:r>
            <a:endParaRPr lang="en-US" altLang="zh-CN" dirty="0">
              <a:solidFill>
                <a:srgbClr val="CC0000"/>
              </a:solidFill>
              <a:latin typeface="Arial" panose="020B0604020202020204" pitchFamily="34" charset="0"/>
              <a:ea typeface="楷体_GB2312" pitchFamily="49" charset="-122"/>
            </a:endParaRPr>
          </a:p>
        </p:txBody>
      </p:sp>
      <p:grpSp>
        <p:nvGrpSpPr>
          <p:cNvPr id="106" name="Group 241"/>
          <p:cNvGrpSpPr/>
          <p:nvPr/>
        </p:nvGrpSpPr>
        <p:grpSpPr>
          <a:xfrm>
            <a:off x="9776318" y="1656661"/>
            <a:ext cx="917575" cy="396875"/>
            <a:chOff x="1351" y="1571"/>
            <a:chExt cx="578" cy="250"/>
          </a:xfrm>
        </p:grpSpPr>
        <p:sp>
          <p:nvSpPr>
            <p:cNvPr id="107" name="Rectangle 238"/>
            <p:cNvSpPr/>
            <p:nvPr/>
          </p:nvSpPr>
          <p:spPr>
            <a:xfrm>
              <a:off x="1351" y="1571"/>
              <a:ext cx="578" cy="250"/>
            </a:xfrm>
            <a:prstGeom prst="rect">
              <a:avLst/>
            </a:prstGeom>
            <a:noFill/>
            <a:ln w="9525">
              <a:noFill/>
            </a:ln>
          </p:spPr>
          <p:txBody>
            <a:bodyPr wrap="none" anchor="t">
              <a:spAutoFit/>
            </a:bodyPr>
            <a:lstStyle/>
            <a:p>
              <a:pPr>
                <a:spcBef>
                  <a:spcPct val="20000"/>
                </a:spcBef>
              </a:pPr>
              <a:r>
                <a:rPr lang="en-US" altLang="zh-CN" dirty="0">
                  <a:solidFill>
                    <a:srgbClr val="CC0000"/>
                  </a:solidFill>
                  <a:latin typeface="Arial" panose="020B0604020202020204" pitchFamily="34" charset="0"/>
                  <a:ea typeface="宋体" panose="02010600030101010101" pitchFamily="2" charset="-122"/>
                </a:rPr>
                <a:t>0(101)</a:t>
              </a:r>
              <a:endParaRPr lang="en-US" altLang="zh-CN" dirty="0">
                <a:solidFill>
                  <a:srgbClr val="CC0000"/>
                </a:solidFill>
                <a:latin typeface="Arial" panose="020B0604020202020204" pitchFamily="34" charset="0"/>
                <a:ea typeface="宋体" panose="02010600030101010101" pitchFamily="2" charset="-122"/>
              </a:endParaRPr>
            </a:p>
          </p:txBody>
        </p:sp>
        <p:sp>
          <p:nvSpPr>
            <p:cNvPr id="108" name="Line 240"/>
            <p:cNvSpPr/>
            <p:nvPr/>
          </p:nvSpPr>
          <p:spPr>
            <a:xfrm>
              <a:off x="1353" y="1700"/>
              <a:ext cx="576" cy="0"/>
            </a:xfrm>
            <a:prstGeom prst="line">
              <a:avLst/>
            </a:prstGeom>
            <a:ln w="9525" cap="flat" cmpd="sng">
              <a:solidFill>
                <a:schemeClr val="tx1"/>
              </a:solidFill>
              <a:prstDash val="solid"/>
              <a:round/>
              <a:headEnd type="none" w="med" len="med"/>
              <a:tailEnd type="none" w="med" len="med"/>
            </a:ln>
          </p:spPr>
        </p:sp>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box(in)">
                                      <p:cBhvr>
                                        <p:cTn id="7" dur="500"/>
                                        <p:tgtEl>
                                          <p:spTgt spid="10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box(in)">
                                      <p:cBhvr>
                                        <p:cTn id="12" dur="500"/>
                                        <p:tgtEl>
                                          <p:spTgt spid="10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3"/>
                                        </p:tgtEl>
                                        <p:attrNameLst>
                                          <p:attrName>style.visibility</p:attrName>
                                        </p:attrNameLst>
                                      </p:cBhvr>
                                      <p:to>
                                        <p:strVal val="visible"/>
                                      </p:to>
                                    </p:set>
                                    <p:anim calcmode="lin" valueType="num">
                                      <p:cBhvr additive="base">
                                        <p:cTn id="17" dur="500" fill="hold"/>
                                        <p:tgtEl>
                                          <p:spTgt spid="83"/>
                                        </p:tgtEl>
                                        <p:attrNameLst>
                                          <p:attrName>ppt_x</p:attrName>
                                        </p:attrNameLst>
                                      </p:cBhvr>
                                      <p:tavLst>
                                        <p:tav tm="0">
                                          <p:val>
                                            <p:strVal val="#ppt_x"/>
                                          </p:val>
                                        </p:tav>
                                        <p:tav tm="100000">
                                          <p:val>
                                            <p:strVal val="#ppt_x"/>
                                          </p:val>
                                        </p:tav>
                                      </p:tavLst>
                                    </p:anim>
                                    <p:anim calcmode="lin" valueType="num">
                                      <p:cBhvr additive="base">
                                        <p:cTn id="18" dur="500" fill="hold"/>
                                        <p:tgtEl>
                                          <p:spTgt spid="8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4"/>
                                        </p:tgtEl>
                                        <p:attrNameLst>
                                          <p:attrName>style.visibility</p:attrName>
                                        </p:attrNameLst>
                                      </p:cBhvr>
                                      <p:to>
                                        <p:strVal val="visible"/>
                                      </p:to>
                                    </p:set>
                                    <p:anim calcmode="lin" valueType="num">
                                      <p:cBhvr additive="base">
                                        <p:cTn id="21" dur="500" fill="hold"/>
                                        <p:tgtEl>
                                          <p:spTgt spid="84"/>
                                        </p:tgtEl>
                                        <p:attrNameLst>
                                          <p:attrName>ppt_x</p:attrName>
                                        </p:attrNameLst>
                                      </p:cBhvr>
                                      <p:tavLst>
                                        <p:tav tm="0">
                                          <p:val>
                                            <p:strVal val="#ppt_x"/>
                                          </p:val>
                                        </p:tav>
                                        <p:tav tm="100000">
                                          <p:val>
                                            <p:strVal val="#ppt_x"/>
                                          </p:val>
                                        </p:tav>
                                      </p:tavLst>
                                    </p:anim>
                                    <p:anim calcmode="lin" valueType="num">
                                      <p:cBhvr additive="base">
                                        <p:cTn id="22" dur="500" fill="hold"/>
                                        <p:tgtEl>
                                          <p:spTgt spid="84"/>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5"/>
                                        </p:tgtEl>
                                        <p:attrNameLst>
                                          <p:attrName>style.visibility</p:attrName>
                                        </p:attrNameLst>
                                      </p:cBhvr>
                                      <p:to>
                                        <p:strVal val="visible"/>
                                      </p:to>
                                    </p:set>
                                    <p:anim calcmode="lin" valueType="num">
                                      <p:cBhvr additive="base">
                                        <p:cTn id="25" dur="500" fill="hold"/>
                                        <p:tgtEl>
                                          <p:spTgt spid="85"/>
                                        </p:tgtEl>
                                        <p:attrNameLst>
                                          <p:attrName>ppt_x</p:attrName>
                                        </p:attrNameLst>
                                      </p:cBhvr>
                                      <p:tavLst>
                                        <p:tav tm="0">
                                          <p:val>
                                            <p:strVal val="#ppt_x"/>
                                          </p:val>
                                        </p:tav>
                                        <p:tav tm="100000">
                                          <p:val>
                                            <p:strVal val="#ppt_x"/>
                                          </p:val>
                                        </p:tav>
                                      </p:tavLst>
                                    </p:anim>
                                    <p:anim calcmode="lin" valueType="num">
                                      <p:cBhvr additive="base">
                                        <p:cTn id="26" dur="500" fill="hold"/>
                                        <p:tgtEl>
                                          <p:spTgt spid="85"/>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6"/>
                                        </p:tgtEl>
                                        <p:attrNameLst>
                                          <p:attrName>style.visibility</p:attrName>
                                        </p:attrNameLst>
                                      </p:cBhvr>
                                      <p:to>
                                        <p:strVal val="visible"/>
                                      </p:to>
                                    </p:set>
                                    <p:anim calcmode="lin" valueType="num">
                                      <p:cBhvr additive="base">
                                        <p:cTn id="29" dur="500" fill="hold"/>
                                        <p:tgtEl>
                                          <p:spTgt spid="86"/>
                                        </p:tgtEl>
                                        <p:attrNameLst>
                                          <p:attrName>ppt_x</p:attrName>
                                        </p:attrNameLst>
                                      </p:cBhvr>
                                      <p:tavLst>
                                        <p:tav tm="0">
                                          <p:val>
                                            <p:strVal val="#ppt_x"/>
                                          </p:val>
                                        </p:tav>
                                        <p:tav tm="100000">
                                          <p:val>
                                            <p:strVal val="#ppt_x"/>
                                          </p:val>
                                        </p:tav>
                                      </p:tavLst>
                                    </p:anim>
                                    <p:anim calcmode="lin" valueType="num">
                                      <p:cBhvr additive="base">
                                        <p:cTn id="30" dur="500" fill="hold"/>
                                        <p:tgtEl>
                                          <p:spTgt spid="86"/>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87"/>
                                        </p:tgtEl>
                                        <p:attrNameLst>
                                          <p:attrName>style.visibility</p:attrName>
                                        </p:attrNameLst>
                                      </p:cBhvr>
                                      <p:to>
                                        <p:strVal val="visible"/>
                                      </p:to>
                                    </p:set>
                                    <p:anim calcmode="lin" valueType="num">
                                      <p:cBhvr additive="base">
                                        <p:cTn id="33" dur="500" fill="hold"/>
                                        <p:tgtEl>
                                          <p:spTgt spid="87"/>
                                        </p:tgtEl>
                                        <p:attrNameLst>
                                          <p:attrName>ppt_x</p:attrName>
                                        </p:attrNameLst>
                                      </p:cBhvr>
                                      <p:tavLst>
                                        <p:tav tm="0">
                                          <p:val>
                                            <p:strVal val="#ppt_x"/>
                                          </p:val>
                                        </p:tav>
                                        <p:tav tm="100000">
                                          <p:val>
                                            <p:strVal val="#ppt_x"/>
                                          </p:val>
                                        </p:tav>
                                      </p:tavLst>
                                    </p:anim>
                                    <p:anim calcmode="lin" valueType="num">
                                      <p:cBhvr additive="base">
                                        <p:cTn id="34" dur="500" fill="hold"/>
                                        <p:tgtEl>
                                          <p:spTgt spid="87"/>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88"/>
                                        </p:tgtEl>
                                        <p:attrNameLst>
                                          <p:attrName>style.visibility</p:attrName>
                                        </p:attrNameLst>
                                      </p:cBhvr>
                                      <p:to>
                                        <p:strVal val="visible"/>
                                      </p:to>
                                    </p:set>
                                    <p:anim calcmode="lin" valueType="num">
                                      <p:cBhvr additive="base">
                                        <p:cTn id="37" dur="500" fill="hold"/>
                                        <p:tgtEl>
                                          <p:spTgt spid="88"/>
                                        </p:tgtEl>
                                        <p:attrNameLst>
                                          <p:attrName>ppt_x</p:attrName>
                                        </p:attrNameLst>
                                      </p:cBhvr>
                                      <p:tavLst>
                                        <p:tav tm="0">
                                          <p:val>
                                            <p:strVal val="#ppt_x"/>
                                          </p:val>
                                        </p:tav>
                                        <p:tav tm="100000">
                                          <p:val>
                                            <p:strVal val="#ppt_x"/>
                                          </p:val>
                                        </p:tav>
                                      </p:tavLst>
                                    </p:anim>
                                    <p:anim calcmode="lin" valueType="num">
                                      <p:cBhvr additive="base">
                                        <p:cTn id="38" dur="500" fill="hold"/>
                                        <p:tgtEl>
                                          <p:spTgt spid="8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89"/>
                                        </p:tgtEl>
                                        <p:attrNameLst>
                                          <p:attrName>style.visibility</p:attrName>
                                        </p:attrNameLst>
                                      </p:cBhvr>
                                      <p:to>
                                        <p:strVal val="visible"/>
                                      </p:to>
                                    </p:set>
                                    <p:anim calcmode="lin" valueType="num">
                                      <p:cBhvr additive="base">
                                        <p:cTn id="41" dur="500" fill="hold"/>
                                        <p:tgtEl>
                                          <p:spTgt spid="89"/>
                                        </p:tgtEl>
                                        <p:attrNameLst>
                                          <p:attrName>ppt_x</p:attrName>
                                        </p:attrNameLst>
                                      </p:cBhvr>
                                      <p:tavLst>
                                        <p:tav tm="0">
                                          <p:val>
                                            <p:strVal val="#ppt_x"/>
                                          </p:val>
                                        </p:tav>
                                        <p:tav tm="100000">
                                          <p:val>
                                            <p:strVal val="#ppt_x"/>
                                          </p:val>
                                        </p:tav>
                                      </p:tavLst>
                                    </p:anim>
                                    <p:anim calcmode="lin" valueType="num">
                                      <p:cBhvr additive="base">
                                        <p:cTn id="42" dur="500" fill="hold"/>
                                        <p:tgtEl>
                                          <p:spTgt spid="8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90"/>
                                        </p:tgtEl>
                                        <p:attrNameLst>
                                          <p:attrName>style.visibility</p:attrName>
                                        </p:attrNameLst>
                                      </p:cBhvr>
                                      <p:to>
                                        <p:strVal val="visible"/>
                                      </p:to>
                                    </p:set>
                                    <p:anim calcmode="lin" valueType="num">
                                      <p:cBhvr additive="base">
                                        <p:cTn id="45" dur="500" fill="hold"/>
                                        <p:tgtEl>
                                          <p:spTgt spid="90"/>
                                        </p:tgtEl>
                                        <p:attrNameLst>
                                          <p:attrName>ppt_x</p:attrName>
                                        </p:attrNameLst>
                                      </p:cBhvr>
                                      <p:tavLst>
                                        <p:tav tm="0">
                                          <p:val>
                                            <p:strVal val="#ppt_x"/>
                                          </p:val>
                                        </p:tav>
                                        <p:tav tm="100000">
                                          <p:val>
                                            <p:strVal val="#ppt_x"/>
                                          </p:val>
                                        </p:tav>
                                      </p:tavLst>
                                    </p:anim>
                                    <p:anim calcmode="lin" valueType="num">
                                      <p:cBhvr additive="base">
                                        <p:cTn id="46" dur="500" fill="hold"/>
                                        <p:tgtEl>
                                          <p:spTgt spid="90"/>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91"/>
                                        </p:tgtEl>
                                        <p:attrNameLst>
                                          <p:attrName>style.visibility</p:attrName>
                                        </p:attrNameLst>
                                      </p:cBhvr>
                                      <p:to>
                                        <p:strVal val="visible"/>
                                      </p:to>
                                    </p:set>
                                    <p:anim calcmode="lin" valueType="num">
                                      <p:cBhvr additive="base">
                                        <p:cTn id="49" dur="500" fill="hold"/>
                                        <p:tgtEl>
                                          <p:spTgt spid="91"/>
                                        </p:tgtEl>
                                        <p:attrNameLst>
                                          <p:attrName>ppt_x</p:attrName>
                                        </p:attrNameLst>
                                      </p:cBhvr>
                                      <p:tavLst>
                                        <p:tav tm="0">
                                          <p:val>
                                            <p:strVal val="#ppt_x"/>
                                          </p:val>
                                        </p:tav>
                                        <p:tav tm="100000">
                                          <p:val>
                                            <p:strVal val="#ppt_x"/>
                                          </p:val>
                                        </p:tav>
                                      </p:tavLst>
                                    </p:anim>
                                    <p:anim calcmode="lin" valueType="num">
                                      <p:cBhvr additive="base">
                                        <p:cTn id="50" dur="500" fill="hold"/>
                                        <p:tgtEl>
                                          <p:spTgt spid="91"/>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92"/>
                                        </p:tgtEl>
                                        <p:attrNameLst>
                                          <p:attrName>style.visibility</p:attrName>
                                        </p:attrNameLst>
                                      </p:cBhvr>
                                      <p:to>
                                        <p:strVal val="visible"/>
                                      </p:to>
                                    </p:set>
                                    <p:anim calcmode="lin" valueType="num">
                                      <p:cBhvr additive="base">
                                        <p:cTn id="53" dur="500" fill="hold"/>
                                        <p:tgtEl>
                                          <p:spTgt spid="92"/>
                                        </p:tgtEl>
                                        <p:attrNameLst>
                                          <p:attrName>ppt_x</p:attrName>
                                        </p:attrNameLst>
                                      </p:cBhvr>
                                      <p:tavLst>
                                        <p:tav tm="0">
                                          <p:val>
                                            <p:strVal val="#ppt_x"/>
                                          </p:val>
                                        </p:tav>
                                        <p:tav tm="100000">
                                          <p:val>
                                            <p:strVal val="#ppt_x"/>
                                          </p:val>
                                        </p:tav>
                                      </p:tavLst>
                                    </p:anim>
                                    <p:anim calcmode="lin" valueType="num">
                                      <p:cBhvr additive="base">
                                        <p:cTn id="54" dur="500" fill="hold"/>
                                        <p:tgtEl>
                                          <p:spTgt spid="92"/>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93"/>
                                        </p:tgtEl>
                                        <p:attrNameLst>
                                          <p:attrName>style.visibility</p:attrName>
                                        </p:attrNameLst>
                                      </p:cBhvr>
                                      <p:to>
                                        <p:strVal val="visible"/>
                                      </p:to>
                                    </p:set>
                                    <p:anim calcmode="lin" valueType="num">
                                      <p:cBhvr additive="base">
                                        <p:cTn id="57" dur="500" fill="hold"/>
                                        <p:tgtEl>
                                          <p:spTgt spid="93"/>
                                        </p:tgtEl>
                                        <p:attrNameLst>
                                          <p:attrName>ppt_x</p:attrName>
                                        </p:attrNameLst>
                                      </p:cBhvr>
                                      <p:tavLst>
                                        <p:tav tm="0">
                                          <p:val>
                                            <p:strVal val="#ppt_x"/>
                                          </p:val>
                                        </p:tav>
                                        <p:tav tm="100000">
                                          <p:val>
                                            <p:strVal val="#ppt_x"/>
                                          </p:val>
                                        </p:tav>
                                      </p:tavLst>
                                    </p:anim>
                                    <p:anim calcmode="lin" valueType="num">
                                      <p:cBhvr additive="base">
                                        <p:cTn id="58" dur="500" fill="hold"/>
                                        <p:tgtEl>
                                          <p:spTgt spid="93"/>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94"/>
                                        </p:tgtEl>
                                        <p:attrNameLst>
                                          <p:attrName>style.visibility</p:attrName>
                                        </p:attrNameLst>
                                      </p:cBhvr>
                                      <p:to>
                                        <p:strVal val="visible"/>
                                      </p:to>
                                    </p:set>
                                    <p:anim calcmode="lin" valueType="num">
                                      <p:cBhvr additive="base">
                                        <p:cTn id="61" dur="500" fill="hold"/>
                                        <p:tgtEl>
                                          <p:spTgt spid="94"/>
                                        </p:tgtEl>
                                        <p:attrNameLst>
                                          <p:attrName>ppt_x</p:attrName>
                                        </p:attrNameLst>
                                      </p:cBhvr>
                                      <p:tavLst>
                                        <p:tav tm="0">
                                          <p:val>
                                            <p:strVal val="#ppt_x"/>
                                          </p:val>
                                        </p:tav>
                                        <p:tav tm="100000">
                                          <p:val>
                                            <p:strVal val="#ppt_x"/>
                                          </p:val>
                                        </p:tav>
                                      </p:tavLst>
                                    </p:anim>
                                    <p:anim calcmode="lin" valueType="num">
                                      <p:cBhvr additive="base">
                                        <p:cTn id="62" dur="500" fill="hold"/>
                                        <p:tgtEl>
                                          <p:spTgt spid="94"/>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95"/>
                                        </p:tgtEl>
                                        <p:attrNameLst>
                                          <p:attrName>style.visibility</p:attrName>
                                        </p:attrNameLst>
                                      </p:cBhvr>
                                      <p:to>
                                        <p:strVal val="visible"/>
                                      </p:to>
                                    </p:set>
                                    <p:anim calcmode="lin" valueType="num">
                                      <p:cBhvr additive="base">
                                        <p:cTn id="65" dur="500" fill="hold"/>
                                        <p:tgtEl>
                                          <p:spTgt spid="95"/>
                                        </p:tgtEl>
                                        <p:attrNameLst>
                                          <p:attrName>ppt_x</p:attrName>
                                        </p:attrNameLst>
                                      </p:cBhvr>
                                      <p:tavLst>
                                        <p:tav tm="0">
                                          <p:val>
                                            <p:strVal val="#ppt_x"/>
                                          </p:val>
                                        </p:tav>
                                        <p:tav tm="100000">
                                          <p:val>
                                            <p:strVal val="#ppt_x"/>
                                          </p:val>
                                        </p:tav>
                                      </p:tavLst>
                                    </p:anim>
                                    <p:anim calcmode="lin" valueType="num">
                                      <p:cBhvr additive="base">
                                        <p:cTn id="66" dur="500" fill="hold"/>
                                        <p:tgtEl>
                                          <p:spTgt spid="95"/>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96"/>
                                        </p:tgtEl>
                                        <p:attrNameLst>
                                          <p:attrName>style.visibility</p:attrName>
                                        </p:attrNameLst>
                                      </p:cBhvr>
                                      <p:to>
                                        <p:strVal val="visible"/>
                                      </p:to>
                                    </p:set>
                                    <p:anim calcmode="lin" valueType="num">
                                      <p:cBhvr additive="base">
                                        <p:cTn id="69" dur="500" fill="hold"/>
                                        <p:tgtEl>
                                          <p:spTgt spid="96"/>
                                        </p:tgtEl>
                                        <p:attrNameLst>
                                          <p:attrName>ppt_x</p:attrName>
                                        </p:attrNameLst>
                                      </p:cBhvr>
                                      <p:tavLst>
                                        <p:tav tm="0">
                                          <p:val>
                                            <p:strVal val="#ppt_x"/>
                                          </p:val>
                                        </p:tav>
                                        <p:tav tm="100000">
                                          <p:val>
                                            <p:strVal val="#ppt_x"/>
                                          </p:val>
                                        </p:tav>
                                      </p:tavLst>
                                    </p:anim>
                                    <p:anim calcmode="lin" valueType="num">
                                      <p:cBhvr additive="base">
                                        <p:cTn id="70" dur="500" fill="hold"/>
                                        <p:tgtEl>
                                          <p:spTgt spid="96"/>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97"/>
                                        </p:tgtEl>
                                        <p:attrNameLst>
                                          <p:attrName>style.visibility</p:attrName>
                                        </p:attrNameLst>
                                      </p:cBhvr>
                                      <p:to>
                                        <p:strVal val="visible"/>
                                      </p:to>
                                    </p:set>
                                    <p:anim calcmode="lin" valueType="num">
                                      <p:cBhvr additive="base">
                                        <p:cTn id="73" dur="500" fill="hold"/>
                                        <p:tgtEl>
                                          <p:spTgt spid="97"/>
                                        </p:tgtEl>
                                        <p:attrNameLst>
                                          <p:attrName>ppt_x</p:attrName>
                                        </p:attrNameLst>
                                      </p:cBhvr>
                                      <p:tavLst>
                                        <p:tav tm="0">
                                          <p:val>
                                            <p:strVal val="#ppt_x"/>
                                          </p:val>
                                        </p:tav>
                                        <p:tav tm="100000">
                                          <p:val>
                                            <p:strVal val="#ppt_x"/>
                                          </p:val>
                                        </p:tav>
                                      </p:tavLst>
                                    </p:anim>
                                    <p:anim calcmode="lin" valueType="num">
                                      <p:cBhvr additive="base">
                                        <p:cTn id="74" dur="500" fill="hold"/>
                                        <p:tgtEl>
                                          <p:spTgt spid="97"/>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98"/>
                                        </p:tgtEl>
                                        <p:attrNameLst>
                                          <p:attrName>style.visibility</p:attrName>
                                        </p:attrNameLst>
                                      </p:cBhvr>
                                      <p:to>
                                        <p:strVal val="visible"/>
                                      </p:to>
                                    </p:set>
                                    <p:anim calcmode="lin" valueType="num">
                                      <p:cBhvr additive="base">
                                        <p:cTn id="77" dur="500" fill="hold"/>
                                        <p:tgtEl>
                                          <p:spTgt spid="98"/>
                                        </p:tgtEl>
                                        <p:attrNameLst>
                                          <p:attrName>ppt_x</p:attrName>
                                        </p:attrNameLst>
                                      </p:cBhvr>
                                      <p:tavLst>
                                        <p:tav tm="0">
                                          <p:val>
                                            <p:strVal val="#ppt_x"/>
                                          </p:val>
                                        </p:tav>
                                        <p:tav tm="100000">
                                          <p:val>
                                            <p:strVal val="#ppt_x"/>
                                          </p:val>
                                        </p:tav>
                                      </p:tavLst>
                                    </p:anim>
                                    <p:anim calcmode="lin" valueType="num">
                                      <p:cBhvr additive="base">
                                        <p:cTn id="78" dur="500" fill="hold"/>
                                        <p:tgtEl>
                                          <p:spTgt spid="98"/>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99"/>
                                        </p:tgtEl>
                                        <p:attrNameLst>
                                          <p:attrName>style.visibility</p:attrName>
                                        </p:attrNameLst>
                                      </p:cBhvr>
                                      <p:to>
                                        <p:strVal val="visible"/>
                                      </p:to>
                                    </p:set>
                                    <p:anim calcmode="lin" valueType="num">
                                      <p:cBhvr additive="base">
                                        <p:cTn id="81" dur="500" fill="hold"/>
                                        <p:tgtEl>
                                          <p:spTgt spid="99"/>
                                        </p:tgtEl>
                                        <p:attrNameLst>
                                          <p:attrName>ppt_x</p:attrName>
                                        </p:attrNameLst>
                                      </p:cBhvr>
                                      <p:tavLst>
                                        <p:tav tm="0">
                                          <p:val>
                                            <p:strVal val="#ppt_x"/>
                                          </p:val>
                                        </p:tav>
                                        <p:tav tm="100000">
                                          <p:val>
                                            <p:strVal val="#ppt_x"/>
                                          </p:val>
                                        </p:tav>
                                      </p:tavLst>
                                    </p:anim>
                                    <p:anim calcmode="lin" valueType="num">
                                      <p:cBhvr additive="base">
                                        <p:cTn id="82" dur="500" fill="hold"/>
                                        <p:tgtEl>
                                          <p:spTgt spid="99"/>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100"/>
                                        </p:tgtEl>
                                        <p:attrNameLst>
                                          <p:attrName>style.visibility</p:attrName>
                                        </p:attrNameLst>
                                      </p:cBhvr>
                                      <p:to>
                                        <p:strVal val="visible"/>
                                      </p:to>
                                    </p:set>
                                    <p:anim calcmode="lin" valueType="num">
                                      <p:cBhvr additive="base">
                                        <p:cTn id="85" dur="500" fill="hold"/>
                                        <p:tgtEl>
                                          <p:spTgt spid="100"/>
                                        </p:tgtEl>
                                        <p:attrNameLst>
                                          <p:attrName>ppt_x</p:attrName>
                                        </p:attrNameLst>
                                      </p:cBhvr>
                                      <p:tavLst>
                                        <p:tav tm="0">
                                          <p:val>
                                            <p:strVal val="#ppt_x"/>
                                          </p:val>
                                        </p:tav>
                                        <p:tav tm="100000">
                                          <p:val>
                                            <p:strVal val="#ppt_x"/>
                                          </p:val>
                                        </p:tav>
                                      </p:tavLst>
                                    </p:anim>
                                    <p:anim calcmode="lin" valueType="num">
                                      <p:cBhvr additive="base">
                                        <p:cTn id="86"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bldLvl="0" animBg="1"/>
      <p:bldP spid="90" grpId="0" bldLvl="0" animBg="1"/>
      <p:bldP spid="91" grpId="0"/>
      <p:bldP spid="92" grpId="0"/>
      <p:bldP spid="93" grpId="0"/>
      <p:bldP spid="94" grpId="0"/>
      <p:bldP spid="96" grpId="0" bldLvl="0" animBg="1"/>
      <p:bldP spid="100" grpId="0" bldLvl="0" animBg="1"/>
      <p:bldP spid="105"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操作示例</a:t>
            </a:r>
            <a:endParaRPr lang="en-US" altLang="zh-CN" sz="26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r>
              <a:rPr lang="zh-CN" altLang="en-US" sz="2000" b="0" dirty="0"/>
              <a:t>插入 </a:t>
            </a:r>
            <a:r>
              <a:rPr lang="en-US" altLang="zh-CN" sz="2000" b="0" dirty="0"/>
              <a:t>0001</a:t>
            </a:r>
            <a:endParaRPr lang="en-US" altLang="zh-CN" sz="2000" b="0" dirty="0"/>
          </a:p>
          <a:p>
            <a:pPr marL="0" indent="0">
              <a:spcBef>
                <a:spcPct val="20000"/>
              </a:spcBef>
              <a:buNone/>
            </a:pPr>
            <a:endParaRPr lang="en-US" altLang="zh-CN" sz="24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4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3500" dirty="0">
              <a:solidFill>
                <a:srgbClr val="CC0000"/>
              </a:solidFill>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endParaRPr lang="zh-CN" altLang="en-US" sz="1800" b="1"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-可扩展散列索引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aphicFrame>
        <p:nvGraphicFramePr>
          <p:cNvPr id="2" name="Group 46"/>
          <p:cNvGraphicFramePr>
            <a:graphicFrameLocks noGrp="1"/>
          </p:cNvGraphicFramePr>
          <p:nvPr/>
        </p:nvGraphicFramePr>
        <p:xfrm>
          <a:off x="2464293" y="2554328"/>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00(00)</a:t>
                      </a:r>
                      <a:endParaRPr kumimoji="1" lang="en-US" altLang="zh-CN" sz="1800" b="1"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graphicFrame>
        <p:nvGraphicFramePr>
          <p:cNvPr id="4" name="Group 56"/>
          <p:cNvGraphicFramePr>
            <a:graphicFrameLocks noGrp="1"/>
          </p:cNvGraphicFramePr>
          <p:nvPr/>
        </p:nvGraphicFramePr>
        <p:xfrm>
          <a:off x="2464293" y="4230728"/>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 name="Group 66"/>
          <p:cNvGraphicFramePr>
            <a:graphicFrameLocks noGrp="1"/>
          </p:cNvGraphicFramePr>
          <p:nvPr/>
        </p:nvGraphicFramePr>
        <p:xfrm>
          <a:off x="959343" y="3773528"/>
          <a:ext cx="914400" cy="151288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8" name="Group 78"/>
              <p:cNvGraphicFramePr>
                <a:graphicFrameLocks noGrp="1"/>
              </p:cNvGraphicFramePr>
              <p:nvPr/>
            </p:nvGraphicFramePr>
            <p:xfrm>
              <a:off x="959343" y="2859128"/>
              <a:ext cx="914400" cy="379413"/>
            </p:xfrm>
            <a:graphic>
              <a:graphicData uri="http://schemas.openxmlformats.org/drawingml/2006/table">
                <a:tbl>
                  <a:tblPr/>
                  <a:tblGrid>
                    <a:gridCol w="914400"/>
                  </a:tblGrid>
                  <a:tr h="379413">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0" i="1" dirty="0" smtClean="0">
                                  <a:latin typeface="Cambria Math" panose="02040503050406030204" pitchFamily="18" charset="0"/>
                                  <a:ea typeface="微软雅黑" panose="020B0503020204020204" pitchFamily="34" charset="-122"/>
                                </a:rPr>
                                <m:t>𝑖</m:t>
                              </m:r>
                            </m:oMath>
                          </a14:m>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8" name="Group 78"/>
              <p:cNvGraphicFramePr>
                <a:graphicFrameLocks noGrp="1"/>
              </p:cNvGraphicFramePr>
              <p:nvPr/>
            </p:nvGraphicFramePr>
            <p:xfrm>
              <a:off x="959343" y="2859128"/>
              <a:ext cx="914400" cy="379413"/>
            </p:xfrm>
            <a:graphic>
              <a:graphicData uri="http://schemas.openxmlformats.org/drawingml/2006/table">
                <a:tbl>
                  <a:tblPr/>
                  <a:tblGrid>
                    <a:gridCol w="914400"/>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r>
                </a:tbl>
              </a:graphicData>
            </a:graphic>
          </p:graphicFrame>
        </mc:Fallback>
      </mc:AlternateContent>
      <p:sp>
        <p:nvSpPr>
          <p:cNvPr id="9" name="Rectangle 86"/>
          <p:cNvSpPr>
            <a:spLocks noChangeAspect="1"/>
          </p:cNvSpPr>
          <p:nvPr/>
        </p:nvSpPr>
        <p:spPr>
          <a:xfrm>
            <a:off x="4521693" y="255432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sp>
        <p:nvSpPr>
          <p:cNvPr id="10" name="Rectangle 87"/>
          <p:cNvSpPr>
            <a:spLocks noChangeAspect="1"/>
          </p:cNvSpPr>
          <p:nvPr/>
        </p:nvSpPr>
        <p:spPr>
          <a:xfrm>
            <a:off x="4521693" y="423072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sp>
        <p:nvSpPr>
          <p:cNvPr id="11" name="Text Box 88"/>
          <p:cNvSpPr txBox="1"/>
          <p:nvPr/>
        </p:nvSpPr>
        <p:spPr>
          <a:xfrm>
            <a:off x="410068" y="3662403"/>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00</a:t>
            </a:r>
            <a:endParaRPr lang="en-US" altLang="zh-CN" sz="2400" b="0" dirty="0">
              <a:latin typeface="Times New Roman" panose="02020603050405020304" pitchFamily="18" charset="0"/>
              <a:ea typeface="宋体" panose="02010600030101010101" pitchFamily="2" charset="-122"/>
            </a:endParaRPr>
          </a:p>
        </p:txBody>
      </p:sp>
      <p:sp>
        <p:nvSpPr>
          <p:cNvPr id="12" name="Text Box 89"/>
          <p:cNvSpPr txBox="1"/>
          <p:nvPr/>
        </p:nvSpPr>
        <p:spPr>
          <a:xfrm>
            <a:off x="410068" y="4043403"/>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01</a:t>
            </a:r>
            <a:endParaRPr lang="en-US" altLang="zh-CN" sz="2400" b="0" dirty="0">
              <a:latin typeface="Times New Roman" panose="02020603050405020304" pitchFamily="18" charset="0"/>
              <a:ea typeface="宋体" panose="02010600030101010101" pitchFamily="2" charset="-122"/>
            </a:endParaRPr>
          </a:p>
        </p:txBody>
      </p:sp>
      <p:sp>
        <p:nvSpPr>
          <p:cNvPr id="13" name="Text Box 90"/>
          <p:cNvSpPr txBox="1"/>
          <p:nvPr/>
        </p:nvSpPr>
        <p:spPr>
          <a:xfrm>
            <a:off x="410068" y="4424403"/>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10</a:t>
            </a:r>
            <a:endParaRPr lang="en-US" altLang="zh-CN" sz="2400" b="0" dirty="0">
              <a:latin typeface="Times New Roman" panose="02020603050405020304" pitchFamily="18" charset="0"/>
              <a:ea typeface="宋体" panose="02010600030101010101" pitchFamily="2" charset="-122"/>
            </a:endParaRPr>
          </a:p>
        </p:txBody>
      </p:sp>
      <p:sp>
        <p:nvSpPr>
          <p:cNvPr id="14" name="Text Box 91"/>
          <p:cNvSpPr txBox="1"/>
          <p:nvPr/>
        </p:nvSpPr>
        <p:spPr>
          <a:xfrm>
            <a:off x="410068" y="4805403"/>
            <a:ext cx="4889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11</a:t>
            </a:r>
            <a:endParaRPr lang="en-US" altLang="zh-CN" sz="2400" b="0" dirty="0">
              <a:latin typeface="Times New Roman" panose="02020603050405020304" pitchFamily="18" charset="0"/>
              <a:ea typeface="宋体" panose="02010600030101010101" pitchFamily="2" charset="-122"/>
            </a:endParaRPr>
          </a:p>
        </p:txBody>
      </p:sp>
      <p:graphicFrame>
        <p:nvGraphicFramePr>
          <p:cNvPr id="16" name="Group 92"/>
          <p:cNvGraphicFramePr>
            <a:graphicFrameLocks noGrp="1"/>
          </p:cNvGraphicFramePr>
          <p:nvPr/>
        </p:nvGraphicFramePr>
        <p:xfrm>
          <a:off x="2464293" y="5221328"/>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 name="Rectangle 102"/>
          <p:cNvSpPr>
            <a:spLocks noChangeAspect="1"/>
          </p:cNvSpPr>
          <p:nvPr/>
        </p:nvSpPr>
        <p:spPr>
          <a:xfrm>
            <a:off x="4521693" y="522132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grpSp>
        <p:nvGrpSpPr>
          <p:cNvPr id="18" name="Group 186"/>
          <p:cNvGrpSpPr/>
          <p:nvPr/>
        </p:nvGrpSpPr>
        <p:grpSpPr>
          <a:xfrm>
            <a:off x="1416543" y="3011528"/>
            <a:ext cx="1050925" cy="2209800"/>
            <a:chOff x="634" y="942"/>
            <a:chExt cx="960" cy="1392"/>
          </a:xfrm>
        </p:grpSpPr>
        <p:sp>
          <p:nvSpPr>
            <p:cNvPr id="19" name="Line 84"/>
            <p:cNvSpPr/>
            <p:nvPr/>
          </p:nvSpPr>
          <p:spPr>
            <a:xfrm flipV="1">
              <a:off x="634" y="942"/>
              <a:ext cx="960" cy="624"/>
            </a:xfrm>
            <a:prstGeom prst="line">
              <a:avLst/>
            </a:prstGeom>
            <a:ln w="9525" cap="flat" cmpd="sng">
              <a:solidFill>
                <a:schemeClr val="tx1"/>
              </a:solidFill>
              <a:prstDash val="solid"/>
              <a:round/>
              <a:headEnd type="none" w="med" len="med"/>
              <a:tailEnd type="triangle" w="med" len="med"/>
            </a:ln>
          </p:spPr>
        </p:sp>
        <p:sp>
          <p:nvSpPr>
            <p:cNvPr id="20" name="Line 85"/>
            <p:cNvSpPr/>
            <p:nvPr/>
          </p:nvSpPr>
          <p:spPr>
            <a:xfrm>
              <a:off x="634" y="2046"/>
              <a:ext cx="960" cy="0"/>
            </a:xfrm>
            <a:prstGeom prst="line">
              <a:avLst/>
            </a:prstGeom>
            <a:ln w="9525" cap="flat" cmpd="sng">
              <a:solidFill>
                <a:schemeClr val="tx1"/>
              </a:solidFill>
              <a:prstDash val="solid"/>
              <a:round/>
              <a:headEnd type="none" w="med" len="med"/>
              <a:tailEnd type="triangle" w="med" len="med"/>
            </a:ln>
          </p:spPr>
        </p:sp>
        <p:sp>
          <p:nvSpPr>
            <p:cNvPr id="21" name="Line 103"/>
            <p:cNvSpPr/>
            <p:nvPr/>
          </p:nvSpPr>
          <p:spPr>
            <a:xfrm>
              <a:off x="634" y="2238"/>
              <a:ext cx="960" cy="96"/>
            </a:xfrm>
            <a:prstGeom prst="line">
              <a:avLst/>
            </a:prstGeom>
            <a:ln w="9525" cap="flat" cmpd="sng">
              <a:solidFill>
                <a:schemeClr val="tx1"/>
              </a:solidFill>
              <a:prstDash val="solid"/>
              <a:round/>
              <a:headEnd type="none" w="med" len="med"/>
              <a:tailEnd type="triangle" w="med" len="med"/>
            </a:ln>
          </p:spPr>
        </p:sp>
        <p:sp>
          <p:nvSpPr>
            <p:cNvPr id="22" name="Line 104"/>
            <p:cNvSpPr/>
            <p:nvPr/>
          </p:nvSpPr>
          <p:spPr>
            <a:xfrm flipV="1">
              <a:off x="682" y="1278"/>
              <a:ext cx="912" cy="528"/>
            </a:xfrm>
            <a:prstGeom prst="line">
              <a:avLst/>
            </a:prstGeom>
            <a:ln w="9525" cap="flat" cmpd="sng">
              <a:solidFill>
                <a:schemeClr val="tx1"/>
              </a:solidFill>
              <a:prstDash val="solid"/>
              <a:round/>
              <a:headEnd type="none" w="med" len="med"/>
              <a:tailEnd type="triangle" w="med" len="med"/>
            </a:ln>
          </p:spPr>
        </p:sp>
      </p:grpSp>
      <p:graphicFrame>
        <p:nvGraphicFramePr>
          <p:cNvPr id="23" name="Group 105"/>
          <p:cNvGraphicFramePr>
            <a:graphicFrameLocks noGrp="1"/>
          </p:cNvGraphicFramePr>
          <p:nvPr/>
        </p:nvGraphicFramePr>
        <p:xfrm>
          <a:off x="2464293" y="3392528"/>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4" name="Rectangle 115"/>
          <p:cNvSpPr>
            <a:spLocks noChangeAspect="1"/>
          </p:cNvSpPr>
          <p:nvPr/>
        </p:nvSpPr>
        <p:spPr>
          <a:xfrm>
            <a:off x="4521693" y="339252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grpSp>
        <p:nvGrpSpPr>
          <p:cNvPr id="25" name="Group 230"/>
          <p:cNvGrpSpPr/>
          <p:nvPr/>
        </p:nvGrpSpPr>
        <p:grpSpPr>
          <a:xfrm>
            <a:off x="3413618" y="2900403"/>
            <a:ext cx="1016000" cy="396875"/>
            <a:chOff x="3118" y="1210"/>
            <a:chExt cx="640" cy="250"/>
          </a:xfrm>
        </p:grpSpPr>
        <p:sp>
          <p:nvSpPr>
            <p:cNvPr id="26" name="Rectangle 228"/>
            <p:cNvSpPr/>
            <p:nvPr/>
          </p:nvSpPr>
          <p:spPr>
            <a:xfrm>
              <a:off x="3151" y="1210"/>
              <a:ext cx="578" cy="250"/>
            </a:xfrm>
            <a:prstGeom prst="rect">
              <a:avLst/>
            </a:prstGeom>
            <a:noFill/>
            <a:ln w="9525">
              <a:noFill/>
            </a:ln>
          </p:spPr>
          <p:txBody>
            <a:bodyPr wrap="none" anchor="t">
              <a:spAutoFit/>
            </a:bodyPr>
            <a:lstStyle/>
            <a:p>
              <a:r>
                <a:rPr lang="en-US" altLang="zh-CN" dirty="0">
                  <a:solidFill>
                    <a:srgbClr val="FF0066"/>
                  </a:solidFill>
                  <a:latin typeface="Arial" panose="020B0604020202020204" pitchFamily="34" charset="0"/>
                  <a:ea typeface="楷体_GB2312" pitchFamily="49" charset="-122"/>
                </a:rPr>
                <a:t>(00)01</a:t>
              </a:r>
              <a:endParaRPr lang="en-US" altLang="zh-CN" dirty="0">
                <a:solidFill>
                  <a:srgbClr val="FF0066"/>
                </a:solidFill>
                <a:latin typeface="Arial" panose="020B0604020202020204" pitchFamily="34" charset="0"/>
                <a:ea typeface="楷体_GB2312" pitchFamily="49" charset="-122"/>
              </a:endParaRPr>
            </a:p>
          </p:txBody>
        </p:sp>
        <p:sp>
          <p:nvSpPr>
            <p:cNvPr id="27" name="Line 229"/>
            <p:cNvSpPr/>
            <p:nvPr/>
          </p:nvSpPr>
          <p:spPr>
            <a:xfrm>
              <a:off x="3118" y="1326"/>
              <a:ext cx="640" cy="9"/>
            </a:xfrm>
            <a:prstGeom prst="line">
              <a:avLst/>
            </a:prstGeom>
            <a:ln w="9525" cap="flat" cmpd="sng">
              <a:solidFill>
                <a:schemeClr val="tx1"/>
              </a:solidFill>
              <a:prstDash val="solid"/>
              <a:round/>
              <a:headEnd type="none" w="med" len="med"/>
              <a:tailEnd type="none" w="med" len="med"/>
            </a:ln>
          </p:spPr>
        </p:sp>
      </p:grpSp>
      <p:graphicFrame>
        <p:nvGraphicFramePr>
          <p:cNvPr id="28" name="Group 220"/>
          <p:cNvGraphicFramePr>
            <a:graphicFrameLocks noGrp="1"/>
          </p:cNvGraphicFramePr>
          <p:nvPr/>
        </p:nvGraphicFramePr>
        <p:xfrm>
          <a:off x="8331693" y="1936970"/>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9" name="Group 126"/>
          <p:cNvGraphicFramePr>
            <a:graphicFrameLocks noGrp="1"/>
          </p:cNvGraphicFramePr>
          <p:nvPr/>
        </p:nvGraphicFramePr>
        <p:xfrm>
          <a:off x="8331693" y="3613370"/>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0" name="Group 136"/>
          <p:cNvGraphicFramePr>
            <a:graphicFrameLocks noGrp="1"/>
          </p:cNvGraphicFramePr>
          <p:nvPr/>
        </p:nvGraphicFramePr>
        <p:xfrm>
          <a:off x="7033118" y="3156170"/>
          <a:ext cx="914400" cy="151288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31" name="Group 148"/>
              <p:cNvGraphicFramePr>
                <a:graphicFrameLocks noGrp="1"/>
              </p:cNvGraphicFramePr>
              <p:nvPr/>
            </p:nvGraphicFramePr>
            <p:xfrm>
              <a:off x="7018831" y="4816695"/>
              <a:ext cx="914400" cy="379413"/>
            </p:xfrm>
            <a:graphic>
              <a:graphicData uri="http://schemas.openxmlformats.org/drawingml/2006/table">
                <a:tbl>
                  <a:tblPr/>
                  <a:tblGrid>
                    <a:gridCol w="914400"/>
                  </a:tblGrid>
                  <a:tr h="379413">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0" i="1" dirty="0" smtClean="0">
                                  <a:latin typeface="Cambria Math" panose="02040503050406030204" pitchFamily="18" charset="0"/>
                                  <a:ea typeface="微软雅黑" panose="020B0503020204020204" pitchFamily="34" charset="-122"/>
                                </a:rPr>
                                <m:t>𝑖</m:t>
                              </m:r>
                            </m:oMath>
                          </a14:m>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31" name="Group 148"/>
              <p:cNvGraphicFramePr>
                <a:graphicFrameLocks noGrp="1"/>
              </p:cNvGraphicFramePr>
              <p:nvPr/>
            </p:nvGraphicFramePr>
            <p:xfrm>
              <a:off x="7018831" y="4816695"/>
              <a:ext cx="914400" cy="379413"/>
            </p:xfrm>
            <a:graphic>
              <a:graphicData uri="http://schemas.openxmlformats.org/drawingml/2006/table">
                <a:tbl>
                  <a:tblPr/>
                  <a:tblGrid>
                    <a:gridCol w="914400"/>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r>
                </a:tbl>
              </a:graphicData>
            </a:graphic>
          </p:graphicFrame>
        </mc:Fallback>
      </mc:AlternateContent>
      <p:sp>
        <p:nvSpPr>
          <p:cNvPr id="33" name="Rectangle 156"/>
          <p:cNvSpPr>
            <a:spLocks noChangeAspect="1"/>
          </p:cNvSpPr>
          <p:nvPr/>
        </p:nvSpPr>
        <p:spPr>
          <a:xfrm>
            <a:off x="10389093" y="1936970"/>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3</a:t>
            </a:r>
            <a:endParaRPr lang="en-US" altLang="zh-CN" sz="1600" b="0" dirty="0">
              <a:latin typeface="Times New Roman" panose="02020603050405020304" pitchFamily="18" charset="0"/>
              <a:ea typeface="宋体" panose="02010600030101010101" pitchFamily="2" charset="-122"/>
            </a:endParaRPr>
          </a:p>
        </p:txBody>
      </p:sp>
      <p:sp>
        <p:nvSpPr>
          <p:cNvPr id="34" name="Rectangle 157"/>
          <p:cNvSpPr>
            <a:spLocks noChangeAspect="1"/>
          </p:cNvSpPr>
          <p:nvPr/>
        </p:nvSpPr>
        <p:spPr>
          <a:xfrm>
            <a:off x="10389093" y="3613370"/>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sp>
        <p:nvSpPr>
          <p:cNvPr id="35" name="Text Box 158"/>
          <p:cNvSpPr txBox="1"/>
          <p:nvPr/>
        </p:nvSpPr>
        <p:spPr>
          <a:xfrm>
            <a:off x="6483843" y="3045045"/>
            <a:ext cx="6413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100</a:t>
            </a:r>
            <a:endParaRPr lang="en-US" altLang="zh-CN" sz="2400" b="0" dirty="0">
              <a:latin typeface="Times New Roman" panose="02020603050405020304" pitchFamily="18" charset="0"/>
              <a:ea typeface="宋体" panose="02010600030101010101" pitchFamily="2" charset="-122"/>
            </a:endParaRPr>
          </a:p>
        </p:txBody>
      </p:sp>
      <p:sp>
        <p:nvSpPr>
          <p:cNvPr id="36" name="Text Box 159"/>
          <p:cNvSpPr txBox="1"/>
          <p:nvPr/>
        </p:nvSpPr>
        <p:spPr>
          <a:xfrm>
            <a:off x="6483843" y="3426045"/>
            <a:ext cx="6413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101</a:t>
            </a:r>
            <a:endParaRPr lang="en-US" altLang="zh-CN" sz="2400" b="0" dirty="0">
              <a:latin typeface="Times New Roman" panose="02020603050405020304" pitchFamily="18" charset="0"/>
              <a:ea typeface="宋体" panose="02010600030101010101" pitchFamily="2" charset="-122"/>
            </a:endParaRPr>
          </a:p>
        </p:txBody>
      </p:sp>
      <p:sp>
        <p:nvSpPr>
          <p:cNvPr id="37" name="Text Box 160"/>
          <p:cNvSpPr txBox="1"/>
          <p:nvPr/>
        </p:nvSpPr>
        <p:spPr>
          <a:xfrm>
            <a:off x="6483843" y="3807045"/>
            <a:ext cx="6413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110</a:t>
            </a:r>
            <a:endParaRPr lang="en-US" altLang="zh-CN" sz="2400" b="0" dirty="0">
              <a:latin typeface="Times New Roman" panose="02020603050405020304" pitchFamily="18" charset="0"/>
              <a:ea typeface="宋体" panose="02010600030101010101" pitchFamily="2" charset="-122"/>
            </a:endParaRPr>
          </a:p>
        </p:txBody>
      </p:sp>
      <p:sp>
        <p:nvSpPr>
          <p:cNvPr id="38" name="Text Box 161"/>
          <p:cNvSpPr txBox="1"/>
          <p:nvPr/>
        </p:nvSpPr>
        <p:spPr>
          <a:xfrm>
            <a:off x="6483843" y="4188045"/>
            <a:ext cx="6413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111</a:t>
            </a:r>
            <a:endParaRPr lang="en-US" altLang="zh-CN" sz="2400" b="0" dirty="0">
              <a:latin typeface="Times New Roman" panose="02020603050405020304" pitchFamily="18" charset="0"/>
              <a:ea typeface="宋体" panose="02010600030101010101" pitchFamily="2" charset="-122"/>
            </a:endParaRPr>
          </a:p>
        </p:txBody>
      </p:sp>
      <p:graphicFrame>
        <p:nvGraphicFramePr>
          <p:cNvPr id="39" name="Group 162"/>
          <p:cNvGraphicFramePr>
            <a:graphicFrameLocks noGrp="1"/>
          </p:cNvGraphicFramePr>
          <p:nvPr/>
        </p:nvGraphicFramePr>
        <p:xfrm>
          <a:off x="8331693" y="4491426"/>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0" name="Rectangle 172"/>
          <p:cNvSpPr>
            <a:spLocks noChangeAspect="1"/>
          </p:cNvSpPr>
          <p:nvPr/>
        </p:nvSpPr>
        <p:spPr>
          <a:xfrm>
            <a:off x="10389093" y="4491426"/>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sp>
        <p:nvSpPr>
          <p:cNvPr id="47" name="Line 154"/>
          <p:cNvSpPr/>
          <p:nvPr/>
        </p:nvSpPr>
        <p:spPr>
          <a:xfrm>
            <a:off x="7490318" y="3384770"/>
            <a:ext cx="823913" cy="444500"/>
          </a:xfrm>
          <a:prstGeom prst="line">
            <a:avLst/>
          </a:prstGeom>
          <a:ln w="9525" cap="flat" cmpd="sng">
            <a:solidFill>
              <a:schemeClr val="tx1"/>
            </a:solidFill>
            <a:prstDash val="solid"/>
            <a:round/>
            <a:headEnd type="none" w="med" len="med"/>
            <a:tailEnd type="triangle" w="med" len="med"/>
          </a:ln>
        </p:spPr>
      </p:sp>
      <p:sp>
        <p:nvSpPr>
          <p:cNvPr id="48" name="Line 155"/>
          <p:cNvSpPr/>
          <p:nvPr/>
        </p:nvSpPr>
        <p:spPr>
          <a:xfrm>
            <a:off x="7490318" y="4146770"/>
            <a:ext cx="839788" cy="471487"/>
          </a:xfrm>
          <a:prstGeom prst="line">
            <a:avLst/>
          </a:prstGeom>
          <a:ln w="9525" cap="flat" cmpd="sng">
            <a:solidFill>
              <a:schemeClr val="tx1"/>
            </a:solidFill>
            <a:prstDash val="solid"/>
            <a:round/>
            <a:headEnd type="none" w="med" len="med"/>
            <a:tailEnd type="triangle" w="med" len="med"/>
          </a:ln>
        </p:spPr>
      </p:sp>
      <p:sp>
        <p:nvSpPr>
          <p:cNvPr id="49" name="Line 173"/>
          <p:cNvSpPr/>
          <p:nvPr/>
        </p:nvSpPr>
        <p:spPr>
          <a:xfrm>
            <a:off x="7490319" y="4451570"/>
            <a:ext cx="827088" cy="552683"/>
          </a:xfrm>
          <a:prstGeom prst="line">
            <a:avLst/>
          </a:prstGeom>
          <a:ln w="9525" cap="flat" cmpd="sng">
            <a:solidFill>
              <a:schemeClr val="tx1"/>
            </a:solidFill>
            <a:prstDash val="solid"/>
            <a:round/>
            <a:headEnd type="none" w="med" len="med"/>
            <a:tailEnd type="triangle" w="med" len="med"/>
          </a:ln>
        </p:spPr>
      </p:sp>
      <p:sp>
        <p:nvSpPr>
          <p:cNvPr id="50" name="Line 174"/>
          <p:cNvSpPr/>
          <p:nvPr/>
        </p:nvSpPr>
        <p:spPr>
          <a:xfrm>
            <a:off x="7533181" y="3765770"/>
            <a:ext cx="811212" cy="274637"/>
          </a:xfrm>
          <a:prstGeom prst="line">
            <a:avLst/>
          </a:prstGeom>
          <a:ln w="9525" cap="flat" cmpd="sng">
            <a:solidFill>
              <a:schemeClr val="tx1"/>
            </a:solidFill>
            <a:prstDash val="solid"/>
            <a:round/>
            <a:headEnd type="none" w="med" len="med"/>
            <a:tailEnd type="triangle" w="med" len="med"/>
          </a:ln>
        </p:spPr>
      </p:sp>
      <p:graphicFrame>
        <p:nvGraphicFramePr>
          <p:cNvPr id="51" name="Group 175"/>
          <p:cNvGraphicFramePr>
            <a:graphicFrameLocks noGrp="1"/>
          </p:cNvGraphicFramePr>
          <p:nvPr/>
        </p:nvGraphicFramePr>
        <p:xfrm>
          <a:off x="8331693" y="2775170"/>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2" name="Rectangle 185"/>
          <p:cNvSpPr>
            <a:spLocks noChangeAspect="1"/>
          </p:cNvSpPr>
          <p:nvPr/>
        </p:nvSpPr>
        <p:spPr>
          <a:xfrm>
            <a:off x="10389093" y="2775170"/>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2</a:t>
            </a:r>
            <a:endParaRPr lang="en-US" altLang="zh-CN" sz="1600" b="0" dirty="0">
              <a:latin typeface="Times New Roman" panose="02020603050405020304" pitchFamily="18" charset="0"/>
              <a:ea typeface="宋体" panose="02010600030101010101" pitchFamily="2" charset="-122"/>
            </a:endParaRPr>
          </a:p>
        </p:txBody>
      </p:sp>
      <p:graphicFrame>
        <p:nvGraphicFramePr>
          <p:cNvPr id="53" name="Group 188"/>
          <p:cNvGraphicFramePr>
            <a:graphicFrameLocks noGrp="1"/>
          </p:cNvGraphicFramePr>
          <p:nvPr/>
        </p:nvGraphicFramePr>
        <p:xfrm>
          <a:off x="7036293" y="1632170"/>
          <a:ext cx="914400" cy="151288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4" name="Text Box 200"/>
          <p:cNvSpPr txBox="1"/>
          <p:nvPr/>
        </p:nvSpPr>
        <p:spPr>
          <a:xfrm>
            <a:off x="6487018" y="1521045"/>
            <a:ext cx="6413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000</a:t>
            </a:r>
            <a:endParaRPr lang="en-US" altLang="zh-CN" sz="2400" b="0" dirty="0">
              <a:latin typeface="Times New Roman" panose="02020603050405020304" pitchFamily="18" charset="0"/>
              <a:ea typeface="宋体" panose="02010600030101010101" pitchFamily="2" charset="-122"/>
            </a:endParaRPr>
          </a:p>
        </p:txBody>
      </p:sp>
      <p:sp>
        <p:nvSpPr>
          <p:cNvPr id="55" name="Text Box 201"/>
          <p:cNvSpPr txBox="1"/>
          <p:nvPr/>
        </p:nvSpPr>
        <p:spPr>
          <a:xfrm>
            <a:off x="6487018" y="1902045"/>
            <a:ext cx="6413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001</a:t>
            </a:r>
            <a:endParaRPr lang="en-US" altLang="zh-CN" sz="2400" b="0" dirty="0">
              <a:latin typeface="Times New Roman" panose="02020603050405020304" pitchFamily="18" charset="0"/>
              <a:ea typeface="宋体" panose="02010600030101010101" pitchFamily="2" charset="-122"/>
            </a:endParaRPr>
          </a:p>
        </p:txBody>
      </p:sp>
      <p:sp>
        <p:nvSpPr>
          <p:cNvPr id="56" name="Text Box 202"/>
          <p:cNvSpPr txBox="1"/>
          <p:nvPr/>
        </p:nvSpPr>
        <p:spPr>
          <a:xfrm>
            <a:off x="6487018" y="2283045"/>
            <a:ext cx="6413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010</a:t>
            </a:r>
            <a:endParaRPr lang="en-US" altLang="zh-CN" sz="2400" b="0" dirty="0">
              <a:latin typeface="Times New Roman" panose="02020603050405020304" pitchFamily="18" charset="0"/>
              <a:ea typeface="宋体" panose="02010600030101010101" pitchFamily="2" charset="-122"/>
            </a:endParaRPr>
          </a:p>
        </p:txBody>
      </p:sp>
      <p:sp>
        <p:nvSpPr>
          <p:cNvPr id="57" name="Text Box 203"/>
          <p:cNvSpPr txBox="1"/>
          <p:nvPr/>
        </p:nvSpPr>
        <p:spPr>
          <a:xfrm>
            <a:off x="6487018" y="2664045"/>
            <a:ext cx="641350" cy="457200"/>
          </a:xfrm>
          <a:prstGeom prst="rect">
            <a:avLst/>
          </a:prstGeom>
          <a:noFill/>
          <a:ln w="9525">
            <a:noFill/>
          </a:ln>
        </p:spPr>
        <p:txBody>
          <a:bodyPr wrap="none" anchor="t">
            <a:spAutoFit/>
          </a:bodyPr>
          <a:lstStyle/>
          <a:p>
            <a:r>
              <a:rPr lang="en-US" altLang="zh-CN" sz="2400" b="0" dirty="0">
                <a:latin typeface="Times New Roman" panose="02020603050405020304" pitchFamily="18" charset="0"/>
                <a:ea typeface="宋体" panose="02010600030101010101" pitchFamily="2" charset="-122"/>
              </a:rPr>
              <a:t>011</a:t>
            </a:r>
            <a:endParaRPr lang="en-US" altLang="zh-CN" sz="2400" b="0" dirty="0">
              <a:latin typeface="Times New Roman" panose="02020603050405020304" pitchFamily="18" charset="0"/>
              <a:ea typeface="宋体" panose="02010600030101010101" pitchFamily="2" charset="-122"/>
            </a:endParaRPr>
          </a:p>
        </p:txBody>
      </p:sp>
      <p:sp>
        <p:nvSpPr>
          <p:cNvPr id="58" name="Line 204"/>
          <p:cNvSpPr/>
          <p:nvPr/>
        </p:nvSpPr>
        <p:spPr>
          <a:xfrm>
            <a:off x="7563343" y="2897407"/>
            <a:ext cx="762000" cy="182563"/>
          </a:xfrm>
          <a:prstGeom prst="line">
            <a:avLst/>
          </a:prstGeom>
          <a:ln w="9525" cap="flat" cmpd="sng">
            <a:solidFill>
              <a:schemeClr val="tx1"/>
            </a:solidFill>
            <a:prstDash val="solid"/>
            <a:round/>
            <a:headEnd type="none" w="med" len="med"/>
            <a:tailEnd type="triangle" w="med" len="med"/>
          </a:ln>
        </p:spPr>
      </p:sp>
      <p:sp>
        <p:nvSpPr>
          <p:cNvPr id="59" name="Line 205"/>
          <p:cNvSpPr/>
          <p:nvPr/>
        </p:nvSpPr>
        <p:spPr>
          <a:xfrm>
            <a:off x="7639543" y="2516407"/>
            <a:ext cx="685800" cy="381000"/>
          </a:xfrm>
          <a:prstGeom prst="line">
            <a:avLst/>
          </a:prstGeom>
          <a:ln w="9525" cap="flat" cmpd="sng">
            <a:solidFill>
              <a:schemeClr val="tx1"/>
            </a:solidFill>
            <a:prstDash val="solid"/>
            <a:round/>
            <a:headEnd type="none" w="med" len="med"/>
            <a:tailEnd type="triangle" w="med" len="med"/>
          </a:ln>
        </p:spPr>
      </p:sp>
      <p:graphicFrame>
        <p:nvGraphicFramePr>
          <p:cNvPr id="60" name="Group 206"/>
          <p:cNvGraphicFramePr>
            <a:graphicFrameLocks noGrp="1"/>
          </p:cNvGraphicFramePr>
          <p:nvPr/>
        </p:nvGraphicFramePr>
        <p:xfrm>
          <a:off x="8320581" y="1057495"/>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sp>
        <p:nvSpPr>
          <p:cNvPr id="61" name="Rectangle 216"/>
          <p:cNvSpPr>
            <a:spLocks noChangeAspect="1"/>
          </p:cNvSpPr>
          <p:nvPr/>
        </p:nvSpPr>
        <p:spPr>
          <a:xfrm>
            <a:off x="10377981" y="1057495"/>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3</a:t>
            </a:r>
            <a:endParaRPr lang="en-US" altLang="zh-CN" sz="1600" b="0" dirty="0">
              <a:latin typeface="Times New Roman" panose="02020603050405020304" pitchFamily="18" charset="0"/>
              <a:ea typeface="宋体" panose="02010600030101010101" pitchFamily="2" charset="-122"/>
            </a:endParaRPr>
          </a:p>
        </p:txBody>
      </p:sp>
      <p:sp>
        <p:nvSpPr>
          <p:cNvPr id="62" name="Line 218"/>
          <p:cNvSpPr/>
          <p:nvPr/>
        </p:nvSpPr>
        <p:spPr>
          <a:xfrm flipV="1">
            <a:off x="7699868" y="1251170"/>
            <a:ext cx="609600" cy="547687"/>
          </a:xfrm>
          <a:prstGeom prst="line">
            <a:avLst/>
          </a:prstGeom>
          <a:ln w="9525" cap="flat" cmpd="sng">
            <a:solidFill>
              <a:schemeClr val="tx1"/>
            </a:solidFill>
            <a:prstDash val="solid"/>
            <a:round/>
            <a:headEnd type="none" w="med" len="med"/>
            <a:tailEnd type="triangle" w="med" len="med"/>
          </a:ln>
        </p:spPr>
      </p:sp>
      <p:sp>
        <p:nvSpPr>
          <p:cNvPr id="63" name="Line 219"/>
          <p:cNvSpPr/>
          <p:nvPr/>
        </p:nvSpPr>
        <p:spPr>
          <a:xfrm>
            <a:off x="7669706" y="2165570"/>
            <a:ext cx="655637" cy="166687"/>
          </a:xfrm>
          <a:prstGeom prst="line">
            <a:avLst/>
          </a:prstGeom>
          <a:ln w="9525" cap="flat" cmpd="sng">
            <a:solidFill>
              <a:schemeClr val="tx1"/>
            </a:solidFill>
            <a:prstDash val="solid"/>
            <a:round/>
            <a:headEnd type="none" w="med" len="med"/>
            <a:tailEnd type="triangle" w="med" len="med"/>
          </a:ln>
        </p:spPr>
      </p:sp>
      <p:grpSp>
        <p:nvGrpSpPr>
          <p:cNvPr id="64" name="Group 222"/>
          <p:cNvGrpSpPr/>
          <p:nvPr/>
        </p:nvGrpSpPr>
        <p:grpSpPr>
          <a:xfrm>
            <a:off x="5624771" y="5347573"/>
            <a:ext cx="5133946" cy="1287742"/>
            <a:chOff x="1283" y="3268"/>
            <a:chExt cx="810" cy="499"/>
          </a:xfrm>
        </p:grpSpPr>
        <p:sp>
          <p:nvSpPr>
            <p:cNvPr id="65" name="AutoShape 39"/>
            <p:cNvSpPr/>
            <p:nvPr/>
          </p:nvSpPr>
          <p:spPr>
            <a:xfrm>
              <a:off x="1283" y="3268"/>
              <a:ext cx="810" cy="499"/>
            </a:xfrm>
            <a:prstGeom prst="roundRect">
              <a:avLst>
                <a:gd name="adj" fmla="val 16667"/>
              </a:avLst>
            </a:prstGeom>
            <a:solidFill>
              <a:schemeClr val="accent2"/>
            </a:solidFill>
            <a:ln w="9525">
              <a:noFill/>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66" name="Oval 40"/>
            <p:cNvSpPr/>
            <p:nvPr/>
          </p:nvSpPr>
          <p:spPr>
            <a:xfrm>
              <a:off x="1300" y="3294"/>
              <a:ext cx="773" cy="450"/>
            </a:xfrm>
            <a:prstGeom prst="roundRect">
              <a:avLst>
                <a:gd name="adj" fmla="val 16667"/>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1600" dirty="0">
                <a:solidFill>
                  <a:srgbClr val="000000"/>
                </a:solidFill>
                <a:latin typeface="Arial" panose="020B0604020202020204" pitchFamily="34" charset="0"/>
                <a:ea typeface="宋体" panose="02010600030101010101" pitchFamily="2" charset="-122"/>
              </a:endParaRPr>
            </a:p>
          </p:txBody>
        </p:sp>
        <p:sp>
          <p:nvSpPr>
            <p:cNvPr id="68" name="Text Box 84"/>
            <p:cNvSpPr/>
            <p:nvPr/>
          </p:nvSpPr>
          <p:spPr>
            <a:xfrm>
              <a:off x="1290" y="3277"/>
              <a:ext cx="778" cy="466"/>
            </a:xfrm>
            <a:prstGeom prst="roundRect">
              <a:avLst>
                <a:gd name="adj" fmla="val 16667"/>
              </a:avLst>
            </a:prstGeom>
            <a:noFill/>
            <a:ln w="9525">
              <a:noFill/>
            </a:ln>
          </p:spPr>
          <p:txBody>
            <a:bodyPr wrap="square" anchor="t">
              <a:spAutoFit/>
            </a:bodyPr>
            <a:lstStyle/>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取前</a:t>
              </a:r>
              <a:r>
                <a:rPr lang="en-US" altLang="zh-CN" sz="1600" dirty="0">
                  <a:solidFill>
                    <a:schemeClr val="accent2"/>
                  </a:solidFill>
                  <a:latin typeface="Arial" panose="020B0604020202020204" pitchFamily="34" charset="0"/>
                  <a:ea typeface="微软雅黑" panose="020B0503020204020204" pitchFamily="34" charset="-122"/>
                </a:rPr>
                <a:t>i</a:t>
              </a:r>
              <a:r>
                <a:rPr lang="zh-CN" altLang="en-US" sz="1600" dirty="0">
                  <a:solidFill>
                    <a:schemeClr val="accent2"/>
                  </a:solidFill>
                  <a:latin typeface="Arial" panose="020B0604020202020204" pitchFamily="34" charset="0"/>
                  <a:ea typeface="微软雅黑" panose="020B0503020204020204" pitchFamily="34" charset="-122"/>
                </a:rPr>
                <a:t>位，确定索引块。</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如未满，则存入。</a:t>
              </a:r>
              <a:endParaRPr lang="zh-CN" altLang="en-US" sz="1600" dirty="0">
                <a:solidFill>
                  <a:schemeClr val="accent2"/>
                </a:solidFill>
                <a:latin typeface="Arial" panose="020B0604020202020204" pitchFamily="34" charset="0"/>
                <a:ea typeface="微软雅黑" panose="020B0503020204020204" pitchFamily="34" charset="-122"/>
              </a:endParaRPr>
            </a:p>
            <a:p>
              <a:pPr>
                <a:spcBef>
                  <a:spcPct val="20000"/>
                </a:spcBef>
                <a:buChar char="•"/>
              </a:pPr>
              <a:r>
                <a:rPr lang="zh-CN" altLang="en-US" sz="1600" dirty="0">
                  <a:solidFill>
                    <a:schemeClr val="accent2"/>
                  </a:solidFill>
                  <a:latin typeface="Arial" panose="020B0604020202020204" pitchFamily="34" charset="0"/>
                  <a:ea typeface="微软雅黑" panose="020B0503020204020204" pitchFamily="34" charset="-122"/>
                </a:rPr>
                <a:t>如已满，则需要扩展散列桶，进行分裂：此时</a:t>
              </a:r>
              <a:r>
                <a:rPr lang="en-US" altLang="zh-CN" sz="1600" dirty="0" err="1">
                  <a:solidFill>
                    <a:schemeClr val="accent2"/>
                  </a:solidFill>
                  <a:latin typeface="Arial" panose="020B0604020202020204" pitchFamily="34" charset="0"/>
                  <a:ea typeface="微软雅黑" panose="020B0503020204020204" pitchFamily="34" charset="-122"/>
                </a:rPr>
                <a:t>i</a:t>
              </a:r>
              <a:r>
                <a:rPr lang="zh-CN" altLang="en-US" sz="1600" dirty="0">
                  <a:solidFill>
                    <a:schemeClr val="accent2"/>
                  </a:solidFill>
                  <a:latin typeface="Arial" panose="020B0604020202020204" pitchFamily="34" charset="0"/>
                  <a:ea typeface="微软雅黑" panose="020B0503020204020204" pitchFamily="34" charset="-122"/>
                </a:rPr>
                <a:t>需增加</a:t>
              </a:r>
              <a:r>
                <a:rPr lang="en-US" altLang="zh-CN" sz="1600" dirty="0">
                  <a:solidFill>
                    <a:schemeClr val="accent2"/>
                  </a:solidFill>
                  <a:latin typeface="Arial" panose="020B0604020202020204" pitchFamily="34" charset="0"/>
                  <a:ea typeface="微软雅黑" panose="020B0503020204020204" pitchFamily="34" charset="-122"/>
                </a:rPr>
                <a:t>1</a:t>
              </a:r>
              <a:r>
                <a:rPr lang="zh-CN" altLang="en-US" sz="1600" dirty="0">
                  <a:solidFill>
                    <a:schemeClr val="accent2"/>
                  </a:solidFill>
                  <a:latin typeface="Arial" panose="020B0604020202020204" pitchFamily="34" charset="0"/>
                  <a:ea typeface="微软雅黑" panose="020B0503020204020204" pitchFamily="34" charset="-122"/>
                </a:rPr>
                <a:t>，重新散列该块的数据到两个块中。其他不变</a:t>
              </a:r>
              <a:endParaRPr lang="zh-CN" altLang="en-US" sz="1600" dirty="0">
                <a:solidFill>
                  <a:schemeClr val="accent2"/>
                </a:solidFill>
                <a:latin typeface="Arial" panose="020B0604020202020204" pitchFamily="34" charset="0"/>
                <a:ea typeface="微软雅黑" panose="020B0503020204020204" pitchFamily="34" charset="-122"/>
              </a:endParaRPr>
            </a:p>
          </p:txBody>
        </p:sp>
      </p:grpSp>
      <p:sp>
        <p:nvSpPr>
          <p:cNvPr id="3" name="灯片编号占位符 2"/>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ox(i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additive="base">
                                        <p:cTn id="12" dur="500" fill="hold"/>
                                        <p:tgtEl>
                                          <p:spTgt spid="28"/>
                                        </p:tgtEl>
                                        <p:attrNameLst>
                                          <p:attrName>ppt_x</p:attrName>
                                        </p:attrNameLst>
                                      </p:cBhvr>
                                      <p:tavLst>
                                        <p:tav tm="0">
                                          <p:val>
                                            <p:strVal val="#ppt_x"/>
                                          </p:val>
                                        </p:tav>
                                        <p:tav tm="100000">
                                          <p:val>
                                            <p:strVal val="#ppt_x"/>
                                          </p:val>
                                        </p:tav>
                                      </p:tavLst>
                                    </p:anim>
                                    <p:anim calcmode="lin" valueType="num">
                                      <p:cBhvr additive="base">
                                        <p:cTn id="13" dur="500" fill="hold"/>
                                        <p:tgtEl>
                                          <p:spTgt spid="28"/>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 calcmode="lin" valueType="num">
                                      <p:cBhvr additive="base">
                                        <p:cTn id="16" dur="500" fill="hold"/>
                                        <p:tgtEl>
                                          <p:spTgt spid="29"/>
                                        </p:tgtEl>
                                        <p:attrNameLst>
                                          <p:attrName>ppt_x</p:attrName>
                                        </p:attrNameLst>
                                      </p:cBhvr>
                                      <p:tavLst>
                                        <p:tav tm="0">
                                          <p:val>
                                            <p:strVal val="#ppt_x"/>
                                          </p:val>
                                        </p:tav>
                                        <p:tav tm="100000">
                                          <p:val>
                                            <p:strVal val="#ppt_x"/>
                                          </p:val>
                                        </p:tav>
                                      </p:tavLst>
                                    </p:anim>
                                    <p:anim calcmode="lin" valueType="num">
                                      <p:cBhvr additive="base">
                                        <p:cTn id="17" dur="500" fill="hold"/>
                                        <p:tgtEl>
                                          <p:spTgt spid="29"/>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0"/>
                                        </p:tgtEl>
                                        <p:attrNameLst>
                                          <p:attrName>style.visibility</p:attrName>
                                        </p:attrNameLst>
                                      </p:cBhvr>
                                      <p:to>
                                        <p:strVal val="visible"/>
                                      </p:to>
                                    </p:set>
                                    <p:anim calcmode="lin" valueType="num">
                                      <p:cBhvr additive="base">
                                        <p:cTn id="20" dur="500" fill="hold"/>
                                        <p:tgtEl>
                                          <p:spTgt spid="30"/>
                                        </p:tgtEl>
                                        <p:attrNameLst>
                                          <p:attrName>ppt_x</p:attrName>
                                        </p:attrNameLst>
                                      </p:cBhvr>
                                      <p:tavLst>
                                        <p:tav tm="0">
                                          <p:val>
                                            <p:strVal val="#ppt_x"/>
                                          </p:val>
                                        </p:tav>
                                        <p:tav tm="100000">
                                          <p:val>
                                            <p:strVal val="#ppt_x"/>
                                          </p:val>
                                        </p:tav>
                                      </p:tavLst>
                                    </p:anim>
                                    <p:anim calcmode="lin" valueType="num">
                                      <p:cBhvr additive="base">
                                        <p:cTn id="21" dur="500" fill="hold"/>
                                        <p:tgtEl>
                                          <p:spTgt spid="30"/>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additive="base">
                                        <p:cTn id="24" dur="500" fill="hold"/>
                                        <p:tgtEl>
                                          <p:spTgt spid="31"/>
                                        </p:tgtEl>
                                        <p:attrNameLst>
                                          <p:attrName>ppt_x</p:attrName>
                                        </p:attrNameLst>
                                      </p:cBhvr>
                                      <p:tavLst>
                                        <p:tav tm="0">
                                          <p:val>
                                            <p:strVal val="#ppt_x"/>
                                          </p:val>
                                        </p:tav>
                                        <p:tav tm="100000">
                                          <p:val>
                                            <p:strVal val="#ppt_x"/>
                                          </p:val>
                                        </p:tav>
                                      </p:tavLst>
                                    </p:anim>
                                    <p:anim calcmode="lin" valueType="num">
                                      <p:cBhvr additive="base">
                                        <p:cTn id="25" dur="500" fill="hold"/>
                                        <p:tgtEl>
                                          <p:spTgt spid="31"/>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 calcmode="lin" valueType="num">
                                      <p:cBhvr additive="base">
                                        <p:cTn id="28" dur="500" fill="hold"/>
                                        <p:tgtEl>
                                          <p:spTgt spid="33"/>
                                        </p:tgtEl>
                                        <p:attrNameLst>
                                          <p:attrName>ppt_x</p:attrName>
                                        </p:attrNameLst>
                                      </p:cBhvr>
                                      <p:tavLst>
                                        <p:tav tm="0">
                                          <p:val>
                                            <p:strVal val="#ppt_x"/>
                                          </p:val>
                                        </p:tav>
                                        <p:tav tm="100000">
                                          <p:val>
                                            <p:strVal val="#ppt_x"/>
                                          </p:val>
                                        </p:tav>
                                      </p:tavLst>
                                    </p:anim>
                                    <p:anim calcmode="lin" valueType="num">
                                      <p:cBhvr additive="base">
                                        <p:cTn id="29" dur="500" fill="hold"/>
                                        <p:tgtEl>
                                          <p:spTgt spid="33"/>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 calcmode="lin" valueType="num">
                                      <p:cBhvr additive="base">
                                        <p:cTn id="32" dur="500" fill="hold"/>
                                        <p:tgtEl>
                                          <p:spTgt spid="34"/>
                                        </p:tgtEl>
                                        <p:attrNameLst>
                                          <p:attrName>ppt_x</p:attrName>
                                        </p:attrNameLst>
                                      </p:cBhvr>
                                      <p:tavLst>
                                        <p:tav tm="0">
                                          <p:val>
                                            <p:strVal val="#ppt_x"/>
                                          </p:val>
                                        </p:tav>
                                        <p:tav tm="100000">
                                          <p:val>
                                            <p:strVal val="#ppt_x"/>
                                          </p:val>
                                        </p:tav>
                                      </p:tavLst>
                                    </p:anim>
                                    <p:anim calcmode="lin" valueType="num">
                                      <p:cBhvr additive="base">
                                        <p:cTn id="33" dur="500" fill="hold"/>
                                        <p:tgtEl>
                                          <p:spTgt spid="34"/>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anim calcmode="lin" valueType="num">
                                      <p:cBhvr additive="base">
                                        <p:cTn id="36" dur="500" fill="hold"/>
                                        <p:tgtEl>
                                          <p:spTgt spid="35"/>
                                        </p:tgtEl>
                                        <p:attrNameLst>
                                          <p:attrName>ppt_x</p:attrName>
                                        </p:attrNameLst>
                                      </p:cBhvr>
                                      <p:tavLst>
                                        <p:tav tm="0">
                                          <p:val>
                                            <p:strVal val="#ppt_x"/>
                                          </p:val>
                                        </p:tav>
                                        <p:tav tm="100000">
                                          <p:val>
                                            <p:strVal val="#ppt_x"/>
                                          </p:val>
                                        </p:tav>
                                      </p:tavLst>
                                    </p:anim>
                                    <p:anim calcmode="lin" valueType="num">
                                      <p:cBhvr additive="base">
                                        <p:cTn id="37" dur="500" fill="hold"/>
                                        <p:tgtEl>
                                          <p:spTgt spid="35"/>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 calcmode="lin" valueType="num">
                                      <p:cBhvr additive="base">
                                        <p:cTn id="40" dur="500" fill="hold"/>
                                        <p:tgtEl>
                                          <p:spTgt spid="36"/>
                                        </p:tgtEl>
                                        <p:attrNameLst>
                                          <p:attrName>ppt_x</p:attrName>
                                        </p:attrNameLst>
                                      </p:cBhvr>
                                      <p:tavLst>
                                        <p:tav tm="0">
                                          <p:val>
                                            <p:strVal val="#ppt_x"/>
                                          </p:val>
                                        </p:tav>
                                        <p:tav tm="100000">
                                          <p:val>
                                            <p:strVal val="#ppt_x"/>
                                          </p:val>
                                        </p:tav>
                                      </p:tavLst>
                                    </p:anim>
                                    <p:anim calcmode="lin" valueType="num">
                                      <p:cBhvr additive="base">
                                        <p:cTn id="41" dur="500" fill="hold"/>
                                        <p:tgtEl>
                                          <p:spTgt spid="36"/>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anim calcmode="lin" valueType="num">
                                      <p:cBhvr additive="base">
                                        <p:cTn id="44" dur="500" fill="hold"/>
                                        <p:tgtEl>
                                          <p:spTgt spid="37"/>
                                        </p:tgtEl>
                                        <p:attrNameLst>
                                          <p:attrName>ppt_x</p:attrName>
                                        </p:attrNameLst>
                                      </p:cBhvr>
                                      <p:tavLst>
                                        <p:tav tm="0">
                                          <p:val>
                                            <p:strVal val="#ppt_x"/>
                                          </p:val>
                                        </p:tav>
                                        <p:tav tm="100000">
                                          <p:val>
                                            <p:strVal val="#ppt_x"/>
                                          </p:val>
                                        </p:tav>
                                      </p:tavLst>
                                    </p:anim>
                                    <p:anim calcmode="lin" valueType="num">
                                      <p:cBhvr additive="base">
                                        <p:cTn id="45" dur="500" fill="hold"/>
                                        <p:tgtEl>
                                          <p:spTgt spid="37"/>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38"/>
                                        </p:tgtEl>
                                        <p:attrNameLst>
                                          <p:attrName>style.visibility</p:attrName>
                                        </p:attrNameLst>
                                      </p:cBhvr>
                                      <p:to>
                                        <p:strVal val="visible"/>
                                      </p:to>
                                    </p:set>
                                    <p:anim calcmode="lin" valueType="num">
                                      <p:cBhvr additive="base">
                                        <p:cTn id="48" dur="500" fill="hold"/>
                                        <p:tgtEl>
                                          <p:spTgt spid="38"/>
                                        </p:tgtEl>
                                        <p:attrNameLst>
                                          <p:attrName>ppt_x</p:attrName>
                                        </p:attrNameLst>
                                      </p:cBhvr>
                                      <p:tavLst>
                                        <p:tav tm="0">
                                          <p:val>
                                            <p:strVal val="#ppt_x"/>
                                          </p:val>
                                        </p:tav>
                                        <p:tav tm="100000">
                                          <p:val>
                                            <p:strVal val="#ppt_x"/>
                                          </p:val>
                                        </p:tav>
                                      </p:tavLst>
                                    </p:anim>
                                    <p:anim calcmode="lin" valueType="num">
                                      <p:cBhvr additive="base">
                                        <p:cTn id="49" dur="500" fill="hold"/>
                                        <p:tgtEl>
                                          <p:spTgt spid="38"/>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39"/>
                                        </p:tgtEl>
                                        <p:attrNameLst>
                                          <p:attrName>style.visibility</p:attrName>
                                        </p:attrNameLst>
                                      </p:cBhvr>
                                      <p:to>
                                        <p:strVal val="visible"/>
                                      </p:to>
                                    </p:set>
                                    <p:anim calcmode="lin" valueType="num">
                                      <p:cBhvr additive="base">
                                        <p:cTn id="52" dur="500" fill="hold"/>
                                        <p:tgtEl>
                                          <p:spTgt spid="39"/>
                                        </p:tgtEl>
                                        <p:attrNameLst>
                                          <p:attrName>ppt_x</p:attrName>
                                        </p:attrNameLst>
                                      </p:cBhvr>
                                      <p:tavLst>
                                        <p:tav tm="0">
                                          <p:val>
                                            <p:strVal val="#ppt_x"/>
                                          </p:val>
                                        </p:tav>
                                        <p:tav tm="100000">
                                          <p:val>
                                            <p:strVal val="#ppt_x"/>
                                          </p:val>
                                        </p:tav>
                                      </p:tavLst>
                                    </p:anim>
                                    <p:anim calcmode="lin" valueType="num">
                                      <p:cBhvr additive="base">
                                        <p:cTn id="53" dur="500" fill="hold"/>
                                        <p:tgtEl>
                                          <p:spTgt spid="39"/>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40"/>
                                        </p:tgtEl>
                                        <p:attrNameLst>
                                          <p:attrName>style.visibility</p:attrName>
                                        </p:attrNameLst>
                                      </p:cBhvr>
                                      <p:to>
                                        <p:strVal val="visible"/>
                                      </p:to>
                                    </p:set>
                                    <p:anim calcmode="lin" valueType="num">
                                      <p:cBhvr additive="base">
                                        <p:cTn id="56" dur="500" fill="hold"/>
                                        <p:tgtEl>
                                          <p:spTgt spid="40"/>
                                        </p:tgtEl>
                                        <p:attrNameLst>
                                          <p:attrName>ppt_x</p:attrName>
                                        </p:attrNameLst>
                                      </p:cBhvr>
                                      <p:tavLst>
                                        <p:tav tm="0">
                                          <p:val>
                                            <p:strVal val="#ppt_x"/>
                                          </p:val>
                                        </p:tav>
                                        <p:tav tm="100000">
                                          <p:val>
                                            <p:strVal val="#ppt_x"/>
                                          </p:val>
                                        </p:tav>
                                      </p:tavLst>
                                    </p:anim>
                                    <p:anim calcmode="lin" valueType="num">
                                      <p:cBhvr additive="base">
                                        <p:cTn id="57" dur="500" fill="hold"/>
                                        <p:tgtEl>
                                          <p:spTgt spid="40"/>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additive="base">
                                        <p:cTn id="60" dur="500" fill="hold"/>
                                        <p:tgtEl>
                                          <p:spTgt spid="47"/>
                                        </p:tgtEl>
                                        <p:attrNameLst>
                                          <p:attrName>ppt_x</p:attrName>
                                        </p:attrNameLst>
                                      </p:cBhvr>
                                      <p:tavLst>
                                        <p:tav tm="0">
                                          <p:val>
                                            <p:strVal val="#ppt_x"/>
                                          </p:val>
                                        </p:tav>
                                        <p:tav tm="100000">
                                          <p:val>
                                            <p:strVal val="#ppt_x"/>
                                          </p:val>
                                        </p:tav>
                                      </p:tavLst>
                                    </p:anim>
                                    <p:anim calcmode="lin" valueType="num">
                                      <p:cBhvr additive="base">
                                        <p:cTn id="61" dur="500" fill="hold"/>
                                        <p:tgtEl>
                                          <p:spTgt spid="47"/>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 calcmode="lin" valueType="num">
                                      <p:cBhvr additive="base">
                                        <p:cTn id="64" dur="500" fill="hold"/>
                                        <p:tgtEl>
                                          <p:spTgt spid="48"/>
                                        </p:tgtEl>
                                        <p:attrNameLst>
                                          <p:attrName>ppt_x</p:attrName>
                                        </p:attrNameLst>
                                      </p:cBhvr>
                                      <p:tavLst>
                                        <p:tav tm="0">
                                          <p:val>
                                            <p:strVal val="#ppt_x"/>
                                          </p:val>
                                        </p:tav>
                                        <p:tav tm="100000">
                                          <p:val>
                                            <p:strVal val="#ppt_x"/>
                                          </p:val>
                                        </p:tav>
                                      </p:tavLst>
                                    </p:anim>
                                    <p:anim calcmode="lin" valueType="num">
                                      <p:cBhvr additive="base">
                                        <p:cTn id="65" dur="500" fill="hold"/>
                                        <p:tgtEl>
                                          <p:spTgt spid="48"/>
                                        </p:tgtEl>
                                        <p:attrNameLst>
                                          <p:attrName>ppt_y</p:attrName>
                                        </p:attrNameLst>
                                      </p:cBhvr>
                                      <p:tavLst>
                                        <p:tav tm="0">
                                          <p:val>
                                            <p:strVal val="1+#ppt_h/2"/>
                                          </p:val>
                                        </p:tav>
                                        <p:tav tm="100000">
                                          <p:val>
                                            <p:strVal val="#ppt_y"/>
                                          </p:val>
                                        </p:tav>
                                      </p:tavLst>
                                    </p:anim>
                                  </p:childTnLst>
                                </p:cTn>
                              </p:par>
                              <p:par>
                                <p:cTn id="66" presetID="2" presetClass="entr" presetSubtype="4" fill="hold" nodeType="withEffect">
                                  <p:stCondLst>
                                    <p:cond delay="0"/>
                                  </p:stCondLst>
                                  <p:childTnLst>
                                    <p:set>
                                      <p:cBhvr>
                                        <p:cTn id="67" dur="1" fill="hold">
                                          <p:stCondLst>
                                            <p:cond delay="0"/>
                                          </p:stCondLst>
                                        </p:cTn>
                                        <p:tgtEl>
                                          <p:spTgt spid="49"/>
                                        </p:tgtEl>
                                        <p:attrNameLst>
                                          <p:attrName>style.visibility</p:attrName>
                                        </p:attrNameLst>
                                      </p:cBhvr>
                                      <p:to>
                                        <p:strVal val="visible"/>
                                      </p:to>
                                    </p:set>
                                    <p:anim calcmode="lin" valueType="num">
                                      <p:cBhvr additive="base">
                                        <p:cTn id="68" dur="500" fill="hold"/>
                                        <p:tgtEl>
                                          <p:spTgt spid="49"/>
                                        </p:tgtEl>
                                        <p:attrNameLst>
                                          <p:attrName>ppt_x</p:attrName>
                                        </p:attrNameLst>
                                      </p:cBhvr>
                                      <p:tavLst>
                                        <p:tav tm="0">
                                          <p:val>
                                            <p:strVal val="#ppt_x"/>
                                          </p:val>
                                        </p:tav>
                                        <p:tav tm="100000">
                                          <p:val>
                                            <p:strVal val="#ppt_x"/>
                                          </p:val>
                                        </p:tav>
                                      </p:tavLst>
                                    </p:anim>
                                    <p:anim calcmode="lin" valueType="num">
                                      <p:cBhvr additive="base">
                                        <p:cTn id="69" dur="500" fill="hold"/>
                                        <p:tgtEl>
                                          <p:spTgt spid="49"/>
                                        </p:tgtEl>
                                        <p:attrNameLst>
                                          <p:attrName>ppt_y</p:attrName>
                                        </p:attrNameLst>
                                      </p:cBhvr>
                                      <p:tavLst>
                                        <p:tav tm="0">
                                          <p:val>
                                            <p:strVal val="1+#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50"/>
                                        </p:tgtEl>
                                        <p:attrNameLst>
                                          <p:attrName>style.visibility</p:attrName>
                                        </p:attrNameLst>
                                      </p:cBhvr>
                                      <p:to>
                                        <p:strVal val="visible"/>
                                      </p:to>
                                    </p:set>
                                    <p:anim calcmode="lin" valueType="num">
                                      <p:cBhvr additive="base">
                                        <p:cTn id="72" dur="500" fill="hold"/>
                                        <p:tgtEl>
                                          <p:spTgt spid="50"/>
                                        </p:tgtEl>
                                        <p:attrNameLst>
                                          <p:attrName>ppt_x</p:attrName>
                                        </p:attrNameLst>
                                      </p:cBhvr>
                                      <p:tavLst>
                                        <p:tav tm="0">
                                          <p:val>
                                            <p:strVal val="#ppt_x"/>
                                          </p:val>
                                        </p:tav>
                                        <p:tav tm="100000">
                                          <p:val>
                                            <p:strVal val="#ppt_x"/>
                                          </p:val>
                                        </p:tav>
                                      </p:tavLst>
                                    </p:anim>
                                    <p:anim calcmode="lin" valueType="num">
                                      <p:cBhvr additive="base">
                                        <p:cTn id="73" dur="500" fill="hold"/>
                                        <p:tgtEl>
                                          <p:spTgt spid="50"/>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51"/>
                                        </p:tgtEl>
                                        <p:attrNameLst>
                                          <p:attrName>style.visibility</p:attrName>
                                        </p:attrNameLst>
                                      </p:cBhvr>
                                      <p:to>
                                        <p:strVal val="visible"/>
                                      </p:to>
                                    </p:set>
                                    <p:anim calcmode="lin" valueType="num">
                                      <p:cBhvr additive="base">
                                        <p:cTn id="76" dur="500" fill="hold"/>
                                        <p:tgtEl>
                                          <p:spTgt spid="51"/>
                                        </p:tgtEl>
                                        <p:attrNameLst>
                                          <p:attrName>ppt_x</p:attrName>
                                        </p:attrNameLst>
                                      </p:cBhvr>
                                      <p:tavLst>
                                        <p:tav tm="0">
                                          <p:val>
                                            <p:strVal val="#ppt_x"/>
                                          </p:val>
                                        </p:tav>
                                        <p:tav tm="100000">
                                          <p:val>
                                            <p:strVal val="#ppt_x"/>
                                          </p:val>
                                        </p:tav>
                                      </p:tavLst>
                                    </p:anim>
                                    <p:anim calcmode="lin" valueType="num">
                                      <p:cBhvr additive="base">
                                        <p:cTn id="77" dur="500" fill="hold"/>
                                        <p:tgtEl>
                                          <p:spTgt spid="51"/>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52"/>
                                        </p:tgtEl>
                                        <p:attrNameLst>
                                          <p:attrName>style.visibility</p:attrName>
                                        </p:attrNameLst>
                                      </p:cBhvr>
                                      <p:to>
                                        <p:strVal val="visible"/>
                                      </p:to>
                                    </p:set>
                                    <p:anim calcmode="lin" valueType="num">
                                      <p:cBhvr additive="base">
                                        <p:cTn id="80" dur="500" fill="hold"/>
                                        <p:tgtEl>
                                          <p:spTgt spid="52"/>
                                        </p:tgtEl>
                                        <p:attrNameLst>
                                          <p:attrName>ppt_x</p:attrName>
                                        </p:attrNameLst>
                                      </p:cBhvr>
                                      <p:tavLst>
                                        <p:tav tm="0">
                                          <p:val>
                                            <p:strVal val="#ppt_x"/>
                                          </p:val>
                                        </p:tav>
                                        <p:tav tm="100000">
                                          <p:val>
                                            <p:strVal val="#ppt_x"/>
                                          </p:val>
                                        </p:tav>
                                      </p:tavLst>
                                    </p:anim>
                                    <p:anim calcmode="lin" valueType="num">
                                      <p:cBhvr additive="base">
                                        <p:cTn id="81" dur="500" fill="hold"/>
                                        <p:tgtEl>
                                          <p:spTgt spid="52"/>
                                        </p:tgtEl>
                                        <p:attrNameLst>
                                          <p:attrName>ppt_y</p:attrName>
                                        </p:attrNameLst>
                                      </p:cBhvr>
                                      <p:tavLst>
                                        <p:tav tm="0">
                                          <p:val>
                                            <p:strVal val="1+#ppt_h/2"/>
                                          </p:val>
                                        </p:tav>
                                        <p:tav tm="100000">
                                          <p:val>
                                            <p:strVal val="#ppt_y"/>
                                          </p:val>
                                        </p:tav>
                                      </p:tavLst>
                                    </p:anim>
                                  </p:childTnLst>
                                </p:cTn>
                              </p:par>
                              <p:par>
                                <p:cTn id="82" presetID="2" presetClass="entr" presetSubtype="4" fill="hold" nodeType="withEffect">
                                  <p:stCondLst>
                                    <p:cond delay="0"/>
                                  </p:stCondLst>
                                  <p:childTnLst>
                                    <p:set>
                                      <p:cBhvr>
                                        <p:cTn id="83" dur="1" fill="hold">
                                          <p:stCondLst>
                                            <p:cond delay="0"/>
                                          </p:stCondLst>
                                        </p:cTn>
                                        <p:tgtEl>
                                          <p:spTgt spid="53"/>
                                        </p:tgtEl>
                                        <p:attrNameLst>
                                          <p:attrName>style.visibility</p:attrName>
                                        </p:attrNameLst>
                                      </p:cBhvr>
                                      <p:to>
                                        <p:strVal val="visible"/>
                                      </p:to>
                                    </p:set>
                                    <p:anim calcmode="lin" valueType="num">
                                      <p:cBhvr additive="base">
                                        <p:cTn id="84" dur="500" fill="hold"/>
                                        <p:tgtEl>
                                          <p:spTgt spid="53"/>
                                        </p:tgtEl>
                                        <p:attrNameLst>
                                          <p:attrName>ppt_x</p:attrName>
                                        </p:attrNameLst>
                                      </p:cBhvr>
                                      <p:tavLst>
                                        <p:tav tm="0">
                                          <p:val>
                                            <p:strVal val="#ppt_x"/>
                                          </p:val>
                                        </p:tav>
                                        <p:tav tm="100000">
                                          <p:val>
                                            <p:strVal val="#ppt_x"/>
                                          </p:val>
                                        </p:tav>
                                      </p:tavLst>
                                    </p:anim>
                                    <p:anim calcmode="lin" valueType="num">
                                      <p:cBhvr additive="base">
                                        <p:cTn id="85" dur="500" fill="hold"/>
                                        <p:tgtEl>
                                          <p:spTgt spid="53"/>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0"/>
                                  </p:stCondLst>
                                  <p:childTnLst>
                                    <p:set>
                                      <p:cBhvr>
                                        <p:cTn id="87" dur="1" fill="hold">
                                          <p:stCondLst>
                                            <p:cond delay="0"/>
                                          </p:stCondLst>
                                        </p:cTn>
                                        <p:tgtEl>
                                          <p:spTgt spid="54"/>
                                        </p:tgtEl>
                                        <p:attrNameLst>
                                          <p:attrName>style.visibility</p:attrName>
                                        </p:attrNameLst>
                                      </p:cBhvr>
                                      <p:to>
                                        <p:strVal val="visible"/>
                                      </p:to>
                                    </p:set>
                                    <p:anim calcmode="lin" valueType="num">
                                      <p:cBhvr additive="base">
                                        <p:cTn id="88" dur="500" fill="hold"/>
                                        <p:tgtEl>
                                          <p:spTgt spid="54"/>
                                        </p:tgtEl>
                                        <p:attrNameLst>
                                          <p:attrName>ppt_x</p:attrName>
                                        </p:attrNameLst>
                                      </p:cBhvr>
                                      <p:tavLst>
                                        <p:tav tm="0">
                                          <p:val>
                                            <p:strVal val="#ppt_x"/>
                                          </p:val>
                                        </p:tav>
                                        <p:tav tm="100000">
                                          <p:val>
                                            <p:strVal val="#ppt_x"/>
                                          </p:val>
                                        </p:tav>
                                      </p:tavLst>
                                    </p:anim>
                                    <p:anim calcmode="lin" valueType="num">
                                      <p:cBhvr additive="base">
                                        <p:cTn id="89" dur="500" fill="hold"/>
                                        <p:tgtEl>
                                          <p:spTgt spid="54"/>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0"/>
                                  </p:stCondLst>
                                  <p:childTnLst>
                                    <p:set>
                                      <p:cBhvr>
                                        <p:cTn id="91" dur="1" fill="hold">
                                          <p:stCondLst>
                                            <p:cond delay="0"/>
                                          </p:stCondLst>
                                        </p:cTn>
                                        <p:tgtEl>
                                          <p:spTgt spid="55"/>
                                        </p:tgtEl>
                                        <p:attrNameLst>
                                          <p:attrName>style.visibility</p:attrName>
                                        </p:attrNameLst>
                                      </p:cBhvr>
                                      <p:to>
                                        <p:strVal val="visible"/>
                                      </p:to>
                                    </p:set>
                                    <p:anim calcmode="lin" valueType="num">
                                      <p:cBhvr additive="base">
                                        <p:cTn id="92" dur="500" fill="hold"/>
                                        <p:tgtEl>
                                          <p:spTgt spid="55"/>
                                        </p:tgtEl>
                                        <p:attrNameLst>
                                          <p:attrName>ppt_x</p:attrName>
                                        </p:attrNameLst>
                                      </p:cBhvr>
                                      <p:tavLst>
                                        <p:tav tm="0">
                                          <p:val>
                                            <p:strVal val="#ppt_x"/>
                                          </p:val>
                                        </p:tav>
                                        <p:tav tm="100000">
                                          <p:val>
                                            <p:strVal val="#ppt_x"/>
                                          </p:val>
                                        </p:tav>
                                      </p:tavLst>
                                    </p:anim>
                                    <p:anim calcmode="lin" valueType="num">
                                      <p:cBhvr additive="base">
                                        <p:cTn id="93" dur="500" fill="hold"/>
                                        <p:tgtEl>
                                          <p:spTgt spid="55"/>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0"/>
                                  </p:stCondLst>
                                  <p:childTnLst>
                                    <p:set>
                                      <p:cBhvr>
                                        <p:cTn id="95" dur="1" fill="hold">
                                          <p:stCondLst>
                                            <p:cond delay="0"/>
                                          </p:stCondLst>
                                        </p:cTn>
                                        <p:tgtEl>
                                          <p:spTgt spid="56"/>
                                        </p:tgtEl>
                                        <p:attrNameLst>
                                          <p:attrName>style.visibility</p:attrName>
                                        </p:attrNameLst>
                                      </p:cBhvr>
                                      <p:to>
                                        <p:strVal val="visible"/>
                                      </p:to>
                                    </p:set>
                                    <p:anim calcmode="lin" valueType="num">
                                      <p:cBhvr additive="base">
                                        <p:cTn id="96" dur="500" fill="hold"/>
                                        <p:tgtEl>
                                          <p:spTgt spid="56"/>
                                        </p:tgtEl>
                                        <p:attrNameLst>
                                          <p:attrName>ppt_x</p:attrName>
                                        </p:attrNameLst>
                                      </p:cBhvr>
                                      <p:tavLst>
                                        <p:tav tm="0">
                                          <p:val>
                                            <p:strVal val="#ppt_x"/>
                                          </p:val>
                                        </p:tav>
                                        <p:tav tm="100000">
                                          <p:val>
                                            <p:strVal val="#ppt_x"/>
                                          </p:val>
                                        </p:tav>
                                      </p:tavLst>
                                    </p:anim>
                                    <p:anim calcmode="lin" valueType="num">
                                      <p:cBhvr additive="base">
                                        <p:cTn id="97" dur="500" fill="hold"/>
                                        <p:tgtEl>
                                          <p:spTgt spid="56"/>
                                        </p:tgtEl>
                                        <p:attrNameLst>
                                          <p:attrName>ppt_y</p:attrName>
                                        </p:attrNameLst>
                                      </p:cBhvr>
                                      <p:tavLst>
                                        <p:tav tm="0">
                                          <p:val>
                                            <p:strVal val="1+#ppt_h/2"/>
                                          </p:val>
                                        </p:tav>
                                        <p:tav tm="100000">
                                          <p:val>
                                            <p:strVal val="#ppt_y"/>
                                          </p:val>
                                        </p:tav>
                                      </p:tavLst>
                                    </p:anim>
                                  </p:childTnLst>
                                </p:cTn>
                              </p:par>
                              <p:par>
                                <p:cTn id="98" presetID="2" presetClass="entr" presetSubtype="4" fill="hold" grpId="0" nodeType="withEffect">
                                  <p:stCondLst>
                                    <p:cond delay="0"/>
                                  </p:stCondLst>
                                  <p:childTnLst>
                                    <p:set>
                                      <p:cBhvr>
                                        <p:cTn id="99" dur="1" fill="hold">
                                          <p:stCondLst>
                                            <p:cond delay="0"/>
                                          </p:stCondLst>
                                        </p:cTn>
                                        <p:tgtEl>
                                          <p:spTgt spid="57"/>
                                        </p:tgtEl>
                                        <p:attrNameLst>
                                          <p:attrName>style.visibility</p:attrName>
                                        </p:attrNameLst>
                                      </p:cBhvr>
                                      <p:to>
                                        <p:strVal val="visible"/>
                                      </p:to>
                                    </p:set>
                                    <p:anim calcmode="lin" valueType="num">
                                      <p:cBhvr additive="base">
                                        <p:cTn id="100" dur="500" fill="hold"/>
                                        <p:tgtEl>
                                          <p:spTgt spid="57"/>
                                        </p:tgtEl>
                                        <p:attrNameLst>
                                          <p:attrName>ppt_x</p:attrName>
                                        </p:attrNameLst>
                                      </p:cBhvr>
                                      <p:tavLst>
                                        <p:tav tm="0">
                                          <p:val>
                                            <p:strVal val="#ppt_x"/>
                                          </p:val>
                                        </p:tav>
                                        <p:tav tm="100000">
                                          <p:val>
                                            <p:strVal val="#ppt_x"/>
                                          </p:val>
                                        </p:tav>
                                      </p:tavLst>
                                    </p:anim>
                                    <p:anim calcmode="lin" valueType="num">
                                      <p:cBhvr additive="base">
                                        <p:cTn id="101" dur="500" fill="hold"/>
                                        <p:tgtEl>
                                          <p:spTgt spid="57"/>
                                        </p:tgtEl>
                                        <p:attrNameLst>
                                          <p:attrName>ppt_y</p:attrName>
                                        </p:attrNameLst>
                                      </p:cBhvr>
                                      <p:tavLst>
                                        <p:tav tm="0">
                                          <p:val>
                                            <p:strVal val="1+#ppt_h/2"/>
                                          </p:val>
                                        </p:tav>
                                        <p:tav tm="100000">
                                          <p:val>
                                            <p:strVal val="#ppt_y"/>
                                          </p:val>
                                        </p:tav>
                                      </p:tavLst>
                                    </p:anim>
                                  </p:childTnLst>
                                </p:cTn>
                              </p:par>
                              <p:par>
                                <p:cTn id="102" presetID="2" presetClass="entr" presetSubtype="4" fill="hold" nodeType="withEffect">
                                  <p:stCondLst>
                                    <p:cond delay="0"/>
                                  </p:stCondLst>
                                  <p:childTnLst>
                                    <p:set>
                                      <p:cBhvr>
                                        <p:cTn id="103" dur="1" fill="hold">
                                          <p:stCondLst>
                                            <p:cond delay="0"/>
                                          </p:stCondLst>
                                        </p:cTn>
                                        <p:tgtEl>
                                          <p:spTgt spid="58"/>
                                        </p:tgtEl>
                                        <p:attrNameLst>
                                          <p:attrName>style.visibility</p:attrName>
                                        </p:attrNameLst>
                                      </p:cBhvr>
                                      <p:to>
                                        <p:strVal val="visible"/>
                                      </p:to>
                                    </p:set>
                                    <p:anim calcmode="lin" valueType="num">
                                      <p:cBhvr additive="base">
                                        <p:cTn id="104" dur="500" fill="hold"/>
                                        <p:tgtEl>
                                          <p:spTgt spid="58"/>
                                        </p:tgtEl>
                                        <p:attrNameLst>
                                          <p:attrName>ppt_x</p:attrName>
                                        </p:attrNameLst>
                                      </p:cBhvr>
                                      <p:tavLst>
                                        <p:tav tm="0">
                                          <p:val>
                                            <p:strVal val="#ppt_x"/>
                                          </p:val>
                                        </p:tav>
                                        <p:tav tm="100000">
                                          <p:val>
                                            <p:strVal val="#ppt_x"/>
                                          </p:val>
                                        </p:tav>
                                      </p:tavLst>
                                    </p:anim>
                                    <p:anim calcmode="lin" valueType="num">
                                      <p:cBhvr additive="base">
                                        <p:cTn id="105" dur="500" fill="hold"/>
                                        <p:tgtEl>
                                          <p:spTgt spid="58"/>
                                        </p:tgtEl>
                                        <p:attrNameLst>
                                          <p:attrName>ppt_y</p:attrName>
                                        </p:attrNameLst>
                                      </p:cBhvr>
                                      <p:tavLst>
                                        <p:tav tm="0">
                                          <p:val>
                                            <p:strVal val="1+#ppt_h/2"/>
                                          </p:val>
                                        </p:tav>
                                        <p:tav tm="100000">
                                          <p:val>
                                            <p:strVal val="#ppt_y"/>
                                          </p:val>
                                        </p:tav>
                                      </p:tavLst>
                                    </p:anim>
                                  </p:childTnLst>
                                </p:cTn>
                              </p:par>
                              <p:par>
                                <p:cTn id="106" presetID="2" presetClass="entr" presetSubtype="4" fill="hold" nodeType="withEffect">
                                  <p:stCondLst>
                                    <p:cond delay="0"/>
                                  </p:stCondLst>
                                  <p:childTnLst>
                                    <p:set>
                                      <p:cBhvr>
                                        <p:cTn id="107" dur="1" fill="hold">
                                          <p:stCondLst>
                                            <p:cond delay="0"/>
                                          </p:stCondLst>
                                        </p:cTn>
                                        <p:tgtEl>
                                          <p:spTgt spid="59"/>
                                        </p:tgtEl>
                                        <p:attrNameLst>
                                          <p:attrName>style.visibility</p:attrName>
                                        </p:attrNameLst>
                                      </p:cBhvr>
                                      <p:to>
                                        <p:strVal val="visible"/>
                                      </p:to>
                                    </p:set>
                                    <p:anim calcmode="lin" valueType="num">
                                      <p:cBhvr additive="base">
                                        <p:cTn id="108" dur="500" fill="hold"/>
                                        <p:tgtEl>
                                          <p:spTgt spid="59"/>
                                        </p:tgtEl>
                                        <p:attrNameLst>
                                          <p:attrName>ppt_x</p:attrName>
                                        </p:attrNameLst>
                                      </p:cBhvr>
                                      <p:tavLst>
                                        <p:tav tm="0">
                                          <p:val>
                                            <p:strVal val="#ppt_x"/>
                                          </p:val>
                                        </p:tav>
                                        <p:tav tm="100000">
                                          <p:val>
                                            <p:strVal val="#ppt_x"/>
                                          </p:val>
                                        </p:tav>
                                      </p:tavLst>
                                    </p:anim>
                                    <p:anim calcmode="lin" valueType="num">
                                      <p:cBhvr additive="base">
                                        <p:cTn id="109" dur="500" fill="hold"/>
                                        <p:tgtEl>
                                          <p:spTgt spid="59"/>
                                        </p:tgtEl>
                                        <p:attrNameLst>
                                          <p:attrName>ppt_y</p:attrName>
                                        </p:attrNameLst>
                                      </p:cBhvr>
                                      <p:tavLst>
                                        <p:tav tm="0">
                                          <p:val>
                                            <p:strVal val="1+#ppt_h/2"/>
                                          </p:val>
                                        </p:tav>
                                        <p:tav tm="100000">
                                          <p:val>
                                            <p:strVal val="#ppt_y"/>
                                          </p:val>
                                        </p:tav>
                                      </p:tavLst>
                                    </p:anim>
                                  </p:childTnLst>
                                </p:cTn>
                              </p:par>
                              <p:par>
                                <p:cTn id="110" presetID="2" presetClass="entr" presetSubtype="4" fill="hold" nodeType="withEffect">
                                  <p:stCondLst>
                                    <p:cond delay="0"/>
                                  </p:stCondLst>
                                  <p:childTnLst>
                                    <p:set>
                                      <p:cBhvr>
                                        <p:cTn id="111" dur="1" fill="hold">
                                          <p:stCondLst>
                                            <p:cond delay="0"/>
                                          </p:stCondLst>
                                        </p:cTn>
                                        <p:tgtEl>
                                          <p:spTgt spid="60"/>
                                        </p:tgtEl>
                                        <p:attrNameLst>
                                          <p:attrName>style.visibility</p:attrName>
                                        </p:attrNameLst>
                                      </p:cBhvr>
                                      <p:to>
                                        <p:strVal val="visible"/>
                                      </p:to>
                                    </p:set>
                                    <p:anim calcmode="lin" valueType="num">
                                      <p:cBhvr additive="base">
                                        <p:cTn id="112" dur="500" fill="hold"/>
                                        <p:tgtEl>
                                          <p:spTgt spid="60"/>
                                        </p:tgtEl>
                                        <p:attrNameLst>
                                          <p:attrName>ppt_x</p:attrName>
                                        </p:attrNameLst>
                                      </p:cBhvr>
                                      <p:tavLst>
                                        <p:tav tm="0">
                                          <p:val>
                                            <p:strVal val="#ppt_x"/>
                                          </p:val>
                                        </p:tav>
                                        <p:tav tm="100000">
                                          <p:val>
                                            <p:strVal val="#ppt_x"/>
                                          </p:val>
                                        </p:tav>
                                      </p:tavLst>
                                    </p:anim>
                                    <p:anim calcmode="lin" valueType="num">
                                      <p:cBhvr additive="base">
                                        <p:cTn id="113" dur="500" fill="hold"/>
                                        <p:tgtEl>
                                          <p:spTgt spid="60"/>
                                        </p:tgtEl>
                                        <p:attrNameLst>
                                          <p:attrName>ppt_y</p:attrName>
                                        </p:attrNameLst>
                                      </p:cBhvr>
                                      <p:tavLst>
                                        <p:tav tm="0">
                                          <p:val>
                                            <p:strVal val="1+#ppt_h/2"/>
                                          </p:val>
                                        </p:tav>
                                        <p:tav tm="100000">
                                          <p:val>
                                            <p:strVal val="#ppt_y"/>
                                          </p:val>
                                        </p:tav>
                                      </p:tavLst>
                                    </p:anim>
                                  </p:childTnLst>
                                </p:cTn>
                              </p:par>
                              <p:par>
                                <p:cTn id="114" presetID="2" presetClass="entr" presetSubtype="4" fill="hold" grpId="0" nodeType="withEffect">
                                  <p:stCondLst>
                                    <p:cond delay="0"/>
                                  </p:stCondLst>
                                  <p:childTnLst>
                                    <p:set>
                                      <p:cBhvr>
                                        <p:cTn id="115" dur="1" fill="hold">
                                          <p:stCondLst>
                                            <p:cond delay="0"/>
                                          </p:stCondLst>
                                        </p:cTn>
                                        <p:tgtEl>
                                          <p:spTgt spid="61"/>
                                        </p:tgtEl>
                                        <p:attrNameLst>
                                          <p:attrName>style.visibility</p:attrName>
                                        </p:attrNameLst>
                                      </p:cBhvr>
                                      <p:to>
                                        <p:strVal val="visible"/>
                                      </p:to>
                                    </p:set>
                                    <p:anim calcmode="lin" valueType="num">
                                      <p:cBhvr additive="base">
                                        <p:cTn id="116" dur="500" fill="hold"/>
                                        <p:tgtEl>
                                          <p:spTgt spid="61"/>
                                        </p:tgtEl>
                                        <p:attrNameLst>
                                          <p:attrName>ppt_x</p:attrName>
                                        </p:attrNameLst>
                                      </p:cBhvr>
                                      <p:tavLst>
                                        <p:tav tm="0">
                                          <p:val>
                                            <p:strVal val="#ppt_x"/>
                                          </p:val>
                                        </p:tav>
                                        <p:tav tm="100000">
                                          <p:val>
                                            <p:strVal val="#ppt_x"/>
                                          </p:val>
                                        </p:tav>
                                      </p:tavLst>
                                    </p:anim>
                                    <p:anim calcmode="lin" valueType="num">
                                      <p:cBhvr additive="base">
                                        <p:cTn id="117" dur="500" fill="hold"/>
                                        <p:tgtEl>
                                          <p:spTgt spid="61"/>
                                        </p:tgtEl>
                                        <p:attrNameLst>
                                          <p:attrName>ppt_y</p:attrName>
                                        </p:attrNameLst>
                                      </p:cBhvr>
                                      <p:tavLst>
                                        <p:tav tm="0">
                                          <p:val>
                                            <p:strVal val="1+#ppt_h/2"/>
                                          </p:val>
                                        </p:tav>
                                        <p:tav tm="100000">
                                          <p:val>
                                            <p:strVal val="#ppt_y"/>
                                          </p:val>
                                        </p:tav>
                                      </p:tavLst>
                                    </p:anim>
                                  </p:childTnLst>
                                </p:cTn>
                              </p:par>
                              <p:par>
                                <p:cTn id="118" presetID="2" presetClass="entr" presetSubtype="4" fill="hold" nodeType="withEffect">
                                  <p:stCondLst>
                                    <p:cond delay="0"/>
                                  </p:stCondLst>
                                  <p:childTnLst>
                                    <p:set>
                                      <p:cBhvr>
                                        <p:cTn id="119" dur="1" fill="hold">
                                          <p:stCondLst>
                                            <p:cond delay="0"/>
                                          </p:stCondLst>
                                        </p:cTn>
                                        <p:tgtEl>
                                          <p:spTgt spid="62"/>
                                        </p:tgtEl>
                                        <p:attrNameLst>
                                          <p:attrName>style.visibility</p:attrName>
                                        </p:attrNameLst>
                                      </p:cBhvr>
                                      <p:to>
                                        <p:strVal val="visible"/>
                                      </p:to>
                                    </p:set>
                                    <p:anim calcmode="lin" valueType="num">
                                      <p:cBhvr additive="base">
                                        <p:cTn id="120" dur="500" fill="hold"/>
                                        <p:tgtEl>
                                          <p:spTgt spid="62"/>
                                        </p:tgtEl>
                                        <p:attrNameLst>
                                          <p:attrName>ppt_x</p:attrName>
                                        </p:attrNameLst>
                                      </p:cBhvr>
                                      <p:tavLst>
                                        <p:tav tm="0">
                                          <p:val>
                                            <p:strVal val="#ppt_x"/>
                                          </p:val>
                                        </p:tav>
                                        <p:tav tm="100000">
                                          <p:val>
                                            <p:strVal val="#ppt_x"/>
                                          </p:val>
                                        </p:tav>
                                      </p:tavLst>
                                    </p:anim>
                                    <p:anim calcmode="lin" valueType="num">
                                      <p:cBhvr additive="base">
                                        <p:cTn id="121" dur="500" fill="hold"/>
                                        <p:tgtEl>
                                          <p:spTgt spid="62"/>
                                        </p:tgtEl>
                                        <p:attrNameLst>
                                          <p:attrName>ppt_y</p:attrName>
                                        </p:attrNameLst>
                                      </p:cBhvr>
                                      <p:tavLst>
                                        <p:tav tm="0">
                                          <p:val>
                                            <p:strVal val="1+#ppt_h/2"/>
                                          </p:val>
                                        </p:tav>
                                        <p:tav tm="100000">
                                          <p:val>
                                            <p:strVal val="#ppt_y"/>
                                          </p:val>
                                        </p:tav>
                                      </p:tavLst>
                                    </p:anim>
                                  </p:childTnLst>
                                </p:cTn>
                              </p:par>
                              <p:par>
                                <p:cTn id="122" presetID="2" presetClass="entr" presetSubtype="4" fill="hold" nodeType="withEffect">
                                  <p:stCondLst>
                                    <p:cond delay="0"/>
                                  </p:stCondLst>
                                  <p:childTnLst>
                                    <p:set>
                                      <p:cBhvr>
                                        <p:cTn id="123" dur="1" fill="hold">
                                          <p:stCondLst>
                                            <p:cond delay="0"/>
                                          </p:stCondLst>
                                        </p:cTn>
                                        <p:tgtEl>
                                          <p:spTgt spid="63"/>
                                        </p:tgtEl>
                                        <p:attrNameLst>
                                          <p:attrName>style.visibility</p:attrName>
                                        </p:attrNameLst>
                                      </p:cBhvr>
                                      <p:to>
                                        <p:strVal val="visible"/>
                                      </p:to>
                                    </p:set>
                                    <p:anim calcmode="lin" valueType="num">
                                      <p:cBhvr additive="base">
                                        <p:cTn id="124" dur="500" fill="hold"/>
                                        <p:tgtEl>
                                          <p:spTgt spid="63"/>
                                        </p:tgtEl>
                                        <p:attrNameLst>
                                          <p:attrName>ppt_x</p:attrName>
                                        </p:attrNameLst>
                                      </p:cBhvr>
                                      <p:tavLst>
                                        <p:tav tm="0">
                                          <p:val>
                                            <p:strVal val="#ppt_x"/>
                                          </p:val>
                                        </p:tav>
                                        <p:tav tm="100000">
                                          <p:val>
                                            <p:strVal val="#ppt_x"/>
                                          </p:val>
                                        </p:tav>
                                      </p:tavLst>
                                    </p:anim>
                                    <p:anim calcmode="lin" valueType="num">
                                      <p:cBhvr additive="base">
                                        <p:cTn id="125"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p:bldP spid="34" grpId="0" bldLvl="0" animBg="1"/>
      <p:bldP spid="35" grpId="0"/>
      <p:bldP spid="36" grpId="0"/>
      <p:bldP spid="37" grpId="0"/>
      <p:bldP spid="38" grpId="0"/>
      <p:bldP spid="40" grpId="0" bldLvl="0" animBg="1"/>
      <p:bldP spid="52" grpId="0" bldLvl="0" animBg="1"/>
      <p:bldP spid="54" grpId="0"/>
      <p:bldP spid="55" grpId="0"/>
      <p:bldP spid="56" grpId="0"/>
      <p:bldP spid="57" grpId="0"/>
      <p:bldP spid="61" grpId="0" bldLvl="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存在的问题</a:t>
            </a:r>
            <a:endParaRPr lang="zh-CN" altLang="en-US" sz="26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当桶数组需要翻倍时，要做大量的工作</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当</a:t>
            </a:r>
            <a:r>
              <a:rPr lang="en-US" altLang="zh-CN" sz="1800" dirty="0" err="1">
                <a:latin typeface="微软雅黑" panose="020B0503020204020204" pitchFamily="34" charset="-122"/>
                <a:ea typeface="微软雅黑" panose="020B0503020204020204" pitchFamily="34" charset="-122"/>
              </a:rPr>
              <a:t>i</a:t>
            </a:r>
            <a:r>
              <a:rPr lang="zh-CN" altLang="en-US" sz="1800" dirty="0">
                <a:latin typeface="微软雅黑" panose="020B0503020204020204" pitchFamily="34" charset="-122"/>
                <a:ea typeface="微软雅黑" panose="020B0503020204020204" pitchFamily="34" charset="-122"/>
              </a:rPr>
              <a:t>很大时</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当桶数翻倍后，其在主存中可能就装不下了，或者要占用更大的空间</a:t>
            </a:r>
            <a:endParaRPr lang="zh-CN" altLang="en-US" sz="18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如果每块的记录数很少，那么很有可能某一块的分裂比在逻辑上需要的分裂时间提前很多。例如：块中存放</a:t>
            </a: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个记录，即使记录总数远小于</a:t>
            </a:r>
            <a:r>
              <a:rPr lang="en-US" altLang="zh-CN" sz="1800" dirty="0">
                <a:latin typeface="微软雅黑" panose="020B0503020204020204" pitchFamily="34" charset="-122"/>
                <a:ea typeface="微软雅黑" panose="020B0503020204020204" pitchFamily="34" charset="-122"/>
              </a:rPr>
              <a:t>220, </a:t>
            </a:r>
            <a:r>
              <a:rPr lang="zh-CN" altLang="en-US" sz="1800" dirty="0">
                <a:latin typeface="微软雅黑" panose="020B0503020204020204" pitchFamily="34" charset="-122"/>
                <a:ea typeface="微软雅黑" panose="020B0503020204020204" pitchFamily="34" charset="-122"/>
              </a:rPr>
              <a:t>但也可能出现三个记录的前</a:t>
            </a:r>
            <a:r>
              <a:rPr lang="en-US" altLang="zh-CN" sz="1800" dirty="0">
                <a:latin typeface="微软雅黑" panose="020B0503020204020204" pitchFamily="34" charset="-122"/>
                <a:ea typeface="微软雅黑" panose="020B0503020204020204" pitchFamily="34" charset="-122"/>
              </a:rPr>
              <a:t>20</a:t>
            </a:r>
            <a:r>
              <a:rPr lang="zh-CN" altLang="en-US" sz="1800" dirty="0">
                <a:latin typeface="微软雅黑" panose="020B0503020204020204" pitchFamily="34" charset="-122"/>
                <a:ea typeface="微软雅黑" panose="020B0503020204020204" pitchFamily="34" charset="-122"/>
              </a:rPr>
              <a:t>位二进制位序列一样，在这种情况下，将不得不使用</a:t>
            </a:r>
            <a:r>
              <a:rPr lang="en-US" altLang="zh-CN" sz="1800" dirty="0" err="1">
                <a:latin typeface="微软雅黑" panose="020B0503020204020204" pitchFamily="34" charset="-122"/>
                <a:ea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rPr>
              <a:t>=20</a:t>
            </a:r>
            <a:r>
              <a:rPr lang="zh-CN" altLang="en-US" sz="1800" dirty="0">
                <a:latin typeface="微软雅黑" panose="020B0503020204020204" pitchFamily="34" charset="-122"/>
                <a:ea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rPr>
              <a:t>100</a:t>
            </a:r>
            <a:r>
              <a:rPr lang="zh-CN" altLang="en-US" sz="1800" dirty="0">
                <a:latin typeface="微软雅黑" panose="020B0503020204020204" pitchFamily="34" charset="-122"/>
                <a:ea typeface="微软雅黑" panose="020B0503020204020204" pitchFamily="34" charset="-122"/>
              </a:rPr>
              <a:t>万个桶数组。</a:t>
            </a:r>
            <a:endParaRPr lang="zh-CN" altLang="en-US" sz="18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400" dirty="0">
              <a:latin typeface="微软雅黑" panose="020B0503020204020204" pitchFamily="34" charset="-122"/>
              <a:ea typeface="微软雅黑" panose="020B0503020204020204" pitchFamily="34" charset="-122"/>
            </a:endParaRPr>
          </a:p>
          <a:p>
            <a:pPr marL="0" indent="0">
              <a:spcBef>
                <a:spcPct val="20000"/>
              </a:spcBef>
              <a:buNone/>
            </a:pPr>
            <a:endParaRPr lang="en-US" altLang="zh-CN" sz="24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4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3500" dirty="0">
              <a:solidFill>
                <a:srgbClr val="CC0000"/>
              </a:solidFill>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endParaRPr lang="zh-CN" altLang="en-US" sz="1800" b="1"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-可扩展散列索引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aphicFrame>
        <p:nvGraphicFramePr>
          <p:cNvPr id="41" name="Group 4"/>
          <p:cNvGraphicFramePr>
            <a:graphicFrameLocks noGrp="1"/>
          </p:cNvGraphicFramePr>
          <p:nvPr/>
        </p:nvGraphicFramePr>
        <p:xfrm>
          <a:off x="7222816" y="3748943"/>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2" name="Group 46"/>
          <p:cNvGraphicFramePr>
            <a:graphicFrameLocks noGrp="1"/>
          </p:cNvGraphicFramePr>
          <p:nvPr/>
        </p:nvGraphicFramePr>
        <p:xfrm>
          <a:off x="7222816" y="5044343"/>
          <a:ext cx="2057400" cy="1019493"/>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1111(11111)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1111(11110), </a:t>
                      </a:r>
                      <a:r>
                        <a:rPr kumimoji="1" lang="en-US" altLang="zh-CN" sz="1800" b="1"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1111(11101)</a:t>
                      </a:r>
                      <a:endParaRPr kumimoji="1" lang="en-US" altLang="zh-CN" sz="1800" b="1"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mc:AlternateContent xmlns:mc="http://schemas.openxmlformats.org/markup-compatibility/2006" xmlns:a14="http://schemas.microsoft.com/office/drawing/2010/main">
        <mc:Choice Requires="a14">
          <p:graphicFrame>
            <p:nvGraphicFramePr>
              <p:cNvPr id="43" name="Group 32"/>
              <p:cNvGraphicFramePr>
                <a:graphicFrameLocks noGrp="1"/>
              </p:cNvGraphicFramePr>
              <p:nvPr/>
            </p:nvGraphicFramePr>
            <p:xfrm>
              <a:off x="5241616" y="3798693"/>
              <a:ext cx="914400" cy="379413"/>
            </p:xfrm>
            <a:graphic>
              <a:graphicData uri="http://schemas.openxmlformats.org/drawingml/2006/table">
                <a:tbl>
                  <a:tblPr/>
                  <a:tblGrid>
                    <a:gridCol w="914400"/>
                  </a:tblGrid>
                  <a:tr h="379413">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0" i="1" dirty="0" smtClean="0">
                                  <a:latin typeface="Cambria Math" panose="02040503050406030204" pitchFamily="18" charset="0"/>
                                  <a:ea typeface="微软雅黑" panose="020B0503020204020204" pitchFamily="34" charset="-122"/>
                                </a:rPr>
                                <m:t>𝑖</m:t>
                              </m:r>
                            </m:oMath>
                          </a14:m>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43" name="Group 32"/>
              <p:cNvGraphicFramePr>
                <a:graphicFrameLocks noGrp="1"/>
              </p:cNvGraphicFramePr>
              <p:nvPr/>
            </p:nvGraphicFramePr>
            <p:xfrm>
              <a:off x="5241616" y="3798693"/>
              <a:ext cx="914400" cy="379413"/>
            </p:xfrm>
            <a:graphic>
              <a:graphicData uri="http://schemas.openxmlformats.org/drawingml/2006/table">
                <a:tbl>
                  <a:tblPr/>
                  <a:tblGrid>
                    <a:gridCol w="914400"/>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r>
                </a:tbl>
              </a:graphicData>
            </a:graphic>
          </p:graphicFrame>
        </mc:Fallback>
      </mc:AlternateContent>
      <p:sp>
        <p:nvSpPr>
          <p:cNvPr id="44" name="Line 38"/>
          <p:cNvSpPr/>
          <p:nvPr/>
        </p:nvSpPr>
        <p:spPr>
          <a:xfrm flipV="1">
            <a:off x="6003616" y="3901343"/>
            <a:ext cx="1219200" cy="425450"/>
          </a:xfrm>
          <a:prstGeom prst="line">
            <a:avLst/>
          </a:prstGeom>
          <a:ln w="9525" cap="flat" cmpd="sng">
            <a:solidFill>
              <a:schemeClr val="tx1"/>
            </a:solidFill>
            <a:prstDash val="solid"/>
            <a:round/>
            <a:headEnd type="none" w="med" len="med"/>
            <a:tailEnd type="triangle" w="med" len="med"/>
          </a:ln>
        </p:spPr>
      </p:sp>
      <p:sp>
        <p:nvSpPr>
          <p:cNvPr id="45" name="Line 39"/>
          <p:cNvSpPr/>
          <p:nvPr/>
        </p:nvSpPr>
        <p:spPr>
          <a:xfrm flipV="1">
            <a:off x="6060766" y="5653943"/>
            <a:ext cx="1162050" cy="849313"/>
          </a:xfrm>
          <a:prstGeom prst="line">
            <a:avLst/>
          </a:prstGeom>
          <a:ln w="38100" cap="flat" cmpd="sng">
            <a:solidFill>
              <a:srgbClr val="CC0000"/>
            </a:solidFill>
            <a:prstDash val="solid"/>
            <a:round/>
            <a:headEnd type="none" w="med" len="med"/>
            <a:tailEnd type="triangle" w="med" len="med"/>
          </a:ln>
        </p:spPr>
      </p:sp>
      <p:sp>
        <p:nvSpPr>
          <p:cNvPr id="46" name="Rectangle 40"/>
          <p:cNvSpPr>
            <a:spLocks noChangeAspect="1"/>
          </p:cNvSpPr>
          <p:nvPr/>
        </p:nvSpPr>
        <p:spPr>
          <a:xfrm>
            <a:off x="9280216" y="3748943"/>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1</a:t>
            </a:r>
            <a:endParaRPr lang="en-US" altLang="zh-CN" sz="1600" b="0" dirty="0">
              <a:latin typeface="Times New Roman" panose="02020603050405020304" pitchFamily="18" charset="0"/>
              <a:ea typeface="宋体" panose="02010600030101010101" pitchFamily="2" charset="-122"/>
            </a:endParaRPr>
          </a:p>
        </p:txBody>
      </p:sp>
      <p:sp>
        <p:nvSpPr>
          <p:cNvPr id="67" name="Rectangle 41"/>
          <p:cNvSpPr>
            <a:spLocks noChangeAspect="1"/>
          </p:cNvSpPr>
          <p:nvPr/>
        </p:nvSpPr>
        <p:spPr>
          <a:xfrm>
            <a:off x="9280216" y="5044343"/>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4</a:t>
            </a:r>
            <a:endParaRPr lang="en-US" altLang="zh-CN" sz="1600" b="0" dirty="0">
              <a:latin typeface="Times New Roman" panose="02020603050405020304" pitchFamily="18" charset="0"/>
              <a:ea typeface="宋体" panose="02010600030101010101" pitchFamily="2" charset="-122"/>
            </a:endParaRPr>
          </a:p>
        </p:txBody>
      </p:sp>
      <p:grpSp>
        <p:nvGrpSpPr>
          <p:cNvPr id="69" name="Group 53"/>
          <p:cNvGrpSpPr/>
          <p:nvPr/>
        </p:nvGrpSpPr>
        <p:grpSpPr>
          <a:xfrm>
            <a:off x="1969778" y="4163281"/>
            <a:ext cx="2787650" cy="2108200"/>
            <a:chOff x="373" y="2662"/>
            <a:chExt cx="1756" cy="1328"/>
          </a:xfrm>
        </p:grpSpPr>
        <p:sp>
          <p:nvSpPr>
            <p:cNvPr id="70" name="AutoShape 39"/>
            <p:cNvSpPr/>
            <p:nvPr/>
          </p:nvSpPr>
          <p:spPr>
            <a:xfrm>
              <a:off x="373" y="2662"/>
              <a:ext cx="1756" cy="1328"/>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微软雅黑" panose="020B0503020204020204" pitchFamily="34" charset="-122"/>
                <a:ea typeface="微软雅黑" panose="020B0503020204020204" pitchFamily="34" charset="-122"/>
              </a:endParaRPr>
            </a:p>
          </p:txBody>
        </p:sp>
        <p:sp>
          <p:nvSpPr>
            <p:cNvPr id="71" name="Oval 40"/>
            <p:cNvSpPr/>
            <p:nvPr/>
          </p:nvSpPr>
          <p:spPr>
            <a:xfrm>
              <a:off x="438" y="2722"/>
              <a:ext cx="1639" cy="120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微软雅黑" panose="020B0503020204020204" pitchFamily="34" charset="-122"/>
                <a:ea typeface="微软雅黑" panose="020B0503020204020204" pitchFamily="34" charset="-122"/>
              </a:endParaRPr>
            </a:p>
          </p:txBody>
        </p:sp>
        <p:sp>
          <p:nvSpPr>
            <p:cNvPr id="72" name="Text Box 84"/>
            <p:cNvSpPr/>
            <p:nvPr/>
          </p:nvSpPr>
          <p:spPr>
            <a:xfrm>
              <a:off x="479" y="2698"/>
              <a:ext cx="1540" cy="1254"/>
            </a:xfrm>
            <a:prstGeom prst="roundRect">
              <a:avLst>
                <a:gd name="adj" fmla="val 16667"/>
              </a:avLst>
            </a:prstGeom>
            <a:noFill/>
            <a:ln w="9525">
              <a:noFill/>
            </a:ln>
          </p:spPr>
          <p:txBody>
            <a:bodyPr anchor="t">
              <a:spAutoFit/>
            </a:bodyPr>
            <a:lstStyle/>
            <a:p>
              <a:pPr>
                <a:spcBef>
                  <a:spcPct val="35000"/>
                </a:spcBef>
              </a:pPr>
              <a:r>
                <a:rPr lang="en-US" altLang="zh-CN" sz="1400" dirty="0">
                  <a:solidFill>
                    <a:srgbClr val="FFFFFF"/>
                  </a:solidFill>
                  <a:latin typeface="微软雅黑" panose="020B0503020204020204" pitchFamily="34" charset="-122"/>
                  <a:ea typeface="微软雅黑" panose="020B0503020204020204" pitchFamily="34" charset="-122"/>
                </a:rPr>
                <a:t>i=1</a:t>
              </a:r>
              <a:r>
                <a:rPr lang="zh-CN" altLang="en-US" sz="1400" dirty="0">
                  <a:solidFill>
                    <a:srgbClr val="FFFFFF"/>
                  </a:solidFill>
                  <a:latin typeface="微软雅黑" panose="020B0503020204020204" pitchFamily="34" charset="-122"/>
                  <a:ea typeface="微软雅黑" panose="020B0503020204020204" pitchFamily="34" charset="-122"/>
                </a:rPr>
                <a:t>时</a:t>
              </a:r>
              <a:r>
                <a:rPr lang="en-US" altLang="zh-CN" sz="1400" dirty="0">
                  <a:solidFill>
                    <a:srgbClr val="FFFFFF"/>
                  </a:solidFill>
                  <a:latin typeface="微软雅黑" panose="020B0503020204020204" pitchFamily="34" charset="-122"/>
                  <a:ea typeface="微软雅黑" panose="020B0503020204020204" pitchFamily="34" charset="-122"/>
                </a:rPr>
                <a:t>3</a:t>
              </a:r>
              <a:r>
                <a:rPr lang="zh-CN" altLang="en-US" sz="1400" dirty="0">
                  <a:solidFill>
                    <a:srgbClr val="FFFFFF"/>
                  </a:solidFill>
                  <a:latin typeface="微软雅黑" panose="020B0503020204020204" pitchFamily="34" charset="-122"/>
                  <a:ea typeface="微软雅黑" panose="020B0503020204020204" pitchFamily="34" charset="-122"/>
                </a:rPr>
                <a:t>个数组在一个桶中；要分裂；则</a:t>
              </a:r>
              <a:r>
                <a:rPr lang="en-US" altLang="zh-CN" sz="1400" dirty="0">
                  <a:solidFill>
                    <a:srgbClr val="FFFFFF"/>
                  </a:solidFill>
                  <a:latin typeface="微软雅黑" panose="020B0503020204020204" pitchFamily="34" charset="-122"/>
                  <a:ea typeface="微软雅黑" panose="020B0503020204020204" pitchFamily="34" charset="-122"/>
                </a:rPr>
                <a:t>2</a:t>
              </a:r>
              <a:r>
                <a:rPr lang="zh-CN" altLang="en-US" sz="1400" dirty="0">
                  <a:solidFill>
                    <a:srgbClr val="FFFFFF"/>
                  </a:solidFill>
                  <a:latin typeface="微软雅黑" panose="020B0503020204020204" pitchFamily="34" charset="-122"/>
                  <a:ea typeface="微软雅黑" panose="020B0503020204020204" pitchFamily="34" charset="-122"/>
                </a:rPr>
                <a:t>个桶</a:t>
              </a:r>
              <a:endParaRPr lang="zh-CN" altLang="en-US" sz="1400" dirty="0">
                <a:solidFill>
                  <a:srgbClr val="FFFFFF"/>
                </a:solidFill>
                <a:latin typeface="微软雅黑" panose="020B0503020204020204" pitchFamily="34" charset="-122"/>
                <a:ea typeface="微软雅黑" panose="020B0503020204020204" pitchFamily="34" charset="-122"/>
              </a:endParaRPr>
            </a:p>
            <a:p>
              <a:pPr>
                <a:spcBef>
                  <a:spcPct val="35000"/>
                </a:spcBef>
              </a:pPr>
              <a:r>
                <a:rPr lang="en-US" altLang="zh-CN" sz="1400" dirty="0">
                  <a:solidFill>
                    <a:srgbClr val="FFFFFF"/>
                  </a:solidFill>
                  <a:latin typeface="微软雅黑" panose="020B0503020204020204" pitchFamily="34" charset="-122"/>
                  <a:ea typeface="微软雅黑" panose="020B0503020204020204" pitchFamily="34" charset="-122"/>
                </a:rPr>
                <a:t>i=2</a:t>
              </a:r>
              <a:r>
                <a:rPr lang="zh-CN" altLang="en-US" sz="1400" dirty="0">
                  <a:solidFill>
                    <a:srgbClr val="FFFFFF"/>
                  </a:solidFill>
                  <a:latin typeface="微软雅黑" panose="020B0503020204020204" pitchFamily="34" charset="-122"/>
                  <a:ea typeface="微软雅黑" panose="020B0503020204020204" pitchFamily="34" charset="-122"/>
                </a:rPr>
                <a:t>时三个数组仍旧在一个桶中；要分裂，则</a:t>
              </a:r>
              <a:r>
                <a:rPr lang="en-US" altLang="zh-CN" sz="1400" dirty="0">
                  <a:solidFill>
                    <a:srgbClr val="FFFFFF"/>
                  </a:solidFill>
                  <a:latin typeface="微软雅黑" panose="020B0503020204020204" pitchFamily="34" charset="-122"/>
                  <a:ea typeface="微软雅黑" panose="020B0503020204020204" pitchFamily="34" charset="-122"/>
                </a:rPr>
                <a:t>2</a:t>
              </a:r>
              <a:r>
                <a:rPr lang="en-US" altLang="zh-CN" sz="1400" baseline="30000" dirty="0">
                  <a:solidFill>
                    <a:srgbClr val="FFFFFF"/>
                  </a:solidFill>
                  <a:latin typeface="微软雅黑" panose="020B0503020204020204" pitchFamily="34" charset="-122"/>
                  <a:ea typeface="微软雅黑" panose="020B0503020204020204" pitchFamily="34" charset="-122"/>
                </a:rPr>
                <a:t>2</a:t>
              </a:r>
              <a:r>
                <a:rPr lang="zh-CN" altLang="en-US" sz="1400" dirty="0">
                  <a:solidFill>
                    <a:srgbClr val="FFFFFF"/>
                  </a:solidFill>
                  <a:latin typeface="微软雅黑" panose="020B0503020204020204" pitchFamily="34" charset="-122"/>
                  <a:ea typeface="微软雅黑" panose="020B0503020204020204" pitchFamily="34" charset="-122"/>
                </a:rPr>
                <a:t>个桶</a:t>
              </a:r>
              <a:endParaRPr lang="zh-CN" altLang="en-US" sz="1400" dirty="0">
                <a:solidFill>
                  <a:srgbClr val="FFFFFF"/>
                </a:solidFill>
                <a:latin typeface="微软雅黑" panose="020B0503020204020204" pitchFamily="34" charset="-122"/>
                <a:ea typeface="微软雅黑" panose="020B0503020204020204" pitchFamily="34" charset="-122"/>
              </a:endParaRPr>
            </a:p>
            <a:p>
              <a:pPr>
                <a:spcBef>
                  <a:spcPct val="35000"/>
                </a:spcBef>
              </a:pPr>
              <a:r>
                <a:rPr lang="en-US" altLang="zh-CN" sz="1400" dirty="0">
                  <a:solidFill>
                    <a:srgbClr val="FFFFFF"/>
                  </a:solidFill>
                  <a:latin typeface="微软雅黑" panose="020B0503020204020204" pitchFamily="34" charset="-122"/>
                  <a:ea typeface="微软雅黑" panose="020B0503020204020204" pitchFamily="34" charset="-122"/>
                </a:rPr>
                <a:t>i=3</a:t>
              </a:r>
              <a:r>
                <a:rPr lang="zh-CN" altLang="en-US" sz="1400" dirty="0">
                  <a:solidFill>
                    <a:srgbClr val="FFFFFF"/>
                  </a:solidFill>
                  <a:latin typeface="微软雅黑" panose="020B0503020204020204" pitchFamily="34" charset="-122"/>
                  <a:ea typeface="微软雅黑" panose="020B0503020204020204" pitchFamily="34" charset="-122"/>
                </a:rPr>
                <a:t>时三个数组仍旧在一个桶中；要分裂，则</a:t>
              </a:r>
              <a:r>
                <a:rPr lang="en-US" altLang="zh-CN" sz="1400" dirty="0">
                  <a:solidFill>
                    <a:srgbClr val="FFFFFF"/>
                  </a:solidFill>
                  <a:latin typeface="微软雅黑" panose="020B0503020204020204" pitchFamily="34" charset="-122"/>
                  <a:ea typeface="微软雅黑" panose="020B0503020204020204" pitchFamily="34" charset="-122"/>
                </a:rPr>
                <a:t>2</a:t>
              </a:r>
              <a:r>
                <a:rPr lang="en-US" altLang="zh-CN" sz="1400" baseline="30000" dirty="0">
                  <a:solidFill>
                    <a:srgbClr val="FFFFFF"/>
                  </a:solidFill>
                  <a:latin typeface="微软雅黑" panose="020B0503020204020204" pitchFamily="34" charset="-122"/>
                  <a:ea typeface="微软雅黑" panose="020B0503020204020204" pitchFamily="34" charset="-122"/>
                </a:rPr>
                <a:t>3</a:t>
              </a:r>
              <a:r>
                <a:rPr lang="zh-CN" altLang="en-US" sz="1400" dirty="0">
                  <a:solidFill>
                    <a:srgbClr val="FFFFFF"/>
                  </a:solidFill>
                  <a:latin typeface="微软雅黑" panose="020B0503020204020204" pitchFamily="34" charset="-122"/>
                  <a:ea typeface="微软雅黑" panose="020B0503020204020204" pitchFamily="34" charset="-122"/>
                </a:rPr>
                <a:t>个桶</a:t>
              </a:r>
              <a:endParaRPr lang="zh-CN" altLang="en-US" sz="1400" dirty="0">
                <a:solidFill>
                  <a:srgbClr val="FFFFFF"/>
                </a:solidFill>
                <a:latin typeface="微软雅黑" panose="020B0503020204020204" pitchFamily="34" charset="-122"/>
                <a:ea typeface="微软雅黑" panose="020B0503020204020204" pitchFamily="34" charset="-122"/>
              </a:endParaRPr>
            </a:p>
            <a:p>
              <a:pPr>
                <a:spcBef>
                  <a:spcPct val="35000"/>
                </a:spcBef>
              </a:pPr>
              <a:r>
                <a:rPr lang="en-US" altLang="zh-CN" sz="1400" dirty="0">
                  <a:solidFill>
                    <a:srgbClr val="FFFFFF"/>
                  </a:solidFill>
                  <a:latin typeface="微软雅黑" panose="020B0503020204020204" pitchFamily="34" charset="-122"/>
                  <a:ea typeface="微软雅黑" panose="020B0503020204020204" pitchFamily="34" charset="-122"/>
                </a:rPr>
                <a:t>… …</a:t>
              </a:r>
              <a:endParaRPr lang="en-US" altLang="zh-CN" sz="1400" dirty="0">
                <a:solidFill>
                  <a:srgbClr val="FFFFFF"/>
                </a:solidFill>
                <a:latin typeface="微软雅黑" panose="020B0503020204020204" pitchFamily="34" charset="-122"/>
                <a:ea typeface="微软雅黑" panose="020B0503020204020204" pitchFamily="34" charset="-122"/>
              </a:endParaRPr>
            </a:p>
          </p:txBody>
        </p:sp>
      </p:grpSp>
      <p:pic>
        <p:nvPicPr>
          <p:cNvPr id="73" name="Picture 106"/>
          <p:cNvPicPr>
            <a:picLocks noChangeAspect="1"/>
          </p:cNvPicPr>
          <p:nvPr/>
        </p:nvPicPr>
        <p:blipFill>
          <a:blip r:embed="rId2">
            <a:clrChange>
              <a:clrFrom>
                <a:srgbClr val="FFFFFF"/>
              </a:clrFrom>
              <a:clrTo>
                <a:srgbClr val="FFFFFF">
                  <a:alpha val="0"/>
                </a:srgbClr>
              </a:clrTo>
            </a:clrChange>
          </a:blip>
          <a:stretch>
            <a:fillRect/>
          </a:stretch>
        </p:blipFill>
        <p:spPr>
          <a:xfrm>
            <a:off x="5082866" y="4225193"/>
            <a:ext cx="1181100" cy="2368550"/>
          </a:xfrm>
          <a:prstGeom prst="rect">
            <a:avLst/>
          </a:prstGeom>
          <a:noFill/>
          <a:ln w="9525">
            <a:noFill/>
          </a:ln>
        </p:spPr>
      </p:pic>
      <p:sp>
        <p:nvSpPr>
          <p:cNvPr id="74" name="Line 107"/>
          <p:cNvSpPr/>
          <p:nvPr/>
        </p:nvSpPr>
        <p:spPr>
          <a:xfrm flipV="1">
            <a:off x="6094103" y="4288693"/>
            <a:ext cx="1103313" cy="2046288"/>
          </a:xfrm>
          <a:prstGeom prst="line">
            <a:avLst/>
          </a:prstGeom>
          <a:ln w="9525" cap="flat" cmpd="sng">
            <a:solidFill>
              <a:schemeClr val="tx1"/>
            </a:solidFill>
            <a:prstDash val="solid"/>
            <a:round/>
            <a:headEnd type="none" w="med" len="med"/>
            <a:tailEnd type="triangle" w="med" len="med"/>
          </a:ln>
        </p:spPr>
      </p:sp>
      <p:sp>
        <p:nvSpPr>
          <p:cNvPr id="75" name="Line 108"/>
          <p:cNvSpPr/>
          <p:nvPr/>
        </p:nvSpPr>
        <p:spPr>
          <a:xfrm flipV="1">
            <a:off x="6109978" y="4144231"/>
            <a:ext cx="1101725" cy="944562"/>
          </a:xfrm>
          <a:prstGeom prst="line">
            <a:avLst/>
          </a:prstGeom>
          <a:ln w="9525" cap="flat" cmpd="sng">
            <a:solidFill>
              <a:schemeClr val="tx1"/>
            </a:solidFill>
            <a:prstDash val="solid"/>
            <a:round/>
            <a:headEnd type="none" w="med" len="med"/>
            <a:tailEnd type="triangle" w="med" len="med"/>
          </a:ln>
        </p:spPr>
      </p:sp>
      <p:sp>
        <p:nvSpPr>
          <p:cNvPr id="76" name="Line 109"/>
          <p:cNvSpPr/>
          <p:nvPr/>
        </p:nvSpPr>
        <p:spPr>
          <a:xfrm>
            <a:off x="6602103" y="4201381"/>
            <a:ext cx="0" cy="334962"/>
          </a:xfrm>
          <a:prstGeom prst="line">
            <a:avLst/>
          </a:prstGeom>
          <a:ln w="28575" cap="flat" cmpd="sng">
            <a:solidFill>
              <a:schemeClr val="tx1"/>
            </a:solidFill>
            <a:prstDash val="sysDot"/>
            <a:round/>
            <a:headEnd type="none" w="med" len="med"/>
            <a:tailEnd type="none" w="med" len="med"/>
          </a:ln>
        </p:spPr>
      </p:sp>
      <p:sp>
        <p:nvSpPr>
          <p:cNvPr id="77" name="Line 110"/>
          <p:cNvSpPr/>
          <p:nvPr/>
        </p:nvSpPr>
        <p:spPr>
          <a:xfrm>
            <a:off x="6603691" y="4774468"/>
            <a:ext cx="0" cy="334963"/>
          </a:xfrm>
          <a:prstGeom prst="line">
            <a:avLst/>
          </a:prstGeom>
          <a:ln w="28575" cap="flat" cmpd="sng">
            <a:solidFill>
              <a:schemeClr val="tx1"/>
            </a:solidFill>
            <a:prstDash val="sysDot"/>
            <a:round/>
            <a:headEnd type="none" w="med" len="med"/>
            <a:tailEnd type="none" w="med" len="med"/>
          </a:ln>
        </p:spPr>
      </p:sp>
      <p:sp>
        <p:nvSpPr>
          <p:cNvPr id="78" name="Text Box 111"/>
          <p:cNvSpPr txBox="1"/>
          <p:nvPr/>
        </p:nvSpPr>
        <p:spPr>
          <a:xfrm>
            <a:off x="6816416" y="6250843"/>
            <a:ext cx="2978150" cy="396875"/>
          </a:xfrm>
          <a:prstGeom prst="rect">
            <a:avLst/>
          </a:prstGeom>
          <a:noFill/>
          <a:ln w="9525">
            <a:noFill/>
          </a:ln>
        </p:spPr>
        <p:txBody>
          <a:bodyPr wrap="none" anchor="t">
            <a:spAutoFit/>
          </a:bodyPr>
          <a:lstStyle/>
          <a:p>
            <a:r>
              <a:rPr lang="zh-CN" altLang="en-US" dirty="0">
                <a:latin typeface="Times New Roman" panose="02020603050405020304" pitchFamily="18" charset="0"/>
                <a:ea typeface="微软雅黑" panose="020B0503020204020204" pitchFamily="34" charset="-122"/>
              </a:rPr>
              <a:t>可扩展散列表的较坏情况</a:t>
            </a:r>
            <a:endParaRPr lang="zh-CN" altLang="en-US" dirty="0">
              <a:latin typeface="Times New Roman" panose="02020603050405020304" pitchFamily="18" charset="0"/>
              <a:ea typeface="微软雅黑" panose="020B0503020204020204" pitchFamily="34" charset="-122"/>
            </a:endParaRPr>
          </a:p>
        </p:txBody>
      </p:sp>
      <p:grpSp>
        <p:nvGrpSpPr>
          <p:cNvPr id="79" name="Group 54"/>
          <p:cNvGrpSpPr/>
          <p:nvPr/>
        </p:nvGrpSpPr>
        <p:grpSpPr>
          <a:xfrm>
            <a:off x="10162866" y="4616512"/>
            <a:ext cx="1479550" cy="823912"/>
            <a:chOff x="3312" y="2123"/>
            <a:chExt cx="932" cy="519"/>
          </a:xfrm>
        </p:grpSpPr>
        <p:sp>
          <p:nvSpPr>
            <p:cNvPr id="80" name="AutoShape 39"/>
            <p:cNvSpPr/>
            <p:nvPr/>
          </p:nvSpPr>
          <p:spPr>
            <a:xfrm>
              <a:off x="3312" y="2123"/>
              <a:ext cx="932" cy="519"/>
            </a:xfrm>
            <a:custGeom>
              <a:avLst/>
              <a:gdLst/>
              <a:ahLst/>
              <a:cxnLst>
                <a:cxn ang="0">
                  <a:pos x="43360" y="0"/>
                </a:cxn>
                <a:cxn ang="0">
                  <a:pos x="12699" y="7161"/>
                </a:cxn>
                <a:cxn ang="0">
                  <a:pos x="0" y="24450"/>
                </a:cxn>
                <a:cxn ang="0">
                  <a:pos x="12699" y="41740"/>
                </a:cxn>
                <a:cxn ang="0">
                  <a:pos x="43360" y="48901"/>
                </a:cxn>
                <a:cxn ang="0">
                  <a:pos x="74021" y="41740"/>
                </a:cxn>
                <a:cxn ang="0">
                  <a:pos x="86720" y="24450"/>
                </a:cxn>
                <a:cxn ang="0">
                  <a:pos x="74021" y="716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solidFill>
            <a:ln w="9525">
              <a:noFill/>
            </a:ln>
          </p:spPr>
          <p:txBody>
            <a:bodyPr/>
            <a:lstStyle/>
            <a:p>
              <a:endParaRPr lang="zh-CN" altLang="en-US"/>
            </a:p>
          </p:txBody>
        </p:sp>
        <p:sp>
          <p:nvSpPr>
            <p:cNvPr id="81" name="Oval 40"/>
            <p:cNvSpPr/>
            <p:nvPr/>
          </p:nvSpPr>
          <p:spPr>
            <a:xfrm>
              <a:off x="3389" y="2166"/>
              <a:ext cx="778" cy="434"/>
            </a:xfrm>
            <a:prstGeom prst="ellipse">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微软雅黑" panose="020B0503020204020204" pitchFamily="34" charset="-122"/>
                <a:ea typeface="微软雅黑" panose="020B0503020204020204" pitchFamily="34" charset="-122"/>
              </a:endParaRPr>
            </a:p>
          </p:txBody>
        </p:sp>
        <p:sp>
          <p:nvSpPr>
            <p:cNvPr id="82" name="Text Box 84"/>
            <p:cNvSpPr txBox="1"/>
            <p:nvPr/>
          </p:nvSpPr>
          <p:spPr>
            <a:xfrm>
              <a:off x="3408" y="2264"/>
              <a:ext cx="771" cy="233"/>
            </a:xfrm>
            <a:prstGeom prst="rect">
              <a:avLst/>
            </a:prstGeom>
            <a:noFill/>
            <a:ln w="9525">
              <a:noFill/>
            </a:ln>
          </p:spPr>
          <p:txBody>
            <a:bodyPr anchor="t">
              <a:spAutoFit/>
            </a:bodyPr>
            <a:lstStyle/>
            <a:p>
              <a:pPr algn="ctr">
                <a:spcBef>
                  <a:spcPct val="35000"/>
                </a:spcBef>
              </a:pPr>
              <a:r>
                <a:rPr lang="zh-CN" altLang="en-US" dirty="0">
                  <a:solidFill>
                    <a:srgbClr val="FFFFFF"/>
                  </a:solidFill>
                  <a:latin typeface="微软雅黑" panose="020B0503020204020204" pitchFamily="34" charset="-122"/>
                  <a:ea typeface="微软雅黑" panose="020B0503020204020204" pitchFamily="34" charset="-122"/>
                </a:rPr>
                <a:t>如何解决</a:t>
              </a:r>
              <a:r>
                <a:rPr lang="en-US" altLang="zh-CN" dirty="0">
                  <a:solidFill>
                    <a:srgbClr val="FFFFFF"/>
                  </a:solidFill>
                  <a:latin typeface="微软雅黑" panose="020B0503020204020204" pitchFamily="34" charset="-122"/>
                  <a:ea typeface="微软雅黑" panose="020B0503020204020204" pitchFamily="34" charset="-122"/>
                </a:rPr>
                <a:t>?</a:t>
              </a:r>
              <a:endParaRPr lang="en-US" altLang="zh-CN" dirty="0">
                <a:solidFill>
                  <a:srgbClr val="FFFFFF"/>
                </a:solidFill>
                <a:latin typeface="微软雅黑" panose="020B0503020204020204" pitchFamily="34" charset="-122"/>
                <a:ea typeface="微软雅黑" panose="020B0503020204020204" pitchFamily="34" charset="-122"/>
              </a:endParaRPr>
            </a:p>
          </p:txBody>
        </p:sp>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additive="base">
                                        <p:cTn id="11" dur="500" fill="hold"/>
                                        <p:tgtEl>
                                          <p:spTgt spid="42"/>
                                        </p:tgtEl>
                                        <p:attrNameLst>
                                          <p:attrName>ppt_x</p:attrName>
                                        </p:attrNameLst>
                                      </p:cBhvr>
                                      <p:tavLst>
                                        <p:tav tm="0">
                                          <p:val>
                                            <p:strVal val="#ppt_x"/>
                                          </p:val>
                                        </p:tav>
                                        <p:tav tm="100000">
                                          <p:val>
                                            <p:strVal val="#ppt_x"/>
                                          </p:val>
                                        </p:tav>
                                      </p:tavLst>
                                    </p:anim>
                                    <p:anim calcmode="lin" valueType="num">
                                      <p:cBhvr additive="base">
                                        <p:cTn id="12" dur="500" fill="hold"/>
                                        <p:tgtEl>
                                          <p:spTgt spid="4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3"/>
                                        </p:tgtEl>
                                        <p:attrNameLst>
                                          <p:attrName>style.visibility</p:attrName>
                                        </p:attrNameLst>
                                      </p:cBhvr>
                                      <p:to>
                                        <p:strVal val="visible"/>
                                      </p:to>
                                    </p:set>
                                    <p:anim calcmode="lin" valueType="num">
                                      <p:cBhvr additive="base">
                                        <p:cTn id="15" dur="500" fill="hold"/>
                                        <p:tgtEl>
                                          <p:spTgt spid="43"/>
                                        </p:tgtEl>
                                        <p:attrNameLst>
                                          <p:attrName>ppt_x</p:attrName>
                                        </p:attrNameLst>
                                      </p:cBhvr>
                                      <p:tavLst>
                                        <p:tav tm="0">
                                          <p:val>
                                            <p:strVal val="#ppt_x"/>
                                          </p:val>
                                        </p:tav>
                                        <p:tav tm="100000">
                                          <p:val>
                                            <p:strVal val="#ppt_x"/>
                                          </p:val>
                                        </p:tav>
                                      </p:tavLst>
                                    </p:anim>
                                    <p:anim calcmode="lin" valueType="num">
                                      <p:cBhvr additive="base">
                                        <p:cTn id="16" dur="500" fill="hold"/>
                                        <p:tgtEl>
                                          <p:spTgt spid="4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additive="base">
                                        <p:cTn id="19" dur="500" fill="hold"/>
                                        <p:tgtEl>
                                          <p:spTgt spid="44"/>
                                        </p:tgtEl>
                                        <p:attrNameLst>
                                          <p:attrName>ppt_x</p:attrName>
                                        </p:attrNameLst>
                                      </p:cBhvr>
                                      <p:tavLst>
                                        <p:tav tm="0">
                                          <p:val>
                                            <p:strVal val="#ppt_x"/>
                                          </p:val>
                                        </p:tav>
                                        <p:tav tm="100000">
                                          <p:val>
                                            <p:strVal val="#ppt_x"/>
                                          </p:val>
                                        </p:tav>
                                      </p:tavLst>
                                    </p:anim>
                                    <p:anim calcmode="lin" valueType="num">
                                      <p:cBhvr additive="base">
                                        <p:cTn id="20" dur="500" fill="hold"/>
                                        <p:tgtEl>
                                          <p:spTgt spid="4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anim calcmode="lin" valueType="num">
                                      <p:cBhvr additive="base">
                                        <p:cTn id="23" dur="500" fill="hold"/>
                                        <p:tgtEl>
                                          <p:spTgt spid="45"/>
                                        </p:tgtEl>
                                        <p:attrNameLst>
                                          <p:attrName>ppt_x</p:attrName>
                                        </p:attrNameLst>
                                      </p:cBhvr>
                                      <p:tavLst>
                                        <p:tav tm="0">
                                          <p:val>
                                            <p:strVal val="#ppt_x"/>
                                          </p:val>
                                        </p:tav>
                                        <p:tav tm="100000">
                                          <p:val>
                                            <p:strVal val="#ppt_x"/>
                                          </p:val>
                                        </p:tav>
                                      </p:tavLst>
                                    </p:anim>
                                    <p:anim calcmode="lin" valueType="num">
                                      <p:cBhvr additive="base">
                                        <p:cTn id="24" dur="500" fill="hold"/>
                                        <p:tgtEl>
                                          <p:spTgt spid="4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anim calcmode="lin" valueType="num">
                                      <p:cBhvr additive="base">
                                        <p:cTn id="27" dur="500" fill="hold"/>
                                        <p:tgtEl>
                                          <p:spTgt spid="46"/>
                                        </p:tgtEl>
                                        <p:attrNameLst>
                                          <p:attrName>ppt_x</p:attrName>
                                        </p:attrNameLst>
                                      </p:cBhvr>
                                      <p:tavLst>
                                        <p:tav tm="0">
                                          <p:val>
                                            <p:strVal val="#ppt_x"/>
                                          </p:val>
                                        </p:tav>
                                        <p:tav tm="100000">
                                          <p:val>
                                            <p:strVal val="#ppt_x"/>
                                          </p:val>
                                        </p:tav>
                                      </p:tavLst>
                                    </p:anim>
                                    <p:anim calcmode="lin" valueType="num">
                                      <p:cBhvr additive="base">
                                        <p:cTn id="28" dur="500" fill="hold"/>
                                        <p:tgtEl>
                                          <p:spTgt spid="4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anim calcmode="lin" valueType="num">
                                      <p:cBhvr additive="base">
                                        <p:cTn id="31" dur="500" fill="hold"/>
                                        <p:tgtEl>
                                          <p:spTgt spid="67"/>
                                        </p:tgtEl>
                                        <p:attrNameLst>
                                          <p:attrName>ppt_x</p:attrName>
                                        </p:attrNameLst>
                                      </p:cBhvr>
                                      <p:tavLst>
                                        <p:tav tm="0">
                                          <p:val>
                                            <p:strVal val="#ppt_x"/>
                                          </p:val>
                                        </p:tav>
                                        <p:tav tm="100000">
                                          <p:val>
                                            <p:strVal val="#ppt_x"/>
                                          </p:val>
                                        </p:tav>
                                      </p:tavLst>
                                    </p:anim>
                                    <p:anim calcmode="lin" valueType="num">
                                      <p:cBhvr additive="base">
                                        <p:cTn id="32" dur="500" fill="hold"/>
                                        <p:tgtEl>
                                          <p:spTgt spid="67"/>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9"/>
                                        </p:tgtEl>
                                        <p:attrNameLst>
                                          <p:attrName>style.visibility</p:attrName>
                                        </p:attrNameLst>
                                      </p:cBhvr>
                                      <p:to>
                                        <p:strVal val="visible"/>
                                      </p:to>
                                    </p:set>
                                    <p:anim calcmode="lin" valueType="num">
                                      <p:cBhvr additive="base">
                                        <p:cTn id="35" dur="500" fill="hold"/>
                                        <p:tgtEl>
                                          <p:spTgt spid="69"/>
                                        </p:tgtEl>
                                        <p:attrNameLst>
                                          <p:attrName>ppt_x</p:attrName>
                                        </p:attrNameLst>
                                      </p:cBhvr>
                                      <p:tavLst>
                                        <p:tav tm="0">
                                          <p:val>
                                            <p:strVal val="#ppt_x"/>
                                          </p:val>
                                        </p:tav>
                                        <p:tav tm="100000">
                                          <p:val>
                                            <p:strVal val="#ppt_x"/>
                                          </p:val>
                                        </p:tav>
                                      </p:tavLst>
                                    </p:anim>
                                    <p:anim calcmode="lin" valueType="num">
                                      <p:cBhvr additive="base">
                                        <p:cTn id="36" dur="500" fill="hold"/>
                                        <p:tgtEl>
                                          <p:spTgt spid="69"/>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3"/>
                                        </p:tgtEl>
                                        <p:attrNameLst>
                                          <p:attrName>style.visibility</p:attrName>
                                        </p:attrNameLst>
                                      </p:cBhvr>
                                      <p:to>
                                        <p:strVal val="visible"/>
                                      </p:to>
                                    </p:set>
                                    <p:anim calcmode="lin" valueType="num">
                                      <p:cBhvr additive="base">
                                        <p:cTn id="39" dur="500" fill="hold"/>
                                        <p:tgtEl>
                                          <p:spTgt spid="73"/>
                                        </p:tgtEl>
                                        <p:attrNameLst>
                                          <p:attrName>ppt_x</p:attrName>
                                        </p:attrNameLst>
                                      </p:cBhvr>
                                      <p:tavLst>
                                        <p:tav tm="0">
                                          <p:val>
                                            <p:strVal val="#ppt_x"/>
                                          </p:val>
                                        </p:tav>
                                        <p:tav tm="100000">
                                          <p:val>
                                            <p:strVal val="#ppt_x"/>
                                          </p:val>
                                        </p:tav>
                                      </p:tavLst>
                                    </p:anim>
                                    <p:anim calcmode="lin" valueType="num">
                                      <p:cBhvr additive="base">
                                        <p:cTn id="40" dur="500" fill="hold"/>
                                        <p:tgtEl>
                                          <p:spTgt spid="73"/>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74"/>
                                        </p:tgtEl>
                                        <p:attrNameLst>
                                          <p:attrName>style.visibility</p:attrName>
                                        </p:attrNameLst>
                                      </p:cBhvr>
                                      <p:to>
                                        <p:strVal val="visible"/>
                                      </p:to>
                                    </p:set>
                                    <p:anim calcmode="lin" valueType="num">
                                      <p:cBhvr additive="base">
                                        <p:cTn id="43" dur="500" fill="hold"/>
                                        <p:tgtEl>
                                          <p:spTgt spid="74"/>
                                        </p:tgtEl>
                                        <p:attrNameLst>
                                          <p:attrName>ppt_x</p:attrName>
                                        </p:attrNameLst>
                                      </p:cBhvr>
                                      <p:tavLst>
                                        <p:tav tm="0">
                                          <p:val>
                                            <p:strVal val="#ppt_x"/>
                                          </p:val>
                                        </p:tav>
                                        <p:tav tm="100000">
                                          <p:val>
                                            <p:strVal val="#ppt_x"/>
                                          </p:val>
                                        </p:tav>
                                      </p:tavLst>
                                    </p:anim>
                                    <p:anim calcmode="lin" valueType="num">
                                      <p:cBhvr additive="base">
                                        <p:cTn id="44" dur="500" fill="hold"/>
                                        <p:tgtEl>
                                          <p:spTgt spid="74"/>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75"/>
                                        </p:tgtEl>
                                        <p:attrNameLst>
                                          <p:attrName>style.visibility</p:attrName>
                                        </p:attrNameLst>
                                      </p:cBhvr>
                                      <p:to>
                                        <p:strVal val="visible"/>
                                      </p:to>
                                    </p:set>
                                    <p:anim calcmode="lin" valueType="num">
                                      <p:cBhvr additive="base">
                                        <p:cTn id="47" dur="500" fill="hold"/>
                                        <p:tgtEl>
                                          <p:spTgt spid="75"/>
                                        </p:tgtEl>
                                        <p:attrNameLst>
                                          <p:attrName>ppt_x</p:attrName>
                                        </p:attrNameLst>
                                      </p:cBhvr>
                                      <p:tavLst>
                                        <p:tav tm="0">
                                          <p:val>
                                            <p:strVal val="#ppt_x"/>
                                          </p:val>
                                        </p:tav>
                                        <p:tav tm="100000">
                                          <p:val>
                                            <p:strVal val="#ppt_x"/>
                                          </p:val>
                                        </p:tav>
                                      </p:tavLst>
                                    </p:anim>
                                    <p:anim calcmode="lin" valueType="num">
                                      <p:cBhvr additive="base">
                                        <p:cTn id="48" dur="500" fill="hold"/>
                                        <p:tgtEl>
                                          <p:spTgt spid="75"/>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76"/>
                                        </p:tgtEl>
                                        <p:attrNameLst>
                                          <p:attrName>style.visibility</p:attrName>
                                        </p:attrNameLst>
                                      </p:cBhvr>
                                      <p:to>
                                        <p:strVal val="visible"/>
                                      </p:to>
                                    </p:set>
                                    <p:anim calcmode="lin" valueType="num">
                                      <p:cBhvr additive="base">
                                        <p:cTn id="51" dur="500" fill="hold"/>
                                        <p:tgtEl>
                                          <p:spTgt spid="76"/>
                                        </p:tgtEl>
                                        <p:attrNameLst>
                                          <p:attrName>ppt_x</p:attrName>
                                        </p:attrNameLst>
                                      </p:cBhvr>
                                      <p:tavLst>
                                        <p:tav tm="0">
                                          <p:val>
                                            <p:strVal val="#ppt_x"/>
                                          </p:val>
                                        </p:tav>
                                        <p:tav tm="100000">
                                          <p:val>
                                            <p:strVal val="#ppt_x"/>
                                          </p:val>
                                        </p:tav>
                                      </p:tavLst>
                                    </p:anim>
                                    <p:anim calcmode="lin" valueType="num">
                                      <p:cBhvr additive="base">
                                        <p:cTn id="52" dur="500" fill="hold"/>
                                        <p:tgtEl>
                                          <p:spTgt spid="76"/>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77"/>
                                        </p:tgtEl>
                                        <p:attrNameLst>
                                          <p:attrName>style.visibility</p:attrName>
                                        </p:attrNameLst>
                                      </p:cBhvr>
                                      <p:to>
                                        <p:strVal val="visible"/>
                                      </p:to>
                                    </p:set>
                                    <p:anim calcmode="lin" valueType="num">
                                      <p:cBhvr additive="base">
                                        <p:cTn id="55" dur="500" fill="hold"/>
                                        <p:tgtEl>
                                          <p:spTgt spid="77"/>
                                        </p:tgtEl>
                                        <p:attrNameLst>
                                          <p:attrName>ppt_x</p:attrName>
                                        </p:attrNameLst>
                                      </p:cBhvr>
                                      <p:tavLst>
                                        <p:tav tm="0">
                                          <p:val>
                                            <p:strVal val="#ppt_x"/>
                                          </p:val>
                                        </p:tav>
                                        <p:tav tm="100000">
                                          <p:val>
                                            <p:strVal val="#ppt_x"/>
                                          </p:val>
                                        </p:tav>
                                      </p:tavLst>
                                    </p:anim>
                                    <p:anim calcmode="lin" valueType="num">
                                      <p:cBhvr additive="base">
                                        <p:cTn id="56"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79"/>
                                        </p:tgtEl>
                                        <p:attrNameLst>
                                          <p:attrName>style.visibility</p:attrName>
                                        </p:attrNameLst>
                                      </p:cBhvr>
                                      <p:to>
                                        <p:strVal val="visible"/>
                                      </p:to>
                                    </p:set>
                                    <p:anim calcmode="lin" valueType="num">
                                      <p:cBhvr additive="base">
                                        <p:cTn id="61" dur="500" fill="hold"/>
                                        <p:tgtEl>
                                          <p:spTgt spid="79"/>
                                        </p:tgtEl>
                                        <p:attrNameLst>
                                          <p:attrName>ppt_x</p:attrName>
                                        </p:attrNameLst>
                                      </p:cBhvr>
                                      <p:tavLst>
                                        <p:tav tm="0">
                                          <p:val>
                                            <p:strVal val="#ppt_x"/>
                                          </p:val>
                                        </p:tav>
                                        <p:tav tm="100000">
                                          <p:val>
                                            <p:strVal val="#ppt_x"/>
                                          </p:val>
                                        </p:tav>
                                      </p:tavLst>
                                    </p:anim>
                                    <p:anim calcmode="lin" valueType="num">
                                      <p:cBhvr additive="base">
                                        <p:cTn id="62"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67" grpId="0" bldLvl="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(1) </a:t>
            </a:r>
            <a:r>
              <a:rPr lang="zh-CN" altLang="en-US" sz="2600" dirty="0">
                <a:latin typeface="微软雅黑" panose="020B0503020204020204" pitchFamily="34" charset="-122"/>
                <a:ea typeface="微软雅黑" panose="020B0503020204020204" pitchFamily="34" charset="-122"/>
              </a:rPr>
              <a:t>拟解决的问题</a:t>
            </a:r>
            <a:endParaRPr lang="zh-CN" altLang="en-US" sz="26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桶的数目过快增长，但其利用率不足</a:t>
            </a:r>
            <a:endParaRPr lang="zh-CN" altLang="en-US" sz="18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例如：块中存放</a:t>
            </a: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个记录，即使记录总数远小于</a:t>
            </a:r>
            <a:r>
              <a:rPr lang="en-US" altLang="zh-CN" sz="1800" dirty="0">
                <a:latin typeface="微软雅黑" panose="020B0503020204020204" pitchFamily="34" charset="-122"/>
                <a:ea typeface="微软雅黑" panose="020B0503020204020204" pitchFamily="34" charset="-122"/>
              </a:rPr>
              <a:t>220, </a:t>
            </a:r>
            <a:r>
              <a:rPr lang="zh-CN" altLang="en-US" sz="1800" dirty="0">
                <a:latin typeface="微软雅黑" panose="020B0503020204020204" pitchFamily="34" charset="-122"/>
                <a:ea typeface="微软雅黑" panose="020B0503020204020204" pitchFamily="34" charset="-122"/>
              </a:rPr>
              <a:t>但也可能出现三个记录的前</a:t>
            </a:r>
            <a:r>
              <a:rPr lang="en-US" altLang="zh-CN" sz="1800" dirty="0">
                <a:latin typeface="微软雅黑" panose="020B0503020204020204" pitchFamily="34" charset="-122"/>
                <a:ea typeface="微软雅黑" panose="020B0503020204020204" pitchFamily="34" charset="-122"/>
              </a:rPr>
              <a:t>20</a:t>
            </a:r>
            <a:r>
              <a:rPr lang="zh-CN" altLang="en-US" sz="1800" dirty="0">
                <a:latin typeface="微软雅黑" panose="020B0503020204020204" pitchFamily="34" charset="-122"/>
                <a:ea typeface="微软雅黑" panose="020B0503020204020204" pitchFamily="34" charset="-122"/>
              </a:rPr>
              <a:t>位二进制位序列一样，在这种情况下，将不得不使用</a:t>
            </a:r>
            <a:r>
              <a:rPr lang="en-US" altLang="zh-CN" sz="1800" dirty="0" err="1">
                <a:latin typeface="微软雅黑" panose="020B0503020204020204" pitchFamily="34" charset="-122"/>
                <a:ea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rPr>
              <a:t>=20</a:t>
            </a:r>
            <a:r>
              <a:rPr lang="zh-CN" altLang="en-US" sz="1800" dirty="0">
                <a:latin typeface="微软雅黑" panose="020B0503020204020204" pitchFamily="34" charset="-122"/>
                <a:ea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rPr>
              <a:t>100</a:t>
            </a:r>
            <a:r>
              <a:rPr lang="zh-CN" altLang="en-US" sz="1800" dirty="0">
                <a:latin typeface="微软雅黑" panose="020B0503020204020204" pitchFamily="34" charset="-122"/>
                <a:ea typeface="微软雅黑" panose="020B0503020204020204" pitchFamily="34" charset="-122"/>
              </a:rPr>
              <a:t>万个桶数组。但大部分桶都空闲未用。</a:t>
            </a:r>
            <a:endParaRPr lang="zh-CN" altLang="en-US" sz="1800" dirty="0">
              <a:latin typeface="微软雅黑" panose="020B0503020204020204" pitchFamily="34" charset="-122"/>
              <a:ea typeface="微软雅黑" panose="020B0503020204020204" pitchFamily="34" charset="-122"/>
            </a:endParaRPr>
          </a:p>
          <a:p>
            <a:pPr marL="0" indent="0">
              <a:spcBef>
                <a:spcPct val="20000"/>
              </a:spcBef>
              <a:buNone/>
            </a:pPr>
            <a:endParaRPr lang="en-US" altLang="zh-CN" sz="24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2400" dirty="0">
              <a:latin typeface="微软雅黑" panose="020B0503020204020204" pitchFamily="34" charset="-122"/>
              <a:ea typeface="微软雅黑" panose="020B0503020204020204" pitchFamily="34" charset="-122"/>
            </a:endParaRPr>
          </a:p>
          <a:p>
            <a:pPr marL="0" indent="0">
              <a:lnSpc>
                <a:spcPct val="100000"/>
              </a:lnSpc>
              <a:spcBef>
                <a:spcPct val="20000"/>
              </a:spcBef>
              <a:buNone/>
            </a:pPr>
            <a:endParaRPr lang="en-US" altLang="zh-CN" sz="3500" dirty="0">
              <a:solidFill>
                <a:srgbClr val="CC0000"/>
              </a:solidFill>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endParaRPr lang="zh-CN" altLang="en-US" sz="1800" b="1"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线性</a:t>
            </a:r>
            <a:r>
              <a:rPr lang="zh-CN" altLang="zh-CN"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aphicFrame>
        <p:nvGraphicFramePr>
          <p:cNvPr id="2" name="Group 3"/>
          <p:cNvGraphicFramePr>
            <a:graphicFrameLocks noGrp="1"/>
          </p:cNvGraphicFramePr>
          <p:nvPr/>
        </p:nvGraphicFramePr>
        <p:xfrm>
          <a:off x="6458927" y="3299680"/>
          <a:ext cx="2057400" cy="757238"/>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13"/>
          <p:cNvGraphicFramePr>
            <a:graphicFrameLocks noGrp="1"/>
          </p:cNvGraphicFramePr>
          <p:nvPr/>
        </p:nvGraphicFramePr>
        <p:xfrm>
          <a:off x="6458927" y="4595080"/>
          <a:ext cx="2057400" cy="1019493"/>
        </p:xfrm>
        <a:graphic>
          <a:graphicData uri="http://schemas.openxmlformats.org/drawingml/2006/table">
            <a:tbl>
              <a:tblPr/>
              <a:tblGrid>
                <a:gridCol w="2057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1111(11111)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1111(11110), </a:t>
                      </a:r>
                      <a:r>
                        <a:rPr kumimoji="1" lang="en-US" altLang="zh-CN" sz="1800" b="1"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1111(11101)</a:t>
                      </a:r>
                      <a:endParaRPr kumimoji="1" lang="en-US" altLang="zh-CN" sz="1800" b="1"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mc:AlternateContent xmlns:mc="http://schemas.openxmlformats.org/markup-compatibility/2006" xmlns:a14="http://schemas.microsoft.com/office/drawing/2010/main">
        <mc:Choice Requires="a14">
          <p:graphicFrame>
            <p:nvGraphicFramePr>
              <p:cNvPr id="7" name="Group 23"/>
              <p:cNvGraphicFramePr>
                <a:graphicFrameLocks noGrp="1"/>
              </p:cNvGraphicFramePr>
              <p:nvPr/>
            </p:nvGraphicFramePr>
            <p:xfrm>
              <a:off x="4477727" y="3299680"/>
              <a:ext cx="914400" cy="379413"/>
            </p:xfrm>
            <a:graphic>
              <a:graphicData uri="http://schemas.openxmlformats.org/drawingml/2006/table">
                <a:tbl>
                  <a:tblPr/>
                  <a:tblGrid>
                    <a:gridCol w="914400"/>
                  </a:tblGrid>
                  <a:tr h="379413">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0" i="1" dirty="0" smtClean="0">
                                  <a:latin typeface="Cambria Math" panose="02040503050406030204" pitchFamily="18" charset="0"/>
                                  <a:ea typeface="微软雅黑" panose="020B0503020204020204" pitchFamily="34" charset="-122"/>
                                </a:rPr>
                                <m:t>𝑖</m:t>
                              </m:r>
                            </m:oMath>
                          </a14:m>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7" name="Group 23"/>
              <p:cNvGraphicFramePr>
                <a:graphicFrameLocks noGrp="1"/>
              </p:cNvGraphicFramePr>
              <p:nvPr/>
            </p:nvGraphicFramePr>
            <p:xfrm>
              <a:off x="4477727" y="3299680"/>
              <a:ext cx="914400" cy="379413"/>
            </p:xfrm>
            <a:graphic>
              <a:graphicData uri="http://schemas.openxmlformats.org/drawingml/2006/table">
                <a:tbl>
                  <a:tblPr/>
                  <a:tblGrid>
                    <a:gridCol w="914400"/>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r>
                </a:tbl>
              </a:graphicData>
            </a:graphic>
          </p:graphicFrame>
        </mc:Fallback>
      </mc:AlternateContent>
      <p:sp>
        <p:nvSpPr>
          <p:cNvPr id="8" name="Line 29"/>
          <p:cNvSpPr/>
          <p:nvPr/>
        </p:nvSpPr>
        <p:spPr>
          <a:xfrm flipV="1">
            <a:off x="5239727" y="3452080"/>
            <a:ext cx="1219200" cy="425450"/>
          </a:xfrm>
          <a:prstGeom prst="line">
            <a:avLst/>
          </a:prstGeom>
          <a:ln w="9525" cap="flat" cmpd="sng">
            <a:solidFill>
              <a:schemeClr val="tx1"/>
            </a:solidFill>
            <a:prstDash val="solid"/>
            <a:round/>
            <a:headEnd type="none" w="med" len="med"/>
            <a:tailEnd type="triangle" w="med" len="med"/>
          </a:ln>
        </p:spPr>
      </p:sp>
      <p:sp>
        <p:nvSpPr>
          <p:cNvPr id="9" name="Line 30"/>
          <p:cNvSpPr/>
          <p:nvPr/>
        </p:nvSpPr>
        <p:spPr>
          <a:xfrm flipV="1">
            <a:off x="5296877" y="5204680"/>
            <a:ext cx="1162050" cy="849312"/>
          </a:xfrm>
          <a:prstGeom prst="line">
            <a:avLst/>
          </a:prstGeom>
          <a:ln w="38100" cap="flat" cmpd="sng">
            <a:solidFill>
              <a:srgbClr val="CC0000"/>
            </a:solidFill>
            <a:prstDash val="solid"/>
            <a:round/>
            <a:headEnd type="none" w="med" len="med"/>
            <a:tailEnd type="triangle" w="med" len="med"/>
          </a:ln>
        </p:spPr>
      </p:sp>
      <p:sp>
        <p:nvSpPr>
          <p:cNvPr id="10" name="Rectangle 31"/>
          <p:cNvSpPr>
            <a:spLocks noChangeAspect="1"/>
          </p:cNvSpPr>
          <p:nvPr/>
        </p:nvSpPr>
        <p:spPr>
          <a:xfrm>
            <a:off x="8516327" y="3299680"/>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1</a:t>
            </a:r>
            <a:endParaRPr lang="en-US" altLang="zh-CN" sz="1600" b="0" dirty="0">
              <a:latin typeface="Times New Roman" panose="02020603050405020304" pitchFamily="18" charset="0"/>
              <a:ea typeface="宋体" panose="02010600030101010101" pitchFamily="2" charset="-122"/>
            </a:endParaRPr>
          </a:p>
        </p:txBody>
      </p:sp>
      <p:sp>
        <p:nvSpPr>
          <p:cNvPr id="11" name="Rectangle 32"/>
          <p:cNvSpPr>
            <a:spLocks noChangeAspect="1"/>
          </p:cNvSpPr>
          <p:nvPr/>
        </p:nvSpPr>
        <p:spPr>
          <a:xfrm>
            <a:off x="8516327" y="4595080"/>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600" b="0" dirty="0">
                <a:latin typeface="Times New Roman" panose="02020603050405020304" pitchFamily="18" charset="0"/>
                <a:ea typeface="宋体" panose="02010600030101010101" pitchFamily="2" charset="-122"/>
              </a:rPr>
              <a:t>4</a:t>
            </a:r>
            <a:endParaRPr lang="en-US" altLang="zh-CN" sz="1600" b="0" dirty="0">
              <a:latin typeface="Times New Roman" panose="02020603050405020304" pitchFamily="18" charset="0"/>
              <a:ea typeface="宋体" panose="02010600030101010101" pitchFamily="2" charset="-122"/>
            </a:endParaRPr>
          </a:p>
        </p:txBody>
      </p:sp>
      <p:pic>
        <p:nvPicPr>
          <p:cNvPr id="12" name="Picture 42"/>
          <p:cNvPicPr>
            <a:picLocks noChangeAspect="1"/>
          </p:cNvPicPr>
          <p:nvPr/>
        </p:nvPicPr>
        <p:blipFill>
          <a:blip r:embed="rId2">
            <a:clrChange>
              <a:clrFrom>
                <a:srgbClr val="FFFFFF"/>
              </a:clrFrom>
              <a:clrTo>
                <a:srgbClr val="FFFFFF">
                  <a:alpha val="0"/>
                </a:srgbClr>
              </a:clrTo>
            </a:clrChange>
          </a:blip>
          <a:stretch>
            <a:fillRect/>
          </a:stretch>
        </p:blipFill>
        <p:spPr>
          <a:xfrm>
            <a:off x="4318977" y="3775930"/>
            <a:ext cx="1181100" cy="2368550"/>
          </a:xfrm>
          <a:prstGeom prst="rect">
            <a:avLst/>
          </a:prstGeom>
          <a:noFill/>
          <a:ln w="9525">
            <a:noFill/>
          </a:ln>
        </p:spPr>
      </p:pic>
      <p:sp>
        <p:nvSpPr>
          <p:cNvPr id="13" name="Line 43"/>
          <p:cNvSpPr/>
          <p:nvPr/>
        </p:nvSpPr>
        <p:spPr>
          <a:xfrm flipV="1">
            <a:off x="5330215" y="3839430"/>
            <a:ext cx="1103312" cy="2046287"/>
          </a:xfrm>
          <a:prstGeom prst="line">
            <a:avLst/>
          </a:prstGeom>
          <a:ln w="9525" cap="flat" cmpd="sng">
            <a:solidFill>
              <a:schemeClr val="tx1"/>
            </a:solidFill>
            <a:prstDash val="solid"/>
            <a:round/>
            <a:headEnd type="none" w="med" len="med"/>
            <a:tailEnd type="triangle" w="med" len="med"/>
          </a:ln>
        </p:spPr>
      </p:sp>
      <p:sp>
        <p:nvSpPr>
          <p:cNvPr id="14" name="Line 44"/>
          <p:cNvSpPr/>
          <p:nvPr/>
        </p:nvSpPr>
        <p:spPr>
          <a:xfrm flipV="1">
            <a:off x="5346090" y="3694967"/>
            <a:ext cx="1101725" cy="944563"/>
          </a:xfrm>
          <a:prstGeom prst="line">
            <a:avLst/>
          </a:prstGeom>
          <a:ln w="9525" cap="flat" cmpd="sng">
            <a:solidFill>
              <a:schemeClr val="tx1"/>
            </a:solidFill>
            <a:prstDash val="solid"/>
            <a:round/>
            <a:headEnd type="none" w="med" len="med"/>
            <a:tailEnd type="triangle" w="med" len="med"/>
          </a:ln>
        </p:spPr>
      </p:sp>
      <p:sp>
        <p:nvSpPr>
          <p:cNvPr id="16" name="Line 45"/>
          <p:cNvSpPr/>
          <p:nvPr/>
        </p:nvSpPr>
        <p:spPr>
          <a:xfrm>
            <a:off x="5838215" y="3752117"/>
            <a:ext cx="0" cy="334963"/>
          </a:xfrm>
          <a:prstGeom prst="line">
            <a:avLst/>
          </a:prstGeom>
          <a:ln w="28575" cap="flat" cmpd="sng">
            <a:solidFill>
              <a:schemeClr val="tx1"/>
            </a:solidFill>
            <a:prstDash val="sysDot"/>
            <a:round/>
            <a:headEnd type="none" w="med" len="med"/>
            <a:tailEnd type="none" w="med" len="med"/>
          </a:ln>
        </p:spPr>
      </p:sp>
      <p:sp>
        <p:nvSpPr>
          <p:cNvPr id="17" name="Line 46"/>
          <p:cNvSpPr/>
          <p:nvPr/>
        </p:nvSpPr>
        <p:spPr>
          <a:xfrm>
            <a:off x="5839802" y="4325205"/>
            <a:ext cx="0" cy="334962"/>
          </a:xfrm>
          <a:prstGeom prst="line">
            <a:avLst/>
          </a:prstGeom>
          <a:ln w="28575" cap="flat" cmpd="sng">
            <a:solidFill>
              <a:schemeClr val="tx1"/>
            </a:solidFill>
            <a:prstDash val="sysDot"/>
            <a:round/>
            <a:headEnd type="none" w="med" len="med"/>
            <a:tailEnd type="none" w="med" len="med"/>
          </a:ln>
        </p:spPr>
      </p:sp>
      <p:grpSp>
        <p:nvGrpSpPr>
          <p:cNvPr id="18" name="Group 47"/>
          <p:cNvGrpSpPr/>
          <p:nvPr/>
        </p:nvGrpSpPr>
        <p:grpSpPr>
          <a:xfrm>
            <a:off x="2398102" y="4301392"/>
            <a:ext cx="1682750" cy="925513"/>
            <a:chOff x="3312" y="2123"/>
            <a:chExt cx="932" cy="519"/>
          </a:xfrm>
        </p:grpSpPr>
        <p:sp>
          <p:nvSpPr>
            <p:cNvPr id="19" name="AutoShape 39"/>
            <p:cNvSpPr/>
            <p:nvPr/>
          </p:nvSpPr>
          <p:spPr>
            <a:xfrm>
              <a:off x="3312" y="2123"/>
              <a:ext cx="932" cy="519"/>
            </a:xfrm>
            <a:custGeom>
              <a:avLst/>
              <a:gdLst/>
              <a:ahLst/>
              <a:cxnLst>
                <a:cxn ang="0">
                  <a:pos x="43360" y="0"/>
                </a:cxn>
                <a:cxn ang="0">
                  <a:pos x="12699" y="7161"/>
                </a:cxn>
                <a:cxn ang="0">
                  <a:pos x="0" y="24450"/>
                </a:cxn>
                <a:cxn ang="0">
                  <a:pos x="12699" y="41740"/>
                </a:cxn>
                <a:cxn ang="0">
                  <a:pos x="43360" y="48901"/>
                </a:cxn>
                <a:cxn ang="0">
                  <a:pos x="74021" y="41740"/>
                </a:cxn>
                <a:cxn ang="0">
                  <a:pos x="86720" y="24450"/>
                </a:cxn>
                <a:cxn ang="0">
                  <a:pos x="74021" y="716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solidFill>
            <a:ln w="9525">
              <a:noFill/>
            </a:ln>
          </p:spPr>
          <p:txBody>
            <a:bodyPr/>
            <a:lstStyle/>
            <a:p>
              <a:endParaRPr lang="zh-CN" altLang="en-US"/>
            </a:p>
          </p:txBody>
        </p:sp>
        <p:sp>
          <p:nvSpPr>
            <p:cNvPr id="20" name="Oval 40"/>
            <p:cNvSpPr/>
            <p:nvPr/>
          </p:nvSpPr>
          <p:spPr>
            <a:xfrm>
              <a:off x="3389" y="2166"/>
              <a:ext cx="778" cy="434"/>
            </a:xfrm>
            <a:prstGeom prst="ellipse">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微软雅黑" panose="020B0503020204020204" pitchFamily="34" charset="-122"/>
                <a:ea typeface="微软雅黑" panose="020B0503020204020204" pitchFamily="34" charset="-122"/>
              </a:endParaRPr>
            </a:p>
          </p:txBody>
        </p:sp>
        <p:sp>
          <p:nvSpPr>
            <p:cNvPr id="21" name="Text Box 84"/>
            <p:cNvSpPr txBox="1"/>
            <p:nvPr/>
          </p:nvSpPr>
          <p:spPr>
            <a:xfrm>
              <a:off x="3396" y="2228"/>
              <a:ext cx="771" cy="393"/>
            </a:xfrm>
            <a:prstGeom prst="rect">
              <a:avLst/>
            </a:prstGeom>
            <a:noFill/>
            <a:ln w="9525">
              <a:noFill/>
            </a:ln>
          </p:spPr>
          <p:txBody>
            <a:bodyPr anchor="t">
              <a:spAutoFit/>
            </a:bodyPr>
            <a:lstStyle/>
            <a:p>
              <a:pPr algn="ctr">
                <a:spcBef>
                  <a:spcPct val="35000"/>
                </a:spcBef>
              </a:pPr>
              <a:r>
                <a:rPr lang="zh-CN" altLang="en-US" dirty="0">
                  <a:solidFill>
                    <a:srgbClr val="FFFFFF"/>
                  </a:solidFill>
                  <a:latin typeface="微软雅黑" panose="020B0503020204020204" pitchFamily="34" charset="-122"/>
                  <a:ea typeface="微软雅黑" panose="020B0503020204020204" pitchFamily="34" charset="-122"/>
                </a:rPr>
                <a:t>控制桶的过快增长</a:t>
              </a:r>
              <a:endParaRPr lang="zh-CN" altLang="en-US" dirty="0">
                <a:solidFill>
                  <a:srgbClr val="FFFFFF"/>
                </a:solidFill>
                <a:latin typeface="微软雅黑" panose="020B0503020204020204" pitchFamily="34" charset="-122"/>
                <a:ea typeface="微软雅黑" panose="020B0503020204020204" pitchFamily="34" charset="-122"/>
              </a:endParaRPr>
            </a:p>
          </p:txBody>
        </p:sp>
      </p:grpSp>
      <p:sp>
        <p:nvSpPr>
          <p:cNvPr id="22" name="Text Box 51"/>
          <p:cNvSpPr txBox="1"/>
          <p:nvPr/>
        </p:nvSpPr>
        <p:spPr>
          <a:xfrm>
            <a:off x="6074915" y="5804077"/>
            <a:ext cx="2723823" cy="369332"/>
          </a:xfrm>
          <a:prstGeom prst="rect">
            <a:avLst/>
          </a:prstGeom>
          <a:noFill/>
          <a:ln w="9525">
            <a:noFill/>
          </a:ln>
        </p:spPr>
        <p:txBody>
          <a:bodyPr wrap="none" anchor="t">
            <a:spAutoFit/>
          </a:bodyPr>
          <a:lstStyle/>
          <a:p>
            <a:r>
              <a:rPr lang="zh-CN" altLang="en-US" b="1" dirty="0">
                <a:latin typeface="Times New Roman" panose="02020603050405020304" pitchFamily="18" charset="0"/>
                <a:ea typeface="微软雅黑" panose="020B0503020204020204" pitchFamily="34" charset="-122"/>
              </a:rPr>
              <a:t>可扩展散列表的较坏情况</a:t>
            </a:r>
            <a:endParaRPr lang="zh-CN" altLang="en-US" b="1" dirty="0">
              <a:latin typeface="Times New Roman" panose="02020603050405020304" pitchFamily="18" charset="0"/>
              <a:ea typeface="微软雅黑" panose="020B0503020204020204" pitchFamily="34" charset="-122"/>
            </a:endParaRPr>
          </a:p>
        </p:txBody>
      </p:sp>
      <p:sp>
        <p:nvSpPr>
          <p:cNvPr id="3" name="灯片编号占位符 2"/>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基本思想</a:t>
            </a:r>
            <a:endParaRPr lang="en-US" altLang="zh-CN" sz="2600" dirty="0">
              <a:latin typeface="微软雅黑" panose="020B0503020204020204" pitchFamily="34" charset="-122"/>
              <a:ea typeface="微软雅黑" panose="020B0503020204020204" pitchFamily="34" charset="-122"/>
            </a:endParaRPr>
          </a:p>
          <a:p>
            <a:pPr marL="0" indent="0">
              <a:spcBef>
                <a:spcPct val="20000"/>
              </a:spcBef>
              <a:buNone/>
            </a:pPr>
            <a:r>
              <a:rPr lang="zh-CN" altLang="en-US" sz="2000" b="0" dirty="0">
                <a:latin typeface="微软雅黑" panose="020B0503020204020204" pitchFamily="34" charset="-122"/>
                <a:ea typeface="微软雅黑" panose="020B0503020204020204" pitchFamily="34" charset="-122"/>
              </a:rPr>
              <a:t>线性散列索引</a:t>
            </a:r>
            <a:endParaRPr lang="zh-CN" altLang="en-US" sz="2000" b="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桶数</a:t>
            </a:r>
            <a:r>
              <a:rPr lang="en-US" altLang="zh-CN" sz="1800" dirty="0">
                <a:latin typeface="微软雅黑" panose="020B0503020204020204" pitchFamily="34" charset="-122"/>
                <a:ea typeface="微软雅黑" panose="020B0503020204020204" pitchFamily="34" charset="-122"/>
              </a:rPr>
              <a:t>n</a:t>
            </a:r>
            <a:r>
              <a:rPr lang="zh-CN" altLang="en-US" sz="1800" dirty="0">
                <a:latin typeface="微软雅黑" panose="020B0503020204020204" pitchFamily="34" charset="-122"/>
                <a:ea typeface="微软雅黑" panose="020B0503020204020204" pitchFamily="34" charset="-122"/>
              </a:rPr>
              <a:t>的选择总是使存储块的平均记录数保持与存储块所能容纳的记录总数成一个固定的比例，例如</a:t>
            </a:r>
            <a:r>
              <a:rPr lang="en-US" altLang="zh-CN" sz="1800" dirty="0">
                <a:latin typeface="微软雅黑" panose="020B0503020204020204" pitchFamily="34" charset="-122"/>
                <a:ea typeface="微软雅黑" panose="020B0503020204020204" pitchFamily="34" charset="-122"/>
              </a:rPr>
              <a:t>80%</a:t>
            </a:r>
            <a:r>
              <a:rPr lang="zh-CN" altLang="en-US" sz="1800" dirty="0">
                <a:latin typeface="微软雅黑" panose="020B0503020204020204" pitchFamily="34" charset="-122"/>
                <a:ea typeface="微软雅黑" panose="020B0503020204020204" pitchFamily="34" charset="-122"/>
              </a:rPr>
              <a:t>。超过此比例，则桶数增长</a:t>
            </a: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块，分裂。 </a:t>
            </a:r>
            <a:r>
              <a:rPr lang="en-US" altLang="zh-CN" sz="1800" dirty="0">
                <a:solidFill>
                  <a:srgbClr val="FF0000"/>
                </a:solidFill>
                <a:latin typeface="微软雅黑" panose="020B0503020204020204" pitchFamily="34" charset="-122"/>
                <a:ea typeface="微软雅黑" panose="020B0503020204020204" pitchFamily="34" charset="-122"/>
              </a:rPr>
              <a:t>---</a:t>
            </a:r>
            <a:r>
              <a:rPr lang="zh-CN" altLang="en-US" sz="1800" dirty="0">
                <a:solidFill>
                  <a:srgbClr val="FF0000"/>
                </a:solidFill>
                <a:latin typeface="微软雅黑" panose="020B0503020204020204" pitchFamily="34" charset="-122"/>
                <a:ea typeface="微软雅黑" panose="020B0503020204020204" pitchFamily="34" charset="-122"/>
              </a:rPr>
              <a:t>线性增长，每次增</a:t>
            </a:r>
            <a:r>
              <a:rPr lang="en-US" altLang="zh-CN" sz="1800" dirty="0">
                <a:solidFill>
                  <a:srgbClr val="FF0000"/>
                </a:solidFill>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存储块并不总是可以分裂，所以允许有溢出块，尽管每个桶的平均溢出块数远小于</a:t>
            </a: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marL="228600" lvl="1">
              <a:lnSpc>
                <a:spcPct val="100000"/>
              </a:lnSpc>
              <a:spcBef>
                <a:spcPts val="1000"/>
              </a:spcBef>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用来做桶数组项序号的二进制位数是</a:t>
            </a:r>
            <a:r>
              <a:rPr lang="zh-CN" altLang="en-US" sz="18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1800" dirty="0">
                <a:latin typeface="微软雅黑" panose="020B0503020204020204" pitchFamily="34" charset="-122"/>
                <a:ea typeface="微软雅黑" panose="020B0503020204020204" pitchFamily="34" charset="-122"/>
                <a:sym typeface="Symbol" panose="05050102010706020507" pitchFamily="18" charset="2"/>
              </a:rPr>
              <a:t>log2n</a:t>
            </a:r>
            <a:r>
              <a:rPr lang="zh-CN" altLang="en-US" sz="1800" dirty="0">
                <a:latin typeface="微软雅黑" panose="020B0503020204020204" pitchFamily="34" charset="-122"/>
                <a:ea typeface="微软雅黑" panose="020B0503020204020204" pitchFamily="34" charset="-122"/>
              </a:rPr>
              <a:t>，其中</a:t>
            </a:r>
            <a:r>
              <a:rPr lang="en-US" altLang="zh-CN" sz="1800" dirty="0">
                <a:latin typeface="微软雅黑" panose="020B0503020204020204" pitchFamily="34" charset="-122"/>
                <a:ea typeface="微软雅黑" panose="020B0503020204020204" pitchFamily="34" charset="-122"/>
              </a:rPr>
              <a:t>n</a:t>
            </a:r>
            <a:r>
              <a:rPr lang="zh-CN" altLang="en-US" sz="1800" dirty="0">
                <a:latin typeface="微软雅黑" panose="020B0503020204020204" pitchFamily="34" charset="-122"/>
                <a:ea typeface="微软雅黑" panose="020B0503020204020204" pitchFamily="34" charset="-122"/>
              </a:rPr>
              <a:t>是当前的桶数。</a:t>
            </a:r>
            <a:r>
              <a:rPr lang="zh-CN" altLang="en-US" sz="1800" dirty="0">
                <a:solidFill>
                  <a:srgbClr val="FF0000"/>
                </a:solidFill>
                <a:latin typeface="微软雅黑" panose="020B0503020204020204" pitchFamily="34" charset="-122"/>
                <a:ea typeface="微软雅黑" panose="020B0503020204020204" pitchFamily="34" charset="-122"/>
              </a:rPr>
              <a:t>这些位总是从散列函数得到的位序列的右端</a:t>
            </a:r>
            <a:r>
              <a:rPr lang="en-US" altLang="zh-CN" sz="1800" dirty="0">
                <a:solidFill>
                  <a:srgbClr val="FF0000"/>
                </a:solidFill>
                <a:latin typeface="微软雅黑" panose="020B0503020204020204" pitchFamily="34" charset="-122"/>
                <a:ea typeface="微软雅黑" panose="020B0503020204020204" pitchFamily="34" charset="-122"/>
              </a:rPr>
              <a:t>(</a:t>
            </a:r>
            <a:r>
              <a:rPr lang="zh-CN" altLang="en-US" sz="1800" dirty="0">
                <a:solidFill>
                  <a:srgbClr val="FF0000"/>
                </a:solidFill>
                <a:latin typeface="微软雅黑" panose="020B0503020204020204" pitchFamily="34" charset="-122"/>
                <a:ea typeface="微软雅黑" panose="020B0503020204020204" pitchFamily="34" charset="-122"/>
              </a:rPr>
              <a:t>即低位</a:t>
            </a:r>
            <a:r>
              <a:rPr lang="en-US" altLang="zh-CN" sz="1800" dirty="0">
                <a:solidFill>
                  <a:srgbClr val="FF0000"/>
                </a:solidFill>
                <a:latin typeface="微软雅黑" panose="020B0503020204020204" pitchFamily="34" charset="-122"/>
                <a:ea typeface="微软雅黑" panose="020B0503020204020204" pitchFamily="34" charset="-122"/>
              </a:rPr>
              <a:t>)</a:t>
            </a:r>
            <a:r>
              <a:rPr lang="zh-CN" altLang="en-US" sz="1800" dirty="0">
                <a:solidFill>
                  <a:srgbClr val="FF0000"/>
                </a:solidFill>
                <a:latin typeface="微软雅黑" panose="020B0503020204020204" pitchFamily="34" charset="-122"/>
                <a:ea typeface="微软雅黑" panose="020B0503020204020204" pitchFamily="34" charset="-122"/>
              </a:rPr>
              <a:t>开始取</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marL="0" lvl="1" indent="0">
              <a:lnSpc>
                <a:spcPct val="100000"/>
              </a:lnSpc>
              <a:spcBef>
                <a:spcPts val="1000"/>
              </a:spcBef>
              <a:buNone/>
            </a:pPr>
            <a:endParaRPr lang="zh-CN" altLang="en-US" sz="1800" b="1"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线性</a:t>
            </a:r>
            <a:r>
              <a:rPr lang="zh-CN" altLang="zh-CN"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pSp>
        <p:nvGrpSpPr>
          <p:cNvPr id="23" name="Group 16"/>
          <p:cNvGrpSpPr/>
          <p:nvPr/>
        </p:nvGrpSpPr>
        <p:grpSpPr>
          <a:xfrm>
            <a:off x="5186362" y="4507646"/>
            <a:ext cx="1641475" cy="1416050"/>
            <a:chOff x="3219" y="3160"/>
            <a:chExt cx="1034" cy="892"/>
          </a:xfrm>
        </p:grpSpPr>
        <p:grpSp>
          <p:nvGrpSpPr>
            <p:cNvPr id="24" name="Group 6"/>
            <p:cNvGrpSpPr/>
            <p:nvPr/>
          </p:nvGrpSpPr>
          <p:grpSpPr>
            <a:xfrm>
              <a:off x="3493" y="3561"/>
              <a:ext cx="663" cy="274"/>
              <a:chOff x="682" y="3428"/>
              <a:chExt cx="588" cy="274"/>
            </a:xfrm>
          </p:grpSpPr>
          <p:sp>
            <p:nvSpPr>
              <p:cNvPr id="30" name="Rectangle 7"/>
              <p:cNvSpPr/>
              <p:nvPr/>
            </p:nvSpPr>
            <p:spPr>
              <a:xfrm>
                <a:off x="682"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31" name="Rectangle 8"/>
              <p:cNvSpPr/>
              <p:nvPr/>
            </p:nvSpPr>
            <p:spPr>
              <a:xfrm>
                <a:off x="827"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33" name="Rectangle 9"/>
              <p:cNvSpPr/>
              <p:nvPr/>
            </p:nvSpPr>
            <p:spPr>
              <a:xfrm>
                <a:off x="972"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34" name="Rectangle 10"/>
              <p:cNvSpPr/>
              <p:nvPr/>
            </p:nvSpPr>
            <p:spPr>
              <a:xfrm>
                <a:off x="1119"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grpSp>
        <p:sp>
          <p:nvSpPr>
            <p:cNvPr id="25" name="Text Box 11"/>
            <p:cNvSpPr txBox="1"/>
            <p:nvPr/>
          </p:nvSpPr>
          <p:spPr>
            <a:xfrm>
              <a:off x="3433" y="3535"/>
              <a:ext cx="759" cy="288"/>
            </a:xfrm>
            <a:prstGeom prst="rect">
              <a:avLst/>
            </a:prstGeom>
            <a:noFill/>
            <a:ln w="9525">
              <a:noFill/>
            </a:ln>
          </p:spPr>
          <p:txBody>
            <a:bodyPr wrap="none" anchor="t">
              <a:spAutoFit/>
            </a:bodyPr>
            <a:lstStyle/>
            <a:p>
              <a:r>
                <a:rPr lang="en-US" altLang="zh-CN" sz="2400" dirty="0">
                  <a:latin typeface="微软雅黑" panose="020B0503020204020204" pitchFamily="34" charset="-122"/>
                  <a:ea typeface="微软雅黑" panose="020B0503020204020204" pitchFamily="34" charset="-122"/>
                </a:rPr>
                <a:t>1 0 1 1</a:t>
              </a:r>
              <a:endParaRPr lang="en-US" altLang="zh-CN" sz="2400" dirty="0">
                <a:latin typeface="微软雅黑" panose="020B0503020204020204" pitchFamily="34" charset="-122"/>
                <a:ea typeface="微软雅黑" panose="020B0503020204020204" pitchFamily="34" charset="-122"/>
              </a:endParaRPr>
            </a:p>
          </p:txBody>
        </p:sp>
        <p:sp>
          <p:nvSpPr>
            <p:cNvPr id="26" name="Line 12"/>
            <p:cNvSpPr/>
            <p:nvPr/>
          </p:nvSpPr>
          <p:spPr>
            <a:xfrm>
              <a:off x="3474" y="3393"/>
              <a:ext cx="659" cy="0"/>
            </a:xfrm>
            <a:prstGeom prst="line">
              <a:avLst/>
            </a:prstGeom>
            <a:ln w="9525" cap="flat" cmpd="sng">
              <a:solidFill>
                <a:srgbClr val="FF0066"/>
              </a:solidFill>
              <a:prstDash val="solid"/>
              <a:round/>
              <a:headEnd type="triangle" w="med" len="med"/>
              <a:tailEnd type="none" w="med" len="med"/>
            </a:ln>
          </p:spPr>
        </p:sp>
        <p:sp>
          <p:nvSpPr>
            <p:cNvPr id="27" name="Text Box 13"/>
            <p:cNvSpPr txBox="1"/>
            <p:nvPr/>
          </p:nvSpPr>
          <p:spPr>
            <a:xfrm>
              <a:off x="3219" y="3160"/>
              <a:ext cx="540" cy="212"/>
            </a:xfrm>
            <a:prstGeom prst="rect">
              <a:avLst/>
            </a:prstGeom>
            <a:noFill/>
            <a:ln w="9525">
              <a:noFill/>
            </a:ln>
          </p:spPr>
          <p:txBody>
            <a:bodyPr wrap="none" anchor="t">
              <a:spAutoFit/>
            </a:bodyPr>
            <a:lstStyle/>
            <a:p>
              <a:pPr algn="ctr"/>
              <a:r>
                <a:rPr lang="en-US" altLang="zh-CN" sz="1600" dirty="0">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的位次</a:t>
              </a:r>
              <a:endParaRPr lang="zh-CN" altLang="en-US" sz="1600" dirty="0">
                <a:latin typeface="微软雅黑" panose="020B0503020204020204" pitchFamily="34" charset="-122"/>
                <a:ea typeface="微软雅黑" panose="020B0503020204020204" pitchFamily="34" charset="-122"/>
              </a:endParaRPr>
            </a:p>
          </p:txBody>
        </p:sp>
        <p:sp>
          <p:nvSpPr>
            <p:cNvPr id="28" name="Text Box 14"/>
            <p:cNvSpPr txBox="1"/>
            <p:nvPr/>
          </p:nvSpPr>
          <p:spPr>
            <a:xfrm>
              <a:off x="3383" y="3840"/>
              <a:ext cx="870" cy="212"/>
            </a:xfrm>
            <a:prstGeom prst="rect">
              <a:avLst/>
            </a:prstGeom>
            <a:noFill/>
            <a:ln w="9525">
              <a:noFill/>
            </a:ln>
          </p:spPr>
          <p:txBody>
            <a:bodyPr wrap="none" anchor="t">
              <a:spAutoFit/>
            </a:bodyPr>
            <a:lstStyle/>
            <a:p>
              <a:pPr algn="ctr"/>
              <a:r>
                <a:rPr lang="en-US" altLang="zh-CN" sz="1600" dirty="0">
                  <a:latin typeface="微软雅黑" panose="020B0503020204020204" pitchFamily="34" charset="-122"/>
                  <a:ea typeface="微软雅黑" panose="020B0503020204020204" pitchFamily="34" charset="-122"/>
                </a:rPr>
                <a:t>k</a:t>
              </a:r>
              <a:r>
                <a:rPr lang="zh-CN" altLang="en-US" sz="1600" dirty="0">
                  <a:latin typeface="微软雅黑" panose="020B0503020204020204" pitchFamily="34" charset="-122"/>
                  <a:ea typeface="微软雅黑" panose="020B0503020204020204" pitchFamily="34" charset="-122"/>
                </a:rPr>
                <a:t>位二进制位 </a:t>
              </a:r>
              <a:endParaRPr lang="zh-CN" altLang="en-US" sz="1600" dirty="0">
                <a:latin typeface="微软雅黑" panose="020B0503020204020204" pitchFamily="34" charset="-122"/>
                <a:ea typeface="微软雅黑" panose="020B0503020204020204" pitchFamily="34" charset="-122"/>
              </a:endParaRPr>
            </a:p>
          </p:txBody>
        </p:sp>
        <p:sp>
          <p:nvSpPr>
            <p:cNvPr id="29" name="Text Box 15"/>
            <p:cNvSpPr txBox="1"/>
            <p:nvPr/>
          </p:nvSpPr>
          <p:spPr>
            <a:xfrm>
              <a:off x="3455" y="3381"/>
              <a:ext cx="774" cy="212"/>
            </a:xfrm>
            <a:prstGeom prst="rect">
              <a:avLst/>
            </a:prstGeom>
            <a:noFill/>
            <a:ln w="9525">
              <a:noFill/>
            </a:ln>
          </p:spPr>
          <p:txBody>
            <a:bodyPr wrap="none" anchor="t">
              <a:spAutoFit/>
            </a:bodyPr>
            <a:lstStyle/>
            <a:p>
              <a:r>
                <a:rPr lang="en-US" altLang="zh-CN" sz="1600" dirty="0">
                  <a:latin typeface="微软雅黑" panose="020B0503020204020204" pitchFamily="34" charset="-122"/>
                  <a:ea typeface="微软雅黑" panose="020B0503020204020204" pitchFamily="34" charset="-122"/>
                </a:rPr>
                <a:t>4   3   2   1</a:t>
              </a:r>
              <a:endParaRPr lang="en-US" altLang="zh-CN" sz="1600" dirty="0">
                <a:latin typeface="微软雅黑" panose="020B0503020204020204" pitchFamily="34" charset="-122"/>
                <a:ea typeface="微软雅黑" panose="020B0503020204020204" pitchFamily="34" charset="-122"/>
              </a:endParaRPr>
            </a:p>
          </p:txBody>
        </p:sp>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(2) </a:t>
                </a:r>
                <a:r>
                  <a:rPr lang="zh-CN" altLang="en-US" sz="2600" dirty="0">
                    <a:latin typeface="微软雅黑" panose="020B0503020204020204" pitchFamily="34" charset="-122"/>
                    <a:ea typeface="微软雅黑" panose="020B0503020204020204" pitchFamily="34" charset="-122"/>
                  </a:rPr>
                  <a:t>基本思想</a:t>
                </a:r>
                <a:endParaRPr lang="en-US" altLang="zh-CN" sz="2600" dirty="0">
                  <a:latin typeface="微软雅黑" panose="020B0503020204020204" pitchFamily="34" charset="-122"/>
                  <a:ea typeface="微软雅黑" panose="020B0503020204020204" pitchFamily="34" charset="-122"/>
                </a:endParaRPr>
              </a:p>
              <a:p>
                <a:pPr>
                  <a:lnSpc>
                    <a:spcPct val="135000"/>
                  </a:lnSpc>
                  <a:buFont typeface="Wingdings" panose="05000000000000000000" pitchFamily="2" charset="2"/>
                  <a:buChar char="l"/>
                </a:pPr>
                <a:r>
                  <a:rPr lang="zh-CN" altLang="en-US" sz="1800" b="0" dirty="0">
                    <a:ea typeface="微软雅黑" panose="020B0503020204020204" pitchFamily="34" charset="-122"/>
                  </a:rPr>
                  <a:t>假定散列函数值的</a:t>
                </a:r>
                <a14:m>
                  <m:oMath xmlns:m="http://schemas.openxmlformats.org/officeDocument/2006/math">
                    <m:r>
                      <a:rPr lang="en-US" altLang="zh-CN" sz="1800" b="0" i="1" dirty="0">
                        <a:latin typeface="Cambria Math" panose="02040503050406030204" pitchFamily="18" charset="0"/>
                        <a:ea typeface="微软雅黑" panose="020B0503020204020204" pitchFamily="34" charset="-122"/>
                      </a:rPr>
                      <m:t>𝑖</m:t>
                    </m:r>
                  </m:oMath>
                </a14:m>
                <a:r>
                  <a:rPr lang="zh-CN" altLang="en-US" sz="1800" b="0" dirty="0">
                    <a:ea typeface="微软雅黑" panose="020B0503020204020204" pitchFamily="34" charset="-122"/>
                  </a:rPr>
                  <a:t>位正在用来给桶数组项编号，且有一个键值为</a:t>
                </a:r>
                <a:r>
                  <a:rPr lang="en-US" altLang="zh-CN" sz="1800" b="0" dirty="0">
                    <a:ea typeface="微软雅黑" panose="020B0503020204020204" pitchFamily="34" charset="-122"/>
                  </a:rPr>
                  <a:t>K</a:t>
                </a:r>
                <a:r>
                  <a:rPr lang="zh-CN" altLang="en-US" sz="1800" b="0" dirty="0">
                    <a:ea typeface="微软雅黑" panose="020B0503020204020204" pitchFamily="34" charset="-122"/>
                  </a:rPr>
                  <a:t>的记录要插入到编号为</a:t>
                </a:r>
                <a14:m>
                  <m:oMath xmlns:m="http://schemas.openxmlformats.org/officeDocument/2006/math">
                    <m:sSub>
                      <m:sSubPr>
                        <m:ctrlPr>
                          <a:rPr lang="en-US" altLang="zh-CN" sz="1800" b="0" i="1" dirty="0" smtClean="0">
                            <a:latin typeface="Cambria Math" panose="02040503050406030204" pitchFamily="18" charset="0"/>
                            <a:ea typeface="微软雅黑" panose="020B0503020204020204" pitchFamily="34" charset="-122"/>
                          </a:rPr>
                        </m:ctrlPr>
                      </m:sSubPr>
                      <m:e>
                        <m:r>
                          <m:rPr>
                            <m:nor/>
                          </m:rPr>
                          <a:rPr lang="en-US" altLang="zh-CN" sz="1800" b="0" dirty="0">
                            <a:latin typeface="Cambria Math" panose="02040503050406030204" pitchFamily="18" charset="0"/>
                            <a:ea typeface="微软雅黑" panose="020B0503020204020204" pitchFamily="34" charset="-122"/>
                          </a:rPr>
                          <m:t>a</m:t>
                        </m:r>
                      </m:e>
                      <m:sub>
                        <m:r>
                          <a:rPr lang="en-US" altLang="zh-CN" sz="1800" b="0" i="1" dirty="0" smtClean="0">
                            <a:latin typeface="Cambria Math" panose="02040503050406030204" pitchFamily="18" charset="0"/>
                            <a:ea typeface="微软雅黑" panose="020B0503020204020204" pitchFamily="34" charset="-122"/>
                          </a:rPr>
                          <m:t>1</m:t>
                        </m:r>
                      </m:sub>
                    </m:sSub>
                    <m:sSub>
                      <m:sSubPr>
                        <m:ctrlPr>
                          <a:rPr lang="en-US" altLang="zh-CN" sz="1800" b="0" i="1" dirty="0">
                            <a:latin typeface="Cambria Math" panose="02040503050406030204" pitchFamily="18" charset="0"/>
                            <a:ea typeface="微软雅黑" panose="020B0503020204020204" pitchFamily="34" charset="-122"/>
                          </a:rPr>
                        </m:ctrlPr>
                      </m:sSubPr>
                      <m:e>
                        <m:r>
                          <m:rPr>
                            <m:nor/>
                          </m:rPr>
                          <a:rPr lang="en-US" altLang="zh-CN" sz="1800" b="0" dirty="0">
                            <a:latin typeface="Cambria Math" panose="02040503050406030204" pitchFamily="18" charset="0"/>
                            <a:ea typeface="微软雅黑" panose="020B0503020204020204" pitchFamily="34" charset="-122"/>
                          </a:rPr>
                          <m:t>a</m:t>
                        </m:r>
                      </m:e>
                      <m:sub>
                        <m:r>
                          <a:rPr lang="en-US" altLang="zh-CN" sz="1800" b="0" i="1" dirty="0" smtClean="0">
                            <a:latin typeface="Cambria Math" panose="02040503050406030204" pitchFamily="18" charset="0"/>
                            <a:ea typeface="微软雅黑" panose="020B0503020204020204" pitchFamily="34" charset="-122"/>
                          </a:rPr>
                          <m:t>2</m:t>
                        </m:r>
                      </m:sub>
                    </m:sSub>
                  </m:oMath>
                </a14:m>
                <a:r>
                  <a:rPr lang="en-US" altLang="zh-CN" sz="1800" b="0" dirty="0">
                    <a:ea typeface="微软雅黑" panose="020B0503020204020204" pitchFamily="34" charset="-122"/>
                  </a:rPr>
                  <a:t>… </a:t>
                </a:r>
                <a14:m>
                  <m:oMath xmlns:m="http://schemas.openxmlformats.org/officeDocument/2006/math">
                    <m:sSub>
                      <m:sSubPr>
                        <m:ctrlPr>
                          <a:rPr lang="en-US" altLang="zh-CN" sz="1800" b="0" i="1" dirty="0">
                            <a:latin typeface="Cambria Math" panose="02040503050406030204" pitchFamily="18" charset="0"/>
                            <a:ea typeface="微软雅黑" panose="020B0503020204020204" pitchFamily="34" charset="-122"/>
                          </a:rPr>
                        </m:ctrlPr>
                      </m:sSubPr>
                      <m:e>
                        <m:r>
                          <m:rPr>
                            <m:nor/>
                          </m:rPr>
                          <a:rPr lang="en-US" altLang="zh-CN" sz="1800" b="0" dirty="0">
                            <a:latin typeface="Cambria Math" panose="02040503050406030204" pitchFamily="18" charset="0"/>
                            <a:ea typeface="微软雅黑" panose="020B0503020204020204" pitchFamily="34" charset="-122"/>
                          </a:rPr>
                          <m:t>a</m:t>
                        </m:r>
                      </m:e>
                      <m:sub>
                        <m:r>
                          <a:rPr lang="en-US" altLang="zh-CN" sz="1800" b="0" i="1" dirty="0" smtClean="0">
                            <a:latin typeface="Cambria Math" panose="02040503050406030204" pitchFamily="18" charset="0"/>
                            <a:ea typeface="微软雅黑" panose="020B0503020204020204" pitchFamily="34" charset="-122"/>
                          </a:rPr>
                          <m:t>𝑖</m:t>
                        </m:r>
                      </m:sub>
                    </m:sSub>
                  </m:oMath>
                </a14:m>
                <a:r>
                  <a:rPr lang="zh-CN" altLang="en-US" sz="1800" b="0" dirty="0">
                    <a:ea typeface="微软雅黑" panose="020B0503020204020204" pitchFamily="34" charset="-122"/>
                  </a:rPr>
                  <a:t>的桶中</a:t>
                </a:r>
                <a:r>
                  <a:rPr lang="en-US" altLang="zh-CN" sz="1800" b="0" dirty="0">
                    <a:ea typeface="微软雅黑" panose="020B0503020204020204" pitchFamily="34" charset="-122"/>
                  </a:rPr>
                  <a:t>, </a:t>
                </a:r>
                <a:r>
                  <a:rPr lang="zh-CN" altLang="en-US" sz="1800" b="0" dirty="0">
                    <a:ea typeface="微软雅黑" panose="020B0503020204020204" pitchFamily="34" charset="-122"/>
                  </a:rPr>
                  <a:t>即</a:t>
                </a:r>
                <a14:m>
                  <m:oMath xmlns:m="http://schemas.openxmlformats.org/officeDocument/2006/math">
                    <m:sSub>
                      <m:sSubPr>
                        <m:ctrlPr>
                          <a:rPr lang="en-US" altLang="zh-CN" sz="1800" b="0" i="1" dirty="0">
                            <a:latin typeface="Cambria Math" panose="02040503050406030204" pitchFamily="18" charset="0"/>
                            <a:ea typeface="微软雅黑" panose="020B0503020204020204" pitchFamily="34" charset="-122"/>
                          </a:rPr>
                        </m:ctrlPr>
                      </m:sSubPr>
                      <m:e>
                        <m:r>
                          <m:rPr>
                            <m:nor/>
                          </m:rPr>
                          <a:rPr lang="en-US" altLang="zh-CN" sz="1800" b="0" dirty="0">
                            <a:latin typeface="Cambria Math" panose="02040503050406030204" pitchFamily="18" charset="0"/>
                            <a:ea typeface="微软雅黑" panose="020B0503020204020204" pitchFamily="34" charset="-122"/>
                          </a:rPr>
                          <m:t>a</m:t>
                        </m:r>
                      </m:e>
                      <m:sub>
                        <m:r>
                          <a:rPr lang="en-US" altLang="zh-CN" sz="1800" b="0" i="1" dirty="0">
                            <a:latin typeface="Cambria Math" panose="02040503050406030204" pitchFamily="18" charset="0"/>
                            <a:ea typeface="微软雅黑" panose="020B0503020204020204" pitchFamily="34" charset="-122"/>
                          </a:rPr>
                          <m:t>1</m:t>
                        </m:r>
                      </m:sub>
                    </m:sSub>
                    <m:sSub>
                      <m:sSubPr>
                        <m:ctrlPr>
                          <a:rPr lang="en-US" altLang="zh-CN" sz="1800" b="0" i="1" dirty="0">
                            <a:latin typeface="Cambria Math" panose="02040503050406030204" pitchFamily="18" charset="0"/>
                            <a:ea typeface="微软雅黑" panose="020B0503020204020204" pitchFamily="34" charset="-122"/>
                          </a:rPr>
                        </m:ctrlPr>
                      </m:sSubPr>
                      <m:e>
                        <m:r>
                          <m:rPr>
                            <m:nor/>
                          </m:rPr>
                          <a:rPr lang="en-US" altLang="zh-CN" sz="1800" b="0" dirty="0">
                            <a:latin typeface="Cambria Math" panose="02040503050406030204" pitchFamily="18" charset="0"/>
                            <a:ea typeface="微软雅黑" panose="020B0503020204020204" pitchFamily="34" charset="-122"/>
                          </a:rPr>
                          <m:t>a</m:t>
                        </m:r>
                      </m:e>
                      <m:sub>
                        <m:r>
                          <a:rPr lang="en-US" altLang="zh-CN" sz="1800" b="0" i="1" dirty="0">
                            <a:latin typeface="Cambria Math" panose="02040503050406030204" pitchFamily="18" charset="0"/>
                            <a:ea typeface="微软雅黑" panose="020B0503020204020204" pitchFamily="34" charset="-122"/>
                          </a:rPr>
                          <m:t>2</m:t>
                        </m:r>
                      </m:sub>
                    </m:sSub>
                  </m:oMath>
                </a14:m>
                <a:r>
                  <a:rPr lang="en-US" altLang="zh-CN" sz="1800" b="0" dirty="0">
                    <a:ea typeface="微软雅黑" panose="020B0503020204020204" pitchFamily="34" charset="-122"/>
                  </a:rPr>
                  <a:t>… </a:t>
                </a:r>
                <a14:m>
                  <m:oMath xmlns:m="http://schemas.openxmlformats.org/officeDocument/2006/math">
                    <m:sSub>
                      <m:sSubPr>
                        <m:ctrlPr>
                          <a:rPr lang="en-US" altLang="zh-CN" sz="1800" b="0" i="1" dirty="0">
                            <a:latin typeface="Cambria Math" panose="02040503050406030204" pitchFamily="18" charset="0"/>
                            <a:ea typeface="微软雅黑" panose="020B0503020204020204" pitchFamily="34" charset="-122"/>
                          </a:rPr>
                        </m:ctrlPr>
                      </m:sSubPr>
                      <m:e>
                        <m:r>
                          <m:rPr>
                            <m:nor/>
                          </m:rPr>
                          <a:rPr lang="en-US" altLang="zh-CN" sz="1800" b="0" dirty="0">
                            <a:latin typeface="Cambria Math" panose="02040503050406030204" pitchFamily="18" charset="0"/>
                            <a:ea typeface="微软雅黑" panose="020B0503020204020204" pitchFamily="34" charset="-122"/>
                          </a:rPr>
                          <m:t>a</m:t>
                        </m:r>
                      </m:e>
                      <m:sub>
                        <m:r>
                          <a:rPr lang="en-US" altLang="zh-CN" sz="1800" b="0" i="1" dirty="0">
                            <a:latin typeface="Cambria Math" panose="02040503050406030204" pitchFamily="18" charset="0"/>
                            <a:ea typeface="微软雅黑" panose="020B0503020204020204" pitchFamily="34" charset="-122"/>
                          </a:rPr>
                          <m:t>𝑖</m:t>
                        </m:r>
                      </m:sub>
                    </m:sSub>
                  </m:oMath>
                </a14:m>
                <a:r>
                  <a:rPr lang="zh-CN" altLang="en-US" sz="1800" b="0" dirty="0">
                    <a:ea typeface="微软雅黑" panose="020B0503020204020204" pitchFamily="34" charset="-122"/>
                  </a:rPr>
                  <a:t>是</a:t>
                </a:r>
                <a:r>
                  <a:rPr lang="en-US" altLang="zh-CN" sz="1800" b="0" dirty="0">
                    <a:ea typeface="微软雅黑" panose="020B0503020204020204" pitchFamily="34" charset="-122"/>
                  </a:rPr>
                  <a:t>h(K)</a:t>
                </a:r>
                <a:r>
                  <a:rPr lang="zh-CN" altLang="en-US" sz="1800" b="0" dirty="0">
                    <a:ea typeface="微软雅黑" panose="020B0503020204020204" pitchFamily="34" charset="-122"/>
                  </a:rPr>
                  <a:t>的后</a:t>
                </a:r>
                <a14:m>
                  <m:oMath xmlns:m="http://schemas.openxmlformats.org/officeDocument/2006/math">
                    <m:r>
                      <a:rPr lang="en-US" altLang="zh-CN" sz="1800" b="0" i="1" dirty="0">
                        <a:latin typeface="Cambria Math" panose="02040503050406030204" pitchFamily="18" charset="0"/>
                        <a:ea typeface="微软雅黑" panose="020B0503020204020204" pitchFamily="34" charset="-122"/>
                      </a:rPr>
                      <m:t>𝑖</m:t>
                    </m:r>
                  </m:oMath>
                </a14:m>
                <a:r>
                  <a:rPr lang="zh-CN" altLang="en-US" sz="1800" b="0" dirty="0">
                    <a:ea typeface="微软雅黑" panose="020B0503020204020204" pitchFamily="34" charset="-122"/>
                  </a:rPr>
                  <a:t>位。把</a:t>
                </a:r>
                <a14:m>
                  <m:oMath xmlns:m="http://schemas.openxmlformats.org/officeDocument/2006/math">
                    <m:sSub>
                      <m:sSubPr>
                        <m:ctrlPr>
                          <a:rPr lang="en-US" altLang="zh-CN" sz="1800" b="0" i="1" dirty="0">
                            <a:latin typeface="Cambria Math" panose="02040503050406030204" pitchFamily="18" charset="0"/>
                            <a:ea typeface="微软雅黑" panose="020B0503020204020204" pitchFamily="34" charset="-122"/>
                          </a:rPr>
                        </m:ctrlPr>
                      </m:sSubPr>
                      <m:e>
                        <m:r>
                          <m:rPr>
                            <m:nor/>
                          </m:rPr>
                          <a:rPr lang="en-US" altLang="zh-CN" sz="1800" b="0" dirty="0">
                            <a:latin typeface="Cambria Math" panose="02040503050406030204" pitchFamily="18" charset="0"/>
                            <a:ea typeface="微软雅黑" panose="020B0503020204020204" pitchFamily="34" charset="-122"/>
                          </a:rPr>
                          <m:t>a</m:t>
                        </m:r>
                      </m:e>
                      <m:sub>
                        <m:r>
                          <a:rPr lang="en-US" altLang="zh-CN" sz="1800" b="0" i="1" dirty="0">
                            <a:latin typeface="Cambria Math" panose="02040503050406030204" pitchFamily="18" charset="0"/>
                            <a:ea typeface="微软雅黑" panose="020B0503020204020204" pitchFamily="34" charset="-122"/>
                          </a:rPr>
                          <m:t>1</m:t>
                        </m:r>
                      </m:sub>
                    </m:sSub>
                    <m:sSub>
                      <m:sSubPr>
                        <m:ctrlPr>
                          <a:rPr lang="en-US" altLang="zh-CN" sz="1800" b="0" i="1" dirty="0">
                            <a:latin typeface="Cambria Math" panose="02040503050406030204" pitchFamily="18" charset="0"/>
                            <a:ea typeface="微软雅黑" panose="020B0503020204020204" pitchFamily="34" charset="-122"/>
                          </a:rPr>
                        </m:ctrlPr>
                      </m:sSubPr>
                      <m:e>
                        <m:r>
                          <m:rPr>
                            <m:nor/>
                          </m:rPr>
                          <a:rPr lang="en-US" altLang="zh-CN" sz="1800" b="0" dirty="0">
                            <a:latin typeface="Cambria Math" panose="02040503050406030204" pitchFamily="18" charset="0"/>
                            <a:ea typeface="微软雅黑" panose="020B0503020204020204" pitchFamily="34" charset="-122"/>
                          </a:rPr>
                          <m:t>a</m:t>
                        </m:r>
                      </m:e>
                      <m:sub>
                        <m:r>
                          <a:rPr lang="en-US" altLang="zh-CN" sz="1800" b="0" i="1" dirty="0">
                            <a:latin typeface="Cambria Math" panose="02040503050406030204" pitchFamily="18" charset="0"/>
                            <a:ea typeface="微软雅黑" panose="020B0503020204020204" pitchFamily="34" charset="-122"/>
                          </a:rPr>
                          <m:t>2</m:t>
                        </m:r>
                      </m:sub>
                    </m:sSub>
                  </m:oMath>
                </a14:m>
                <a:r>
                  <a:rPr lang="en-US" altLang="zh-CN" sz="1800" b="0" dirty="0">
                    <a:ea typeface="微软雅黑" panose="020B0503020204020204" pitchFamily="34" charset="-122"/>
                  </a:rPr>
                  <a:t>… </a:t>
                </a:r>
                <a14:m>
                  <m:oMath xmlns:m="http://schemas.openxmlformats.org/officeDocument/2006/math">
                    <m:sSub>
                      <m:sSubPr>
                        <m:ctrlPr>
                          <a:rPr lang="en-US" altLang="zh-CN" sz="1800" b="0" i="1" dirty="0">
                            <a:latin typeface="Cambria Math" panose="02040503050406030204" pitchFamily="18" charset="0"/>
                            <a:ea typeface="微软雅黑" panose="020B0503020204020204" pitchFamily="34" charset="-122"/>
                          </a:rPr>
                        </m:ctrlPr>
                      </m:sSubPr>
                      <m:e>
                        <m:r>
                          <m:rPr>
                            <m:nor/>
                          </m:rPr>
                          <a:rPr lang="en-US" altLang="zh-CN" sz="1800" b="0" dirty="0">
                            <a:latin typeface="Cambria Math" panose="02040503050406030204" pitchFamily="18" charset="0"/>
                            <a:ea typeface="微软雅黑" panose="020B0503020204020204" pitchFamily="34" charset="-122"/>
                          </a:rPr>
                          <m:t>a</m:t>
                        </m:r>
                      </m:e>
                      <m:sub>
                        <m:r>
                          <a:rPr lang="en-US" altLang="zh-CN" sz="1800" b="0" i="1" dirty="0">
                            <a:latin typeface="Cambria Math" panose="02040503050406030204" pitchFamily="18" charset="0"/>
                            <a:ea typeface="微软雅黑" panose="020B0503020204020204" pitchFamily="34" charset="-122"/>
                          </a:rPr>
                          <m:t>𝑖</m:t>
                        </m:r>
                      </m:sub>
                    </m:sSub>
                  </m:oMath>
                </a14:m>
                <a:r>
                  <a:rPr lang="zh-CN" altLang="en-US" sz="1800" b="0" dirty="0">
                    <a:ea typeface="微软雅黑" panose="020B0503020204020204" pitchFamily="34" charset="-122"/>
                  </a:rPr>
                  <a:t>当作二进制整数，设它为</a:t>
                </a:r>
                <a:r>
                  <a:rPr lang="en-US" altLang="zh-CN" sz="1800" b="0" dirty="0">
                    <a:ea typeface="微软雅黑" panose="020B0503020204020204" pitchFamily="34" charset="-122"/>
                  </a:rPr>
                  <a:t>m</a:t>
                </a:r>
                <a:r>
                  <a:rPr lang="zh-CN" altLang="en-US" sz="1800" b="0" dirty="0">
                    <a:ea typeface="微软雅黑" panose="020B0503020204020204" pitchFamily="34" charset="-122"/>
                  </a:rPr>
                  <a:t>。</a:t>
                </a:r>
                <a:endParaRPr lang="zh-CN" altLang="en-US" sz="1800" b="0" dirty="0">
                  <a:ea typeface="微软雅黑" panose="020B0503020204020204" pitchFamily="34" charset="-122"/>
                </a:endParaRPr>
              </a:p>
              <a:p>
                <a:pPr marL="567690" lvl="1" indent="-337820" eaLnBrk="1" hangingPunct="1">
                  <a:lnSpc>
                    <a:spcPct val="135000"/>
                  </a:lnSpc>
                  <a:buFont typeface="Wingdings" panose="05000000000000000000" pitchFamily="2" charset="2"/>
                  <a:buChar char="ü"/>
                </a:pPr>
                <a:r>
                  <a:rPr lang="zh-CN" altLang="en-US" sz="1800" dirty="0">
                    <a:ea typeface="微软雅黑" panose="020B0503020204020204" pitchFamily="34" charset="-122"/>
                  </a:rPr>
                  <a:t>如果</a:t>
                </a:r>
                <a:r>
                  <a:rPr lang="en-US" altLang="zh-CN" sz="1800" dirty="0">
                    <a:ea typeface="微软雅黑" panose="020B0503020204020204" pitchFamily="34" charset="-122"/>
                  </a:rPr>
                  <a:t>m&lt;n</a:t>
                </a:r>
                <a:r>
                  <a:rPr lang="zh-CN" altLang="en-US" sz="1800" dirty="0">
                    <a:ea typeface="微软雅黑" panose="020B0503020204020204" pitchFamily="34" charset="-122"/>
                  </a:rPr>
                  <a:t>，则编号为</a:t>
                </a:r>
                <a:r>
                  <a:rPr lang="en-US" altLang="zh-CN" sz="1800" dirty="0">
                    <a:ea typeface="微软雅黑" panose="020B0503020204020204" pitchFamily="34" charset="-122"/>
                  </a:rPr>
                  <a:t>m</a:t>
                </a:r>
                <a:r>
                  <a:rPr lang="zh-CN" altLang="en-US" sz="1800" dirty="0">
                    <a:ea typeface="微软雅黑" panose="020B0503020204020204" pitchFamily="34" charset="-122"/>
                  </a:rPr>
                  <a:t>的桶存在并把记录存入该桶中。</a:t>
                </a:r>
                <a:endParaRPr lang="zh-CN" altLang="en-US" sz="1800" dirty="0">
                  <a:ea typeface="微软雅黑" panose="020B0503020204020204" pitchFamily="34" charset="-122"/>
                </a:endParaRPr>
              </a:p>
              <a:p>
                <a:pPr marL="567690" lvl="1" indent="-337820">
                  <a:lnSpc>
                    <a:spcPct val="135000"/>
                  </a:lnSpc>
                  <a:buFont typeface="Wingdings" panose="05000000000000000000" pitchFamily="2" charset="2"/>
                  <a:buChar char="ü"/>
                </a:pPr>
                <a:r>
                  <a:rPr lang="zh-CN" altLang="en-US" sz="1800" dirty="0">
                    <a:ea typeface="微软雅黑" panose="020B0503020204020204" pitchFamily="34" charset="-122"/>
                  </a:rPr>
                  <a:t>如果</a:t>
                </a:r>
                <a:r>
                  <a:rPr lang="en-US" altLang="zh-CN" sz="1800" dirty="0" err="1">
                    <a:ea typeface="微软雅黑" panose="020B0503020204020204" pitchFamily="34" charset="-122"/>
                  </a:rPr>
                  <a:t>n</a:t>
                </a:r>
                <a:r>
                  <a:rPr lang="en-US" altLang="zh-CN" sz="1800" dirty="0" err="1">
                    <a:ea typeface="微软雅黑" panose="020B0503020204020204" pitchFamily="34" charset="-122"/>
                    <a:sym typeface="Symbol" panose="05050102010706020507" pitchFamily="18" charset="2"/>
                  </a:rPr>
                  <a:t></a:t>
                </a:r>
                <a:r>
                  <a:rPr lang="en-US" altLang="zh-CN" sz="1800" dirty="0" err="1">
                    <a:ea typeface="微软雅黑" panose="020B0503020204020204" pitchFamily="34" charset="-122"/>
                  </a:rPr>
                  <a:t>m</a:t>
                </a:r>
                <a:r>
                  <a:rPr lang="en-US" altLang="zh-CN" sz="1800" dirty="0">
                    <a:ea typeface="微软雅黑" panose="020B0503020204020204" pitchFamily="34" charset="-122"/>
                  </a:rPr>
                  <a:t>&lt;</a:t>
                </a:r>
                <a14:m>
                  <m:oMath xmlns:m="http://schemas.openxmlformats.org/officeDocument/2006/math">
                    <m:sSup>
                      <m:sSupPr>
                        <m:ctrlPr>
                          <a:rPr lang="en-US" altLang="zh-CN" sz="1800" i="1" dirty="0" smtClean="0">
                            <a:latin typeface="Cambria Math" panose="02040503050406030204" pitchFamily="18" charset="0"/>
                            <a:ea typeface="微软雅黑" panose="020B0503020204020204" pitchFamily="34" charset="-122"/>
                          </a:rPr>
                        </m:ctrlPr>
                      </m:sSupPr>
                      <m:e>
                        <m:r>
                          <a:rPr lang="en-US" altLang="zh-CN" sz="1800" b="0" i="1" dirty="0">
                            <a:latin typeface="Cambria Math" panose="02040503050406030204" pitchFamily="18" charset="0"/>
                            <a:ea typeface="微软雅黑" panose="020B0503020204020204" pitchFamily="34" charset="-122"/>
                          </a:rPr>
                          <m:t>2</m:t>
                        </m:r>
                      </m:e>
                      <m:sup>
                        <m:r>
                          <a:rPr lang="en-US" altLang="zh-CN" sz="1800" b="0" i="1" dirty="0">
                            <a:latin typeface="Cambria Math" panose="02040503050406030204" pitchFamily="18" charset="0"/>
                            <a:ea typeface="微软雅黑" panose="020B0503020204020204" pitchFamily="34" charset="-122"/>
                          </a:rPr>
                          <m:t>𝑖</m:t>
                        </m:r>
                      </m:sup>
                    </m:sSup>
                  </m:oMath>
                </a14:m>
                <a:r>
                  <a:rPr lang="en-US" altLang="zh-CN" sz="1800" dirty="0">
                    <a:ea typeface="微软雅黑" panose="020B0503020204020204" pitchFamily="34" charset="-122"/>
                  </a:rPr>
                  <a:t>, </a:t>
                </a:r>
                <a:r>
                  <a:rPr lang="zh-CN" altLang="en-US" sz="1800" dirty="0">
                    <a:ea typeface="微软雅黑" panose="020B0503020204020204" pitchFamily="34" charset="-122"/>
                  </a:rPr>
                  <a:t>那么桶还不存在，因此我们把记录存入桶</a:t>
                </a:r>
                <a:r>
                  <a:rPr lang="en-US" altLang="zh-CN" sz="1800" dirty="0">
                    <a:ea typeface="微软雅黑" panose="020B0503020204020204" pitchFamily="34" charset="-122"/>
                  </a:rPr>
                  <a:t>m-</a:t>
                </a:r>
                <a14:m>
                  <m:oMath xmlns:m="http://schemas.openxmlformats.org/officeDocument/2006/math">
                    <m:sSup>
                      <m:sSupPr>
                        <m:ctrlPr>
                          <a:rPr lang="en-US" altLang="zh-CN" sz="1800" i="1" dirty="0">
                            <a:latin typeface="Cambria Math" panose="02040503050406030204" pitchFamily="18" charset="0"/>
                            <a:ea typeface="微软雅黑" panose="020B0503020204020204" pitchFamily="34" charset="-122"/>
                          </a:rPr>
                        </m:ctrlPr>
                      </m:sSupPr>
                      <m:e>
                        <m:r>
                          <a:rPr lang="en-US" altLang="zh-CN" sz="1800" b="0" i="1" dirty="0">
                            <a:latin typeface="Cambria Math" panose="02040503050406030204" pitchFamily="18" charset="0"/>
                            <a:ea typeface="微软雅黑" panose="020B0503020204020204" pitchFamily="34" charset="-122"/>
                          </a:rPr>
                          <m:t>2</m:t>
                        </m:r>
                      </m:e>
                      <m:sup>
                        <m:r>
                          <a:rPr lang="en-US" altLang="zh-CN" sz="1800" b="0" i="1" dirty="0">
                            <a:latin typeface="Cambria Math" panose="02040503050406030204" pitchFamily="18" charset="0"/>
                            <a:ea typeface="微软雅黑" panose="020B0503020204020204" pitchFamily="34" charset="-122"/>
                          </a:rPr>
                          <m:t>𝑖</m:t>
                        </m:r>
                        <m:r>
                          <a:rPr lang="en-US" altLang="zh-CN" sz="1800" b="0" i="1" dirty="0" smtClean="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1</m:t>
                        </m:r>
                      </m:sup>
                    </m:sSup>
                  </m:oMath>
                </a14:m>
                <a:r>
                  <a:rPr lang="en-US" altLang="zh-CN" sz="1800" dirty="0">
                    <a:ea typeface="微软雅黑" panose="020B0503020204020204" pitchFamily="34" charset="-122"/>
                  </a:rPr>
                  <a:t>, </a:t>
                </a:r>
                <a:r>
                  <a:rPr lang="zh-CN" altLang="en-US" sz="1800" dirty="0">
                    <a:ea typeface="微软雅黑" panose="020B0503020204020204" pitchFamily="34" charset="-122"/>
                  </a:rPr>
                  <a:t>也就是当我们把</a:t>
                </a:r>
                <a14:m>
                  <m:oMath xmlns:m="http://schemas.openxmlformats.org/officeDocument/2006/math">
                    <m:sSub>
                      <m:sSubPr>
                        <m:ctrlPr>
                          <a:rPr lang="en-US" altLang="zh-CN" sz="1800" i="1" dirty="0">
                            <a:latin typeface="Cambria Math" panose="02040503050406030204" pitchFamily="18" charset="0"/>
                            <a:ea typeface="微软雅黑" panose="020B0503020204020204" pitchFamily="34" charset="-122"/>
                          </a:rPr>
                        </m:ctrlPr>
                      </m:sSubPr>
                      <m:e>
                        <m:r>
                          <m:rPr>
                            <m:nor/>
                          </m:rPr>
                          <a:rPr lang="en-US" altLang="zh-CN" sz="1800" dirty="0">
                            <a:latin typeface="Cambria Math" panose="02040503050406030204" pitchFamily="18" charset="0"/>
                            <a:ea typeface="微软雅黑" panose="020B0503020204020204" pitchFamily="34" charset="-122"/>
                          </a:rPr>
                          <m:t>a</m:t>
                        </m:r>
                      </m:e>
                      <m:sub>
                        <m:r>
                          <a:rPr lang="en-US" altLang="zh-CN" sz="1800" b="0" i="1" dirty="0">
                            <a:latin typeface="Cambria Math" panose="02040503050406030204" pitchFamily="18" charset="0"/>
                            <a:ea typeface="微软雅黑" panose="020B0503020204020204" pitchFamily="34" charset="-122"/>
                          </a:rPr>
                          <m:t>1</m:t>
                        </m:r>
                      </m:sub>
                    </m:sSub>
                  </m:oMath>
                </a14:m>
                <a:r>
                  <a:rPr lang="en-US" altLang="zh-CN" sz="1800" dirty="0">
                    <a:ea typeface="微软雅黑" panose="020B0503020204020204" pitchFamily="34" charset="-122"/>
                  </a:rPr>
                  <a:t>(</a:t>
                </a:r>
                <a:r>
                  <a:rPr lang="zh-CN" altLang="en-US" sz="1800" dirty="0">
                    <a:ea typeface="微软雅黑" panose="020B0503020204020204" pitchFamily="34" charset="-122"/>
                  </a:rPr>
                  <a:t>它肯定是</a:t>
                </a:r>
                <a:r>
                  <a:rPr lang="en-US" altLang="zh-CN" sz="1800" dirty="0">
                    <a:ea typeface="微软雅黑" panose="020B0503020204020204" pitchFamily="34" charset="-122"/>
                  </a:rPr>
                  <a:t>1)</a:t>
                </a:r>
                <a:r>
                  <a:rPr lang="zh-CN" altLang="en-US" sz="1800" dirty="0">
                    <a:ea typeface="微软雅黑" panose="020B0503020204020204" pitchFamily="34" charset="-122"/>
                  </a:rPr>
                  <a:t>改为</a:t>
                </a:r>
                <a:r>
                  <a:rPr lang="en-US" altLang="zh-CN" sz="1800" dirty="0">
                    <a:ea typeface="微软雅黑" panose="020B0503020204020204" pitchFamily="34" charset="-122"/>
                  </a:rPr>
                  <a:t>0</a:t>
                </a:r>
                <a:r>
                  <a:rPr lang="zh-CN" altLang="en-US" sz="1800" dirty="0">
                    <a:ea typeface="微软雅黑" panose="020B0503020204020204" pitchFamily="34" charset="-122"/>
                  </a:rPr>
                  <a:t>时对应的桶。</a:t>
                </a:r>
                <a:endParaRPr lang="zh-CN" altLang="en-US" sz="1800" dirty="0">
                  <a:ea typeface="微软雅黑" panose="020B0503020204020204" pitchFamily="34" charset="-122"/>
                </a:endParaRPr>
              </a:p>
              <a:p>
                <a:pPr marL="0" lvl="1" indent="0">
                  <a:lnSpc>
                    <a:spcPct val="100000"/>
                  </a:lnSpc>
                  <a:spcBef>
                    <a:spcPts val="1000"/>
                  </a:spcBef>
                  <a:buNone/>
                </a:pPr>
                <a:endParaRPr lang="zh-CN" altLang="en-US" sz="1800" b="1" dirty="0">
                  <a:latin typeface="微软雅黑" panose="020B0503020204020204" pitchFamily="34" charset="-122"/>
                  <a:ea typeface="微软雅黑" panose="020B0503020204020204" pitchFamily="34" charset="-122"/>
                </a:endParaRPr>
              </a:p>
            </p:txBody>
          </p:sp>
        </mc:Choice>
        <mc:Fallback>
          <p:sp>
            <p:nvSpPr>
              <p:cNvPr id="6" name="内容占位符 5"/>
              <p:cNvSpPr>
                <a:spLocks noRot="1" noChangeAspect="1" noMove="1" noResize="1" noEditPoints="1" noAdjustHandles="1" noChangeArrowheads="1" noChangeShapeType="1" noTextEdit="1"/>
              </p:cNvSpPr>
              <p:nvPr>
                <p:ph idx="1"/>
              </p:nvPr>
            </p:nvSpPr>
            <p:spPr>
              <a:xfrm>
                <a:off x="397163" y="1219203"/>
                <a:ext cx="11464632" cy="5061560"/>
              </a:xfrm>
              <a:blipFill rotWithShape="1">
                <a:blip r:embed="rId1"/>
                <a:stretch>
                  <a:fillRect l="-3" r="5" b="12"/>
                </a:stretch>
              </a:blipFill>
            </p:spPr>
            <p:txBody>
              <a:bodyPr/>
              <a:lstStyle/>
              <a:p>
                <a:r>
                  <a:rPr lang="zh-CN" altLang="en-US">
                    <a:noFill/>
                  </a:rPr>
                  <a:t> </a:t>
                </a:r>
              </a:p>
            </p:txBody>
          </p:sp>
        </mc:Fallback>
      </mc:AlternateContent>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线性</a:t>
            </a:r>
            <a:r>
              <a:rPr lang="zh-CN" altLang="zh-CN"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aphicFrame>
        <p:nvGraphicFramePr>
          <p:cNvPr id="2" name="Group 4"/>
          <p:cNvGraphicFramePr>
            <a:graphicFrameLocks noGrp="1"/>
          </p:cNvGraphicFramePr>
          <p:nvPr/>
        </p:nvGraphicFramePr>
        <p:xfrm>
          <a:off x="4435910" y="4450545"/>
          <a:ext cx="1244600" cy="757555"/>
        </p:xfrm>
        <a:graphic>
          <a:graphicData uri="http://schemas.openxmlformats.org/drawingml/2006/table">
            <a:tbl>
              <a:tblPr/>
              <a:tblGrid>
                <a:gridCol w="1244600"/>
              </a:tblGrid>
              <a:tr h="37973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000(0)</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101(0)</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59"/>
          <p:cNvGraphicFramePr>
            <a:graphicFrameLocks noGrp="1"/>
          </p:cNvGraphicFramePr>
          <p:nvPr/>
        </p:nvGraphicFramePr>
        <p:xfrm>
          <a:off x="2759510" y="4907745"/>
          <a:ext cx="914400" cy="75723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7" name="Group 67"/>
              <p:cNvGraphicFramePr>
                <a:graphicFrameLocks noGrp="1"/>
              </p:cNvGraphicFramePr>
              <p:nvPr/>
            </p:nvGraphicFramePr>
            <p:xfrm>
              <a:off x="1516497" y="4717244"/>
              <a:ext cx="655638" cy="1138239"/>
            </p:xfrm>
            <a:graphic>
              <a:graphicData uri="http://schemas.openxmlformats.org/drawingml/2006/table">
                <a:tbl>
                  <a:tblPr/>
                  <a:tblGrid>
                    <a:gridCol w="655638"/>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=1</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=2</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=3</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7" name="Group 67"/>
              <p:cNvGraphicFramePr>
                <a:graphicFrameLocks noGrp="1"/>
              </p:cNvGraphicFramePr>
              <p:nvPr/>
            </p:nvGraphicFramePr>
            <p:xfrm>
              <a:off x="1516497" y="4717244"/>
              <a:ext cx="655638" cy="1138239"/>
            </p:xfrm>
            <a:graphic>
              <a:graphicData uri="http://schemas.openxmlformats.org/drawingml/2006/table">
                <a:tbl>
                  <a:tblPr/>
                  <a:tblGrid>
                    <a:gridCol w="655638"/>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=2</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=3</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sp>
        <p:nvSpPr>
          <p:cNvPr id="8" name="Line 40"/>
          <p:cNvSpPr/>
          <p:nvPr/>
        </p:nvSpPr>
        <p:spPr>
          <a:xfrm flipV="1">
            <a:off x="3278623" y="4923620"/>
            <a:ext cx="1204912" cy="212725"/>
          </a:xfrm>
          <a:prstGeom prst="line">
            <a:avLst/>
          </a:prstGeom>
          <a:ln w="9525" cap="flat" cmpd="sng">
            <a:solidFill>
              <a:schemeClr val="tx1"/>
            </a:solidFill>
            <a:prstDash val="solid"/>
            <a:round/>
            <a:headEnd type="none" w="med" len="med"/>
            <a:tailEnd type="triangle" w="med" len="med"/>
          </a:ln>
        </p:spPr>
      </p:sp>
      <p:sp>
        <p:nvSpPr>
          <p:cNvPr id="9" name="Rectangle 42"/>
          <p:cNvSpPr>
            <a:spLocks noChangeAspect="1"/>
          </p:cNvSpPr>
          <p:nvPr/>
        </p:nvSpPr>
        <p:spPr>
          <a:xfrm>
            <a:off x="5688448" y="4450545"/>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10" name="Text Box 44"/>
          <p:cNvSpPr txBox="1"/>
          <p:nvPr/>
        </p:nvSpPr>
        <p:spPr>
          <a:xfrm>
            <a:off x="2380891" y="4864235"/>
            <a:ext cx="354013"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a:t>
            </a:r>
            <a:endParaRPr lang="en-US" altLang="zh-CN" sz="2400" dirty="0">
              <a:latin typeface="Arial" panose="020B0604020202020204" pitchFamily="34" charset="0"/>
              <a:ea typeface="宋体" panose="02010600030101010101" pitchFamily="2" charset="-122"/>
            </a:endParaRPr>
          </a:p>
        </p:txBody>
      </p:sp>
      <p:sp>
        <p:nvSpPr>
          <p:cNvPr id="11" name="Text Box 45"/>
          <p:cNvSpPr txBox="1"/>
          <p:nvPr/>
        </p:nvSpPr>
        <p:spPr>
          <a:xfrm>
            <a:off x="2380891" y="5245235"/>
            <a:ext cx="354013"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1</a:t>
            </a:r>
            <a:endParaRPr lang="en-US" altLang="zh-CN" sz="2400" dirty="0">
              <a:latin typeface="Arial" panose="020B0604020202020204" pitchFamily="34" charset="0"/>
              <a:ea typeface="宋体" panose="02010600030101010101" pitchFamily="2" charset="-122"/>
            </a:endParaRPr>
          </a:p>
        </p:txBody>
      </p:sp>
      <p:sp>
        <p:nvSpPr>
          <p:cNvPr id="12" name="Line 47"/>
          <p:cNvSpPr/>
          <p:nvPr/>
        </p:nvSpPr>
        <p:spPr>
          <a:xfrm>
            <a:off x="3292910" y="5517345"/>
            <a:ext cx="1158875" cy="44450"/>
          </a:xfrm>
          <a:prstGeom prst="line">
            <a:avLst/>
          </a:prstGeom>
          <a:ln w="9525" cap="flat" cmpd="sng">
            <a:solidFill>
              <a:schemeClr val="tx1"/>
            </a:solidFill>
            <a:prstDash val="solid"/>
            <a:round/>
            <a:headEnd type="none" w="med" len="med"/>
            <a:tailEnd type="triangle" w="med" len="med"/>
          </a:ln>
        </p:spPr>
      </p:sp>
      <p:graphicFrame>
        <p:nvGraphicFramePr>
          <p:cNvPr id="13" name="Group 48"/>
          <p:cNvGraphicFramePr>
            <a:graphicFrameLocks noGrp="1"/>
          </p:cNvGraphicFramePr>
          <p:nvPr/>
        </p:nvGraphicFramePr>
        <p:xfrm>
          <a:off x="4435910" y="5288745"/>
          <a:ext cx="1244600" cy="757238"/>
        </p:xfrm>
        <a:graphic>
          <a:graphicData uri="http://schemas.openxmlformats.org/drawingml/2006/table">
            <a:tbl>
              <a:tblPr/>
              <a:tblGrid>
                <a:gridCol w="12446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 name="Rectangle 58"/>
          <p:cNvSpPr>
            <a:spLocks noChangeAspect="1"/>
          </p:cNvSpPr>
          <p:nvPr/>
        </p:nvSpPr>
        <p:spPr>
          <a:xfrm>
            <a:off x="5688448" y="5288745"/>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grpSp>
        <p:nvGrpSpPr>
          <p:cNvPr id="16" name="Group 72"/>
          <p:cNvGrpSpPr/>
          <p:nvPr/>
        </p:nvGrpSpPr>
        <p:grpSpPr>
          <a:xfrm>
            <a:off x="6900461" y="4394335"/>
            <a:ext cx="3908425" cy="1701800"/>
            <a:chOff x="2621" y="469"/>
            <a:chExt cx="2911" cy="859"/>
          </a:xfrm>
        </p:grpSpPr>
        <p:sp>
          <p:nvSpPr>
            <p:cNvPr id="17" name="AutoShape 39"/>
            <p:cNvSpPr/>
            <p:nvPr/>
          </p:nvSpPr>
          <p:spPr>
            <a:xfrm>
              <a:off x="2621" y="469"/>
              <a:ext cx="2911" cy="859"/>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18" name="Oval 40"/>
            <p:cNvSpPr/>
            <p:nvPr/>
          </p:nvSpPr>
          <p:spPr>
            <a:xfrm>
              <a:off x="2708" y="540"/>
              <a:ext cx="2736" cy="71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19" name="Text Box 84"/>
            <p:cNvSpPr/>
            <p:nvPr/>
          </p:nvSpPr>
          <p:spPr>
            <a:xfrm>
              <a:off x="2814" y="540"/>
              <a:ext cx="2521" cy="711"/>
            </a:xfrm>
            <a:prstGeom prst="roundRect">
              <a:avLst>
                <a:gd name="adj" fmla="val 16667"/>
              </a:avLst>
            </a:prstGeom>
            <a:noFill/>
            <a:ln w="9525">
              <a:noFill/>
            </a:ln>
          </p:spPr>
          <p:txBody>
            <a:bodyPr anchor="t">
              <a:spAutoFit/>
            </a:bodyPr>
            <a:lstStyle/>
            <a:p>
              <a:pPr algn="ctr"/>
              <a:r>
                <a:rPr lang="en-US" altLang="zh-CN" sz="1800" dirty="0">
                  <a:solidFill>
                    <a:srgbClr val="FFFFFF"/>
                  </a:solidFill>
                  <a:latin typeface="Arial" panose="020B0604020202020204" pitchFamily="34" charset="0"/>
                  <a:ea typeface="华文中宋" panose="02010600040101010101" pitchFamily="2" charset="-122"/>
                </a:rPr>
                <a:t>i-</a:t>
              </a:r>
              <a:r>
                <a:rPr lang="zh-CN" altLang="en-US" sz="1800" dirty="0">
                  <a:solidFill>
                    <a:srgbClr val="FFFFFF"/>
                  </a:solidFill>
                  <a:latin typeface="Arial" panose="020B0604020202020204" pitchFamily="34" charset="0"/>
                  <a:ea typeface="华文中宋" panose="02010600040101010101" pitchFamily="2" charset="-122"/>
                </a:rPr>
                <a:t>当前使用的散列函数的位数</a:t>
              </a:r>
              <a:endParaRPr lang="zh-CN" altLang="en-US" sz="1800" dirty="0">
                <a:solidFill>
                  <a:srgbClr val="FFFFFF"/>
                </a:solidFill>
                <a:latin typeface="Arial" panose="020B0604020202020204" pitchFamily="34" charset="0"/>
                <a:ea typeface="华文中宋" panose="02010600040101010101" pitchFamily="2" charset="-122"/>
              </a:endParaRPr>
            </a:p>
            <a:p>
              <a:pPr algn="ctr"/>
              <a:r>
                <a:rPr lang="en-US" altLang="zh-CN" dirty="0">
                  <a:solidFill>
                    <a:srgbClr val="FFFFFF"/>
                  </a:solidFill>
                  <a:latin typeface="Arial" panose="020B0604020202020204" pitchFamily="34" charset="0"/>
                  <a:ea typeface="华文中宋" panose="02010600040101010101" pitchFamily="2" charset="-122"/>
                </a:rPr>
                <a:t>n-</a:t>
              </a:r>
              <a:r>
                <a:rPr lang="zh-CN" altLang="en-US" dirty="0">
                  <a:solidFill>
                    <a:srgbClr val="FFFFFF"/>
                  </a:solidFill>
                  <a:latin typeface="Arial" panose="020B0604020202020204" pitchFamily="34" charset="0"/>
                  <a:ea typeface="华文中宋" panose="02010600040101010101" pitchFamily="2" charset="-122"/>
                </a:rPr>
                <a:t>当前的桶数</a:t>
              </a:r>
              <a:endParaRPr lang="zh-CN" altLang="en-US" dirty="0">
                <a:solidFill>
                  <a:srgbClr val="FFFFFF"/>
                </a:solidFill>
                <a:latin typeface="Arial" panose="020B0604020202020204" pitchFamily="34" charset="0"/>
                <a:ea typeface="华文中宋" panose="02010600040101010101" pitchFamily="2" charset="-122"/>
              </a:endParaRPr>
            </a:p>
            <a:p>
              <a:pPr algn="ctr"/>
              <a:r>
                <a:rPr lang="en-US" altLang="zh-CN" dirty="0">
                  <a:solidFill>
                    <a:srgbClr val="FFFFFF"/>
                  </a:solidFill>
                  <a:latin typeface="Arial" panose="020B0604020202020204" pitchFamily="34" charset="0"/>
                  <a:ea typeface="华文中宋" panose="02010600040101010101" pitchFamily="2" charset="-122"/>
                </a:rPr>
                <a:t>r-</a:t>
              </a:r>
              <a:r>
                <a:rPr lang="zh-CN" altLang="en-US" dirty="0">
                  <a:solidFill>
                    <a:srgbClr val="FFFFFF"/>
                  </a:solidFill>
                  <a:latin typeface="Arial" panose="020B0604020202020204" pitchFamily="34" charset="0"/>
                  <a:ea typeface="华文中宋" panose="02010600040101010101" pitchFamily="2" charset="-122"/>
                </a:rPr>
                <a:t>当前散列表中的记录总数</a:t>
              </a:r>
              <a:endParaRPr lang="zh-CN" altLang="en-US" dirty="0">
                <a:solidFill>
                  <a:srgbClr val="FFFFFF"/>
                </a:solidFill>
                <a:latin typeface="Arial" panose="020B0604020202020204" pitchFamily="34" charset="0"/>
                <a:ea typeface="华文中宋" panose="02010600040101010101" pitchFamily="2" charset="-122"/>
              </a:endParaRPr>
            </a:p>
            <a:p>
              <a:pPr algn="ctr"/>
              <a:r>
                <a:rPr lang="zh-CN" altLang="en-US" dirty="0">
                  <a:solidFill>
                    <a:srgbClr val="FFFFFF"/>
                  </a:solidFill>
                  <a:latin typeface="Arial" panose="020B0604020202020204" pitchFamily="34" charset="0"/>
                  <a:ea typeface="华文中宋" panose="02010600040101010101" pitchFamily="2" charset="-122"/>
                </a:rPr>
                <a:t>要求 </a:t>
              </a:r>
              <a:r>
                <a:rPr lang="en-US" altLang="zh-CN" dirty="0">
                  <a:solidFill>
                    <a:srgbClr val="FFFFFF"/>
                  </a:solidFill>
                  <a:latin typeface="Arial" panose="020B0604020202020204" pitchFamily="34" charset="0"/>
                  <a:ea typeface="华文中宋" panose="02010600040101010101" pitchFamily="2" charset="-122"/>
                </a:rPr>
                <a:t>r&lt;=1.7n</a:t>
              </a:r>
              <a:endParaRPr lang="en-US" altLang="zh-CN" dirty="0">
                <a:solidFill>
                  <a:srgbClr val="FFFFFF"/>
                </a:solidFill>
                <a:latin typeface="Arial" panose="020B0604020202020204" pitchFamily="34" charset="0"/>
                <a:ea typeface="华文中宋" panose="02010600040101010101" pitchFamily="2" charset="-122"/>
              </a:endParaRPr>
            </a:p>
          </p:txBody>
        </p:sp>
      </p:grpSp>
      <p:sp>
        <p:nvSpPr>
          <p:cNvPr id="3" name="灯片编号占位符 2"/>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操作示例</a:t>
            </a:r>
            <a:endParaRPr lang="en-US" altLang="zh-CN" sz="2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插入 </a:t>
            </a:r>
            <a:r>
              <a:rPr lang="en-US" altLang="zh-CN" sz="1800" b="0" dirty="0">
                <a:latin typeface="微软雅黑" panose="020B0503020204020204" pitchFamily="34" charset="-122"/>
                <a:ea typeface="微软雅黑" panose="020B0503020204020204" pitchFamily="34" charset="-122"/>
              </a:rPr>
              <a:t>0101</a:t>
            </a:r>
            <a:r>
              <a:rPr lang="zh-CN" altLang="en-US" sz="1800" b="0" dirty="0">
                <a:latin typeface="微软雅黑" panose="020B0503020204020204" pitchFamily="34" charset="-122"/>
                <a:ea typeface="微软雅黑" panose="020B0503020204020204" pitchFamily="34" charset="-122"/>
              </a:rPr>
              <a:t>的记录</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如右图。</a:t>
            </a:r>
            <a:endParaRPr lang="zh-CN" altLang="en-US" sz="18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此时</a:t>
            </a:r>
            <a:r>
              <a:rPr lang="en-US" altLang="zh-CN" sz="1800" b="0" dirty="0">
                <a:latin typeface="微软雅黑" panose="020B0503020204020204" pitchFamily="34" charset="-122"/>
                <a:ea typeface="微软雅黑" panose="020B0503020204020204" pitchFamily="34" charset="-122"/>
              </a:rPr>
              <a:t>r/n=4/2=2&gt;1.7, </a:t>
            </a:r>
            <a:r>
              <a:rPr lang="zh-CN" altLang="en-US" sz="1800" b="0" dirty="0">
                <a:latin typeface="微软雅黑" panose="020B0503020204020204" pitchFamily="34" charset="-122"/>
                <a:ea typeface="微软雅黑" panose="020B0503020204020204" pitchFamily="34" charset="-122"/>
              </a:rPr>
              <a:t>桶数需要增</a:t>
            </a:r>
            <a:r>
              <a:rPr lang="en-US" altLang="zh-CN" sz="1800" b="0" dirty="0">
                <a:latin typeface="微软雅黑" panose="020B0503020204020204" pitchFamily="34" charset="-122"/>
                <a:ea typeface="微软雅黑" panose="020B0503020204020204" pitchFamily="34" charset="-122"/>
              </a:rPr>
              <a:t>1, </a:t>
            </a:r>
            <a:r>
              <a:rPr lang="zh-CN" altLang="en-US" sz="1800" b="0" dirty="0">
                <a:latin typeface="微软雅黑" panose="020B0503020204020204" pitchFamily="34" charset="-122"/>
                <a:ea typeface="微软雅黑" panose="020B0503020204020204" pitchFamily="34" charset="-122"/>
              </a:rPr>
              <a:t>即要增加一桶</a:t>
            </a:r>
            <a:r>
              <a:rPr lang="en-US" altLang="zh-CN" sz="1800" b="0" dirty="0">
                <a:latin typeface="微软雅黑" panose="020B0503020204020204" pitchFamily="34" charset="-122"/>
                <a:ea typeface="微软雅黑" panose="020B0503020204020204" pitchFamily="34" charset="-122"/>
              </a:rPr>
              <a:t>,n=3</a:t>
            </a:r>
            <a:endParaRPr lang="en-US" altLang="zh-CN" sz="18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需要分裂。</a:t>
            </a:r>
            <a:r>
              <a:rPr lang="en-US" altLang="zh-CN" sz="1800" b="0" dirty="0">
                <a:latin typeface="微软雅黑" panose="020B0503020204020204" pitchFamily="34" charset="-122"/>
                <a:ea typeface="微软雅黑" panose="020B0503020204020204" pitchFamily="34" charset="-122"/>
              </a:rPr>
              <a:t>10</a:t>
            </a:r>
            <a:r>
              <a:rPr lang="zh-CN" altLang="en-US" sz="1800" b="0" dirty="0">
                <a:latin typeface="微软雅黑" panose="020B0503020204020204" pitchFamily="34" charset="-122"/>
                <a:ea typeface="微软雅黑" panose="020B0503020204020204" pitchFamily="34" charset="-122"/>
              </a:rPr>
              <a:t>桶要由</a:t>
            </a:r>
            <a:r>
              <a:rPr lang="en-US" altLang="zh-CN" sz="1800" b="0" dirty="0">
                <a:latin typeface="微软雅黑" panose="020B0503020204020204" pitchFamily="34" charset="-122"/>
                <a:ea typeface="微软雅黑" panose="020B0503020204020204" pitchFamily="34" charset="-122"/>
              </a:rPr>
              <a:t>00</a:t>
            </a:r>
            <a:r>
              <a:rPr lang="zh-CN" altLang="en-US" sz="1800" b="0" dirty="0">
                <a:latin typeface="微软雅黑" panose="020B0503020204020204" pitchFamily="34" charset="-122"/>
                <a:ea typeface="微软雅黑" panose="020B0503020204020204" pitchFamily="34" charset="-122"/>
              </a:rPr>
              <a:t>桶分裂而来</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低位相同而最高位不同的那一个桶</a:t>
            </a:r>
            <a:r>
              <a:rPr lang="en-US" altLang="zh-CN"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线性</a:t>
            </a:r>
            <a:r>
              <a:rPr lang="zh-CN" altLang="zh-CN"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aphicFrame>
        <p:nvGraphicFramePr>
          <p:cNvPr id="20" name="Group 3"/>
          <p:cNvGraphicFramePr>
            <a:graphicFrameLocks noGrp="1"/>
          </p:cNvGraphicFramePr>
          <p:nvPr/>
        </p:nvGraphicFramePr>
        <p:xfrm>
          <a:off x="2569972" y="4421978"/>
          <a:ext cx="1244600" cy="757238"/>
        </p:xfrm>
        <a:graphic>
          <a:graphicData uri="http://schemas.openxmlformats.org/drawingml/2006/table">
            <a:tbl>
              <a:tblPr/>
              <a:tblGrid>
                <a:gridCol w="12446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000(0)</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101(0)</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1" name="Group 13"/>
          <p:cNvGraphicFramePr>
            <a:graphicFrameLocks noGrp="1"/>
          </p:cNvGraphicFramePr>
          <p:nvPr/>
        </p:nvGraphicFramePr>
        <p:xfrm>
          <a:off x="893572" y="4879178"/>
          <a:ext cx="914400" cy="75723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22" name="Group 21"/>
              <p:cNvGraphicFramePr>
                <a:graphicFrameLocks noGrp="1"/>
              </p:cNvGraphicFramePr>
              <p:nvPr/>
            </p:nvGraphicFramePr>
            <p:xfrm>
              <a:off x="906272" y="3491703"/>
              <a:ext cx="655637" cy="1138239"/>
            </p:xfrm>
            <a:graphic>
              <a:graphicData uri="http://schemas.openxmlformats.org/drawingml/2006/table">
                <a:tbl>
                  <a:tblPr/>
                  <a:tblGrid>
                    <a:gridCol w="655637"/>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=1</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=2</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=3</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22" name="Group 21"/>
              <p:cNvGraphicFramePr>
                <a:graphicFrameLocks noGrp="1"/>
              </p:cNvGraphicFramePr>
              <p:nvPr/>
            </p:nvGraphicFramePr>
            <p:xfrm>
              <a:off x="906272" y="3491703"/>
              <a:ext cx="655637" cy="1138239"/>
            </p:xfrm>
            <a:graphic>
              <a:graphicData uri="http://schemas.openxmlformats.org/drawingml/2006/table">
                <a:tbl>
                  <a:tblPr/>
                  <a:tblGrid>
                    <a:gridCol w="655637"/>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=2</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=3</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sp>
        <p:nvSpPr>
          <p:cNvPr id="23" name="Line 31"/>
          <p:cNvSpPr/>
          <p:nvPr/>
        </p:nvSpPr>
        <p:spPr>
          <a:xfrm flipV="1">
            <a:off x="1412684" y="4895053"/>
            <a:ext cx="1204913" cy="212725"/>
          </a:xfrm>
          <a:prstGeom prst="line">
            <a:avLst/>
          </a:prstGeom>
          <a:ln w="9525" cap="flat" cmpd="sng">
            <a:solidFill>
              <a:schemeClr val="tx1"/>
            </a:solidFill>
            <a:prstDash val="solid"/>
            <a:round/>
            <a:headEnd type="none" w="med" len="med"/>
            <a:tailEnd type="triangle" w="med" len="med"/>
          </a:ln>
        </p:spPr>
      </p:sp>
      <p:sp>
        <p:nvSpPr>
          <p:cNvPr id="24" name="Rectangle 32"/>
          <p:cNvSpPr>
            <a:spLocks noChangeAspect="1"/>
          </p:cNvSpPr>
          <p:nvPr/>
        </p:nvSpPr>
        <p:spPr>
          <a:xfrm>
            <a:off x="3822509" y="442197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25" name="Text Box 33"/>
          <p:cNvSpPr txBox="1"/>
          <p:nvPr/>
        </p:nvSpPr>
        <p:spPr>
          <a:xfrm>
            <a:off x="487172" y="4766466"/>
            <a:ext cx="354012"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a:t>
            </a:r>
            <a:endParaRPr lang="en-US" altLang="zh-CN" sz="2400" dirty="0">
              <a:latin typeface="Arial" panose="020B0604020202020204" pitchFamily="34" charset="0"/>
              <a:ea typeface="宋体" panose="02010600030101010101" pitchFamily="2" charset="-122"/>
            </a:endParaRPr>
          </a:p>
        </p:txBody>
      </p:sp>
      <p:sp>
        <p:nvSpPr>
          <p:cNvPr id="26" name="Text Box 34"/>
          <p:cNvSpPr txBox="1"/>
          <p:nvPr/>
        </p:nvSpPr>
        <p:spPr>
          <a:xfrm>
            <a:off x="487172" y="5147466"/>
            <a:ext cx="354012"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1</a:t>
            </a:r>
            <a:endParaRPr lang="en-US" altLang="zh-CN" sz="2400" dirty="0">
              <a:latin typeface="Arial" panose="020B0604020202020204" pitchFamily="34" charset="0"/>
              <a:ea typeface="宋体" panose="02010600030101010101" pitchFamily="2" charset="-122"/>
            </a:endParaRPr>
          </a:p>
        </p:txBody>
      </p:sp>
      <p:sp>
        <p:nvSpPr>
          <p:cNvPr id="27" name="Line 35"/>
          <p:cNvSpPr/>
          <p:nvPr/>
        </p:nvSpPr>
        <p:spPr>
          <a:xfrm>
            <a:off x="1426972" y="5488778"/>
            <a:ext cx="1158875" cy="44450"/>
          </a:xfrm>
          <a:prstGeom prst="line">
            <a:avLst/>
          </a:prstGeom>
          <a:ln w="9525" cap="flat" cmpd="sng">
            <a:solidFill>
              <a:schemeClr val="tx1"/>
            </a:solidFill>
            <a:prstDash val="solid"/>
            <a:round/>
            <a:headEnd type="none" w="med" len="med"/>
            <a:tailEnd type="triangle" w="med" len="med"/>
          </a:ln>
        </p:spPr>
      </p:sp>
      <p:graphicFrame>
        <p:nvGraphicFramePr>
          <p:cNvPr id="28" name="Group 36"/>
          <p:cNvGraphicFramePr>
            <a:graphicFrameLocks noGrp="1"/>
          </p:cNvGraphicFramePr>
          <p:nvPr/>
        </p:nvGraphicFramePr>
        <p:xfrm>
          <a:off x="2569972" y="5260178"/>
          <a:ext cx="1244600" cy="757238"/>
        </p:xfrm>
        <a:graphic>
          <a:graphicData uri="http://schemas.openxmlformats.org/drawingml/2006/table">
            <a:tbl>
              <a:tblPr/>
              <a:tblGrid>
                <a:gridCol w="12446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9" name="Rectangle 46"/>
          <p:cNvSpPr>
            <a:spLocks noChangeAspect="1"/>
          </p:cNvSpPr>
          <p:nvPr/>
        </p:nvSpPr>
        <p:spPr>
          <a:xfrm>
            <a:off x="3822509" y="526017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graphicFrame>
        <p:nvGraphicFramePr>
          <p:cNvPr id="30" name="Group 53"/>
          <p:cNvGraphicFramePr>
            <a:graphicFrameLocks noGrp="1"/>
          </p:cNvGraphicFramePr>
          <p:nvPr/>
        </p:nvGraphicFramePr>
        <p:xfrm>
          <a:off x="6268461" y="4359898"/>
          <a:ext cx="1346200" cy="757238"/>
        </p:xfrm>
        <a:graphic>
          <a:graphicData uri="http://schemas.openxmlformats.org/drawingml/2006/table">
            <a:tbl>
              <a:tblPr/>
              <a:tblGrid>
                <a:gridCol w="13462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000(0)</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101(0)</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1" name="Group 63"/>
          <p:cNvGraphicFramePr>
            <a:graphicFrameLocks noGrp="1"/>
          </p:cNvGraphicFramePr>
          <p:nvPr/>
        </p:nvGraphicFramePr>
        <p:xfrm>
          <a:off x="4592061" y="4817098"/>
          <a:ext cx="914400" cy="75723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33" name="Group 71"/>
              <p:cNvGraphicFramePr>
                <a:graphicFrameLocks noGrp="1"/>
              </p:cNvGraphicFramePr>
              <p:nvPr/>
            </p:nvGraphicFramePr>
            <p:xfrm>
              <a:off x="4604761" y="3429623"/>
              <a:ext cx="655637" cy="1138239"/>
            </p:xfrm>
            <a:graphic>
              <a:graphicData uri="http://schemas.openxmlformats.org/drawingml/2006/table">
                <a:tbl>
                  <a:tblPr/>
                  <a:tblGrid>
                    <a:gridCol w="655637"/>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=1</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=2</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=4</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33" name="Group 71"/>
              <p:cNvGraphicFramePr>
                <a:graphicFrameLocks noGrp="1"/>
              </p:cNvGraphicFramePr>
              <p:nvPr/>
            </p:nvGraphicFramePr>
            <p:xfrm>
              <a:off x="4604761" y="3429623"/>
              <a:ext cx="655637" cy="1138239"/>
            </p:xfrm>
            <a:graphic>
              <a:graphicData uri="http://schemas.openxmlformats.org/drawingml/2006/table">
                <a:tbl>
                  <a:tblPr/>
                  <a:tblGrid>
                    <a:gridCol w="655637"/>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=2</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=4</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sp>
        <p:nvSpPr>
          <p:cNvPr id="34" name="Line 81"/>
          <p:cNvSpPr/>
          <p:nvPr/>
        </p:nvSpPr>
        <p:spPr>
          <a:xfrm flipV="1">
            <a:off x="5111173" y="4832973"/>
            <a:ext cx="1204913" cy="212725"/>
          </a:xfrm>
          <a:prstGeom prst="line">
            <a:avLst/>
          </a:prstGeom>
          <a:ln w="9525" cap="flat" cmpd="sng">
            <a:solidFill>
              <a:schemeClr val="tx1"/>
            </a:solidFill>
            <a:prstDash val="solid"/>
            <a:round/>
            <a:headEnd type="none" w="med" len="med"/>
            <a:tailEnd type="triangle" w="med" len="med"/>
          </a:ln>
        </p:spPr>
      </p:sp>
      <p:sp>
        <p:nvSpPr>
          <p:cNvPr id="35" name="Rectangle 82"/>
          <p:cNvSpPr>
            <a:spLocks noChangeAspect="1"/>
          </p:cNvSpPr>
          <p:nvPr/>
        </p:nvSpPr>
        <p:spPr>
          <a:xfrm>
            <a:off x="7624186" y="435989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36" name="Text Box 83"/>
          <p:cNvSpPr txBox="1"/>
          <p:nvPr/>
        </p:nvSpPr>
        <p:spPr>
          <a:xfrm>
            <a:off x="4226936" y="4766298"/>
            <a:ext cx="354012"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a:t>
            </a:r>
            <a:endParaRPr lang="en-US" altLang="zh-CN" sz="2400" dirty="0">
              <a:latin typeface="Arial" panose="020B0604020202020204" pitchFamily="34" charset="0"/>
              <a:ea typeface="宋体" panose="02010600030101010101" pitchFamily="2" charset="-122"/>
            </a:endParaRPr>
          </a:p>
        </p:txBody>
      </p:sp>
      <p:sp>
        <p:nvSpPr>
          <p:cNvPr id="37" name="Text Box 84"/>
          <p:cNvSpPr txBox="1"/>
          <p:nvPr/>
        </p:nvSpPr>
        <p:spPr>
          <a:xfrm>
            <a:off x="4226936" y="5147298"/>
            <a:ext cx="354012"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1</a:t>
            </a:r>
            <a:endParaRPr lang="en-US" altLang="zh-CN" sz="2400" dirty="0">
              <a:latin typeface="Arial" panose="020B0604020202020204" pitchFamily="34" charset="0"/>
              <a:ea typeface="宋体" panose="02010600030101010101" pitchFamily="2" charset="-122"/>
            </a:endParaRPr>
          </a:p>
        </p:txBody>
      </p:sp>
      <p:sp>
        <p:nvSpPr>
          <p:cNvPr id="38" name="Line 85"/>
          <p:cNvSpPr/>
          <p:nvPr/>
        </p:nvSpPr>
        <p:spPr>
          <a:xfrm>
            <a:off x="5125461" y="5426698"/>
            <a:ext cx="1158875" cy="44450"/>
          </a:xfrm>
          <a:prstGeom prst="line">
            <a:avLst/>
          </a:prstGeom>
          <a:ln w="9525" cap="flat" cmpd="sng">
            <a:solidFill>
              <a:schemeClr val="tx1"/>
            </a:solidFill>
            <a:prstDash val="solid"/>
            <a:round/>
            <a:headEnd type="none" w="med" len="med"/>
            <a:tailEnd type="triangle" w="med" len="med"/>
          </a:ln>
        </p:spPr>
      </p:sp>
      <p:graphicFrame>
        <p:nvGraphicFramePr>
          <p:cNvPr id="39" name="Group 86"/>
          <p:cNvGraphicFramePr>
            <a:graphicFrameLocks noGrp="1"/>
          </p:cNvGraphicFramePr>
          <p:nvPr/>
        </p:nvGraphicFramePr>
        <p:xfrm>
          <a:off x="6268461" y="5198098"/>
          <a:ext cx="1346200" cy="773113"/>
        </p:xfrm>
        <a:graphic>
          <a:graphicData uri="http://schemas.openxmlformats.org/drawingml/2006/table">
            <a:tbl>
              <a:tblPr/>
              <a:tblGrid>
                <a:gridCol w="13462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rPr>
                        <a:t>010(1)</a:t>
                      </a:r>
                      <a:endPar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0" name="Rectangle 96"/>
          <p:cNvSpPr>
            <a:spLocks noChangeAspect="1"/>
          </p:cNvSpPr>
          <p:nvPr/>
        </p:nvSpPr>
        <p:spPr>
          <a:xfrm>
            <a:off x="7624186" y="519809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grpSp>
        <p:nvGrpSpPr>
          <p:cNvPr id="41" name="Group 47"/>
          <p:cNvGrpSpPr/>
          <p:nvPr/>
        </p:nvGrpSpPr>
        <p:grpSpPr>
          <a:xfrm>
            <a:off x="8052997" y="4088435"/>
            <a:ext cx="3908425" cy="1701800"/>
            <a:chOff x="2621" y="469"/>
            <a:chExt cx="2911" cy="859"/>
          </a:xfrm>
        </p:grpSpPr>
        <p:sp>
          <p:nvSpPr>
            <p:cNvPr id="42" name="AutoShape 39"/>
            <p:cNvSpPr/>
            <p:nvPr/>
          </p:nvSpPr>
          <p:spPr>
            <a:xfrm>
              <a:off x="2621" y="469"/>
              <a:ext cx="2911" cy="859"/>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43" name="Oval 40"/>
            <p:cNvSpPr/>
            <p:nvPr/>
          </p:nvSpPr>
          <p:spPr>
            <a:xfrm>
              <a:off x="2708" y="540"/>
              <a:ext cx="2736" cy="71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44" name="Text Box 84"/>
                <p:cNvSpPr/>
                <p:nvPr/>
              </p:nvSpPr>
              <p:spPr>
                <a:xfrm>
                  <a:off x="2814" y="540"/>
                  <a:ext cx="2521" cy="670"/>
                </a:xfrm>
                <a:prstGeom prst="roundRect">
                  <a:avLst>
                    <a:gd name="adj" fmla="val 16667"/>
                  </a:avLst>
                </a:prstGeom>
                <a:noFill/>
                <a:ln w="9525">
                  <a:noFill/>
                </a:ln>
              </p:spPr>
              <p:txBody>
                <a:bodyPr anchor="t">
                  <a:spAutoFit/>
                </a:bodyPr>
                <a:lstStyle/>
                <a:p>
                  <a:pPr algn="ctr"/>
                  <a14:m>
                    <m:oMath xmlns:m="http://schemas.openxmlformats.org/officeDocument/2006/math">
                      <m:r>
                        <a:rPr lang="en-US" altLang="zh-CN" dirty="0">
                          <a:solidFill>
                            <a:srgbClr val="FFFFFF"/>
                          </a:solidFill>
                          <a:latin typeface="Arial" panose="020B0604020202020204" pitchFamily="34" charset="0"/>
                          <a:ea typeface="华文中宋" panose="02010600040101010101" pitchFamily="2" charset="-122"/>
                        </a:rPr>
                        <m:t>𝒊</m:t>
                      </m:r>
                      <m:r>
                        <a:rPr lang="en-US" altLang="zh-CN" dirty="0">
                          <a:solidFill>
                            <a:srgbClr val="FFFFFF"/>
                          </a:solidFill>
                          <a:latin typeface="Arial" panose="020B0604020202020204" pitchFamily="34" charset="0"/>
                          <a:ea typeface="华文中宋" panose="02010600040101010101" pitchFamily="2" charset="-122"/>
                        </a:rPr>
                        <m:t> </m:t>
                      </m:r>
                    </m:oMath>
                  </a14:m>
                  <a:r>
                    <a:rPr lang="en-US" altLang="zh-CN" sz="1800" dirty="0">
                      <a:solidFill>
                        <a:srgbClr val="FFFFFF"/>
                      </a:solidFill>
                      <a:latin typeface="Arial" panose="020B0604020202020204" pitchFamily="34" charset="0"/>
                      <a:ea typeface="华文中宋" panose="02010600040101010101" pitchFamily="2" charset="-122"/>
                    </a:rPr>
                    <a:t>-</a:t>
                  </a:r>
                  <a:r>
                    <a:rPr lang="zh-CN" altLang="en-US" sz="1800" dirty="0">
                      <a:solidFill>
                        <a:srgbClr val="FFFFFF"/>
                      </a:solidFill>
                      <a:latin typeface="Arial" panose="020B0604020202020204" pitchFamily="34" charset="0"/>
                      <a:ea typeface="华文中宋" panose="02010600040101010101" pitchFamily="2" charset="-122"/>
                    </a:rPr>
                    <a:t>当前使用的散列函数的位数</a:t>
                  </a:r>
                  <a:endParaRPr lang="zh-CN" altLang="en-US" sz="1800" dirty="0">
                    <a:solidFill>
                      <a:srgbClr val="FFFFFF"/>
                    </a:solidFill>
                    <a:latin typeface="Arial" panose="020B0604020202020204" pitchFamily="34" charset="0"/>
                    <a:ea typeface="华文中宋" panose="02010600040101010101" pitchFamily="2" charset="-122"/>
                  </a:endParaRPr>
                </a:p>
                <a:p>
                  <a:pPr algn="ctr"/>
                  <a:r>
                    <a:rPr lang="en-US" altLang="zh-CN" dirty="0">
                      <a:solidFill>
                        <a:srgbClr val="FFFFFF"/>
                      </a:solidFill>
                      <a:latin typeface="Arial" panose="020B0604020202020204" pitchFamily="34" charset="0"/>
                      <a:ea typeface="华文中宋" panose="02010600040101010101" pitchFamily="2" charset="-122"/>
                    </a:rPr>
                    <a:t>n-</a:t>
                  </a:r>
                  <a:r>
                    <a:rPr lang="zh-CN" altLang="en-US" dirty="0">
                      <a:solidFill>
                        <a:srgbClr val="FFFFFF"/>
                      </a:solidFill>
                      <a:latin typeface="Arial" panose="020B0604020202020204" pitchFamily="34" charset="0"/>
                      <a:ea typeface="华文中宋" panose="02010600040101010101" pitchFamily="2" charset="-122"/>
                    </a:rPr>
                    <a:t>当前的桶数</a:t>
                  </a:r>
                  <a:endParaRPr lang="zh-CN" altLang="en-US" dirty="0">
                    <a:solidFill>
                      <a:srgbClr val="FFFFFF"/>
                    </a:solidFill>
                    <a:latin typeface="Arial" panose="020B0604020202020204" pitchFamily="34" charset="0"/>
                    <a:ea typeface="华文中宋" panose="02010600040101010101" pitchFamily="2" charset="-122"/>
                  </a:endParaRPr>
                </a:p>
                <a:p>
                  <a:pPr algn="ctr"/>
                  <a:r>
                    <a:rPr lang="en-US" altLang="zh-CN" dirty="0">
                      <a:solidFill>
                        <a:srgbClr val="FFFFFF"/>
                      </a:solidFill>
                      <a:latin typeface="Arial" panose="020B0604020202020204" pitchFamily="34" charset="0"/>
                      <a:ea typeface="华文中宋" panose="02010600040101010101" pitchFamily="2" charset="-122"/>
                    </a:rPr>
                    <a:t>r-</a:t>
                  </a:r>
                  <a:r>
                    <a:rPr lang="zh-CN" altLang="en-US" dirty="0">
                      <a:solidFill>
                        <a:srgbClr val="FFFFFF"/>
                      </a:solidFill>
                      <a:latin typeface="Arial" panose="020B0604020202020204" pitchFamily="34" charset="0"/>
                      <a:ea typeface="华文中宋" panose="02010600040101010101" pitchFamily="2" charset="-122"/>
                    </a:rPr>
                    <a:t>当前散列表中的记录总数</a:t>
                  </a:r>
                  <a:endParaRPr lang="zh-CN" altLang="en-US" dirty="0">
                    <a:solidFill>
                      <a:srgbClr val="FFFFFF"/>
                    </a:solidFill>
                    <a:latin typeface="Arial" panose="020B0604020202020204" pitchFamily="34" charset="0"/>
                    <a:ea typeface="华文中宋" panose="02010600040101010101" pitchFamily="2" charset="-122"/>
                  </a:endParaRPr>
                </a:p>
                <a:p>
                  <a:pPr algn="ctr"/>
                  <a:r>
                    <a:rPr lang="zh-CN" altLang="en-US" dirty="0">
                      <a:solidFill>
                        <a:srgbClr val="FFFFFF"/>
                      </a:solidFill>
                      <a:latin typeface="Arial" panose="020B0604020202020204" pitchFamily="34" charset="0"/>
                      <a:ea typeface="华文中宋" panose="02010600040101010101" pitchFamily="2" charset="-122"/>
                    </a:rPr>
                    <a:t>要求 </a:t>
                  </a:r>
                  <a:r>
                    <a:rPr lang="en-US" altLang="zh-CN" dirty="0">
                      <a:solidFill>
                        <a:srgbClr val="FFFFFF"/>
                      </a:solidFill>
                      <a:latin typeface="Arial" panose="020B0604020202020204" pitchFamily="34" charset="0"/>
                      <a:ea typeface="华文中宋" panose="02010600040101010101" pitchFamily="2" charset="-122"/>
                    </a:rPr>
                    <a:t>r&lt;=1.7n</a:t>
                  </a:r>
                  <a:endParaRPr lang="en-US" altLang="zh-CN" dirty="0">
                    <a:solidFill>
                      <a:srgbClr val="FFFFFF"/>
                    </a:solidFill>
                    <a:latin typeface="Arial" panose="020B0604020202020204" pitchFamily="34" charset="0"/>
                    <a:ea typeface="华文中宋" panose="02010600040101010101" pitchFamily="2" charset="-122"/>
                  </a:endParaRPr>
                </a:p>
              </p:txBody>
            </p:sp>
          </mc:Choice>
          <mc:Fallback>
            <p:sp>
              <p:nvSpPr>
                <p:cNvPr id="44" name="Text Box 84"/>
                <p:cNvSpPr>
                  <a:spLocks noRot="1" noChangeAspect="1" noMove="1" noResize="1" noEditPoints="1" noAdjustHandles="1" noChangeArrowheads="1" noChangeShapeType="1" noTextEdit="1"/>
                </p:cNvSpPr>
                <p:nvPr/>
              </p:nvSpPr>
              <p:spPr>
                <a:xfrm>
                  <a:off x="2814" y="540"/>
                  <a:ext cx="2521" cy="670"/>
                </a:xfrm>
                <a:prstGeom prst="roundRect">
                  <a:avLst>
                    <a:gd name="adj" fmla="val 16667"/>
                  </a:avLst>
                </a:prstGeom>
                <a:blipFill rotWithShape="1">
                  <a:blip r:embed="rId3"/>
                </a:blipFill>
                <a:ln w="9525">
                  <a:noFill/>
                </a:ln>
              </p:spPr>
              <p:txBody>
                <a:bodyPr/>
                <a:lstStyle/>
                <a:p>
                  <a:r>
                    <a:rPr lang="zh-CN" altLang="en-US">
                      <a:noFill/>
                    </a:rPr>
                    <a:t> </a:t>
                  </a:r>
                </a:p>
              </p:txBody>
            </p:sp>
          </mc:Fallback>
        </mc:AlternateContent>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ppt_x"/>
                                          </p:val>
                                        </p:tav>
                                        <p:tav tm="100000">
                                          <p:val>
                                            <p:strVal val="#ppt_x"/>
                                          </p:val>
                                        </p:tav>
                                      </p:tavLst>
                                    </p:anim>
                                    <p:anim calcmode="lin" valueType="num">
                                      <p:cBhvr additive="base">
                                        <p:cTn id="16" dur="500" fill="hold"/>
                                        <p:tgtEl>
                                          <p:spTgt spid="3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500" fill="hold"/>
                                        <p:tgtEl>
                                          <p:spTgt spid="34"/>
                                        </p:tgtEl>
                                        <p:attrNameLst>
                                          <p:attrName>ppt_x</p:attrName>
                                        </p:attrNameLst>
                                      </p:cBhvr>
                                      <p:tavLst>
                                        <p:tav tm="0">
                                          <p:val>
                                            <p:strVal val="#ppt_x"/>
                                          </p:val>
                                        </p:tav>
                                        <p:tav tm="100000">
                                          <p:val>
                                            <p:strVal val="#ppt_x"/>
                                          </p:val>
                                        </p:tav>
                                      </p:tavLst>
                                    </p:anim>
                                    <p:anim calcmode="lin" valueType="num">
                                      <p:cBhvr additive="base">
                                        <p:cTn id="20" dur="500" fill="hold"/>
                                        <p:tgtEl>
                                          <p:spTgt spid="3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additive="base">
                                        <p:cTn id="23" dur="500" fill="hold"/>
                                        <p:tgtEl>
                                          <p:spTgt spid="35"/>
                                        </p:tgtEl>
                                        <p:attrNameLst>
                                          <p:attrName>ppt_x</p:attrName>
                                        </p:attrNameLst>
                                      </p:cBhvr>
                                      <p:tavLst>
                                        <p:tav tm="0">
                                          <p:val>
                                            <p:strVal val="#ppt_x"/>
                                          </p:val>
                                        </p:tav>
                                        <p:tav tm="100000">
                                          <p:val>
                                            <p:strVal val="#ppt_x"/>
                                          </p:val>
                                        </p:tav>
                                      </p:tavLst>
                                    </p:anim>
                                    <p:anim calcmode="lin" valueType="num">
                                      <p:cBhvr additive="base">
                                        <p:cTn id="24" dur="500" fill="hold"/>
                                        <p:tgtEl>
                                          <p:spTgt spid="3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 calcmode="lin" valueType="num">
                                      <p:cBhvr additive="base">
                                        <p:cTn id="27" dur="500" fill="hold"/>
                                        <p:tgtEl>
                                          <p:spTgt spid="36"/>
                                        </p:tgtEl>
                                        <p:attrNameLst>
                                          <p:attrName>ppt_x</p:attrName>
                                        </p:attrNameLst>
                                      </p:cBhvr>
                                      <p:tavLst>
                                        <p:tav tm="0">
                                          <p:val>
                                            <p:strVal val="#ppt_x"/>
                                          </p:val>
                                        </p:tav>
                                        <p:tav tm="100000">
                                          <p:val>
                                            <p:strVal val="#ppt_x"/>
                                          </p:val>
                                        </p:tav>
                                      </p:tavLst>
                                    </p:anim>
                                    <p:anim calcmode="lin" valueType="num">
                                      <p:cBhvr additive="base">
                                        <p:cTn id="28" dur="500" fill="hold"/>
                                        <p:tgtEl>
                                          <p:spTgt spid="3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ppt_x"/>
                                          </p:val>
                                        </p:tav>
                                        <p:tav tm="100000">
                                          <p:val>
                                            <p:strVal val="#ppt_x"/>
                                          </p:val>
                                        </p:tav>
                                      </p:tavLst>
                                    </p:anim>
                                    <p:anim calcmode="lin" valueType="num">
                                      <p:cBhvr additive="base">
                                        <p:cTn id="32" dur="500" fill="hold"/>
                                        <p:tgtEl>
                                          <p:spTgt spid="37"/>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cBhvr additive="base">
                                        <p:cTn id="35" dur="500" fill="hold"/>
                                        <p:tgtEl>
                                          <p:spTgt spid="38"/>
                                        </p:tgtEl>
                                        <p:attrNameLst>
                                          <p:attrName>ppt_x</p:attrName>
                                        </p:attrNameLst>
                                      </p:cBhvr>
                                      <p:tavLst>
                                        <p:tav tm="0">
                                          <p:val>
                                            <p:strVal val="#ppt_x"/>
                                          </p:val>
                                        </p:tav>
                                        <p:tav tm="100000">
                                          <p:val>
                                            <p:strVal val="#ppt_x"/>
                                          </p:val>
                                        </p:tav>
                                      </p:tavLst>
                                    </p:anim>
                                    <p:anim calcmode="lin" valueType="num">
                                      <p:cBhvr additive="base">
                                        <p:cTn id="36" dur="500" fill="hold"/>
                                        <p:tgtEl>
                                          <p:spTgt spid="38"/>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500" fill="hold"/>
                                        <p:tgtEl>
                                          <p:spTgt spid="39"/>
                                        </p:tgtEl>
                                        <p:attrNameLst>
                                          <p:attrName>ppt_x</p:attrName>
                                        </p:attrNameLst>
                                      </p:cBhvr>
                                      <p:tavLst>
                                        <p:tav tm="0">
                                          <p:val>
                                            <p:strVal val="#ppt_x"/>
                                          </p:val>
                                        </p:tav>
                                        <p:tav tm="100000">
                                          <p:val>
                                            <p:strVal val="#ppt_x"/>
                                          </p:val>
                                        </p:tav>
                                      </p:tavLst>
                                    </p:anim>
                                    <p:anim calcmode="lin" valueType="num">
                                      <p:cBhvr additive="base">
                                        <p:cTn id="40" dur="500" fill="hold"/>
                                        <p:tgtEl>
                                          <p:spTgt spid="3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anim calcmode="lin" valueType="num">
                                      <p:cBhvr additive="base">
                                        <p:cTn id="43" dur="500" fill="hold"/>
                                        <p:tgtEl>
                                          <p:spTgt spid="40"/>
                                        </p:tgtEl>
                                        <p:attrNameLst>
                                          <p:attrName>ppt_x</p:attrName>
                                        </p:attrNameLst>
                                      </p:cBhvr>
                                      <p:tavLst>
                                        <p:tav tm="0">
                                          <p:val>
                                            <p:strVal val="#ppt_x"/>
                                          </p:val>
                                        </p:tav>
                                        <p:tav tm="100000">
                                          <p:val>
                                            <p:strVal val="#ppt_x"/>
                                          </p:val>
                                        </p:tav>
                                      </p:tavLst>
                                    </p:anim>
                                    <p:anim calcmode="lin" valueType="num">
                                      <p:cBhvr additive="base">
                                        <p:cTn id="4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6" grpId="0"/>
      <p:bldP spid="37" grpId="0"/>
      <p:bldP spid="40" grpId="0" bldLvl="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操作示例</a:t>
            </a:r>
            <a:endParaRPr lang="en-US" altLang="zh-CN" sz="2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插入 </a:t>
            </a:r>
            <a:r>
              <a:rPr lang="en-US" altLang="zh-CN" sz="1800" b="0" dirty="0">
                <a:latin typeface="微软雅黑" panose="020B0503020204020204" pitchFamily="34" charset="-122"/>
                <a:ea typeface="微软雅黑" panose="020B0503020204020204" pitchFamily="34" charset="-122"/>
              </a:rPr>
              <a:t>0001</a:t>
            </a:r>
            <a:r>
              <a:rPr lang="zh-CN" altLang="en-US" sz="1800" b="0" dirty="0">
                <a:latin typeface="微软雅黑" panose="020B0503020204020204" pitchFamily="34" charset="-122"/>
                <a:ea typeface="微软雅黑" panose="020B0503020204020204" pitchFamily="34" charset="-122"/>
              </a:rPr>
              <a:t>的记录</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如右图。</a:t>
            </a:r>
            <a:endParaRPr lang="zh-CN" altLang="en-US" sz="1800" b="0" dirty="0">
              <a:latin typeface="微软雅黑" panose="020B0503020204020204" pitchFamily="34" charset="-122"/>
              <a:ea typeface="微软雅黑" panose="020B0503020204020204" pitchFamily="34" charset="-122"/>
            </a:endParaRPr>
          </a:p>
          <a:p>
            <a:pPr>
              <a:spcBef>
                <a:spcPct val="20000"/>
              </a:spcBef>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此时</a:t>
            </a:r>
            <a:r>
              <a:rPr lang="en-US" altLang="zh-CN" sz="1800" b="0" dirty="0">
                <a:latin typeface="微软雅黑" panose="020B0503020204020204" pitchFamily="34" charset="-122"/>
                <a:ea typeface="微软雅黑" panose="020B0503020204020204" pitchFamily="34" charset="-122"/>
              </a:rPr>
              <a:t>r/n=5/3=1.66&lt;1.7, </a:t>
            </a:r>
            <a:r>
              <a:rPr lang="zh-CN" altLang="en-US" sz="1800" b="0" dirty="0">
                <a:latin typeface="微软雅黑" panose="020B0503020204020204" pitchFamily="34" charset="-122"/>
                <a:ea typeface="微软雅黑" panose="020B0503020204020204" pitchFamily="34" charset="-122"/>
              </a:rPr>
              <a:t>桶数无需增加</a:t>
            </a:r>
            <a:endParaRPr lang="zh-CN" altLang="en-US" sz="1800" b="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en-US" altLang="zh-CN" sz="210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线性</a:t>
            </a:r>
            <a:r>
              <a:rPr lang="zh-CN" altLang="zh-CN"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aphicFrame>
        <p:nvGraphicFramePr>
          <p:cNvPr id="2" name="表格 1"/>
          <p:cNvGraphicFramePr/>
          <p:nvPr/>
        </p:nvGraphicFramePr>
        <p:xfrm>
          <a:off x="2602129" y="3474073"/>
          <a:ext cx="1325563" cy="757238"/>
        </p:xfrm>
        <a:graphic>
          <a:graphicData uri="http://schemas.openxmlformats.org/drawingml/2006/table">
            <a:tbl>
              <a:tblPr/>
              <a:tblGrid>
                <a:gridCol w="1325563"/>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00(00)</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4" name="Group 99"/>
          <p:cNvGraphicFramePr>
            <a:graphicFrameLocks noGrp="1"/>
          </p:cNvGraphicFramePr>
          <p:nvPr/>
        </p:nvGraphicFramePr>
        <p:xfrm>
          <a:off x="925729" y="4509123"/>
          <a:ext cx="914400" cy="1135063"/>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7" name="Group 71"/>
              <p:cNvGraphicFramePr>
                <a:graphicFrameLocks noGrp="1"/>
              </p:cNvGraphicFramePr>
              <p:nvPr/>
            </p:nvGraphicFramePr>
            <p:xfrm>
              <a:off x="938429" y="3121648"/>
              <a:ext cx="655638" cy="1138239"/>
            </p:xfrm>
            <a:graphic>
              <a:graphicData uri="http://schemas.openxmlformats.org/drawingml/2006/table">
                <a:tbl>
                  <a:tblPr/>
                  <a:tblGrid>
                    <a:gridCol w="655638"/>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=2</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=4</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7" name="Group 71"/>
              <p:cNvGraphicFramePr>
                <a:graphicFrameLocks noGrp="1"/>
              </p:cNvGraphicFramePr>
              <p:nvPr/>
            </p:nvGraphicFramePr>
            <p:xfrm>
              <a:off x="938429" y="3121648"/>
              <a:ext cx="655638" cy="1138239"/>
            </p:xfrm>
            <a:graphic>
              <a:graphicData uri="http://schemas.openxmlformats.org/drawingml/2006/table">
                <a:tbl>
                  <a:tblPr/>
                  <a:tblGrid>
                    <a:gridCol w="655638"/>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=4</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sp>
        <p:nvSpPr>
          <p:cNvPr id="8" name="Line 81"/>
          <p:cNvSpPr/>
          <p:nvPr/>
        </p:nvSpPr>
        <p:spPr>
          <a:xfrm flipV="1">
            <a:off x="1463892" y="3947148"/>
            <a:ext cx="1185862" cy="741362"/>
          </a:xfrm>
          <a:prstGeom prst="line">
            <a:avLst/>
          </a:prstGeom>
          <a:ln w="9525" cap="flat" cmpd="sng">
            <a:solidFill>
              <a:schemeClr val="tx1"/>
            </a:solidFill>
            <a:prstDash val="solid"/>
            <a:round/>
            <a:headEnd type="none" w="med" len="med"/>
            <a:tailEnd type="triangle" w="med" len="med"/>
          </a:ln>
        </p:spPr>
      </p:sp>
      <p:sp>
        <p:nvSpPr>
          <p:cNvPr id="9" name="Rectangle 82"/>
          <p:cNvSpPr>
            <a:spLocks noChangeAspect="1"/>
          </p:cNvSpPr>
          <p:nvPr/>
        </p:nvSpPr>
        <p:spPr>
          <a:xfrm>
            <a:off x="3953092" y="3474073"/>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10" name="Text Box 83"/>
          <p:cNvSpPr txBox="1"/>
          <p:nvPr/>
        </p:nvSpPr>
        <p:spPr>
          <a:xfrm>
            <a:off x="416142" y="4396410"/>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00</a:t>
            </a:r>
            <a:endParaRPr lang="en-US" altLang="zh-CN" sz="2400" dirty="0">
              <a:latin typeface="Arial" panose="020B0604020202020204" pitchFamily="34" charset="0"/>
              <a:ea typeface="宋体" panose="02010600030101010101" pitchFamily="2" charset="-122"/>
            </a:endParaRPr>
          </a:p>
        </p:txBody>
      </p:sp>
      <p:sp>
        <p:nvSpPr>
          <p:cNvPr id="11" name="Text Box 84"/>
          <p:cNvSpPr txBox="1"/>
          <p:nvPr/>
        </p:nvSpPr>
        <p:spPr>
          <a:xfrm>
            <a:off x="416142" y="4777410"/>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01</a:t>
            </a:r>
            <a:endParaRPr lang="en-US" altLang="zh-CN" sz="2400" dirty="0">
              <a:latin typeface="Arial" panose="020B0604020202020204" pitchFamily="34" charset="0"/>
              <a:ea typeface="宋体" panose="02010600030101010101" pitchFamily="2" charset="-122"/>
            </a:endParaRPr>
          </a:p>
        </p:txBody>
      </p:sp>
      <p:sp>
        <p:nvSpPr>
          <p:cNvPr id="12" name="Line 85"/>
          <p:cNvSpPr/>
          <p:nvPr/>
        </p:nvSpPr>
        <p:spPr>
          <a:xfrm flipV="1">
            <a:off x="1541679" y="4585323"/>
            <a:ext cx="1076325" cy="463550"/>
          </a:xfrm>
          <a:prstGeom prst="line">
            <a:avLst/>
          </a:prstGeom>
          <a:ln w="9525" cap="flat" cmpd="sng">
            <a:solidFill>
              <a:schemeClr val="tx1"/>
            </a:solidFill>
            <a:prstDash val="solid"/>
            <a:round/>
            <a:headEnd type="none" w="med" len="med"/>
            <a:tailEnd type="triangle" w="med" len="med"/>
          </a:ln>
        </p:spPr>
      </p:sp>
      <p:graphicFrame>
        <p:nvGraphicFramePr>
          <p:cNvPr id="13" name="Group 86"/>
          <p:cNvGraphicFramePr>
            <a:graphicFrameLocks noGrp="1"/>
          </p:cNvGraphicFramePr>
          <p:nvPr/>
        </p:nvGraphicFramePr>
        <p:xfrm>
          <a:off x="2602129" y="4312273"/>
          <a:ext cx="1325563" cy="773113"/>
        </p:xfrm>
        <a:graphic>
          <a:graphicData uri="http://schemas.openxmlformats.org/drawingml/2006/table">
            <a:tbl>
              <a:tblPr/>
              <a:tblGrid>
                <a:gridCol w="1325563"/>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rPr>
                        <a:t>010(1)</a:t>
                      </a:r>
                      <a:endPar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 name="Rectangle 96"/>
          <p:cNvSpPr>
            <a:spLocks noChangeAspect="1"/>
          </p:cNvSpPr>
          <p:nvPr/>
        </p:nvSpPr>
        <p:spPr>
          <a:xfrm>
            <a:off x="3953092" y="4312273"/>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16" name="Text Box 100"/>
          <p:cNvSpPr txBox="1"/>
          <p:nvPr/>
        </p:nvSpPr>
        <p:spPr>
          <a:xfrm>
            <a:off x="405029" y="5220323"/>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10</a:t>
            </a:r>
            <a:endParaRPr lang="en-US" altLang="zh-CN" sz="2400" dirty="0">
              <a:latin typeface="Arial" panose="020B0604020202020204" pitchFamily="34" charset="0"/>
              <a:ea typeface="宋体" panose="02010600030101010101" pitchFamily="2" charset="-122"/>
            </a:endParaRPr>
          </a:p>
        </p:txBody>
      </p:sp>
      <p:sp>
        <p:nvSpPr>
          <p:cNvPr id="17" name="Line 101"/>
          <p:cNvSpPr/>
          <p:nvPr/>
        </p:nvSpPr>
        <p:spPr>
          <a:xfrm flipV="1">
            <a:off x="1427379" y="5420348"/>
            <a:ext cx="1179513" cy="36512"/>
          </a:xfrm>
          <a:prstGeom prst="line">
            <a:avLst/>
          </a:prstGeom>
          <a:ln w="9525" cap="flat" cmpd="sng">
            <a:solidFill>
              <a:schemeClr val="tx1"/>
            </a:solidFill>
            <a:prstDash val="solid"/>
            <a:round/>
            <a:headEnd type="none" w="med" len="med"/>
            <a:tailEnd type="triangle" w="med" len="med"/>
          </a:ln>
        </p:spPr>
      </p:sp>
      <p:graphicFrame>
        <p:nvGraphicFramePr>
          <p:cNvPr id="18" name="表格 17"/>
          <p:cNvGraphicFramePr/>
          <p:nvPr/>
        </p:nvGraphicFramePr>
        <p:xfrm>
          <a:off x="2591017" y="5147298"/>
          <a:ext cx="1366838" cy="773113"/>
        </p:xfrm>
        <a:graphic>
          <a:graphicData uri="http://schemas.openxmlformats.org/drawingml/2006/table">
            <a:tbl>
              <a:tblPr/>
              <a:tblGrid>
                <a:gridCol w="1366838"/>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10(10)</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93700">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solidFill>
                            <a:srgbClr val="CC0000"/>
                          </a:solidFill>
                          <a:latin typeface="Arial" panose="020B0604020202020204" pitchFamily="34" charset="0"/>
                          <a:ea typeface="宋体" panose="02010600030101010101" pitchFamily="2" charset="-122"/>
                        </a:rPr>
                        <a:t> </a:t>
                      </a:r>
                      <a:endParaRPr lang="en-US" altLang="zh-CN" sz="1800" dirty="0">
                        <a:solidFill>
                          <a:srgbClr val="CC0000"/>
                        </a:solidFill>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9" name="Rectangle 112"/>
          <p:cNvSpPr>
            <a:spLocks noChangeAspect="1"/>
          </p:cNvSpPr>
          <p:nvPr/>
        </p:nvSpPr>
        <p:spPr>
          <a:xfrm>
            <a:off x="3951504" y="514729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graphicFrame>
        <p:nvGraphicFramePr>
          <p:cNvPr id="45" name="表格 44"/>
          <p:cNvGraphicFramePr/>
          <p:nvPr/>
        </p:nvGraphicFramePr>
        <p:xfrm>
          <a:off x="7601528" y="3474073"/>
          <a:ext cx="1325563" cy="757238"/>
        </p:xfrm>
        <a:graphic>
          <a:graphicData uri="http://schemas.openxmlformats.org/drawingml/2006/table">
            <a:tbl>
              <a:tblPr/>
              <a:tblGrid>
                <a:gridCol w="1325563"/>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00(00)</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46" name="Group 123"/>
          <p:cNvGraphicFramePr>
            <a:graphicFrameLocks noGrp="1"/>
          </p:cNvGraphicFramePr>
          <p:nvPr/>
        </p:nvGraphicFramePr>
        <p:xfrm>
          <a:off x="6152141" y="4509123"/>
          <a:ext cx="914400" cy="1135063"/>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47" name="Group 133"/>
              <p:cNvGraphicFramePr>
                <a:graphicFrameLocks noGrp="1"/>
              </p:cNvGraphicFramePr>
              <p:nvPr/>
            </p:nvGraphicFramePr>
            <p:xfrm>
              <a:off x="6164841" y="3121648"/>
              <a:ext cx="655637" cy="1138239"/>
            </p:xfrm>
            <a:graphic>
              <a:graphicData uri="http://schemas.openxmlformats.org/drawingml/2006/table">
                <a:tbl>
                  <a:tblPr/>
                  <a:tblGrid>
                    <a:gridCol w="655637"/>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=2</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=5</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47" name="Group 133"/>
              <p:cNvGraphicFramePr>
                <a:graphicFrameLocks noGrp="1"/>
              </p:cNvGraphicFramePr>
              <p:nvPr/>
            </p:nvGraphicFramePr>
            <p:xfrm>
              <a:off x="6164841" y="3121648"/>
              <a:ext cx="655637" cy="1138239"/>
            </p:xfrm>
            <a:graphic>
              <a:graphicData uri="http://schemas.openxmlformats.org/drawingml/2006/table">
                <a:tbl>
                  <a:tblPr/>
                  <a:tblGrid>
                    <a:gridCol w="655637"/>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=5</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sp>
        <p:nvSpPr>
          <p:cNvPr id="48" name="Line 143"/>
          <p:cNvSpPr/>
          <p:nvPr/>
        </p:nvSpPr>
        <p:spPr>
          <a:xfrm flipV="1">
            <a:off x="6690303" y="4028111"/>
            <a:ext cx="881063" cy="660400"/>
          </a:xfrm>
          <a:prstGeom prst="line">
            <a:avLst/>
          </a:prstGeom>
          <a:ln w="9525" cap="flat" cmpd="sng">
            <a:solidFill>
              <a:schemeClr val="tx1"/>
            </a:solidFill>
            <a:prstDash val="solid"/>
            <a:round/>
            <a:headEnd type="none" w="med" len="med"/>
            <a:tailEnd type="triangle" w="med" len="med"/>
          </a:ln>
        </p:spPr>
      </p:sp>
      <p:sp>
        <p:nvSpPr>
          <p:cNvPr id="49" name="Rectangle 144"/>
          <p:cNvSpPr>
            <a:spLocks noChangeAspect="1"/>
          </p:cNvSpPr>
          <p:nvPr/>
        </p:nvSpPr>
        <p:spPr>
          <a:xfrm>
            <a:off x="8915978" y="3474073"/>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50" name="Text Box 145"/>
          <p:cNvSpPr txBox="1"/>
          <p:nvPr/>
        </p:nvSpPr>
        <p:spPr>
          <a:xfrm>
            <a:off x="5642553" y="4396411"/>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00</a:t>
            </a:r>
            <a:endParaRPr lang="en-US" altLang="zh-CN" sz="2400" dirty="0">
              <a:latin typeface="Arial" panose="020B0604020202020204" pitchFamily="34" charset="0"/>
              <a:ea typeface="宋体" panose="02010600030101010101" pitchFamily="2" charset="-122"/>
            </a:endParaRPr>
          </a:p>
        </p:txBody>
      </p:sp>
      <p:sp>
        <p:nvSpPr>
          <p:cNvPr id="51" name="Text Box 146"/>
          <p:cNvSpPr txBox="1"/>
          <p:nvPr/>
        </p:nvSpPr>
        <p:spPr>
          <a:xfrm>
            <a:off x="5663191" y="4818686"/>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01</a:t>
            </a:r>
            <a:endParaRPr lang="en-US" altLang="zh-CN" sz="2400" dirty="0">
              <a:latin typeface="Arial" panose="020B0604020202020204" pitchFamily="34" charset="0"/>
              <a:ea typeface="宋体" panose="02010600030101010101" pitchFamily="2" charset="-122"/>
            </a:endParaRPr>
          </a:p>
        </p:txBody>
      </p:sp>
      <p:sp>
        <p:nvSpPr>
          <p:cNvPr id="52" name="Line 147"/>
          <p:cNvSpPr/>
          <p:nvPr/>
        </p:nvSpPr>
        <p:spPr>
          <a:xfrm flipV="1">
            <a:off x="6768091" y="4645648"/>
            <a:ext cx="812800" cy="403225"/>
          </a:xfrm>
          <a:prstGeom prst="line">
            <a:avLst/>
          </a:prstGeom>
          <a:ln w="9525" cap="flat" cmpd="sng">
            <a:solidFill>
              <a:schemeClr val="tx1"/>
            </a:solidFill>
            <a:prstDash val="solid"/>
            <a:round/>
            <a:headEnd type="none" w="med" len="med"/>
            <a:tailEnd type="triangle" w="med" len="med"/>
          </a:ln>
        </p:spPr>
      </p:sp>
      <p:graphicFrame>
        <p:nvGraphicFramePr>
          <p:cNvPr id="53" name="Group 148"/>
          <p:cNvGraphicFramePr>
            <a:graphicFrameLocks noGrp="1"/>
          </p:cNvGraphicFramePr>
          <p:nvPr/>
        </p:nvGraphicFramePr>
        <p:xfrm>
          <a:off x="7601528" y="4312273"/>
          <a:ext cx="1325563" cy="773113"/>
        </p:xfrm>
        <a:graphic>
          <a:graphicData uri="http://schemas.openxmlformats.org/drawingml/2006/table">
            <a:tbl>
              <a:tblPr/>
              <a:tblGrid>
                <a:gridCol w="1325563"/>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rPr>
                        <a:t>000(1)</a:t>
                      </a:r>
                      <a:endPar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010(1)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4" name="Rectangle 158"/>
          <p:cNvSpPr>
            <a:spLocks noChangeAspect="1"/>
          </p:cNvSpPr>
          <p:nvPr/>
        </p:nvSpPr>
        <p:spPr>
          <a:xfrm>
            <a:off x="8915978" y="4312273"/>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55" name="Text Box 159"/>
          <p:cNvSpPr txBox="1"/>
          <p:nvPr/>
        </p:nvSpPr>
        <p:spPr>
          <a:xfrm>
            <a:off x="5631441" y="5220323"/>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10</a:t>
            </a:r>
            <a:endParaRPr lang="en-US" altLang="zh-CN" sz="2400" dirty="0">
              <a:latin typeface="Arial" panose="020B0604020202020204" pitchFamily="34" charset="0"/>
              <a:ea typeface="宋体" panose="02010600030101010101" pitchFamily="2" charset="-122"/>
            </a:endParaRPr>
          </a:p>
        </p:txBody>
      </p:sp>
      <p:sp>
        <p:nvSpPr>
          <p:cNvPr id="56" name="Line 160"/>
          <p:cNvSpPr/>
          <p:nvPr/>
        </p:nvSpPr>
        <p:spPr>
          <a:xfrm flipV="1">
            <a:off x="6653791" y="5420348"/>
            <a:ext cx="936625" cy="36513"/>
          </a:xfrm>
          <a:prstGeom prst="line">
            <a:avLst/>
          </a:prstGeom>
          <a:ln w="9525" cap="flat" cmpd="sng">
            <a:solidFill>
              <a:schemeClr val="tx1"/>
            </a:solidFill>
            <a:prstDash val="solid"/>
            <a:round/>
            <a:headEnd type="none" w="med" len="med"/>
            <a:tailEnd type="triangle" w="med" len="med"/>
          </a:ln>
        </p:spPr>
      </p:sp>
      <p:graphicFrame>
        <p:nvGraphicFramePr>
          <p:cNvPr id="57" name="表格 56"/>
          <p:cNvGraphicFramePr/>
          <p:nvPr/>
        </p:nvGraphicFramePr>
        <p:xfrm>
          <a:off x="7611053" y="5147298"/>
          <a:ext cx="1325563" cy="773113"/>
        </p:xfrm>
        <a:graphic>
          <a:graphicData uri="http://schemas.openxmlformats.org/drawingml/2006/table">
            <a:tbl>
              <a:tblPr/>
              <a:tblGrid>
                <a:gridCol w="1325563"/>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10(10)</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93700">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solidFill>
                            <a:srgbClr val="CC0000"/>
                          </a:solidFill>
                          <a:latin typeface="Arial" panose="020B0604020202020204" pitchFamily="34" charset="0"/>
                          <a:ea typeface="宋体" panose="02010600030101010101" pitchFamily="2" charset="-122"/>
                        </a:rPr>
                        <a:t> </a:t>
                      </a:r>
                      <a:endParaRPr lang="en-US" altLang="zh-CN" sz="1800" dirty="0">
                        <a:solidFill>
                          <a:srgbClr val="CC0000"/>
                        </a:solidFill>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8" name="Rectangle 171"/>
          <p:cNvSpPr>
            <a:spLocks noChangeAspect="1"/>
          </p:cNvSpPr>
          <p:nvPr/>
        </p:nvSpPr>
        <p:spPr>
          <a:xfrm>
            <a:off x="8904866" y="514729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graphicFrame>
        <p:nvGraphicFramePr>
          <p:cNvPr id="59" name="Group 172"/>
          <p:cNvGraphicFramePr>
            <a:graphicFrameLocks noGrp="1"/>
          </p:cNvGraphicFramePr>
          <p:nvPr/>
        </p:nvGraphicFramePr>
        <p:xfrm>
          <a:off x="9390641" y="4304336"/>
          <a:ext cx="1325562" cy="773113"/>
        </p:xfrm>
        <a:graphic>
          <a:graphicData uri="http://schemas.openxmlformats.org/drawingml/2006/table">
            <a:tbl>
              <a:tblPr/>
              <a:tblGrid>
                <a:gridCol w="1325562"/>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0" name="Rectangle 182"/>
          <p:cNvSpPr>
            <a:spLocks noChangeAspect="1"/>
          </p:cNvSpPr>
          <p:nvPr/>
        </p:nvSpPr>
        <p:spPr>
          <a:xfrm>
            <a:off x="10705091" y="4304336"/>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61" name="Line 183"/>
          <p:cNvSpPr/>
          <p:nvPr/>
        </p:nvSpPr>
        <p:spPr>
          <a:xfrm>
            <a:off x="9019166" y="4447211"/>
            <a:ext cx="406400" cy="0"/>
          </a:xfrm>
          <a:prstGeom prst="line">
            <a:avLst/>
          </a:prstGeom>
          <a:ln w="9525" cap="flat" cmpd="sng">
            <a:solidFill>
              <a:schemeClr val="tx1"/>
            </a:solidFill>
            <a:prstDash val="solid"/>
            <a:round/>
            <a:headEnd type="none" w="med" len="med"/>
            <a:tailEnd type="triangle" w="med" len="med"/>
          </a:ln>
        </p:spPr>
      </p:sp>
      <p:grpSp>
        <p:nvGrpSpPr>
          <p:cNvPr id="62" name="Group 47"/>
          <p:cNvGrpSpPr/>
          <p:nvPr/>
        </p:nvGrpSpPr>
        <p:grpSpPr>
          <a:xfrm>
            <a:off x="7276244" y="1343660"/>
            <a:ext cx="3908425" cy="1701800"/>
            <a:chOff x="2621" y="469"/>
            <a:chExt cx="2911" cy="859"/>
          </a:xfrm>
        </p:grpSpPr>
        <p:sp>
          <p:nvSpPr>
            <p:cNvPr id="63" name="AutoShape 39"/>
            <p:cNvSpPr/>
            <p:nvPr/>
          </p:nvSpPr>
          <p:spPr>
            <a:xfrm>
              <a:off x="2621" y="469"/>
              <a:ext cx="2911" cy="859"/>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64" name="Oval 40"/>
            <p:cNvSpPr/>
            <p:nvPr/>
          </p:nvSpPr>
          <p:spPr>
            <a:xfrm>
              <a:off x="2708" y="540"/>
              <a:ext cx="2736" cy="71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65" name="Text Box 84"/>
                <p:cNvSpPr/>
                <p:nvPr/>
              </p:nvSpPr>
              <p:spPr>
                <a:xfrm>
                  <a:off x="2814" y="540"/>
                  <a:ext cx="2521" cy="670"/>
                </a:xfrm>
                <a:prstGeom prst="roundRect">
                  <a:avLst>
                    <a:gd name="adj" fmla="val 16667"/>
                  </a:avLst>
                </a:prstGeom>
                <a:noFill/>
                <a:ln w="9525">
                  <a:noFill/>
                </a:ln>
              </p:spPr>
              <p:txBody>
                <a:bodyPr anchor="t">
                  <a:spAutoFit/>
                </a:bodyPr>
                <a:lstStyle/>
                <a:p>
                  <a:pPr algn="ctr"/>
                  <a14:m>
                    <m:oMath xmlns:m="http://schemas.openxmlformats.org/officeDocument/2006/math">
                      <m:r>
                        <a:rPr lang="en-US" altLang="zh-CN" dirty="0">
                          <a:solidFill>
                            <a:srgbClr val="FFFFFF"/>
                          </a:solidFill>
                          <a:latin typeface="Arial" panose="020B0604020202020204" pitchFamily="34" charset="0"/>
                          <a:ea typeface="华文中宋" panose="02010600040101010101" pitchFamily="2" charset="-122"/>
                        </a:rPr>
                        <m:t>𝒊</m:t>
                      </m:r>
                    </m:oMath>
                  </a14:m>
                  <a:r>
                    <a:rPr lang="en-US" altLang="zh-CN" dirty="0">
                      <a:solidFill>
                        <a:srgbClr val="FFFFFF"/>
                      </a:solidFill>
                      <a:latin typeface="Arial" panose="020B0604020202020204" pitchFamily="34" charset="0"/>
                      <a:ea typeface="华文中宋" panose="02010600040101010101" pitchFamily="2" charset="-122"/>
                    </a:rPr>
                    <a:t>-</a:t>
                  </a:r>
                  <a:r>
                    <a:rPr lang="zh-CN" altLang="en-US" dirty="0">
                      <a:solidFill>
                        <a:srgbClr val="FFFFFF"/>
                      </a:solidFill>
                      <a:latin typeface="Arial" panose="020B0604020202020204" pitchFamily="34" charset="0"/>
                      <a:ea typeface="华文中宋" panose="02010600040101010101" pitchFamily="2" charset="-122"/>
                    </a:rPr>
                    <a:t>当前</a:t>
                  </a:r>
                  <a:r>
                    <a:rPr lang="zh-CN" altLang="en-US" sz="1800" dirty="0">
                      <a:solidFill>
                        <a:srgbClr val="FFFFFF"/>
                      </a:solidFill>
                      <a:latin typeface="Arial" panose="020B0604020202020204" pitchFamily="34" charset="0"/>
                      <a:ea typeface="华文中宋" panose="02010600040101010101" pitchFamily="2" charset="-122"/>
                    </a:rPr>
                    <a:t>使用的散列函数的位数</a:t>
                  </a:r>
                  <a:endParaRPr lang="zh-CN" altLang="en-US" sz="1800" dirty="0">
                    <a:solidFill>
                      <a:srgbClr val="FFFFFF"/>
                    </a:solidFill>
                    <a:latin typeface="Arial" panose="020B0604020202020204" pitchFamily="34" charset="0"/>
                    <a:ea typeface="华文中宋" panose="02010600040101010101" pitchFamily="2" charset="-122"/>
                  </a:endParaRPr>
                </a:p>
                <a:p>
                  <a:pPr algn="ctr"/>
                  <a:r>
                    <a:rPr lang="en-US" altLang="zh-CN" dirty="0">
                      <a:solidFill>
                        <a:srgbClr val="FFFFFF"/>
                      </a:solidFill>
                      <a:latin typeface="Arial" panose="020B0604020202020204" pitchFamily="34" charset="0"/>
                      <a:ea typeface="华文中宋" panose="02010600040101010101" pitchFamily="2" charset="-122"/>
                    </a:rPr>
                    <a:t>n-</a:t>
                  </a:r>
                  <a:r>
                    <a:rPr lang="zh-CN" altLang="en-US" dirty="0">
                      <a:solidFill>
                        <a:srgbClr val="FFFFFF"/>
                      </a:solidFill>
                      <a:latin typeface="Arial" panose="020B0604020202020204" pitchFamily="34" charset="0"/>
                      <a:ea typeface="华文中宋" panose="02010600040101010101" pitchFamily="2" charset="-122"/>
                    </a:rPr>
                    <a:t>当前的桶数</a:t>
                  </a:r>
                  <a:endParaRPr lang="zh-CN" altLang="en-US" dirty="0">
                    <a:solidFill>
                      <a:srgbClr val="FFFFFF"/>
                    </a:solidFill>
                    <a:latin typeface="Arial" panose="020B0604020202020204" pitchFamily="34" charset="0"/>
                    <a:ea typeface="华文中宋" panose="02010600040101010101" pitchFamily="2" charset="-122"/>
                  </a:endParaRPr>
                </a:p>
                <a:p>
                  <a:pPr algn="ctr"/>
                  <a:r>
                    <a:rPr lang="en-US" altLang="zh-CN" dirty="0">
                      <a:solidFill>
                        <a:srgbClr val="FFFFFF"/>
                      </a:solidFill>
                      <a:latin typeface="Arial" panose="020B0604020202020204" pitchFamily="34" charset="0"/>
                      <a:ea typeface="华文中宋" panose="02010600040101010101" pitchFamily="2" charset="-122"/>
                    </a:rPr>
                    <a:t>r-</a:t>
                  </a:r>
                  <a:r>
                    <a:rPr lang="zh-CN" altLang="en-US" dirty="0">
                      <a:solidFill>
                        <a:srgbClr val="FFFFFF"/>
                      </a:solidFill>
                      <a:latin typeface="Arial" panose="020B0604020202020204" pitchFamily="34" charset="0"/>
                      <a:ea typeface="华文中宋" panose="02010600040101010101" pitchFamily="2" charset="-122"/>
                    </a:rPr>
                    <a:t>当前散列表中的记录总数</a:t>
                  </a:r>
                  <a:endParaRPr lang="zh-CN" altLang="en-US" dirty="0">
                    <a:solidFill>
                      <a:srgbClr val="FFFFFF"/>
                    </a:solidFill>
                    <a:latin typeface="Arial" panose="020B0604020202020204" pitchFamily="34" charset="0"/>
                    <a:ea typeface="华文中宋" panose="02010600040101010101" pitchFamily="2" charset="-122"/>
                  </a:endParaRPr>
                </a:p>
                <a:p>
                  <a:pPr algn="ctr"/>
                  <a:r>
                    <a:rPr lang="zh-CN" altLang="en-US" dirty="0">
                      <a:solidFill>
                        <a:srgbClr val="FFFFFF"/>
                      </a:solidFill>
                      <a:latin typeface="Arial" panose="020B0604020202020204" pitchFamily="34" charset="0"/>
                      <a:ea typeface="华文中宋" panose="02010600040101010101" pitchFamily="2" charset="-122"/>
                    </a:rPr>
                    <a:t>要求 </a:t>
                  </a:r>
                  <a:r>
                    <a:rPr lang="en-US" altLang="zh-CN" dirty="0">
                      <a:solidFill>
                        <a:srgbClr val="FFFFFF"/>
                      </a:solidFill>
                      <a:latin typeface="Arial" panose="020B0604020202020204" pitchFamily="34" charset="0"/>
                      <a:ea typeface="华文中宋" panose="02010600040101010101" pitchFamily="2" charset="-122"/>
                    </a:rPr>
                    <a:t>r&lt;=1.7n</a:t>
                  </a:r>
                  <a:endParaRPr lang="en-US" altLang="zh-CN" dirty="0">
                    <a:solidFill>
                      <a:srgbClr val="FFFFFF"/>
                    </a:solidFill>
                    <a:latin typeface="Arial" panose="020B0604020202020204" pitchFamily="34" charset="0"/>
                    <a:ea typeface="华文中宋" panose="02010600040101010101" pitchFamily="2" charset="-122"/>
                  </a:endParaRPr>
                </a:p>
              </p:txBody>
            </p:sp>
          </mc:Choice>
          <mc:Fallback>
            <p:sp>
              <p:nvSpPr>
                <p:cNvPr id="65" name="Text Box 84"/>
                <p:cNvSpPr>
                  <a:spLocks noRot="1" noChangeAspect="1" noMove="1" noResize="1" noEditPoints="1" noAdjustHandles="1" noChangeArrowheads="1" noChangeShapeType="1" noTextEdit="1"/>
                </p:cNvSpPr>
                <p:nvPr/>
              </p:nvSpPr>
              <p:spPr>
                <a:xfrm>
                  <a:off x="2814" y="540"/>
                  <a:ext cx="2521" cy="670"/>
                </a:xfrm>
                <a:prstGeom prst="roundRect">
                  <a:avLst>
                    <a:gd name="adj" fmla="val 16667"/>
                  </a:avLst>
                </a:prstGeom>
                <a:blipFill rotWithShape="1">
                  <a:blip r:embed="rId3"/>
                </a:blipFill>
                <a:ln w="9525">
                  <a:noFill/>
                </a:ln>
              </p:spPr>
              <p:txBody>
                <a:bodyPr/>
                <a:lstStyle/>
                <a:p>
                  <a:r>
                    <a:rPr lang="zh-CN" altLang="en-US">
                      <a:noFill/>
                    </a:rPr>
                    <a:t> </a:t>
                  </a:r>
                </a:p>
              </p:txBody>
            </p:sp>
          </mc:Fallback>
        </mc:AlternateContent>
      </p:grpSp>
      <p:sp>
        <p:nvSpPr>
          <p:cNvPr id="3" name="灯片编号占位符 2"/>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additive="base">
                                        <p:cTn id="11" dur="500" fill="hold"/>
                                        <p:tgtEl>
                                          <p:spTgt spid="46"/>
                                        </p:tgtEl>
                                        <p:attrNameLst>
                                          <p:attrName>ppt_x</p:attrName>
                                        </p:attrNameLst>
                                      </p:cBhvr>
                                      <p:tavLst>
                                        <p:tav tm="0">
                                          <p:val>
                                            <p:strVal val="#ppt_x"/>
                                          </p:val>
                                        </p:tav>
                                        <p:tav tm="100000">
                                          <p:val>
                                            <p:strVal val="#ppt_x"/>
                                          </p:val>
                                        </p:tav>
                                      </p:tavLst>
                                    </p:anim>
                                    <p:anim calcmode="lin" valueType="num">
                                      <p:cBhvr additive="base">
                                        <p:cTn id="12" dur="500" fill="hold"/>
                                        <p:tgtEl>
                                          <p:spTgt spid="4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anim calcmode="lin" valueType="num">
                                      <p:cBhvr additive="base">
                                        <p:cTn id="15" dur="500" fill="hold"/>
                                        <p:tgtEl>
                                          <p:spTgt spid="47"/>
                                        </p:tgtEl>
                                        <p:attrNameLst>
                                          <p:attrName>ppt_x</p:attrName>
                                        </p:attrNameLst>
                                      </p:cBhvr>
                                      <p:tavLst>
                                        <p:tav tm="0">
                                          <p:val>
                                            <p:strVal val="#ppt_x"/>
                                          </p:val>
                                        </p:tav>
                                        <p:tav tm="100000">
                                          <p:val>
                                            <p:strVal val="#ppt_x"/>
                                          </p:val>
                                        </p:tav>
                                      </p:tavLst>
                                    </p:anim>
                                    <p:anim calcmode="lin" valueType="num">
                                      <p:cBhvr additive="base">
                                        <p:cTn id="16" dur="500" fill="hold"/>
                                        <p:tgtEl>
                                          <p:spTgt spid="4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ppt_x"/>
                                          </p:val>
                                        </p:tav>
                                        <p:tav tm="100000">
                                          <p:val>
                                            <p:strVal val="#ppt_x"/>
                                          </p:val>
                                        </p:tav>
                                      </p:tavLst>
                                    </p:anim>
                                    <p:anim calcmode="lin" valueType="num">
                                      <p:cBhvr additive="base">
                                        <p:cTn id="20" dur="500" fill="hold"/>
                                        <p:tgtEl>
                                          <p:spTgt spid="4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9"/>
                                        </p:tgtEl>
                                        <p:attrNameLst>
                                          <p:attrName>style.visibility</p:attrName>
                                        </p:attrNameLst>
                                      </p:cBhvr>
                                      <p:to>
                                        <p:strVal val="visible"/>
                                      </p:to>
                                    </p:set>
                                    <p:anim calcmode="lin" valueType="num">
                                      <p:cBhvr additive="base">
                                        <p:cTn id="23" dur="500" fill="hold"/>
                                        <p:tgtEl>
                                          <p:spTgt spid="49"/>
                                        </p:tgtEl>
                                        <p:attrNameLst>
                                          <p:attrName>ppt_x</p:attrName>
                                        </p:attrNameLst>
                                      </p:cBhvr>
                                      <p:tavLst>
                                        <p:tav tm="0">
                                          <p:val>
                                            <p:strVal val="#ppt_x"/>
                                          </p:val>
                                        </p:tav>
                                        <p:tav tm="100000">
                                          <p:val>
                                            <p:strVal val="#ppt_x"/>
                                          </p:val>
                                        </p:tav>
                                      </p:tavLst>
                                    </p:anim>
                                    <p:anim calcmode="lin" valueType="num">
                                      <p:cBhvr additive="base">
                                        <p:cTn id="24" dur="500" fill="hold"/>
                                        <p:tgtEl>
                                          <p:spTgt spid="4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0"/>
                                        </p:tgtEl>
                                        <p:attrNameLst>
                                          <p:attrName>style.visibility</p:attrName>
                                        </p:attrNameLst>
                                      </p:cBhvr>
                                      <p:to>
                                        <p:strVal val="visible"/>
                                      </p:to>
                                    </p:set>
                                    <p:anim calcmode="lin" valueType="num">
                                      <p:cBhvr additive="base">
                                        <p:cTn id="27" dur="500" fill="hold"/>
                                        <p:tgtEl>
                                          <p:spTgt spid="50"/>
                                        </p:tgtEl>
                                        <p:attrNameLst>
                                          <p:attrName>ppt_x</p:attrName>
                                        </p:attrNameLst>
                                      </p:cBhvr>
                                      <p:tavLst>
                                        <p:tav tm="0">
                                          <p:val>
                                            <p:strVal val="#ppt_x"/>
                                          </p:val>
                                        </p:tav>
                                        <p:tav tm="100000">
                                          <p:val>
                                            <p:strVal val="#ppt_x"/>
                                          </p:val>
                                        </p:tav>
                                      </p:tavLst>
                                    </p:anim>
                                    <p:anim calcmode="lin" valueType="num">
                                      <p:cBhvr additive="base">
                                        <p:cTn id="28" dur="500" fill="hold"/>
                                        <p:tgtEl>
                                          <p:spTgt spid="5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 calcmode="lin" valueType="num">
                                      <p:cBhvr additive="base">
                                        <p:cTn id="31" dur="500" fill="hold"/>
                                        <p:tgtEl>
                                          <p:spTgt spid="51"/>
                                        </p:tgtEl>
                                        <p:attrNameLst>
                                          <p:attrName>ppt_x</p:attrName>
                                        </p:attrNameLst>
                                      </p:cBhvr>
                                      <p:tavLst>
                                        <p:tav tm="0">
                                          <p:val>
                                            <p:strVal val="#ppt_x"/>
                                          </p:val>
                                        </p:tav>
                                        <p:tav tm="100000">
                                          <p:val>
                                            <p:strVal val="#ppt_x"/>
                                          </p:val>
                                        </p:tav>
                                      </p:tavLst>
                                    </p:anim>
                                    <p:anim calcmode="lin" valueType="num">
                                      <p:cBhvr additive="base">
                                        <p:cTn id="32" dur="500" fill="hold"/>
                                        <p:tgtEl>
                                          <p:spTgt spid="51"/>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anim calcmode="lin" valueType="num">
                                      <p:cBhvr additive="base">
                                        <p:cTn id="35" dur="500" fill="hold"/>
                                        <p:tgtEl>
                                          <p:spTgt spid="52"/>
                                        </p:tgtEl>
                                        <p:attrNameLst>
                                          <p:attrName>ppt_x</p:attrName>
                                        </p:attrNameLst>
                                      </p:cBhvr>
                                      <p:tavLst>
                                        <p:tav tm="0">
                                          <p:val>
                                            <p:strVal val="#ppt_x"/>
                                          </p:val>
                                        </p:tav>
                                        <p:tav tm="100000">
                                          <p:val>
                                            <p:strVal val="#ppt_x"/>
                                          </p:val>
                                        </p:tav>
                                      </p:tavLst>
                                    </p:anim>
                                    <p:anim calcmode="lin" valueType="num">
                                      <p:cBhvr additive="base">
                                        <p:cTn id="36" dur="500" fill="hold"/>
                                        <p:tgtEl>
                                          <p:spTgt spid="52"/>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3"/>
                                        </p:tgtEl>
                                        <p:attrNameLst>
                                          <p:attrName>style.visibility</p:attrName>
                                        </p:attrNameLst>
                                      </p:cBhvr>
                                      <p:to>
                                        <p:strVal val="visible"/>
                                      </p:to>
                                    </p:set>
                                    <p:anim calcmode="lin" valueType="num">
                                      <p:cBhvr additive="base">
                                        <p:cTn id="39" dur="500" fill="hold"/>
                                        <p:tgtEl>
                                          <p:spTgt spid="53"/>
                                        </p:tgtEl>
                                        <p:attrNameLst>
                                          <p:attrName>ppt_x</p:attrName>
                                        </p:attrNameLst>
                                      </p:cBhvr>
                                      <p:tavLst>
                                        <p:tav tm="0">
                                          <p:val>
                                            <p:strVal val="#ppt_x"/>
                                          </p:val>
                                        </p:tav>
                                        <p:tav tm="100000">
                                          <p:val>
                                            <p:strVal val="#ppt_x"/>
                                          </p:val>
                                        </p:tav>
                                      </p:tavLst>
                                    </p:anim>
                                    <p:anim calcmode="lin" valueType="num">
                                      <p:cBhvr additive="base">
                                        <p:cTn id="40" dur="500" fill="hold"/>
                                        <p:tgtEl>
                                          <p:spTgt spid="5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anim calcmode="lin" valueType="num">
                                      <p:cBhvr additive="base">
                                        <p:cTn id="43" dur="500" fill="hold"/>
                                        <p:tgtEl>
                                          <p:spTgt spid="54"/>
                                        </p:tgtEl>
                                        <p:attrNameLst>
                                          <p:attrName>ppt_x</p:attrName>
                                        </p:attrNameLst>
                                      </p:cBhvr>
                                      <p:tavLst>
                                        <p:tav tm="0">
                                          <p:val>
                                            <p:strVal val="#ppt_x"/>
                                          </p:val>
                                        </p:tav>
                                        <p:tav tm="100000">
                                          <p:val>
                                            <p:strVal val="#ppt_x"/>
                                          </p:val>
                                        </p:tav>
                                      </p:tavLst>
                                    </p:anim>
                                    <p:anim calcmode="lin" valueType="num">
                                      <p:cBhvr additive="base">
                                        <p:cTn id="44" dur="500" fill="hold"/>
                                        <p:tgtEl>
                                          <p:spTgt spid="5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5"/>
                                        </p:tgtEl>
                                        <p:attrNameLst>
                                          <p:attrName>style.visibility</p:attrName>
                                        </p:attrNameLst>
                                      </p:cBhvr>
                                      <p:to>
                                        <p:strVal val="visible"/>
                                      </p:to>
                                    </p:set>
                                    <p:anim calcmode="lin" valueType="num">
                                      <p:cBhvr additive="base">
                                        <p:cTn id="47" dur="500" fill="hold"/>
                                        <p:tgtEl>
                                          <p:spTgt spid="55"/>
                                        </p:tgtEl>
                                        <p:attrNameLst>
                                          <p:attrName>ppt_x</p:attrName>
                                        </p:attrNameLst>
                                      </p:cBhvr>
                                      <p:tavLst>
                                        <p:tav tm="0">
                                          <p:val>
                                            <p:strVal val="#ppt_x"/>
                                          </p:val>
                                        </p:tav>
                                        <p:tav tm="100000">
                                          <p:val>
                                            <p:strVal val="#ppt_x"/>
                                          </p:val>
                                        </p:tav>
                                      </p:tavLst>
                                    </p:anim>
                                    <p:anim calcmode="lin" valueType="num">
                                      <p:cBhvr additive="base">
                                        <p:cTn id="48" dur="500" fill="hold"/>
                                        <p:tgtEl>
                                          <p:spTgt spid="55"/>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additive="base">
                                        <p:cTn id="51" dur="500" fill="hold"/>
                                        <p:tgtEl>
                                          <p:spTgt spid="56"/>
                                        </p:tgtEl>
                                        <p:attrNameLst>
                                          <p:attrName>ppt_x</p:attrName>
                                        </p:attrNameLst>
                                      </p:cBhvr>
                                      <p:tavLst>
                                        <p:tav tm="0">
                                          <p:val>
                                            <p:strVal val="#ppt_x"/>
                                          </p:val>
                                        </p:tav>
                                        <p:tav tm="100000">
                                          <p:val>
                                            <p:strVal val="#ppt_x"/>
                                          </p:val>
                                        </p:tav>
                                      </p:tavLst>
                                    </p:anim>
                                    <p:anim calcmode="lin" valueType="num">
                                      <p:cBhvr additive="base">
                                        <p:cTn id="52" dur="500" fill="hold"/>
                                        <p:tgtEl>
                                          <p:spTgt spid="56"/>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57"/>
                                        </p:tgtEl>
                                        <p:attrNameLst>
                                          <p:attrName>style.visibility</p:attrName>
                                        </p:attrNameLst>
                                      </p:cBhvr>
                                      <p:to>
                                        <p:strVal val="visible"/>
                                      </p:to>
                                    </p:set>
                                    <p:anim calcmode="lin" valueType="num">
                                      <p:cBhvr additive="base">
                                        <p:cTn id="55" dur="500" fill="hold"/>
                                        <p:tgtEl>
                                          <p:spTgt spid="57"/>
                                        </p:tgtEl>
                                        <p:attrNameLst>
                                          <p:attrName>ppt_x</p:attrName>
                                        </p:attrNameLst>
                                      </p:cBhvr>
                                      <p:tavLst>
                                        <p:tav tm="0">
                                          <p:val>
                                            <p:strVal val="#ppt_x"/>
                                          </p:val>
                                        </p:tav>
                                        <p:tav tm="100000">
                                          <p:val>
                                            <p:strVal val="#ppt_x"/>
                                          </p:val>
                                        </p:tav>
                                      </p:tavLst>
                                    </p:anim>
                                    <p:anim calcmode="lin" valueType="num">
                                      <p:cBhvr additive="base">
                                        <p:cTn id="56" dur="500" fill="hold"/>
                                        <p:tgtEl>
                                          <p:spTgt spid="57"/>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8"/>
                                        </p:tgtEl>
                                        <p:attrNameLst>
                                          <p:attrName>style.visibility</p:attrName>
                                        </p:attrNameLst>
                                      </p:cBhvr>
                                      <p:to>
                                        <p:strVal val="visible"/>
                                      </p:to>
                                    </p:set>
                                    <p:anim calcmode="lin" valueType="num">
                                      <p:cBhvr additive="base">
                                        <p:cTn id="59" dur="500" fill="hold"/>
                                        <p:tgtEl>
                                          <p:spTgt spid="58"/>
                                        </p:tgtEl>
                                        <p:attrNameLst>
                                          <p:attrName>ppt_x</p:attrName>
                                        </p:attrNameLst>
                                      </p:cBhvr>
                                      <p:tavLst>
                                        <p:tav tm="0">
                                          <p:val>
                                            <p:strVal val="#ppt_x"/>
                                          </p:val>
                                        </p:tav>
                                        <p:tav tm="100000">
                                          <p:val>
                                            <p:strVal val="#ppt_x"/>
                                          </p:val>
                                        </p:tav>
                                      </p:tavLst>
                                    </p:anim>
                                    <p:anim calcmode="lin" valueType="num">
                                      <p:cBhvr additive="base">
                                        <p:cTn id="60" dur="500" fill="hold"/>
                                        <p:tgtEl>
                                          <p:spTgt spid="58"/>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59"/>
                                        </p:tgtEl>
                                        <p:attrNameLst>
                                          <p:attrName>style.visibility</p:attrName>
                                        </p:attrNameLst>
                                      </p:cBhvr>
                                      <p:to>
                                        <p:strVal val="visible"/>
                                      </p:to>
                                    </p:set>
                                    <p:anim calcmode="lin" valueType="num">
                                      <p:cBhvr additive="base">
                                        <p:cTn id="63" dur="500" fill="hold"/>
                                        <p:tgtEl>
                                          <p:spTgt spid="59"/>
                                        </p:tgtEl>
                                        <p:attrNameLst>
                                          <p:attrName>ppt_x</p:attrName>
                                        </p:attrNameLst>
                                      </p:cBhvr>
                                      <p:tavLst>
                                        <p:tav tm="0">
                                          <p:val>
                                            <p:strVal val="#ppt_x"/>
                                          </p:val>
                                        </p:tav>
                                        <p:tav tm="100000">
                                          <p:val>
                                            <p:strVal val="#ppt_x"/>
                                          </p:val>
                                        </p:tav>
                                      </p:tavLst>
                                    </p:anim>
                                    <p:anim calcmode="lin" valueType="num">
                                      <p:cBhvr additive="base">
                                        <p:cTn id="64" dur="500" fill="hold"/>
                                        <p:tgtEl>
                                          <p:spTgt spid="59"/>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60"/>
                                        </p:tgtEl>
                                        <p:attrNameLst>
                                          <p:attrName>style.visibility</p:attrName>
                                        </p:attrNameLst>
                                      </p:cBhvr>
                                      <p:to>
                                        <p:strVal val="visible"/>
                                      </p:to>
                                    </p:set>
                                    <p:anim calcmode="lin" valueType="num">
                                      <p:cBhvr additive="base">
                                        <p:cTn id="67" dur="500" fill="hold"/>
                                        <p:tgtEl>
                                          <p:spTgt spid="60"/>
                                        </p:tgtEl>
                                        <p:attrNameLst>
                                          <p:attrName>ppt_x</p:attrName>
                                        </p:attrNameLst>
                                      </p:cBhvr>
                                      <p:tavLst>
                                        <p:tav tm="0">
                                          <p:val>
                                            <p:strVal val="#ppt_x"/>
                                          </p:val>
                                        </p:tav>
                                        <p:tav tm="100000">
                                          <p:val>
                                            <p:strVal val="#ppt_x"/>
                                          </p:val>
                                        </p:tav>
                                      </p:tavLst>
                                    </p:anim>
                                    <p:anim calcmode="lin" valueType="num">
                                      <p:cBhvr additive="base">
                                        <p:cTn id="68" dur="500" fill="hold"/>
                                        <p:tgtEl>
                                          <p:spTgt spid="60"/>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61"/>
                                        </p:tgtEl>
                                        <p:attrNameLst>
                                          <p:attrName>style.visibility</p:attrName>
                                        </p:attrNameLst>
                                      </p:cBhvr>
                                      <p:to>
                                        <p:strVal val="visible"/>
                                      </p:to>
                                    </p:set>
                                    <p:anim calcmode="lin" valueType="num">
                                      <p:cBhvr additive="base">
                                        <p:cTn id="71" dur="500" fill="hold"/>
                                        <p:tgtEl>
                                          <p:spTgt spid="61"/>
                                        </p:tgtEl>
                                        <p:attrNameLst>
                                          <p:attrName>ppt_x</p:attrName>
                                        </p:attrNameLst>
                                      </p:cBhvr>
                                      <p:tavLst>
                                        <p:tav tm="0">
                                          <p:val>
                                            <p:strVal val="#ppt_x"/>
                                          </p:val>
                                        </p:tav>
                                        <p:tav tm="100000">
                                          <p:val>
                                            <p:strVal val="#ppt_x"/>
                                          </p:val>
                                        </p:tav>
                                      </p:tavLst>
                                    </p:anim>
                                    <p:anim calcmode="lin" valueType="num">
                                      <p:cBhvr additive="base">
                                        <p:cTn id="72"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ldLvl="0" animBg="1"/>
      <p:bldP spid="50" grpId="0"/>
      <p:bldP spid="51" grpId="0"/>
      <p:bldP spid="54" grpId="0" bldLvl="0" animBg="1"/>
      <p:bldP spid="55" grpId="0"/>
      <p:bldP spid="58" grpId="0" bldLvl="0" animBg="1"/>
      <p:bldP spid="60" grpId="0" bldLvl="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操作示例</a:t>
            </a:r>
            <a:endParaRPr lang="en-US" altLang="zh-CN" sz="2600" dirty="0">
              <a:latin typeface="微软雅黑" panose="020B0503020204020204" pitchFamily="34" charset="-122"/>
              <a:ea typeface="微软雅黑" panose="020B0503020204020204" pitchFamily="34" charset="-122"/>
            </a:endParaRPr>
          </a:p>
          <a:p>
            <a:pPr>
              <a:spcBef>
                <a:spcPct val="20000"/>
              </a:spcBef>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插入 </a:t>
            </a:r>
            <a:r>
              <a:rPr lang="en-US" altLang="zh-CN" sz="1800" b="0" dirty="0">
                <a:latin typeface="微软雅黑" panose="020B0503020204020204" pitchFamily="34" charset="-122"/>
                <a:ea typeface="微软雅黑" panose="020B0503020204020204" pitchFamily="34" charset="-122"/>
              </a:rPr>
              <a:t>0111</a:t>
            </a:r>
            <a:r>
              <a:rPr lang="zh-CN" altLang="en-US" sz="1800" b="0" dirty="0">
                <a:latin typeface="微软雅黑" panose="020B0503020204020204" pitchFamily="34" charset="-122"/>
                <a:ea typeface="微软雅黑" panose="020B0503020204020204" pitchFamily="34" charset="-122"/>
              </a:rPr>
              <a:t>的记录</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如右图。</a:t>
            </a:r>
            <a:endParaRPr lang="zh-CN" altLang="en-US" sz="1800" b="0" dirty="0">
              <a:latin typeface="微软雅黑" panose="020B0503020204020204" pitchFamily="34" charset="-122"/>
              <a:ea typeface="微软雅黑" panose="020B0503020204020204" pitchFamily="34" charset="-122"/>
            </a:endParaRPr>
          </a:p>
          <a:p>
            <a:pPr>
              <a:spcBef>
                <a:spcPct val="20000"/>
              </a:spcBef>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因没有</a:t>
            </a:r>
            <a:r>
              <a:rPr lang="en-US" altLang="zh-CN" sz="1800" b="0" dirty="0">
                <a:latin typeface="微软雅黑" panose="020B0503020204020204" pitchFamily="34" charset="-122"/>
                <a:ea typeface="微软雅黑" panose="020B0503020204020204" pitchFamily="34" charset="-122"/>
              </a:rPr>
              <a:t>11</a:t>
            </a:r>
            <a:r>
              <a:rPr lang="zh-CN" altLang="en-US" sz="1800" b="0" dirty="0">
                <a:latin typeface="微软雅黑" panose="020B0503020204020204" pitchFamily="34" charset="-122"/>
                <a:ea typeface="微软雅黑" panose="020B0503020204020204" pitchFamily="34" charset="-122"/>
              </a:rPr>
              <a:t>桶，则插入</a:t>
            </a:r>
            <a:r>
              <a:rPr lang="en-US" altLang="zh-CN" sz="1800" b="0" dirty="0">
                <a:latin typeface="微软雅黑" panose="020B0503020204020204" pitchFamily="34" charset="-122"/>
                <a:ea typeface="微软雅黑" panose="020B0503020204020204" pitchFamily="34" charset="-122"/>
              </a:rPr>
              <a:t>01</a:t>
            </a:r>
            <a:r>
              <a:rPr lang="zh-CN" altLang="en-US" sz="1800" b="0" dirty="0">
                <a:latin typeface="微软雅黑" panose="020B0503020204020204" pitchFamily="34" charset="-122"/>
                <a:ea typeface="微软雅黑" panose="020B0503020204020204" pitchFamily="34" charset="-122"/>
              </a:rPr>
              <a:t>桶。</a:t>
            </a:r>
            <a:endParaRPr lang="zh-CN" altLang="en-US" sz="1800" b="0" dirty="0">
              <a:latin typeface="微软雅黑" panose="020B0503020204020204" pitchFamily="34" charset="-122"/>
              <a:ea typeface="微软雅黑" panose="020B0503020204020204" pitchFamily="34" charset="-122"/>
            </a:endParaRPr>
          </a:p>
          <a:p>
            <a:pPr>
              <a:spcBef>
                <a:spcPct val="20000"/>
              </a:spcBef>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此时</a:t>
            </a:r>
            <a:r>
              <a:rPr lang="en-US" altLang="zh-CN" sz="1800" b="0" dirty="0">
                <a:latin typeface="微软雅黑" panose="020B0503020204020204" pitchFamily="34" charset="-122"/>
                <a:ea typeface="微软雅黑" panose="020B0503020204020204" pitchFamily="34" charset="-122"/>
              </a:rPr>
              <a:t>r/n=6/3=2&gt;1.7, </a:t>
            </a:r>
            <a:r>
              <a:rPr lang="zh-CN" altLang="en-US" sz="1800" b="0" dirty="0">
                <a:latin typeface="微软雅黑" panose="020B0503020204020204" pitchFamily="34" charset="-122"/>
                <a:ea typeface="微软雅黑" panose="020B0503020204020204" pitchFamily="34" charset="-122"/>
              </a:rPr>
              <a:t>桶数需要增</a:t>
            </a:r>
            <a:r>
              <a:rPr lang="en-US" altLang="zh-CN" sz="1800" b="0" dirty="0">
                <a:latin typeface="微软雅黑" panose="020B0503020204020204" pitchFamily="34" charset="-122"/>
                <a:ea typeface="微软雅黑" panose="020B0503020204020204" pitchFamily="34" charset="-122"/>
              </a:rPr>
              <a:t>1, </a:t>
            </a:r>
            <a:r>
              <a:rPr lang="zh-CN" altLang="en-US" sz="1800" b="0" dirty="0">
                <a:latin typeface="微软雅黑" panose="020B0503020204020204" pitchFamily="34" charset="-122"/>
                <a:ea typeface="微软雅黑" panose="020B0503020204020204" pitchFamily="34" charset="-122"/>
              </a:rPr>
              <a:t>即要增加一桶</a:t>
            </a:r>
            <a:r>
              <a:rPr lang="en-US" altLang="zh-CN" sz="1800" b="0" dirty="0">
                <a:latin typeface="微软雅黑" panose="020B0503020204020204" pitchFamily="34" charset="-122"/>
                <a:ea typeface="微软雅黑" panose="020B0503020204020204" pitchFamily="34" charset="-122"/>
              </a:rPr>
              <a:t>11, n</a:t>
            </a:r>
            <a:r>
              <a:rPr lang="zh-CN" altLang="en-US" sz="1800" b="0" dirty="0">
                <a:latin typeface="微软雅黑" panose="020B0503020204020204" pitchFamily="34" charset="-122"/>
                <a:ea typeface="微软雅黑" panose="020B0503020204020204" pitchFamily="34" charset="-122"/>
              </a:rPr>
              <a:t>仍然为</a:t>
            </a:r>
            <a:r>
              <a:rPr lang="en-US" altLang="zh-CN" sz="1800" b="0" dirty="0">
                <a:latin typeface="微软雅黑" panose="020B0503020204020204" pitchFamily="34" charset="-122"/>
                <a:ea typeface="微软雅黑" panose="020B0503020204020204" pitchFamily="34" charset="-122"/>
              </a:rPr>
              <a:t>3</a:t>
            </a:r>
            <a:endParaRPr lang="en-US" altLang="zh-CN" sz="1800" b="0" dirty="0">
              <a:latin typeface="微软雅黑" panose="020B0503020204020204" pitchFamily="34" charset="-122"/>
              <a:ea typeface="微软雅黑" panose="020B0503020204020204" pitchFamily="34" charset="-122"/>
            </a:endParaRPr>
          </a:p>
          <a:p>
            <a:pPr>
              <a:spcBef>
                <a:spcPct val="20000"/>
              </a:spcBef>
              <a:buFont typeface="Wingdings" panose="05000000000000000000" pitchFamily="2" charset="2"/>
              <a:buChar char="l"/>
            </a:pPr>
            <a:r>
              <a:rPr lang="zh-CN" altLang="en-US" sz="1800" b="0" dirty="0">
                <a:latin typeface="微软雅黑" panose="020B0503020204020204" pitchFamily="34" charset="-122"/>
                <a:ea typeface="微软雅黑" panose="020B0503020204020204" pitchFamily="34" charset="-122"/>
              </a:rPr>
              <a:t>需要分裂。</a:t>
            </a:r>
            <a:r>
              <a:rPr lang="en-US" altLang="zh-CN" sz="1800" b="0" dirty="0">
                <a:latin typeface="微软雅黑" panose="020B0503020204020204" pitchFamily="34" charset="-122"/>
                <a:ea typeface="微软雅黑" panose="020B0503020204020204" pitchFamily="34" charset="-122"/>
              </a:rPr>
              <a:t>11</a:t>
            </a:r>
            <a:r>
              <a:rPr lang="zh-CN" altLang="en-US" sz="1800" b="0" dirty="0">
                <a:latin typeface="微软雅黑" panose="020B0503020204020204" pitchFamily="34" charset="-122"/>
                <a:ea typeface="微软雅黑" panose="020B0503020204020204" pitchFamily="34" charset="-122"/>
              </a:rPr>
              <a:t>要由</a:t>
            </a:r>
            <a:r>
              <a:rPr lang="en-US" altLang="zh-CN" sz="1800" b="0" dirty="0">
                <a:latin typeface="微软雅黑" panose="020B0503020204020204" pitchFamily="34" charset="-122"/>
                <a:ea typeface="微软雅黑" panose="020B0503020204020204" pitchFamily="34" charset="-122"/>
              </a:rPr>
              <a:t>01</a:t>
            </a:r>
            <a:r>
              <a:rPr lang="zh-CN" altLang="en-US" sz="1800" b="0" dirty="0">
                <a:latin typeface="微软雅黑" panose="020B0503020204020204" pitchFamily="34" charset="-122"/>
                <a:ea typeface="微软雅黑" panose="020B0503020204020204" pitchFamily="34" charset="-122"/>
              </a:rPr>
              <a:t>桶分裂而来</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低位相同而最高位不同的那一个桶</a:t>
            </a:r>
            <a:r>
              <a:rPr lang="en-US" altLang="zh-CN"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a:spcBef>
                <a:spcPct val="20000"/>
              </a:spcBef>
              <a:buFont typeface="Wingdings" panose="05000000000000000000" pitchFamily="2" charset="2"/>
              <a:buChar char="l"/>
            </a:pPr>
            <a:endParaRPr lang="zh-CN" altLang="en-US" sz="21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en-US" altLang="zh-CN" sz="210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线性</a:t>
            </a:r>
            <a:r>
              <a:rPr lang="zh-CN" altLang="zh-CN"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aphicFrame>
        <p:nvGraphicFramePr>
          <p:cNvPr id="20" name="表格 19"/>
          <p:cNvGraphicFramePr/>
          <p:nvPr/>
        </p:nvGraphicFramePr>
        <p:xfrm>
          <a:off x="2367250" y="4035421"/>
          <a:ext cx="1325563" cy="757238"/>
        </p:xfrm>
        <a:graphic>
          <a:graphicData uri="http://schemas.openxmlformats.org/drawingml/2006/table">
            <a:tbl>
              <a:tblPr/>
              <a:tblGrid>
                <a:gridCol w="1325563"/>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00(00)</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1" name="Group 78"/>
          <p:cNvGraphicFramePr>
            <a:graphicFrameLocks noGrp="1"/>
          </p:cNvGraphicFramePr>
          <p:nvPr/>
        </p:nvGraphicFramePr>
        <p:xfrm>
          <a:off x="917863" y="5070471"/>
          <a:ext cx="914400" cy="1135063"/>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22" name="Group 88"/>
              <p:cNvGraphicFramePr>
                <a:graphicFrameLocks noGrp="1"/>
              </p:cNvGraphicFramePr>
              <p:nvPr/>
            </p:nvGraphicFramePr>
            <p:xfrm>
              <a:off x="930563" y="3682996"/>
              <a:ext cx="655637" cy="1138239"/>
            </p:xfrm>
            <a:graphic>
              <a:graphicData uri="http://schemas.openxmlformats.org/drawingml/2006/table">
                <a:tbl>
                  <a:tblPr/>
                  <a:tblGrid>
                    <a:gridCol w="655637"/>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=2</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=5</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22" name="Group 88"/>
              <p:cNvGraphicFramePr>
                <a:graphicFrameLocks noGrp="1"/>
              </p:cNvGraphicFramePr>
              <p:nvPr/>
            </p:nvGraphicFramePr>
            <p:xfrm>
              <a:off x="930563" y="3682996"/>
              <a:ext cx="655637" cy="1138239"/>
            </p:xfrm>
            <a:graphic>
              <a:graphicData uri="http://schemas.openxmlformats.org/drawingml/2006/table">
                <a:tbl>
                  <a:tblPr/>
                  <a:tblGrid>
                    <a:gridCol w="655637"/>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=5</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sp>
        <p:nvSpPr>
          <p:cNvPr id="23" name="Line 98"/>
          <p:cNvSpPr/>
          <p:nvPr/>
        </p:nvSpPr>
        <p:spPr>
          <a:xfrm flipV="1">
            <a:off x="1456025" y="4589459"/>
            <a:ext cx="881063" cy="660400"/>
          </a:xfrm>
          <a:prstGeom prst="line">
            <a:avLst/>
          </a:prstGeom>
          <a:ln w="9525" cap="flat" cmpd="sng">
            <a:solidFill>
              <a:schemeClr val="tx1"/>
            </a:solidFill>
            <a:prstDash val="solid"/>
            <a:round/>
            <a:headEnd type="none" w="med" len="med"/>
            <a:tailEnd type="triangle" w="med" len="med"/>
          </a:ln>
        </p:spPr>
      </p:sp>
      <p:sp>
        <p:nvSpPr>
          <p:cNvPr id="24" name="Rectangle 99"/>
          <p:cNvSpPr>
            <a:spLocks noChangeAspect="1"/>
          </p:cNvSpPr>
          <p:nvPr/>
        </p:nvSpPr>
        <p:spPr>
          <a:xfrm>
            <a:off x="3681700" y="4035421"/>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25" name="Text Box 100"/>
          <p:cNvSpPr txBox="1"/>
          <p:nvPr/>
        </p:nvSpPr>
        <p:spPr>
          <a:xfrm>
            <a:off x="408275" y="4957759"/>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00</a:t>
            </a:r>
            <a:endParaRPr lang="en-US" altLang="zh-CN" sz="2400" dirty="0">
              <a:latin typeface="Arial" panose="020B0604020202020204" pitchFamily="34" charset="0"/>
              <a:ea typeface="宋体" panose="02010600030101010101" pitchFamily="2" charset="-122"/>
            </a:endParaRPr>
          </a:p>
        </p:txBody>
      </p:sp>
      <p:sp>
        <p:nvSpPr>
          <p:cNvPr id="26" name="Text Box 101"/>
          <p:cNvSpPr txBox="1"/>
          <p:nvPr/>
        </p:nvSpPr>
        <p:spPr>
          <a:xfrm>
            <a:off x="428913" y="5380034"/>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01</a:t>
            </a:r>
            <a:endParaRPr lang="en-US" altLang="zh-CN" sz="2400" dirty="0">
              <a:latin typeface="Arial" panose="020B0604020202020204" pitchFamily="34" charset="0"/>
              <a:ea typeface="宋体" panose="02010600030101010101" pitchFamily="2" charset="-122"/>
            </a:endParaRPr>
          </a:p>
        </p:txBody>
      </p:sp>
      <p:sp>
        <p:nvSpPr>
          <p:cNvPr id="27" name="Line 102"/>
          <p:cNvSpPr/>
          <p:nvPr/>
        </p:nvSpPr>
        <p:spPr>
          <a:xfrm flipV="1">
            <a:off x="1533813" y="5206996"/>
            <a:ext cx="812800" cy="403225"/>
          </a:xfrm>
          <a:prstGeom prst="line">
            <a:avLst/>
          </a:prstGeom>
          <a:ln w="9525" cap="flat" cmpd="sng">
            <a:solidFill>
              <a:schemeClr val="tx1"/>
            </a:solidFill>
            <a:prstDash val="solid"/>
            <a:round/>
            <a:headEnd type="none" w="med" len="med"/>
            <a:tailEnd type="triangle" w="med" len="med"/>
          </a:ln>
        </p:spPr>
      </p:sp>
      <p:graphicFrame>
        <p:nvGraphicFramePr>
          <p:cNvPr id="28" name="Group 103"/>
          <p:cNvGraphicFramePr>
            <a:graphicFrameLocks noGrp="1"/>
          </p:cNvGraphicFramePr>
          <p:nvPr/>
        </p:nvGraphicFramePr>
        <p:xfrm>
          <a:off x="2367250" y="4873621"/>
          <a:ext cx="1325563" cy="773113"/>
        </p:xfrm>
        <a:graphic>
          <a:graphicData uri="http://schemas.openxmlformats.org/drawingml/2006/table">
            <a:tbl>
              <a:tblPr/>
              <a:tblGrid>
                <a:gridCol w="1325563"/>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010(1)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9" name="Rectangle 113"/>
          <p:cNvSpPr>
            <a:spLocks noChangeAspect="1"/>
          </p:cNvSpPr>
          <p:nvPr/>
        </p:nvSpPr>
        <p:spPr>
          <a:xfrm>
            <a:off x="3681700" y="4873621"/>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30" name="Text Box 114"/>
          <p:cNvSpPr txBox="1"/>
          <p:nvPr/>
        </p:nvSpPr>
        <p:spPr>
          <a:xfrm>
            <a:off x="397163" y="5781671"/>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10</a:t>
            </a:r>
            <a:endParaRPr lang="en-US" altLang="zh-CN" sz="2400" dirty="0">
              <a:latin typeface="Arial" panose="020B0604020202020204" pitchFamily="34" charset="0"/>
              <a:ea typeface="宋体" panose="02010600030101010101" pitchFamily="2" charset="-122"/>
            </a:endParaRPr>
          </a:p>
        </p:txBody>
      </p:sp>
      <p:sp>
        <p:nvSpPr>
          <p:cNvPr id="31" name="Line 115"/>
          <p:cNvSpPr/>
          <p:nvPr/>
        </p:nvSpPr>
        <p:spPr>
          <a:xfrm flipV="1">
            <a:off x="1419513" y="5981696"/>
            <a:ext cx="936625" cy="36513"/>
          </a:xfrm>
          <a:prstGeom prst="line">
            <a:avLst/>
          </a:prstGeom>
          <a:ln w="9525" cap="flat" cmpd="sng">
            <a:solidFill>
              <a:schemeClr val="tx1"/>
            </a:solidFill>
            <a:prstDash val="solid"/>
            <a:round/>
            <a:headEnd type="none" w="med" len="med"/>
            <a:tailEnd type="triangle" w="med" len="med"/>
          </a:ln>
        </p:spPr>
      </p:sp>
      <p:graphicFrame>
        <p:nvGraphicFramePr>
          <p:cNvPr id="33" name="表格 32"/>
          <p:cNvGraphicFramePr/>
          <p:nvPr/>
        </p:nvGraphicFramePr>
        <p:xfrm>
          <a:off x="2376775" y="5708646"/>
          <a:ext cx="1325563" cy="773113"/>
        </p:xfrm>
        <a:graphic>
          <a:graphicData uri="http://schemas.openxmlformats.org/drawingml/2006/table">
            <a:tbl>
              <a:tblPr/>
              <a:tblGrid>
                <a:gridCol w="1325563"/>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10(10)</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93700">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solidFill>
                            <a:srgbClr val="CC0000"/>
                          </a:solidFill>
                          <a:latin typeface="Arial" panose="020B0604020202020204" pitchFamily="34" charset="0"/>
                          <a:ea typeface="宋体" panose="02010600030101010101" pitchFamily="2" charset="-122"/>
                        </a:rPr>
                        <a:t> </a:t>
                      </a:r>
                      <a:endParaRPr lang="en-US" altLang="zh-CN" sz="1800" dirty="0">
                        <a:solidFill>
                          <a:srgbClr val="CC0000"/>
                        </a:solidFill>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34" name="Rectangle 126"/>
          <p:cNvSpPr>
            <a:spLocks noChangeAspect="1"/>
          </p:cNvSpPr>
          <p:nvPr/>
        </p:nvSpPr>
        <p:spPr>
          <a:xfrm>
            <a:off x="3670588" y="5708646"/>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graphicFrame>
        <p:nvGraphicFramePr>
          <p:cNvPr id="35" name="Group 127"/>
          <p:cNvGraphicFramePr>
            <a:graphicFrameLocks noGrp="1"/>
          </p:cNvGraphicFramePr>
          <p:nvPr/>
        </p:nvGraphicFramePr>
        <p:xfrm>
          <a:off x="4156363" y="4865684"/>
          <a:ext cx="1325562" cy="773113"/>
        </p:xfrm>
        <a:graphic>
          <a:graphicData uri="http://schemas.openxmlformats.org/drawingml/2006/table">
            <a:tbl>
              <a:tblPr/>
              <a:tblGrid>
                <a:gridCol w="1325562"/>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6" name="Rectangle 137"/>
          <p:cNvSpPr>
            <a:spLocks noChangeAspect="1"/>
          </p:cNvSpPr>
          <p:nvPr/>
        </p:nvSpPr>
        <p:spPr>
          <a:xfrm>
            <a:off x="5470813" y="4865684"/>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37" name="Line 138"/>
          <p:cNvSpPr/>
          <p:nvPr/>
        </p:nvSpPr>
        <p:spPr>
          <a:xfrm>
            <a:off x="3784888" y="5008559"/>
            <a:ext cx="406400" cy="0"/>
          </a:xfrm>
          <a:prstGeom prst="line">
            <a:avLst/>
          </a:prstGeom>
          <a:ln w="9525" cap="flat" cmpd="sng">
            <a:solidFill>
              <a:schemeClr val="tx1"/>
            </a:solidFill>
            <a:prstDash val="solid"/>
            <a:round/>
            <a:headEnd type="none" w="med" len="med"/>
            <a:tailEnd type="triangle" w="med" len="med"/>
          </a:ln>
        </p:spPr>
      </p:sp>
      <p:graphicFrame>
        <p:nvGraphicFramePr>
          <p:cNvPr id="38" name="表格 37"/>
          <p:cNvGraphicFramePr/>
          <p:nvPr/>
        </p:nvGraphicFramePr>
        <p:xfrm>
          <a:off x="8318495" y="4035421"/>
          <a:ext cx="1325563" cy="757238"/>
        </p:xfrm>
        <a:graphic>
          <a:graphicData uri="http://schemas.openxmlformats.org/drawingml/2006/table">
            <a:tbl>
              <a:tblPr/>
              <a:tblGrid>
                <a:gridCol w="1325563"/>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00(00)</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39" name="Group 149"/>
          <p:cNvGraphicFramePr>
            <a:graphicFrameLocks noGrp="1"/>
          </p:cNvGraphicFramePr>
          <p:nvPr/>
        </p:nvGraphicFramePr>
        <p:xfrm>
          <a:off x="6869107" y="5070471"/>
          <a:ext cx="914400" cy="1135063"/>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40" name="Group 159"/>
              <p:cNvGraphicFramePr>
                <a:graphicFrameLocks noGrp="1"/>
              </p:cNvGraphicFramePr>
              <p:nvPr/>
            </p:nvGraphicFramePr>
            <p:xfrm>
              <a:off x="6881807" y="3682996"/>
              <a:ext cx="655638" cy="1138239"/>
            </p:xfrm>
            <a:graphic>
              <a:graphicData uri="http://schemas.openxmlformats.org/drawingml/2006/table">
                <a:tbl>
                  <a:tblPr/>
                  <a:tblGrid>
                    <a:gridCol w="655638"/>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=2</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=6</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40" name="Group 159"/>
              <p:cNvGraphicFramePr>
                <a:graphicFrameLocks noGrp="1"/>
              </p:cNvGraphicFramePr>
              <p:nvPr/>
            </p:nvGraphicFramePr>
            <p:xfrm>
              <a:off x="6881807" y="3682996"/>
              <a:ext cx="655638" cy="1138239"/>
            </p:xfrm>
            <a:graphic>
              <a:graphicData uri="http://schemas.openxmlformats.org/drawingml/2006/table">
                <a:tbl>
                  <a:tblPr/>
                  <a:tblGrid>
                    <a:gridCol w="655638"/>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=6</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sp>
        <p:nvSpPr>
          <p:cNvPr id="41" name="Line 169"/>
          <p:cNvSpPr/>
          <p:nvPr/>
        </p:nvSpPr>
        <p:spPr>
          <a:xfrm flipV="1">
            <a:off x="7407270" y="4589459"/>
            <a:ext cx="881062" cy="660400"/>
          </a:xfrm>
          <a:prstGeom prst="line">
            <a:avLst/>
          </a:prstGeom>
          <a:ln w="9525" cap="flat" cmpd="sng">
            <a:solidFill>
              <a:schemeClr val="tx1"/>
            </a:solidFill>
            <a:prstDash val="solid"/>
            <a:round/>
            <a:headEnd type="none" w="med" len="med"/>
            <a:tailEnd type="triangle" w="med" len="med"/>
          </a:ln>
        </p:spPr>
      </p:sp>
      <p:sp>
        <p:nvSpPr>
          <p:cNvPr id="42" name="Rectangle 170"/>
          <p:cNvSpPr>
            <a:spLocks noChangeAspect="1"/>
          </p:cNvSpPr>
          <p:nvPr/>
        </p:nvSpPr>
        <p:spPr>
          <a:xfrm>
            <a:off x="9632945" y="4035421"/>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43" name="Text Box 171"/>
          <p:cNvSpPr txBox="1"/>
          <p:nvPr/>
        </p:nvSpPr>
        <p:spPr>
          <a:xfrm>
            <a:off x="6359520" y="4957759"/>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00</a:t>
            </a:r>
            <a:endParaRPr lang="en-US" altLang="zh-CN" sz="2400" dirty="0">
              <a:latin typeface="Arial" panose="020B0604020202020204" pitchFamily="34" charset="0"/>
              <a:ea typeface="宋体" panose="02010600030101010101" pitchFamily="2" charset="-122"/>
            </a:endParaRPr>
          </a:p>
        </p:txBody>
      </p:sp>
      <p:sp>
        <p:nvSpPr>
          <p:cNvPr id="44" name="Text Box 172"/>
          <p:cNvSpPr txBox="1"/>
          <p:nvPr/>
        </p:nvSpPr>
        <p:spPr>
          <a:xfrm>
            <a:off x="6380157" y="5380034"/>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01</a:t>
            </a:r>
            <a:endParaRPr lang="en-US" altLang="zh-CN" sz="2400" dirty="0">
              <a:latin typeface="Arial" panose="020B0604020202020204" pitchFamily="34" charset="0"/>
              <a:ea typeface="宋体" panose="02010600030101010101" pitchFamily="2" charset="-122"/>
            </a:endParaRPr>
          </a:p>
        </p:txBody>
      </p:sp>
      <p:sp>
        <p:nvSpPr>
          <p:cNvPr id="66" name="Line 173"/>
          <p:cNvSpPr/>
          <p:nvPr/>
        </p:nvSpPr>
        <p:spPr>
          <a:xfrm flipV="1">
            <a:off x="7485057" y="5206996"/>
            <a:ext cx="812800" cy="403225"/>
          </a:xfrm>
          <a:prstGeom prst="line">
            <a:avLst/>
          </a:prstGeom>
          <a:ln w="9525" cap="flat" cmpd="sng">
            <a:solidFill>
              <a:schemeClr val="tx1"/>
            </a:solidFill>
            <a:prstDash val="solid"/>
            <a:round/>
            <a:headEnd type="none" w="med" len="med"/>
            <a:tailEnd type="triangle" w="med" len="med"/>
          </a:ln>
        </p:spPr>
      </p:sp>
      <p:graphicFrame>
        <p:nvGraphicFramePr>
          <p:cNvPr id="67" name="Group 174"/>
          <p:cNvGraphicFramePr>
            <a:graphicFrameLocks noGrp="1"/>
          </p:cNvGraphicFramePr>
          <p:nvPr/>
        </p:nvGraphicFramePr>
        <p:xfrm>
          <a:off x="8318495" y="4873621"/>
          <a:ext cx="1325562" cy="773113"/>
        </p:xfrm>
        <a:graphic>
          <a:graphicData uri="http://schemas.openxmlformats.org/drawingml/2006/table">
            <a:tbl>
              <a:tblPr/>
              <a:tblGrid>
                <a:gridCol w="1325562"/>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010(1)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8" name="Rectangle 184"/>
          <p:cNvSpPr>
            <a:spLocks noChangeAspect="1"/>
          </p:cNvSpPr>
          <p:nvPr/>
        </p:nvSpPr>
        <p:spPr>
          <a:xfrm>
            <a:off x="9632945" y="4873621"/>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69" name="Text Box 185"/>
          <p:cNvSpPr txBox="1"/>
          <p:nvPr/>
        </p:nvSpPr>
        <p:spPr>
          <a:xfrm>
            <a:off x="6348407" y="5781671"/>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10</a:t>
            </a:r>
            <a:endParaRPr lang="en-US" altLang="zh-CN" sz="2400" dirty="0">
              <a:latin typeface="Arial" panose="020B0604020202020204" pitchFamily="34" charset="0"/>
              <a:ea typeface="宋体" panose="02010600030101010101" pitchFamily="2" charset="-122"/>
            </a:endParaRPr>
          </a:p>
        </p:txBody>
      </p:sp>
      <p:sp>
        <p:nvSpPr>
          <p:cNvPr id="70" name="Line 186"/>
          <p:cNvSpPr/>
          <p:nvPr/>
        </p:nvSpPr>
        <p:spPr>
          <a:xfrm flipV="1">
            <a:off x="7370757" y="5981696"/>
            <a:ext cx="936625" cy="36513"/>
          </a:xfrm>
          <a:prstGeom prst="line">
            <a:avLst/>
          </a:prstGeom>
          <a:ln w="9525" cap="flat" cmpd="sng">
            <a:solidFill>
              <a:schemeClr val="tx1"/>
            </a:solidFill>
            <a:prstDash val="solid"/>
            <a:round/>
            <a:headEnd type="none" w="med" len="med"/>
            <a:tailEnd type="triangle" w="med" len="med"/>
          </a:ln>
        </p:spPr>
      </p:sp>
      <p:graphicFrame>
        <p:nvGraphicFramePr>
          <p:cNvPr id="71" name="表格 70"/>
          <p:cNvGraphicFramePr/>
          <p:nvPr/>
        </p:nvGraphicFramePr>
        <p:xfrm>
          <a:off x="8328020" y="5708646"/>
          <a:ext cx="1325563" cy="773113"/>
        </p:xfrm>
        <a:graphic>
          <a:graphicData uri="http://schemas.openxmlformats.org/drawingml/2006/table">
            <a:tbl>
              <a:tblPr/>
              <a:tblGrid>
                <a:gridCol w="1325563"/>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10(10)</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93700">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solidFill>
                            <a:srgbClr val="CC0000"/>
                          </a:solidFill>
                          <a:latin typeface="Arial" panose="020B0604020202020204" pitchFamily="34" charset="0"/>
                          <a:ea typeface="宋体" panose="02010600030101010101" pitchFamily="2" charset="-122"/>
                        </a:rPr>
                        <a:t> </a:t>
                      </a:r>
                      <a:endParaRPr lang="en-US" altLang="zh-CN" sz="1800" dirty="0">
                        <a:solidFill>
                          <a:srgbClr val="CC0000"/>
                        </a:solidFill>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72" name="Rectangle 197"/>
          <p:cNvSpPr>
            <a:spLocks noChangeAspect="1"/>
          </p:cNvSpPr>
          <p:nvPr/>
        </p:nvSpPr>
        <p:spPr>
          <a:xfrm>
            <a:off x="9621832" y="5708646"/>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graphicFrame>
        <p:nvGraphicFramePr>
          <p:cNvPr id="73" name="Group 198"/>
          <p:cNvGraphicFramePr>
            <a:graphicFrameLocks noGrp="1"/>
          </p:cNvGraphicFramePr>
          <p:nvPr/>
        </p:nvGraphicFramePr>
        <p:xfrm>
          <a:off x="10107607" y="4865684"/>
          <a:ext cx="1325563" cy="773113"/>
        </p:xfrm>
        <a:graphic>
          <a:graphicData uri="http://schemas.openxmlformats.org/drawingml/2006/table">
            <a:tbl>
              <a:tblPr/>
              <a:tblGrid>
                <a:gridCol w="1325563"/>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rPr>
                        <a:t>011(1)</a:t>
                      </a:r>
                      <a:endPar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4" name="Rectangle 208"/>
          <p:cNvSpPr>
            <a:spLocks noChangeAspect="1"/>
          </p:cNvSpPr>
          <p:nvPr/>
        </p:nvSpPr>
        <p:spPr>
          <a:xfrm>
            <a:off x="11422057" y="4865684"/>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75" name="Line 209"/>
          <p:cNvSpPr/>
          <p:nvPr/>
        </p:nvSpPr>
        <p:spPr>
          <a:xfrm>
            <a:off x="9736132" y="5008559"/>
            <a:ext cx="406400" cy="0"/>
          </a:xfrm>
          <a:prstGeom prst="line">
            <a:avLst/>
          </a:prstGeom>
          <a:ln w="9525" cap="flat" cmpd="sng">
            <a:solidFill>
              <a:schemeClr val="tx1"/>
            </a:solidFill>
            <a:prstDash val="solid"/>
            <a:round/>
            <a:headEnd type="none" w="med" len="med"/>
            <a:tailEnd type="triangle" w="med" len="med"/>
          </a:ln>
        </p:spPr>
      </p:sp>
      <p:grpSp>
        <p:nvGrpSpPr>
          <p:cNvPr id="76" name="Group 3"/>
          <p:cNvGrpSpPr/>
          <p:nvPr/>
        </p:nvGrpSpPr>
        <p:grpSpPr>
          <a:xfrm>
            <a:off x="8178134" y="1133479"/>
            <a:ext cx="3791615" cy="1586894"/>
            <a:chOff x="2708" y="469"/>
            <a:chExt cx="2824" cy="801"/>
          </a:xfrm>
        </p:grpSpPr>
        <p:sp>
          <p:nvSpPr>
            <p:cNvPr id="77" name="AutoShape 39"/>
            <p:cNvSpPr/>
            <p:nvPr/>
          </p:nvSpPr>
          <p:spPr>
            <a:xfrm>
              <a:off x="2708" y="469"/>
              <a:ext cx="2824" cy="801"/>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78" name="Oval 40"/>
            <p:cNvSpPr/>
            <p:nvPr/>
          </p:nvSpPr>
          <p:spPr>
            <a:xfrm>
              <a:off x="2790" y="540"/>
              <a:ext cx="2654" cy="671"/>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79" name="Text Box 84"/>
                <p:cNvSpPr/>
                <p:nvPr/>
              </p:nvSpPr>
              <p:spPr>
                <a:xfrm>
                  <a:off x="2814" y="540"/>
                  <a:ext cx="2521" cy="670"/>
                </a:xfrm>
                <a:prstGeom prst="roundRect">
                  <a:avLst>
                    <a:gd name="adj" fmla="val 16667"/>
                  </a:avLst>
                </a:prstGeom>
                <a:noFill/>
                <a:ln w="9525">
                  <a:noFill/>
                </a:ln>
              </p:spPr>
              <p:txBody>
                <a:bodyPr anchor="t">
                  <a:spAutoFit/>
                </a:bodyPr>
                <a:lstStyle/>
                <a:p>
                  <a:pPr algn="ctr"/>
                  <a14:m>
                    <m:oMath xmlns:m="http://schemas.openxmlformats.org/officeDocument/2006/math">
                      <m:r>
                        <a:rPr lang="en-US" altLang="zh-CN" dirty="0">
                          <a:solidFill>
                            <a:srgbClr val="FFFFFF"/>
                          </a:solidFill>
                          <a:latin typeface="Arial" panose="020B0604020202020204" pitchFamily="34" charset="0"/>
                          <a:ea typeface="华文中宋" panose="02010600040101010101" pitchFamily="2" charset="-122"/>
                        </a:rPr>
                        <m:t>𝒊</m:t>
                      </m:r>
                    </m:oMath>
                  </a14:m>
                  <a:r>
                    <a:rPr lang="en-US" altLang="zh-CN" dirty="0">
                      <a:solidFill>
                        <a:srgbClr val="FFFFFF"/>
                      </a:solidFill>
                      <a:latin typeface="Arial" panose="020B0604020202020204" pitchFamily="34" charset="0"/>
                      <a:ea typeface="华文中宋" panose="02010600040101010101" pitchFamily="2" charset="-122"/>
                    </a:rPr>
                    <a:t>-</a:t>
                  </a:r>
                  <a:r>
                    <a:rPr lang="zh-CN" altLang="en-US" dirty="0">
                      <a:solidFill>
                        <a:srgbClr val="FFFFFF"/>
                      </a:solidFill>
                      <a:latin typeface="Arial" panose="020B0604020202020204" pitchFamily="34" charset="0"/>
                      <a:ea typeface="华文中宋" panose="02010600040101010101" pitchFamily="2" charset="-122"/>
                    </a:rPr>
                    <a:t>当前</a:t>
                  </a:r>
                  <a:r>
                    <a:rPr lang="zh-CN" altLang="en-US" sz="1800" dirty="0">
                      <a:solidFill>
                        <a:srgbClr val="FFFFFF"/>
                      </a:solidFill>
                      <a:latin typeface="Arial" panose="020B0604020202020204" pitchFamily="34" charset="0"/>
                      <a:ea typeface="华文中宋" panose="02010600040101010101" pitchFamily="2" charset="-122"/>
                    </a:rPr>
                    <a:t>使用的散列函数的位数</a:t>
                  </a:r>
                  <a:endParaRPr lang="zh-CN" altLang="en-US" sz="1800" dirty="0">
                    <a:solidFill>
                      <a:srgbClr val="FFFFFF"/>
                    </a:solidFill>
                    <a:latin typeface="Arial" panose="020B0604020202020204" pitchFamily="34" charset="0"/>
                    <a:ea typeface="华文中宋" panose="02010600040101010101" pitchFamily="2" charset="-122"/>
                  </a:endParaRPr>
                </a:p>
                <a:p>
                  <a:pPr algn="ctr"/>
                  <a:r>
                    <a:rPr lang="en-US" altLang="zh-CN" dirty="0">
                      <a:solidFill>
                        <a:srgbClr val="FFFFFF"/>
                      </a:solidFill>
                      <a:latin typeface="Arial" panose="020B0604020202020204" pitchFamily="34" charset="0"/>
                      <a:ea typeface="华文中宋" panose="02010600040101010101" pitchFamily="2" charset="-122"/>
                    </a:rPr>
                    <a:t>n-</a:t>
                  </a:r>
                  <a:r>
                    <a:rPr lang="zh-CN" altLang="en-US" dirty="0">
                      <a:solidFill>
                        <a:srgbClr val="FFFFFF"/>
                      </a:solidFill>
                      <a:latin typeface="Arial" panose="020B0604020202020204" pitchFamily="34" charset="0"/>
                      <a:ea typeface="华文中宋" panose="02010600040101010101" pitchFamily="2" charset="-122"/>
                    </a:rPr>
                    <a:t>当前的桶数</a:t>
                  </a:r>
                  <a:endParaRPr lang="zh-CN" altLang="en-US" dirty="0">
                    <a:solidFill>
                      <a:srgbClr val="FFFFFF"/>
                    </a:solidFill>
                    <a:latin typeface="Arial" panose="020B0604020202020204" pitchFamily="34" charset="0"/>
                    <a:ea typeface="华文中宋" panose="02010600040101010101" pitchFamily="2" charset="-122"/>
                  </a:endParaRPr>
                </a:p>
                <a:p>
                  <a:pPr algn="ctr"/>
                  <a14:m>
                    <m:oMath xmlns:m="http://schemas.openxmlformats.org/officeDocument/2006/math">
                      <m:r>
                        <a:rPr lang="en-US" altLang="zh-CN" dirty="0">
                          <a:solidFill>
                            <a:srgbClr val="FFFFFF"/>
                          </a:solidFill>
                          <a:latin typeface="Arial" panose="020B0604020202020204" pitchFamily="34" charset="0"/>
                          <a:ea typeface="华文中宋" panose="02010600040101010101" pitchFamily="2" charset="-122"/>
                        </a:rPr>
                        <m:t>𝒊</m:t>
                      </m:r>
                    </m:oMath>
                  </a14:m>
                  <a:r>
                    <a:rPr lang="en-US" altLang="zh-CN" dirty="0">
                      <a:solidFill>
                        <a:srgbClr val="FFFFFF"/>
                      </a:solidFill>
                      <a:latin typeface="Arial" panose="020B0604020202020204" pitchFamily="34" charset="0"/>
                      <a:ea typeface="华文中宋" panose="02010600040101010101" pitchFamily="2" charset="-122"/>
                    </a:rPr>
                    <a:t>-</a:t>
                  </a:r>
                  <a:r>
                    <a:rPr lang="zh-CN" altLang="en-US" dirty="0">
                      <a:solidFill>
                        <a:srgbClr val="FFFFFF"/>
                      </a:solidFill>
                      <a:latin typeface="Arial" panose="020B0604020202020204" pitchFamily="34" charset="0"/>
                      <a:ea typeface="华文中宋" panose="02010600040101010101" pitchFamily="2" charset="-122"/>
                    </a:rPr>
                    <a:t>当前散列表中的记录总数</a:t>
                  </a:r>
                  <a:endParaRPr lang="zh-CN" altLang="en-US" dirty="0">
                    <a:solidFill>
                      <a:srgbClr val="FFFFFF"/>
                    </a:solidFill>
                    <a:latin typeface="Arial" panose="020B0604020202020204" pitchFamily="34" charset="0"/>
                    <a:ea typeface="华文中宋" panose="02010600040101010101" pitchFamily="2" charset="-122"/>
                  </a:endParaRPr>
                </a:p>
                <a:p>
                  <a:pPr algn="ctr"/>
                  <a:r>
                    <a:rPr lang="zh-CN" altLang="en-US" dirty="0">
                      <a:solidFill>
                        <a:srgbClr val="FFFFFF"/>
                      </a:solidFill>
                      <a:latin typeface="Arial" panose="020B0604020202020204" pitchFamily="34" charset="0"/>
                      <a:ea typeface="华文中宋" panose="02010600040101010101" pitchFamily="2" charset="-122"/>
                    </a:rPr>
                    <a:t>要求 </a:t>
                  </a:r>
                  <a:r>
                    <a:rPr lang="en-US" altLang="zh-CN" dirty="0">
                      <a:solidFill>
                        <a:srgbClr val="FFFFFF"/>
                      </a:solidFill>
                      <a:latin typeface="Arial" panose="020B0604020202020204" pitchFamily="34" charset="0"/>
                      <a:ea typeface="华文中宋" panose="02010600040101010101" pitchFamily="2" charset="-122"/>
                    </a:rPr>
                    <a:t>r&lt;=1.7n</a:t>
                  </a:r>
                  <a:endParaRPr lang="en-US" altLang="zh-CN" dirty="0">
                    <a:solidFill>
                      <a:srgbClr val="FFFFFF"/>
                    </a:solidFill>
                    <a:latin typeface="Arial" panose="020B0604020202020204" pitchFamily="34" charset="0"/>
                    <a:ea typeface="华文中宋" panose="02010600040101010101" pitchFamily="2" charset="-122"/>
                  </a:endParaRPr>
                </a:p>
              </p:txBody>
            </p:sp>
          </mc:Choice>
          <mc:Fallback>
            <p:sp>
              <p:nvSpPr>
                <p:cNvPr id="79" name="Text Box 84"/>
                <p:cNvSpPr>
                  <a:spLocks noRot="1" noChangeAspect="1" noMove="1" noResize="1" noEditPoints="1" noAdjustHandles="1" noChangeArrowheads="1" noChangeShapeType="1" noTextEdit="1"/>
                </p:cNvSpPr>
                <p:nvPr/>
              </p:nvSpPr>
              <p:spPr>
                <a:xfrm>
                  <a:off x="2814" y="540"/>
                  <a:ext cx="2521" cy="670"/>
                </a:xfrm>
                <a:prstGeom prst="roundRect">
                  <a:avLst>
                    <a:gd name="adj" fmla="val 16667"/>
                  </a:avLst>
                </a:prstGeom>
                <a:blipFill rotWithShape="1">
                  <a:blip r:embed="rId3"/>
                </a:blipFill>
                <a:ln w="9525">
                  <a:noFill/>
                </a:ln>
              </p:spPr>
              <p:txBody>
                <a:bodyPr/>
                <a:lstStyle/>
                <a:p>
                  <a:r>
                    <a:rPr lang="zh-CN" altLang="en-US">
                      <a:noFill/>
                    </a:rPr>
                    <a:t> </a:t>
                  </a:r>
                </a:p>
              </p:txBody>
            </p:sp>
          </mc:Fallback>
        </mc:AlternateContent>
      </p:gr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fill="hold"/>
                                        <p:tgtEl>
                                          <p:spTgt spid="39"/>
                                        </p:tgtEl>
                                        <p:attrNameLst>
                                          <p:attrName>ppt_x</p:attrName>
                                        </p:attrNameLst>
                                      </p:cBhvr>
                                      <p:tavLst>
                                        <p:tav tm="0">
                                          <p:val>
                                            <p:strVal val="#ppt_x"/>
                                          </p:val>
                                        </p:tav>
                                        <p:tav tm="100000">
                                          <p:val>
                                            <p:strVal val="#ppt_x"/>
                                          </p:val>
                                        </p:tav>
                                      </p:tavLst>
                                    </p:anim>
                                    <p:anim calcmode="lin" valueType="num">
                                      <p:cBhvr additive="base">
                                        <p:cTn id="12" dur="500" fill="hold"/>
                                        <p:tgtEl>
                                          <p:spTgt spid="3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ppt_x"/>
                                          </p:val>
                                        </p:tav>
                                        <p:tav tm="100000">
                                          <p:val>
                                            <p:strVal val="#ppt_x"/>
                                          </p:val>
                                        </p:tav>
                                      </p:tavLst>
                                    </p:anim>
                                    <p:anim calcmode="lin" valueType="num">
                                      <p:cBhvr additive="base">
                                        <p:cTn id="16" dur="500" fill="hold"/>
                                        <p:tgtEl>
                                          <p:spTgt spid="4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ppt_x"/>
                                          </p:val>
                                        </p:tav>
                                        <p:tav tm="100000">
                                          <p:val>
                                            <p:strVal val="#ppt_x"/>
                                          </p:val>
                                        </p:tav>
                                      </p:tavLst>
                                    </p:anim>
                                    <p:anim calcmode="lin" valueType="num">
                                      <p:cBhvr additive="base">
                                        <p:cTn id="20" dur="500" fill="hold"/>
                                        <p:tgtEl>
                                          <p:spTgt spid="4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ppt_x"/>
                                          </p:val>
                                        </p:tav>
                                        <p:tav tm="100000">
                                          <p:val>
                                            <p:strVal val="#ppt_x"/>
                                          </p:val>
                                        </p:tav>
                                      </p:tavLst>
                                    </p:anim>
                                    <p:anim calcmode="lin" valueType="num">
                                      <p:cBhvr additive="base">
                                        <p:cTn id="24" dur="500" fill="hold"/>
                                        <p:tgtEl>
                                          <p:spTgt spid="4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anim calcmode="lin" valueType="num">
                                      <p:cBhvr additive="base">
                                        <p:cTn id="27" dur="500" fill="hold"/>
                                        <p:tgtEl>
                                          <p:spTgt spid="43"/>
                                        </p:tgtEl>
                                        <p:attrNameLst>
                                          <p:attrName>ppt_x</p:attrName>
                                        </p:attrNameLst>
                                      </p:cBhvr>
                                      <p:tavLst>
                                        <p:tav tm="0">
                                          <p:val>
                                            <p:strVal val="#ppt_x"/>
                                          </p:val>
                                        </p:tav>
                                        <p:tav tm="100000">
                                          <p:val>
                                            <p:strVal val="#ppt_x"/>
                                          </p:val>
                                        </p:tav>
                                      </p:tavLst>
                                    </p:anim>
                                    <p:anim calcmode="lin" valueType="num">
                                      <p:cBhvr additive="base">
                                        <p:cTn id="28" dur="500" fill="hold"/>
                                        <p:tgtEl>
                                          <p:spTgt spid="4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anim calcmode="lin" valueType="num">
                                      <p:cBhvr additive="base">
                                        <p:cTn id="31" dur="500" fill="hold"/>
                                        <p:tgtEl>
                                          <p:spTgt spid="44"/>
                                        </p:tgtEl>
                                        <p:attrNameLst>
                                          <p:attrName>ppt_x</p:attrName>
                                        </p:attrNameLst>
                                      </p:cBhvr>
                                      <p:tavLst>
                                        <p:tav tm="0">
                                          <p:val>
                                            <p:strVal val="#ppt_x"/>
                                          </p:val>
                                        </p:tav>
                                        <p:tav tm="100000">
                                          <p:val>
                                            <p:strVal val="#ppt_x"/>
                                          </p:val>
                                        </p:tav>
                                      </p:tavLst>
                                    </p:anim>
                                    <p:anim calcmode="lin" valueType="num">
                                      <p:cBhvr additive="base">
                                        <p:cTn id="32" dur="500" fill="hold"/>
                                        <p:tgtEl>
                                          <p:spTgt spid="44"/>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6"/>
                                        </p:tgtEl>
                                        <p:attrNameLst>
                                          <p:attrName>style.visibility</p:attrName>
                                        </p:attrNameLst>
                                      </p:cBhvr>
                                      <p:to>
                                        <p:strVal val="visible"/>
                                      </p:to>
                                    </p:set>
                                    <p:anim calcmode="lin" valueType="num">
                                      <p:cBhvr additive="base">
                                        <p:cTn id="35" dur="500" fill="hold"/>
                                        <p:tgtEl>
                                          <p:spTgt spid="66"/>
                                        </p:tgtEl>
                                        <p:attrNameLst>
                                          <p:attrName>ppt_x</p:attrName>
                                        </p:attrNameLst>
                                      </p:cBhvr>
                                      <p:tavLst>
                                        <p:tav tm="0">
                                          <p:val>
                                            <p:strVal val="#ppt_x"/>
                                          </p:val>
                                        </p:tav>
                                        <p:tav tm="100000">
                                          <p:val>
                                            <p:strVal val="#ppt_x"/>
                                          </p:val>
                                        </p:tav>
                                      </p:tavLst>
                                    </p:anim>
                                    <p:anim calcmode="lin" valueType="num">
                                      <p:cBhvr additive="base">
                                        <p:cTn id="36" dur="500" fill="hold"/>
                                        <p:tgtEl>
                                          <p:spTgt spid="66"/>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7"/>
                                        </p:tgtEl>
                                        <p:attrNameLst>
                                          <p:attrName>style.visibility</p:attrName>
                                        </p:attrNameLst>
                                      </p:cBhvr>
                                      <p:to>
                                        <p:strVal val="visible"/>
                                      </p:to>
                                    </p:set>
                                    <p:anim calcmode="lin" valueType="num">
                                      <p:cBhvr additive="base">
                                        <p:cTn id="39" dur="500" fill="hold"/>
                                        <p:tgtEl>
                                          <p:spTgt spid="67"/>
                                        </p:tgtEl>
                                        <p:attrNameLst>
                                          <p:attrName>ppt_x</p:attrName>
                                        </p:attrNameLst>
                                      </p:cBhvr>
                                      <p:tavLst>
                                        <p:tav tm="0">
                                          <p:val>
                                            <p:strVal val="#ppt_x"/>
                                          </p:val>
                                        </p:tav>
                                        <p:tav tm="100000">
                                          <p:val>
                                            <p:strVal val="#ppt_x"/>
                                          </p:val>
                                        </p:tav>
                                      </p:tavLst>
                                    </p:anim>
                                    <p:anim calcmode="lin" valueType="num">
                                      <p:cBhvr additive="base">
                                        <p:cTn id="40" dur="500" fill="hold"/>
                                        <p:tgtEl>
                                          <p:spTgt spid="67"/>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8"/>
                                        </p:tgtEl>
                                        <p:attrNameLst>
                                          <p:attrName>style.visibility</p:attrName>
                                        </p:attrNameLst>
                                      </p:cBhvr>
                                      <p:to>
                                        <p:strVal val="visible"/>
                                      </p:to>
                                    </p:set>
                                    <p:anim calcmode="lin" valueType="num">
                                      <p:cBhvr additive="base">
                                        <p:cTn id="43" dur="500" fill="hold"/>
                                        <p:tgtEl>
                                          <p:spTgt spid="68"/>
                                        </p:tgtEl>
                                        <p:attrNameLst>
                                          <p:attrName>ppt_x</p:attrName>
                                        </p:attrNameLst>
                                      </p:cBhvr>
                                      <p:tavLst>
                                        <p:tav tm="0">
                                          <p:val>
                                            <p:strVal val="#ppt_x"/>
                                          </p:val>
                                        </p:tav>
                                        <p:tav tm="100000">
                                          <p:val>
                                            <p:strVal val="#ppt_x"/>
                                          </p:val>
                                        </p:tav>
                                      </p:tavLst>
                                    </p:anim>
                                    <p:anim calcmode="lin" valueType="num">
                                      <p:cBhvr additive="base">
                                        <p:cTn id="44" dur="500" fill="hold"/>
                                        <p:tgtEl>
                                          <p:spTgt spid="6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69"/>
                                        </p:tgtEl>
                                        <p:attrNameLst>
                                          <p:attrName>style.visibility</p:attrName>
                                        </p:attrNameLst>
                                      </p:cBhvr>
                                      <p:to>
                                        <p:strVal val="visible"/>
                                      </p:to>
                                    </p:set>
                                    <p:anim calcmode="lin" valueType="num">
                                      <p:cBhvr additive="base">
                                        <p:cTn id="47" dur="500" fill="hold"/>
                                        <p:tgtEl>
                                          <p:spTgt spid="69"/>
                                        </p:tgtEl>
                                        <p:attrNameLst>
                                          <p:attrName>ppt_x</p:attrName>
                                        </p:attrNameLst>
                                      </p:cBhvr>
                                      <p:tavLst>
                                        <p:tav tm="0">
                                          <p:val>
                                            <p:strVal val="#ppt_x"/>
                                          </p:val>
                                        </p:tav>
                                        <p:tav tm="100000">
                                          <p:val>
                                            <p:strVal val="#ppt_x"/>
                                          </p:val>
                                        </p:tav>
                                      </p:tavLst>
                                    </p:anim>
                                    <p:anim calcmode="lin" valueType="num">
                                      <p:cBhvr additive="base">
                                        <p:cTn id="48" dur="500" fill="hold"/>
                                        <p:tgtEl>
                                          <p:spTgt spid="69"/>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70"/>
                                        </p:tgtEl>
                                        <p:attrNameLst>
                                          <p:attrName>style.visibility</p:attrName>
                                        </p:attrNameLst>
                                      </p:cBhvr>
                                      <p:to>
                                        <p:strVal val="visible"/>
                                      </p:to>
                                    </p:set>
                                    <p:anim calcmode="lin" valueType="num">
                                      <p:cBhvr additive="base">
                                        <p:cTn id="51" dur="500" fill="hold"/>
                                        <p:tgtEl>
                                          <p:spTgt spid="70"/>
                                        </p:tgtEl>
                                        <p:attrNameLst>
                                          <p:attrName>ppt_x</p:attrName>
                                        </p:attrNameLst>
                                      </p:cBhvr>
                                      <p:tavLst>
                                        <p:tav tm="0">
                                          <p:val>
                                            <p:strVal val="#ppt_x"/>
                                          </p:val>
                                        </p:tav>
                                        <p:tav tm="100000">
                                          <p:val>
                                            <p:strVal val="#ppt_x"/>
                                          </p:val>
                                        </p:tav>
                                      </p:tavLst>
                                    </p:anim>
                                    <p:anim calcmode="lin" valueType="num">
                                      <p:cBhvr additive="base">
                                        <p:cTn id="52" dur="500" fill="hold"/>
                                        <p:tgtEl>
                                          <p:spTgt spid="70"/>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71"/>
                                        </p:tgtEl>
                                        <p:attrNameLst>
                                          <p:attrName>style.visibility</p:attrName>
                                        </p:attrNameLst>
                                      </p:cBhvr>
                                      <p:to>
                                        <p:strVal val="visible"/>
                                      </p:to>
                                    </p:set>
                                    <p:anim calcmode="lin" valueType="num">
                                      <p:cBhvr additive="base">
                                        <p:cTn id="55" dur="500" fill="hold"/>
                                        <p:tgtEl>
                                          <p:spTgt spid="71"/>
                                        </p:tgtEl>
                                        <p:attrNameLst>
                                          <p:attrName>ppt_x</p:attrName>
                                        </p:attrNameLst>
                                      </p:cBhvr>
                                      <p:tavLst>
                                        <p:tav tm="0">
                                          <p:val>
                                            <p:strVal val="#ppt_x"/>
                                          </p:val>
                                        </p:tav>
                                        <p:tav tm="100000">
                                          <p:val>
                                            <p:strVal val="#ppt_x"/>
                                          </p:val>
                                        </p:tav>
                                      </p:tavLst>
                                    </p:anim>
                                    <p:anim calcmode="lin" valueType="num">
                                      <p:cBhvr additive="base">
                                        <p:cTn id="56" dur="500" fill="hold"/>
                                        <p:tgtEl>
                                          <p:spTgt spid="71"/>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72"/>
                                        </p:tgtEl>
                                        <p:attrNameLst>
                                          <p:attrName>style.visibility</p:attrName>
                                        </p:attrNameLst>
                                      </p:cBhvr>
                                      <p:to>
                                        <p:strVal val="visible"/>
                                      </p:to>
                                    </p:set>
                                    <p:anim calcmode="lin" valueType="num">
                                      <p:cBhvr additive="base">
                                        <p:cTn id="59" dur="500" fill="hold"/>
                                        <p:tgtEl>
                                          <p:spTgt spid="72"/>
                                        </p:tgtEl>
                                        <p:attrNameLst>
                                          <p:attrName>ppt_x</p:attrName>
                                        </p:attrNameLst>
                                      </p:cBhvr>
                                      <p:tavLst>
                                        <p:tav tm="0">
                                          <p:val>
                                            <p:strVal val="#ppt_x"/>
                                          </p:val>
                                        </p:tav>
                                        <p:tav tm="100000">
                                          <p:val>
                                            <p:strVal val="#ppt_x"/>
                                          </p:val>
                                        </p:tav>
                                      </p:tavLst>
                                    </p:anim>
                                    <p:anim calcmode="lin" valueType="num">
                                      <p:cBhvr additive="base">
                                        <p:cTn id="60" dur="500" fill="hold"/>
                                        <p:tgtEl>
                                          <p:spTgt spid="72"/>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73"/>
                                        </p:tgtEl>
                                        <p:attrNameLst>
                                          <p:attrName>style.visibility</p:attrName>
                                        </p:attrNameLst>
                                      </p:cBhvr>
                                      <p:to>
                                        <p:strVal val="visible"/>
                                      </p:to>
                                    </p:set>
                                    <p:anim calcmode="lin" valueType="num">
                                      <p:cBhvr additive="base">
                                        <p:cTn id="63" dur="500" fill="hold"/>
                                        <p:tgtEl>
                                          <p:spTgt spid="73"/>
                                        </p:tgtEl>
                                        <p:attrNameLst>
                                          <p:attrName>ppt_x</p:attrName>
                                        </p:attrNameLst>
                                      </p:cBhvr>
                                      <p:tavLst>
                                        <p:tav tm="0">
                                          <p:val>
                                            <p:strVal val="#ppt_x"/>
                                          </p:val>
                                        </p:tav>
                                        <p:tav tm="100000">
                                          <p:val>
                                            <p:strVal val="#ppt_x"/>
                                          </p:val>
                                        </p:tav>
                                      </p:tavLst>
                                    </p:anim>
                                    <p:anim calcmode="lin" valueType="num">
                                      <p:cBhvr additive="base">
                                        <p:cTn id="64" dur="500" fill="hold"/>
                                        <p:tgtEl>
                                          <p:spTgt spid="73"/>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74"/>
                                        </p:tgtEl>
                                        <p:attrNameLst>
                                          <p:attrName>style.visibility</p:attrName>
                                        </p:attrNameLst>
                                      </p:cBhvr>
                                      <p:to>
                                        <p:strVal val="visible"/>
                                      </p:to>
                                    </p:set>
                                    <p:anim calcmode="lin" valueType="num">
                                      <p:cBhvr additive="base">
                                        <p:cTn id="67" dur="500" fill="hold"/>
                                        <p:tgtEl>
                                          <p:spTgt spid="74"/>
                                        </p:tgtEl>
                                        <p:attrNameLst>
                                          <p:attrName>ppt_x</p:attrName>
                                        </p:attrNameLst>
                                      </p:cBhvr>
                                      <p:tavLst>
                                        <p:tav tm="0">
                                          <p:val>
                                            <p:strVal val="#ppt_x"/>
                                          </p:val>
                                        </p:tav>
                                        <p:tav tm="100000">
                                          <p:val>
                                            <p:strVal val="#ppt_x"/>
                                          </p:val>
                                        </p:tav>
                                      </p:tavLst>
                                    </p:anim>
                                    <p:anim calcmode="lin" valueType="num">
                                      <p:cBhvr additive="base">
                                        <p:cTn id="68" dur="500" fill="hold"/>
                                        <p:tgtEl>
                                          <p:spTgt spid="74"/>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75"/>
                                        </p:tgtEl>
                                        <p:attrNameLst>
                                          <p:attrName>style.visibility</p:attrName>
                                        </p:attrNameLst>
                                      </p:cBhvr>
                                      <p:to>
                                        <p:strVal val="visible"/>
                                      </p:to>
                                    </p:set>
                                    <p:anim calcmode="lin" valueType="num">
                                      <p:cBhvr additive="base">
                                        <p:cTn id="71" dur="500" fill="hold"/>
                                        <p:tgtEl>
                                          <p:spTgt spid="75"/>
                                        </p:tgtEl>
                                        <p:attrNameLst>
                                          <p:attrName>ppt_x</p:attrName>
                                        </p:attrNameLst>
                                      </p:cBhvr>
                                      <p:tavLst>
                                        <p:tav tm="0">
                                          <p:val>
                                            <p:strVal val="#ppt_x"/>
                                          </p:val>
                                        </p:tav>
                                        <p:tav tm="100000">
                                          <p:val>
                                            <p:strVal val="#ppt_x"/>
                                          </p:val>
                                        </p:tav>
                                      </p:tavLst>
                                    </p:anim>
                                    <p:anim calcmode="lin" valueType="num">
                                      <p:cBhvr additive="base">
                                        <p:cTn id="72"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ldLvl="0" animBg="1"/>
      <p:bldP spid="43" grpId="0"/>
      <p:bldP spid="44" grpId="0"/>
      <p:bldP spid="68" grpId="0" bldLvl="0" animBg="1"/>
      <p:bldP spid="69" grpId="0"/>
      <p:bldP spid="72" grpId="0" bldLvl="0" animBg="1"/>
      <p:bldP spid="74" grpId="0" bldLvl="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(3) </a:t>
            </a:r>
            <a:r>
              <a:rPr lang="zh-CN" altLang="en-US" sz="2600" dirty="0">
                <a:latin typeface="微软雅黑" panose="020B0503020204020204" pitchFamily="34" charset="-122"/>
                <a:ea typeface="微软雅黑" panose="020B0503020204020204" pitchFamily="34" charset="-122"/>
              </a:rPr>
              <a:t>操作示例</a:t>
            </a:r>
            <a:endParaRPr lang="en-US" altLang="zh-CN" sz="2600" dirty="0">
              <a:latin typeface="微软雅黑" panose="020B0503020204020204" pitchFamily="34" charset="-122"/>
              <a:ea typeface="微软雅黑" panose="020B0503020204020204" pitchFamily="34" charset="-122"/>
            </a:endParaRPr>
          </a:p>
          <a:p>
            <a:pPr>
              <a:spcBef>
                <a:spcPct val="20000"/>
              </a:spcBef>
              <a:buFont typeface="Wingdings" panose="05000000000000000000" pitchFamily="2" charset="2"/>
              <a:buChar char="l"/>
            </a:pPr>
            <a:endParaRPr lang="zh-CN" altLang="en-US" sz="21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en-US" altLang="zh-CN" sz="210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线性</a:t>
            </a:r>
            <a:r>
              <a:rPr lang="zh-CN" altLang="zh-CN"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pSp>
        <p:nvGrpSpPr>
          <p:cNvPr id="2" name="Group 3"/>
          <p:cNvGrpSpPr/>
          <p:nvPr/>
        </p:nvGrpSpPr>
        <p:grpSpPr>
          <a:xfrm>
            <a:off x="5464435" y="1292839"/>
            <a:ext cx="5835122" cy="1233904"/>
            <a:chOff x="2752" y="469"/>
            <a:chExt cx="2780" cy="847"/>
          </a:xfrm>
        </p:grpSpPr>
        <p:sp>
          <p:nvSpPr>
            <p:cNvPr id="4" name="AutoShape 39"/>
            <p:cNvSpPr/>
            <p:nvPr/>
          </p:nvSpPr>
          <p:spPr>
            <a:xfrm>
              <a:off x="2752" y="469"/>
              <a:ext cx="2780" cy="847"/>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7" name="Oval 40"/>
            <p:cNvSpPr/>
            <p:nvPr/>
          </p:nvSpPr>
          <p:spPr>
            <a:xfrm>
              <a:off x="2814" y="540"/>
              <a:ext cx="2630" cy="690"/>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8" name="Text Box 84"/>
                <p:cNvSpPr/>
                <p:nvPr/>
              </p:nvSpPr>
              <p:spPr>
                <a:xfrm>
                  <a:off x="2814" y="540"/>
                  <a:ext cx="2521" cy="701"/>
                </a:xfrm>
                <a:prstGeom prst="roundRect">
                  <a:avLst>
                    <a:gd name="adj" fmla="val 16667"/>
                  </a:avLst>
                </a:prstGeom>
                <a:noFill/>
                <a:ln w="9525">
                  <a:noFill/>
                </a:ln>
              </p:spPr>
              <p:txBody>
                <a:bodyPr anchor="t">
                  <a:spAutoFit/>
                </a:bodyPr>
                <a:lstStyle/>
                <a:p>
                  <a:pPr marL="285750" indent="-285750">
                    <a:buFont typeface="Arial" panose="020B0604020202020204" pitchFamily="34" charset="0"/>
                    <a:buChar char="•"/>
                  </a:pPr>
                  <a14:m>
                    <m:oMath xmlns:m="http://schemas.openxmlformats.org/officeDocument/2006/math">
                      <m:r>
                        <a:rPr lang="en-US" altLang="zh-CN" dirty="0">
                          <a:solidFill>
                            <a:srgbClr val="FFFFFF"/>
                          </a:solidFill>
                          <a:latin typeface="Arial" panose="020B0604020202020204" pitchFamily="34" charset="0"/>
                          <a:ea typeface="华文中宋" panose="02010600040101010101" pitchFamily="2" charset="-122"/>
                        </a:rPr>
                        <m:t>𝒊</m:t>
                      </m:r>
                      <m:r>
                        <a:rPr lang="en-US" altLang="zh-CN" dirty="0">
                          <a:solidFill>
                            <a:srgbClr val="FFFFFF"/>
                          </a:solidFill>
                          <a:latin typeface="Arial" panose="020B0604020202020204" pitchFamily="34" charset="0"/>
                          <a:ea typeface="华文中宋" panose="02010600040101010101" pitchFamily="2" charset="-122"/>
                        </a:rPr>
                        <m:t> </m:t>
                      </m:r>
                    </m:oMath>
                  </a14:m>
                  <a:r>
                    <a:rPr lang="en-US" altLang="zh-CN" dirty="0">
                      <a:solidFill>
                        <a:srgbClr val="FFFFFF"/>
                      </a:solidFill>
                      <a:latin typeface="Arial" panose="020B0604020202020204" pitchFamily="34" charset="0"/>
                      <a:ea typeface="华文中宋" panose="02010600040101010101" pitchFamily="2" charset="-122"/>
                    </a:rPr>
                    <a:t>-</a:t>
                  </a:r>
                  <a:r>
                    <a:rPr lang="zh-CN" altLang="en-US" dirty="0">
                      <a:solidFill>
                        <a:srgbClr val="FFFFFF"/>
                      </a:solidFill>
                      <a:latin typeface="Arial" panose="020B0604020202020204" pitchFamily="34" charset="0"/>
                      <a:ea typeface="华文中宋" panose="02010600040101010101" pitchFamily="2" charset="-122"/>
                    </a:rPr>
                    <a:t>当前</a:t>
                  </a:r>
                  <a:r>
                    <a:rPr lang="zh-CN" altLang="en-US" sz="1800" dirty="0">
                      <a:solidFill>
                        <a:srgbClr val="FFFFFF"/>
                      </a:solidFill>
                      <a:latin typeface="Arial" panose="020B0604020202020204" pitchFamily="34" charset="0"/>
                      <a:ea typeface="华文中宋" panose="02010600040101010101" pitchFamily="2" charset="-122"/>
                    </a:rPr>
                    <a:t>使用的散列函数的位数</a:t>
                  </a:r>
                  <a:endParaRPr lang="zh-CN" altLang="en-US" sz="1800" dirty="0">
                    <a:solidFill>
                      <a:srgbClr val="FFFFFF"/>
                    </a:solidFill>
                    <a:latin typeface="Arial" panose="020B0604020202020204" pitchFamily="34" charset="0"/>
                    <a:ea typeface="华文中宋" panose="02010600040101010101" pitchFamily="2" charset="-122"/>
                  </a:endParaRPr>
                </a:p>
                <a:p>
                  <a:pPr marL="285750" indent="-285750">
                    <a:buFont typeface="Arial" panose="020B0604020202020204" pitchFamily="34" charset="0"/>
                    <a:buChar char="•"/>
                  </a:pPr>
                  <a:r>
                    <a:rPr lang="en-US" altLang="zh-CN" dirty="0">
                      <a:solidFill>
                        <a:srgbClr val="FFFFFF"/>
                      </a:solidFill>
                      <a:latin typeface="Arial" panose="020B0604020202020204" pitchFamily="34" charset="0"/>
                      <a:ea typeface="华文中宋" panose="02010600040101010101" pitchFamily="2" charset="-122"/>
                    </a:rPr>
                    <a:t>n-</a:t>
                  </a:r>
                  <a:r>
                    <a:rPr lang="zh-CN" altLang="en-US" dirty="0">
                      <a:solidFill>
                        <a:srgbClr val="FFFFFF"/>
                      </a:solidFill>
                      <a:latin typeface="Arial" panose="020B0604020202020204" pitchFamily="34" charset="0"/>
                      <a:ea typeface="华文中宋" panose="02010600040101010101" pitchFamily="2" charset="-122"/>
                    </a:rPr>
                    <a:t>当前的桶数</a:t>
                  </a:r>
                  <a:endParaRPr lang="zh-CN" altLang="en-US" dirty="0">
                    <a:solidFill>
                      <a:srgbClr val="FFFFFF"/>
                    </a:solidFill>
                    <a:latin typeface="Arial" panose="020B0604020202020204" pitchFamily="34" charset="0"/>
                    <a:ea typeface="华文中宋" panose="02010600040101010101" pitchFamily="2" charset="-122"/>
                  </a:endParaRPr>
                </a:p>
                <a:p>
                  <a:pPr marL="285750" indent="-285750">
                    <a:buFont typeface="Arial" panose="020B0604020202020204" pitchFamily="34" charset="0"/>
                    <a:buChar char="•"/>
                  </a:pPr>
                  <a:r>
                    <a:rPr lang="en-US" altLang="zh-CN" dirty="0">
                      <a:solidFill>
                        <a:srgbClr val="FFFFFF"/>
                      </a:solidFill>
                      <a:latin typeface="Arial" panose="020B0604020202020204" pitchFamily="34" charset="0"/>
                      <a:ea typeface="华文中宋" panose="02010600040101010101" pitchFamily="2" charset="-122"/>
                    </a:rPr>
                    <a:t>r-</a:t>
                  </a:r>
                  <a:r>
                    <a:rPr lang="zh-CN" altLang="en-US" dirty="0">
                      <a:solidFill>
                        <a:srgbClr val="FFFFFF"/>
                      </a:solidFill>
                      <a:latin typeface="Arial" panose="020B0604020202020204" pitchFamily="34" charset="0"/>
                      <a:ea typeface="华文中宋" panose="02010600040101010101" pitchFamily="2" charset="-122"/>
                    </a:rPr>
                    <a:t>当前散列表中的记录总数，要求 </a:t>
                  </a:r>
                  <a:r>
                    <a:rPr lang="en-US" altLang="zh-CN" dirty="0">
                      <a:solidFill>
                        <a:srgbClr val="FFFFFF"/>
                      </a:solidFill>
                      <a:latin typeface="Arial" panose="020B0604020202020204" pitchFamily="34" charset="0"/>
                      <a:ea typeface="华文中宋" panose="02010600040101010101" pitchFamily="2" charset="-122"/>
                    </a:rPr>
                    <a:t>r&lt;=1.7n</a:t>
                  </a:r>
                  <a:endParaRPr lang="en-US" altLang="zh-CN" dirty="0">
                    <a:solidFill>
                      <a:srgbClr val="FFFFFF"/>
                    </a:solidFill>
                    <a:latin typeface="Arial" panose="020B0604020202020204" pitchFamily="34" charset="0"/>
                    <a:ea typeface="华文中宋" panose="02010600040101010101" pitchFamily="2" charset="-122"/>
                  </a:endParaRPr>
                </a:p>
              </p:txBody>
            </p:sp>
          </mc:Choice>
          <mc:Fallback>
            <p:sp>
              <p:nvSpPr>
                <p:cNvPr id="8" name="Text Box 84"/>
                <p:cNvSpPr>
                  <a:spLocks noRot="1" noChangeAspect="1" noMove="1" noResize="1" noEditPoints="1" noAdjustHandles="1" noChangeArrowheads="1" noChangeShapeType="1" noTextEdit="1"/>
                </p:cNvSpPr>
                <p:nvPr/>
              </p:nvSpPr>
              <p:spPr>
                <a:xfrm>
                  <a:off x="2814" y="540"/>
                  <a:ext cx="2521" cy="701"/>
                </a:xfrm>
                <a:prstGeom prst="roundRect">
                  <a:avLst>
                    <a:gd name="adj" fmla="val 16667"/>
                  </a:avLst>
                </a:prstGeom>
                <a:blipFill rotWithShape="1">
                  <a:blip r:embed="rId1"/>
                </a:blipFill>
                <a:ln w="9525">
                  <a:noFill/>
                </a:ln>
              </p:spPr>
              <p:txBody>
                <a:bodyPr/>
                <a:lstStyle/>
                <a:p>
                  <a:r>
                    <a:rPr lang="zh-CN" altLang="en-US">
                      <a:noFill/>
                    </a:rPr>
                    <a:t> </a:t>
                  </a:r>
                </a:p>
              </p:txBody>
            </p:sp>
          </mc:Fallback>
        </mc:AlternateContent>
      </p:grpSp>
      <p:graphicFrame>
        <p:nvGraphicFramePr>
          <p:cNvPr id="10" name="表格 9"/>
          <p:cNvGraphicFramePr/>
          <p:nvPr/>
        </p:nvGraphicFramePr>
        <p:xfrm>
          <a:off x="9259883" y="3018813"/>
          <a:ext cx="1325563" cy="757238"/>
        </p:xfrm>
        <a:graphic>
          <a:graphicData uri="http://schemas.openxmlformats.org/drawingml/2006/table">
            <a:tbl>
              <a:tblPr/>
              <a:tblGrid>
                <a:gridCol w="1325563"/>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00(00)</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1" name="Group 153"/>
          <p:cNvGraphicFramePr>
            <a:graphicFrameLocks noGrp="1"/>
          </p:cNvGraphicFramePr>
          <p:nvPr/>
        </p:nvGraphicFramePr>
        <p:xfrm>
          <a:off x="7832721" y="4090376"/>
          <a:ext cx="914400" cy="1512888"/>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12" name="Group 100"/>
              <p:cNvGraphicFramePr>
                <a:graphicFrameLocks noGrp="1"/>
              </p:cNvGraphicFramePr>
              <p:nvPr/>
            </p:nvGraphicFramePr>
            <p:xfrm>
              <a:off x="7823196" y="2666388"/>
              <a:ext cx="655637" cy="1138239"/>
            </p:xfrm>
            <a:graphic>
              <a:graphicData uri="http://schemas.openxmlformats.org/drawingml/2006/table">
                <a:tbl>
                  <a:tblPr/>
                  <a:tblGrid>
                    <a:gridCol w="655637"/>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=2</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=4</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=6</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12" name="Group 100"/>
              <p:cNvGraphicFramePr>
                <a:graphicFrameLocks noGrp="1"/>
              </p:cNvGraphicFramePr>
              <p:nvPr/>
            </p:nvGraphicFramePr>
            <p:xfrm>
              <a:off x="7823196" y="2666388"/>
              <a:ext cx="655637" cy="1138239"/>
            </p:xfrm>
            <a:graphic>
              <a:graphicData uri="http://schemas.openxmlformats.org/drawingml/2006/table">
                <a:tbl>
                  <a:tblPr/>
                  <a:tblGrid>
                    <a:gridCol w="655637"/>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=4</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=6</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sp>
        <p:nvSpPr>
          <p:cNvPr id="13" name="Line 110"/>
          <p:cNvSpPr/>
          <p:nvPr/>
        </p:nvSpPr>
        <p:spPr>
          <a:xfrm flipV="1">
            <a:off x="8348658" y="3572851"/>
            <a:ext cx="881063" cy="660400"/>
          </a:xfrm>
          <a:prstGeom prst="line">
            <a:avLst/>
          </a:prstGeom>
          <a:ln w="9525" cap="flat" cmpd="sng">
            <a:solidFill>
              <a:schemeClr val="tx1"/>
            </a:solidFill>
            <a:prstDash val="solid"/>
            <a:round/>
            <a:headEnd type="none" w="med" len="med"/>
            <a:tailEnd type="triangle" w="med" len="med"/>
          </a:ln>
        </p:spPr>
      </p:sp>
      <p:sp>
        <p:nvSpPr>
          <p:cNvPr id="14" name="Rectangle 111"/>
          <p:cNvSpPr>
            <a:spLocks noChangeAspect="1"/>
          </p:cNvSpPr>
          <p:nvPr/>
        </p:nvSpPr>
        <p:spPr>
          <a:xfrm>
            <a:off x="10574333" y="3018813"/>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16" name="Text Box 112"/>
          <p:cNvSpPr txBox="1"/>
          <p:nvPr/>
        </p:nvSpPr>
        <p:spPr>
          <a:xfrm>
            <a:off x="7300908" y="3941151"/>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00</a:t>
            </a:r>
            <a:endParaRPr lang="en-US" altLang="zh-CN" sz="2400" dirty="0">
              <a:latin typeface="Arial" panose="020B0604020202020204" pitchFamily="34" charset="0"/>
              <a:ea typeface="宋体" panose="02010600030101010101" pitchFamily="2" charset="-122"/>
            </a:endParaRPr>
          </a:p>
        </p:txBody>
      </p:sp>
      <p:sp>
        <p:nvSpPr>
          <p:cNvPr id="17" name="Text Box 113"/>
          <p:cNvSpPr txBox="1"/>
          <p:nvPr/>
        </p:nvSpPr>
        <p:spPr>
          <a:xfrm>
            <a:off x="7321546" y="4363426"/>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01</a:t>
            </a:r>
            <a:endParaRPr lang="en-US" altLang="zh-CN" sz="2400" dirty="0">
              <a:latin typeface="Arial" panose="020B0604020202020204" pitchFamily="34" charset="0"/>
              <a:ea typeface="宋体" panose="02010600030101010101" pitchFamily="2" charset="-122"/>
            </a:endParaRPr>
          </a:p>
        </p:txBody>
      </p:sp>
      <p:sp>
        <p:nvSpPr>
          <p:cNvPr id="18" name="Line 114"/>
          <p:cNvSpPr/>
          <p:nvPr/>
        </p:nvSpPr>
        <p:spPr>
          <a:xfrm flipV="1">
            <a:off x="8426446" y="4190388"/>
            <a:ext cx="812800" cy="403225"/>
          </a:xfrm>
          <a:prstGeom prst="line">
            <a:avLst/>
          </a:prstGeom>
          <a:ln w="9525" cap="flat" cmpd="sng">
            <a:solidFill>
              <a:schemeClr val="tx1"/>
            </a:solidFill>
            <a:prstDash val="solid"/>
            <a:round/>
            <a:headEnd type="none" w="med" len="med"/>
            <a:tailEnd type="triangle" w="med" len="med"/>
          </a:ln>
        </p:spPr>
      </p:sp>
      <p:graphicFrame>
        <p:nvGraphicFramePr>
          <p:cNvPr id="19" name="Group 115"/>
          <p:cNvGraphicFramePr>
            <a:graphicFrameLocks noGrp="1"/>
          </p:cNvGraphicFramePr>
          <p:nvPr/>
        </p:nvGraphicFramePr>
        <p:xfrm>
          <a:off x="9259883" y="3857013"/>
          <a:ext cx="1325563" cy="773113"/>
        </p:xfrm>
        <a:graphic>
          <a:graphicData uri="http://schemas.openxmlformats.org/drawingml/2006/table">
            <a:tbl>
              <a:tblPr/>
              <a:tblGrid>
                <a:gridCol w="1325563"/>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01(01)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5" name="Rectangle 125"/>
          <p:cNvSpPr>
            <a:spLocks noChangeAspect="1"/>
          </p:cNvSpPr>
          <p:nvPr/>
        </p:nvSpPr>
        <p:spPr>
          <a:xfrm>
            <a:off x="10574333" y="3857013"/>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46" name="Text Box 126"/>
          <p:cNvSpPr txBox="1"/>
          <p:nvPr/>
        </p:nvSpPr>
        <p:spPr>
          <a:xfrm>
            <a:off x="7289796" y="4765063"/>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10</a:t>
            </a:r>
            <a:endParaRPr lang="en-US" altLang="zh-CN" sz="2400" dirty="0">
              <a:latin typeface="Arial" panose="020B0604020202020204" pitchFamily="34" charset="0"/>
              <a:ea typeface="宋体" panose="02010600030101010101" pitchFamily="2" charset="-122"/>
            </a:endParaRPr>
          </a:p>
        </p:txBody>
      </p:sp>
      <p:sp>
        <p:nvSpPr>
          <p:cNvPr id="47" name="Line 127"/>
          <p:cNvSpPr/>
          <p:nvPr/>
        </p:nvSpPr>
        <p:spPr>
          <a:xfrm flipV="1">
            <a:off x="8312146" y="4965088"/>
            <a:ext cx="936625" cy="36513"/>
          </a:xfrm>
          <a:prstGeom prst="line">
            <a:avLst/>
          </a:prstGeom>
          <a:ln w="9525" cap="flat" cmpd="sng">
            <a:solidFill>
              <a:schemeClr val="tx1"/>
            </a:solidFill>
            <a:prstDash val="solid"/>
            <a:round/>
            <a:headEnd type="none" w="med" len="med"/>
            <a:tailEnd type="triangle" w="med" len="med"/>
          </a:ln>
        </p:spPr>
      </p:sp>
      <p:graphicFrame>
        <p:nvGraphicFramePr>
          <p:cNvPr id="48" name="表格 47"/>
          <p:cNvGraphicFramePr/>
          <p:nvPr/>
        </p:nvGraphicFramePr>
        <p:xfrm>
          <a:off x="9269408" y="4692038"/>
          <a:ext cx="1325563" cy="792163"/>
        </p:xfrm>
        <a:graphic>
          <a:graphicData uri="http://schemas.openxmlformats.org/drawingml/2006/table">
            <a:tbl>
              <a:tblPr/>
              <a:tblGrid>
                <a:gridCol w="1325563"/>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10(10)</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412750">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solidFill>
                            <a:srgbClr val="CC0000"/>
                          </a:solidFill>
                          <a:latin typeface="Arial" panose="020B0604020202020204" pitchFamily="34" charset="0"/>
                          <a:ea typeface="宋体" panose="02010600030101010101" pitchFamily="2" charset="-122"/>
                        </a:rPr>
                        <a:t> </a:t>
                      </a:r>
                      <a:endParaRPr lang="en-US" altLang="zh-CN" sz="1800" dirty="0">
                        <a:solidFill>
                          <a:srgbClr val="CC0000"/>
                        </a:solidFill>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49" name="Rectangle 138"/>
          <p:cNvSpPr>
            <a:spLocks noChangeAspect="1"/>
          </p:cNvSpPr>
          <p:nvPr/>
        </p:nvSpPr>
        <p:spPr>
          <a:xfrm>
            <a:off x="10563221" y="4692038"/>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50" name="Text Box 154"/>
          <p:cNvSpPr txBox="1"/>
          <p:nvPr/>
        </p:nvSpPr>
        <p:spPr>
          <a:xfrm>
            <a:off x="7299321" y="5146063"/>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11</a:t>
            </a:r>
            <a:endParaRPr lang="en-US" altLang="zh-CN" sz="2400" dirty="0">
              <a:latin typeface="Arial" panose="020B0604020202020204" pitchFamily="34" charset="0"/>
              <a:ea typeface="宋体" panose="02010600030101010101" pitchFamily="2" charset="-122"/>
            </a:endParaRPr>
          </a:p>
        </p:txBody>
      </p:sp>
      <p:graphicFrame>
        <p:nvGraphicFramePr>
          <p:cNvPr id="51" name="表格 50"/>
          <p:cNvGraphicFramePr/>
          <p:nvPr/>
        </p:nvGraphicFramePr>
        <p:xfrm>
          <a:off x="2884490" y="3105274"/>
          <a:ext cx="1325563" cy="757238"/>
        </p:xfrm>
        <a:graphic>
          <a:graphicData uri="http://schemas.openxmlformats.org/drawingml/2006/table">
            <a:tbl>
              <a:tblPr/>
              <a:tblGrid>
                <a:gridCol w="1325563"/>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00(00)</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52" name="Group 166"/>
          <p:cNvGraphicFramePr>
            <a:graphicFrameLocks noGrp="1"/>
          </p:cNvGraphicFramePr>
          <p:nvPr/>
        </p:nvGraphicFramePr>
        <p:xfrm>
          <a:off x="1435102" y="4140324"/>
          <a:ext cx="914400" cy="1135063"/>
        </p:xfrm>
        <a:graphic>
          <a:graphicData uri="http://schemas.openxmlformats.org/drawingml/2006/table">
            <a:tbl>
              <a:tblPr/>
              <a:tblGrid>
                <a:gridCol w="91440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graphicFrame>
            <p:nvGraphicFramePr>
              <p:cNvPr id="53" name="Group 176"/>
              <p:cNvGraphicFramePr>
                <a:graphicFrameLocks noGrp="1"/>
              </p:cNvGraphicFramePr>
              <p:nvPr/>
            </p:nvGraphicFramePr>
            <p:xfrm>
              <a:off x="1447802" y="2752849"/>
              <a:ext cx="655638" cy="1138239"/>
            </p:xfrm>
            <a:graphic>
              <a:graphicData uri="http://schemas.openxmlformats.org/drawingml/2006/table">
                <a:tbl>
                  <a:tblPr/>
                  <a:tblGrid>
                    <a:gridCol w="655638"/>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=2</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=6</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53" name="Group 176"/>
              <p:cNvGraphicFramePr>
                <a:graphicFrameLocks noGrp="1"/>
              </p:cNvGraphicFramePr>
              <p:nvPr/>
            </p:nvGraphicFramePr>
            <p:xfrm>
              <a:off x="1447802" y="2752849"/>
              <a:ext cx="655638" cy="1138239"/>
            </p:xfrm>
            <a:graphic>
              <a:graphicData uri="http://schemas.openxmlformats.org/drawingml/2006/table">
                <a:tbl>
                  <a:tblPr/>
                  <a:tblGrid>
                    <a:gridCol w="655638"/>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=6</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sp>
        <p:nvSpPr>
          <p:cNvPr id="54" name="Line 186"/>
          <p:cNvSpPr/>
          <p:nvPr/>
        </p:nvSpPr>
        <p:spPr>
          <a:xfrm flipV="1">
            <a:off x="1973265" y="3659312"/>
            <a:ext cx="881062" cy="660400"/>
          </a:xfrm>
          <a:prstGeom prst="line">
            <a:avLst/>
          </a:prstGeom>
          <a:ln w="9525" cap="flat" cmpd="sng">
            <a:solidFill>
              <a:schemeClr val="tx1"/>
            </a:solidFill>
            <a:prstDash val="solid"/>
            <a:round/>
            <a:headEnd type="none" w="med" len="med"/>
            <a:tailEnd type="triangle" w="med" len="med"/>
          </a:ln>
        </p:spPr>
      </p:sp>
      <p:sp>
        <p:nvSpPr>
          <p:cNvPr id="55" name="Rectangle 187"/>
          <p:cNvSpPr>
            <a:spLocks noChangeAspect="1"/>
          </p:cNvSpPr>
          <p:nvPr/>
        </p:nvSpPr>
        <p:spPr>
          <a:xfrm>
            <a:off x="4198940" y="3105274"/>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56" name="Text Box 188"/>
          <p:cNvSpPr txBox="1"/>
          <p:nvPr/>
        </p:nvSpPr>
        <p:spPr>
          <a:xfrm>
            <a:off x="925515" y="4027612"/>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00</a:t>
            </a:r>
            <a:endParaRPr lang="en-US" altLang="zh-CN" sz="2400" dirty="0">
              <a:latin typeface="Arial" panose="020B0604020202020204" pitchFamily="34" charset="0"/>
              <a:ea typeface="宋体" panose="02010600030101010101" pitchFamily="2" charset="-122"/>
            </a:endParaRPr>
          </a:p>
        </p:txBody>
      </p:sp>
      <p:sp>
        <p:nvSpPr>
          <p:cNvPr id="57" name="Text Box 189"/>
          <p:cNvSpPr txBox="1"/>
          <p:nvPr/>
        </p:nvSpPr>
        <p:spPr>
          <a:xfrm>
            <a:off x="946152" y="4449887"/>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01</a:t>
            </a:r>
            <a:endParaRPr lang="en-US" altLang="zh-CN" sz="2400" dirty="0">
              <a:latin typeface="Arial" panose="020B0604020202020204" pitchFamily="34" charset="0"/>
              <a:ea typeface="宋体" panose="02010600030101010101" pitchFamily="2" charset="-122"/>
            </a:endParaRPr>
          </a:p>
        </p:txBody>
      </p:sp>
      <p:sp>
        <p:nvSpPr>
          <p:cNvPr id="58" name="Line 190"/>
          <p:cNvSpPr/>
          <p:nvPr/>
        </p:nvSpPr>
        <p:spPr>
          <a:xfrm flipV="1">
            <a:off x="2051052" y="4276849"/>
            <a:ext cx="812800" cy="403225"/>
          </a:xfrm>
          <a:prstGeom prst="line">
            <a:avLst/>
          </a:prstGeom>
          <a:ln w="9525" cap="flat" cmpd="sng">
            <a:solidFill>
              <a:schemeClr val="tx1"/>
            </a:solidFill>
            <a:prstDash val="solid"/>
            <a:round/>
            <a:headEnd type="none" w="med" len="med"/>
            <a:tailEnd type="triangle" w="med" len="med"/>
          </a:ln>
        </p:spPr>
      </p:sp>
      <p:graphicFrame>
        <p:nvGraphicFramePr>
          <p:cNvPr id="59" name="Group 191"/>
          <p:cNvGraphicFramePr>
            <a:graphicFrameLocks noGrp="1"/>
          </p:cNvGraphicFramePr>
          <p:nvPr/>
        </p:nvGraphicFramePr>
        <p:xfrm>
          <a:off x="2884490" y="3943474"/>
          <a:ext cx="1325562" cy="773113"/>
        </p:xfrm>
        <a:graphic>
          <a:graphicData uri="http://schemas.openxmlformats.org/drawingml/2006/table">
            <a:tbl>
              <a:tblPr/>
              <a:tblGrid>
                <a:gridCol w="1325562"/>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010(1)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0" name="Rectangle 201"/>
          <p:cNvSpPr>
            <a:spLocks noChangeAspect="1"/>
          </p:cNvSpPr>
          <p:nvPr/>
        </p:nvSpPr>
        <p:spPr>
          <a:xfrm>
            <a:off x="4198940" y="3943474"/>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61" name="Text Box 202"/>
          <p:cNvSpPr txBox="1"/>
          <p:nvPr/>
        </p:nvSpPr>
        <p:spPr>
          <a:xfrm>
            <a:off x="914402" y="4851524"/>
            <a:ext cx="523875" cy="457200"/>
          </a:xfrm>
          <a:prstGeom prst="rect">
            <a:avLst/>
          </a:prstGeom>
          <a:noFill/>
          <a:ln w="9525">
            <a:noFill/>
          </a:ln>
        </p:spPr>
        <p:txBody>
          <a:bodyPr wrap="none" anchor="t">
            <a:spAutoFit/>
          </a:bodyPr>
          <a:lstStyle/>
          <a:p>
            <a:r>
              <a:rPr lang="en-US" altLang="zh-CN" sz="2400" dirty="0">
                <a:latin typeface="Arial" panose="020B0604020202020204" pitchFamily="34" charset="0"/>
                <a:ea typeface="宋体" panose="02010600030101010101" pitchFamily="2" charset="-122"/>
              </a:rPr>
              <a:t>10</a:t>
            </a:r>
            <a:endParaRPr lang="en-US" altLang="zh-CN" sz="2400" dirty="0">
              <a:latin typeface="Arial" panose="020B0604020202020204" pitchFamily="34" charset="0"/>
              <a:ea typeface="宋体" panose="02010600030101010101" pitchFamily="2" charset="-122"/>
            </a:endParaRPr>
          </a:p>
        </p:txBody>
      </p:sp>
      <p:sp>
        <p:nvSpPr>
          <p:cNvPr id="62" name="Line 203"/>
          <p:cNvSpPr/>
          <p:nvPr/>
        </p:nvSpPr>
        <p:spPr>
          <a:xfrm flipV="1">
            <a:off x="1936752" y="5051549"/>
            <a:ext cx="936625" cy="36513"/>
          </a:xfrm>
          <a:prstGeom prst="line">
            <a:avLst/>
          </a:prstGeom>
          <a:ln w="9525" cap="flat" cmpd="sng">
            <a:solidFill>
              <a:schemeClr val="tx1"/>
            </a:solidFill>
            <a:prstDash val="solid"/>
            <a:round/>
            <a:headEnd type="none" w="med" len="med"/>
            <a:tailEnd type="triangle" w="med" len="med"/>
          </a:ln>
        </p:spPr>
      </p:sp>
      <p:graphicFrame>
        <p:nvGraphicFramePr>
          <p:cNvPr id="63" name="表格 62"/>
          <p:cNvGraphicFramePr/>
          <p:nvPr/>
        </p:nvGraphicFramePr>
        <p:xfrm>
          <a:off x="2894015" y="4778499"/>
          <a:ext cx="1325563" cy="773113"/>
        </p:xfrm>
        <a:graphic>
          <a:graphicData uri="http://schemas.openxmlformats.org/drawingml/2006/table">
            <a:tbl>
              <a:tblPr/>
              <a:tblGrid>
                <a:gridCol w="1325563"/>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10(10)</a:t>
                      </a:r>
                      <a:endParaRPr lang="en-US" altLang="zh-CN" sz="18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tr>
              <a:tr h="393700">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solidFill>
                            <a:srgbClr val="CC0000"/>
                          </a:solidFill>
                          <a:latin typeface="Arial" panose="020B0604020202020204" pitchFamily="34" charset="0"/>
                          <a:ea typeface="宋体" panose="02010600030101010101" pitchFamily="2" charset="-122"/>
                        </a:rPr>
                        <a:t> </a:t>
                      </a:r>
                      <a:endParaRPr lang="en-US" altLang="zh-CN" sz="1800" dirty="0">
                        <a:solidFill>
                          <a:srgbClr val="CC0000"/>
                        </a:solidFill>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4" name="Rectangle 214"/>
          <p:cNvSpPr>
            <a:spLocks noChangeAspect="1"/>
          </p:cNvSpPr>
          <p:nvPr/>
        </p:nvSpPr>
        <p:spPr>
          <a:xfrm>
            <a:off x="4187827" y="4778499"/>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graphicFrame>
        <p:nvGraphicFramePr>
          <p:cNvPr id="65" name="Group 215"/>
          <p:cNvGraphicFramePr>
            <a:graphicFrameLocks noGrp="1"/>
          </p:cNvGraphicFramePr>
          <p:nvPr/>
        </p:nvGraphicFramePr>
        <p:xfrm>
          <a:off x="4673602" y="3935537"/>
          <a:ext cx="1325563" cy="773113"/>
        </p:xfrm>
        <a:graphic>
          <a:graphicData uri="http://schemas.openxmlformats.org/drawingml/2006/table">
            <a:tbl>
              <a:tblPr/>
              <a:tblGrid>
                <a:gridCol w="1325563"/>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rPr>
                        <a:t>011(1)</a:t>
                      </a:r>
                      <a:endPar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0" name="Rectangle 225"/>
          <p:cNvSpPr>
            <a:spLocks noChangeAspect="1"/>
          </p:cNvSpPr>
          <p:nvPr/>
        </p:nvSpPr>
        <p:spPr>
          <a:xfrm>
            <a:off x="5988052" y="3935537"/>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81" name="Line 226"/>
          <p:cNvSpPr/>
          <p:nvPr/>
        </p:nvSpPr>
        <p:spPr>
          <a:xfrm>
            <a:off x="4302127" y="4078412"/>
            <a:ext cx="406400" cy="0"/>
          </a:xfrm>
          <a:prstGeom prst="line">
            <a:avLst/>
          </a:prstGeom>
          <a:ln w="9525" cap="flat" cmpd="sng">
            <a:solidFill>
              <a:schemeClr val="tx1"/>
            </a:solidFill>
            <a:prstDash val="solid"/>
            <a:round/>
            <a:headEnd type="none" w="med" len="med"/>
            <a:tailEnd type="triangle" w="med" len="med"/>
          </a:ln>
        </p:spPr>
      </p:sp>
      <p:graphicFrame>
        <p:nvGraphicFramePr>
          <p:cNvPr id="82" name="Group 227"/>
          <p:cNvGraphicFramePr>
            <a:graphicFrameLocks noGrp="1"/>
          </p:cNvGraphicFramePr>
          <p:nvPr/>
        </p:nvGraphicFramePr>
        <p:xfrm>
          <a:off x="9258296" y="5547701"/>
          <a:ext cx="1325562" cy="792163"/>
        </p:xfrm>
        <a:graphic>
          <a:graphicData uri="http://schemas.openxmlformats.org/drawingml/2006/table">
            <a:tbl>
              <a:tblPr/>
              <a:tblGrid>
                <a:gridCol w="1325562"/>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01(11)</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tr>
              <a:tr h="4127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rPr>
                        <a:t>11(11) </a:t>
                      </a:r>
                      <a:endPar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3" name="Rectangle 237"/>
          <p:cNvSpPr>
            <a:spLocks noChangeAspect="1"/>
          </p:cNvSpPr>
          <p:nvPr/>
        </p:nvSpPr>
        <p:spPr>
          <a:xfrm>
            <a:off x="10552108" y="5547701"/>
            <a:ext cx="304800" cy="3048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zh-CN" sz="1600" dirty="0">
              <a:latin typeface="Arial" panose="020B0604020202020204" pitchFamily="34" charset="0"/>
              <a:ea typeface="宋体" panose="02010600030101010101" pitchFamily="2" charset="-122"/>
            </a:endParaRPr>
          </a:p>
        </p:txBody>
      </p:sp>
      <p:sp>
        <p:nvSpPr>
          <p:cNvPr id="84" name="Line 240"/>
          <p:cNvSpPr/>
          <p:nvPr/>
        </p:nvSpPr>
        <p:spPr>
          <a:xfrm>
            <a:off x="8381996" y="5368313"/>
            <a:ext cx="893762" cy="406400"/>
          </a:xfrm>
          <a:prstGeom prst="line">
            <a:avLst/>
          </a:prstGeom>
          <a:ln w="9525" cap="flat" cmpd="sng">
            <a:solidFill>
              <a:schemeClr val="tx1"/>
            </a:solidFill>
            <a:prstDash val="solid"/>
            <a:round/>
            <a:headEnd type="none" w="med" len="med"/>
            <a:tailEnd type="triangle" w="med" len="med"/>
          </a:ln>
        </p:spPr>
      </p:sp>
      <p:grpSp>
        <p:nvGrpSpPr>
          <p:cNvPr id="85" name="Group 241"/>
          <p:cNvGrpSpPr/>
          <p:nvPr/>
        </p:nvGrpSpPr>
        <p:grpSpPr>
          <a:xfrm>
            <a:off x="7422157" y="5753063"/>
            <a:ext cx="1439467" cy="710658"/>
            <a:chOff x="1098" y="3024"/>
            <a:chExt cx="723" cy="610"/>
          </a:xfrm>
        </p:grpSpPr>
        <p:sp>
          <p:nvSpPr>
            <p:cNvPr id="86" name="AutoShape 39"/>
            <p:cNvSpPr>
              <a:spLocks noChangeArrowheads="1"/>
            </p:cNvSpPr>
            <p:nvPr/>
          </p:nvSpPr>
          <p:spPr bwMode="gray">
            <a:xfrm>
              <a:off x="1098" y="3024"/>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87" name="Oval 40"/>
            <p:cNvSpPr/>
            <p:nvPr/>
          </p:nvSpPr>
          <p:spPr>
            <a:xfrm>
              <a:off x="1158" y="3074"/>
              <a:ext cx="603" cy="509"/>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宋体" panose="02010600030101010101" pitchFamily="2" charset="-122"/>
                <a:ea typeface="宋体" panose="02010600030101010101" pitchFamily="2" charset="-122"/>
              </a:endParaRPr>
            </a:p>
          </p:txBody>
        </p:sp>
        <p:sp>
          <p:nvSpPr>
            <p:cNvPr id="88" name="Text Box 84"/>
            <p:cNvSpPr txBox="1"/>
            <p:nvPr/>
          </p:nvSpPr>
          <p:spPr>
            <a:xfrm>
              <a:off x="1163" y="3151"/>
              <a:ext cx="598" cy="317"/>
            </a:xfrm>
            <a:prstGeom prst="rect">
              <a:avLst/>
            </a:prstGeom>
            <a:noFill/>
            <a:ln w="9525">
              <a:noFill/>
            </a:ln>
          </p:spPr>
          <p:txBody>
            <a:bodyPr anchor="t">
              <a:spAutoFit/>
            </a:bodyPr>
            <a:lstStyle/>
            <a:p>
              <a:pPr algn="ctr">
                <a:spcBef>
                  <a:spcPct val="35000"/>
                </a:spcBef>
              </a:pPr>
              <a:r>
                <a:rPr lang="zh-CN" altLang="en-US" dirty="0">
                  <a:solidFill>
                    <a:srgbClr val="FFFFFF"/>
                  </a:solidFill>
                  <a:latin typeface="宋体" panose="02010600030101010101" pitchFamily="2" charset="-122"/>
                  <a:ea typeface="华文中宋" panose="02010600040101010101" pitchFamily="2" charset="-122"/>
                </a:rPr>
                <a:t>分裂后</a:t>
              </a:r>
              <a:endParaRPr lang="zh-CN" altLang="en-US" dirty="0">
                <a:solidFill>
                  <a:srgbClr val="FFFFFF"/>
                </a:solidFill>
                <a:latin typeface="宋体" panose="02010600030101010101" pitchFamily="2" charset="-122"/>
                <a:ea typeface="华文中宋" panose="02010600040101010101" pitchFamily="2" charset="-122"/>
              </a:endParaRPr>
            </a:p>
          </p:txBody>
        </p:sp>
      </p:grpSp>
      <p:grpSp>
        <p:nvGrpSpPr>
          <p:cNvPr id="89" name="Group 245"/>
          <p:cNvGrpSpPr/>
          <p:nvPr/>
        </p:nvGrpSpPr>
        <p:grpSpPr>
          <a:xfrm>
            <a:off x="2349502" y="5777994"/>
            <a:ext cx="1445422" cy="720637"/>
            <a:chOff x="1098" y="3024"/>
            <a:chExt cx="723" cy="610"/>
          </a:xfrm>
        </p:grpSpPr>
        <p:sp>
          <p:nvSpPr>
            <p:cNvPr id="90" name="AutoShape 39"/>
            <p:cNvSpPr>
              <a:spLocks noChangeArrowheads="1"/>
            </p:cNvSpPr>
            <p:nvPr/>
          </p:nvSpPr>
          <p:spPr bwMode="gray">
            <a:xfrm>
              <a:off x="1098" y="3024"/>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1" name="Oval 40"/>
            <p:cNvSpPr/>
            <p:nvPr/>
          </p:nvSpPr>
          <p:spPr>
            <a:xfrm>
              <a:off x="1158" y="3074"/>
              <a:ext cx="603" cy="509"/>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宋体" panose="02010600030101010101" pitchFamily="2" charset="-122"/>
                <a:ea typeface="宋体" panose="02010600030101010101" pitchFamily="2" charset="-122"/>
              </a:endParaRPr>
            </a:p>
          </p:txBody>
        </p:sp>
        <p:sp>
          <p:nvSpPr>
            <p:cNvPr id="92" name="Text Box 84"/>
            <p:cNvSpPr txBox="1"/>
            <p:nvPr/>
          </p:nvSpPr>
          <p:spPr>
            <a:xfrm>
              <a:off x="1162" y="3156"/>
              <a:ext cx="598" cy="233"/>
            </a:xfrm>
            <a:prstGeom prst="rect">
              <a:avLst/>
            </a:prstGeom>
            <a:noFill/>
            <a:ln w="9525">
              <a:noFill/>
            </a:ln>
          </p:spPr>
          <p:txBody>
            <a:bodyPr anchor="t">
              <a:spAutoFit/>
            </a:bodyPr>
            <a:lstStyle/>
            <a:p>
              <a:pPr algn="ctr">
                <a:spcBef>
                  <a:spcPct val="35000"/>
                </a:spcBef>
              </a:pPr>
              <a:r>
                <a:rPr lang="zh-CN" altLang="en-US" dirty="0">
                  <a:solidFill>
                    <a:srgbClr val="FFFFFF"/>
                  </a:solidFill>
                  <a:latin typeface="宋体" panose="02010600030101010101" pitchFamily="2" charset="-122"/>
                  <a:ea typeface="华文中宋" panose="02010600040101010101" pitchFamily="2" charset="-122"/>
                </a:rPr>
                <a:t>分裂前</a:t>
              </a:r>
              <a:endParaRPr lang="zh-CN" altLang="en-US" dirty="0">
                <a:solidFill>
                  <a:srgbClr val="FFFFFF"/>
                </a:solidFill>
                <a:latin typeface="宋体" panose="02010600030101010101" pitchFamily="2" charset="-122"/>
                <a:ea typeface="华文中宋" panose="02010600040101010101" pitchFamily="2" charset="-122"/>
              </a:endParaRPr>
            </a:p>
          </p:txBody>
        </p:sp>
      </p:grpSp>
      <p:sp>
        <p:nvSpPr>
          <p:cNvPr id="3" name="灯片编号占位符 2"/>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ppt_x"/>
                                          </p:val>
                                        </p:tav>
                                        <p:tav tm="100000">
                                          <p:val>
                                            <p:strVal val="#ppt_x"/>
                                          </p:val>
                                        </p:tav>
                                      </p:tavLst>
                                    </p:anim>
                                    <p:anim calcmode="lin" valueType="num">
                                      <p:cBhvr additive="base">
                                        <p:cTn id="36" dur="500" fill="hold"/>
                                        <p:tgtEl>
                                          <p:spTgt spid="18"/>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500" fill="hold"/>
                                        <p:tgtEl>
                                          <p:spTgt spid="19"/>
                                        </p:tgtEl>
                                        <p:attrNameLst>
                                          <p:attrName>ppt_x</p:attrName>
                                        </p:attrNameLst>
                                      </p:cBhvr>
                                      <p:tavLst>
                                        <p:tav tm="0">
                                          <p:val>
                                            <p:strVal val="#ppt_x"/>
                                          </p:val>
                                        </p:tav>
                                        <p:tav tm="100000">
                                          <p:val>
                                            <p:strVal val="#ppt_x"/>
                                          </p:val>
                                        </p:tav>
                                      </p:tavLst>
                                    </p:anim>
                                    <p:anim calcmode="lin" valueType="num">
                                      <p:cBhvr additive="base">
                                        <p:cTn id="40" dur="500" fill="hold"/>
                                        <p:tgtEl>
                                          <p:spTgt spid="1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anim calcmode="lin" valueType="num">
                                      <p:cBhvr additive="base">
                                        <p:cTn id="43" dur="500" fill="hold"/>
                                        <p:tgtEl>
                                          <p:spTgt spid="45"/>
                                        </p:tgtEl>
                                        <p:attrNameLst>
                                          <p:attrName>ppt_x</p:attrName>
                                        </p:attrNameLst>
                                      </p:cBhvr>
                                      <p:tavLst>
                                        <p:tav tm="0">
                                          <p:val>
                                            <p:strVal val="#ppt_x"/>
                                          </p:val>
                                        </p:tav>
                                        <p:tav tm="100000">
                                          <p:val>
                                            <p:strVal val="#ppt_x"/>
                                          </p:val>
                                        </p:tav>
                                      </p:tavLst>
                                    </p:anim>
                                    <p:anim calcmode="lin" valueType="num">
                                      <p:cBhvr additive="base">
                                        <p:cTn id="44" dur="500" fill="hold"/>
                                        <p:tgtEl>
                                          <p:spTgt spid="4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anim calcmode="lin" valueType="num">
                                      <p:cBhvr additive="base">
                                        <p:cTn id="47" dur="500" fill="hold"/>
                                        <p:tgtEl>
                                          <p:spTgt spid="46"/>
                                        </p:tgtEl>
                                        <p:attrNameLst>
                                          <p:attrName>ppt_x</p:attrName>
                                        </p:attrNameLst>
                                      </p:cBhvr>
                                      <p:tavLst>
                                        <p:tav tm="0">
                                          <p:val>
                                            <p:strVal val="#ppt_x"/>
                                          </p:val>
                                        </p:tav>
                                        <p:tav tm="100000">
                                          <p:val>
                                            <p:strVal val="#ppt_x"/>
                                          </p:val>
                                        </p:tav>
                                      </p:tavLst>
                                    </p:anim>
                                    <p:anim calcmode="lin" valueType="num">
                                      <p:cBhvr additive="base">
                                        <p:cTn id="48" dur="500" fill="hold"/>
                                        <p:tgtEl>
                                          <p:spTgt spid="46"/>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7"/>
                                        </p:tgtEl>
                                        <p:attrNameLst>
                                          <p:attrName>style.visibility</p:attrName>
                                        </p:attrNameLst>
                                      </p:cBhvr>
                                      <p:to>
                                        <p:strVal val="visible"/>
                                      </p:to>
                                    </p:set>
                                    <p:anim calcmode="lin" valueType="num">
                                      <p:cBhvr additive="base">
                                        <p:cTn id="51" dur="500" fill="hold"/>
                                        <p:tgtEl>
                                          <p:spTgt spid="47"/>
                                        </p:tgtEl>
                                        <p:attrNameLst>
                                          <p:attrName>ppt_x</p:attrName>
                                        </p:attrNameLst>
                                      </p:cBhvr>
                                      <p:tavLst>
                                        <p:tav tm="0">
                                          <p:val>
                                            <p:strVal val="#ppt_x"/>
                                          </p:val>
                                        </p:tav>
                                        <p:tav tm="100000">
                                          <p:val>
                                            <p:strVal val="#ppt_x"/>
                                          </p:val>
                                        </p:tav>
                                      </p:tavLst>
                                    </p:anim>
                                    <p:anim calcmode="lin" valueType="num">
                                      <p:cBhvr additive="base">
                                        <p:cTn id="52" dur="500" fill="hold"/>
                                        <p:tgtEl>
                                          <p:spTgt spid="4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anim calcmode="lin" valueType="num">
                                      <p:cBhvr additive="base">
                                        <p:cTn id="55" dur="500" fill="hold"/>
                                        <p:tgtEl>
                                          <p:spTgt spid="48"/>
                                        </p:tgtEl>
                                        <p:attrNameLst>
                                          <p:attrName>ppt_x</p:attrName>
                                        </p:attrNameLst>
                                      </p:cBhvr>
                                      <p:tavLst>
                                        <p:tav tm="0">
                                          <p:val>
                                            <p:strVal val="#ppt_x"/>
                                          </p:val>
                                        </p:tav>
                                        <p:tav tm="100000">
                                          <p:val>
                                            <p:strVal val="#ppt_x"/>
                                          </p:val>
                                        </p:tav>
                                      </p:tavLst>
                                    </p:anim>
                                    <p:anim calcmode="lin" valueType="num">
                                      <p:cBhvr additive="base">
                                        <p:cTn id="56" dur="500" fill="hold"/>
                                        <p:tgtEl>
                                          <p:spTgt spid="4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9"/>
                                        </p:tgtEl>
                                        <p:attrNameLst>
                                          <p:attrName>style.visibility</p:attrName>
                                        </p:attrNameLst>
                                      </p:cBhvr>
                                      <p:to>
                                        <p:strVal val="visible"/>
                                      </p:to>
                                    </p:set>
                                    <p:anim calcmode="lin" valueType="num">
                                      <p:cBhvr additive="base">
                                        <p:cTn id="59" dur="500" fill="hold"/>
                                        <p:tgtEl>
                                          <p:spTgt spid="49"/>
                                        </p:tgtEl>
                                        <p:attrNameLst>
                                          <p:attrName>ppt_x</p:attrName>
                                        </p:attrNameLst>
                                      </p:cBhvr>
                                      <p:tavLst>
                                        <p:tav tm="0">
                                          <p:val>
                                            <p:strVal val="#ppt_x"/>
                                          </p:val>
                                        </p:tav>
                                        <p:tav tm="100000">
                                          <p:val>
                                            <p:strVal val="#ppt_x"/>
                                          </p:val>
                                        </p:tav>
                                      </p:tavLst>
                                    </p:anim>
                                    <p:anim calcmode="lin" valueType="num">
                                      <p:cBhvr additive="base">
                                        <p:cTn id="60" dur="500" fill="hold"/>
                                        <p:tgtEl>
                                          <p:spTgt spid="49"/>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0"/>
                                        </p:tgtEl>
                                        <p:attrNameLst>
                                          <p:attrName>style.visibility</p:attrName>
                                        </p:attrNameLst>
                                      </p:cBhvr>
                                      <p:to>
                                        <p:strVal val="visible"/>
                                      </p:to>
                                    </p:set>
                                    <p:anim calcmode="lin" valueType="num">
                                      <p:cBhvr additive="base">
                                        <p:cTn id="63" dur="500" fill="hold"/>
                                        <p:tgtEl>
                                          <p:spTgt spid="50"/>
                                        </p:tgtEl>
                                        <p:attrNameLst>
                                          <p:attrName>ppt_x</p:attrName>
                                        </p:attrNameLst>
                                      </p:cBhvr>
                                      <p:tavLst>
                                        <p:tav tm="0">
                                          <p:val>
                                            <p:strVal val="#ppt_x"/>
                                          </p:val>
                                        </p:tav>
                                        <p:tav tm="100000">
                                          <p:val>
                                            <p:strVal val="#ppt_x"/>
                                          </p:val>
                                        </p:tav>
                                      </p:tavLst>
                                    </p:anim>
                                    <p:anim calcmode="lin" valueType="num">
                                      <p:cBhvr additive="base">
                                        <p:cTn id="64" dur="500" fill="hold"/>
                                        <p:tgtEl>
                                          <p:spTgt spid="50"/>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82"/>
                                        </p:tgtEl>
                                        <p:attrNameLst>
                                          <p:attrName>style.visibility</p:attrName>
                                        </p:attrNameLst>
                                      </p:cBhvr>
                                      <p:to>
                                        <p:strVal val="visible"/>
                                      </p:to>
                                    </p:set>
                                    <p:anim calcmode="lin" valueType="num">
                                      <p:cBhvr additive="base">
                                        <p:cTn id="67" dur="500" fill="hold"/>
                                        <p:tgtEl>
                                          <p:spTgt spid="82"/>
                                        </p:tgtEl>
                                        <p:attrNameLst>
                                          <p:attrName>ppt_x</p:attrName>
                                        </p:attrNameLst>
                                      </p:cBhvr>
                                      <p:tavLst>
                                        <p:tav tm="0">
                                          <p:val>
                                            <p:strVal val="#ppt_x"/>
                                          </p:val>
                                        </p:tav>
                                        <p:tav tm="100000">
                                          <p:val>
                                            <p:strVal val="#ppt_x"/>
                                          </p:val>
                                        </p:tav>
                                      </p:tavLst>
                                    </p:anim>
                                    <p:anim calcmode="lin" valueType="num">
                                      <p:cBhvr additive="base">
                                        <p:cTn id="68" dur="500" fill="hold"/>
                                        <p:tgtEl>
                                          <p:spTgt spid="82"/>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83"/>
                                        </p:tgtEl>
                                        <p:attrNameLst>
                                          <p:attrName>style.visibility</p:attrName>
                                        </p:attrNameLst>
                                      </p:cBhvr>
                                      <p:to>
                                        <p:strVal val="visible"/>
                                      </p:to>
                                    </p:set>
                                    <p:anim calcmode="lin" valueType="num">
                                      <p:cBhvr additive="base">
                                        <p:cTn id="71" dur="500" fill="hold"/>
                                        <p:tgtEl>
                                          <p:spTgt spid="83"/>
                                        </p:tgtEl>
                                        <p:attrNameLst>
                                          <p:attrName>ppt_x</p:attrName>
                                        </p:attrNameLst>
                                      </p:cBhvr>
                                      <p:tavLst>
                                        <p:tav tm="0">
                                          <p:val>
                                            <p:strVal val="#ppt_x"/>
                                          </p:val>
                                        </p:tav>
                                        <p:tav tm="100000">
                                          <p:val>
                                            <p:strVal val="#ppt_x"/>
                                          </p:val>
                                        </p:tav>
                                      </p:tavLst>
                                    </p:anim>
                                    <p:anim calcmode="lin" valueType="num">
                                      <p:cBhvr additive="base">
                                        <p:cTn id="72" dur="500" fill="hold"/>
                                        <p:tgtEl>
                                          <p:spTgt spid="83"/>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84"/>
                                        </p:tgtEl>
                                        <p:attrNameLst>
                                          <p:attrName>style.visibility</p:attrName>
                                        </p:attrNameLst>
                                      </p:cBhvr>
                                      <p:to>
                                        <p:strVal val="visible"/>
                                      </p:to>
                                    </p:set>
                                    <p:anim calcmode="lin" valueType="num">
                                      <p:cBhvr additive="base">
                                        <p:cTn id="75" dur="500" fill="hold"/>
                                        <p:tgtEl>
                                          <p:spTgt spid="84"/>
                                        </p:tgtEl>
                                        <p:attrNameLst>
                                          <p:attrName>ppt_x</p:attrName>
                                        </p:attrNameLst>
                                      </p:cBhvr>
                                      <p:tavLst>
                                        <p:tav tm="0">
                                          <p:val>
                                            <p:strVal val="#ppt_x"/>
                                          </p:val>
                                        </p:tav>
                                        <p:tav tm="100000">
                                          <p:val>
                                            <p:strVal val="#ppt_x"/>
                                          </p:val>
                                        </p:tav>
                                      </p:tavLst>
                                    </p:anim>
                                    <p:anim calcmode="lin" valueType="num">
                                      <p:cBhvr additive="base">
                                        <p:cTn id="76" dur="500" fill="hold"/>
                                        <p:tgtEl>
                                          <p:spTgt spid="84"/>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85"/>
                                        </p:tgtEl>
                                        <p:attrNameLst>
                                          <p:attrName>style.visibility</p:attrName>
                                        </p:attrNameLst>
                                      </p:cBhvr>
                                      <p:to>
                                        <p:strVal val="visible"/>
                                      </p:to>
                                    </p:set>
                                    <p:anim calcmode="lin" valueType="num">
                                      <p:cBhvr additive="base">
                                        <p:cTn id="79" dur="500" fill="hold"/>
                                        <p:tgtEl>
                                          <p:spTgt spid="85"/>
                                        </p:tgtEl>
                                        <p:attrNameLst>
                                          <p:attrName>ppt_x</p:attrName>
                                        </p:attrNameLst>
                                      </p:cBhvr>
                                      <p:tavLst>
                                        <p:tav tm="0">
                                          <p:val>
                                            <p:strVal val="#ppt_x"/>
                                          </p:val>
                                        </p:tav>
                                        <p:tav tm="100000">
                                          <p:val>
                                            <p:strVal val="#ppt_x"/>
                                          </p:val>
                                        </p:tav>
                                      </p:tavLst>
                                    </p:anim>
                                    <p:anim calcmode="lin" valueType="num">
                                      <p:cBhvr additive="base">
                                        <p:cTn id="80"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6" grpId="0"/>
      <p:bldP spid="17" grpId="0"/>
      <p:bldP spid="45" grpId="0" bldLvl="0" animBg="1"/>
      <p:bldP spid="46" grpId="0"/>
      <p:bldP spid="49" grpId="0" bldLvl="0" animBg="1"/>
      <p:bldP spid="50" grpId="0"/>
      <p:bldP spid="83" grpId="0" bldLvl="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en-US" altLang="zh-CN" sz="2600" dirty="0">
                <a:latin typeface="微软雅黑" panose="020B0503020204020204" pitchFamily="34" charset="-122"/>
                <a:ea typeface="微软雅黑" panose="020B0503020204020204" pitchFamily="34" charset="-122"/>
              </a:rPr>
              <a:t>(4) </a:t>
            </a:r>
            <a:r>
              <a:rPr lang="zh-CN" altLang="en-US" sz="2600" dirty="0">
                <a:latin typeface="微软雅黑" panose="020B0503020204020204" pitchFamily="34" charset="-122"/>
                <a:ea typeface="微软雅黑" panose="020B0503020204020204" pitchFamily="34" charset="-122"/>
              </a:rPr>
              <a:t>回顾操作特点</a:t>
            </a:r>
            <a:endParaRPr lang="zh-CN" altLang="en-US" sz="2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en-US" altLang="zh-CN" sz="210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数据库</a:t>
            </a:r>
            <a:r>
              <a:rPr lang="zh-CN" altLang="en-US" dirty="0"/>
              <a:t>索引</a:t>
            </a:r>
            <a:r>
              <a:rPr lang="zh-CN" altLang="zh-CN" dirty="0"/>
              <a:t>-</a:t>
            </a:r>
            <a:r>
              <a:rPr lang="zh-CN" altLang="en-US" dirty="0"/>
              <a:t>线性</a:t>
            </a:r>
            <a:r>
              <a:rPr lang="zh-CN" altLang="zh-CN" dirty="0"/>
              <a:t>散列索引</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pSp>
        <p:nvGrpSpPr>
          <p:cNvPr id="9" name="Group 311"/>
          <p:cNvGrpSpPr/>
          <p:nvPr/>
        </p:nvGrpSpPr>
        <p:grpSpPr>
          <a:xfrm>
            <a:off x="1650007" y="2003735"/>
            <a:ext cx="1035050" cy="696913"/>
            <a:chOff x="252" y="714"/>
            <a:chExt cx="652" cy="439"/>
          </a:xfrm>
        </p:grpSpPr>
        <p:sp>
          <p:nvSpPr>
            <p:cNvPr id="20" name="Rectangle 184"/>
            <p:cNvSpPr/>
            <p:nvPr/>
          </p:nvSpPr>
          <p:spPr>
            <a:xfrm>
              <a:off x="446" y="753"/>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21" name="Text Box 185"/>
            <p:cNvSpPr txBox="1"/>
            <p:nvPr/>
          </p:nvSpPr>
          <p:spPr>
            <a:xfrm>
              <a:off x="252" y="714"/>
              <a:ext cx="195" cy="406"/>
            </a:xfrm>
            <a:prstGeom prst="rect">
              <a:avLst/>
            </a:prstGeom>
            <a:noFill/>
            <a:ln w="9525">
              <a:noFill/>
            </a:ln>
          </p:spPr>
          <p:txBody>
            <a:bodyPr wrap="none" anchor="t">
              <a:spAutoFit/>
            </a:bodyPr>
            <a:lstStyle/>
            <a:p>
              <a:r>
                <a:rPr lang="en-US" altLang="zh-CN" sz="1800" dirty="0">
                  <a:latin typeface="Arial" panose="020B0604020202020204" pitchFamily="34" charset="0"/>
                  <a:ea typeface="楷体_GB2312" pitchFamily="49" charset="-122"/>
                </a:rPr>
                <a:t>0</a:t>
              </a:r>
              <a:endParaRPr lang="en-US" altLang="zh-CN" sz="1800" dirty="0">
                <a:latin typeface="Arial" panose="020B0604020202020204" pitchFamily="34" charset="0"/>
                <a:ea typeface="楷体_GB2312" pitchFamily="49" charset="-122"/>
              </a:endParaRPr>
            </a:p>
            <a:p>
              <a:r>
                <a:rPr lang="en-US" altLang="zh-CN" sz="1800" dirty="0">
                  <a:latin typeface="Arial" panose="020B0604020202020204" pitchFamily="34" charset="0"/>
                  <a:ea typeface="楷体_GB2312" pitchFamily="49" charset="-122"/>
                </a:rPr>
                <a:t>1</a:t>
              </a:r>
              <a:endParaRPr lang="en-US" altLang="zh-CN" sz="1800" dirty="0">
                <a:latin typeface="Arial" panose="020B0604020202020204" pitchFamily="34" charset="0"/>
                <a:ea typeface="楷体_GB2312" pitchFamily="49" charset="-122"/>
              </a:endParaRPr>
            </a:p>
          </p:txBody>
        </p:sp>
        <p:sp>
          <p:nvSpPr>
            <p:cNvPr id="22" name="Rectangle 186"/>
            <p:cNvSpPr/>
            <p:nvPr/>
          </p:nvSpPr>
          <p:spPr>
            <a:xfrm>
              <a:off x="447" y="952"/>
              <a:ext cx="457" cy="201"/>
            </a:xfrm>
            <a:prstGeom prst="rect">
              <a:avLst/>
            </a:prstGeom>
            <a:noFill/>
            <a:ln w="9525" cap="flat" cmpd="sng">
              <a:solidFill>
                <a:schemeClr val="tx1"/>
              </a:solidFill>
              <a:prstDash val="solid"/>
              <a:miter/>
              <a:headEnd type="none" w="med" len="med"/>
              <a:tailEnd type="none" w="med" len="med"/>
            </a:ln>
          </p:spPr>
          <p:txBody>
            <a:bodyPr anchor="ctr">
              <a:spAutoFit/>
            </a:bodyPr>
            <a:lstStyle/>
            <a:p>
              <a:endParaRPr lang="zh-CN" altLang="en-US" dirty="0">
                <a:latin typeface="Times New Roman" panose="02020603050405020304" pitchFamily="18" charset="0"/>
                <a:ea typeface="楷体_GB2312" pitchFamily="49" charset="-122"/>
              </a:endParaRPr>
            </a:p>
          </p:txBody>
        </p:sp>
      </p:grpSp>
      <mc:AlternateContent xmlns:mc="http://schemas.openxmlformats.org/markup-compatibility/2006" xmlns:a14="http://schemas.microsoft.com/office/drawing/2010/main">
        <mc:Choice Requires="a14">
          <p:graphicFrame>
            <p:nvGraphicFramePr>
              <p:cNvPr id="23" name="Group 198"/>
              <p:cNvGraphicFramePr>
                <a:graphicFrameLocks noGrp="1"/>
              </p:cNvGraphicFramePr>
              <p:nvPr/>
            </p:nvGraphicFramePr>
            <p:xfrm>
              <a:off x="2827932" y="1843398"/>
              <a:ext cx="655638" cy="1138239"/>
            </p:xfrm>
            <a:graphic>
              <a:graphicData uri="http://schemas.openxmlformats.org/drawingml/2006/table">
                <a:tbl>
                  <a:tblPr/>
                  <a:tblGrid>
                    <a:gridCol w="655638"/>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=1</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=2</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=1</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23" name="Group 198"/>
              <p:cNvGraphicFramePr>
                <a:graphicFrameLocks noGrp="1"/>
              </p:cNvGraphicFramePr>
              <p:nvPr/>
            </p:nvGraphicFramePr>
            <p:xfrm>
              <a:off x="2827932" y="1843398"/>
              <a:ext cx="655638" cy="1138239"/>
            </p:xfrm>
            <a:graphic>
              <a:graphicData uri="http://schemas.openxmlformats.org/drawingml/2006/table">
                <a:tbl>
                  <a:tblPr/>
                  <a:tblGrid>
                    <a:gridCol w="655638"/>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=2</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=1</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4" name="Group 256"/>
              <p:cNvGraphicFramePr>
                <a:graphicFrameLocks noGrp="1"/>
              </p:cNvGraphicFramePr>
              <p:nvPr/>
            </p:nvGraphicFramePr>
            <p:xfrm>
              <a:off x="5307607" y="1870385"/>
              <a:ext cx="1236980" cy="1138239"/>
            </p:xfrm>
            <a:graphic>
              <a:graphicData uri="http://schemas.openxmlformats.org/drawingml/2006/table">
                <a:tbl>
                  <a:tblPr/>
                  <a:tblGrid>
                    <a:gridCol w="1236980"/>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=4 </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24" name="Group 256"/>
              <p:cNvGraphicFramePr>
                <a:graphicFrameLocks noGrp="1"/>
              </p:cNvGraphicFramePr>
              <p:nvPr/>
            </p:nvGraphicFramePr>
            <p:xfrm>
              <a:off x="5307607" y="1870385"/>
              <a:ext cx="1236980" cy="1138239"/>
            </p:xfrm>
            <a:graphic>
              <a:graphicData uri="http://schemas.openxmlformats.org/drawingml/2006/table">
                <a:tbl>
                  <a:tblPr/>
                  <a:tblGrid>
                    <a:gridCol w="1236980"/>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=4 </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grpSp>
        <p:nvGrpSpPr>
          <p:cNvPr id="25" name="Group 305"/>
          <p:cNvGrpSpPr/>
          <p:nvPr/>
        </p:nvGrpSpPr>
        <p:grpSpPr>
          <a:xfrm>
            <a:off x="4047132" y="1873560"/>
            <a:ext cx="1192213" cy="1014413"/>
            <a:chOff x="1762" y="830"/>
            <a:chExt cx="751" cy="639"/>
          </a:xfrm>
        </p:grpSpPr>
        <p:sp>
          <p:nvSpPr>
            <p:cNvPr id="26" name="Rectangle 210"/>
            <p:cNvSpPr/>
            <p:nvPr/>
          </p:nvSpPr>
          <p:spPr>
            <a:xfrm>
              <a:off x="2055" y="869"/>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27" name="Text Box 211"/>
            <p:cNvSpPr txBox="1"/>
            <p:nvPr/>
          </p:nvSpPr>
          <p:spPr>
            <a:xfrm>
              <a:off x="1762" y="830"/>
              <a:ext cx="293" cy="639"/>
            </a:xfrm>
            <a:prstGeom prst="rect">
              <a:avLst/>
            </a:prstGeom>
            <a:noFill/>
            <a:ln w="9525">
              <a:noFill/>
            </a:ln>
          </p:spPr>
          <p:txBody>
            <a:bodyPr wrap="none" anchor="t">
              <a:spAutoFit/>
            </a:bodyPr>
            <a:lstStyle/>
            <a:p>
              <a:r>
                <a:rPr lang="en-US" altLang="zh-CN" sz="2000" dirty="0">
                  <a:solidFill>
                    <a:srgbClr val="CC0000"/>
                  </a:solidFill>
                  <a:latin typeface="Arial" panose="020B0604020202020204" pitchFamily="34" charset="0"/>
                  <a:ea typeface="楷体_GB2312" pitchFamily="49" charset="-122"/>
                </a:rPr>
                <a:t>00</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0</a:t>
              </a:r>
              <a:r>
                <a:rPr lang="en-US" altLang="zh-CN" sz="2000" dirty="0">
                  <a:latin typeface="Arial" panose="020B0604020202020204" pitchFamily="34" charset="0"/>
                  <a:ea typeface="楷体_GB2312" pitchFamily="49" charset="-122"/>
                </a:rPr>
                <a:t>1</a:t>
              </a:r>
              <a:endParaRPr lang="en-US" altLang="zh-CN" sz="2000" dirty="0">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10</a:t>
              </a:r>
              <a:endParaRPr lang="en-US" altLang="zh-CN" sz="2000" dirty="0">
                <a:solidFill>
                  <a:srgbClr val="CC0000"/>
                </a:solidFill>
                <a:latin typeface="Arial" panose="020B0604020202020204" pitchFamily="34" charset="0"/>
                <a:ea typeface="楷体_GB2312" pitchFamily="49" charset="-122"/>
              </a:endParaRPr>
            </a:p>
          </p:txBody>
        </p:sp>
        <p:sp>
          <p:nvSpPr>
            <p:cNvPr id="28" name="Rectangle 212"/>
            <p:cNvSpPr/>
            <p:nvPr/>
          </p:nvSpPr>
          <p:spPr>
            <a:xfrm>
              <a:off x="2056" y="1068"/>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29" name="Rectangle 213"/>
            <p:cNvSpPr/>
            <p:nvPr/>
          </p:nvSpPr>
          <p:spPr>
            <a:xfrm>
              <a:off x="2054" y="1258"/>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grpSp>
      <mc:AlternateContent xmlns:mc="http://schemas.openxmlformats.org/markup-compatibility/2006" xmlns:a14="http://schemas.microsoft.com/office/drawing/2010/main">
        <mc:Choice Requires="a14">
          <p:graphicFrame>
            <p:nvGraphicFramePr>
              <p:cNvPr id="30" name="Group 254"/>
              <p:cNvGraphicFramePr>
                <a:graphicFrameLocks noGrp="1"/>
              </p:cNvGraphicFramePr>
              <p:nvPr/>
            </p:nvGraphicFramePr>
            <p:xfrm>
              <a:off x="8455620" y="1811648"/>
              <a:ext cx="1236662" cy="1138239"/>
            </p:xfrm>
            <a:graphic>
              <a:graphicData uri="http://schemas.openxmlformats.org/drawingml/2006/table">
                <a:tbl>
                  <a:tblPr/>
                  <a:tblGrid>
                    <a:gridCol w="1236662"/>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=2</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=6 </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30" name="Group 254"/>
              <p:cNvGraphicFramePr>
                <a:graphicFrameLocks noGrp="1"/>
              </p:cNvGraphicFramePr>
              <p:nvPr/>
            </p:nvGraphicFramePr>
            <p:xfrm>
              <a:off x="8455620" y="1811648"/>
              <a:ext cx="1236662" cy="1138239"/>
            </p:xfrm>
            <a:graphic>
              <a:graphicData uri="http://schemas.openxmlformats.org/drawingml/2006/table">
                <a:tbl>
                  <a:tblPr/>
                  <a:tblGrid>
                    <a:gridCol w="1236662"/>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=6 </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grpSp>
        <p:nvGrpSpPr>
          <p:cNvPr id="31" name="Group 304"/>
          <p:cNvGrpSpPr/>
          <p:nvPr/>
        </p:nvGrpSpPr>
        <p:grpSpPr>
          <a:xfrm>
            <a:off x="7209432" y="1757673"/>
            <a:ext cx="1193800" cy="1322388"/>
            <a:chOff x="3745" y="793"/>
            <a:chExt cx="752" cy="833"/>
          </a:xfrm>
        </p:grpSpPr>
        <p:sp>
          <p:nvSpPr>
            <p:cNvPr id="33" name="Rectangle 232"/>
            <p:cNvSpPr/>
            <p:nvPr/>
          </p:nvSpPr>
          <p:spPr>
            <a:xfrm>
              <a:off x="4038" y="832"/>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34" name="Text Box 233"/>
            <p:cNvSpPr txBox="1"/>
            <p:nvPr/>
          </p:nvSpPr>
          <p:spPr>
            <a:xfrm>
              <a:off x="3745" y="793"/>
              <a:ext cx="293" cy="833"/>
            </a:xfrm>
            <a:prstGeom prst="rect">
              <a:avLst/>
            </a:prstGeom>
            <a:noFill/>
            <a:ln w="9525">
              <a:noFill/>
            </a:ln>
          </p:spPr>
          <p:txBody>
            <a:bodyPr wrap="none" anchor="t">
              <a:spAutoFit/>
            </a:bodyPr>
            <a:lstStyle/>
            <a:p>
              <a:r>
                <a:rPr lang="en-US" altLang="zh-CN" sz="2000" dirty="0">
                  <a:solidFill>
                    <a:srgbClr val="CC0000"/>
                  </a:solidFill>
                  <a:latin typeface="Arial" panose="020B0604020202020204" pitchFamily="34" charset="0"/>
                  <a:ea typeface="楷体_GB2312" pitchFamily="49" charset="-122"/>
                </a:rPr>
                <a:t>00</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01</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10</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11</a:t>
              </a:r>
              <a:endParaRPr lang="en-US" altLang="zh-CN" sz="2000" dirty="0">
                <a:solidFill>
                  <a:srgbClr val="CC0000"/>
                </a:solidFill>
                <a:latin typeface="Arial" panose="020B0604020202020204" pitchFamily="34" charset="0"/>
                <a:ea typeface="楷体_GB2312" pitchFamily="49" charset="-122"/>
              </a:endParaRPr>
            </a:p>
          </p:txBody>
        </p:sp>
        <p:sp>
          <p:nvSpPr>
            <p:cNvPr id="35" name="Rectangle 234"/>
            <p:cNvSpPr/>
            <p:nvPr/>
          </p:nvSpPr>
          <p:spPr>
            <a:xfrm>
              <a:off x="4039" y="1031"/>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36" name="Rectangle 235"/>
            <p:cNvSpPr/>
            <p:nvPr/>
          </p:nvSpPr>
          <p:spPr>
            <a:xfrm>
              <a:off x="4040" y="1221"/>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37" name="Rectangle 236"/>
            <p:cNvSpPr/>
            <p:nvPr/>
          </p:nvSpPr>
          <p:spPr>
            <a:xfrm>
              <a:off x="4038" y="1411"/>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grpSp>
      <p:sp>
        <p:nvSpPr>
          <p:cNvPr id="38" name="AutoShape 313"/>
          <p:cNvSpPr/>
          <p:nvPr/>
        </p:nvSpPr>
        <p:spPr>
          <a:xfrm>
            <a:off x="3674070" y="2341873"/>
            <a:ext cx="290512" cy="304800"/>
          </a:xfrm>
          <a:prstGeom prst="rightArrow">
            <a:avLst>
              <a:gd name="adj1" fmla="val 50000"/>
              <a:gd name="adj2" fmla="val 25000"/>
            </a:avLst>
          </a:prstGeom>
          <a:solidFill>
            <a:schemeClr val="tx2"/>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39" name="AutoShape 314"/>
          <p:cNvSpPr/>
          <p:nvPr/>
        </p:nvSpPr>
        <p:spPr>
          <a:xfrm>
            <a:off x="6763345" y="2341873"/>
            <a:ext cx="290512" cy="304800"/>
          </a:xfrm>
          <a:prstGeom prst="rightArrow">
            <a:avLst>
              <a:gd name="adj1" fmla="val 50000"/>
              <a:gd name="adj2" fmla="val 25000"/>
            </a:avLst>
          </a:prstGeom>
          <a:solidFill>
            <a:schemeClr val="tx2"/>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grpSp>
        <p:nvGrpSpPr>
          <p:cNvPr id="40" name="Group 312"/>
          <p:cNvGrpSpPr/>
          <p:nvPr/>
        </p:nvGrpSpPr>
        <p:grpSpPr>
          <a:xfrm>
            <a:off x="1480164" y="3008686"/>
            <a:ext cx="8645496" cy="1497005"/>
            <a:chOff x="565" y="1428"/>
            <a:chExt cx="4748" cy="1263"/>
          </a:xfrm>
        </p:grpSpPr>
        <p:sp>
          <p:nvSpPr>
            <p:cNvPr id="41" name="AutoShape 39"/>
            <p:cNvSpPr/>
            <p:nvPr/>
          </p:nvSpPr>
          <p:spPr>
            <a:xfrm>
              <a:off x="565" y="1428"/>
              <a:ext cx="4748" cy="1263"/>
            </a:xfrm>
            <a:prstGeom prst="roundRect">
              <a:avLst>
                <a:gd name="adj" fmla="val 16667"/>
              </a:avLst>
            </a:prstGeom>
            <a:solidFill>
              <a:schemeClr val="accent2"/>
            </a:solidFill>
            <a:ln w="9525">
              <a:noFill/>
            </a:ln>
          </p:spPr>
          <p:txBody>
            <a:bodyPr wrap="none" anchor="ctr"/>
            <a:lstStyle/>
            <a:p>
              <a:endParaRPr lang="zh-CN" altLang="zh-CN" dirty="0">
                <a:solidFill>
                  <a:srgbClr val="000000"/>
                </a:solidFill>
                <a:latin typeface="Arial" panose="020B0604020202020204" pitchFamily="34" charset="0"/>
                <a:ea typeface="宋体" panose="02010600030101010101" pitchFamily="2" charset="-122"/>
              </a:endParaRPr>
            </a:p>
          </p:txBody>
        </p:sp>
        <p:sp>
          <p:nvSpPr>
            <p:cNvPr id="42" name="Oval 40"/>
            <p:cNvSpPr/>
            <p:nvPr/>
          </p:nvSpPr>
          <p:spPr>
            <a:xfrm>
              <a:off x="647" y="1490"/>
              <a:ext cx="4572" cy="1132"/>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43" name="Text Box 84"/>
                <p:cNvSpPr/>
                <p:nvPr/>
              </p:nvSpPr>
              <p:spPr>
                <a:xfrm>
                  <a:off x="647" y="1543"/>
                  <a:ext cx="4490" cy="1124"/>
                </a:xfrm>
                <a:prstGeom prst="roundRect">
                  <a:avLst>
                    <a:gd name="adj" fmla="val 16667"/>
                  </a:avLst>
                </a:prstGeom>
                <a:noFill/>
                <a:ln w="9525">
                  <a:noFill/>
                </a:ln>
              </p:spPr>
              <p:txBody>
                <a:bodyPr wrap="square" anchor="t">
                  <a:spAutoFit/>
                </a:bodyPr>
                <a:lstStyle/>
                <a:p>
                  <a:pPr indent="-285750">
                    <a:buChar char="•"/>
                  </a:pPr>
                  <a:r>
                    <a:rPr lang="zh-CN" altLang="en-US" dirty="0">
                      <a:solidFill>
                        <a:srgbClr val="FFFFFF"/>
                      </a:solidFill>
                      <a:latin typeface="Arial" panose="020B0604020202020204" pitchFamily="34" charset="0"/>
                      <a:ea typeface="华文中宋" panose="02010600040101010101" pitchFamily="2" charset="-122"/>
                    </a:rPr>
                    <a:t>键值由低位向高位次序使用。对应索引项存储在由桶数组指针指向的存储块</a:t>
                  </a:r>
                  <a:endParaRPr lang="zh-CN" altLang="en-US" dirty="0">
                    <a:solidFill>
                      <a:srgbClr val="FFFFFF"/>
                    </a:solidFill>
                    <a:latin typeface="Arial" panose="020B0604020202020204" pitchFamily="34" charset="0"/>
                    <a:ea typeface="华文中宋" panose="02010600040101010101" pitchFamily="2" charset="-122"/>
                  </a:endParaRPr>
                </a:p>
                <a:p>
                  <a:pPr indent="-285750">
                    <a:buChar char="•"/>
                  </a:pPr>
                  <a:r>
                    <a:rPr lang="zh-CN" altLang="en-US" dirty="0">
                      <a:solidFill>
                        <a:srgbClr val="FFFFFF"/>
                      </a:solidFill>
                      <a:latin typeface="Arial" panose="020B0604020202020204" pitchFamily="34" charset="0"/>
                      <a:ea typeface="华文中宋" panose="02010600040101010101" pitchFamily="2" charset="-122"/>
                    </a:rPr>
                    <a:t>当</a:t>
                  </a:r>
                  <a:r>
                    <a:rPr lang="en-US" altLang="zh-CN" dirty="0">
                      <a:solidFill>
                        <a:srgbClr val="FFFFFF"/>
                      </a:solidFill>
                      <a:latin typeface="Arial" panose="020B0604020202020204" pitchFamily="34" charset="0"/>
                      <a:ea typeface="华文中宋" panose="02010600040101010101" pitchFamily="2" charset="-122"/>
                    </a:rPr>
                    <a:t>r/n(</a:t>
                  </a:r>
                  <a:r>
                    <a:rPr lang="zh-CN" altLang="en-US" dirty="0">
                      <a:solidFill>
                        <a:srgbClr val="FFFFFF"/>
                      </a:solidFill>
                      <a:latin typeface="Arial" panose="020B0604020202020204" pitchFamily="34" charset="0"/>
                      <a:ea typeface="华文中宋" panose="02010600040101010101" pitchFamily="2" charset="-122"/>
                    </a:rPr>
                    <a:t>当前索引项数除以桶数</a:t>
                  </a:r>
                  <a:r>
                    <a:rPr lang="en-US" altLang="zh-CN" dirty="0">
                      <a:solidFill>
                        <a:srgbClr val="FFFFFF"/>
                      </a:solidFill>
                      <a:latin typeface="Arial" panose="020B0604020202020204" pitchFamily="34" charset="0"/>
                      <a:ea typeface="华文中宋" panose="02010600040101010101" pitchFamily="2" charset="-122"/>
                    </a:rPr>
                    <a:t>)</a:t>
                  </a:r>
                  <a:r>
                    <a:rPr lang="zh-CN" altLang="en-US" dirty="0">
                      <a:solidFill>
                        <a:srgbClr val="FFFFFF"/>
                      </a:solidFill>
                      <a:latin typeface="Arial" panose="020B0604020202020204" pitchFamily="34" charset="0"/>
                      <a:ea typeface="华文中宋" panose="02010600040101010101" pitchFamily="2" charset="-122"/>
                    </a:rPr>
                    <a:t>大于一定比例时，按次序增加</a:t>
                  </a:r>
                  <a:r>
                    <a:rPr lang="en-US" altLang="zh-CN" dirty="0">
                      <a:solidFill>
                        <a:srgbClr val="FFFFFF"/>
                      </a:solidFill>
                      <a:latin typeface="Arial" panose="020B0604020202020204" pitchFamily="34" charset="0"/>
                      <a:ea typeface="华文中宋" panose="02010600040101010101" pitchFamily="2" charset="-122"/>
                    </a:rPr>
                    <a:t>1</a:t>
                  </a:r>
                  <a:r>
                    <a:rPr lang="zh-CN" altLang="en-US" dirty="0">
                      <a:solidFill>
                        <a:srgbClr val="FFFFFF"/>
                      </a:solidFill>
                      <a:latin typeface="Arial" panose="020B0604020202020204" pitchFamily="34" charset="0"/>
                      <a:ea typeface="华文中宋" panose="02010600040101010101" pitchFamily="2" charset="-122"/>
                    </a:rPr>
                    <a:t>个桶</a:t>
                  </a:r>
                  <a:endParaRPr lang="zh-CN" altLang="en-US" dirty="0">
                    <a:solidFill>
                      <a:srgbClr val="FFFFFF"/>
                    </a:solidFill>
                    <a:latin typeface="Arial" panose="020B0604020202020204" pitchFamily="34" charset="0"/>
                    <a:ea typeface="华文中宋" panose="02010600040101010101" pitchFamily="2" charset="-122"/>
                  </a:endParaRPr>
                </a:p>
                <a:p>
                  <a:pPr indent="-285750">
                    <a:buChar char="•"/>
                  </a:pPr>
                  <a:r>
                    <a:rPr lang="zh-CN" altLang="en-US" dirty="0">
                      <a:solidFill>
                        <a:srgbClr val="FFFFFF"/>
                      </a:solidFill>
                      <a:latin typeface="Arial" panose="020B0604020202020204" pitchFamily="34" charset="0"/>
                      <a:ea typeface="华文中宋" panose="02010600040101010101" pitchFamily="2" charset="-122"/>
                    </a:rPr>
                    <a:t>假设该桶为</a:t>
                  </a:r>
                  <a:r>
                    <a:rPr lang="en-US" altLang="zh-CN" dirty="0">
                      <a:solidFill>
                        <a:srgbClr val="FFFFFF"/>
                      </a:solidFill>
                      <a:latin typeface="Arial" panose="020B0604020202020204" pitchFamily="34" charset="0"/>
                      <a:ea typeface="华文中宋" panose="02010600040101010101" pitchFamily="2" charset="-122"/>
                    </a:rPr>
                    <a:t>1a2a3…ai</a:t>
                  </a:r>
                  <a:r>
                    <a:rPr lang="zh-CN" altLang="en-US" dirty="0">
                      <a:solidFill>
                        <a:srgbClr val="FFFFFF"/>
                      </a:solidFill>
                      <a:latin typeface="Arial" panose="020B0604020202020204" pitchFamily="34" charset="0"/>
                      <a:ea typeface="华文中宋" panose="02010600040101010101" pitchFamily="2" charset="-122"/>
                    </a:rPr>
                    <a:t>，则该桶由</a:t>
                  </a:r>
                  <a:r>
                    <a:rPr lang="en-US" altLang="zh-CN" dirty="0">
                      <a:solidFill>
                        <a:srgbClr val="FFFFFF"/>
                      </a:solidFill>
                      <a:latin typeface="Arial" panose="020B0604020202020204" pitchFamily="34" charset="0"/>
                      <a:ea typeface="华文中宋" panose="02010600040101010101" pitchFamily="2" charset="-122"/>
                    </a:rPr>
                    <a:t>0a2a3..ai</a:t>
                  </a:r>
                  <a:r>
                    <a:rPr lang="zh-CN" altLang="en-US" dirty="0">
                      <a:solidFill>
                        <a:srgbClr val="FFFFFF"/>
                      </a:solidFill>
                      <a:latin typeface="Arial" panose="020B0604020202020204" pitchFamily="34" charset="0"/>
                      <a:ea typeface="华文中宋" panose="02010600040101010101" pitchFamily="2" charset="-122"/>
                    </a:rPr>
                    <a:t>对应的块分裂而来</a:t>
                  </a:r>
                  <a:endParaRPr lang="zh-CN" altLang="en-US" dirty="0">
                    <a:solidFill>
                      <a:srgbClr val="FFFFFF"/>
                    </a:solidFill>
                    <a:latin typeface="Arial" panose="020B0604020202020204" pitchFamily="34" charset="0"/>
                    <a:ea typeface="华文中宋" panose="02010600040101010101" pitchFamily="2" charset="-122"/>
                  </a:endParaRPr>
                </a:p>
                <a:p>
                  <a:pPr indent="-285750">
                    <a:buChar char="•"/>
                  </a:pPr>
                  <a:r>
                    <a:rPr lang="zh-CN" altLang="en-US" dirty="0">
                      <a:solidFill>
                        <a:srgbClr val="FFFFFF"/>
                      </a:solidFill>
                      <a:latin typeface="Arial" panose="020B0604020202020204" pitchFamily="34" charset="0"/>
                      <a:ea typeface="华文中宋" panose="02010600040101010101" pitchFamily="2" charset="-122"/>
                    </a:rPr>
                    <a:t>当桶数超过</a:t>
                  </a:r>
                  <a14:m>
                    <m:oMath xmlns:m="http://schemas.openxmlformats.org/officeDocument/2006/math">
                      <m:sSup>
                        <m:sSupPr>
                          <m:ctrlPr>
                            <a:rPr lang="en-US" altLang="zh-CN" dirty="0">
                              <a:solidFill>
                                <a:srgbClr val="FFFFFF"/>
                              </a:solidFill>
                            </a:rPr>
                          </m:ctrlPr>
                        </m:sSupPr>
                        <m:e>
                          <m:r>
                            <a:rPr lang="en-US" altLang="zh-CN" dirty="0">
                              <a:solidFill>
                                <a:srgbClr val="FFFFFF"/>
                              </a:solidFill>
                              <a:latin typeface="Cambria Math" panose="02040503050406030204" pitchFamily="18" charset="0"/>
                            </a:rPr>
                            <m:t>2</m:t>
                          </m:r>
                        </m:e>
                        <m:sup>
                          <m:r>
                            <a:rPr lang="en-US" altLang="zh-CN" dirty="0">
                              <a:solidFill>
                                <a:srgbClr val="FFFFFF"/>
                              </a:solidFill>
                              <a:latin typeface="Cambria Math" panose="02040503050406030204" pitchFamily="18" charset="0"/>
                            </a:rPr>
                            <m:t>𝑖</m:t>
                          </m:r>
                        </m:sup>
                      </m:sSup>
                    </m:oMath>
                  </a14:m>
                  <a:r>
                    <a:rPr lang="zh-CN" altLang="en-US" dirty="0">
                      <a:solidFill>
                        <a:srgbClr val="FFFFFF"/>
                      </a:solidFill>
                      <a:latin typeface="Arial" panose="020B0604020202020204" pitchFamily="34" charset="0"/>
                      <a:ea typeface="华文中宋" panose="02010600040101010101" pitchFamily="2" charset="-122"/>
                    </a:rPr>
                    <a:t>个桶时，则使</a:t>
                  </a:r>
                  <a14:m>
                    <m:oMath xmlns:m="http://schemas.openxmlformats.org/officeDocument/2006/math">
                      <m:r>
                        <a:rPr lang="en-US" altLang="zh-CN" dirty="0">
                          <a:solidFill>
                            <a:srgbClr val="FFFFFF"/>
                          </a:solidFill>
                          <a:latin typeface="Cambria Math" panose="02040503050406030204" pitchFamily="18" charset="0"/>
                        </a:rPr>
                        <m:t>𝑖</m:t>
                      </m:r>
                    </m:oMath>
                  </a14:m>
                  <a:r>
                    <a:rPr lang="zh-CN" altLang="en-US" dirty="0">
                      <a:solidFill>
                        <a:srgbClr val="FFFFFF"/>
                      </a:solidFill>
                      <a:latin typeface="Arial" panose="020B0604020202020204" pitchFamily="34" charset="0"/>
                      <a:ea typeface="华文中宋" panose="02010600040101010101" pitchFamily="2" charset="-122"/>
                    </a:rPr>
                    <a:t>增</a:t>
                  </a:r>
                  <a:r>
                    <a:rPr lang="en-US" altLang="zh-CN" dirty="0">
                      <a:solidFill>
                        <a:srgbClr val="FFFFFF"/>
                      </a:solidFill>
                      <a:latin typeface="Arial" panose="020B0604020202020204" pitchFamily="34" charset="0"/>
                      <a:ea typeface="华文中宋" panose="02010600040101010101" pitchFamily="2" charset="-122"/>
                    </a:rPr>
                    <a:t>1</a:t>
                  </a:r>
                  <a:r>
                    <a:rPr lang="zh-CN" altLang="en-US" dirty="0">
                      <a:solidFill>
                        <a:srgbClr val="FFFFFF"/>
                      </a:solidFill>
                      <a:latin typeface="Arial" panose="020B0604020202020204" pitchFamily="34" charset="0"/>
                      <a:ea typeface="华文中宋" panose="02010600040101010101" pitchFamily="2" charset="-122"/>
                    </a:rPr>
                    <a:t>。</a:t>
                  </a:r>
                  <a:endParaRPr lang="zh-CN" altLang="en-US" dirty="0">
                    <a:solidFill>
                      <a:srgbClr val="FFFFFF"/>
                    </a:solidFill>
                    <a:latin typeface="Arial" panose="020B0604020202020204" pitchFamily="34" charset="0"/>
                    <a:ea typeface="华文中宋" panose="02010600040101010101" pitchFamily="2" charset="-122"/>
                  </a:endParaRPr>
                </a:p>
              </p:txBody>
            </p:sp>
          </mc:Choice>
          <mc:Fallback>
            <p:sp>
              <p:nvSpPr>
                <p:cNvPr id="43" name="Text Box 84"/>
                <p:cNvSpPr>
                  <a:spLocks noRot="1" noChangeAspect="1" noMove="1" noResize="1" noEditPoints="1" noAdjustHandles="1" noChangeArrowheads="1" noChangeShapeType="1" noTextEdit="1"/>
                </p:cNvSpPr>
                <p:nvPr/>
              </p:nvSpPr>
              <p:spPr>
                <a:xfrm>
                  <a:off x="647" y="1543"/>
                  <a:ext cx="4490" cy="1124"/>
                </a:xfrm>
                <a:prstGeom prst="roundRect">
                  <a:avLst>
                    <a:gd name="adj" fmla="val 16667"/>
                  </a:avLst>
                </a:prstGeom>
                <a:blipFill rotWithShape="1">
                  <a:blip r:embed="rId4"/>
                </a:blipFill>
                <a:ln w="9525">
                  <a:noFill/>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graphicFrame>
            <p:nvGraphicFramePr>
              <p:cNvPr id="44" name="Group 259"/>
              <p:cNvGraphicFramePr>
                <a:graphicFrameLocks noGrp="1"/>
              </p:cNvGraphicFramePr>
              <p:nvPr/>
            </p:nvGraphicFramePr>
            <p:xfrm>
              <a:off x="3057332" y="4639119"/>
              <a:ext cx="1236662" cy="1138239"/>
            </p:xfrm>
            <a:graphic>
              <a:graphicData uri="http://schemas.openxmlformats.org/drawingml/2006/table">
                <a:tbl>
                  <a:tblPr/>
                  <a:tblGrid>
                    <a:gridCol w="1236662"/>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=8 </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44" name="Group 259"/>
              <p:cNvGraphicFramePr>
                <a:graphicFrameLocks noGrp="1"/>
              </p:cNvGraphicFramePr>
              <p:nvPr/>
            </p:nvGraphicFramePr>
            <p:xfrm>
              <a:off x="3057332" y="4639119"/>
              <a:ext cx="1236662" cy="1138239"/>
            </p:xfrm>
            <a:graphic>
              <a:graphicData uri="http://schemas.openxmlformats.org/drawingml/2006/table">
                <a:tbl>
                  <a:tblPr/>
                  <a:tblGrid>
                    <a:gridCol w="1236662"/>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blip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=8 </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grpSp>
        <p:nvGrpSpPr>
          <p:cNvPr id="66" name="Group 303"/>
          <p:cNvGrpSpPr/>
          <p:nvPr/>
        </p:nvGrpSpPr>
        <p:grpSpPr>
          <a:xfrm>
            <a:off x="1653982" y="4583557"/>
            <a:ext cx="1339850" cy="1630363"/>
            <a:chOff x="353" y="2144"/>
            <a:chExt cx="844" cy="1027"/>
          </a:xfrm>
        </p:grpSpPr>
        <p:sp>
          <p:nvSpPr>
            <p:cNvPr id="67" name="Rectangle 247"/>
            <p:cNvSpPr/>
            <p:nvPr/>
          </p:nvSpPr>
          <p:spPr>
            <a:xfrm>
              <a:off x="736" y="2183"/>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68" name="Text Box 248"/>
            <p:cNvSpPr txBox="1"/>
            <p:nvPr/>
          </p:nvSpPr>
          <p:spPr>
            <a:xfrm>
              <a:off x="353" y="2144"/>
              <a:ext cx="382" cy="1027"/>
            </a:xfrm>
            <a:prstGeom prst="rect">
              <a:avLst/>
            </a:prstGeom>
            <a:noFill/>
            <a:ln w="9525">
              <a:noFill/>
            </a:ln>
          </p:spPr>
          <p:txBody>
            <a:bodyPr wrap="none" anchor="t">
              <a:spAutoFit/>
            </a:bodyPr>
            <a:lstStyle/>
            <a:p>
              <a:r>
                <a:rPr lang="en-US" altLang="zh-CN" sz="2000" dirty="0">
                  <a:solidFill>
                    <a:srgbClr val="CC0000"/>
                  </a:solidFill>
                  <a:latin typeface="Arial" panose="020B0604020202020204" pitchFamily="34" charset="0"/>
                  <a:ea typeface="楷体_GB2312" pitchFamily="49" charset="-122"/>
                </a:rPr>
                <a:t>000</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0</a:t>
              </a:r>
              <a:r>
                <a:rPr lang="en-US" altLang="zh-CN" sz="2000" dirty="0">
                  <a:latin typeface="Arial" panose="020B0604020202020204" pitchFamily="34" charset="0"/>
                  <a:ea typeface="楷体_GB2312" pitchFamily="49" charset="-122"/>
                </a:rPr>
                <a:t>01</a:t>
              </a:r>
              <a:endParaRPr lang="en-US" altLang="zh-CN" sz="2000" dirty="0">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0</a:t>
              </a:r>
              <a:r>
                <a:rPr lang="en-US" altLang="zh-CN" sz="2000" dirty="0">
                  <a:latin typeface="Arial" panose="020B0604020202020204" pitchFamily="34" charset="0"/>
                  <a:ea typeface="楷体_GB2312" pitchFamily="49" charset="-122"/>
                </a:rPr>
                <a:t>10</a:t>
              </a:r>
              <a:endParaRPr lang="en-US" altLang="zh-CN" sz="2000" dirty="0">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0</a:t>
              </a:r>
              <a:r>
                <a:rPr lang="en-US" altLang="zh-CN" sz="2000" dirty="0">
                  <a:latin typeface="Arial" panose="020B0604020202020204" pitchFamily="34" charset="0"/>
                  <a:ea typeface="楷体_GB2312" pitchFamily="49" charset="-122"/>
                </a:rPr>
                <a:t>11</a:t>
              </a:r>
              <a:endParaRPr lang="en-US" altLang="zh-CN" sz="2000" dirty="0">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100</a:t>
              </a:r>
              <a:endParaRPr lang="en-US" altLang="zh-CN" sz="2000" dirty="0">
                <a:solidFill>
                  <a:srgbClr val="CC0000"/>
                </a:solidFill>
                <a:latin typeface="Arial" panose="020B0604020202020204" pitchFamily="34" charset="0"/>
                <a:ea typeface="楷体_GB2312" pitchFamily="49" charset="-122"/>
              </a:endParaRPr>
            </a:p>
          </p:txBody>
        </p:sp>
        <p:sp>
          <p:nvSpPr>
            <p:cNvPr id="69" name="Rectangle 249"/>
            <p:cNvSpPr/>
            <p:nvPr/>
          </p:nvSpPr>
          <p:spPr>
            <a:xfrm>
              <a:off x="737" y="2382"/>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70" name="Rectangle 250"/>
            <p:cNvSpPr/>
            <p:nvPr/>
          </p:nvSpPr>
          <p:spPr>
            <a:xfrm>
              <a:off x="738" y="2572"/>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71" name="Rectangle 251"/>
            <p:cNvSpPr/>
            <p:nvPr/>
          </p:nvSpPr>
          <p:spPr>
            <a:xfrm>
              <a:off x="739" y="2762"/>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72" name="Rectangle 257"/>
            <p:cNvSpPr/>
            <p:nvPr/>
          </p:nvSpPr>
          <p:spPr>
            <a:xfrm>
              <a:off x="740" y="2952"/>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grpSp>
      <mc:AlternateContent xmlns:mc="http://schemas.openxmlformats.org/markup-compatibility/2006" xmlns:a14="http://schemas.microsoft.com/office/drawing/2010/main">
        <mc:Choice Requires="a14">
          <p:graphicFrame>
            <p:nvGraphicFramePr>
              <p:cNvPr id="73" name="Group 278"/>
              <p:cNvGraphicFramePr>
                <a:graphicFrameLocks noGrp="1"/>
              </p:cNvGraphicFramePr>
              <p:nvPr/>
            </p:nvGraphicFramePr>
            <p:xfrm>
              <a:off x="5971982" y="4640707"/>
              <a:ext cx="1236662" cy="1124586"/>
            </p:xfrm>
            <a:graphic>
              <a:graphicData uri="http://schemas.openxmlformats.org/drawingml/2006/table">
                <a:tbl>
                  <a:tblPr/>
                  <a:tblGrid>
                    <a:gridCol w="1236662"/>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=3</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70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=10 </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73" name="Group 278"/>
              <p:cNvGraphicFramePr>
                <a:graphicFrameLocks noGrp="1"/>
              </p:cNvGraphicFramePr>
              <p:nvPr/>
            </p:nvGraphicFramePr>
            <p:xfrm>
              <a:off x="5971982" y="4640707"/>
              <a:ext cx="1236662" cy="1124586"/>
            </p:xfrm>
            <a:graphic>
              <a:graphicData uri="http://schemas.openxmlformats.org/drawingml/2006/table">
                <a:tbl>
                  <a:tblPr/>
                  <a:tblGrid>
                    <a:gridCol w="1236662"/>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blipFill>
                      </a:tcPr>
                    </a:tc>
                  </a:tr>
                  <a:tr h="3270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=10 </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grpSp>
        <p:nvGrpSpPr>
          <p:cNvPr id="74" name="Group 302"/>
          <p:cNvGrpSpPr/>
          <p:nvPr/>
        </p:nvGrpSpPr>
        <p:grpSpPr>
          <a:xfrm>
            <a:off x="4568632" y="4575619"/>
            <a:ext cx="1338262" cy="1938338"/>
            <a:chOff x="2390" y="2132"/>
            <a:chExt cx="843" cy="1221"/>
          </a:xfrm>
        </p:grpSpPr>
        <p:sp>
          <p:nvSpPr>
            <p:cNvPr id="75" name="Rectangle 270"/>
            <p:cNvSpPr/>
            <p:nvPr/>
          </p:nvSpPr>
          <p:spPr>
            <a:xfrm>
              <a:off x="2775" y="2171"/>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76" name="Text Box 271"/>
            <p:cNvSpPr txBox="1"/>
            <p:nvPr/>
          </p:nvSpPr>
          <p:spPr>
            <a:xfrm>
              <a:off x="2390" y="2132"/>
              <a:ext cx="382" cy="1221"/>
            </a:xfrm>
            <a:prstGeom prst="rect">
              <a:avLst/>
            </a:prstGeom>
            <a:noFill/>
            <a:ln w="9525">
              <a:noFill/>
            </a:ln>
          </p:spPr>
          <p:txBody>
            <a:bodyPr wrap="none" anchor="t">
              <a:spAutoFit/>
            </a:bodyPr>
            <a:lstStyle/>
            <a:p>
              <a:r>
                <a:rPr lang="en-US" altLang="zh-CN" sz="2000" dirty="0">
                  <a:solidFill>
                    <a:srgbClr val="CC0000"/>
                  </a:solidFill>
                  <a:latin typeface="Arial" panose="020B0604020202020204" pitchFamily="34" charset="0"/>
                  <a:ea typeface="楷体_GB2312" pitchFamily="49" charset="-122"/>
                </a:rPr>
                <a:t>000</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001</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0</a:t>
              </a:r>
              <a:r>
                <a:rPr lang="en-US" altLang="zh-CN" sz="2000" dirty="0">
                  <a:latin typeface="Arial" panose="020B0604020202020204" pitchFamily="34" charset="0"/>
                  <a:ea typeface="楷体_GB2312" pitchFamily="49" charset="-122"/>
                </a:rPr>
                <a:t>10</a:t>
              </a:r>
              <a:endParaRPr lang="en-US" altLang="zh-CN" sz="2000" dirty="0">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0</a:t>
              </a:r>
              <a:r>
                <a:rPr lang="en-US" altLang="zh-CN" sz="2000" dirty="0">
                  <a:solidFill>
                    <a:schemeClr val="tx2"/>
                  </a:solidFill>
                  <a:latin typeface="Arial" panose="020B0604020202020204" pitchFamily="34" charset="0"/>
                  <a:ea typeface="楷体_GB2312" pitchFamily="49" charset="-122"/>
                </a:rPr>
                <a:t>11</a:t>
              </a:r>
              <a:endParaRPr lang="en-US" altLang="zh-CN" sz="2000" dirty="0">
                <a:solidFill>
                  <a:schemeClr val="tx2"/>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100</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101</a:t>
              </a:r>
              <a:endParaRPr lang="en-US" altLang="zh-CN" sz="2000" dirty="0">
                <a:solidFill>
                  <a:srgbClr val="CC0000"/>
                </a:solidFill>
                <a:latin typeface="Arial" panose="020B0604020202020204" pitchFamily="34" charset="0"/>
                <a:ea typeface="楷体_GB2312" pitchFamily="49" charset="-122"/>
              </a:endParaRPr>
            </a:p>
          </p:txBody>
        </p:sp>
        <p:sp>
          <p:nvSpPr>
            <p:cNvPr id="77" name="Rectangle 272"/>
            <p:cNvSpPr/>
            <p:nvPr/>
          </p:nvSpPr>
          <p:spPr>
            <a:xfrm>
              <a:off x="2775" y="2370"/>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78" name="Rectangle 273"/>
            <p:cNvSpPr/>
            <p:nvPr/>
          </p:nvSpPr>
          <p:spPr>
            <a:xfrm>
              <a:off x="2775" y="2560"/>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79" name="Rectangle 274"/>
            <p:cNvSpPr/>
            <p:nvPr/>
          </p:nvSpPr>
          <p:spPr>
            <a:xfrm>
              <a:off x="2776" y="2750"/>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93" name="Rectangle 275"/>
            <p:cNvSpPr/>
            <p:nvPr/>
          </p:nvSpPr>
          <p:spPr>
            <a:xfrm>
              <a:off x="2776" y="2940"/>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94" name="Rectangle 279"/>
            <p:cNvSpPr/>
            <p:nvPr/>
          </p:nvSpPr>
          <p:spPr>
            <a:xfrm>
              <a:off x="2776" y="3130"/>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grpSp>
      <mc:AlternateContent xmlns:mc="http://schemas.openxmlformats.org/markup-compatibility/2006" xmlns:a14="http://schemas.microsoft.com/office/drawing/2010/main">
        <mc:Choice Requires="a14">
          <p:graphicFrame>
            <p:nvGraphicFramePr>
              <p:cNvPr id="95" name="Group 280"/>
              <p:cNvGraphicFramePr>
                <a:graphicFrameLocks noGrp="1"/>
              </p:cNvGraphicFramePr>
              <p:nvPr/>
            </p:nvGraphicFramePr>
            <p:xfrm>
              <a:off x="8697719" y="4583557"/>
              <a:ext cx="1236663" cy="1124586"/>
            </p:xfrm>
            <a:graphic>
              <a:graphicData uri="http://schemas.openxmlformats.org/drawingml/2006/table">
                <a:tbl>
                  <a:tblPr/>
                  <a:tblGrid>
                    <a:gridCol w="1236663"/>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 xmlns:m="http://schemas.openxmlformats.org/officeDocument/2006/math">
                              <m:r>
                                <a:rPr lang="en-US" altLang="zh-CN" sz="1800" b="1" i="1" dirty="0" smtClean="0">
                                  <a:latin typeface="Cambria Math" panose="02040503050406030204" pitchFamily="18" charset="0"/>
                                  <a:ea typeface="微软雅黑" panose="020B0503020204020204" pitchFamily="34" charset="-122"/>
                                </a:rPr>
                                <m:t>𝒊</m:t>
                              </m:r>
                            </m:oMath>
                          </a14:m>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=3</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70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7</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=12 </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95" name="Group 280"/>
              <p:cNvGraphicFramePr>
                <a:graphicFrameLocks noGrp="1"/>
              </p:cNvGraphicFramePr>
              <p:nvPr/>
            </p:nvGraphicFramePr>
            <p:xfrm>
              <a:off x="8697719" y="4583557"/>
              <a:ext cx="1236663" cy="1124586"/>
            </p:xfrm>
            <a:graphic>
              <a:graphicData uri="http://schemas.openxmlformats.org/drawingml/2006/table">
                <a:tbl>
                  <a:tblPr/>
                  <a:tblGrid>
                    <a:gridCol w="1236663"/>
                  </a:tblGrid>
                  <a:tr h="37973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7"/>
                        </a:blipFill>
                      </a:tcPr>
                    </a:tc>
                  </a:tr>
                  <a:tr h="3270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7</a:t>
                          </a:r>
                          <a:endPar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 =12 </a:t>
                          </a:r>
                          <a:endPar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grpSp>
        <p:nvGrpSpPr>
          <p:cNvPr id="96" name="Group 301"/>
          <p:cNvGrpSpPr/>
          <p:nvPr/>
        </p:nvGrpSpPr>
        <p:grpSpPr>
          <a:xfrm>
            <a:off x="7294369" y="4529582"/>
            <a:ext cx="1339850" cy="2244725"/>
            <a:chOff x="3906" y="2807"/>
            <a:chExt cx="844" cy="1414"/>
          </a:xfrm>
        </p:grpSpPr>
        <p:sp>
          <p:nvSpPr>
            <p:cNvPr id="97" name="Rectangle 290"/>
            <p:cNvSpPr/>
            <p:nvPr/>
          </p:nvSpPr>
          <p:spPr>
            <a:xfrm>
              <a:off x="4291" y="2846"/>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98" name="Text Box 291"/>
            <p:cNvSpPr txBox="1"/>
            <p:nvPr/>
          </p:nvSpPr>
          <p:spPr>
            <a:xfrm>
              <a:off x="3906" y="2807"/>
              <a:ext cx="382" cy="1414"/>
            </a:xfrm>
            <a:prstGeom prst="rect">
              <a:avLst/>
            </a:prstGeom>
            <a:noFill/>
            <a:ln w="9525">
              <a:noFill/>
            </a:ln>
          </p:spPr>
          <p:txBody>
            <a:bodyPr wrap="none" anchor="t">
              <a:spAutoFit/>
            </a:bodyPr>
            <a:lstStyle/>
            <a:p>
              <a:r>
                <a:rPr lang="en-US" altLang="zh-CN" sz="2000" dirty="0">
                  <a:solidFill>
                    <a:srgbClr val="CC0000"/>
                  </a:solidFill>
                  <a:latin typeface="Arial" panose="020B0604020202020204" pitchFamily="34" charset="0"/>
                  <a:ea typeface="楷体_GB2312" pitchFamily="49" charset="-122"/>
                </a:rPr>
                <a:t>000</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001</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010</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0</a:t>
              </a:r>
              <a:r>
                <a:rPr lang="en-US" altLang="zh-CN" sz="2000" dirty="0">
                  <a:solidFill>
                    <a:schemeClr val="tx2"/>
                  </a:solidFill>
                  <a:latin typeface="Arial" panose="020B0604020202020204" pitchFamily="34" charset="0"/>
                  <a:ea typeface="楷体_GB2312" pitchFamily="49" charset="-122"/>
                </a:rPr>
                <a:t>11</a:t>
              </a:r>
              <a:endParaRPr lang="en-US" altLang="zh-CN" sz="2000" dirty="0">
                <a:solidFill>
                  <a:schemeClr val="tx2"/>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100</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101</a:t>
              </a:r>
              <a:endParaRPr lang="en-US" altLang="zh-CN" sz="2000" dirty="0">
                <a:solidFill>
                  <a:srgbClr val="CC0000"/>
                </a:solidFill>
                <a:latin typeface="Arial" panose="020B0604020202020204" pitchFamily="34" charset="0"/>
                <a:ea typeface="楷体_GB2312" pitchFamily="49" charset="-122"/>
              </a:endParaRPr>
            </a:p>
            <a:p>
              <a:r>
                <a:rPr lang="en-US" altLang="zh-CN" sz="2000" dirty="0">
                  <a:solidFill>
                    <a:srgbClr val="CC0000"/>
                  </a:solidFill>
                  <a:latin typeface="Arial" panose="020B0604020202020204" pitchFamily="34" charset="0"/>
                  <a:ea typeface="楷体_GB2312" pitchFamily="49" charset="-122"/>
                </a:rPr>
                <a:t>110</a:t>
              </a:r>
              <a:endParaRPr lang="en-US" altLang="zh-CN" sz="2000" dirty="0">
                <a:solidFill>
                  <a:srgbClr val="CC0000"/>
                </a:solidFill>
                <a:latin typeface="Arial" panose="020B0604020202020204" pitchFamily="34" charset="0"/>
                <a:ea typeface="楷体_GB2312" pitchFamily="49" charset="-122"/>
              </a:endParaRPr>
            </a:p>
          </p:txBody>
        </p:sp>
        <p:sp>
          <p:nvSpPr>
            <p:cNvPr id="99" name="Rectangle 292"/>
            <p:cNvSpPr/>
            <p:nvPr/>
          </p:nvSpPr>
          <p:spPr>
            <a:xfrm>
              <a:off x="4291" y="3045"/>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100" name="Rectangle 293"/>
            <p:cNvSpPr/>
            <p:nvPr/>
          </p:nvSpPr>
          <p:spPr>
            <a:xfrm>
              <a:off x="4291" y="3235"/>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101" name="Rectangle 294"/>
            <p:cNvSpPr/>
            <p:nvPr/>
          </p:nvSpPr>
          <p:spPr>
            <a:xfrm>
              <a:off x="4292" y="3425"/>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102" name="Rectangle 295"/>
            <p:cNvSpPr/>
            <p:nvPr/>
          </p:nvSpPr>
          <p:spPr>
            <a:xfrm>
              <a:off x="4292" y="3615"/>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103" name="Rectangle 296"/>
            <p:cNvSpPr/>
            <p:nvPr/>
          </p:nvSpPr>
          <p:spPr>
            <a:xfrm>
              <a:off x="4292" y="3805"/>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104" name="Rectangle 297"/>
            <p:cNvSpPr/>
            <p:nvPr/>
          </p:nvSpPr>
          <p:spPr>
            <a:xfrm>
              <a:off x="4293" y="4004"/>
              <a:ext cx="457" cy="192"/>
            </a:xfrm>
            <a:prstGeom prst="rect">
              <a:avLst/>
            </a:prstGeom>
            <a:no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grpSp>
      <p:sp>
        <p:nvSpPr>
          <p:cNvPr id="105" name="AutoShape 315"/>
          <p:cNvSpPr/>
          <p:nvPr/>
        </p:nvSpPr>
        <p:spPr>
          <a:xfrm>
            <a:off x="1320607" y="5655119"/>
            <a:ext cx="290512" cy="304800"/>
          </a:xfrm>
          <a:prstGeom prst="rightArrow">
            <a:avLst>
              <a:gd name="adj1" fmla="val 50000"/>
              <a:gd name="adj2" fmla="val 25000"/>
            </a:avLst>
          </a:prstGeom>
          <a:solidFill>
            <a:schemeClr val="tx2"/>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106" name="AutoShape 316"/>
          <p:cNvSpPr/>
          <p:nvPr/>
        </p:nvSpPr>
        <p:spPr>
          <a:xfrm>
            <a:off x="3844732" y="5871019"/>
            <a:ext cx="290512" cy="304800"/>
          </a:xfrm>
          <a:prstGeom prst="rightArrow">
            <a:avLst>
              <a:gd name="adj1" fmla="val 50000"/>
              <a:gd name="adj2" fmla="val 25000"/>
            </a:avLst>
          </a:prstGeom>
          <a:solidFill>
            <a:schemeClr val="tx2"/>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107" name="AutoShape 317"/>
          <p:cNvSpPr/>
          <p:nvPr/>
        </p:nvSpPr>
        <p:spPr>
          <a:xfrm>
            <a:off x="6659369" y="5851969"/>
            <a:ext cx="290513" cy="304800"/>
          </a:xfrm>
          <a:prstGeom prst="rightArrow">
            <a:avLst>
              <a:gd name="adj1" fmla="val 50000"/>
              <a:gd name="adj2" fmla="val 25000"/>
            </a:avLst>
          </a:prstGeom>
          <a:solidFill>
            <a:schemeClr val="tx2"/>
          </a:solidFill>
          <a:ln w="9525" cap="flat" cmpd="sng">
            <a:solidFill>
              <a:schemeClr val="tx1"/>
            </a:solidFill>
            <a:prstDash val="solid"/>
            <a:miter/>
            <a:headEnd type="none" w="med" len="med"/>
            <a:tailEnd type="none" w="med" len="med"/>
          </a:ln>
        </p:spPr>
        <p:txBody>
          <a:bodyPr wrap="none" anchor="ctr">
            <a:spAutoFit/>
          </a:bodyPr>
          <a:lstStyle/>
          <a:p>
            <a:endParaRPr lang="zh-CN" altLang="en-US" dirty="0">
              <a:latin typeface="Times New Roman" panose="02020603050405020304" pitchFamily="18" charset="0"/>
              <a:ea typeface="楷体_GB2312" pitchFamily="49" charset="-122"/>
            </a:endParaRPr>
          </a:p>
        </p:txBody>
      </p:sp>
      <p:sp>
        <p:nvSpPr>
          <p:cNvPr id="2" name="灯片编号占位符 1"/>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97163" y="1219203"/>
            <a:ext cx="11464632" cy="5061560"/>
          </a:xfrm>
        </p:spPr>
        <p:txBody>
          <a:bodyPr>
            <a:normAutofit/>
          </a:bodyPr>
          <a:lstStyle/>
          <a:p>
            <a:pPr algn="just">
              <a:lnSpc>
                <a:spcPct val="150000"/>
              </a:lnSpc>
            </a:pPr>
            <a:r>
              <a:rPr lang="zh-CN" altLang="en-US" sz="2600" dirty="0">
                <a:latin typeface="微软雅黑" panose="020B0503020204020204" pitchFamily="34" charset="-122"/>
                <a:ea typeface="微软雅黑" panose="020B0503020204020204" pitchFamily="34" charset="-122"/>
              </a:rPr>
              <a:t>总结</a:t>
            </a:r>
            <a:endParaRPr lang="en-US" altLang="zh-CN" sz="2600"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487172" y="179243"/>
            <a:ext cx="10697497" cy="590931"/>
          </a:xfrm>
        </p:spPr>
        <p:txBody>
          <a:bodyPr/>
          <a:lstStyle/>
          <a:p>
            <a:pPr algn="l"/>
            <a:r>
              <a:rPr lang="en-US" altLang="zh-CN" dirty="0"/>
              <a:t>6.2 </a:t>
            </a:r>
            <a:r>
              <a:rPr lang="zh-CN" altLang="zh-CN" dirty="0"/>
              <a:t>回顾本讲学了什么</a:t>
            </a:r>
            <a:endParaRPr lang="zh-CN" altLang="en-US" dirty="0"/>
          </a:p>
        </p:txBody>
      </p:sp>
      <p:sp>
        <p:nvSpPr>
          <p:cNvPr id="32" name="灯片编号占位符 6"/>
          <p:cNvSpPr txBox="1"/>
          <p:nvPr/>
        </p:nvSpPr>
        <p:spPr>
          <a:xfrm>
            <a:off x="911859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891F7F-8655-44AE-A6FF-53AD9F2B6B87}" type="slidenum">
              <a:rPr lang="zh-CN" altLang="en-US" smtClean="0"/>
            </a:fld>
            <a:endParaRPr lang="zh-CN" altLang="en-US" dirty="0"/>
          </a:p>
        </p:txBody>
      </p:sp>
      <p:sp>
        <p:nvSpPr>
          <p:cNvPr id="15" name="日期占位符 5"/>
          <p:cNvSpPr txBox="1"/>
          <p:nvPr/>
        </p:nvSpPr>
        <p:spPr>
          <a:xfrm>
            <a:off x="367147"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69604-02ED-A24E-9F5D-2F596CCFDEF2}" type="datetime1">
              <a:rPr lang="zh-CN" altLang="en-US" smtClean="0"/>
            </a:fld>
            <a:endParaRPr lang="zh-CN" altLang="en-US" dirty="0"/>
          </a:p>
        </p:txBody>
      </p:sp>
      <p:grpSp>
        <p:nvGrpSpPr>
          <p:cNvPr id="2" name="Group 4"/>
          <p:cNvGrpSpPr/>
          <p:nvPr/>
        </p:nvGrpSpPr>
        <p:grpSpPr>
          <a:xfrm>
            <a:off x="4486275" y="1569661"/>
            <a:ext cx="3219450" cy="811212"/>
            <a:chOff x="808" y="1103"/>
            <a:chExt cx="898" cy="690"/>
          </a:xfrm>
        </p:grpSpPr>
        <p:sp>
          <p:nvSpPr>
            <p:cNvPr id="4" name="AutoShape 39"/>
            <p:cNvSpPr>
              <a:spLocks noChangeArrowheads="1"/>
            </p:cNvSpPr>
            <p:nvPr/>
          </p:nvSpPr>
          <p:spPr bwMode="gray">
            <a:xfrm>
              <a:off x="808" y="1103"/>
              <a:ext cx="898" cy="69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800" b="1"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7" name="Oval 40"/>
            <p:cNvSpPr/>
            <p:nvPr/>
          </p:nvSpPr>
          <p:spPr>
            <a:xfrm>
              <a:off x="882" y="1160"/>
              <a:ext cx="750" cy="577"/>
            </a:xfrm>
            <a:prstGeom prst="ellipse">
              <a:avLst/>
            </a:prstGeom>
            <a:solidFill>
              <a:srgbClr val="FFFF66"/>
            </a:solidFill>
            <a:ln w="28575" cap="flat" cmpd="sng">
              <a:solidFill>
                <a:srgbClr val="FFFFFF"/>
              </a:solidFill>
              <a:prstDash val="solid"/>
              <a:round/>
              <a:headEnd type="none" w="med" len="med"/>
              <a:tailEnd type="none" w="med" len="med"/>
            </a:ln>
          </p:spPr>
          <p:txBody>
            <a:bodyPr wrap="none" anchor="ctr"/>
            <a:lstStyle/>
            <a:p>
              <a:pPr algn="ctr"/>
              <a:endParaRPr lang="zh-CN" altLang="zh-CN" sz="2800" dirty="0">
                <a:solidFill>
                  <a:schemeClr val="accent2"/>
                </a:solidFill>
                <a:latin typeface="Arial" panose="020B0604020202020204" pitchFamily="34" charset="0"/>
                <a:ea typeface="宋体" panose="02010600030101010101" pitchFamily="2" charset="-122"/>
              </a:endParaRPr>
            </a:p>
          </p:txBody>
        </p:sp>
        <p:sp>
          <p:nvSpPr>
            <p:cNvPr id="8" name="Text Box 84"/>
            <p:cNvSpPr txBox="1">
              <a:spLocks noChangeArrowheads="1"/>
            </p:cNvSpPr>
            <p:nvPr/>
          </p:nvSpPr>
          <p:spPr bwMode="auto">
            <a:xfrm>
              <a:off x="885" y="1189"/>
              <a:ext cx="743" cy="442"/>
            </a:xfrm>
            <a:prstGeom prst="rect">
              <a:avLst/>
            </a:prstGeom>
            <a:noFill/>
            <a:ln>
              <a:noFill/>
            </a:ln>
          </p:spPr>
          <p:txBody>
            <a:bodyPr>
              <a:spAutoFit/>
            </a:bodyPr>
            <a:lstStyle/>
            <a:p>
              <a:pPr marR="0" algn="ctr" defTabSz="914400">
                <a:spcBef>
                  <a:spcPct val="35000"/>
                </a:spcBef>
                <a:buClrTx/>
                <a:buSzTx/>
                <a:buFontTx/>
                <a:buNone/>
                <a:defRPr/>
              </a:pPr>
              <a:r>
                <a:rPr kumimoji="0" lang="zh-CN" altLang="en-US" sz="2800" kern="1200" cap="none" spc="0" normalizeH="0" baseline="0" noProof="0">
                  <a:solidFill>
                    <a:schemeClr val="accent2"/>
                  </a:solidFill>
                  <a:effectLst>
                    <a:outerShdw blurRad="38100" dist="38100" dir="2700000" algn="tl">
                      <a:srgbClr val="C0C0C0"/>
                    </a:outerShdw>
                  </a:effectLst>
                  <a:latin typeface="Arial" panose="020B0604020202020204" pitchFamily="34" charset="0"/>
                  <a:ea typeface="华文中宋" panose="02010600040101010101" pitchFamily="2" charset="-122"/>
                  <a:cs typeface="+mn-cs"/>
                </a:rPr>
                <a:t>数据库索引</a:t>
              </a:r>
              <a:endParaRPr kumimoji="0" lang="zh-CN" altLang="en-US" sz="2800" kern="1200" cap="none" spc="0" normalizeH="0" baseline="0" noProof="0">
                <a:solidFill>
                  <a:schemeClr val="accent2"/>
                </a:solidFill>
                <a:effectLst>
                  <a:outerShdw blurRad="38100" dist="38100" dir="2700000" algn="tl">
                    <a:srgbClr val="C0C0C0"/>
                  </a:outerShdw>
                </a:effectLst>
                <a:latin typeface="Arial" panose="020B0604020202020204" pitchFamily="34" charset="0"/>
                <a:ea typeface="华文中宋" panose="02010600040101010101" pitchFamily="2" charset="-122"/>
                <a:cs typeface="+mn-cs"/>
              </a:endParaRPr>
            </a:p>
          </p:txBody>
        </p:sp>
      </p:grpSp>
      <p:grpSp>
        <p:nvGrpSpPr>
          <p:cNvPr id="10" name="Group 20"/>
          <p:cNvGrpSpPr/>
          <p:nvPr/>
        </p:nvGrpSpPr>
        <p:grpSpPr>
          <a:xfrm>
            <a:off x="2698754" y="2395160"/>
            <a:ext cx="1147763" cy="968375"/>
            <a:chOff x="1287" y="903"/>
            <a:chExt cx="723" cy="610"/>
          </a:xfrm>
        </p:grpSpPr>
        <p:sp>
          <p:nvSpPr>
            <p:cNvPr id="11" name="AutoShape 39"/>
            <p:cNvSpPr>
              <a:spLocks noChangeArrowheads="1"/>
            </p:cNvSpPr>
            <p:nvPr/>
          </p:nvSpPr>
          <p:spPr bwMode="gray">
            <a:xfrm>
              <a:off x="1287" y="903"/>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2" name="Oval 40"/>
            <p:cNvSpPr/>
            <p:nvPr/>
          </p:nvSpPr>
          <p:spPr>
            <a:xfrm>
              <a:off x="1347" y="953"/>
              <a:ext cx="603" cy="509"/>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宋体" panose="02010600030101010101" pitchFamily="2" charset="-122"/>
                <a:ea typeface="宋体" panose="02010600030101010101" pitchFamily="2" charset="-122"/>
              </a:endParaRPr>
            </a:p>
          </p:txBody>
        </p:sp>
        <p:sp>
          <p:nvSpPr>
            <p:cNvPr id="13" name="Text Box 84"/>
            <p:cNvSpPr txBox="1"/>
            <p:nvPr/>
          </p:nvSpPr>
          <p:spPr>
            <a:xfrm>
              <a:off x="1349" y="1083"/>
              <a:ext cx="598" cy="250"/>
            </a:xfrm>
            <a:prstGeom prst="rect">
              <a:avLst/>
            </a:prstGeom>
            <a:noFill/>
            <a:ln w="9525">
              <a:noFill/>
            </a:ln>
          </p:spPr>
          <p:txBody>
            <a:bodyPr anchor="t">
              <a:spAutoFit/>
            </a:bodyPr>
            <a:lstStyle/>
            <a:p>
              <a:pPr algn="ctr">
                <a:spcBef>
                  <a:spcPct val="35000"/>
                </a:spcBef>
              </a:pPr>
              <a:r>
                <a:rPr lang="zh-CN" altLang="en-US" dirty="0">
                  <a:solidFill>
                    <a:srgbClr val="FFFFFF"/>
                  </a:solidFill>
                  <a:latin typeface="宋体" panose="02010600030101010101" pitchFamily="2" charset="-122"/>
                  <a:ea typeface="华文中宋" panose="02010600040101010101" pitchFamily="2" charset="-122"/>
                </a:rPr>
                <a:t>索引</a:t>
              </a:r>
              <a:endParaRPr lang="zh-CN" altLang="en-US" dirty="0">
                <a:solidFill>
                  <a:srgbClr val="FFFFFF"/>
                </a:solidFill>
                <a:latin typeface="宋体" panose="02010600030101010101" pitchFamily="2" charset="-122"/>
                <a:ea typeface="华文中宋" panose="02010600040101010101" pitchFamily="2" charset="-122"/>
              </a:endParaRPr>
            </a:p>
          </p:txBody>
        </p:sp>
      </p:grpSp>
      <p:grpSp>
        <p:nvGrpSpPr>
          <p:cNvPr id="14" name="Group 12"/>
          <p:cNvGrpSpPr/>
          <p:nvPr/>
        </p:nvGrpSpPr>
        <p:grpSpPr>
          <a:xfrm>
            <a:off x="5591973" y="3623551"/>
            <a:ext cx="1420813" cy="939800"/>
            <a:chOff x="3795" y="1068"/>
            <a:chExt cx="869" cy="535"/>
          </a:xfrm>
        </p:grpSpPr>
        <p:sp>
          <p:nvSpPr>
            <p:cNvPr id="16" name="AutoShape 39"/>
            <p:cNvSpPr/>
            <p:nvPr/>
          </p:nvSpPr>
          <p:spPr>
            <a:xfrm>
              <a:off x="3795" y="1068"/>
              <a:ext cx="869" cy="535"/>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17" name="Oval 40"/>
            <p:cNvSpPr/>
            <p:nvPr/>
          </p:nvSpPr>
          <p:spPr>
            <a:xfrm>
              <a:off x="3867" y="1112"/>
              <a:ext cx="725" cy="44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18" name="Text Box 84"/>
            <p:cNvSpPr/>
            <p:nvPr/>
          </p:nvSpPr>
          <p:spPr>
            <a:xfrm>
              <a:off x="3853" y="1114"/>
              <a:ext cx="750" cy="399"/>
            </a:xfrm>
            <a:prstGeom prst="roundRect">
              <a:avLst>
                <a:gd name="adj" fmla="val 16667"/>
              </a:avLst>
            </a:prstGeom>
            <a:noFill/>
            <a:ln w="9525">
              <a:noFill/>
            </a:ln>
          </p:spPr>
          <p:txBody>
            <a:bodyPr anchor="t">
              <a:spAutoFit/>
            </a:bodyPr>
            <a:lstStyle/>
            <a:p>
              <a:pPr algn="ctr">
                <a:spcBef>
                  <a:spcPct val="35000"/>
                </a:spcBef>
              </a:pPr>
              <a:r>
                <a:rPr lang="en-US" altLang="zh-CN" sz="1800" dirty="0">
                  <a:solidFill>
                    <a:srgbClr val="FFFFFF"/>
                  </a:solidFill>
                  <a:latin typeface="Arial" panose="020B0604020202020204" pitchFamily="34" charset="0"/>
                  <a:ea typeface="华文中宋" panose="02010600040101010101" pitchFamily="2" charset="-122"/>
                </a:rPr>
                <a:t>B+Tree</a:t>
              </a:r>
              <a:r>
                <a:rPr lang="zh-CN" altLang="en-US" sz="1800" dirty="0">
                  <a:solidFill>
                    <a:srgbClr val="FFFFFF"/>
                  </a:solidFill>
                  <a:latin typeface="Arial" panose="020B0604020202020204" pitchFamily="34" charset="0"/>
                  <a:ea typeface="华文中宋" panose="02010600040101010101" pitchFamily="2" charset="-122"/>
                </a:rPr>
                <a:t>索引</a:t>
              </a:r>
              <a:endParaRPr lang="zh-CN" altLang="en-US" dirty="0">
                <a:solidFill>
                  <a:srgbClr val="FFFFFF"/>
                </a:solidFill>
                <a:latin typeface="Arial" panose="020B0604020202020204" pitchFamily="34" charset="0"/>
                <a:ea typeface="华文中宋" panose="02010600040101010101" pitchFamily="2" charset="-122"/>
              </a:endParaRPr>
            </a:p>
          </p:txBody>
        </p:sp>
      </p:grpSp>
      <p:grpSp>
        <p:nvGrpSpPr>
          <p:cNvPr id="19" name="Group 16"/>
          <p:cNvGrpSpPr/>
          <p:nvPr/>
        </p:nvGrpSpPr>
        <p:grpSpPr>
          <a:xfrm>
            <a:off x="3233742" y="3204785"/>
            <a:ext cx="1479550" cy="823913"/>
            <a:chOff x="3312" y="2123"/>
            <a:chExt cx="932" cy="519"/>
          </a:xfrm>
        </p:grpSpPr>
        <p:sp>
          <p:nvSpPr>
            <p:cNvPr id="45" name="AutoShape 39"/>
            <p:cNvSpPr/>
            <p:nvPr/>
          </p:nvSpPr>
          <p:spPr>
            <a:xfrm>
              <a:off x="3312" y="2123"/>
              <a:ext cx="932" cy="519"/>
            </a:xfrm>
            <a:custGeom>
              <a:avLst/>
              <a:gdLst/>
              <a:ahLst/>
              <a:cxnLst>
                <a:cxn ang="0">
                  <a:pos x="43360" y="0"/>
                </a:cxn>
                <a:cxn ang="0">
                  <a:pos x="12699" y="7161"/>
                </a:cxn>
                <a:cxn ang="0">
                  <a:pos x="0" y="24450"/>
                </a:cxn>
                <a:cxn ang="0">
                  <a:pos x="12699" y="41740"/>
                </a:cxn>
                <a:cxn ang="0">
                  <a:pos x="43360" y="48901"/>
                </a:cxn>
                <a:cxn ang="0">
                  <a:pos x="74021" y="41740"/>
                </a:cxn>
                <a:cxn ang="0">
                  <a:pos x="86720" y="24450"/>
                </a:cxn>
                <a:cxn ang="0">
                  <a:pos x="74021" y="716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solidFill>
            <a:ln w="9525">
              <a:noFill/>
            </a:ln>
          </p:spPr>
          <p:txBody>
            <a:bodyPr/>
            <a:lstStyle/>
            <a:p>
              <a:endParaRPr lang="zh-CN" altLang="en-US"/>
            </a:p>
          </p:txBody>
        </p:sp>
        <p:sp>
          <p:nvSpPr>
            <p:cNvPr id="46" name="Oval 40"/>
            <p:cNvSpPr/>
            <p:nvPr/>
          </p:nvSpPr>
          <p:spPr>
            <a:xfrm>
              <a:off x="3389" y="2166"/>
              <a:ext cx="778" cy="434"/>
            </a:xfrm>
            <a:prstGeom prst="ellipse">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47" name="Text Box 84"/>
            <p:cNvSpPr txBox="1"/>
            <p:nvPr/>
          </p:nvSpPr>
          <p:spPr>
            <a:xfrm>
              <a:off x="3397" y="2258"/>
              <a:ext cx="771" cy="232"/>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华文中宋" panose="02010600040101010101" pitchFamily="2" charset="-122"/>
                </a:rPr>
                <a:t>稠密索引</a:t>
              </a:r>
              <a:endParaRPr lang="zh-CN" altLang="en-US" dirty="0">
                <a:solidFill>
                  <a:srgbClr val="FFFFFF"/>
                </a:solidFill>
                <a:latin typeface="Arial" panose="020B0604020202020204" pitchFamily="34" charset="0"/>
                <a:ea typeface="华文中宋" panose="02010600040101010101" pitchFamily="2" charset="-122"/>
              </a:endParaRPr>
            </a:p>
          </p:txBody>
        </p:sp>
      </p:grpSp>
      <p:grpSp>
        <p:nvGrpSpPr>
          <p:cNvPr id="48" name="Group 21"/>
          <p:cNvGrpSpPr/>
          <p:nvPr/>
        </p:nvGrpSpPr>
        <p:grpSpPr>
          <a:xfrm>
            <a:off x="1889129" y="3203198"/>
            <a:ext cx="1479550" cy="823912"/>
            <a:chOff x="3312" y="2123"/>
            <a:chExt cx="932" cy="519"/>
          </a:xfrm>
        </p:grpSpPr>
        <p:sp>
          <p:nvSpPr>
            <p:cNvPr id="49" name="AutoShape 39"/>
            <p:cNvSpPr/>
            <p:nvPr/>
          </p:nvSpPr>
          <p:spPr>
            <a:xfrm>
              <a:off x="3312" y="2123"/>
              <a:ext cx="932" cy="519"/>
            </a:xfrm>
            <a:custGeom>
              <a:avLst/>
              <a:gdLst/>
              <a:ahLst/>
              <a:cxnLst>
                <a:cxn ang="0">
                  <a:pos x="43360" y="0"/>
                </a:cxn>
                <a:cxn ang="0">
                  <a:pos x="12699" y="7161"/>
                </a:cxn>
                <a:cxn ang="0">
                  <a:pos x="0" y="24450"/>
                </a:cxn>
                <a:cxn ang="0">
                  <a:pos x="12699" y="41740"/>
                </a:cxn>
                <a:cxn ang="0">
                  <a:pos x="43360" y="48901"/>
                </a:cxn>
                <a:cxn ang="0">
                  <a:pos x="74021" y="41740"/>
                </a:cxn>
                <a:cxn ang="0">
                  <a:pos x="86720" y="24450"/>
                </a:cxn>
                <a:cxn ang="0">
                  <a:pos x="74021" y="716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solidFill>
            <a:ln w="9525">
              <a:noFill/>
            </a:ln>
          </p:spPr>
          <p:txBody>
            <a:bodyPr/>
            <a:lstStyle/>
            <a:p>
              <a:endParaRPr lang="zh-CN" altLang="en-US"/>
            </a:p>
          </p:txBody>
        </p:sp>
        <p:sp>
          <p:nvSpPr>
            <p:cNvPr id="50" name="Oval 40"/>
            <p:cNvSpPr/>
            <p:nvPr/>
          </p:nvSpPr>
          <p:spPr>
            <a:xfrm>
              <a:off x="3389" y="2166"/>
              <a:ext cx="778" cy="434"/>
            </a:xfrm>
            <a:prstGeom prst="ellipse">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51" name="Text Box 84"/>
            <p:cNvSpPr txBox="1"/>
            <p:nvPr/>
          </p:nvSpPr>
          <p:spPr>
            <a:xfrm>
              <a:off x="3395" y="2257"/>
              <a:ext cx="771" cy="232"/>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华文中宋" panose="02010600040101010101" pitchFamily="2" charset="-122"/>
                </a:rPr>
                <a:t>稀疏索引</a:t>
              </a:r>
              <a:endParaRPr lang="zh-CN" altLang="en-US" dirty="0">
                <a:solidFill>
                  <a:srgbClr val="FFFFFF"/>
                </a:solidFill>
                <a:latin typeface="Arial" panose="020B0604020202020204" pitchFamily="34" charset="0"/>
                <a:ea typeface="华文中宋" panose="02010600040101010101" pitchFamily="2" charset="-122"/>
              </a:endParaRPr>
            </a:p>
          </p:txBody>
        </p:sp>
      </p:grpSp>
      <p:grpSp>
        <p:nvGrpSpPr>
          <p:cNvPr id="52" name="Group 25"/>
          <p:cNvGrpSpPr/>
          <p:nvPr/>
        </p:nvGrpSpPr>
        <p:grpSpPr>
          <a:xfrm>
            <a:off x="3228979" y="3989010"/>
            <a:ext cx="1479550" cy="823913"/>
            <a:chOff x="3312" y="2123"/>
            <a:chExt cx="932" cy="519"/>
          </a:xfrm>
        </p:grpSpPr>
        <p:sp>
          <p:nvSpPr>
            <p:cNvPr id="53" name="AutoShape 39"/>
            <p:cNvSpPr/>
            <p:nvPr/>
          </p:nvSpPr>
          <p:spPr>
            <a:xfrm>
              <a:off x="3312" y="2123"/>
              <a:ext cx="932" cy="519"/>
            </a:xfrm>
            <a:custGeom>
              <a:avLst/>
              <a:gdLst/>
              <a:ahLst/>
              <a:cxnLst>
                <a:cxn ang="0">
                  <a:pos x="43360" y="0"/>
                </a:cxn>
                <a:cxn ang="0">
                  <a:pos x="12699" y="7161"/>
                </a:cxn>
                <a:cxn ang="0">
                  <a:pos x="0" y="24450"/>
                </a:cxn>
                <a:cxn ang="0">
                  <a:pos x="12699" y="41740"/>
                </a:cxn>
                <a:cxn ang="0">
                  <a:pos x="43360" y="48901"/>
                </a:cxn>
                <a:cxn ang="0">
                  <a:pos x="74021" y="41740"/>
                </a:cxn>
                <a:cxn ang="0">
                  <a:pos x="86720" y="24450"/>
                </a:cxn>
                <a:cxn ang="0">
                  <a:pos x="74021" y="716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solidFill>
            <a:ln w="9525">
              <a:noFill/>
            </a:ln>
          </p:spPr>
          <p:txBody>
            <a:bodyPr/>
            <a:lstStyle/>
            <a:p>
              <a:endParaRPr lang="zh-CN" altLang="en-US"/>
            </a:p>
          </p:txBody>
        </p:sp>
        <p:sp>
          <p:nvSpPr>
            <p:cNvPr id="54" name="Oval 40"/>
            <p:cNvSpPr/>
            <p:nvPr/>
          </p:nvSpPr>
          <p:spPr>
            <a:xfrm>
              <a:off x="3389" y="2166"/>
              <a:ext cx="778" cy="434"/>
            </a:xfrm>
            <a:prstGeom prst="ellipse">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55" name="Text Box 84"/>
            <p:cNvSpPr txBox="1"/>
            <p:nvPr/>
          </p:nvSpPr>
          <p:spPr>
            <a:xfrm>
              <a:off x="3398" y="2257"/>
              <a:ext cx="771" cy="232"/>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华文中宋" panose="02010600040101010101" pitchFamily="2" charset="-122"/>
                </a:rPr>
                <a:t>辅助索引</a:t>
              </a:r>
              <a:endParaRPr lang="zh-CN" altLang="en-US" dirty="0">
                <a:solidFill>
                  <a:srgbClr val="FFFFFF"/>
                </a:solidFill>
                <a:latin typeface="Arial" panose="020B0604020202020204" pitchFamily="34" charset="0"/>
                <a:ea typeface="华文中宋" panose="02010600040101010101" pitchFamily="2" charset="-122"/>
              </a:endParaRPr>
            </a:p>
          </p:txBody>
        </p:sp>
      </p:grpSp>
      <p:grpSp>
        <p:nvGrpSpPr>
          <p:cNvPr id="56" name="Group 29"/>
          <p:cNvGrpSpPr/>
          <p:nvPr/>
        </p:nvGrpSpPr>
        <p:grpSpPr>
          <a:xfrm>
            <a:off x="1884367" y="3987423"/>
            <a:ext cx="1479550" cy="823912"/>
            <a:chOff x="3312" y="2123"/>
            <a:chExt cx="932" cy="519"/>
          </a:xfrm>
        </p:grpSpPr>
        <p:sp>
          <p:nvSpPr>
            <p:cNvPr id="57" name="AutoShape 39"/>
            <p:cNvSpPr/>
            <p:nvPr/>
          </p:nvSpPr>
          <p:spPr>
            <a:xfrm>
              <a:off x="3312" y="2123"/>
              <a:ext cx="932" cy="519"/>
            </a:xfrm>
            <a:custGeom>
              <a:avLst/>
              <a:gdLst/>
              <a:ahLst/>
              <a:cxnLst>
                <a:cxn ang="0">
                  <a:pos x="43360" y="0"/>
                </a:cxn>
                <a:cxn ang="0">
                  <a:pos x="12699" y="7161"/>
                </a:cxn>
                <a:cxn ang="0">
                  <a:pos x="0" y="24450"/>
                </a:cxn>
                <a:cxn ang="0">
                  <a:pos x="12699" y="41740"/>
                </a:cxn>
                <a:cxn ang="0">
                  <a:pos x="43360" y="48901"/>
                </a:cxn>
                <a:cxn ang="0">
                  <a:pos x="74021" y="41740"/>
                </a:cxn>
                <a:cxn ang="0">
                  <a:pos x="86720" y="24450"/>
                </a:cxn>
                <a:cxn ang="0">
                  <a:pos x="74021" y="716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solidFill>
            <a:ln w="9525">
              <a:noFill/>
            </a:ln>
          </p:spPr>
          <p:txBody>
            <a:bodyPr/>
            <a:lstStyle/>
            <a:p>
              <a:endParaRPr lang="zh-CN" altLang="en-US"/>
            </a:p>
          </p:txBody>
        </p:sp>
        <p:sp>
          <p:nvSpPr>
            <p:cNvPr id="58" name="Oval 40"/>
            <p:cNvSpPr/>
            <p:nvPr/>
          </p:nvSpPr>
          <p:spPr>
            <a:xfrm>
              <a:off x="3389" y="2166"/>
              <a:ext cx="778" cy="434"/>
            </a:xfrm>
            <a:prstGeom prst="ellipse">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59" name="Text Box 84"/>
            <p:cNvSpPr txBox="1"/>
            <p:nvPr/>
          </p:nvSpPr>
          <p:spPr>
            <a:xfrm>
              <a:off x="3402" y="2254"/>
              <a:ext cx="771" cy="232"/>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华文中宋" panose="02010600040101010101" pitchFamily="2" charset="-122"/>
                </a:rPr>
                <a:t>主索引</a:t>
              </a:r>
              <a:endParaRPr lang="zh-CN" altLang="en-US" dirty="0">
                <a:solidFill>
                  <a:srgbClr val="FFFFFF"/>
                </a:solidFill>
                <a:latin typeface="Arial" panose="020B0604020202020204" pitchFamily="34" charset="0"/>
                <a:ea typeface="华文中宋" panose="02010600040101010101" pitchFamily="2" charset="-122"/>
              </a:endParaRPr>
            </a:p>
          </p:txBody>
        </p:sp>
      </p:grpSp>
      <p:grpSp>
        <p:nvGrpSpPr>
          <p:cNvPr id="60" name="Group 33"/>
          <p:cNvGrpSpPr/>
          <p:nvPr/>
        </p:nvGrpSpPr>
        <p:grpSpPr>
          <a:xfrm>
            <a:off x="3238504" y="4760535"/>
            <a:ext cx="1479550" cy="823913"/>
            <a:chOff x="3312" y="2123"/>
            <a:chExt cx="932" cy="519"/>
          </a:xfrm>
        </p:grpSpPr>
        <p:sp>
          <p:nvSpPr>
            <p:cNvPr id="61" name="AutoShape 39"/>
            <p:cNvSpPr/>
            <p:nvPr/>
          </p:nvSpPr>
          <p:spPr>
            <a:xfrm>
              <a:off x="3312" y="2123"/>
              <a:ext cx="932" cy="519"/>
            </a:xfrm>
            <a:custGeom>
              <a:avLst/>
              <a:gdLst/>
              <a:ahLst/>
              <a:cxnLst>
                <a:cxn ang="0">
                  <a:pos x="43360" y="0"/>
                </a:cxn>
                <a:cxn ang="0">
                  <a:pos x="12699" y="7161"/>
                </a:cxn>
                <a:cxn ang="0">
                  <a:pos x="0" y="24450"/>
                </a:cxn>
                <a:cxn ang="0">
                  <a:pos x="12699" y="41740"/>
                </a:cxn>
                <a:cxn ang="0">
                  <a:pos x="43360" y="48901"/>
                </a:cxn>
                <a:cxn ang="0">
                  <a:pos x="74021" y="41740"/>
                </a:cxn>
                <a:cxn ang="0">
                  <a:pos x="86720" y="24450"/>
                </a:cxn>
                <a:cxn ang="0">
                  <a:pos x="74021" y="716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solidFill>
            <a:ln w="9525">
              <a:noFill/>
            </a:ln>
          </p:spPr>
          <p:txBody>
            <a:bodyPr/>
            <a:lstStyle/>
            <a:p>
              <a:endParaRPr lang="zh-CN" altLang="en-US"/>
            </a:p>
          </p:txBody>
        </p:sp>
        <p:sp>
          <p:nvSpPr>
            <p:cNvPr id="62" name="Oval 40"/>
            <p:cNvSpPr/>
            <p:nvPr/>
          </p:nvSpPr>
          <p:spPr>
            <a:xfrm>
              <a:off x="3389" y="2166"/>
              <a:ext cx="778" cy="434"/>
            </a:xfrm>
            <a:prstGeom prst="ellipse">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63" name="Text Box 84"/>
            <p:cNvSpPr txBox="1"/>
            <p:nvPr/>
          </p:nvSpPr>
          <p:spPr>
            <a:xfrm>
              <a:off x="3392" y="2162"/>
              <a:ext cx="771" cy="442"/>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华文中宋" panose="02010600040101010101" pitchFamily="2" charset="-122"/>
                </a:rPr>
                <a:t>非聚簇    索引</a:t>
              </a:r>
              <a:endParaRPr lang="zh-CN" altLang="en-US" dirty="0">
                <a:solidFill>
                  <a:srgbClr val="FFFFFF"/>
                </a:solidFill>
                <a:latin typeface="Arial" panose="020B0604020202020204" pitchFamily="34" charset="0"/>
                <a:ea typeface="华文中宋" panose="02010600040101010101" pitchFamily="2" charset="-122"/>
              </a:endParaRPr>
            </a:p>
          </p:txBody>
        </p:sp>
      </p:grpSp>
      <p:grpSp>
        <p:nvGrpSpPr>
          <p:cNvPr id="64" name="Group 37"/>
          <p:cNvGrpSpPr/>
          <p:nvPr/>
        </p:nvGrpSpPr>
        <p:grpSpPr>
          <a:xfrm>
            <a:off x="1893892" y="4758948"/>
            <a:ext cx="1479550" cy="823912"/>
            <a:chOff x="3312" y="2123"/>
            <a:chExt cx="932" cy="519"/>
          </a:xfrm>
        </p:grpSpPr>
        <p:sp>
          <p:nvSpPr>
            <p:cNvPr id="65" name="AutoShape 39"/>
            <p:cNvSpPr/>
            <p:nvPr/>
          </p:nvSpPr>
          <p:spPr>
            <a:xfrm>
              <a:off x="3312" y="2123"/>
              <a:ext cx="932" cy="519"/>
            </a:xfrm>
            <a:custGeom>
              <a:avLst/>
              <a:gdLst/>
              <a:ahLst/>
              <a:cxnLst>
                <a:cxn ang="0">
                  <a:pos x="43360" y="0"/>
                </a:cxn>
                <a:cxn ang="0">
                  <a:pos x="12699" y="7161"/>
                </a:cxn>
                <a:cxn ang="0">
                  <a:pos x="0" y="24450"/>
                </a:cxn>
                <a:cxn ang="0">
                  <a:pos x="12699" y="41740"/>
                </a:cxn>
                <a:cxn ang="0">
                  <a:pos x="43360" y="48901"/>
                </a:cxn>
                <a:cxn ang="0">
                  <a:pos x="74021" y="41740"/>
                </a:cxn>
                <a:cxn ang="0">
                  <a:pos x="86720" y="24450"/>
                </a:cxn>
                <a:cxn ang="0">
                  <a:pos x="74021" y="716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solidFill>
            <a:ln w="9525">
              <a:noFill/>
            </a:ln>
          </p:spPr>
          <p:txBody>
            <a:bodyPr/>
            <a:lstStyle/>
            <a:p>
              <a:endParaRPr lang="zh-CN" altLang="en-US"/>
            </a:p>
          </p:txBody>
        </p:sp>
        <p:sp>
          <p:nvSpPr>
            <p:cNvPr id="80" name="Oval 40"/>
            <p:cNvSpPr/>
            <p:nvPr/>
          </p:nvSpPr>
          <p:spPr>
            <a:xfrm>
              <a:off x="3389" y="2166"/>
              <a:ext cx="778" cy="434"/>
            </a:xfrm>
            <a:prstGeom prst="ellipse">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81" name="Text Box 84"/>
            <p:cNvSpPr txBox="1"/>
            <p:nvPr/>
          </p:nvSpPr>
          <p:spPr>
            <a:xfrm>
              <a:off x="3392" y="2162"/>
              <a:ext cx="771" cy="442"/>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华文中宋" panose="02010600040101010101" pitchFamily="2" charset="-122"/>
                </a:rPr>
                <a:t>聚簇        索引</a:t>
              </a:r>
              <a:endParaRPr lang="zh-CN" altLang="en-US" dirty="0">
                <a:solidFill>
                  <a:srgbClr val="FFFFFF"/>
                </a:solidFill>
                <a:latin typeface="Arial" panose="020B0604020202020204" pitchFamily="34" charset="0"/>
                <a:ea typeface="华文中宋" panose="02010600040101010101" pitchFamily="2" charset="-122"/>
              </a:endParaRPr>
            </a:p>
          </p:txBody>
        </p:sp>
      </p:grpSp>
      <p:grpSp>
        <p:nvGrpSpPr>
          <p:cNvPr id="82" name="Group 41"/>
          <p:cNvGrpSpPr/>
          <p:nvPr/>
        </p:nvGrpSpPr>
        <p:grpSpPr>
          <a:xfrm>
            <a:off x="2584454" y="5481260"/>
            <a:ext cx="1479550" cy="823913"/>
            <a:chOff x="3312" y="2123"/>
            <a:chExt cx="932" cy="519"/>
          </a:xfrm>
        </p:grpSpPr>
        <p:sp>
          <p:nvSpPr>
            <p:cNvPr id="83" name="AutoShape 39"/>
            <p:cNvSpPr/>
            <p:nvPr/>
          </p:nvSpPr>
          <p:spPr>
            <a:xfrm>
              <a:off x="3312" y="2123"/>
              <a:ext cx="932" cy="519"/>
            </a:xfrm>
            <a:custGeom>
              <a:avLst/>
              <a:gdLst/>
              <a:ahLst/>
              <a:cxnLst>
                <a:cxn ang="0">
                  <a:pos x="43360" y="0"/>
                </a:cxn>
                <a:cxn ang="0">
                  <a:pos x="12699" y="7161"/>
                </a:cxn>
                <a:cxn ang="0">
                  <a:pos x="0" y="24450"/>
                </a:cxn>
                <a:cxn ang="0">
                  <a:pos x="12699" y="41740"/>
                </a:cxn>
                <a:cxn ang="0">
                  <a:pos x="43360" y="48901"/>
                </a:cxn>
                <a:cxn ang="0">
                  <a:pos x="74021" y="41740"/>
                </a:cxn>
                <a:cxn ang="0">
                  <a:pos x="86720" y="24450"/>
                </a:cxn>
                <a:cxn ang="0">
                  <a:pos x="74021" y="716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solidFill>
            <a:ln w="9525">
              <a:noFill/>
            </a:ln>
          </p:spPr>
          <p:txBody>
            <a:bodyPr/>
            <a:lstStyle/>
            <a:p>
              <a:endParaRPr lang="zh-CN" altLang="en-US"/>
            </a:p>
          </p:txBody>
        </p:sp>
        <p:sp>
          <p:nvSpPr>
            <p:cNvPr id="84" name="Oval 40"/>
            <p:cNvSpPr/>
            <p:nvPr/>
          </p:nvSpPr>
          <p:spPr>
            <a:xfrm>
              <a:off x="3389" y="2166"/>
              <a:ext cx="778" cy="434"/>
            </a:xfrm>
            <a:prstGeom prst="ellipse">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85" name="Text Box 84"/>
            <p:cNvSpPr txBox="1"/>
            <p:nvPr/>
          </p:nvSpPr>
          <p:spPr>
            <a:xfrm>
              <a:off x="3392" y="2162"/>
              <a:ext cx="771" cy="442"/>
            </a:xfrm>
            <a:prstGeom prst="rect">
              <a:avLst/>
            </a:prstGeom>
            <a:noFill/>
            <a:ln w="9525">
              <a:noFill/>
            </a:ln>
          </p:spPr>
          <p:txBody>
            <a:bodyPr anchor="t">
              <a:spAutoFit/>
            </a:bodyPr>
            <a:lstStyle/>
            <a:p>
              <a:pPr algn="ctr">
                <a:spcBef>
                  <a:spcPct val="35000"/>
                </a:spcBef>
              </a:pPr>
              <a:r>
                <a:rPr lang="zh-CN" altLang="en-US" dirty="0">
                  <a:solidFill>
                    <a:srgbClr val="FFFFFF"/>
                  </a:solidFill>
                  <a:latin typeface="Arial" panose="020B0604020202020204" pitchFamily="34" charset="0"/>
                  <a:ea typeface="华文中宋" panose="02010600040101010101" pitchFamily="2" charset="-122"/>
                </a:rPr>
                <a:t>倒排        索引</a:t>
              </a:r>
              <a:endParaRPr lang="zh-CN" altLang="en-US" dirty="0">
                <a:solidFill>
                  <a:srgbClr val="FFFFFF"/>
                </a:solidFill>
                <a:latin typeface="Arial" panose="020B0604020202020204" pitchFamily="34" charset="0"/>
                <a:ea typeface="华文中宋" panose="02010600040101010101" pitchFamily="2" charset="-122"/>
              </a:endParaRPr>
            </a:p>
          </p:txBody>
        </p:sp>
      </p:grpSp>
      <p:grpSp>
        <p:nvGrpSpPr>
          <p:cNvPr id="86" name="Group 53"/>
          <p:cNvGrpSpPr/>
          <p:nvPr/>
        </p:nvGrpSpPr>
        <p:grpSpPr>
          <a:xfrm>
            <a:off x="5688811" y="2661526"/>
            <a:ext cx="1147762" cy="968375"/>
            <a:chOff x="2526" y="1124"/>
            <a:chExt cx="723" cy="610"/>
          </a:xfrm>
        </p:grpSpPr>
        <p:sp>
          <p:nvSpPr>
            <p:cNvPr id="87" name="AutoShape 39"/>
            <p:cNvSpPr>
              <a:spLocks noChangeArrowheads="1"/>
            </p:cNvSpPr>
            <p:nvPr/>
          </p:nvSpPr>
          <p:spPr bwMode="gray">
            <a:xfrm>
              <a:off x="2526" y="1124"/>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88" name="Oval 40"/>
            <p:cNvSpPr/>
            <p:nvPr/>
          </p:nvSpPr>
          <p:spPr>
            <a:xfrm>
              <a:off x="2586" y="1174"/>
              <a:ext cx="603" cy="509"/>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宋体" panose="02010600030101010101" pitchFamily="2" charset="-122"/>
                <a:ea typeface="宋体" panose="02010600030101010101" pitchFamily="2" charset="-122"/>
              </a:endParaRPr>
            </a:p>
          </p:txBody>
        </p:sp>
        <p:sp>
          <p:nvSpPr>
            <p:cNvPr id="89" name="Text Box 84"/>
            <p:cNvSpPr txBox="1"/>
            <p:nvPr/>
          </p:nvSpPr>
          <p:spPr>
            <a:xfrm>
              <a:off x="2588" y="1208"/>
              <a:ext cx="598" cy="442"/>
            </a:xfrm>
            <a:prstGeom prst="rect">
              <a:avLst/>
            </a:prstGeom>
            <a:noFill/>
            <a:ln w="9525">
              <a:noFill/>
            </a:ln>
          </p:spPr>
          <p:txBody>
            <a:bodyPr anchor="t">
              <a:spAutoFit/>
            </a:bodyPr>
            <a:lstStyle/>
            <a:p>
              <a:pPr algn="ctr">
                <a:spcBef>
                  <a:spcPct val="35000"/>
                </a:spcBef>
              </a:pPr>
              <a:r>
                <a:rPr lang="zh-CN" altLang="en-US" dirty="0">
                  <a:solidFill>
                    <a:srgbClr val="FFFFFF"/>
                  </a:solidFill>
                  <a:latin typeface="宋体" panose="02010600030101010101" pitchFamily="2" charset="-122"/>
                  <a:ea typeface="华文中宋" panose="02010600040101010101" pitchFamily="2" charset="-122"/>
                </a:rPr>
                <a:t>多级 索引</a:t>
              </a:r>
              <a:endParaRPr lang="zh-CN" altLang="en-US" dirty="0">
                <a:solidFill>
                  <a:srgbClr val="FFFFFF"/>
                </a:solidFill>
                <a:latin typeface="宋体" panose="02010600030101010101" pitchFamily="2" charset="-122"/>
                <a:ea typeface="华文中宋" panose="02010600040101010101" pitchFamily="2" charset="-122"/>
              </a:endParaRPr>
            </a:p>
          </p:txBody>
        </p:sp>
      </p:grpSp>
      <p:grpSp>
        <p:nvGrpSpPr>
          <p:cNvPr id="90" name="Group 54"/>
          <p:cNvGrpSpPr/>
          <p:nvPr/>
        </p:nvGrpSpPr>
        <p:grpSpPr>
          <a:xfrm>
            <a:off x="8428035" y="2315035"/>
            <a:ext cx="1147762" cy="968375"/>
            <a:chOff x="2526" y="1124"/>
            <a:chExt cx="723" cy="610"/>
          </a:xfrm>
        </p:grpSpPr>
        <p:sp>
          <p:nvSpPr>
            <p:cNvPr id="91" name="AutoShape 39"/>
            <p:cNvSpPr>
              <a:spLocks noChangeArrowheads="1"/>
            </p:cNvSpPr>
            <p:nvPr/>
          </p:nvSpPr>
          <p:spPr bwMode="gray">
            <a:xfrm>
              <a:off x="2526" y="1124"/>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2" name="Oval 40"/>
            <p:cNvSpPr/>
            <p:nvPr/>
          </p:nvSpPr>
          <p:spPr>
            <a:xfrm>
              <a:off x="2586" y="1174"/>
              <a:ext cx="603" cy="509"/>
            </a:xfrm>
            <a:prstGeom prst="ellipse">
              <a:avLst/>
            </a:prstGeom>
            <a:solidFill>
              <a:srgbClr val="333300"/>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宋体" panose="02010600030101010101" pitchFamily="2" charset="-122"/>
                <a:ea typeface="宋体" panose="02010600030101010101" pitchFamily="2" charset="-122"/>
              </a:endParaRPr>
            </a:p>
          </p:txBody>
        </p:sp>
        <p:sp>
          <p:nvSpPr>
            <p:cNvPr id="108" name="Text Box 84"/>
            <p:cNvSpPr txBox="1"/>
            <p:nvPr/>
          </p:nvSpPr>
          <p:spPr>
            <a:xfrm>
              <a:off x="2588" y="1208"/>
              <a:ext cx="598" cy="442"/>
            </a:xfrm>
            <a:prstGeom prst="rect">
              <a:avLst/>
            </a:prstGeom>
            <a:noFill/>
            <a:ln w="9525">
              <a:noFill/>
            </a:ln>
          </p:spPr>
          <p:txBody>
            <a:bodyPr anchor="t">
              <a:spAutoFit/>
            </a:bodyPr>
            <a:lstStyle/>
            <a:p>
              <a:pPr algn="ctr">
                <a:spcBef>
                  <a:spcPct val="35000"/>
                </a:spcBef>
              </a:pPr>
              <a:r>
                <a:rPr lang="zh-CN" altLang="en-US" dirty="0">
                  <a:solidFill>
                    <a:srgbClr val="FFFFFF"/>
                  </a:solidFill>
                  <a:latin typeface="宋体" panose="02010600030101010101" pitchFamily="2" charset="-122"/>
                  <a:ea typeface="华文中宋" panose="02010600040101010101" pitchFamily="2" charset="-122"/>
                </a:rPr>
                <a:t>散列 索引</a:t>
              </a:r>
              <a:endParaRPr lang="zh-CN" altLang="en-US" dirty="0">
                <a:solidFill>
                  <a:srgbClr val="FFFFFF"/>
                </a:solidFill>
                <a:latin typeface="宋体" panose="02010600030101010101" pitchFamily="2" charset="-122"/>
                <a:ea typeface="华文中宋" panose="02010600040101010101" pitchFamily="2" charset="-122"/>
              </a:endParaRPr>
            </a:p>
          </p:txBody>
        </p:sp>
      </p:grpSp>
      <p:grpSp>
        <p:nvGrpSpPr>
          <p:cNvPr id="109" name="Group 58"/>
          <p:cNvGrpSpPr/>
          <p:nvPr/>
        </p:nvGrpSpPr>
        <p:grpSpPr>
          <a:xfrm>
            <a:off x="8345485" y="3338973"/>
            <a:ext cx="1420812" cy="939800"/>
            <a:chOff x="3795" y="1068"/>
            <a:chExt cx="869" cy="535"/>
          </a:xfrm>
        </p:grpSpPr>
        <p:sp>
          <p:nvSpPr>
            <p:cNvPr id="110" name="AutoShape 39"/>
            <p:cNvSpPr/>
            <p:nvPr/>
          </p:nvSpPr>
          <p:spPr>
            <a:xfrm>
              <a:off x="3795" y="1068"/>
              <a:ext cx="869" cy="535"/>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111" name="Oval 40"/>
            <p:cNvSpPr/>
            <p:nvPr/>
          </p:nvSpPr>
          <p:spPr>
            <a:xfrm>
              <a:off x="3867" y="1112"/>
              <a:ext cx="725" cy="44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112" name="Text Box 84"/>
            <p:cNvSpPr/>
            <p:nvPr/>
          </p:nvSpPr>
          <p:spPr>
            <a:xfrm>
              <a:off x="3853" y="1114"/>
              <a:ext cx="750" cy="399"/>
            </a:xfrm>
            <a:prstGeom prst="roundRect">
              <a:avLst>
                <a:gd name="adj" fmla="val 16667"/>
              </a:avLst>
            </a:prstGeom>
            <a:noFill/>
            <a:ln w="9525">
              <a:noFill/>
            </a:ln>
          </p:spPr>
          <p:txBody>
            <a:bodyPr anchor="t">
              <a:spAutoFit/>
            </a:bodyPr>
            <a:lstStyle/>
            <a:p>
              <a:pPr algn="ctr">
                <a:spcBef>
                  <a:spcPct val="35000"/>
                </a:spcBef>
              </a:pPr>
              <a:r>
                <a:rPr lang="zh-CN" altLang="en-US" sz="1800" dirty="0">
                  <a:solidFill>
                    <a:srgbClr val="FFFFFF"/>
                  </a:solidFill>
                  <a:latin typeface="Arial" panose="020B0604020202020204" pitchFamily="34" charset="0"/>
                  <a:ea typeface="华文中宋" panose="02010600040101010101" pitchFamily="2" charset="-122"/>
                </a:rPr>
                <a:t>一般散列索引</a:t>
              </a:r>
              <a:endParaRPr lang="zh-CN" altLang="en-US" dirty="0">
                <a:solidFill>
                  <a:srgbClr val="FFFFFF"/>
                </a:solidFill>
                <a:latin typeface="Arial" panose="020B0604020202020204" pitchFamily="34" charset="0"/>
                <a:ea typeface="华文中宋" panose="02010600040101010101" pitchFamily="2" charset="-122"/>
              </a:endParaRPr>
            </a:p>
          </p:txBody>
        </p:sp>
      </p:grpSp>
      <p:grpSp>
        <p:nvGrpSpPr>
          <p:cNvPr id="113" name="Group 62"/>
          <p:cNvGrpSpPr/>
          <p:nvPr/>
        </p:nvGrpSpPr>
        <p:grpSpPr>
          <a:xfrm>
            <a:off x="8370885" y="4296235"/>
            <a:ext cx="1420812" cy="939800"/>
            <a:chOff x="3795" y="1068"/>
            <a:chExt cx="869" cy="535"/>
          </a:xfrm>
        </p:grpSpPr>
        <p:sp>
          <p:nvSpPr>
            <p:cNvPr id="114" name="AutoShape 39"/>
            <p:cNvSpPr/>
            <p:nvPr/>
          </p:nvSpPr>
          <p:spPr>
            <a:xfrm>
              <a:off x="3795" y="1068"/>
              <a:ext cx="869" cy="535"/>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115" name="Oval 40"/>
            <p:cNvSpPr/>
            <p:nvPr/>
          </p:nvSpPr>
          <p:spPr>
            <a:xfrm>
              <a:off x="3867" y="1112"/>
              <a:ext cx="725" cy="44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116" name="Text Box 84"/>
            <p:cNvSpPr/>
            <p:nvPr/>
          </p:nvSpPr>
          <p:spPr>
            <a:xfrm>
              <a:off x="3853" y="1114"/>
              <a:ext cx="750" cy="399"/>
            </a:xfrm>
            <a:prstGeom prst="roundRect">
              <a:avLst>
                <a:gd name="adj" fmla="val 16667"/>
              </a:avLst>
            </a:prstGeom>
            <a:noFill/>
            <a:ln w="9525">
              <a:noFill/>
            </a:ln>
          </p:spPr>
          <p:txBody>
            <a:bodyPr anchor="t">
              <a:spAutoFit/>
            </a:bodyPr>
            <a:lstStyle/>
            <a:p>
              <a:pPr algn="ctr">
                <a:spcBef>
                  <a:spcPct val="35000"/>
                </a:spcBef>
              </a:pPr>
              <a:r>
                <a:rPr lang="zh-CN" altLang="en-US" sz="1800" dirty="0">
                  <a:solidFill>
                    <a:srgbClr val="FFFFFF"/>
                  </a:solidFill>
                  <a:latin typeface="Arial" panose="020B0604020202020204" pitchFamily="34" charset="0"/>
                  <a:ea typeface="华文中宋" panose="02010600040101010101" pitchFamily="2" charset="-122"/>
                </a:rPr>
                <a:t>可扩展散列索引</a:t>
              </a:r>
              <a:endParaRPr lang="zh-CN" altLang="en-US" dirty="0">
                <a:solidFill>
                  <a:srgbClr val="FFFFFF"/>
                </a:solidFill>
                <a:latin typeface="Arial" panose="020B0604020202020204" pitchFamily="34" charset="0"/>
                <a:ea typeface="华文中宋" panose="02010600040101010101" pitchFamily="2" charset="-122"/>
              </a:endParaRPr>
            </a:p>
          </p:txBody>
        </p:sp>
      </p:grpSp>
      <p:grpSp>
        <p:nvGrpSpPr>
          <p:cNvPr id="117" name="Group 66"/>
          <p:cNvGrpSpPr/>
          <p:nvPr/>
        </p:nvGrpSpPr>
        <p:grpSpPr>
          <a:xfrm>
            <a:off x="8381997" y="5253498"/>
            <a:ext cx="1420813" cy="939800"/>
            <a:chOff x="3795" y="1068"/>
            <a:chExt cx="869" cy="535"/>
          </a:xfrm>
        </p:grpSpPr>
        <p:sp>
          <p:nvSpPr>
            <p:cNvPr id="118" name="AutoShape 39"/>
            <p:cNvSpPr/>
            <p:nvPr/>
          </p:nvSpPr>
          <p:spPr>
            <a:xfrm>
              <a:off x="3795" y="1068"/>
              <a:ext cx="869" cy="535"/>
            </a:xfrm>
            <a:prstGeom prst="roundRect">
              <a:avLst>
                <a:gd name="adj" fmla="val 16667"/>
              </a:avLst>
            </a:prstGeom>
            <a:solidFill>
              <a:schemeClr val="accent2"/>
            </a:solidFill>
            <a:ln w="9525">
              <a:noFill/>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119" name="Oval 40"/>
            <p:cNvSpPr/>
            <p:nvPr/>
          </p:nvSpPr>
          <p:spPr>
            <a:xfrm>
              <a:off x="3867" y="1112"/>
              <a:ext cx="725" cy="447"/>
            </a:xfrm>
            <a:prstGeom prst="roundRect">
              <a:avLst>
                <a:gd name="adj" fmla="val 16667"/>
              </a:avLst>
            </a:prstGeom>
            <a:solidFill>
              <a:srgbClr val="666633"/>
            </a:solidFill>
            <a:ln w="28575" cap="flat" cmpd="sng">
              <a:solidFill>
                <a:srgbClr val="FFFFFF"/>
              </a:solidFill>
              <a:prstDash val="solid"/>
              <a:round/>
              <a:headEnd type="none" w="med" len="med"/>
              <a:tailEnd type="none" w="med" len="med"/>
            </a:ln>
          </p:spPr>
          <p:txBody>
            <a:bodyPr wrap="none" anchor="ctr"/>
            <a:lstStyle/>
            <a:p>
              <a:pPr algn="ctr"/>
              <a:endParaRPr lang="zh-CN" altLang="zh-CN" dirty="0">
                <a:solidFill>
                  <a:srgbClr val="000000"/>
                </a:solidFill>
                <a:latin typeface="Arial" panose="020B0604020202020204" pitchFamily="34" charset="0"/>
                <a:ea typeface="宋体" panose="02010600030101010101" pitchFamily="2" charset="-122"/>
              </a:endParaRPr>
            </a:p>
          </p:txBody>
        </p:sp>
        <p:sp>
          <p:nvSpPr>
            <p:cNvPr id="120" name="Text Box 84"/>
            <p:cNvSpPr/>
            <p:nvPr/>
          </p:nvSpPr>
          <p:spPr>
            <a:xfrm>
              <a:off x="3853" y="1114"/>
              <a:ext cx="750" cy="399"/>
            </a:xfrm>
            <a:prstGeom prst="roundRect">
              <a:avLst>
                <a:gd name="adj" fmla="val 16667"/>
              </a:avLst>
            </a:prstGeom>
            <a:noFill/>
            <a:ln w="9525">
              <a:noFill/>
            </a:ln>
          </p:spPr>
          <p:txBody>
            <a:bodyPr anchor="t">
              <a:spAutoFit/>
            </a:bodyPr>
            <a:lstStyle/>
            <a:p>
              <a:pPr algn="ctr">
                <a:spcBef>
                  <a:spcPct val="35000"/>
                </a:spcBef>
              </a:pPr>
              <a:r>
                <a:rPr lang="zh-CN" altLang="en-US" sz="1800" dirty="0">
                  <a:solidFill>
                    <a:srgbClr val="FFFFFF"/>
                  </a:solidFill>
                  <a:latin typeface="Arial" panose="020B0604020202020204" pitchFamily="34" charset="0"/>
                  <a:ea typeface="华文中宋" panose="02010600040101010101" pitchFamily="2" charset="-122"/>
                </a:rPr>
                <a:t>线性散列索引</a:t>
              </a:r>
              <a:endParaRPr lang="zh-CN" altLang="en-US" dirty="0">
                <a:solidFill>
                  <a:srgbClr val="FFFFFF"/>
                </a:solidFill>
                <a:latin typeface="Arial" panose="020B0604020202020204" pitchFamily="34" charset="0"/>
                <a:ea typeface="华文中宋" panose="02010600040101010101" pitchFamily="2" charset="-122"/>
              </a:endParaRPr>
            </a:p>
          </p:txBody>
        </p:sp>
      </p:grpSp>
      <p:sp>
        <p:nvSpPr>
          <p:cNvPr id="3" name="灯片编号占位符 2"/>
          <p:cNvSpPr>
            <a:spLocks noGrp="1"/>
          </p:cNvSpPr>
          <p:nvPr>
            <p:ph type="sldNum" sz="quarter" idx="12"/>
          </p:nvPr>
        </p:nvSpPr>
        <p:spPr/>
        <p:txBody>
          <a:bodyPr/>
          <a:p>
            <a:fld id="{FB891F7F-8655-44AE-A6FF-53AD9F2B6B8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ppt_x"/>
                                          </p:val>
                                        </p:tav>
                                        <p:tav tm="100000">
                                          <p:val>
                                            <p:strVal val="#ppt_x"/>
                                          </p:val>
                                        </p:tav>
                                      </p:tavLst>
                                    </p:anim>
                                    <p:anim calcmode="lin" valueType="num">
                                      <p:cBhvr additive="base">
                                        <p:cTn id="12" dur="500" fill="hold"/>
                                        <p:tgtEl>
                                          <p:spTgt spid="4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anim calcmode="lin" valueType="num">
                                      <p:cBhvr additive="base">
                                        <p:cTn id="15" dur="500" fill="hold"/>
                                        <p:tgtEl>
                                          <p:spTgt spid="52"/>
                                        </p:tgtEl>
                                        <p:attrNameLst>
                                          <p:attrName>ppt_x</p:attrName>
                                        </p:attrNameLst>
                                      </p:cBhvr>
                                      <p:tavLst>
                                        <p:tav tm="0">
                                          <p:val>
                                            <p:strVal val="#ppt_x"/>
                                          </p:val>
                                        </p:tav>
                                        <p:tav tm="100000">
                                          <p:val>
                                            <p:strVal val="#ppt_x"/>
                                          </p:val>
                                        </p:tav>
                                      </p:tavLst>
                                    </p:anim>
                                    <p:anim calcmode="lin" valueType="num">
                                      <p:cBhvr additive="base">
                                        <p:cTn id="16" dur="500" fill="hold"/>
                                        <p:tgtEl>
                                          <p:spTgt spid="5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6"/>
                                        </p:tgtEl>
                                        <p:attrNameLst>
                                          <p:attrName>style.visibility</p:attrName>
                                        </p:attrNameLst>
                                      </p:cBhvr>
                                      <p:to>
                                        <p:strVal val="visible"/>
                                      </p:to>
                                    </p:set>
                                    <p:anim calcmode="lin" valueType="num">
                                      <p:cBhvr additive="base">
                                        <p:cTn id="19" dur="500" fill="hold"/>
                                        <p:tgtEl>
                                          <p:spTgt spid="56"/>
                                        </p:tgtEl>
                                        <p:attrNameLst>
                                          <p:attrName>ppt_x</p:attrName>
                                        </p:attrNameLst>
                                      </p:cBhvr>
                                      <p:tavLst>
                                        <p:tav tm="0">
                                          <p:val>
                                            <p:strVal val="#ppt_x"/>
                                          </p:val>
                                        </p:tav>
                                        <p:tav tm="100000">
                                          <p:val>
                                            <p:strVal val="#ppt_x"/>
                                          </p:val>
                                        </p:tav>
                                      </p:tavLst>
                                    </p:anim>
                                    <p:anim calcmode="lin" valueType="num">
                                      <p:cBhvr additive="base">
                                        <p:cTn id="20" dur="500" fill="hold"/>
                                        <p:tgtEl>
                                          <p:spTgt spid="5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0"/>
                                        </p:tgtEl>
                                        <p:attrNameLst>
                                          <p:attrName>style.visibility</p:attrName>
                                        </p:attrNameLst>
                                      </p:cBhvr>
                                      <p:to>
                                        <p:strVal val="visible"/>
                                      </p:to>
                                    </p:set>
                                    <p:anim calcmode="lin" valueType="num">
                                      <p:cBhvr additive="base">
                                        <p:cTn id="23" dur="500" fill="hold"/>
                                        <p:tgtEl>
                                          <p:spTgt spid="60"/>
                                        </p:tgtEl>
                                        <p:attrNameLst>
                                          <p:attrName>ppt_x</p:attrName>
                                        </p:attrNameLst>
                                      </p:cBhvr>
                                      <p:tavLst>
                                        <p:tav tm="0">
                                          <p:val>
                                            <p:strVal val="#ppt_x"/>
                                          </p:val>
                                        </p:tav>
                                        <p:tav tm="100000">
                                          <p:val>
                                            <p:strVal val="#ppt_x"/>
                                          </p:val>
                                        </p:tav>
                                      </p:tavLst>
                                    </p:anim>
                                    <p:anim calcmode="lin" valueType="num">
                                      <p:cBhvr additive="base">
                                        <p:cTn id="24" dur="500" fill="hold"/>
                                        <p:tgtEl>
                                          <p:spTgt spid="60"/>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4"/>
                                        </p:tgtEl>
                                        <p:attrNameLst>
                                          <p:attrName>style.visibility</p:attrName>
                                        </p:attrNameLst>
                                      </p:cBhvr>
                                      <p:to>
                                        <p:strVal val="visible"/>
                                      </p:to>
                                    </p:set>
                                    <p:anim calcmode="lin" valueType="num">
                                      <p:cBhvr additive="base">
                                        <p:cTn id="27" dur="500" fill="hold"/>
                                        <p:tgtEl>
                                          <p:spTgt spid="64"/>
                                        </p:tgtEl>
                                        <p:attrNameLst>
                                          <p:attrName>ppt_x</p:attrName>
                                        </p:attrNameLst>
                                      </p:cBhvr>
                                      <p:tavLst>
                                        <p:tav tm="0">
                                          <p:val>
                                            <p:strVal val="#ppt_x"/>
                                          </p:val>
                                        </p:tav>
                                        <p:tav tm="100000">
                                          <p:val>
                                            <p:strVal val="#ppt_x"/>
                                          </p:val>
                                        </p:tav>
                                      </p:tavLst>
                                    </p:anim>
                                    <p:anim calcmode="lin" valueType="num">
                                      <p:cBhvr additive="base">
                                        <p:cTn id="28" dur="500" fill="hold"/>
                                        <p:tgtEl>
                                          <p:spTgt spid="6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2"/>
                                        </p:tgtEl>
                                        <p:attrNameLst>
                                          <p:attrName>style.visibility</p:attrName>
                                        </p:attrNameLst>
                                      </p:cBhvr>
                                      <p:to>
                                        <p:strVal val="visible"/>
                                      </p:to>
                                    </p:set>
                                    <p:anim calcmode="lin" valueType="num">
                                      <p:cBhvr additive="base">
                                        <p:cTn id="31" dur="500" fill="hold"/>
                                        <p:tgtEl>
                                          <p:spTgt spid="82"/>
                                        </p:tgtEl>
                                        <p:attrNameLst>
                                          <p:attrName>ppt_x</p:attrName>
                                        </p:attrNameLst>
                                      </p:cBhvr>
                                      <p:tavLst>
                                        <p:tav tm="0">
                                          <p:val>
                                            <p:strVal val="#ppt_x"/>
                                          </p:val>
                                        </p:tav>
                                        <p:tav tm="100000">
                                          <p:val>
                                            <p:strVal val="#ppt_x"/>
                                          </p:val>
                                        </p:tav>
                                      </p:tavLst>
                                    </p:anim>
                                    <p:anim calcmode="lin" valueType="num">
                                      <p:cBhvr additive="base">
                                        <p:cTn id="32"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9"/>
                                        </p:tgtEl>
                                        <p:attrNameLst>
                                          <p:attrName>style.visibility</p:attrName>
                                        </p:attrNameLst>
                                      </p:cBhvr>
                                      <p:to>
                                        <p:strVal val="visible"/>
                                      </p:to>
                                    </p:set>
                                    <p:anim calcmode="lin" valueType="num">
                                      <p:cBhvr additive="base">
                                        <p:cTn id="43" dur="500" fill="hold"/>
                                        <p:tgtEl>
                                          <p:spTgt spid="109"/>
                                        </p:tgtEl>
                                        <p:attrNameLst>
                                          <p:attrName>ppt_x</p:attrName>
                                        </p:attrNameLst>
                                      </p:cBhvr>
                                      <p:tavLst>
                                        <p:tav tm="0">
                                          <p:val>
                                            <p:strVal val="#ppt_x"/>
                                          </p:val>
                                        </p:tav>
                                        <p:tav tm="100000">
                                          <p:val>
                                            <p:strVal val="#ppt_x"/>
                                          </p:val>
                                        </p:tav>
                                      </p:tavLst>
                                    </p:anim>
                                    <p:anim calcmode="lin" valueType="num">
                                      <p:cBhvr additive="base">
                                        <p:cTn id="44"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13"/>
                                        </p:tgtEl>
                                        <p:attrNameLst>
                                          <p:attrName>style.visibility</p:attrName>
                                        </p:attrNameLst>
                                      </p:cBhvr>
                                      <p:to>
                                        <p:strVal val="visible"/>
                                      </p:to>
                                    </p:set>
                                    <p:anim calcmode="lin" valueType="num">
                                      <p:cBhvr additive="base">
                                        <p:cTn id="49" dur="500" fill="hold"/>
                                        <p:tgtEl>
                                          <p:spTgt spid="113"/>
                                        </p:tgtEl>
                                        <p:attrNameLst>
                                          <p:attrName>ppt_x</p:attrName>
                                        </p:attrNameLst>
                                      </p:cBhvr>
                                      <p:tavLst>
                                        <p:tav tm="0">
                                          <p:val>
                                            <p:strVal val="#ppt_x"/>
                                          </p:val>
                                        </p:tav>
                                        <p:tav tm="100000">
                                          <p:val>
                                            <p:strVal val="#ppt_x"/>
                                          </p:val>
                                        </p:tav>
                                      </p:tavLst>
                                    </p:anim>
                                    <p:anim calcmode="lin" valueType="num">
                                      <p:cBhvr additive="base">
                                        <p:cTn id="50" dur="500" fill="hold"/>
                                        <p:tgtEl>
                                          <p:spTgt spid="11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17"/>
                                        </p:tgtEl>
                                        <p:attrNameLst>
                                          <p:attrName>style.visibility</p:attrName>
                                        </p:attrNameLst>
                                      </p:cBhvr>
                                      <p:to>
                                        <p:strVal val="visible"/>
                                      </p:to>
                                    </p:set>
                                    <p:anim calcmode="lin" valueType="num">
                                      <p:cBhvr additive="base">
                                        <p:cTn id="55" dur="500" fill="hold"/>
                                        <p:tgtEl>
                                          <p:spTgt spid="117"/>
                                        </p:tgtEl>
                                        <p:attrNameLst>
                                          <p:attrName>ppt_x</p:attrName>
                                        </p:attrNameLst>
                                      </p:cBhvr>
                                      <p:tavLst>
                                        <p:tav tm="0">
                                          <p:val>
                                            <p:strVal val="#ppt_x"/>
                                          </p:val>
                                        </p:tav>
                                        <p:tav tm="100000">
                                          <p:val>
                                            <p:strVal val="#ppt_x"/>
                                          </p:val>
                                        </p:tav>
                                      </p:tavLst>
                                    </p:anim>
                                    <p:anim calcmode="lin" valueType="num">
                                      <p:cBhvr additive="base">
                                        <p:cTn id="56"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26122</Words>
  <Application>WPS 演示</Application>
  <PresentationFormat>宽屏</PresentationFormat>
  <Paragraphs>5159</Paragraphs>
  <Slides>121</Slides>
  <Notes>120</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4</vt:i4>
      </vt:variant>
      <vt:variant>
        <vt:lpstr>幻灯片标题</vt:lpstr>
      </vt:variant>
      <vt:variant>
        <vt:i4>121</vt:i4>
      </vt:variant>
    </vt:vector>
  </HeadingPairs>
  <TitlesOfParts>
    <vt:vector size="148" baseType="lpstr">
      <vt:lpstr>Arial</vt:lpstr>
      <vt:lpstr>宋体</vt:lpstr>
      <vt:lpstr>Wingdings</vt:lpstr>
      <vt:lpstr>黑体</vt:lpstr>
      <vt:lpstr>微软雅黑</vt:lpstr>
      <vt:lpstr>Times New Roman</vt:lpstr>
      <vt:lpstr>楷体_GB2312</vt:lpstr>
      <vt:lpstr>微软雅黑</vt:lpstr>
      <vt:lpstr>OPPOSans M</vt:lpstr>
      <vt:lpstr>华文楷体</vt:lpstr>
      <vt:lpstr>Arial Unicode MS</vt:lpstr>
      <vt:lpstr>等线 Light</vt:lpstr>
      <vt:lpstr>等线</vt:lpstr>
      <vt:lpstr>新宋体</vt:lpstr>
      <vt:lpstr>华文中宋</vt:lpstr>
      <vt:lpstr>Huawei Sans</vt:lpstr>
      <vt:lpstr>DejaVu Math TeX Gyre</vt:lpstr>
      <vt:lpstr>方正兰亭黑简体</vt:lpstr>
      <vt:lpstr>Cambria Math</vt:lpstr>
      <vt:lpstr>Symbol</vt:lpstr>
      <vt:lpstr>方正兰亭超细黑简体</vt:lpstr>
      <vt:lpstr>Courier New</vt:lpstr>
      <vt:lpstr>Office 主题​​</vt:lpstr>
      <vt:lpstr>MS_ClipArt_Gallery.2</vt:lpstr>
      <vt:lpstr>MS_ClipArt_Gallery.2</vt:lpstr>
      <vt:lpstr>MS_ClipArt_Gallery.2</vt:lpstr>
      <vt:lpstr>MS_ClipArt_Gallery.2</vt:lpstr>
      <vt:lpstr>第6章 数据库物理存储</vt:lpstr>
      <vt:lpstr>第6章 数据库物理存储 </vt:lpstr>
      <vt:lpstr>6.1 物理存储与文件</vt:lpstr>
      <vt:lpstr>6.1 基础回顾-计算机系统的存储体系</vt:lpstr>
      <vt:lpstr>6.1 基础回顾-计算机系统的存储体系</vt:lpstr>
      <vt:lpstr>6.1 基础回顾-计算机系统的存储体系</vt:lpstr>
      <vt:lpstr>6.1 基础回顾-计算机系统的存储体系</vt:lpstr>
      <vt:lpstr>6.1 基础回顾-计算机系统的存储体系</vt:lpstr>
      <vt:lpstr>6.1 基础回顾-计算机系统的存储体系</vt:lpstr>
      <vt:lpstr>6.1 基础回顾-磁盘的结构与特性</vt:lpstr>
      <vt:lpstr>6.1 基础回顾-磁盘的结构与特性</vt:lpstr>
      <vt:lpstr>6.1 基础回顾-磁盘的结构与特性</vt:lpstr>
      <vt:lpstr>6.1 基础回顾-磁盘的结构与特性</vt:lpstr>
      <vt:lpstr>6.1 基础回顾-磁盘的结构与特性</vt:lpstr>
      <vt:lpstr>6.1 基础回顾-DBMS数据存储与查询实现基本思想</vt:lpstr>
      <vt:lpstr>6.1 基础回顾-DBMS数据存储与查询实现的基本思想</vt:lpstr>
      <vt:lpstr>6.1 基础回顾-数据库之表-记录与磁盘块的映射</vt:lpstr>
      <vt:lpstr>6.1 基础回顾-数据库之表-记录与磁盘块的映射</vt:lpstr>
      <vt:lpstr>6.1 基础回顾-数据库之表-记录与磁盘块的映射</vt:lpstr>
      <vt:lpstr>6.1 基础回顾-数据库之表-记录与磁盘块的映射</vt:lpstr>
      <vt:lpstr>6.1 基础回顾-数据库之表-记录与磁盘块的映射</vt:lpstr>
      <vt:lpstr>6.1 基础回顾-数据库之文件组织方法</vt:lpstr>
      <vt:lpstr>6.1 基础回顾-数据库之文件组织方法</vt:lpstr>
      <vt:lpstr>6.1 基础回顾-数据库之文件组织方法</vt:lpstr>
      <vt:lpstr>6.1 基础回顾-数据库之文件组织方法</vt:lpstr>
      <vt:lpstr>6.1 基础回顾-数据库之文件组织方法</vt:lpstr>
      <vt:lpstr>6.1 基础回顾-数据库之文件组织方法</vt:lpstr>
      <vt:lpstr>6.1 基础回顾-数据库之文件组织方法</vt:lpstr>
      <vt:lpstr>6.1 基础回顾-数据库之文件组织方法</vt:lpstr>
      <vt:lpstr>6.1 基础回顾-数据库之文件组织方法</vt:lpstr>
      <vt:lpstr>6.1 基础回顾-数据库之文件组织方法</vt:lpstr>
      <vt:lpstr>6.1 基础回顾-数据库之文件组织方法</vt:lpstr>
      <vt:lpstr>6.1 基础回顾-openGauss物理存储简介</vt:lpstr>
      <vt:lpstr>6.1 基础回顾-openGauss物理存储简介</vt:lpstr>
      <vt:lpstr>6.1 基础回顾-openGauss物理存储简介</vt:lpstr>
      <vt:lpstr>6.1 基础回顾-总结</vt:lpstr>
      <vt:lpstr>6.2 数据库索引</vt:lpstr>
      <vt:lpstr>6.2 数据库索引-为什么需要索引与什么是索引 </vt:lpstr>
      <vt:lpstr>6.2 数据库索引-为什么需要索引与什么是索引 </vt:lpstr>
      <vt:lpstr>6.2 数据库索引-为什么需要索引与什么是索引 </vt:lpstr>
      <vt:lpstr>6.2 数据库索引-为什么需要索引与什么是索引 </vt:lpstr>
      <vt:lpstr>6.2 数据库索引-为什么需要索引与什么是索引 </vt:lpstr>
      <vt:lpstr>6.2 数据库索引-为什么需要索引与什么是索引 </vt:lpstr>
      <vt:lpstr>6.2 数据库索引-SQL语言中的索引创建与维护</vt:lpstr>
      <vt:lpstr>6.2 数据库索引-SQL语言中的索引创建与维护</vt:lpstr>
      <vt:lpstr>6.2 数据库索引-SQL语言中的索引创建与维护</vt:lpstr>
      <vt:lpstr>6.2 数据库索引-稠密索引与稀疏索引</vt:lpstr>
      <vt:lpstr>6.2 数据库索引-稠密索引与稀疏索引</vt:lpstr>
      <vt:lpstr>6.2 数据库索引-稠密索引与稀疏索引</vt:lpstr>
      <vt:lpstr>6.2 数据库索引-稠密索引与稀疏索引</vt:lpstr>
      <vt:lpstr>6.2 数据库索引-稠密索引与稀疏索引</vt:lpstr>
      <vt:lpstr>6.2 数据库索引-稠密索引与稀疏索引</vt:lpstr>
      <vt:lpstr>6.2 数据库索引-稠密索引与稀疏索引</vt:lpstr>
      <vt:lpstr>6.2 数据库索引-主索引与辅助索引</vt:lpstr>
      <vt:lpstr>6.2 数据库索引-主索引与辅助索引</vt:lpstr>
      <vt:lpstr>6.2 数据库索引-主索引与辅助索引</vt:lpstr>
      <vt:lpstr>6.2 数据库索引-其他类型的索引</vt:lpstr>
      <vt:lpstr>6.2 数据库索引-其他类型的索引</vt:lpstr>
      <vt:lpstr>6.2 数据库索引-其他类型的索引</vt:lpstr>
      <vt:lpstr>6.2 数据库索引-其他类型的索引</vt:lpstr>
      <vt:lpstr>6.2 数据库索引-B+树(B+ Tree) </vt:lpstr>
      <vt:lpstr>6.2 数据库索引-B+树(B+ Tree) </vt:lpstr>
      <vt:lpstr>6.2 数据库索引-B+树(B+ Tree) </vt:lpstr>
      <vt:lpstr>6.2 数据库索引-B+树(B+ Tree) </vt:lpstr>
      <vt:lpstr>6.2 数据库索引-B+树(B+ Tree) </vt:lpstr>
      <vt:lpstr>6.2 数据库索引-B+树(B+ Tree) </vt:lpstr>
      <vt:lpstr>6.2 数据库索引-B+树(B+ Tree) </vt:lpstr>
      <vt:lpstr>6.2 数据库索引-B+树(B+ Tree) </vt:lpstr>
      <vt:lpstr>6.2 数据库索引-B+树(B+ Tree) </vt:lpstr>
      <vt:lpstr>6.2 数据库索引-B+树(B+ Tree) </vt:lpstr>
      <vt:lpstr>6.2 数据库索引-B+树(B+ Tree) </vt:lpstr>
      <vt:lpstr>6.2 数据库索引-B+树(B+ Tree) </vt:lpstr>
      <vt:lpstr>6.2 数据库索引-B+树(B+ Tree) </vt:lpstr>
      <vt:lpstr>6.2 数据库索引-B+树(B+ Tree) </vt:lpstr>
      <vt:lpstr>6.2 数据库索引-B+树键值插入与结点分裂过程示意</vt:lpstr>
      <vt:lpstr>6.2 数据库索引-B+树键值插入与结点分裂过程示意</vt:lpstr>
      <vt:lpstr>6.2 数据库索引-B+树键值插入与结点分裂过程示意</vt:lpstr>
      <vt:lpstr>6.2 数据库索引-B+树键值插入与结点分裂过程示意</vt:lpstr>
      <vt:lpstr>6.2 数据库索引-B+树键值插入与结点分裂过程示意</vt:lpstr>
      <vt:lpstr>6.2 数据库索引-B+树键值插入与结点分裂过程示意</vt:lpstr>
      <vt:lpstr>6.2 数据库索引-B+树键值删除与结点合并过程示意</vt:lpstr>
      <vt:lpstr>6.2 数据库索引-B+树键值删除与结点合并过程示意</vt:lpstr>
      <vt:lpstr>6.2 数据库索引-B+树键值删除与结点合并过程示意</vt:lpstr>
      <vt:lpstr>6.2 数据库索引-B+树键值删除与结点合并过程示意</vt:lpstr>
      <vt:lpstr>6.2 数据库索引-B+树键值删除与结点合并过程示意</vt:lpstr>
      <vt:lpstr>6.2 数据库索引-B+树键值删除与结点合并过程示意</vt:lpstr>
      <vt:lpstr>6.2 数据库索引-B+树键值插入与结点分裂过程示意</vt:lpstr>
      <vt:lpstr>6.2 数据库索引-B+树键值插入与结点分裂过程示意</vt:lpstr>
      <vt:lpstr>6.2 数据库索引-B+树分裂与合并过程再示例</vt:lpstr>
      <vt:lpstr>6.2 数据库索引-B+树分裂与合并过程再示例</vt:lpstr>
      <vt:lpstr>6.2 数据库索引-B+树分裂与合并过程再示例</vt:lpstr>
      <vt:lpstr>6.2 数据库索引-B+树分裂与合并过程再示例</vt:lpstr>
      <vt:lpstr>6.2 数据库索引-B+树分裂与合并过程再示例</vt:lpstr>
      <vt:lpstr>6.2 数据库索引-B+树分裂与合并过程再示例</vt:lpstr>
      <vt:lpstr>6.2 数据库索引-B+树分裂与合并过程再示例</vt:lpstr>
      <vt:lpstr>6.2 数据库索引-B+树分裂与合并过程再示例</vt:lpstr>
      <vt:lpstr>6.2 数据库索引-B+树分裂与合并过程再示例</vt:lpstr>
      <vt:lpstr>6.2 数据库索引-B+树分裂与合并过程再示例</vt:lpstr>
      <vt:lpstr>6.2 数据库索引-B+树分裂与合并过程再示例</vt:lpstr>
      <vt:lpstr>6.2 数据库索引-散列索引</vt:lpstr>
      <vt:lpstr>6.2 数据库索引-散列索引</vt:lpstr>
      <vt:lpstr>6.2 数据库索引-散列索引</vt:lpstr>
      <vt:lpstr>6.2 数据库索引-散列索引</vt:lpstr>
      <vt:lpstr>6.2 数据库索引-散列索引</vt:lpstr>
      <vt:lpstr>6.2 数据库索引-散列索引</vt:lpstr>
      <vt:lpstr>6.2 数据库索引-可扩展散列索引</vt:lpstr>
      <vt:lpstr>6.2 数据库索引-可扩展散列索引</vt:lpstr>
      <vt:lpstr>6.2 数据库索引-可扩展散列索引</vt:lpstr>
      <vt:lpstr>6.2 数据库索引-可扩展散列索引</vt:lpstr>
      <vt:lpstr>6.2 数据库索引-可扩展散列索引</vt:lpstr>
      <vt:lpstr>6.2 数据库索引-可扩展散列索引</vt:lpstr>
      <vt:lpstr>6.2 数据库索引-可扩展散列索引</vt:lpstr>
      <vt:lpstr>6.2 数据库索引-线性散列索引</vt:lpstr>
      <vt:lpstr>6.2 数据库索引-线性散列索引</vt:lpstr>
      <vt:lpstr>6.2 数据库索引-线性散列索引</vt:lpstr>
      <vt:lpstr>6.2 数据库索引-线性散列索引</vt:lpstr>
      <vt:lpstr>6.2 数据库索引-线性散列索引</vt:lpstr>
      <vt:lpstr>6.2 数据库索引-线性散列索引</vt:lpstr>
      <vt:lpstr>6.2 数据库索引-线性散列索引</vt:lpstr>
      <vt:lpstr>6.2 数据库索引-线性散列索引</vt:lpstr>
      <vt:lpstr>6.2 回顾本讲学了什么</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五更</cp:lastModifiedBy>
  <cp:revision>466</cp:revision>
  <dcterms:created xsi:type="dcterms:W3CDTF">2024-11-02T12:31:00Z</dcterms:created>
  <dcterms:modified xsi:type="dcterms:W3CDTF">2025-07-24T09:23:38Z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CD5BA49ADA7448C6BB067A46A6C909CC_12</vt:lpwstr>
  </property>
  <property fmtid="{D5CDD505-2E9C-101B-9397-08002B2CF9AE}" pid="3" name="KSOProductBuildVer">
    <vt:lpwstr>2052-12.1.0.21915</vt:lpwstr>
  </property>
</Properties>
</file>