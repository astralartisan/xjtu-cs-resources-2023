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8" r:id="rId5"/>
    <p:sldId id="269" r:id="rId6"/>
    <p:sldId id="270" r:id="rId7"/>
    <p:sldId id="271" r:id="rId8"/>
    <p:sldId id="272" r:id="rId9"/>
    <p:sldId id="274" r:id="rId10"/>
    <p:sldId id="275" r:id="rId11"/>
    <p:sldId id="273" r:id="rId12"/>
    <p:sldId id="276" r:id="rId13"/>
    <p:sldId id="277" r:id="rId14"/>
    <p:sldId id="278" r:id="rId15"/>
    <p:sldId id="279" r:id="rId16"/>
    <p:sldId id="281" r:id="rId17"/>
    <p:sldId id="280"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1" r:id="rId37"/>
    <p:sldId id="302" r:id="rId38"/>
    <p:sldId id="303" r:id="rId39"/>
    <p:sldId id="304" r:id="rId40"/>
    <p:sldId id="305" r:id="rId41"/>
    <p:sldId id="306"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2" r:id="rId56"/>
    <p:sldId id="323" r:id="rId57"/>
    <p:sldId id="321" r:id="rId58"/>
    <p:sldId id="324" r:id="rId59"/>
    <p:sldId id="325" r:id="rId60"/>
    <p:sldId id="326" r:id="rId61"/>
    <p:sldId id="327"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2" r:id="rId76"/>
    <p:sldId id="343" r:id="rId77"/>
    <p:sldId id="344" r:id="rId78"/>
    <p:sldId id="345" r:id="rId79"/>
    <p:sldId id="346" r:id="rId80"/>
    <p:sldId id="347" r:id="rId81"/>
    <p:sldId id="348" r:id="rId82"/>
    <p:sldId id="354" r:id="rId83"/>
    <p:sldId id="349" r:id="rId84"/>
    <p:sldId id="350" r:id="rId85"/>
    <p:sldId id="351" r:id="rId86"/>
    <p:sldId id="352" r:id="rId87"/>
    <p:sldId id="353" r:id="rId88"/>
    <p:sldId id="355" r:id="rId89"/>
    <p:sldId id="356" r:id="rId90"/>
    <p:sldId id="357" r:id="rId91"/>
    <p:sldId id="358" r:id="rId92"/>
    <p:sldId id="359" r:id="rId93"/>
    <p:sldId id="360" r:id="rId94"/>
    <p:sldId id="361" r:id="rId95"/>
    <p:sldId id="362" r:id="rId96"/>
    <p:sldId id="363" r:id="rId97"/>
    <p:sldId id="364" r:id="rId98"/>
    <p:sldId id="365" r:id="rId99"/>
    <p:sldId id="366" r:id="rId100"/>
    <p:sldId id="367" r:id="rId101"/>
    <p:sldId id="341" r:id="rId102"/>
    <p:sldId id="368" r:id="rId103"/>
    <p:sldId id="369" r:id="rId104"/>
    <p:sldId id="370" r:id="rId105"/>
    <p:sldId id="371" r:id="rId106"/>
    <p:sldId id="372" r:id="rId107"/>
    <p:sldId id="373" r:id="rId108"/>
    <p:sldId id="374" r:id="rId109"/>
    <p:sldId id="375" r:id="rId110"/>
    <p:sldId id="376" r:id="rId111"/>
    <p:sldId id="377" r:id="rId112"/>
    <p:sldId id="383" r:id="rId113"/>
    <p:sldId id="378" r:id="rId114"/>
    <p:sldId id="379" r:id="rId115"/>
    <p:sldId id="380" r:id="rId116"/>
    <p:sldId id="381" r:id="rId117"/>
    <p:sldId id="382" r:id="rId118"/>
    <p:sldId id="384" r:id="rId119"/>
    <p:sldId id="385" r:id="rId120"/>
    <p:sldId id="386" r:id="rId121"/>
    <p:sldId id="389" r:id="rId122"/>
    <p:sldId id="388" r:id="rId123"/>
    <p:sldId id="390" r:id="rId124"/>
    <p:sldId id="387" r:id="rId125"/>
    <p:sldId id="391" r:id="rId126"/>
    <p:sldId id="392" r:id="rId127"/>
    <p:sldId id="394" r:id="rId128"/>
    <p:sldId id="395" r:id="rId129"/>
    <p:sldId id="396" r:id="rId130"/>
    <p:sldId id="397" r:id="rId131"/>
    <p:sldId id="398" r:id="rId132"/>
    <p:sldId id="399" r:id="rId133"/>
    <p:sldId id="400" r:id="rId134"/>
    <p:sldId id="401" r:id="rId135"/>
    <p:sldId id="393" r:id="rId136"/>
    <p:sldId id="402" r:id="rId137"/>
    <p:sldId id="403" r:id="rId138"/>
    <p:sldId id="404" r:id="rId139"/>
    <p:sldId id="405" r:id="rId140"/>
    <p:sldId id="406" r:id="rId141"/>
    <p:sldId id="407" r:id="rId142"/>
    <p:sldId id="408" r:id="rId143"/>
    <p:sldId id="409" r:id="rId144"/>
    <p:sldId id="410" r:id="rId145"/>
    <p:sldId id="411" r:id="rId146"/>
    <p:sldId id="412" r:id="rId147"/>
    <p:sldId id="413" r:id="rId148"/>
    <p:sldId id="414" r:id="rId149"/>
    <p:sldId id="415" r:id="rId150"/>
    <p:sldId id="416" r:id="rId151"/>
    <p:sldId id="417" r:id="rId152"/>
    <p:sldId id="418" r:id="rId153"/>
    <p:sldId id="419" r:id="rId154"/>
    <p:sldId id="422" r:id="rId155"/>
    <p:sldId id="423" r:id="rId156"/>
    <p:sldId id="424" r:id="rId157"/>
    <p:sldId id="420" r:id="rId158"/>
    <p:sldId id="429" r:id="rId159"/>
    <p:sldId id="430" r:id="rId160"/>
    <p:sldId id="431" r:id="rId161"/>
    <p:sldId id="425" r:id="rId162"/>
    <p:sldId id="426" r:id="rId163"/>
    <p:sldId id="427" r:id="rId164"/>
    <p:sldId id="428" r:id="rId165"/>
    <p:sldId id="421" r:id="rId166"/>
    <p:sldId id="432" r:id="rId167"/>
    <p:sldId id="433" r:id="rId168"/>
    <p:sldId id="434" r:id="rId169"/>
    <p:sldId id="437" r:id="rId170"/>
    <p:sldId id="438" r:id="rId171"/>
    <p:sldId id="439" r:id="rId172"/>
    <p:sldId id="440" r:id="rId173"/>
    <p:sldId id="441" r:id="rId174"/>
    <p:sldId id="442" r:id="rId175"/>
    <p:sldId id="443" r:id="rId176"/>
    <p:sldId id="444" r:id="rId177"/>
    <p:sldId id="435" r:id="rId178"/>
    <p:sldId id="445" r:id="rId1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57" autoAdjust="0"/>
    <p:restoredTop sz="86475" autoAdjust="0"/>
  </p:normalViewPr>
  <p:slideViewPr>
    <p:cSldViewPr snapToGrid="0">
      <p:cViewPr varScale="1">
        <p:scale>
          <a:sx n="103" d="100"/>
          <a:sy n="103" d="100"/>
        </p:scale>
        <p:origin x="1022" y="8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2" Type="http://schemas.openxmlformats.org/officeDocument/2006/relationships/tableStyles" Target="tableStyles.xml"/><Relationship Id="rId181" Type="http://schemas.openxmlformats.org/officeDocument/2006/relationships/viewProps" Target="viewProps.xml"/><Relationship Id="rId180" Type="http://schemas.openxmlformats.org/officeDocument/2006/relationships/presProps" Target="presProps.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1">
  <dgm:title val=""/>
  <dgm:desc val=""/>
  <dgm:catLst>
    <dgm:cat type="accent1" pri="11400"/>
  </dgm:catLst>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2">
  <dgm:title val=""/>
  <dgm:desc val=""/>
  <dgm:catLst>
    <dgm:cat type="accent1" pri="11400"/>
  </dgm:catLst>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4#3">
  <dgm:title val=""/>
  <dgm:desc val=""/>
  <dgm:catLst>
    <dgm:cat type="accent1" pri="11400"/>
  </dgm:catLst>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555AC6D-4787-47AD-9E48-CE4C638D94F0}" type="doc">
      <dgm:prSet loTypeId="urn:microsoft.com/office/officeart/2005/8/layout/vList5" loCatId="list" qsTypeId="urn:microsoft.com/office/officeart/2005/8/quickstyle/simple4#1" qsCatId="simple" csTypeId="urn:microsoft.com/office/officeart/2005/8/colors/accent1_2#1" csCatId="accent1" phldr="1"/>
      <dgm:spPr/>
      <dgm:t>
        <a:bodyPr/>
        <a:lstStyle/>
        <a:p>
          <a:endParaRPr lang="zh-CN" altLang="en-US"/>
        </a:p>
      </dgm:t>
    </dgm:pt>
    <dgm:pt modelId="{2797A7D4-4E61-40D1-93E3-AF4F1BD5C0B7}">
      <dgm:prSet phldrT="[文本]" custT="1"/>
      <dgm:spPr>
        <a:xfrm>
          <a:off x="213142" y="1582"/>
          <a:ext cx="1155009" cy="1044256"/>
        </a:xfr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800" dirty="0">
              <a:solidFill>
                <a:sysClr val="window" lastClr="FFFFFF"/>
              </a:solidFill>
              <a:latin typeface="微软雅黑" panose="020B0503020204020204" pitchFamily="34" charset="-122"/>
              <a:ea typeface="微软雅黑" panose="020B0503020204020204" pitchFamily="34" charset="-122"/>
              <a:cs typeface="+mn-cs"/>
            </a:rPr>
            <a:t>扩展性</a:t>
          </a:r>
        </a:p>
      </dgm:t>
    </dgm:pt>
    <dgm:pt modelId="{E7A53DD4-1817-4993-B75B-94AB940BA012}" cxnId="{067FE6BF-51D7-44CD-B9AD-A6B523D06769}"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4D095F95-99E7-42BE-87AF-E297AA795FB5}" cxnId="{067FE6BF-51D7-44CD-B9AD-A6B523D06769}"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D15FA64C-63DE-440D-ACAA-10812E000386}">
      <dgm:prSet phldrT="[文本]" custT="1"/>
      <dgm:spPr>
        <a:xfrm rot="5400000">
          <a:off x="2356046" y="-881885"/>
          <a:ext cx="835405" cy="2811192"/>
        </a:xfr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ln>
        <a:effectLst/>
      </dgm:spPr>
      <dgm:t>
        <a:bodyPr/>
        <a:lstStyle/>
        <a:p>
          <a:r>
            <a:rPr lang="zh-CN" altLang="en-US" sz="16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增量式的、几乎无限的扩展</a:t>
          </a:r>
        </a:p>
      </dgm:t>
    </dgm:pt>
    <dgm:pt modelId="{666A1211-4231-4E7B-8AEF-625FC8D72BBC}" cxnId="{2172E5AA-DC8D-4AF8-BEA0-45080B11696B}"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AE0FAA1F-0F65-4AFC-BF12-DAAF2DD855F6}" cxnId="{2172E5AA-DC8D-4AF8-BEA0-45080B11696B}"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070587E1-78DF-46AE-9313-04E3D06E247F}">
      <dgm:prSet phldrT="[文本]" custT="1"/>
      <dgm:spPr>
        <a:xfrm>
          <a:off x="213142" y="1098051"/>
          <a:ext cx="1155009" cy="1044256"/>
        </a:xfr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800" dirty="0">
              <a:solidFill>
                <a:sysClr val="window" lastClr="FFFFFF"/>
              </a:solidFill>
              <a:latin typeface="微软雅黑" panose="020B0503020204020204" pitchFamily="34" charset="-122"/>
              <a:ea typeface="微软雅黑" panose="020B0503020204020204" pitchFamily="34" charset="-122"/>
              <a:cs typeface="+mn-cs"/>
            </a:rPr>
            <a:t>可用性</a:t>
          </a:r>
        </a:p>
      </dgm:t>
    </dgm:pt>
    <dgm:pt modelId="{F71B9DC9-78F3-418B-AC7F-2464B038F750}" cxnId="{1E1DA004-D24E-4820-A6D4-0D940155B112}"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AF3DC3B1-1696-4BBD-9750-5E7CA8F23497}" cxnId="{1E1DA004-D24E-4820-A6D4-0D940155B112}"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A7CA7847-F961-4491-8A32-7147CA3777FC}">
      <dgm:prSet phldrT="[文本]" custT="1"/>
      <dgm:spPr>
        <a:xfrm rot="5400000">
          <a:off x="2356046" y="214583"/>
          <a:ext cx="835405" cy="2811192"/>
        </a:xfr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ln>
        <a:effectLst/>
      </dgm:spPr>
      <dgm:t>
        <a:bodyPr/>
        <a:lstStyle/>
        <a:p>
          <a:r>
            <a:rPr lang="zh-CN" altLang="en-US" sz="16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要求系统总是在线运行</a:t>
          </a:r>
        </a:p>
      </dgm:t>
    </dgm:pt>
    <dgm:pt modelId="{3BF7BBD9-3242-4D99-BED8-3DC9F6202D2D}" cxnId="{94B8EDF8-7E05-4695-97F9-621C2B64984F}"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4E1C9793-3A77-455A-BD5B-120D1FA6F121}" cxnId="{94B8EDF8-7E05-4695-97F9-621C2B64984F}"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0165C462-9BDD-4561-8171-BB11E057C83D}">
      <dgm:prSet phldrT="[文本]" custT="1"/>
      <dgm:spPr>
        <a:xfrm>
          <a:off x="213142" y="2194521"/>
          <a:ext cx="1155009" cy="1044256"/>
        </a:xfr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800" dirty="0">
              <a:solidFill>
                <a:sysClr val="window" lastClr="FFFFFF"/>
              </a:solidFill>
              <a:latin typeface="微软雅黑" panose="020B0503020204020204" pitchFamily="34" charset="-122"/>
              <a:ea typeface="微软雅黑" panose="020B0503020204020204" pitchFamily="34" charset="-122"/>
              <a:cs typeface="+mn-cs"/>
            </a:rPr>
            <a:t>灵活性</a:t>
          </a:r>
        </a:p>
      </dgm:t>
    </dgm:pt>
    <dgm:pt modelId="{C8982A45-9C73-4C69-BD17-C21E815C5512}" cxnId="{F2683621-7AA1-442D-ADCB-A1F9EC150F9B}"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028BBB84-8D18-46AA-9B64-8B67BA8E4F35}" cxnId="{F2683621-7AA1-442D-ADCB-A1F9EC150F9B}"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EE890492-EE98-4896-801A-03C64AFC3CCC}">
      <dgm:prSet phldrT="[文本]" custT="1"/>
      <dgm:spPr>
        <a:xfrm rot="5400000">
          <a:off x="2356046" y="1311053"/>
          <a:ext cx="835405" cy="2811192"/>
        </a:xfr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ln>
        <a:effectLst/>
      </dgm:spPr>
      <dgm:t>
        <a:bodyPr/>
        <a:lstStyle/>
        <a:p>
          <a:r>
            <a:rPr lang="zh-CN" altLang="en-US" sz="16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灵活可动态改变的数据模型</a:t>
          </a:r>
        </a:p>
      </dgm:t>
    </dgm:pt>
    <dgm:pt modelId="{4473C0A9-06ED-4872-BBF3-C9B97A83324B}" cxnId="{DA3F9BE8-E772-4063-86A9-286D1B0AB92E}"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A870113E-2A67-46A5-A114-FA3F0EFB0F7A}" cxnId="{DA3F9BE8-E772-4063-86A9-286D1B0AB92E}"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5D04DF0F-94F8-4648-B35C-C0360BEB77C0}" type="pres">
      <dgm:prSet presAssocID="{F555AC6D-4787-47AD-9E48-CE4C638D94F0}" presName="Name0" presStyleCnt="0">
        <dgm:presLayoutVars>
          <dgm:dir/>
          <dgm:animLvl val="lvl"/>
          <dgm:resizeHandles val="exact"/>
        </dgm:presLayoutVars>
      </dgm:prSet>
      <dgm:spPr/>
    </dgm:pt>
    <dgm:pt modelId="{C92CCEB9-BAA0-457A-9793-E7B820FE3EE4}" type="pres">
      <dgm:prSet presAssocID="{2797A7D4-4E61-40D1-93E3-AF4F1BD5C0B7}" presName="linNode" presStyleCnt="0"/>
      <dgm:spPr/>
    </dgm:pt>
    <dgm:pt modelId="{83D4B7AE-E043-4B55-AC4D-C59EA7CF4107}" type="pres">
      <dgm:prSet presAssocID="{2797A7D4-4E61-40D1-93E3-AF4F1BD5C0B7}" presName="parentText" presStyleLbl="node1" presStyleIdx="0" presStyleCnt="3" custScaleX="73042">
        <dgm:presLayoutVars>
          <dgm:chMax val="1"/>
          <dgm:bulletEnabled val="1"/>
        </dgm:presLayoutVars>
      </dgm:prSet>
      <dgm:spPr>
        <a:prstGeom prst="roundRect">
          <a:avLst/>
        </a:prstGeom>
      </dgm:spPr>
    </dgm:pt>
    <dgm:pt modelId="{975FEA16-8DEB-4B31-98C4-CD92758D0BD6}" type="pres">
      <dgm:prSet presAssocID="{2797A7D4-4E61-40D1-93E3-AF4F1BD5C0B7}" presName="descendantText" presStyleLbl="alignAccFollowNode1" presStyleIdx="0" presStyleCnt="3">
        <dgm:presLayoutVars>
          <dgm:bulletEnabled val="1"/>
        </dgm:presLayoutVars>
      </dgm:prSet>
      <dgm:spPr>
        <a:prstGeom prst="round2SameRect">
          <a:avLst/>
        </a:prstGeom>
      </dgm:spPr>
    </dgm:pt>
    <dgm:pt modelId="{3D0D283A-FC62-4E45-8861-F82A2DF5A6B5}" type="pres">
      <dgm:prSet presAssocID="{4D095F95-99E7-42BE-87AF-E297AA795FB5}" presName="sp" presStyleCnt="0"/>
      <dgm:spPr/>
    </dgm:pt>
    <dgm:pt modelId="{C42C7CE3-45D8-4259-AA12-CB0DBD5DC9A5}" type="pres">
      <dgm:prSet presAssocID="{070587E1-78DF-46AE-9313-04E3D06E247F}" presName="linNode" presStyleCnt="0"/>
      <dgm:spPr/>
    </dgm:pt>
    <dgm:pt modelId="{BC29B021-3A1B-4F56-A49B-B4316EBCCE0C}" type="pres">
      <dgm:prSet presAssocID="{070587E1-78DF-46AE-9313-04E3D06E247F}" presName="parentText" presStyleLbl="node1" presStyleIdx="1" presStyleCnt="3" custScaleX="73042">
        <dgm:presLayoutVars>
          <dgm:chMax val="1"/>
          <dgm:bulletEnabled val="1"/>
        </dgm:presLayoutVars>
      </dgm:prSet>
      <dgm:spPr>
        <a:prstGeom prst="roundRect">
          <a:avLst/>
        </a:prstGeom>
      </dgm:spPr>
    </dgm:pt>
    <dgm:pt modelId="{E80ED039-166B-42D6-BF76-0BA0B9A5D4B0}" type="pres">
      <dgm:prSet presAssocID="{070587E1-78DF-46AE-9313-04E3D06E247F}" presName="descendantText" presStyleLbl="alignAccFollowNode1" presStyleIdx="1" presStyleCnt="3">
        <dgm:presLayoutVars>
          <dgm:bulletEnabled val="1"/>
        </dgm:presLayoutVars>
      </dgm:prSet>
      <dgm:spPr>
        <a:prstGeom prst="round2SameRect">
          <a:avLst/>
        </a:prstGeom>
      </dgm:spPr>
    </dgm:pt>
    <dgm:pt modelId="{10BE54B1-8387-44F0-A555-497235F2E32E}" type="pres">
      <dgm:prSet presAssocID="{AF3DC3B1-1696-4BBD-9750-5E7CA8F23497}" presName="sp" presStyleCnt="0"/>
      <dgm:spPr/>
    </dgm:pt>
    <dgm:pt modelId="{EB094D51-BC16-4C0E-9A56-601EAE36866B}" type="pres">
      <dgm:prSet presAssocID="{0165C462-9BDD-4561-8171-BB11E057C83D}" presName="linNode" presStyleCnt="0"/>
      <dgm:spPr/>
    </dgm:pt>
    <dgm:pt modelId="{0D492314-6C0B-44B0-ADF6-EAA090209580}" type="pres">
      <dgm:prSet presAssocID="{0165C462-9BDD-4561-8171-BB11E057C83D}" presName="parentText" presStyleLbl="node1" presStyleIdx="2" presStyleCnt="3" custScaleX="73042">
        <dgm:presLayoutVars>
          <dgm:chMax val="1"/>
          <dgm:bulletEnabled val="1"/>
        </dgm:presLayoutVars>
      </dgm:prSet>
      <dgm:spPr>
        <a:prstGeom prst="roundRect">
          <a:avLst/>
        </a:prstGeom>
      </dgm:spPr>
    </dgm:pt>
    <dgm:pt modelId="{7DD8BAA6-5178-4F0B-B485-3B76F8D076E2}" type="pres">
      <dgm:prSet presAssocID="{0165C462-9BDD-4561-8171-BB11E057C83D}" presName="descendantText" presStyleLbl="alignAccFollowNode1" presStyleIdx="2" presStyleCnt="3">
        <dgm:presLayoutVars>
          <dgm:bulletEnabled val="1"/>
        </dgm:presLayoutVars>
      </dgm:prSet>
      <dgm:spPr>
        <a:prstGeom prst="round2SameRect">
          <a:avLst/>
        </a:prstGeom>
      </dgm:spPr>
    </dgm:pt>
  </dgm:ptLst>
  <dgm:cxnLst>
    <dgm:cxn modelId="{1E1DA004-D24E-4820-A6D4-0D940155B112}" srcId="{F555AC6D-4787-47AD-9E48-CE4C638D94F0}" destId="{070587E1-78DF-46AE-9313-04E3D06E247F}" srcOrd="1" destOrd="0" parTransId="{F71B9DC9-78F3-418B-AC7F-2464B038F750}" sibTransId="{AF3DC3B1-1696-4BBD-9750-5E7CA8F23497}"/>
    <dgm:cxn modelId="{F2683621-7AA1-442D-ADCB-A1F9EC150F9B}" srcId="{F555AC6D-4787-47AD-9E48-CE4C638D94F0}" destId="{0165C462-9BDD-4561-8171-BB11E057C83D}" srcOrd="2" destOrd="0" parTransId="{C8982A45-9C73-4C69-BD17-C21E815C5512}" sibTransId="{028BBB84-8D18-46AA-9B64-8B67BA8E4F35}"/>
    <dgm:cxn modelId="{42F6903C-44F6-4258-9D4F-7CA521234DEA}" type="presOf" srcId="{A7CA7847-F961-4491-8A32-7147CA3777FC}" destId="{E80ED039-166B-42D6-BF76-0BA0B9A5D4B0}" srcOrd="0" destOrd="0" presId="urn:microsoft.com/office/officeart/2005/8/layout/vList5"/>
    <dgm:cxn modelId="{A0CC6868-0482-453D-B229-506D9D28457F}" type="presOf" srcId="{2797A7D4-4E61-40D1-93E3-AF4F1BD5C0B7}" destId="{83D4B7AE-E043-4B55-AC4D-C59EA7CF4107}" srcOrd="0" destOrd="0" presId="urn:microsoft.com/office/officeart/2005/8/layout/vList5"/>
    <dgm:cxn modelId="{D3441B87-7AD9-48A4-9044-7C3C864EE5C6}" type="presOf" srcId="{EE890492-EE98-4896-801A-03C64AFC3CCC}" destId="{7DD8BAA6-5178-4F0B-B485-3B76F8D076E2}" srcOrd="0" destOrd="0" presId="urn:microsoft.com/office/officeart/2005/8/layout/vList5"/>
    <dgm:cxn modelId="{2172E5AA-DC8D-4AF8-BEA0-45080B11696B}" srcId="{2797A7D4-4E61-40D1-93E3-AF4F1BD5C0B7}" destId="{D15FA64C-63DE-440D-ACAA-10812E000386}" srcOrd="0" destOrd="0" parTransId="{666A1211-4231-4E7B-8AEF-625FC8D72BBC}" sibTransId="{AE0FAA1F-0F65-4AFC-BF12-DAAF2DD855F6}"/>
    <dgm:cxn modelId="{58BB80BE-0217-471E-8CB2-D8ECA116AD65}" type="presOf" srcId="{070587E1-78DF-46AE-9313-04E3D06E247F}" destId="{BC29B021-3A1B-4F56-A49B-B4316EBCCE0C}" srcOrd="0" destOrd="0" presId="urn:microsoft.com/office/officeart/2005/8/layout/vList5"/>
    <dgm:cxn modelId="{067FE6BF-51D7-44CD-B9AD-A6B523D06769}" srcId="{F555AC6D-4787-47AD-9E48-CE4C638D94F0}" destId="{2797A7D4-4E61-40D1-93E3-AF4F1BD5C0B7}" srcOrd="0" destOrd="0" parTransId="{E7A53DD4-1817-4993-B75B-94AB940BA012}" sibTransId="{4D095F95-99E7-42BE-87AF-E297AA795FB5}"/>
    <dgm:cxn modelId="{8B5890C9-ABD3-4B37-BEA1-14162EE64138}" type="presOf" srcId="{0165C462-9BDD-4561-8171-BB11E057C83D}" destId="{0D492314-6C0B-44B0-ADF6-EAA090209580}" srcOrd="0" destOrd="0" presId="urn:microsoft.com/office/officeart/2005/8/layout/vList5"/>
    <dgm:cxn modelId="{E34A95CB-E94B-4454-AD4F-96EFDAFEDF68}" type="presOf" srcId="{D15FA64C-63DE-440D-ACAA-10812E000386}" destId="{975FEA16-8DEB-4B31-98C4-CD92758D0BD6}" srcOrd="0" destOrd="0" presId="urn:microsoft.com/office/officeart/2005/8/layout/vList5"/>
    <dgm:cxn modelId="{DA3F9BE8-E772-4063-86A9-286D1B0AB92E}" srcId="{0165C462-9BDD-4561-8171-BB11E057C83D}" destId="{EE890492-EE98-4896-801A-03C64AFC3CCC}" srcOrd="0" destOrd="0" parTransId="{4473C0A9-06ED-4872-BBF3-C9B97A83324B}" sibTransId="{A870113E-2A67-46A5-A114-FA3F0EFB0F7A}"/>
    <dgm:cxn modelId="{466368F7-3062-40EE-9106-46E69488CEF6}" type="presOf" srcId="{F555AC6D-4787-47AD-9E48-CE4C638D94F0}" destId="{5D04DF0F-94F8-4648-B35C-C0360BEB77C0}" srcOrd="0" destOrd="0" presId="urn:microsoft.com/office/officeart/2005/8/layout/vList5"/>
    <dgm:cxn modelId="{94B8EDF8-7E05-4695-97F9-621C2B64984F}" srcId="{070587E1-78DF-46AE-9313-04E3D06E247F}" destId="{A7CA7847-F961-4491-8A32-7147CA3777FC}" srcOrd="0" destOrd="0" parTransId="{3BF7BBD9-3242-4D99-BED8-3DC9F6202D2D}" sibTransId="{4E1C9793-3A77-455A-BD5B-120D1FA6F121}"/>
    <dgm:cxn modelId="{F6B65A21-6A08-49B3-A5AD-F2717B2C4733}" type="presParOf" srcId="{5D04DF0F-94F8-4648-B35C-C0360BEB77C0}" destId="{C92CCEB9-BAA0-457A-9793-E7B820FE3EE4}" srcOrd="0" destOrd="0" presId="urn:microsoft.com/office/officeart/2005/8/layout/vList5"/>
    <dgm:cxn modelId="{0CFC02E5-31EB-4249-A42D-2F524753BAAF}" type="presParOf" srcId="{C92CCEB9-BAA0-457A-9793-E7B820FE3EE4}" destId="{83D4B7AE-E043-4B55-AC4D-C59EA7CF4107}" srcOrd="0" destOrd="0" presId="urn:microsoft.com/office/officeart/2005/8/layout/vList5"/>
    <dgm:cxn modelId="{DBE1C55D-F8B9-40D8-83E7-E0AEBF1E1513}" type="presParOf" srcId="{C92CCEB9-BAA0-457A-9793-E7B820FE3EE4}" destId="{975FEA16-8DEB-4B31-98C4-CD92758D0BD6}" srcOrd="1" destOrd="0" presId="urn:microsoft.com/office/officeart/2005/8/layout/vList5"/>
    <dgm:cxn modelId="{2E558BDD-A3A2-4AE6-9427-46B58FB86310}" type="presParOf" srcId="{5D04DF0F-94F8-4648-B35C-C0360BEB77C0}" destId="{3D0D283A-FC62-4E45-8861-F82A2DF5A6B5}" srcOrd="1" destOrd="0" presId="urn:microsoft.com/office/officeart/2005/8/layout/vList5"/>
    <dgm:cxn modelId="{D12F9087-D86A-4C18-AA68-A51EA2BB818A}" type="presParOf" srcId="{5D04DF0F-94F8-4648-B35C-C0360BEB77C0}" destId="{C42C7CE3-45D8-4259-AA12-CB0DBD5DC9A5}" srcOrd="2" destOrd="0" presId="urn:microsoft.com/office/officeart/2005/8/layout/vList5"/>
    <dgm:cxn modelId="{4C3110E4-D861-4B41-B85C-0A5707186215}" type="presParOf" srcId="{C42C7CE3-45D8-4259-AA12-CB0DBD5DC9A5}" destId="{BC29B021-3A1B-4F56-A49B-B4316EBCCE0C}" srcOrd="0" destOrd="0" presId="urn:microsoft.com/office/officeart/2005/8/layout/vList5"/>
    <dgm:cxn modelId="{3F30B4D9-CCCB-4AAC-B94E-4C7AED8324A7}" type="presParOf" srcId="{C42C7CE3-45D8-4259-AA12-CB0DBD5DC9A5}" destId="{E80ED039-166B-42D6-BF76-0BA0B9A5D4B0}" srcOrd="1" destOrd="0" presId="urn:microsoft.com/office/officeart/2005/8/layout/vList5"/>
    <dgm:cxn modelId="{C9EB7FE6-D0F5-404C-86AE-FD9F207F00C1}" type="presParOf" srcId="{5D04DF0F-94F8-4648-B35C-C0360BEB77C0}" destId="{10BE54B1-8387-44F0-A555-497235F2E32E}" srcOrd="3" destOrd="0" presId="urn:microsoft.com/office/officeart/2005/8/layout/vList5"/>
    <dgm:cxn modelId="{726E4D16-DB8C-4646-A3F7-7B9FF76C9F1E}" type="presParOf" srcId="{5D04DF0F-94F8-4648-B35C-C0360BEB77C0}" destId="{EB094D51-BC16-4C0E-9A56-601EAE36866B}" srcOrd="4" destOrd="0" presId="urn:microsoft.com/office/officeart/2005/8/layout/vList5"/>
    <dgm:cxn modelId="{7D0C4A7E-C537-4BBA-BC19-19FC41E2A3EC}" type="presParOf" srcId="{EB094D51-BC16-4C0E-9A56-601EAE36866B}" destId="{0D492314-6C0B-44B0-ADF6-EAA090209580}" srcOrd="0" destOrd="0" presId="urn:microsoft.com/office/officeart/2005/8/layout/vList5"/>
    <dgm:cxn modelId="{EBFA74CB-3715-4A59-9FB1-98A5915BAAE1}" type="presParOf" srcId="{EB094D51-BC16-4C0E-9A56-601EAE36866B}" destId="{7DD8BAA6-5178-4F0B-B485-3B76F8D076E2}"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203B83-A926-476D-8B95-7BCFB9CEA1EC}" type="doc">
      <dgm:prSet loTypeId="urn:microsoft.com/office/officeart/2005/8/layout/chevron1" loCatId="process" qsTypeId="urn:microsoft.com/office/officeart/2005/8/quickstyle/simple4#2" qsCatId="simple" csTypeId="urn:microsoft.com/office/officeart/2005/8/colors/accent1_4#1" csCatId="accent1" phldr="1"/>
      <dgm:spPr/>
    </dgm:pt>
    <dgm:pt modelId="{4545A3F5-BABF-4140-820D-BC1CB774281E}">
      <dgm:prSet phldrT="[文本]" custT="1"/>
      <dgm:spPr>
        <a:xfrm>
          <a:off x="1378" y="111897"/>
          <a:ext cx="1679081" cy="671632"/>
        </a:xfrm>
        <a:gradFill rotWithShape="0">
          <a:gsLst>
            <a:gs pos="0">
              <a:srgbClr val="4F81BD">
                <a:shade val="50000"/>
                <a:hueOff val="0"/>
                <a:satOff val="0"/>
                <a:lumOff val="0"/>
                <a:alphaOff val="0"/>
                <a:shade val="51000"/>
                <a:satMod val="130000"/>
              </a:srgbClr>
            </a:gs>
            <a:gs pos="80000">
              <a:srgbClr val="4F81BD">
                <a:shade val="50000"/>
                <a:hueOff val="0"/>
                <a:satOff val="0"/>
                <a:lumOff val="0"/>
                <a:alphaOff val="0"/>
                <a:shade val="93000"/>
                <a:satMod val="130000"/>
              </a:srgbClr>
            </a:gs>
            <a:gs pos="100000">
              <a:srgbClr val="4F81BD">
                <a:shade val="5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500" dirty="0">
              <a:solidFill>
                <a:sysClr val="window" lastClr="FFFFFF"/>
              </a:solidFill>
              <a:latin typeface="微软雅黑" panose="020B0503020204020204" pitchFamily="34" charset="-122"/>
              <a:ea typeface="微软雅黑" panose="020B0503020204020204" pitchFamily="34" charset="-122"/>
              <a:cs typeface="+mn-cs"/>
            </a:rPr>
            <a:t>扩展性</a:t>
          </a:r>
        </a:p>
      </dgm:t>
    </dgm:pt>
    <dgm:pt modelId="{E2F33AE5-A1C0-4896-B7DE-A1D895361F27}" cxnId="{447663B1-16A8-46A2-826C-2D92CCC9A321}" type="par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9AF3330B-6A85-40A4-91E7-597CA741EB3A}" cxnId="{447663B1-16A8-46A2-826C-2D92CCC9A321}" type="sib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91D9B37C-3E0A-4F6A-95F1-20378D0DCECD}">
      <dgm:prSet phldrT="[文本]" custT="1"/>
      <dgm:spPr>
        <a:xfrm>
          <a:off x="1512551" y="111897"/>
          <a:ext cx="1679081" cy="671632"/>
        </a:xfrm>
        <a:gradFill rotWithShape="0">
          <a:gsLst>
            <a:gs pos="0">
              <a:srgbClr val="4F81BD">
                <a:shade val="50000"/>
                <a:hueOff val="240958"/>
                <a:satOff val="-5018"/>
                <a:lumOff val="28042"/>
                <a:alphaOff val="0"/>
                <a:shade val="51000"/>
                <a:satMod val="130000"/>
              </a:srgbClr>
            </a:gs>
            <a:gs pos="80000">
              <a:srgbClr val="4F81BD">
                <a:shade val="50000"/>
                <a:hueOff val="240958"/>
                <a:satOff val="-5018"/>
                <a:lumOff val="28042"/>
                <a:alphaOff val="0"/>
                <a:shade val="93000"/>
                <a:satMod val="130000"/>
              </a:srgbClr>
            </a:gs>
            <a:gs pos="100000">
              <a:srgbClr val="4F81BD">
                <a:shade val="50000"/>
                <a:hueOff val="240958"/>
                <a:satOff val="-5018"/>
                <a:lumOff val="28042"/>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500" dirty="0">
              <a:solidFill>
                <a:sysClr val="window" lastClr="FFFFFF"/>
              </a:solidFill>
              <a:latin typeface="微软雅黑" panose="020B0503020204020204" pitchFamily="34" charset="-122"/>
              <a:ea typeface="微软雅黑" panose="020B0503020204020204" pitchFamily="34" charset="-122"/>
              <a:cs typeface="+mn-cs"/>
            </a:rPr>
            <a:t>纵向扩展</a:t>
          </a:r>
        </a:p>
      </dgm:t>
    </dgm:pt>
    <dgm:pt modelId="{A20EBC66-EA03-4514-A82B-5B5F57F030DB}" cxnId="{DE5F4EDA-095B-40E1-92B4-1407BD08A058}" type="par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BCF16CF6-8A58-4011-B8A0-D430DF99AEC9}" cxnId="{DE5F4EDA-095B-40E1-92B4-1407BD08A058}" type="sib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90DFA739-E738-4034-989A-3F3162DFD0DF}">
      <dgm:prSet phldrT="[文本]" custT="1"/>
      <dgm:spPr>
        <a:xfrm>
          <a:off x="3023724" y="111897"/>
          <a:ext cx="1679081" cy="671632"/>
        </a:xfrm>
        <a:gradFill rotWithShape="0">
          <a:gsLst>
            <a:gs pos="0">
              <a:srgbClr val="4F81BD">
                <a:shade val="50000"/>
                <a:hueOff val="240958"/>
                <a:satOff val="-5018"/>
                <a:lumOff val="28042"/>
                <a:alphaOff val="0"/>
                <a:shade val="51000"/>
                <a:satMod val="130000"/>
              </a:srgbClr>
            </a:gs>
            <a:gs pos="80000">
              <a:srgbClr val="4F81BD">
                <a:shade val="50000"/>
                <a:hueOff val="240958"/>
                <a:satOff val="-5018"/>
                <a:lumOff val="28042"/>
                <a:alphaOff val="0"/>
                <a:shade val="93000"/>
                <a:satMod val="130000"/>
              </a:srgbClr>
            </a:gs>
            <a:gs pos="100000">
              <a:srgbClr val="4F81BD">
                <a:shade val="50000"/>
                <a:hueOff val="240958"/>
                <a:satOff val="-5018"/>
                <a:lumOff val="28042"/>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500" dirty="0">
              <a:solidFill>
                <a:sysClr val="window" lastClr="FFFFFF"/>
              </a:solidFill>
              <a:latin typeface="微软雅黑" panose="020B0503020204020204" pitchFamily="34" charset="-122"/>
              <a:ea typeface="微软雅黑" panose="020B0503020204020204" pitchFamily="34" charset="-122"/>
              <a:cs typeface="+mn-cs"/>
            </a:rPr>
            <a:t>横向扩展</a:t>
          </a:r>
        </a:p>
      </dgm:t>
    </dgm:pt>
    <dgm:pt modelId="{351AE0A8-83BB-4D52-B255-965645139418}" cxnId="{25141500-B391-44CC-848D-40977DD3A2A3}" type="par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2CAD6F7A-7A6E-4C13-B448-BABA4828AFD6}" cxnId="{25141500-B391-44CC-848D-40977DD3A2A3}" type="sib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065E34AC-BA68-44D6-B238-C0A8A6D44A85}" type="pres">
      <dgm:prSet presAssocID="{17203B83-A926-476D-8B95-7BCFB9CEA1EC}" presName="Name0" presStyleCnt="0">
        <dgm:presLayoutVars>
          <dgm:dir/>
          <dgm:animLvl val="lvl"/>
          <dgm:resizeHandles val="exact"/>
        </dgm:presLayoutVars>
      </dgm:prSet>
      <dgm:spPr/>
    </dgm:pt>
    <dgm:pt modelId="{F866D68C-AFE9-4D6F-BCE9-00FEE3BD389A}" type="pres">
      <dgm:prSet presAssocID="{4545A3F5-BABF-4140-820D-BC1CB774281E}" presName="parTxOnly" presStyleLbl="node1" presStyleIdx="0" presStyleCnt="3">
        <dgm:presLayoutVars>
          <dgm:chMax val="0"/>
          <dgm:chPref val="0"/>
          <dgm:bulletEnabled val="1"/>
        </dgm:presLayoutVars>
      </dgm:prSet>
      <dgm:spPr>
        <a:prstGeom prst="chevron">
          <a:avLst/>
        </a:prstGeom>
      </dgm:spPr>
    </dgm:pt>
    <dgm:pt modelId="{7D4C3117-8004-4B56-A13B-FFE2CB299757}" type="pres">
      <dgm:prSet presAssocID="{9AF3330B-6A85-40A4-91E7-597CA741EB3A}" presName="parTxOnlySpace" presStyleCnt="0"/>
      <dgm:spPr/>
    </dgm:pt>
    <dgm:pt modelId="{62F1817A-EF44-4D36-9920-08357D142439}" type="pres">
      <dgm:prSet presAssocID="{91D9B37C-3E0A-4F6A-95F1-20378D0DCECD}" presName="parTxOnly" presStyleLbl="node1" presStyleIdx="1" presStyleCnt="3">
        <dgm:presLayoutVars>
          <dgm:chMax val="0"/>
          <dgm:chPref val="0"/>
          <dgm:bulletEnabled val="1"/>
        </dgm:presLayoutVars>
      </dgm:prSet>
      <dgm:spPr>
        <a:prstGeom prst="chevron">
          <a:avLst/>
        </a:prstGeom>
      </dgm:spPr>
    </dgm:pt>
    <dgm:pt modelId="{BB694FEF-36E6-44CB-8D04-5AB69763D64C}" type="pres">
      <dgm:prSet presAssocID="{BCF16CF6-8A58-4011-B8A0-D430DF99AEC9}" presName="parTxOnlySpace" presStyleCnt="0"/>
      <dgm:spPr/>
    </dgm:pt>
    <dgm:pt modelId="{8663295F-4F81-4AD5-B06E-8A583F718F53}" type="pres">
      <dgm:prSet presAssocID="{90DFA739-E738-4034-989A-3F3162DFD0DF}" presName="parTxOnly" presStyleLbl="node1" presStyleIdx="2" presStyleCnt="3">
        <dgm:presLayoutVars>
          <dgm:chMax val="0"/>
          <dgm:chPref val="0"/>
          <dgm:bulletEnabled val="1"/>
        </dgm:presLayoutVars>
      </dgm:prSet>
      <dgm:spPr>
        <a:prstGeom prst="chevron">
          <a:avLst/>
        </a:prstGeom>
      </dgm:spPr>
    </dgm:pt>
  </dgm:ptLst>
  <dgm:cxnLst>
    <dgm:cxn modelId="{25141500-B391-44CC-848D-40977DD3A2A3}" srcId="{17203B83-A926-476D-8B95-7BCFB9CEA1EC}" destId="{90DFA739-E738-4034-989A-3F3162DFD0DF}" srcOrd="2" destOrd="0" parTransId="{351AE0A8-83BB-4D52-B255-965645139418}" sibTransId="{2CAD6F7A-7A6E-4C13-B448-BABA4828AFD6}"/>
    <dgm:cxn modelId="{02A17952-A622-49DB-84F8-DA03A01A283E}" type="presOf" srcId="{17203B83-A926-476D-8B95-7BCFB9CEA1EC}" destId="{065E34AC-BA68-44D6-B238-C0A8A6D44A85}" srcOrd="0" destOrd="0" presId="urn:microsoft.com/office/officeart/2005/8/layout/chevron1"/>
    <dgm:cxn modelId="{C92EB474-8546-4E7F-86B7-764A217A2664}" type="presOf" srcId="{91D9B37C-3E0A-4F6A-95F1-20378D0DCECD}" destId="{62F1817A-EF44-4D36-9920-08357D142439}" srcOrd="0" destOrd="0" presId="urn:microsoft.com/office/officeart/2005/8/layout/chevron1"/>
    <dgm:cxn modelId="{3A0E9DA4-766E-4F73-9D0C-9FAE2B1C5034}" type="presOf" srcId="{90DFA739-E738-4034-989A-3F3162DFD0DF}" destId="{8663295F-4F81-4AD5-B06E-8A583F718F53}" srcOrd="0" destOrd="0" presId="urn:microsoft.com/office/officeart/2005/8/layout/chevron1"/>
    <dgm:cxn modelId="{447663B1-16A8-46A2-826C-2D92CCC9A321}" srcId="{17203B83-A926-476D-8B95-7BCFB9CEA1EC}" destId="{4545A3F5-BABF-4140-820D-BC1CB774281E}" srcOrd="0" destOrd="0" parTransId="{E2F33AE5-A1C0-4896-B7DE-A1D895361F27}" sibTransId="{9AF3330B-6A85-40A4-91E7-597CA741EB3A}"/>
    <dgm:cxn modelId="{0D271DCE-A497-4039-96A7-01733E5CFECF}" type="presOf" srcId="{4545A3F5-BABF-4140-820D-BC1CB774281E}" destId="{F866D68C-AFE9-4D6F-BCE9-00FEE3BD389A}" srcOrd="0" destOrd="0" presId="urn:microsoft.com/office/officeart/2005/8/layout/chevron1"/>
    <dgm:cxn modelId="{DE5F4EDA-095B-40E1-92B4-1407BD08A058}" srcId="{17203B83-A926-476D-8B95-7BCFB9CEA1EC}" destId="{91D9B37C-3E0A-4F6A-95F1-20378D0DCECD}" srcOrd="1" destOrd="0" parTransId="{A20EBC66-EA03-4514-A82B-5B5F57F030DB}" sibTransId="{BCF16CF6-8A58-4011-B8A0-D430DF99AEC9}"/>
    <dgm:cxn modelId="{EEA8E364-C168-4E9D-9FB1-0BBD93B80BD2}" type="presParOf" srcId="{065E34AC-BA68-44D6-B238-C0A8A6D44A85}" destId="{F866D68C-AFE9-4D6F-BCE9-00FEE3BD389A}" srcOrd="0" destOrd="0" presId="urn:microsoft.com/office/officeart/2005/8/layout/chevron1"/>
    <dgm:cxn modelId="{8C1C3CF1-DFE6-4018-AF65-16B4026F6933}" type="presParOf" srcId="{065E34AC-BA68-44D6-B238-C0A8A6D44A85}" destId="{7D4C3117-8004-4B56-A13B-FFE2CB299757}" srcOrd="1" destOrd="0" presId="urn:microsoft.com/office/officeart/2005/8/layout/chevron1"/>
    <dgm:cxn modelId="{543A870C-E517-4E32-8AB2-720D1EEF6DE0}" type="presParOf" srcId="{065E34AC-BA68-44D6-B238-C0A8A6D44A85}" destId="{62F1817A-EF44-4D36-9920-08357D142439}" srcOrd="2" destOrd="0" presId="urn:microsoft.com/office/officeart/2005/8/layout/chevron1"/>
    <dgm:cxn modelId="{FDEFD94E-4929-4BD8-BAB3-ED80259A4AEF}" type="presParOf" srcId="{065E34AC-BA68-44D6-B238-C0A8A6D44A85}" destId="{BB694FEF-36E6-44CB-8D04-5AB69763D64C}" srcOrd="3" destOrd="0" presId="urn:microsoft.com/office/officeart/2005/8/layout/chevron1"/>
    <dgm:cxn modelId="{65607747-AD6B-4397-B2E1-A43F7311DA7D}" type="presParOf" srcId="{065E34AC-BA68-44D6-B238-C0A8A6D44A85}" destId="{8663295F-4F81-4AD5-B06E-8A583F718F53}" srcOrd="4" destOrd="0" presId="urn:microsoft.com/office/officeart/2005/8/layout/chevro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203B83-A926-476D-8B95-7BCFB9CEA1EC}" type="doc">
      <dgm:prSet loTypeId="urn:microsoft.com/office/officeart/2005/8/layout/chevron1" loCatId="process" qsTypeId="urn:microsoft.com/office/officeart/2005/8/quickstyle/simple4#3" qsCatId="simple" csTypeId="urn:microsoft.com/office/officeart/2005/8/colors/accent1_4#2" csCatId="accent1" phldr="1"/>
      <dgm:spPr/>
    </dgm:pt>
    <dgm:pt modelId="{4545A3F5-BABF-4140-820D-BC1CB774281E}">
      <dgm:prSet phldrT="[文本]"/>
      <dgm:spPr>
        <a:xfrm>
          <a:off x="1378" y="111897"/>
          <a:ext cx="1679081" cy="671632"/>
        </a:xfrm>
        <a:gradFill rotWithShape="0">
          <a:gsLst>
            <a:gs pos="0">
              <a:srgbClr val="4F81BD">
                <a:shade val="50000"/>
                <a:hueOff val="0"/>
                <a:satOff val="0"/>
                <a:lumOff val="0"/>
                <a:alphaOff val="0"/>
                <a:shade val="51000"/>
                <a:satMod val="130000"/>
              </a:srgbClr>
            </a:gs>
            <a:gs pos="80000">
              <a:srgbClr val="4F81BD">
                <a:shade val="50000"/>
                <a:hueOff val="0"/>
                <a:satOff val="0"/>
                <a:lumOff val="0"/>
                <a:alphaOff val="0"/>
                <a:shade val="93000"/>
                <a:satMod val="130000"/>
              </a:srgbClr>
            </a:gs>
            <a:gs pos="100000">
              <a:srgbClr val="4F81BD">
                <a:shade val="5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dirty="0">
              <a:solidFill>
                <a:sysClr val="window" lastClr="FFFFFF"/>
              </a:solidFill>
              <a:latin typeface="微软雅黑" panose="020B0503020204020204" pitchFamily="34" charset="-122"/>
              <a:ea typeface="微软雅黑" panose="020B0503020204020204" pitchFamily="34" charset="-122"/>
              <a:cs typeface="+mn-cs"/>
            </a:rPr>
            <a:t>分布式</a:t>
          </a:r>
        </a:p>
      </dgm:t>
    </dgm:pt>
    <dgm:pt modelId="{E2F33AE5-A1C0-4896-B7DE-A1D895361F27}" cxnId="{447663B1-16A8-46A2-826C-2D92CCC9A321}"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9AF3330B-6A85-40A4-91E7-597CA741EB3A}" cxnId="{447663B1-16A8-46A2-826C-2D92CCC9A321}"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91D9B37C-3E0A-4F6A-95F1-20378D0DCECD}">
      <dgm:prSet phldrT="[文本]"/>
      <dgm:spPr>
        <a:xfrm>
          <a:off x="1512551" y="111897"/>
          <a:ext cx="1679081" cy="671632"/>
        </a:xfrm>
        <a:gradFill rotWithShape="0">
          <a:gsLst>
            <a:gs pos="0">
              <a:srgbClr val="4F81BD">
                <a:shade val="50000"/>
                <a:hueOff val="240958"/>
                <a:satOff val="-5018"/>
                <a:lumOff val="28042"/>
                <a:alphaOff val="0"/>
                <a:shade val="51000"/>
                <a:satMod val="130000"/>
              </a:srgbClr>
            </a:gs>
            <a:gs pos="80000">
              <a:srgbClr val="4F81BD">
                <a:shade val="50000"/>
                <a:hueOff val="240958"/>
                <a:satOff val="-5018"/>
                <a:lumOff val="28042"/>
                <a:alphaOff val="0"/>
                <a:shade val="93000"/>
                <a:satMod val="130000"/>
              </a:srgbClr>
            </a:gs>
            <a:gs pos="100000">
              <a:srgbClr val="4F81BD">
                <a:shade val="50000"/>
                <a:hueOff val="240958"/>
                <a:satOff val="-5018"/>
                <a:lumOff val="28042"/>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dirty="0">
              <a:solidFill>
                <a:sysClr val="window" lastClr="FFFFFF"/>
              </a:solidFill>
              <a:latin typeface="微软雅黑" panose="020B0503020204020204" pitchFamily="34" charset="-122"/>
              <a:ea typeface="微软雅黑" panose="020B0503020204020204" pitchFamily="34" charset="-122"/>
              <a:cs typeface="+mn-cs"/>
            </a:rPr>
            <a:t>资源集中</a:t>
          </a:r>
        </a:p>
      </dgm:t>
    </dgm:pt>
    <dgm:pt modelId="{A20EBC66-EA03-4514-A82B-5B5F57F030DB}" cxnId="{DE5F4EDA-095B-40E1-92B4-1407BD08A058}"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BCF16CF6-8A58-4011-B8A0-D430DF99AEC9}" cxnId="{DE5F4EDA-095B-40E1-92B4-1407BD08A058}"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90DFA739-E738-4034-989A-3F3162DFD0DF}">
      <dgm:prSet phldrT="[文本]"/>
      <dgm:spPr>
        <a:xfrm>
          <a:off x="3023724" y="111897"/>
          <a:ext cx="1679081" cy="671632"/>
        </a:xfrm>
        <a:gradFill rotWithShape="0">
          <a:gsLst>
            <a:gs pos="0">
              <a:srgbClr val="4F81BD">
                <a:shade val="50000"/>
                <a:hueOff val="240958"/>
                <a:satOff val="-5018"/>
                <a:lumOff val="28042"/>
                <a:alphaOff val="0"/>
                <a:shade val="51000"/>
                <a:satMod val="130000"/>
              </a:srgbClr>
            </a:gs>
            <a:gs pos="80000">
              <a:srgbClr val="4F81BD">
                <a:shade val="50000"/>
                <a:hueOff val="240958"/>
                <a:satOff val="-5018"/>
                <a:lumOff val="28042"/>
                <a:alphaOff val="0"/>
                <a:shade val="93000"/>
                <a:satMod val="130000"/>
              </a:srgbClr>
            </a:gs>
            <a:gs pos="100000">
              <a:srgbClr val="4F81BD">
                <a:shade val="50000"/>
                <a:hueOff val="240958"/>
                <a:satOff val="-5018"/>
                <a:lumOff val="28042"/>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dirty="0">
              <a:solidFill>
                <a:sysClr val="window" lastClr="FFFFFF"/>
              </a:solidFill>
              <a:latin typeface="微软雅黑" panose="020B0503020204020204" pitchFamily="34" charset="-122"/>
              <a:ea typeface="微软雅黑" panose="020B0503020204020204" pitchFamily="34" charset="-122"/>
              <a:cs typeface="+mn-cs"/>
            </a:rPr>
            <a:t>计算和存储分布</a:t>
          </a:r>
        </a:p>
      </dgm:t>
    </dgm:pt>
    <dgm:pt modelId="{351AE0A8-83BB-4D52-B255-965645139418}" cxnId="{25141500-B391-44CC-848D-40977DD3A2A3}"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2CAD6F7A-7A6E-4C13-B448-BABA4828AFD6}" cxnId="{25141500-B391-44CC-848D-40977DD3A2A3}"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065E34AC-BA68-44D6-B238-C0A8A6D44A85}" type="pres">
      <dgm:prSet presAssocID="{17203B83-A926-476D-8B95-7BCFB9CEA1EC}" presName="Name0" presStyleCnt="0">
        <dgm:presLayoutVars>
          <dgm:dir/>
          <dgm:animLvl val="lvl"/>
          <dgm:resizeHandles val="exact"/>
        </dgm:presLayoutVars>
      </dgm:prSet>
      <dgm:spPr/>
    </dgm:pt>
    <dgm:pt modelId="{F866D68C-AFE9-4D6F-BCE9-00FEE3BD389A}" type="pres">
      <dgm:prSet presAssocID="{4545A3F5-BABF-4140-820D-BC1CB774281E}" presName="parTxOnly" presStyleLbl="node1" presStyleIdx="0" presStyleCnt="3">
        <dgm:presLayoutVars>
          <dgm:chMax val="0"/>
          <dgm:chPref val="0"/>
          <dgm:bulletEnabled val="1"/>
        </dgm:presLayoutVars>
      </dgm:prSet>
      <dgm:spPr>
        <a:prstGeom prst="chevron">
          <a:avLst/>
        </a:prstGeom>
      </dgm:spPr>
    </dgm:pt>
    <dgm:pt modelId="{7D4C3117-8004-4B56-A13B-FFE2CB299757}" type="pres">
      <dgm:prSet presAssocID="{9AF3330B-6A85-40A4-91E7-597CA741EB3A}" presName="parTxOnlySpace" presStyleCnt="0"/>
      <dgm:spPr/>
    </dgm:pt>
    <dgm:pt modelId="{62F1817A-EF44-4D36-9920-08357D142439}" type="pres">
      <dgm:prSet presAssocID="{91D9B37C-3E0A-4F6A-95F1-20378D0DCECD}" presName="parTxOnly" presStyleLbl="node1" presStyleIdx="1" presStyleCnt="3">
        <dgm:presLayoutVars>
          <dgm:chMax val="0"/>
          <dgm:chPref val="0"/>
          <dgm:bulletEnabled val="1"/>
        </dgm:presLayoutVars>
      </dgm:prSet>
      <dgm:spPr>
        <a:prstGeom prst="chevron">
          <a:avLst/>
        </a:prstGeom>
      </dgm:spPr>
    </dgm:pt>
    <dgm:pt modelId="{BB694FEF-36E6-44CB-8D04-5AB69763D64C}" type="pres">
      <dgm:prSet presAssocID="{BCF16CF6-8A58-4011-B8A0-D430DF99AEC9}" presName="parTxOnlySpace" presStyleCnt="0"/>
      <dgm:spPr/>
    </dgm:pt>
    <dgm:pt modelId="{8663295F-4F81-4AD5-B06E-8A583F718F53}" type="pres">
      <dgm:prSet presAssocID="{90DFA739-E738-4034-989A-3F3162DFD0DF}" presName="parTxOnly" presStyleLbl="node1" presStyleIdx="2" presStyleCnt="3">
        <dgm:presLayoutVars>
          <dgm:chMax val="0"/>
          <dgm:chPref val="0"/>
          <dgm:bulletEnabled val="1"/>
        </dgm:presLayoutVars>
      </dgm:prSet>
      <dgm:spPr>
        <a:prstGeom prst="chevron">
          <a:avLst/>
        </a:prstGeom>
      </dgm:spPr>
    </dgm:pt>
  </dgm:ptLst>
  <dgm:cxnLst>
    <dgm:cxn modelId="{25141500-B391-44CC-848D-40977DD3A2A3}" srcId="{17203B83-A926-476D-8B95-7BCFB9CEA1EC}" destId="{90DFA739-E738-4034-989A-3F3162DFD0DF}" srcOrd="2" destOrd="0" parTransId="{351AE0A8-83BB-4D52-B255-965645139418}" sibTransId="{2CAD6F7A-7A6E-4C13-B448-BABA4828AFD6}"/>
    <dgm:cxn modelId="{B6B3D50B-A18E-42B1-8FDC-E6E56C61645A}" type="presOf" srcId="{90DFA739-E738-4034-989A-3F3162DFD0DF}" destId="{8663295F-4F81-4AD5-B06E-8A583F718F53}" srcOrd="0" destOrd="0" presId="urn:microsoft.com/office/officeart/2005/8/layout/chevron1"/>
    <dgm:cxn modelId="{B4843F7D-1877-46CB-B192-EA19CEB9451B}" type="presOf" srcId="{4545A3F5-BABF-4140-820D-BC1CB774281E}" destId="{F866D68C-AFE9-4D6F-BCE9-00FEE3BD389A}" srcOrd="0" destOrd="0" presId="urn:microsoft.com/office/officeart/2005/8/layout/chevron1"/>
    <dgm:cxn modelId="{35AE03AA-421E-4060-8354-74DFFB0DBF5E}" type="presOf" srcId="{17203B83-A926-476D-8B95-7BCFB9CEA1EC}" destId="{065E34AC-BA68-44D6-B238-C0A8A6D44A85}" srcOrd="0" destOrd="0" presId="urn:microsoft.com/office/officeart/2005/8/layout/chevron1"/>
    <dgm:cxn modelId="{447663B1-16A8-46A2-826C-2D92CCC9A321}" srcId="{17203B83-A926-476D-8B95-7BCFB9CEA1EC}" destId="{4545A3F5-BABF-4140-820D-BC1CB774281E}" srcOrd="0" destOrd="0" parTransId="{E2F33AE5-A1C0-4896-B7DE-A1D895361F27}" sibTransId="{9AF3330B-6A85-40A4-91E7-597CA741EB3A}"/>
    <dgm:cxn modelId="{DE5F4EDA-095B-40E1-92B4-1407BD08A058}" srcId="{17203B83-A926-476D-8B95-7BCFB9CEA1EC}" destId="{91D9B37C-3E0A-4F6A-95F1-20378D0DCECD}" srcOrd="1" destOrd="0" parTransId="{A20EBC66-EA03-4514-A82B-5B5F57F030DB}" sibTransId="{BCF16CF6-8A58-4011-B8A0-D430DF99AEC9}"/>
    <dgm:cxn modelId="{2BE220EB-99AE-4D43-AB11-3C22F2373ECA}" type="presOf" srcId="{91D9B37C-3E0A-4F6A-95F1-20378D0DCECD}" destId="{62F1817A-EF44-4D36-9920-08357D142439}" srcOrd="0" destOrd="0" presId="urn:microsoft.com/office/officeart/2005/8/layout/chevron1"/>
    <dgm:cxn modelId="{53BC79CF-EBA7-46F6-A928-DFE645FAABF1}" type="presParOf" srcId="{065E34AC-BA68-44D6-B238-C0A8A6D44A85}" destId="{F866D68C-AFE9-4D6F-BCE9-00FEE3BD389A}" srcOrd="0" destOrd="0" presId="urn:microsoft.com/office/officeart/2005/8/layout/chevron1"/>
    <dgm:cxn modelId="{9D51CA78-72A6-47ED-A358-8674B7195506}" type="presParOf" srcId="{065E34AC-BA68-44D6-B238-C0A8A6D44A85}" destId="{7D4C3117-8004-4B56-A13B-FFE2CB299757}" srcOrd="1" destOrd="0" presId="urn:microsoft.com/office/officeart/2005/8/layout/chevron1"/>
    <dgm:cxn modelId="{F6857E3E-9B6E-4159-86B8-D4CAFC486F48}" type="presParOf" srcId="{065E34AC-BA68-44D6-B238-C0A8A6D44A85}" destId="{62F1817A-EF44-4D36-9920-08357D142439}" srcOrd="2" destOrd="0" presId="urn:microsoft.com/office/officeart/2005/8/layout/chevron1"/>
    <dgm:cxn modelId="{B9467ACA-3B5C-408C-9545-4C24BBFC5F49}" type="presParOf" srcId="{065E34AC-BA68-44D6-B238-C0A8A6D44A85}" destId="{BB694FEF-36E6-44CB-8D04-5AB69763D64C}" srcOrd="3" destOrd="0" presId="urn:microsoft.com/office/officeart/2005/8/layout/chevron1"/>
    <dgm:cxn modelId="{69205A14-648A-4455-A790-BE0603500557}" type="presParOf" srcId="{065E34AC-BA68-44D6-B238-C0A8A6D44A85}" destId="{8663295F-4F81-4AD5-B06E-8A583F718F53}" srcOrd="4" destOrd="0" presId="urn:microsoft.com/office/officeart/2005/8/layout/chevron1"/>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203B83-A926-476D-8B95-7BCFB9CEA1EC}" type="doc">
      <dgm:prSet loTypeId="urn:microsoft.com/office/officeart/2005/8/layout/chevron1" loCatId="process" qsTypeId="urn:microsoft.com/office/officeart/2005/8/quickstyle/simple4#4" qsCatId="simple" csTypeId="urn:microsoft.com/office/officeart/2005/8/colors/accent1_4#3" csCatId="accent1" phldr="1"/>
      <dgm:spPr/>
    </dgm:pt>
    <dgm:pt modelId="{4545A3F5-BABF-4140-820D-BC1CB774281E}">
      <dgm:prSet phldrT="[文本]" custT="1"/>
      <dgm:spPr>
        <a:xfrm>
          <a:off x="1378" y="111897"/>
          <a:ext cx="1679081" cy="671632"/>
        </a:xfrm>
        <a:gradFill rotWithShape="0">
          <a:gsLst>
            <a:gs pos="0">
              <a:srgbClr val="4F81BD">
                <a:shade val="50000"/>
                <a:hueOff val="0"/>
                <a:satOff val="0"/>
                <a:lumOff val="0"/>
                <a:alphaOff val="0"/>
                <a:shade val="51000"/>
                <a:satMod val="130000"/>
              </a:srgbClr>
            </a:gs>
            <a:gs pos="80000">
              <a:srgbClr val="4F81BD">
                <a:shade val="50000"/>
                <a:hueOff val="0"/>
                <a:satOff val="0"/>
                <a:lumOff val="0"/>
                <a:alphaOff val="0"/>
                <a:shade val="93000"/>
                <a:satMod val="130000"/>
              </a:srgbClr>
            </a:gs>
            <a:gs pos="100000">
              <a:srgbClr val="4F81BD">
                <a:shade val="5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500" dirty="0">
              <a:solidFill>
                <a:sysClr val="window" lastClr="FFFFFF"/>
              </a:solidFill>
              <a:latin typeface="微软雅黑" panose="020B0503020204020204" pitchFamily="34" charset="-122"/>
              <a:ea typeface="微软雅黑" panose="020B0503020204020204" pitchFamily="34" charset="-122"/>
              <a:cs typeface="+mn-cs"/>
            </a:rPr>
            <a:t>可用性</a:t>
          </a:r>
        </a:p>
      </dgm:t>
    </dgm:pt>
    <dgm:pt modelId="{E2F33AE5-A1C0-4896-B7DE-A1D895361F27}" cxnId="{447663B1-16A8-46A2-826C-2D92CCC9A321}" type="par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9AF3330B-6A85-40A4-91E7-597CA741EB3A}" cxnId="{447663B1-16A8-46A2-826C-2D92CCC9A321}" type="sib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91D9B37C-3E0A-4F6A-95F1-20378D0DCECD}">
      <dgm:prSet phldrT="[文本]" custT="1"/>
      <dgm:spPr>
        <a:xfrm>
          <a:off x="1512551" y="111897"/>
          <a:ext cx="1679081" cy="671632"/>
        </a:xfrm>
        <a:gradFill rotWithShape="0">
          <a:gsLst>
            <a:gs pos="0">
              <a:srgbClr val="4F81BD">
                <a:shade val="50000"/>
                <a:hueOff val="240958"/>
                <a:satOff val="-5018"/>
                <a:lumOff val="28042"/>
                <a:alphaOff val="0"/>
                <a:shade val="51000"/>
                <a:satMod val="130000"/>
              </a:srgbClr>
            </a:gs>
            <a:gs pos="80000">
              <a:srgbClr val="4F81BD">
                <a:shade val="50000"/>
                <a:hueOff val="240958"/>
                <a:satOff val="-5018"/>
                <a:lumOff val="28042"/>
                <a:alphaOff val="0"/>
                <a:shade val="93000"/>
                <a:satMod val="130000"/>
              </a:srgbClr>
            </a:gs>
            <a:gs pos="100000">
              <a:srgbClr val="4F81BD">
                <a:shade val="50000"/>
                <a:hueOff val="240958"/>
                <a:satOff val="-5018"/>
                <a:lumOff val="28042"/>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500" dirty="0">
              <a:solidFill>
                <a:sysClr val="window" lastClr="FFFFFF"/>
              </a:solidFill>
              <a:latin typeface="微软雅黑" panose="020B0503020204020204" pitchFamily="34" charset="-122"/>
              <a:ea typeface="微软雅黑" panose="020B0503020204020204" pitchFamily="34" charset="-122"/>
              <a:cs typeface="+mn-cs"/>
            </a:rPr>
            <a:t>单份数据</a:t>
          </a:r>
        </a:p>
      </dgm:t>
    </dgm:pt>
    <dgm:pt modelId="{A20EBC66-EA03-4514-A82B-5B5F57F030DB}" cxnId="{DE5F4EDA-095B-40E1-92B4-1407BD08A058}" type="par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BCF16CF6-8A58-4011-B8A0-D430DF99AEC9}" cxnId="{DE5F4EDA-095B-40E1-92B4-1407BD08A058}" type="sib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90DFA739-E738-4034-989A-3F3162DFD0DF}">
      <dgm:prSet phldrT="[文本]" custT="1"/>
      <dgm:spPr>
        <a:xfrm>
          <a:off x="3023724" y="111897"/>
          <a:ext cx="1679081" cy="671632"/>
        </a:xfrm>
        <a:gradFill rotWithShape="0">
          <a:gsLst>
            <a:gs pos="0">
              <a:srgbClr val="4F81BD">
                <a:shade val="50000"/>
                <a:hueOff val="240958"/>
                <a:satOff val="-5018"/>
                <a:lumOff val="28042"/>
                <a:alphaOff val="0"/>
                <a:shade val="51000"/>
                <a:satMod val="130000"/>
              </a:srgbClr>
            </a:gs>
            <a:gs pos="80000">
              <a:srgbClr val="4F81BD">
                <a:shade val="50000"/>
                <a:hueOff val="240958"/>
                <a:satOff val="-5018"/>
                <a:lumOff val="28042"/>
                <a:alphaOff val="0"/>
                <a:shade val="93000"/>
                <a:satMod val="130000"/>
              </a:srgbClr>
            </a:gs>
            <a:gs pos="100000">
              <a:srgbClr val="4F81BD">
                <a:shade val="50000"/>
                <a:hueOff val="240958"/>
                <a:satOff val="-5018"/>
                <a:lumOff val="28042"/>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500" dirty="0">
              <a:solidFill>
                <a:sysClr val="window" lastClr="FFFFFF"/>
              </a:solidFill>
              <a:latin typeface="微软雅黑" panose="020B0503020204020204" pitchFamily="34" charset="-122"/>
              <a:ea typeface="微软雅黑" panose="020B0503020204020204" pitchFamily="34" charset="-122"/>
              <a:cs typeface="+mn-cs"/>
            </a:rPr>
            <a:t>数据复制</a:t>
          </a:r>
        </a:p>
      </dgm:t>
    </dgm:pt>
    <dgm:pt modelId="{351AE0A8-83BB-4D52-B255-965645139418}" cxnId="{25141500-B391-44CC-848D-40977DD3A2A3}" type="par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2CAD6F7A-7A6E-4C13-B448-BABA4828AFD6}" cxnId="{25141500-B391-44CC-848D-40977DD3A2A3}" type="sibTrans">
      <dgm:prSet/>
      <dgm:spPr/>
      <dgm:t>
        <a:bodyPr/>
        <a:lstStyle/>
        <a:p>
          <a:endParaRPr lang="zh-CN" altLang="en-US" sz="1500">
            <a:latin typeface="微软雅黑" panose="020B0503020204020204" pitchFamily="34" charset="-122"/>
            <a:ea typeface="微软雅黑" panose="020B0503020204020204" pitchFamily="34" charset="-122"/>
          </a:endParaRPr>
        </a:p>
      </dgm:t>
    </dgm:pt>
    <dgm:pt modelId="{065E34AC-BA68-44D6-B238-C0A8A6D44A85}" type="pres">
      <dgm:prSet presAssocID="{17203B83-A926-476D-8B95-7BCFB9CEA1EC}" presName="Name0" presStyleCnt="0">
        <dgm:presLayoutVars>
          <dgm:dir/>
          <dgm:animLvl val="lvl"/>
          <dgm:resizeHandles val="exact"/>
        </dgm:presLayoutVars>
      </dgm:prSet>
      <dgm:spPr/>
    </dgm:pt>
    <dgm:pt modelId="{F866D68C-AFE9-4D6F-BCE9-00FEE3BD389A}" type="pres">
      <dgm:prSet presAssocID="{4545A3F5-BABF-4140-820D-BC1CB774281E}" presName="parTxOnly" presStyleLbl="node1" presStyleIdx="0" presStyleCnt="3">
        <dgm:presLayoutVars>
          <dgm:chMax val="0"/>
          <dgm:chPref val="0"/>
          <dgm:bulletEnabled val="1"/>
        </dgm:presLayoutVars>
      </dgm:prSet>
      <dgm:spPr>
        <a:prstGeom prst="chevron">
          <a:avLst/>
        </a:prstGeom>
      </dgm:spPr>
    </dgm:pt>
    <dgm:pt modelId="{7D4C3117-8004-4B56-A13B-FFE2CB299757}" type="pres">
      <dgm:prSet presAssocID="{9AF3330B-6A85-40A4-91E7-597CA741EB3A}" presName="parTxOnlySpace" presStyleCnt="0"/>
      <dgm:spPr/>
    </dgm:pt>
    <dgm:pt modelId="{62F1817A-EF44-4D36-9920-08357D142439}" type="pres">
      <dgm:prSet presAssocID="{91D9B37C-3E0A-4F6A-95F1-20378D0DCECD}" presName="parTxOnly" presStyleLbl="node1" presStyleIdx="1" presStyleCnt="3">
        <dgm:presLayoutVars>
          <dgm:chMax val="0"/>
          <dgm:chPref val="0"/>
          <dgm:bulletEnabled val="1"/>
        </dgm:presLayoutVars>
      </dgm:prSet>
      <dgm:spPr>
        <a:prstGeom prst="chevron">
          <a:avLst/>
        </a:prstGeom>
      </dgm:spPr>
    </dgm:pt>
    <dgm:pt modelId="{BB694FEF-36E6-44CB-8D04-5AB69763D64C}" type="pres">
      <dgm:prSet presAssocID="{BCF16CF6-8A58-4011-B8A0-D430DF99AEC9}" presName="parTxOnlySpace" presStyleCnt="0"/>
      <dgm:spPr/>
    </dgm:pt>
    <dgm:pt modelId="{8663295F-4F81-4AD5-B06E-8A583F718F53}" type="pres">
      <dgm:prSet presAssocID="{90DFA739-E738-4034-989A-3F3162DFD0DF}" presName="parTxOnly" presStyleLbl="node1" presStyleIdx="2" presStyleCnt="3">
        <dgm:presLayoutVars>
          <dgm:chMax val="0"/>
          <dgm:chPref val="0"/>
          <dgm:bulletEnabled val="1"/>
        </dgm:presLayoutVars>
      </dgm:prSet>
      <dgm:spPr>
        <a:prstGeom prst="chevron">
          <a:avLst/>
        </a:prstGeom>
      </dgm:spPr>
    </dgm:pt>
  </dgm:ptLst>
  <dgm:cxnLst>
    <dgm:cxn modelId="{25141500-B391-44CC-848D-40977DD3A2A3}" srcId="{17203B83-A926-476D-8B95-7BCFB9CEA1EC}" destId="{90DFA739-E738-4034-989A-3F3162DFD0DF}" srcOrd="2" destOrd="0" parTransId="{351AE0A8-83BB-4D52-B255-965645139418}" sibTransId="{2CAD6F7A-7A6E-4C13-B448-BABA4828AFD6}"/>
    <dgm:cxn modelId="{16385B00-F432-461F-80D8-82D7B5993F08}" type="presOf" srcId="{91D9B37C-3E0A-4F6A-95F1-20378D0DCECD}" destId="{62F1817A-EF44-4D36-9920-08357D142439}" srcOrd="0" destOrd="0" presId="urn:microsoft.com/office/officeart/2005/8/layout/chevron1"/>
    <dgm:cxn modelId="{3EE2D742-5BD9-45CC-B96A-0A0C4BBFBFF3}" type="presOf" srcId="{4545A3F5-BABF-4140-820D-BC1CB774281E}" destId="{F866D68C-AFE9-4D6F-BCE9-00FEE3BD389A}" srcOrd="0" destOrd="0" presId="urn:microsoft.com/office/officeart/2005/8/layout/chevron1"/>
    <dgm:cxn modelId="{447663B1-16A8-46A2-826C-2D92CCC9A321}" srcId="{17203B83-A926-476D-8B95-7BCFB9CEA1EC}" destId="{4545A3F5-BABF-4140-820D-BC1CB774281E}" srcOrd="0" destOrd="0" parTransId="{E2F33AE5-A1C0-4896-B7DE-A1D895361F27}" sibTransId="{9AF3330B-6A85-40A4-91E7-597CA741EB3A}"/>
    <dgm:cxn modelId="{845C3CC4-8ECC-4805-A0A3-67EEDB4B4EA6}" type="presOf" srcId="{17203B83-A926-476D-8B95-7BCFB9CEA1EC}" destId="{065E34AC-BA68-44D6-B238-C0A8A6D44A85}" srcOrd="0" destOrd="0" presId="urn:microsoft.com/office/officeart/2005/8/layout/chevron1"/>
    <dgm:cxn modelId="{DE5F4EDA-095B-40E1-92B4-1407BD08A058}" srcId="{17203B83-A926-476D-8B95-7BCFB9CEA1EC}" destId="{91D9B37C-3E0A-4F6A-95F1-20378D0DCECD}" srcOrd="1" destOrd="0" parTransId="{A20EBC66-EA03-4514-A82B-5B5F57F030DB}" sibTransId="{BCF16CF6-8A58-4011-B8A0-D430DF99AEC9}"/>
    <dgm:cxn modelId="{C212C1E5-70E8-4ED8-AC10-25864C32FE62}" type="presOf" srcId="{90DFA739-E738-4034-989A-3F3162DFD0DF}" destId="{8663295F-4F81-4AD5-B06E-8A583F718F53}" srcOrd="0" destOrd="0" presId="urn:microsoft.com/office/officeart/2005/8/layout/chevron1"/>
    <dgm:cxn modelId="{84E5AB96-22A7-493D-B098-25E3FD70DDE3}" type="presParOf" srcId="{065E34AC-BA68-44D6-B238-C0A8A6D44A85}" destId="{F866D68C-AFE9-4D6F-BCE9-00FEE3BD389A}" srcOrd="0" destOrd="0" presId="urn:microsoft.com/office/officeart/2005/8/layout/chevron1"/>
    <dgm:cxn modelId="{85209825-2C46-46B8-8BF3-A293BFDFC47B}" type="presParOf" srcId="{065E34AC-BA68-44D6-B238-C0A8A6D44A85}" destId="{7D4C3117-8004-4B56-A13B-FFE2CB299757}" srcOrd="1" destOrd="0" presId="urn:microsoft.com/office/officeart/2005/8/layout/chevron1"/>
    <dgm:cxn modelId="{D9981E08-4E04-48E6-BCA5-03EB95B289F9}" type="presParOf" srcId="{065E34AC-BA68-44D6-B238-C0A8A6D44A85}" destId="{62F1817A-EF44-4D36-9920-08357D142439}" srcOrd="2" destOrd="0" presId="urn:microsoft.com/office/officeart/2005/8/layout/chevron1"/>
    <dgm:cxn modelId="{F998CE7F-E391-4C8F-A8C0-80D2E5E503BD}" type="presParOf" srcId="{065E34AC-BA68-44D6-B238-C0A8A6D44A85}" destId="{BB694FEF-36E6-44CB-8D04-5AB69763D64C}" srcOrd="3" destOrd="0" presId="urn:microsoft.com/office/officeart/2005/8/layout/chevron1"/>
    <dgm:cxn modelId="{CE5BA83B-DABA-4337-A0D2-A746F770336D}" type="presParOf" srcId="{065E34AC-BA68-44D6-B238-C0A8A6D44A85}" destId="{8663295F-4F81-4AD5-B06E-8A583F718F53}" srcOrd="4" destOrd="0" presId="urn:microsoft.com/office/officeart/2005/8/layout/chevron1"/>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555AC6D-4787-47AD-9E48-CE4C638D94F0}" type="doc">
      <dgm:prSet loTypeId="urn:microsoft.com/office/officeart/2005/8/layout/vList5" loCatId="list" qsTypeId="urn:microsoft.com/office/officeart/2005/8/quickstyle/simple4#5" qsCatId="simple" csTypeId="urn:microsoft.com/office/officeart/2005/8/colors/accent1_2#2" csCatId="accent1" phldr="1"/>
      <dgm:spPr/>
      <dgm:t>
        <a:bodyPr/>
        <a:lstStyle/>
        <a:p>
          <a:endParaRPr lang="zh-CN" altLang="en-US"/>
        </a:p>
      </dgm:t>
    </dgm:pt>
    <dgm:pt modelId="{2797A7D4-4E61-40D1-93E3-AF4F1BD5C0B7}">
      <dgm:prSet phldrT="[文本]" custT="1"/>
      <dgm:spPr>
        <a:xfrm>
          <a:off x="72008" y="0"/>
          <a:ext cx="1249682" cy="936104"/>
        </a:xfr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a:lstStyle/>
        <a:p>
          <a:r>
            <a:rPr lang="zh-CN" altLang="en-US" sz="1800" dirty="0">
              <a:solidFill>
                <a:sysClr val="window" lastClr="FFFFFF"/>
              </a:solidFill>
              <a:latin typeface="微软雅黑" panose="020B0503020204020204" pitchFamily="34" charset="-122"/>
              <a:ea typeface="微软雅黑" panose="020B0503020204020204" pitchFamily="34" charset="-122"/>
              <a:cs typeface="+mn-cs"/>
            </a:rPr>
            <a:t>一致性</a:t>
          </a:r>
        </a:p>
      </dgm:t>
    </dgm:pt>
    <dgm:pt modelId="{E7A53DD4-1817-4993-B75B-94AB940BA012}" cxnId="{067FE6BF-51D7-44CD-B9AD-A6B523D06769}"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4D095F95-99E7-42BE-87AF-E297AA795FB5}" cxnId="{067FE6BF-51D7-44CD-B9AD-A6B523D06769}"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D15FA64C-63DE-440D-ACAA-10812E000386}">
      <dgm:prSet phldrT="[文本]" custT="1"/>
      <dgm:spPr>
        <a:xfrm rot="5400000">
          <a:off x="2626663" y="-1211362"/>
          <a:ext cx="748883" cy="3358828"/>
        </a:xfr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ln>
        <a:effectLst/>
      </dgm:spPr>
      <dgm:t>
        <a:bodyPr/>
        <a:lstStyle/>
        <a:p>
          <a:r>
            <a:rPr lang="zh-CN" altLang="en-US" sz="16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不使用分布式事务处理</a:t>
          </a:r>
        </a:p>
      </dgm:t>
    </dgm:pt>
    <dgm:pt modelId="{666A1211-4231-4E7B-8AEF-625FC8D72BBC}" cxnId="{2172E5AA-DC8D-4AF8-BEA0-45080B11696B}" type="par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AE0FAA1F-0F65-4AFC-BF12-DAAF2DD855F6}" cxnId="{2172E5AA-DC8D-4AF8-BEA0-45080B11696B}" type="sibTrans">
      <dgm:prSet/>
      <dgm:spPr/>
      <dgm:t>
        <a:bodyPr/>
        <a:lstStyle/>
        <a:p>
          <a:endParaRPr lang="zh-CN" altLang="en-US" sz="1200">
            <a:latin typeface="微软雅黑" panose="020B0503020204020204" pitchFamily="34" charset="-122"/>
            <a:ea typeface="微软雅黑" panose="020B0503020204020204" pitchFamily="34" charset="-122"/>
          </a:endParaRPr>
        </a:p>
      </dgm:t>
    </dgm:pt>
    <dgm:pt modelId="{5D04DF0F-94F8-4648-B35C-C0360BEB77C0}" type="pres">
      <dgm:prSet presAssocID="{F555AC6D-4787-47AD-9E48-CE4C638D94F0}" presName="Name0" presStyleCnt="0">
        <dgm:presLayoutVars>
          <dgm:dir/>
          <dgm:animLvl val="lvl"/>
          <dgm:resizeHandles val="exact"/>
        </dgm:presLayoutVars>
      </dgm:prSet>
      <dgm:spPr/>
    </dgm:pt>
    <dgm:pt modelId="{C92CCEB9-BAA0-457A-9793-E7B820FE3EE4}" type="pres">
      <dgm:prSet presAssocID="{2797A7D4-4E61-40D1-93E3-AF4F1BD5C0B7}" presName="linNode" presStyleCnt="0"/>
      <dgm:spPr/>
    </dgm:pt>
    <dgm:pt modelId="{83D4B7AE-E043-4B55-AC4D-C59EA7CF4107}" type="pres">
      <dgm:prSet presAssocID="{2797A7D4-4E61-40D1-93E3-AF4F1BD5C0B7}" presName="parentText" presStyleLbl="node1" presStyleIdx="0" presStyleCnt="1" custScaleX="73042">
        <dgm:presLayoutVars>
          <dgm:chMax val="1"/>
          <dgm:bulletEnabled val="1"/>
        </dgm:presLayoutVars>
      </dgm:prSet>
      <dgm:spPr>
        <a:prstGeom prst="roundRect">
          <a:avLst/>
        </a:prstGeom>
      </dgm:spPr>
    </dgm:pt>
    <dgm:pt modelId="{975FEA16-8DEB-4B31-98C4-CD92758D0BD6}" type="pres">
      <dgm:prSet presAssocID="{2797A7D4-4E61-40D1-93E3-AF4F1BD5C0B7}" presName="descendantText" presStyleLbl="alignAccFollowNode1" presStyleIdx="0" presStyleCnt="1" custScaleX="110429">
        <dgm:presLayoutVars>
          <dgm:bulletEnabled val="1"/>
        </dgm:presLayoutVars>
      </dgm:prSet>
      <dgm:spPr>
        <a:prstGeom prst="round2SameRect">
          <a:avLst/>
        </a:prstGeom>
      </dgm:spPr>
    </dgm:pt>
  </dgm:ptLst>
  <dgm:cxnLst>
    <dgm:cxn modelId="{1857E036-4DCA-4F05-9400-4256DB21DC2F}" type="presOf" srcId="{D15FA64C-63DE-440D-ACAA-10812E000386}" destId="{975FEA16-8DEB-4B31-98C4-CD92758D0BD6}" srcOrd="0" destOrd="0" presId="urn:microsoft.com/office/officeart/2005/8/layout/vList5"/>
    <dgm:cxn modelId="{2172E5AA-DC8D-4AF8-BEA0-45080B11696B}" srcId="{2797A7D4-4E61-40D1-93E3-AF4F1BD5C0B7}" destId="{D15FA64C-63DE-440D-ACAA-10812E000386}" srcOrd="0" destOrd="0" parTransId="{666A1211-4231-4E7B-8AEF-625FC8D72BBC}" sibTransId="{AE0FAA1F-0F65-4AFC-BF12-DAAF2DD855F6}"/>
    <dgm:cxn modelId="{822B4AB9-793B-4BC0-8661-2DFAFEF3DA5C}" type="presOf" srcId="{2797A7D4-4E61-40D1-93E3-AF4F1BD5C0B7}" destId="{83D4B7AE-E043-4B55-AC4D-C59EA7CF4107}" srcOrd="0" destOrd="0" presId="urn:microsoft.com/office/officeart/2005/8/layout/vList5"/>
    <dgm:cxn modelId="{067FE6BF-51D7-44CD-B9AD-A6B523D06769}" srcId="{F555AC6D-4787-47AD-9E48-CE4C638D94F0}" destId="{2797A7D4-4E61-40D1-93E3-AF4F1BD5C0B7}" srcOrd="0" destOrd="0" parTransId="{E7A53DD4-1817-4993-B75B-94AB940BA012}" sibTransId="{4D095F95-99E7-42BE-87AF-E297AA795FB5}"/>
    <dgm:cxn modelId="{76EE89C8-9C63-4ED3-8EBE-92456964D0F0}" type="presOf" srcId="{F555AC6D-4787-47AD-9E48-CE4C638D94F0}" destId="{5D04DF0F-94F8-4648-B35C-C0360BEB77C0}" srcOrd="0" destOrd="0" presId="urn:microsoft.com/office/officeart/2005/8/layout/vList5"/>
    <dgm:cxn modelId="{7DB84733-29B2-4E24-BE77-5EEB443DCC9C}" type="presParOf" srcId="{5D04DF0F-94F8-4648-B35C-C0360BEB77C0}" destId="{C92CCEB9-BAA0-457A-9793-E7B820FE3EE4}" srcOrd="0" destOrd="0" presId="urn:microsoft.com/office/officeart/2005/8/layout/vList5"/>
    <dgm:cxn modelId="{447F1864-45BF-42AA-8842-62F1CAF0413C}" type="presParOf" srcId="{C92CCEB9-BAA0-457A-9793-E7B820FE3EE4}" destId="{83D4B7AE-E043-4B55-AC4D-C59EA7CF4107}" srcOrd="0" destOrd="0" presId="urn:microsoft.com/office/officeart/2005/8/layout/vList5"/>
    <dgm:cxn modelId="{235B860A-F358-4E3B-A59A-3258B06E520D}" type="presParOf" srcId="{C92CCEB9-BAA0-457A-9793-E7B820FE3EE4}" destId="{975FEA16-8DEB-4B31-98C4-CD92758D0BD6}" srcOrd="1" destOrd="0" presId="urn:microsoft.com/office/officeart/2005/8/layout/vList5"/>
  </dgm:cxnLst>
  <dgm:bg/>
  <dgm:whole/>
  <dgm:extLst>
    <a:ext uri="http://schemas.microsoft.com/office/drawing/2008/diagram">
      <dsp:dataModelExt xmlns:dsp="http://schemas.microsoft.com/office/drawing/2008/diagram" relId="rId2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EA16-8DEB-4B31-98C4-CD92758D0BD6}">
      <dsp:nvSpPr>
        <dsp:cNvPr id="0" name=""/>
        <dsp:cNvSpPr/>
      </dsp:nvSpPr>
      <dsp:spPr>
        <a:xfrm rot="5400000">
          <a:off x="2356047" y="-881886"/>
          <a:ext cx="835404" cy="2811192"/>
        </a:xfrm>
        <a:prstGeom prst="round2SameRect">
          <a:avLst/>
        </a:prstGeo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增量式的、几乎无限的扩展</a:t>
          </a:r>
        </a:p>
      </dsp:txBody>
      <dsp:txXfrm rot="-5400000">
        <a:off x="1368154" y="146788"/>
        <a:ext cx="2770411" cy="753842"/>
      </dsp:txXfrm>
    </dsp:sp>
    <dsp:sp modelId="{83D4B7AE-E043-4B55-AC4D-C59EA7CF4107}">
      <dsp:nvSpPr>
        <dsp:cNvPr id="0" name=""/>
        <dsp:cNvSpPr/>
      </dsp:nvSpPr>
      <dsp:spPr>
        <a:xfrm>
          <a:off x="213142" y="1582"/>
          <a:ext cx="1155010" cy="1044255"/>
        </a:xfrm>
        <a:prstGeom prst="roundRect">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 lastClr="FFFFFF"/>
              </a:solidFill>
              <a:latin typeface="微软雅黑" panose="020B0503020204020204" pitchFamily="34" charset="-122"/>
              <a:ea typeface="微软雅黑" panose="020B0503020204020204" pitchFamily="34" charset="-122"/>
              <a:cs typeface="+mn-cs"/>
            </a:rPr>
            <a:t>扩展性</a:t>
          </a:r>
        </a:p>
      </dsp:txBody>
      <dsp:txXfrm>
        <a:off x="264118" y="52558"/>
        <a:ext cx="1053058" cy="942303"/>
      </dsp:txXfrm>
    </dsp:sp>
    <dsp:sp modelId="{E80ED039-166B-42D6-BF76-0BA0B9A5D4B0}">
      <dsp:nvSpPr>
        <dsp:cNvPr id="0" name=""/>
        <dsp:cNvSpPr/>
      </dsp:nvSpPr>
      <dsp:spPr>
        <a:xfrm rot="5400000">
          <a:off x="2356047" y="214581"/>
          <a:ext cx="835404" cy="2811192"/>
        </a:xfrm>
        <a:prstGeom prst="round2SameRect">
          <a:avLst/>
        </a:prstGeo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要求系统总是在线运行</a:t>
          </a:r>
        </a:p>
      </dsp:txBody>
      <dsp:txXfrm rot="-5400000">
        <a:off x="1368154" y="1243256"/>
        <a:ext cx="2770411" cy="753842"/>
      </dsp:txXfrm>
    </dsp:sp>
    <dsp:sp modelId="{BC29B021-3A1B-4F56-A49B-B4316EBCCE0C}">
      <dsp:nvSpPr>
        <dsp:cNvPr id="0" name=""/>
        <dsp:cNvSpPr/>
      </dsp:nvSpPr>
      <dsp:spPr>
        <a:xfrm>
          <a:off x="213142" y="1098049"/>
          <a:ext cx="1155010" cy="1044255"/>
        </a:xfrm>
        <a:prstGeom prst="roundRect">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 lastClr="FFFFFF"/>
              </a:solidFill>
              <a:latin typeface="微软雅黑" panose="020B0503020204020204" pitchFamily="34" charset="-122"/>
              <a:ea typeface="微软雅黑" panose="020B0503020204020204" pitchFamily="34" charset="-122"/>
              <a:cs typeface="+mn-cs"/>
            </a:rPr>
            <a:t>可用性</a:t>
          </a:r>
        </a:p>
      </dsp:txBody>
      <dsp:txXfrm>
        <a:off x="264118" y="1149025"/>
        <a:ext cx="1053058" cy="942303"/>
      </dsp:txXfrm>
    </dsp:sp>
    <dsp:sp modelId="{7DD8BAA6-5178-4F0B-B485-3B76F8D076E2}">
      <dsp:nvSpPr>
        <dsp:cNvPr id="0" name=""/>
        <dsp:cNvSpPr/>
      </dsp:nvSpPr>
      <dsp:spPr>
        <a:xfrm rot="5400000">
          <a:off x="2356047" y="1311048"/>
          <a:ext cx="835404" cy="2811192"/>
        </a:xfrm>
        <a:prstGeom prst="round2SameRect">
          <a:avLst/>
        </a:prstGeo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灵活可动态改变的数据模型</a:t>
          </a:r>
        </a:p>
      </dsp:txBody>
      <dsp:txXfrm rot="-5400000">
        <a:off x="1368154" y="2339723"/>
        <a:ext cx="2770411" cy="753842"/>
      </dsp:txXfrm>
    </dsp:sp>
    <dsp:sp modelId="{0D492314-6C0B-44B0-ADF6-EAA090209580}">
      <dsp:nvSpPr>
        <dsp:cNvPr id="0" name=""/>
        <dsp:cNvSpPr/>
      </dsp:nvSpPr>
      <dsp:spPr>
        <a:xfrm>
          <a:off x="213142" y="2194517"/>
          <a:ext cx="1155010" cy="1044255"/>
        </a:xfrm>
        <a:prstGeom prst="roundRect">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 lastClr="FFFFFF"/>
              </a:solidFill>
              <a:latin typeface="微软雅黑" panose="020B0503020204020204" pitchFamily="34" charset="-122"/>
              <a:ea typeface="微软雅黑" panose="020B0503020204020204" pitchFamily="34" charset="-122"/>
              <a:cs typeface="+mn-cs"/>
            </a:rPr>
            <a:t>灵活性</a:t>
          </a:r>
        </a:p>
      </dsp:txBody>
      <dsp:txXfrm>
        <a:off x="264118" y="2245493"/>
        <a:ext cx="1053058" cy="9423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6D68C-AFE9-4D6F-BCE9-00FEE3BD389A}">
      <dsp:nvSpPr>
        <dsp:cNvPr id="0" name=""/>
        <dsp:cNvSpPr/>
      </dsp:nvSpPr>
      <dsp:spPr>
        <a:xfrm>
          <a:off x="1378" y="111897"/>
          <a:ext cx="1679081" cy="671632"/>
        </a:xfrm>
        <a:prstGeom prst="chevron">
          <a:avLst/>
        </a:prstGeom>
        <a:gradFill rotWithShape="0">
          <a:gsLst>
            <a:gs pos="0">
              <a:srgbClr val="4F81BD">
                <a:shade val="50000"/>
                <a:hueOff val="0"/>
                <a:satOff val="0"/>
                <a:lumOff val="0"/>
                <a:alphaOff val="0"/>
                <a:shade val="51000"/>
                <a:satMod val="130000"/>
              </a:srgbClr>
            </a:gs>
            <a:gs pos="80000">
              <a:srgbClr val="4F81BD">
                <a:shade val="50000"/>
                <a:hueOff val="0"/>
                <a:satOff val="0"/>
                <a:lumOff val="0"/>
                <a:alphaOff val="0"/>
                <a:shade val="93000"/>
                <a:satMod val="130000"/>
              </a:srgbClr>
            </a:gs>
            <a:gs pos="100000">
              <a:srgbClr val="4F81BD">
                <a:shade val="5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扩展性</a:t>
          </a:r>
        </a:p>
      </dsp:txBody>
      <dsp:txXfrm>
        <a:off x="337194" y="111897"/>
        <a:ext cx="1007449" cy="671632"/>
      </dsp:txXfrm>
    </dsp:sp>
    <dsp:sp modelId="{62F1817A-EF44-4D36-9920-08357D142439}">
      <dsp:nvSpPr>
        <dsp:cNvPr id="0" name=""/>
        <dsp:cNvSpPr/>
      </dsp:nvSpPr>
      <dsp:spPr>
        <a:xfrm>
          <a:off x="1512551" y="111897"/>
          <a:ext cx="1679081" cy="671632"/>
        </a:xfrm>
        <a:prstGeom prst="chevron">
          <a:avLst/>
        </a:prstGeom>
        <a:gradFill rotWithShape="0">
          <a:gsLst>
            <a:gs pos="0">
              <a:srgbClr val="4F81BD">
                <a:shade val="50000"/>
                <a:hueOff val="240958"/>
                <a:satOff val="-5019"/>
                <a:lumOff val="28042"/>
                <a:alphaOff val="0"/>
                <a:shade val="51000"/>
                <a:satMod val="130000"/>
              </a:srgbClr>
            </a:gs>
            <a:gs pos="80000">
              <a:srgbClr val="4F81BD">
                <a:shade val="50000"/>
                <a:hueOff val="240958"/>
                <a:satOff val="-5019"/>
                <a:lumOff val="28042"/>
                <a:alphaOff val="0"/>
                <a:shade val="93000"/>
                <a:satMod val="130000"/>
              </a:srgbClr>
            </a:gs>
            <a:gs pos="100000">
              <a:srgbClr val="4F81BD">
                <a:shade val="50000"/>
                <a:hueOff val="240958"/>
                <a:satOff val="-5019"/>
                <a:lumOff val="28042"/>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纵向扩展</a:t>
          </a:r>
        </a:p>
      </dsp:txBody>
      <dsp:txXfrm>
        <a:off x="1848367" y="111897"/>
        <a:ext cx="1007449" cy="671632"/>
      </dsp:txXfrm>
    </dsp:sp>
    <dsp:sp modelId="{8663295F-4F81-4AD5-B06E-8A583F718F53}">
      <dsp:nvSpPr>
        <dsp:cNvPr id="0" name=""/>
        <dsp:cNvSpPr/>
      </dsp:nvSpPr>
      <dsp:spPr>
        <a:xfrm>
          <a:off x="3023724" y="111897"/>
          <a:ext cx="1679081" cy="671632"/>
        </a:xfrm>
        <a:prstGeom prst="chevron">
          <a:avLst/>
        </a:prstGeom>
        <a:gradFill rotWithShape="0">
          <a:gsLst>
            <a:gs pos="0">
              <a:srgbClr val="4F81BD">
                <a:shade val="50000"/>
                <a:hueOff val="240958"/>
                <a:satOff val="-5019"/>
                <a:lumOff val="28042"/>
                <a:alphaOff val="0"/>
                <a:shade val="51000"/>
                <a:satMod val="130000"/>
              </a:srgbClr>
            </a:gs>
            <a:gs pos="80000">
              <a:srgbClr val="4F81BD">
                <a:shade val="50000"/>
                <a:hueOff val="240958"/>
                <a:satOff val="-5019"/>
                <a:lumOff val="28042"/>
                <a:alphaOff val="0"/>
                <a:shade val="93000"/>
                <a:satMod val="130000"/>
              </a:srgbClr>
            </a:gs>
            <a:gs pos="100000">
              <a:srgbClr val="4F81BD">
                <a:shade val="50000"/>
                <a:hueOff val="240958"/>
                <a:satOff val="-5019"/>
                <a:lumOff val="28042"/>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横向扩展</a:t>
          </a:r>
        </a:p>
      </dsp:txBody>
      <dsp:txXfrm>
        <a:off x="3359540" y="111897"/>
        <a:ext cx="1007449" cy="6716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6D68C-AFE9-4D6F-BCE9-00FEE3BD389A}">
      <dsp:nvSpPr>
        <dsp:cNvPr id="0" name=""/>
        <dsp:cNvSpPr/>
      </dsp:nvSpPr>
      <dsp:spPr>
        <a:xfrm>
          <a:off x="1378" y="111898"/>
          <a:ext cx="1679079" cy="671631"/>
        </a:xfrm>
        <a:prstGeom prst="chevron">
          <a:avLst/>
        </a:prstGeom>
        <a:gradFill rotWithShape="0">
          <a:gsLst>
            <a:gs pos="0">
              <a:srgbClr val="4F81BD">
                <a:shade val="50000"/>
                <a:hueOff val="0"/>
                <a:satOff val="0"/>
                <a:lumOff val="0"/>
                <a:alphaOff val="0"/>
                <a:shade val="51000"/>
                <a:satMod val="130000"/>
              </a:srgbClr>
            </a:gs>
            <a:gs pos="80000">
              <a:srgbClr val="4F81BD">
                <a:shade val="50000"/>
                <a:hueOff val="0"/>
                <a:satOff val="0"/>
                <a:lumOff val="0"/>
                <a:alphaOff val="0"/>
                <a:shade val="93000"/>
                <a:satMod val="130000"/>
              </a:srgbClr>
            </a:gs>
            <a:gs pos="100000">
              <a:srgbClr val="4F81BD">
                <a:shade val="5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分布式</a:t>
          </a:r>
        </a:p>
      </dsp:txBody>
      <dsp:txXfrm>
        <a:off x="337194" y="111898"/>
        <a:ext cx="1007448" cy="671631"/>
      </dsp:txXfrm>
    </dsp:sp>
    <dsp:sp modelId="{62F1817A-EF44-4D36-9920-08357D142439}">
      <dsp:nvSpPr>
        <dsp:cNvPr id="0" name=""/>
        <dsp:cNvSpPr/>
      </dsp:nvSpPr>
      <dsp:spPr>
        <a:xfrm>
          <a:off x="1512549" y="111898"/>
          <a:ext cx="1679079" cy="671631"/>
        </a:xfrm>
        <a:prstGeom prst="chevron">
          <a:avLst/>
        </a:prstGeom>
        <a:gradFill rotWithShape="0">
          <a:gsLst>
            <a:gs pos="0">
              <a:srgbClr val="4F81BD">
                <a:shade val="50000"/>
                <a:hueOff val="240958"/>
                <a:satOff val="-5019"/>
                <a:lumOff val="28042"/>
                <a:alphaOff val="0"/>
                <a:shade val="51000"/>
                <a:satMod val="130000"/>
              </a:srgbClr>
            </a:gs>
            <a:gs pos="80000">
              <a:srgbClr val="4F81BD">
                <a:shade val="50000"/>
                <a:hueOff val="240958"/>
                <a:satOff val="-5019"/>
                <a:lumOff val="28042"/>
                <a:alphaOff val="0"/>
                <a:shade val="93000"/>
                <a:satMod val="130000"/>
              </a:srgbClr>
            </a:gs>
            <a:gs pos="100000">
              <a:srgbClr val="4F81BD">
                <a:shade val="50000"/>
                <a:hueOff val="240958"/>
                <a:satOff val="-5019"/>
                <a:lumOff val="28042"/>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资源集中</a:t>
          </a:r>
        </a:p>
      </dsp:txBody>
      <dsp:txXfrm>
        <a:off x="1848365" y="111898"/>
        <a:ext cx="1007448" cy="671631"/>
      </dsp:txXfrm>
    </dsp:sp>
    <dsp:sp modelId="{8663295F-4F81-4AD5-B06E-8A583F718F53}">
      <dsp:nvSpPr>
        <dsp:cNvPr id="0" name=""/>
        <dsp:cNvSpPr/>
      </dsp:nvSpPr>
      <dsp:spPr>
        <a:xfrm>
          <a:off x="3023721" y="111898"/>
          <a:ext cx="1679079" cy="671631"/>
        </a:xfrm>
        <a:prstGeom prst="chevron">
          <a:avLst/>
        </a:prstGeom>
        <a:gradFill rotWithShape="0">
          <a:gsLst>
            <a:gs pos="0">
              <a:srgbClr val="4F81BD">
                <a:shade val="50000"/>
                <a:hueOff val="240958"/>
                <a:satOff val="-5019"/>
                <a:lumOff val="28042"/>
                <a:alphaOff val="0"/>
                <a:shade val="51000"/>
                <a:satMod val="130000"/>
              </a:srgbClr>
            </a:gs>
            <a:gs pos="80000">
              <a:srgbClr val="4F81BD">
                <a:shade val="50000"/>
                <a:hueOff val="240958"/>
                <a:satOff val="-5019"/>
                <a:lumOff val="28042"/>
                <a:alphaOff val="0"/>
                <a:shade val="93000"/>
                <a:satMod val="130000"/>
              </a:srgbClr>
            </a:gs>
            <a:gs pos="100000">
              <a:srgbClr val="4F81BD">
                <a:shade val="50000"/>
                <a:hueOff val="240958"/>
                <a:satOff val="-5019"/>
                <a:lumOff val="28042"/>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计算和存储分布</a:t>
          </a:r>
        </a:p>
      </dsp:txBody>
      <dsp:txXfrm>
        <a:off x="3359537" y="111898"/>
        <a:ext cx="1007448" cy="6716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6D68C-AFE9-4D6F-BCE9-00FEE3BD389A}">
      <dsp:nvSpPr>
        <dsp:cNvPr id="0" name=""/>
        <dsp:cNvSpPr/>
      </dsp:nvSpPr>
      <dsp:spPr>
        <a:xfrm>
          <a:off x="1378" y="111897"/>
          <a:ext cx="1679081" cy="671632"/>
        </a:xfrm>
        <a:prstGeom prst="chevron">
          <a:avLst/>
        </a:prstGeom>
        <a:gradFill rotWithShape="0">
          <a:gsLst>
            <a:gs pos="0">
              <a:srgbClr val="4F81BD">
                <a:shade val="50000"/>
                <a:hueOff val="0"/>
                <a:satOff val="0"/>
                <a:lumOff val="0"/>
                <a:alphaOff val="0"/>
                <a:shade val="51000"/>
                <a:satMod val="130000"/>
              </a:srgbClr>
            </a:gs>
            <a:gs pos="80000">
              <a:srgbClr val="4F81BD">
                <a:shade val="50000"/>
                <a:hueOff val="0"/>
                <a:satOff val="0"/>
                <a:lumOff val="0"/>
                <a:alphaOff val="0"/>
                <a:shade val="93000"/>
                <a:satMod val="130000"/>
              </a:srgbClr>
            </a:gs>
            <a:gs pos="100000">
              <a:srgbClr val="4F81BD">
                <a:shade val="5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可用性</a:t>
          </a:r>
        </a:p>
      </dsp:txBody>
      <dsp:txXfrm>
        <a:off x="337194" y="111897"/>
        <a:ext cx="1007449" cy="671632"/>
      </dsp:txXfrm>
    </dsp:sp>
    <dsp:sp modelId="{62F1817A-EF44-4D36-9920-08357D142439}">
      <dsp:nvSpPr>
        <dsp:cNvPr id="0" name=""/>
        <dsp:cNvSpPr/>
      </dsp:nvSpPr>
      <dsp:spPr>
        <a:xfrm>
          <a:off x="1512551" y="111897"/>
          <a:ext cx="1679081" cy="671632"/>
        </a:xfrm>
        <a:prstGeom prst="chevron">
          <a:avLst/>
        </a:prstGeom>
        <a:gradFill rotWithShape="0">
          <a:gsLst>
            <a:gs pos="0">
              <a:srgbClr val="4F81BD">
                <a:shade val="50000"/>
                <a:hueOff val="240958"/>
                <a:satOff val="-5019"/>
                <a:lumOff val="28042"/>
                <a:alphaOff val="0"/>
                <a:shade val="51000"/>
                <a:satMod val="130000"/>
              </a:srgbClr>
            </a:gs>
            <a:gs pos="80000">
              <a:srgbClr val="4F81BD">
                <a:shade val="50000"/>
                <a:hueOff val="240958"/>
                <a:satOff val="-5019"/>
                <a:lumOff val="28042"/>
                <a:alphaOff val="0"/>
                <a:shade val="93000"/>
                <a:satMod val="130000"/>
              </a:srgbClr>
            </a:gs>
            <a:gs pos="100000">
              <a:srgbClr val="4F81BD">
                <a:shade val="50000"/>
                <a:hueOff val="240958"/>
                <a:satOff val="-5019"/>
                <a:lumOff val="28042"/>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单份数据</a:t>
          </a:r>
        </a:p>
      </dsp:txBody>
      <dsp:txXfrm>
        <a:off x="1848367" y="111897"/>
        <a:ext cx="1007449" cy="671632"/>
      </dsp:txXfrm>
    </dsp:sp>
    <dsp:sp modelId="{8663295F-4F81-4AD5-B06E-8A583F718F53}">
      <dsp:nvSpPr>
        <dsp:cNvPr id="0" name=""/>
        <dsp:cNvSpPr/>
      </dsp:nvSpPr>
      <dsp:spPr>
        <a:xfrm>
          <a:off x="3023724" y="111897"/>
          <a:ext cx="1679081" cy="671632"/>
        </a:xfrm>
        <a:prstGeom prst="chevron">
          <a:avLst/>
        </a:prstGeom>
        <a:gradFill rotWithShape="0">
          <a:gsLst>
            <a:gs pos="0">
              <a:srgbClr val="4F81BD">
                <a:shade val="50000"/>
                <a:hueOff val="240958"/>
                <a:satOff val="-5019"/>
                <a:lumOff val="28042"/>
                <a:alphaOff val="0"/>
                <a:shade val="51000"/>
                <a:satMod val="130000"/>
              </a:srgbClr>
            </a:gs>
            <a:gs pos="80000">
              <a:srgbClr val="4F81BD">
                <a:shade val="50000"/>
                <a:hueOff val="240958"/>
                <a:satOff val="-5019"/>
                <a:lumOff val="28042"/>
                <a:alphaOff val="0"/>
                <a:shade val="93000"/>
                <a:satMod val="130000"/>
              </a:srgbClr>
            </a:gs>
            <a:gs pos="100000">
              <a:srgbClr val="4F81BD">
                <a:shade val="50000"/>
                <a:hueOff val="240958"/>
                <a:satOff val="-5019"/>
                <a:lumOff val="28042"/>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zh-CN" altLang="en-US" sz="1500" kern="1200" dirty="0">
              <a:solidFill>
                <a:sysClr val="window" lastClr="FFFFFF"/>
              </a:solidFill>
              <a:latin typeface="微软雅黑" panose="020B0503020204020204" pitchFamily="34" charset="-122"/>
              <a:ea typeface="微软雅黑" panose="020B0503020204020204" pitchFamily="34" charset="-122"/>
              <a:cs typeface="+mn-cs"/>
            </a:rPr>
            <a:t>数据复制</a:t>
          </a:r>
        </a:p>
      </dsp:txBody>
      <dsp:txXfrm>
        <a:off x="3359540" y="111897"/>
        <a:ext cx="1007449" cy="6716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EA16-8DEB-4B31-98C4-CD92758D0BD6}">
      <dsp:nvSpPr>
        <dsp:cNvPr id="0" name=""/>
        <dsp:cNvSpPr/>
      </dsp:nvSpPr>
      <dsp:spPr>
        <a:xfrm rot="5400000">
          <a:off x="2626669" y="-1211365"/>
          <a:ext cx="748883" cy="3358834"/>
        </a:xfrm>
        <a:prstGeom prst="round2SameRect">
          <a:avLst/>
        </a:prstGeom>
        <a:solidFill>
          <a:srgbClr val="4F81BD">
            <a:alpha val="90000"/>
            <a:tint val="40000"/>
            <a:hueOff val="0"/>
            <a:satOff val="0"/>
            <a:lumOff val="0"/>
            <a:alphaOff val="0"/>
          </a:srgbClr>
        </a:solidFill>
        <a:ln w="9525" cap="flat" cmpd="sng" algn="ctr">
          <a:solidFill>
            <a:srgbClr val="4F81BD">
              <a:alpha val="90000"/>
              <a:tint val="40000"/>
              <a:hueOff val="0"/>
              <a:satOff val="0"/>
              <a:lumOff val="0"/>
              <a:alphaOff val="0"/>
            </a:srgb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solidFill>
                <a:sysClr val="windowText" lastClr="000000">
                  <a:hueOff val="0"/>
                  <a:satOff val="0"/>
                  <a:lumOff val="0"/>
                  <a:alphaOff val="0"/>
                </a:sysClr>
              </a:solidFill>
              <a:latin typeface="微软雅黑" panose="020B0503020204020204" pitchFamily="34" charset="-122"/>
              <a:ea typeface="微软雅黑" panose="020B0503020204020204" pitchFamily="34" charset="-122"/>
              <a:cs typeface="+mn-cs"/>
            </a:rPr>
            <a:t>不使用分布式事务处理</a:t>
          </a:r>
        </a:p>
      </dsp:txBody>
      <dsp:txXfrm rot="-5400000">
        <a:off x="1321694" y="130167"/>
        <a:ext cx="3322277" cy="675769"/>
      </dsp:txXfrm>
    </dsp:sp>
    <dsp:sp modelId="{83D4B7AE-E043-4B55-AC4D-C59EA7CF4107}">
      <dsp:nvSpPr>
        <dsp:cNvPr id="0" name=""/>
        <dsp:cNvSpPr/>
      </dsp:nvSpPr>
      <dsp:spPr>
        <a:xfrm>
          <a:off x="72008" y="0"/>
          <a:ext cx="1249685" cy="936104"/>
        </a:xfrm>
        <a:prstGeom prst="roundRect">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 lastClr="FFFFFF"/>
              </a:solidFill>
              <a:latin typeface="微软雅黑" panose="020B0503020204020204" pitchFamily="34" charset="-122"/>
              <a:ea typeface="微软雅黑" panose="020B0503020204020204" pitchFamily="34" charset="-122"/>
              <a:cs typeface="+mn-cs"/>
            </a:rPr>
            <a:t>一致性</a:t>
          </a:r>
        </a:p>
      </dsp:txBody>
      <dsp:txXfrm>
        <a:off x="117705" y="45697"/>
        <a:ext cx="1158291" cy="84471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3">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5">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2" Type="http://schemas.openxmlformats.org/officeDocument/2006/relationships/notesSlide" Target="../notesSlides/notesSlide11.xml"/><Relationship Id="rId21" Type="http://schemas.openxmlformats.org/officeDocument/2006/relationships/slideLayout" Target="../slideLayouts/slideLayout3.xml"/><Relationship Id="rId20" Type="http://schemas.openxmlformats.org/officeDocument/2006/relationships/image" Target="../media/image29.png"/><Relationship Id="rId2" Type="http://schemas.openxmlformats.org/officeDocument/2006/relationships/image" Target="../media/image11.png"/><Relationship Id="rId19" Type="http://schemas.openxmlformats.org/officeDocument/2006/relationships/image" Target="../media/image28.png"/><Relationship Id="rId18" Type="http://schemas.openxmlformats.org/officeDocument/2006/relationships/image" Target="../media/image27.jpeg"/><Relationship Id="rId17" Type="http://schemas.openxmlformats.org/officeDocument/2006/relationships/image" Target="../media/image26.png"/><Relationship Id="rId16" Type="http://schemas.openxmlformats.org/officeDocument/2006/relationships/image" Target="../media/image25.png"/><Relationship Id="rId15" Type="http://schemas.openxmlformats.org/officeDocument/2006/relationships/image" Target="../media/image24.png"/><Relationship Id="rId14" Type="http://schemas.openxmlformats.org/officeDocument/2006/relationships/image" Target="../media/image23.png"/><Relationship Id="rId13" Type="http://schemas.openxmlformats.org/officeDocument/2006/relationships/image" Target="../media/image22.png"/><Relationship Id="rId12" Type="http://schemas.openxmlformats.org/officeDocument/2006/relationships/image" Target="../media/image21.png"/><Relationship Id="rId11" Type="http://schemas.openxmlformats.org/officeDocument/2006/relationships/image" Target="../media/image20.png"/><Relationship Id="rId10" Type="http://schemas.openxmlformats.org/officeDocument/2006/relationships/image" Target="../media/image19.png"/><Relationship Id="rId1" Type="http://schemas.openxmlformats.org/officeDocument/2006/relationships/image" Target="../media/image10.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xml"/><Relationship Id="rId2" Type="http://schemas.openxmlformats.org/officeDocument/2006/relationships/image" Target="../media/image31.wmf"/><Relationship Id="rId1" Type="http://schemas.openxmlformats.org/officeDocument/2006/relationships/image" Target="../media/image30.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32.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3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35.png"/><Relationship Id="rId1" Type="http://schemas.openxmlformats.org/officeDocument/2006/relationships/image" Target="../media/image34.jpe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3.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jpeg"/><Relationship Id="rId7" Type="http://schemas.openxmlformats.org/officeDocument/2006/relationships/image" Target="../media/image46.png"/><Relationship Id="rId6" Type="http://schemas.openxmlformats.org/officeDocument/2006/relationships/image" Target="../media/image45.jpe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0" Type="http://schemas.openxmlformats.org/officeDocument/2006/relationships/notesSlide" Target="../notesSlides/notesSlide18.xml"/><Relationship Id="rId2" Type="http://schemas.openxmlformats.org/officeDocument/2006/relationships/image" Target="../media/image41.png"/><Relationship Id="rId19" Type="http://schemas.openxmlformats.org/officeDocument/2006/relationships/slideLayout" Target="../slideLayouts/slideLayout3.xml"/><Relationship Id="rId18" Type="http://schemas.openxmlformats.org/officeDocument/2006/relationships/image" Target="../media/image57.jpeg"/><Relationship Id="rId17" Type="http://schemas.openxmlformats.org/officeDocument/2006/relationships/image" Target="../media/image56.jpeg"/><Relationship Id="rId16" Type="http://schemas.openxmlformats.org/officeDocument/2006/relationships/image" Target="../media/image55.jpeg"/><Relationship Id="rId15" Type="http://schemas.openxmlformats.org/officeDocument/2006/relationships/image" Target="../media/image54.jpeg"/><Relationship Id="rId14" Type="http://schemas.openxmlformats.org/officeDocument/2006/relationships/image" Target="../media/image53.jpeg"/><Relationship Id="rId13" Type="http://schemas.openxmlformats.org/officeDocument/2006/relationships/image" Target="../media/image52.png"/><Relationship Id="rId12" Type="http://schemas.openxmlformats.org/officeDocument/2006/relationships/image" Target="../media/image51.png"/><Relationship Id="rId11" Type="http://schemas.openxmlformats.org/officeDocument/2006/relationships/image" Target="../media/image50.jpeg"/><Relationship Id="rId10" Type="http://schemas.openxmlformats.org/officeDocument/2006/relationships/image" Target="../media/image49.png"/><Relationship Id="rId1"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3.xml"/><Relationship Id="rId4" Type="http://schemas.openxmlformats.org/officeDocument/2006/relationships/image" Target="../media/image61.jpeg"/><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image" Target="../media/image58.jpe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3.xml"/><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image" Target="../media/image62.jpeg"/></Relationships>
</file>

<file path=ppt/slides/_rels/slide35.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7" Type="http://schemas.openxmlformats.org/officeDocument/2006/relationships/notesSlide" Target="../notesSlides/notesSlide22.xml"/><Relationship Id="rId26" Type="http://schemas.openxmlformats.org/officeDocument/2006/relationships/slideLayout" Target="../slideLayouts/slideLayout3.xml"/><Relationship Id="rId25" Type="http://schemas.microsoft.com/office/2007/relationships/diagramDrawing" Target="../diagrams/drawing5.xml"/><Relationship Id="rId24" Type="http://schemas.openxmlformats.org/officeDocument/2006/relationships/diagramColors" Target="../diagrams/colors5.xml"/><Relationship Id="rId23" Type="http://schemas.openxmlformats.org/officeDocument/2006/relationships/diagramQuickStyle" Target="../diagrams/quickStyle5.xml"/><Relationship Id="rId22" Type="http://schemas.openxmlformats.org/officeDocument/2006/relationships/diagramLayout" Target="../diagrams/layout5.xml"/><Relationship Id="rId21" Type="http://schemas.openxmlformats.org/officeDocument/2006/relationships/diagramData" Target="../diagrams/data5.xml"/><Relationship Id="rId20" Type="http://schemas.microsoft.com/office/2007/relationships/diagramDrawing" Target="../diagrams/drawing4.xml"/><Relationship Id="rId2" Type="http://schemas.openxmlformats.org/officeDocument/2006/relationships/diagramLayout" Target="../diagrams/layout1.xml"/><Relationship Id="rId19" Type="http://schemas.openxmlformats.org/officeDocument/2006/relationships/diagramColors" Target="../diagrams/colors4.xml"/><Relationship Id="rId18" Type="http://schemas.openxmlformats.org/officeDocument/2006/relationships/diagramQuickStyle" Target="../diagrams/quickStyle4.xml"/><Relationship Id="rId17" Type="http://schemas.openxmlformats.org/officeDocument/2006/relationships/diagramLayout" Target="../diagrams/layout4.xml"/><Relationship Id="rId16" Type="http://schemas.openxmlformats.org/officeDocument/2006/relationships/diagramData" Target="../diagrams/data4.xml"/><Relationship Id="rId15" Type="http://schemas.microsoft.com/office/2007/relationships/diagramDrawing" Target="../diagrams/drawing3.xml"/><Relationship Id="rId14" Type="http://schemas.openxmlformats.org/officeDocument/2006/relationships/diagramColors" Target="../diagrams/colors3.xml"/><Relationship Id="rId13" Type="http://schemas.openxmlformats.org/officeDocument/2006/relationships/diagramQuickStyle" Target="../diagrams/quickStyle3.xml"/><Relationship Id="rId12" Type="http://schemas.openxmlformats.org/officeDocument/2006/relationships/diagramLayout" Target="../diagrams/layout3.xml"/><Relationship Id="rId11" Type="http://schemas.openxmlformats.org/officeDocument/2006/relationships/diagramData" Target="../diagrams/data3.xml"/><Relationship Id="rId10" Type="http://schemas.microsoft.com/office/2007/relationships/diagramDrawing" Target="../diagrams/drawing2.xml"/><Relationship Id="rId1" Type="http://schemas.openxmlformats.org/officeDocument/2006/relationships/diagramData" Target="../diagrams/data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6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6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6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3.xml"/><Relationship Id="rId7" Type="http://schemas.openxmlformats.org/officeDocument/2006/relationships/image" Target="../media/image74.png"/><Relationship Id="rId6" Type="http://schemas.openxmlformats.org/officeDocument/2006/relationships/image" Target="../media/image73.jpe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image" Target="../media/image68.jpeg"/></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vmlDrawing" Target="../drawings/vmlDrawing1.vml"/><Relationship Id="rId7" Type="http://schemas.openxmlformats.org/officeDocument/2006/relationships/slideLayout" Target="../slideLayouts/slideLayout3.xml"/><Relationship Id="rId6" Type="http://schemas.openxmlformats.org/officeDocument/2006/relationships/image" Target="../media/image79.png"/><Relationship Id="rId5" Type="http://schemas.openxmlformats.org/officeDocument/2006/relationships/oleObject" Target="../embeddings/oleObject1.bin"/><Relationship Id="rId4" Type="http://schemas.openxmlformats.org/officeDocument/2006/relationships/image" Target="../media/image78.png"/><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image" Target="../media/image75.jpeg"/></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3.xml"/><Relationship Id="rId5" Type="http://schemas.openxmlformats.org/officeDocument/2006/relationships/image" Target="../media/image83.jpeg"/><Relationship Id="rId4" Type="http://schemas.openxmlformats.org/officeDocument/2006/relationships/image" Target="../media/image82.jpeg"/><Relationship Id="rId3" Type="http://schemas.openxmlformats.org/officeDocument/2006/relationships/image" Target="../media/image81.png"/><Relationship Id="rId2" Type="http://schemas.openxmlformats.org/officeDocument/2006/relationships/hyperlink" Target="http://www.amazon.com/AWS-home-page-Money/b/ref=sc_iw_l_0/002-7663803-0308008?ie=UTF8&amp;node=3435361&amp;no=3435361&amp;me=A36L942TSJ2AJA" TargetMode="External"/><Relationship Id="rId1" Type="http://schemas.openxmlformats.org/officeDocument/2006/relationships/image" Target="../media/image8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84.wmf"/><Relationship Id="rId1" Type="http://schemas.openxmlformats.org/officeDocument/2006/relationships/oleObject" Target="../embeddings/oleObject2.bin"/></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85.emf"/><Relationship Id="rId1" Type="http://schemas.openxmlformats.org/officeDocument/2006/relationships/oleObject" Target="../embeddings/oleObject3.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image" Target="../media/image8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image" Target="../media/image87.png"/></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95.jpeg"/><Relationship Id="rId7" Type="http://schemas.openxmlformats.org/officeDocument/2006/relationships/image" Target="../media/image94.png"/><Relationship Id="rId6" Type="http://schemas.openxmlformats.org/officeDocument/2006/relationships/image" Target="../media/image93.jpeg"/><Relationship Id="rId5" Type="http://schemas.openxmlformats.org/officeDocument/2006/relationships/image" Target="../media/image92.jpeg"/><Relationship Id="rId4" Type="http://schemas.openxmlformats.org/officeDocument/2006/relationships/image" Target="../media/image91.jpeg"/><Relationship Id="rId3" Type="http://schemas.openxmlformats.org/officeDocument/2006/relationships/image" Target="../media/image90.jpeg"/><Relationship Id="rId2" Type="http://schemas.openxmlformats.org/officeDocument/2006/relationships/image" Target="../media/image89.jpeg"/><Relationship Id="rId10" Type="http://schemas.openxmlformats.org/officeDocument/2006/relationships/notesSlide" Target="../notesSlides/notesSlide40.xml"/><Relationship Id="rId1" Type="http://schemas.openxmlformats.org/officeDocument/2006/relationships/image" Target="../media/image88.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3.xml"/><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image" Target="../media/image96.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3.xml"/><Relationship Id="rId4" Type="http://schemas.openxmlformats.org/officeDocument/2006/relationships/image" Target="../media/image102.png"/><Relationship Id="rId3" Type="http://schemas.openxmlformats.org/officeDocument/2006/relationships/image" Target="../media/image101.jpeg"/><Relationship Id="rId2" Type="http://schemas.openxmlformats.org/officeDocument/2006/relationships/image" Target="../media/image100.png"/><Relationship Id="rId1" Type="http://schemas.openxmlformats.org/officeDocument/2006/relationships/image" Target="../media/image99.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7" Type="http://schemas.openxmlformats.org/officeDocument/2006/relationships/notesSlide" Target="../notesSlides/notesSlide55.xml"/><Relationship Id="rId6" Type="http://schemas.openxmlformats.org/officeDocument/2006/relationships/slideLayout" Target="../slideLayouts/slideLayout3.xml"/><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image" Target="../media/image103.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xml"/><Relationship Id="rId1" Type="http://schemas.openxmlformats.org/officeDocument/2006/relationships/image" Target="../media/image108.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xml"/><Relationship Id="rId1" Type="http://schemas.openxmlformats.org/officeDocument/2006/relationships/image" Target="../media/image109.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3.xml"/><Relationship Id="rId2" Type="http://schemas.openxmlformats.org/officeDocument/2006/relationships/image" Target="../media/image110.jpeg"/><Relationship Id="rId1" Type="http://schemas.openxmlformats.org/officeDocument/2006/relationships/image" Target="../media/image10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xml"/><Relationship Id="rId1" Type="http://schemas.openxmlformats.org/officeDocument/2006/relationships/image" Target="../media/image111.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3.xml"/><Relationship Id="rId1" Type="http://schemas.openxmlformats.org/officeDocument/2006/relationships/image" Target="../media/image112.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3.xml"/><Relationship Id="rId1" Type="http://schemas.openxmlformats.org/officeDocument/2006/relationships/image" Target="../media/image113.emf"/></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3.xml"/><Relationship Id="rId1" Type="http://schemas.openxmlformats.org/officeDocument/2006/relationships/image" Target="../media/image114.wmf"/></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3.xml"/><Relationship Id="rId1" Type="http://schemas.openxmlformats.org/officeDocument/2006/relationships/image" Target="../media/image115.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3.xml"/><Relationship Id="rId1" Type="http://schemas.openxmlformats.org/officeDocument/2006/relationships/image" Target="../media/image116.emf"/></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3.xml"/><Relationship Id="rId1" Type="http://schemas.openxmlformats.org/officeDocument/2006/relationships/image" Target="../media/image117.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3.xml"/><Relationship Id="rId1" Type="http://schemas.openxmlformats.org/officeDocument/2006/relationships/image" Target="../media/image118.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3.xml"/><Relationship Id="rId1" Type="http://schemas.openxmlformats.org/officeDocument/2006/relationships/image" Target="../media/image119.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3.xml"/><Relationship Id="rId1" Type="http://schemas.openxmlformats.org/officeDocument/2006/relationships/image" Target="../media/image120.jpe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3.xml"/><Relationship Id="rId1" Type="http://schemas.openxmlformats.org/officeDocument/2006/relationships/image" Target="../media/image121.jpe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3.xml"/><Relationship Id="rId1" Type="http://schemas.openxmlformats.org/officeDocument/2006/relationships/image" Target="../media/image122.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3.xml"/><Relationship Id="rId1" Type="http://schemas.openxmlformats.org/officeDocument/2006/relationships/image" Target="../media/image123.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3.xml"/><Relationship Id="rId1" Type="http://schemas.openxmlformats.org/officeDocument/2006/relationships/image" Target="../media/image124.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3.xml"/><Relationship Id="rId1" Type="http://schemas.openxmlformats.org/officeDocument/2006/relationships/image" Target="../media/image125.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3.xml"/><Relationship Id="rId1" Type="http://schemas.openxmlformats.org/officeDocument/2006/relationships/image" Target="../media/image126.jpe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3.xml"/><Relationship Id="rId1" Type="http://schemas.openxmlformats.org/officeDocument/2006/relationships/image" Target="../media/image127.jpe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3.xml"/><Relationship Id="rId1" Type="http://schemas.openxmlformats.org/officeDocument/2006/relationships/image" Target="../media/image127.jpe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3.xml"/><Relationship Id="rId1" Type="http://schemas.openxmlformats.org/officeDocument/2006/relationships/image" Target="../media/image128.emf"/></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3.xml"/><Relationship Id="rId1" Type="http://schemas.openxmlformats.org/officeDocument/2006/relationships/image" Target="../media/image129.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3.xml"/><Relationship Id="rId1" Type="http://schemas.openxmlformats.org/officeDocument/2006/relationships/image" Target="../media/image130.emf"/></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3.xml"/><Relationship Id="rId1" Type="http://schemas.openxmlformats.org/officeDocument/2006/relationships/image" Target="../media/image131.emf"/></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3.xml"/><Relationship Id="rId1" Type="http://schemas.openxmlformats.org/officeDocument/2006/relationships/image" Target="../media/image132.jpeg"/></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3.xml"/><Relationship Id="rId1" Type="http://schemas.openxmlformats.org/officeDocument/2006/relationships/image" Target="../media/image133.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3.xml"/><Relationship Id="rId1" Type="http://schemas.openxmlformats.org/officeDocument/2006/relationships/image" Target="../media/image134.emf"/></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3.xml"/><Relationship Id="rId1" Type="http://schemas.openxmlformats.org/officeDocument/2006/relationships/image" Target="../media/image135.emf"/></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3.xml"/><Relationship Id="rId1" Type="http://schemas.openxmlformats.org/officeDocument/2006/relationships/image" Target="../media/image136.png"/></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3.xml"/><Relationship Id="rId1" Type="http://schemas.openxmlformats.org/officeDocument/2006/relationships/image" Target="../media/image136.png"/></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3.xml"/><Relationship Id="rId1" Type="http://schemas.openxmlformats.org/officeDocument/2006/relationships/image" Target="../media/image137.emf"/></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160.xml"/><Relationship Id="rId2" Type="http://schemas.openxmlformats.org/officeDocument/2006/relationships/slideLayout" Target="../slideLayouts/slideLayout3.xml"/><Relationship Id="rId1" Type="http://schemas.openxmlformats.org/officeDocument/2006/relationships/image" Target="../media/image138.png"/></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3.xml"/><Relationship Id="rId1" Type="http://schemas.openxmlformats.org/officeDocument/2006/relationships/image" Target="../media/image139.emf"/></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ormAutofit/>
          </a:bodyPr>
          <a:lstStyle/>
          <a:p>
            <a:r>
              <a:rPr lang="zh-CN" altLang="en-US" dirty="0"/>
              <a:t>第</a:t>
            </a:r>
            <a:r>
              <a:rPr lang="en-US" altLang="zh-CN" dirty="0"/>
              <a:t>11</a:t>
            </a:r>
            <a:r>
              <a:rPr lang="zh-CN" altLang="en-US" dirty="0"/>
              <a:t>章 大数据与云数据管理</a:t>
            </a:r>
            <a:endParaRPr lang="zh-CN" altLang="en-US" dirty="0"/>
          </a:p>
        </p:txBody>
      </p:sp>
      <p:sp>
        <p:nvSpPr>
          <p:cNvPr id="3" name="副标题 2"/>
          <p:cNvSpPr>
            <a:spLocks noGrp="1"/>
          </p:cNvSpPr>
          <p:nvPr>
            <p:ph type="subTitle" idx="1"/>
          </p:nvPr>
        </p:nvSpPr>
        <p:spPr>
          <a:xfrm>
            <a:off x="1524000" y="3602038"/>
            <a:ext cx="9144000" cy="1655762"/>
          </a:xfrm>
        </p:spPr>
        <p:txBody>
          <a:bodyPr/>
          <a:lstStyle/>
          <a:p>
            <a:r>
              <a:rPr lang="zh-CN" altLang="en-US" dirty="0"/>
              <a:t>西安交通大学计算机科学与技术学院</a:t>
            </a:r>
            <a:r>
              <a:rPr lang="en-US" altLang="zh-CN" dirty="0"/>
              <a:t>	</a:t>
            </a:r>
            <a:r>
              <a:rPr lang="zh-CN" altLang="en-US" dirty="0"/>
              <a:t>任雪斌</a:t>
            </a:r>
            <a:endParaRPr lang="en-US" altLang="zh-CN" dirty="0"/>
          </a:p>
          <a:p>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a:xfrm>
            <a:off x="8610600" y="6356350"/>
            <a:ext cx="2743200" cy="365125"/>
          </a:xfrm>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95959" y="1219202"/>
            <a:ext cx="8200082" cy="4957760"/>
          </a:xfrm>
        </p:spPr>
        <p:txBody>
          <a:bodyPr/>
          <a:lstStyle/>
          <a:p>
            <a:r>
              <a:rPr lang="en-US" altLang="zh-CN" dirty="0"/>
              <a:t>11.1 </a:t>
            </a:r>
            <a:r>
              <a:rPr lang="zh-CN" altLang="en-US" dirty="0"/>
              <a:t>大数据</a:t>
            </a:r>
            <a:endParaRPr lang="en-US" altLang="zh-CN" dirty="0"/>
          </a:p>
          <a:p>
            <a:r>
              <a:rPr lang="en-US" altLang="zh-CN" dirty="0"/>
              <a:t>11.2 </a:t>
            </a:r>
            <a:r>
              <a:rPr lang="zh-CN" altLang="en-US" dirty="0"/>
              <a:t>云计算</a:t>
            </a:r>
            <a:endParaRPr lang="en-US" altLang="zh-CN" dirty="0"/>
          </a:p>
          <a:p>
            <a:r>
              <a:rPr lang="en-US" altLang="zh-CN" dirty="0"/>
              <a:t>11.3 </a:t>
            </a:r>
            <a:r>
              <a:rPr lang="zh-CN" altLang="en-US" dirty="0"/>
              <a:t>云数据管理</a:t>
            </a:r>
            <a:endParaRPr lang="en-US" altLang="zh-CN" dirty="0"/>
          </a:p>
          <a:p>
            <a:r>
              <a:rPr lang="en-US" altLang="zh-CN" dirty="0"/>
              <a:t>11.4 No SQL</a:t>
            </a:r>
            <a:r>
              <a:rPr lang="zh-CN" altLang="en-US" dirty="0"/>
              <a:t>数据库</a:t>
            </a:r>
            <a:endParaRPr lang="zh-CN" altLang="en-US" dirty="0"/>
          </a:p>
        </p:txBody>
      </p:sp>
      <p:sp>
        <p:nvSpPr>
          <p:cNvPr id="5" name="灯片编号占位符 4"/>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2" name="标题 1"/>
          <p:cNvSpPr>
            <a:spLocks noGrp="1"/>
          </p:cNvSpPr>
          <p:nvPr>
            <p:ph type="title"/>
          </p:nvPr>
        </p:nvSpPr>
        <p:spPr>
          <a:xfrm>
            <a:off x="367147" y="169816"/>
            <a:ext cx="10697497" cy="590931"/>
          </a:xfrm>
        </p:spPr>
        <p:txBody>
          <a:bodyPr/>
          <a:lstStyle/>
          <a:p>
            <a:r>
              <a:rPr lang="zh-CN" altLang="en-US" dirty="0"/>
              <a:t>目录</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目前</a:t>
            </a:r>
            <a:r>
              <a:rPr lang="en-US" altLang="zh-CN" dirty="0"/>
              <a:t>IT</a:t>
            </a:r>
            <a:r>
              <a:rPr lang="zh-CN" altLang="en-US" dirty="0"/>
              <a:t>领域最热的</a:t>
            </a:r>
            <a:r>
              <a:rPr lang="en-US" altLang="zh-CN" dirty="0"/>
              <a:t>5</a:t>
            </a:r>
            <a:r>
              <a:rPr lang="zh-CN" altLang="en-US" dirty="0"/>
              <a:t>个热词是什么？</a:t>
            </a:r>
            <a:endParaRPr lang="en-US" altLang="zh-CN" dirty="0"/>
          </a:p>
          <a:p>
            <a:pPr lvl="1"/>
            <a:r>
              <a:rPr lang="zh-CN" altLang="en-US" dirty="0"/>
              <a:t>人工智能</a:t>
            </a:r>
            <a:r>
              <a:rPr lang="en-US" altLang="zh-CN" dirty="0"/>
              <a:t>(AI)(</a:t>
            </a:r>
            <a:r>
              <a:rPr lang="zh-CN" altLang="en-US" dirty="0"/>
              <a:t>机器学习、深度学习</a:t>
            </a:r>
            <a:r>
              <a:rPr lang="en-US" altLang="zh-CN" dirty="0"/>
              <a:t>)</a:t>
            </a:r>
            <a:endParaRPr lang="en-US" altLang="zh-CN" dirty="0"/>
          </a:p>
          <a:p>
            <a:pPr lvl="1"/>
            <a:r>
              <a:rPr lang="zh-CN" altLang="en-US" dirty="0"/>
              <a:t>大数据</a:t>
            </a:r>
            <a:endParaRPr lang="zh-CN" altLang="en-US" dirty="0"/>
          </a:p>
          <a:p>
            <a:pPr lvl="1"/>
            <a:r>
              <a:rPr lang="zh-CN" altLang="en-US" dirty="0"/>
              <a:t>云计算</a:t>
            </a:r>
            <a:endParaRPr lang="zh-CN" altLang="en-US" dirty="0"/>
          </a:p>
          <a:p>
            <a:pPr lvl="1"/>
            <a:r>
              <a:rPr lang="zh-CN" altLang="en-US" dirty="0"/>
              <a:t>物联网</a:t>
            </a:r>
            <a:endParaRPr lang="zh-CN" altLang="en-US" dirty="0"/>
          </a:p>
          <a:p>
            <a:pPr lvl="1"/>
            <a:r>
              <a:rPr lang="zh-CN" altLang="en-US" dirty="0"/>
              <a:t>区块链</a:t>
            </a:r>
            <a:endParaRPr lang="zh-CN" altLang="en-US" dirty="0"/>
          </a:p>
          <a:p>
            <a:pPr lvl="1"/>
            <a:r>
              <a:rPr lang="zh-CN" altLang="en-US" dirty="0"/>
              <a:t>其他：移动互联网、社交网、</a:t>
            </a:r>
            <a:r>
              <a:rPr lang="en-US" altLang="zh-CN" dirty="0"/>
              <a:t>XXX2.0/3.0/…</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a:t>
            </a:r>
            <a:r>
              <a:rPr lang="en-US" altLang="zh-CN" dirty="0"/>
              <a:t>(Big Data)</a:t>
            </a:r>
            <a:r>
              <a:rPr lang="zh-CN" altLang="en-US" dirty="0"/>
              <a:t>一词的起源</a:t>
            </a:r>
            <a:endParaRPr lang="en-US" altLang="zh-CN" dirty="0"/>
          </a:p>
          <a:p>
            <a:pPr lvl="1"/>
            <a:r>
              <a:rPr lang="en-US" altLang="zh-CN" dirty="0"/>
              <a:t>2008</a:t>
            </a:r>
            <a:r>
              <a:rPr lang="zh-CN" altLang="en-US" dirty="0"/>
              <a:t>年，在</a:t>
            </a:r>
            <a:r>
              <a:rPr lang="en-US" altLang="zh-CN" dirty="0"/>
              <a:t>Google</a:t>
            </a:r>
            <a:r>
              <a:rPr lang="zh-CN" altLang="en-US" dirty="0"/>
              <a:t>成立</a:t>
            </a:r>
            <a:r>
              <a:rPr lang="en-US" altLang="zh-CN" dirty="0"/>
              <a:t>10</a:t>
            </a:r>
            <a:r>
              <a:rPr lang="zh-CN" altLang="en-US" dirty="0"/>
              <a:t>周年之际，</a:t>
            </a:r>
            <a:r>
              <a:rPr lang="en-US" altLang="zh-CN" dirty="0"/>
              <a:t>《Nature》</a:t>
            </a:r>
            <a:r>
              <a:rPr lang="zh-CN" altLang="en-US" dirty="0"/>
              <a:t>出版一期专刊，专门讨论未来的大数据</a:t>
            </a:r>
            <a:r>
              <a:rPr lang="en-US" altLang="zh-CN" dirty="0"/>
              <a:t>(Big Data)</a:t>
            </a:r>
            <a:r>
              <a:rPr lang="zh-CN" altLang="en-US" dirty="0"/>
              <a:t>处理相关的一系列技术问题和挑战。</a:t>
            </a:r>
            <a:endParaRPr lang="zh-CN" altLang="en-US" dirty="0"/>
          </a:p>
          <a:p>
            <a:pPr lvl="1"/>
            <a:r>
              <a:rPr lang="zh-CN" altLang="en-US" dirty="0"/>
              <a:t>从此，</a:t>
            </a:r>
            <a:r>
              <a:rPr lang="en-US" altLang="zh-CN" dirty="0"/>
              <a:t>Big Data</a:t>
            </a:r>
            <a:r>
              <a:rPr lang="zh-CN" altLang="en-US" dirty="0"/>
              <a:t>成为一个热词开始广泛传播！</a:t>
            </a:r>
            <a:endParaRPr lang="zh-CN" altLang="en-US" dirty="0"/>
          </a:p>
          <a:p>
            <a:pPr lvl="1"/>
            <a:r>
              <a:rPr lang="zh-CN" altLang="en-US" dirty="0"/>
              <a:t>所谓“大数据”，泛指规模达到几百</a:t>
            </a:r>
            <a:r>
              <a:rPr lang="en-US" altLang="zh-CN" dirty="0"/>
              <a:t>TB</a:t>
            </a:r>
            <a:r>
              <a:rPr lang="zh-CN" altLang="en-US" dirty="0"/>
              <a:t>，甚至</a:t>
            </a:r>
            <a:r>
              <a:rPr lang="en-US" altLang="zh-CN" dirty="0"/>
              <a:t>PB</a:t>
            </a:r>
            <a:r>
              <a:rPr lang="zh-CN" altLang="en-US" dirty="0"/>
              <a:t>级的数据，广泛出现在科学研究、</a:t>
            </a:r>
            <a:r>
              <a:rPr lang="en-US" altLang="zh-CN" dirty="0"/>
              <a:t>Web</a:t>
            </a:r>
            <a:r>
              <a:rPr lang="zh-CN" altLang="en-US" dirty="0"/>
              <a:t>集成、多媒体等诸多领域中。</a:t>
            </a:r>
            <a:endParaRPr lang="zh-CN" altLang="en-US" dirty="0"/>
          </a:p>
          <a:p>
            <a:pPr lvl="1"/>
            <a:r>
              <a:rPr lang="zh-CN" altLang="en-US" dirty="0"/>
              <a:t>“大数据”是伴随数据获取技术的发展，</a:t>
            </a:r>
            <a:r>
              <a:rPr lang="en-US" altLang="zh-CN" dirty="0"/>
              <a:t>Web 2.0</a:t>
            </a:r>
            <a:r>
              <a:rPr lang="zh-CN" altLang="en-US" dirty="0"/>
              <a:t>、</a:t>
            </a:r>
            <a:r>
              <a:rPr lang="en-US" altLang="zh-CN" dirty="0"/>
              <a:t>WSN(</a:t>
            </a:r>
            <a:r>
              <a:rPr lang="zh-CN" altLang="en-US" dirty="0"/>
              <a:t>传感网</a:t>
            </a:r>
            <a:r>
              <a:rPr lang="en-US" altLang="zh-CN" dirty="0"/>
              <a:t>)</a:t>
            </a:r>
            <a:r>
              <a:rPr lang="zh-CN" altLang="en-US" dirty="0"/>
              <a:t>和</a:t>
            </a:r>
            <a:r>
              <a:rPr lang="en-US" altLang="zh-CN" dirty="0"/>
              <a:t>CPS(</a:t>
            </a:r>
            <a:r>
              <a:rPr lang="zh-CN" altLang="en-US" dirty="0"/>
              <a:t>物联网</a:t>
            </a:r>
            <a:r>
              <a:rPr lang="en-US" altLang="zh-CN" dirty="0"/>
              <a:t>)</a:t>
            </a:r>
            <a:r>
              <a:rPr lang="zh-CN" altLang="en-US" dirty="0"/>
              <a:t>等应用的快速普及而提出的概念。</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sym typeface="宋体" panose="02010600030101010101" pitchFamily="2" charset="-122"/>
              </a:rPr>
              <a:t>与大数据相关联的其它几个词汇</a:t>
            </a:r>
            <a:endParaRPr lang="en-US" altLang="zh-CN" dirty="0">
              <a:sym typeface="宋体" panose="02010600030101010101" pitchFamily="2" charset="-122"/>
            </a:endParaRPr>
          </a:p>
          <a:p>
            <a:pPr lvl="1"/>
            <a:r>
              <a:rPr lang="zh-CN" altLang="en-US" dirty="0"/>
              <a:t>“超大规模数据库”</a:t>
            </a:r>
            <a:r>
              <a:rPr lang="en-US" altLang="zh-CN" dirty="0"/>
              <a:t>(VLDB)</a:t>
            </a:r>
            <a:r>
              <a:rPr lang="zh-CN" altLang="en-US" dirty="0"/>
              <a:t>这个词是</a:t>
            </a:r>
            <a:r>
              <a:rPr lang="en-US" altLang="zh-CN" dirty="0"/>
              <a:t>20</a:t>
            </a:r>
            <a:r>
              <a:rPr lang="zh-CN" altLang="en-US" dirty="0"/>
              <a:t>世纪</a:t>
            </a:r>
            <a:r>
              <a:rPr lang="en-US" altLang="zh-CN" dirty="0"/>
              <a:t>70</a:t>
            </a:r>
            <a:r>
              <a:rPr lang="zh-CN" altLang="en-US" dirty="0"/>
              <a:t>年代中期出现</a:t>
            </a:r>
            <a:r>
              <a:rPr lang="en-US" altLang="zh-CN" dirty="0"/>
              <a:t>(VLDB</a:t>
            </a:r>
            <a:r>
              <a:rPr lang="zh-CN" altLang="en-US" dirty="0"/>
              <a:t>会议于</a:t>
            </a:r>
            <a:r>
              <a:rPr lang="en-US" altLang="zh-CN" dirty="0"/>
              <a:t>1975</a:t>
            </a:r>
            <a:r>
              <a:rPr lang="zh-CN" altLang="en-US" dirty="0"/>
              <a:t>年发起</a:t>
            </a:r>
            <a:r>
              <a:rPr lang="en-US" altLang="zh-CN" dirty="0"/>
              <a:t>)</a:t>
            </a:r>
            <a:r>
              <a:rPr lang="zh-CN" altLang="en-US" dirty="0"/>
              <a:t>。当时，数百万条记录即是超大规模。</a:t>
            </a:r>
            <a:endParaRPr lang="zh-CN" altLang="en-US" dirty="0"/>
          </a:p>
          <a:p>
            <a:pPr lvl="1"/>
            <a:r>
              <a:rPr lang="zh-CN" altLang="en-US" dirty="0"/>
              <a:t>“海量</a:t>
            </a:r>
            <a:r>
              <a:rPr lang="en-US" altLang="zh-CN" dirty="0"/>
              <a:t>Massive</a:t>
            </a:r>
            <a:r>
              <a:rPr lang="zh-CN" altLang="en-US" dirty="0"/>
              <a:t>数据”则是</a:t>
            </a:r>
            <a:r>
              <a:rPr lang="en-US" altLang="zh-CN" dirty="0"/>
              <a:t>21</a:t>
            </a:r>
            <a:r>
              <a:rPr lang="zh-CN" altLang="en-US" dirty="0"/>
              <a:t>世纪初出现，指越来越多的应用建立在多源数据集成基础之上时，数据规模急剧扩大，数据类型由关系数据发展到非结构化、半结构化数据。</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sym typeface="宋体" panose="02010600030101010101" pitchFamily="2" charset="-122"/>
              </a:rPr>
              <a:t>与大数据相关联的其它几个词汇</a:t>
            </a:r>
            <a:endParaRPr lang="en-US" altLang="zh-CN" dirty="0">
              <a:sym typeface="宋体" panose="02010600030101010101" pitchFamily="2" charset="-122"/>
            </a:endParaRPr>
          </a:p>
          <a:p>
            <a:pPr lvl="1"/>
            <a:r>
              <a:rPr lang="zh-CN" altLang="en-US" dirty="0"/>
              <a:t>“非结构化数据”是指在获得数据之前无法预知其结构的数据，如文本、图像、视频等。其包含数千万个文档、数百万张照片或者工程设计图的数据集成为常态，现有的关系数据库已无力有效管理这些数据，如何快速访问数据成为核心挑战。</a:t>
            </a:r>
            <a:endParaRPr lang="zh-CN" altLang="en-US" dirty="0"/>
          </a:p>
          <a:p>
            <a:pPr lvl="1"/>
            <a:r>
              <a:rPr lang="zh-CN" altLang="en-US" dirty="0"/>
              <a:t>为此，以</a:t>
            </a:r>
            <a:r>
              <a:rPr lang="en-US" altLang="zh-CN" dirty="0"/>
              <a:t>Hadoop</a:t>
            </a:r>
            <a:r>
              <a:rPr lang="zh-CN" altLang="en-US" dirty="0"/>
              <a:t>为代表的分布式文件系统和</a:t>
            </a:r>
            <a:r>
              <a:rPr lang="en-US" altLang="zh-CN" dirty="0"/>
              <a:t>MapReduce</a:t>
            </a:r>
            <a:r>
              <a:rPr lang="zh-CN" altLang="en-US" dirty="0"/>
              <a:t>计算框架应运而生。</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什么是大数据？</a:t>
            </a:r>
            <a:endParaRPr lang="en-US" altLang="zh-CN" dirty="0"/>
          </a:p>
          <a:p>
            <a:pPr lvl="1"/>
            <a:r>
              <a:rPr lang="zh-CN" altLang="en-US" dirty="0"/>
              <a:t>没有统一定义，因为“大”是一个与能力和需求相关的概念，没有一个绝对统一的量化标准。</a:t>
            </a:r>
            <a:endParaRPr lang="zh-CN" altLang="en-US" dirty="0"/>
          </a:p>
          <a:p>
            <a:pPr lvl="1"/>
            <a:r>
              <a:rPr lang="zh-CN" altLang="en-US" dirty="0"/>
              <a:t>与大数据</a:t>
            </a:r>
            <a:r>
              <a:rPr lang="en-US" altLang="zh-CN" dirty="0"/>
              <a:t>(Big Data)</a:t>
            </a:r>
            <a:r>
              <a:rPr lang="zh-CN" altLang="en-US" dirty="0"/>
              <a:t>相类似的词汇：</a:t>
            </a:r>
            <a:endParaRPr lang="en-US" altLang="zh-CN" dirty="0"/>
          </a:p>
          <a:p>
            <a:pPr lvl="2"/>
            <a:r>
              <a:rPr lang="en-US" altLang="zh-CN" dirty="0"/>
              <a:t>Large Scale </a:t>
            </a:r>
            <a:r>
              <a:rPr lang="zh-CN" altLang="en-US" dirty="0"/>
              <a:t>大规模</a:t>
            </a:r>
            <a:endParaRPr lang="zh-CN" altLang="en-US" dirty="0"/>
          </a:p>
          <a:p>
            <a:pPr lvl="2"/>
            <a:r>
              <a:rPr lang="en-US" altLang="zh-CN" dirty="0"/>
              <a:t>Very Large </a:t>
            </a:r>
            <a:r>
              <a:rPr lang="zh-CN" altLang="en-US" dirty="0"/>
              <a:t>超大规模 </a:t>
            </a:r>
            <a:endParaRPr lang="zh-CN" altLang="en-US" dirty="0"/>
          </a:p>
          <a:p>
            <a:pPr lvl="2"/>
            <a:r>
              <a:rPr lang="en-US" altLang="zh-CN" dirty="0"/>
              <a:t>Massive </a:t>
            </a:r>
            <a:r>
              <a:rPr lang="zh-CN" altLang="en-US" dirty="0"/>
              <a:t>海量</a:t>
            </a:r>
            <a:endParaRPr lang="zh-CN" altLang="en-US" dirty="0"/>
          </a:p>
          <a:p>
            <a:pPr lvl="2"/>
            <a:r>
              <a:rPr lang="en-US" altLang="zh-CN" dirty="0"/>
              <a:t>…</a:t>
            </a:r>
            <a:endParaRPr lang="zh-CN" altLang="en-US" dirty="0"/>
          </a:p>
          <a:p>
            <a:pPr lvl="1"/>
            <a:r>
              <a:rPr lang="zh-CN" altLang="en-US" dirty="0"/>
              <a:t>显然，争论它们中哪一个更大没有什么意义。</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什么是大数据？</a:t>
            </a:r>
            <a:endParaRPr lang="en-US" altLang="zh-CN" dirty="0"/>
          </a:p>
          <a:p>
            <a:pPr lvl="1"/>
            <a:r>
              <a:rPr lang="zh-CN" altLang="en-US" dirty="0"/>
              <a:t>从历史的视角去看这几个词</a:t>
            </a:r>
            <a:r>
              <a:rPr lang="en-US" altLang="zh-CN" dirty="0"/>
              <a:t>:</a:t>
            </a:r>
            <a:endParaRPr lang="en-US" altLang="zh-CN" dirty="0"/>
          </a:p>
          <a:p>
            <a:pPr lvl="2"/>
            <a:r>
              <a:rPr lang="en-US" altLang="zh-CN" dirty="0"/>
              <a:t>“Very Large”</a:t>
            </a:r>
            <a:r>
              <a:rPr lang="zh-CN" altLang="en-US" dirty="0"/>
              <a:t>表示</a:t>
            </a:r>
            <a:r>
              <a:rPr lang="en-US" altLang="zh-CN" dirty="0"/>
              <a:t>GB</a:t>
            </a:r>
            <a:r>
              <a:rPr lang="zh-CN" altLang="en-US" dirty="0"/>
              <a:t>级别的数据。</a:t>
            </a:r>
            <a:endParaRPr lang="zh-CN" altLang="en-US" dirty="0"/>
          </a:p>
          <a:p>
            <a:pPr lvl="2"/>
            <a:r>
              <a:rPr lang="zh-CN" altLang="en-US" dirty="0"/>
              <a:t>“</a:t>
            </a:r>
            <a:r>
              <a:rPr lang="en-US" altLang="zh-CN" dirty="0"/>
              <a:t>Massive”</a:t>
            </a:r>
            <a:r>
              <a:rPr lang="zh-CN" altLang="en-US" dirty="0"/>
              <a:t>表示</a:t>
            </a:r>
            <a:r>
              <a:rPr lang="en-US" altLang="zh-CN" dirty="0"/>
              <a:t>TB</a:t>
            </a:r>
            <a:r>
              <a:rPr lang="zh-CN" altLang="en-US" dirty="0"/>
              <a:t>级的数据。</a:t>
            </a:r>
            <a:endParaRPr lang="zh-CN" altLang="en-US" dirty="0"/>
          </a:p>
          <a:p>
            <a:pPr lvl="2"/>
            <a:r>
              <a:rPr lang="zh-CN" altLang="en-US" dirty="0"/>
              <a:t>“</a:t>
            </a:r>
            <a:r>
              <a:rPr lang="en-US" altLang="zh-CN" dirty="0"/>
              <a:t>Big Data”</a:t>
            </a:r>
            <a:r>
              <a:rPr lang="zh-CN" altLang="en-US" dirty="0"/>
              <a:t>则是</a:t>
            </a:r>
            <a:r>
              <a:rPr lang="en-US" altLang="zh-CN" dirty="0"/>
              <a:t>PB</a:t>
            </a:r>
            <a:r>
              <a:rPr lang="zh-CN" altLang="en-US" dirty="0"/>
              <a:t>级别及其以上的数据。</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4" descr="字节"/>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58190" y="1257298"/>
            <a:ext cx="3826479" cy="524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5"/>
          <p:cNvSpPr/>
          <p:nvPr/>
        </p:nvSpPr>
        <p:spPr bwMode="auto">
          <a:xfrm>
            <a:off x="7111771" y="4606349"/>
            <a:ext cx="246420" cy="1299152"/>
          </a:xfrm>
          <a:prstGeom prst="leftBrace">
            <a:avLst>
              <a:gd name="adj1" fmla="val 27015"/>
              <a:gd name="adj2" fmla="val 50000"/>
            </a:avLst>
          </a:prstGeom>
          <a:noFill/>
          <a:ln w="25400" cmpd="sng">
            <a:solidFill>
              <a:schemeClr val="hlink"/>
            </a:solidFill>
            <a:round/>
          </a:ln>
        </p:spPr>
        <p:txBody>
          <a:bodyPr wrap="none" anchor="ctr"/>
          <a:lstStyle/>
          <a:p>
            <a:pPr algn="ctr" eaLnBrk="1" hangingPunct="1">
              <a:buFont typeface="Arial" panose="020B0604020202020204" pitchFamily="34" charset="0"/>
              <a:buNone/>
              <a:defRPr/>
            </a:pPr>
            <a:endParaRPr lang="zh-CN" altLang="en-US" sz="4400">
              <a:solidFill>
                <a:schemeClr val="hlink"/>
              </a:solidFill>
              <a:effectLst>
                <a:outerShdw blurRad="38100" dist="38100" dir="2700000" algn="tl">
                  <a:srgbClr val="C0C0C0"/>
                </a:outerShdw>
              </a:effectLst>
              <a:latin typeface="Arial Narrow" panose="020B0606020202030204" pitchFamily="34" charset="0"/>
            </a:endParaRPr>
          </a:p>
        </p:txBody>
      </p:sp>
      <p:sp>
        <p:nvSpPr>
          <p:cNvPr id="8" name="Line 6"/>
          <p:cNvSpPr>
            <a:spLocks noChangeShapeType="1"/>
          </p:cNvSpPr>
          <p:nvPr/>
        </p:nvSpPr>
        <p:spPr bwMode="auto">
          <a:xfrm flipV="1">
            <a:off x="7480294" y="4496816"/>
            <a:ext cx="3480313" cy="1"/>
          </a:xfrm>
          <a:prstGeom prst="line">
            <a:avLst/>
          </a:prstGeom>
          <a:noFill/>
          <a:ln w="571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Line 7"/>
          <p:cNvSpPr>
            <a:spLocks noChangeShapeType="1"/>
          </p:cNvSpPr>
          <p:nvPr/>
        </p:nvSpPr>
        <p:spPr bwMode="auto">
          <a:xfrm flipV="1">
            <a:off x="7480295" y="5872158"/>
            <a:ext cx="3480312" cy="33343"/>
          </a:xfrm>
          <a:prstGeom prst="line">
            <a:avLst/>
          </a:prstGeom>
          <a:noFill/>
          <a:ln w="57150">
            <a:solidFill>
              <a:schemeClr val="hlink"/>
            </a:solidFill>
            <a:prstDash val="lgDash"/>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什么是大数据？</a:t>
            </a:r>
            <a:endParaRPr lang="en-US" altLang="zh-CN" dirty="0"/>
          </a:p>
          <a:p>
            <a:pPr lvl="1"/>
            <a:r>
              <a:rPr lang="zh-CN" altLang="en-US" dirty="0"/>
              <a:t>说法</a:t>
            </a:r>
            <a:r>
              <a:rPr lang="en-US" altLang="zh-CN" dirty="0"/>
              <a:t>1</a:t>
            </a:r>
            <a:r>
              <a:rPr lang="zh-CN" altLang="en-US" dirty="0"/>
              <a:t>：大数据是指数量特别巨大的信息集合，数据量达到</a:t>
            </a:r>
            <a:r>
              <a:rPr lang="en-US" altLang="zh-CN" dirty="0"/>
              <a:t>PB</a:t>
            </a:r>
            <a:r>
              <a:rPr lang="zh-CN" altLang="en-US" dirty="0"/>
              <a:t>、</a:t>
            </a:r>
            <a:r>
              <a:rPr lang="en-US" altLang="zh-CN" dirty="0"/>
              <a:t>EB</a:t>
            </a:r>
            <a:r>
              <a:rPr lang="zh-CN" altLang="en-US" dirty="0"/>
              <a:t>或</a:t>
            </a:r>
            <a:r>
              <a:rPr lang="en-US" altLang="zh-CN" dirty="0"/>
              <a:t>ZB</a:t>
            </a:r>
            <a:r>
              <a:rPr lang="zh-CN" altLang="en-US" dirty="0"/>
              <a:t>级别。</a:t>
            </a:r>
            <a:endParaRPr lang="zh-CN" altLang="en-US" dirty="0"/>
          </a:p>
          <a:p>
            <a:pPr lvl="1"/>
            <a:endParaRPr lang="en-US" altLang="zh-CN" dirty="0"/>
          </a:p>
          <a:p>
            <a:pPr lvl="1"/>
            <a:r>
              <a:rPr lang="zh-CN" altLang="en-US" dirty="0"/>
              <a:t>问题：将“大数据”简单等同于“大量数据”，但数据量巨大只是大数据的表面特征，而非其本质特征。</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什么是大数据？</a:t>
            </a:r>
            <a:endParaRPr lang="en-US" altLang="zh-CN" dirty="0"/>
          </a:p>
          <a:p>
            <a:pPr lvl="1"/>
            <a:r>
              <a:rPr lang="zh-CN" altLang="en-US" dirty="0"/>
              <a:t>说法</a:t>
            </a:r>
            <a:r>
              <a:rPr lang="en-US" altLang="zh-CN" dirty="0"/>
              <a:t>2</a:t>
            </a:r>
            <a:r>
              <a:rPr lang="zh-CN" altLang="en-US" dirty="0"/>
              <a:t>：大数据是指具有类型繁多、不同结构化程度、不均衡价值密度、不一致动态特征、不同应用处理特征等特点的巨大信息集合。</a:t>
            </a:r>
            <a:endParaRPr lang="zh-CN" altLang="en-US" dirty="0"/>
          </a:p>
          <a:p>
            <a:pPr lvl="1"/>
            <a:endParaRPr lang="en-US" altLang="zh-CN" dirty="0"/>
          </a:p>
          <a:p>
            <a:pPr lvl="1"/>
            <a:r>
              <a:rPr lang="zh-CN" altLang="en-US" dirty="0"/>
              <a:t>问题：没有说明大数据为什么数量巨大、类型多样。</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什么是大数据？</a:t>
            </a:r>
            <a:endParaRPr lang="en-US" altLang="zh-CN" dirty="0"/>
          </a:p>
          <a:p>
            <a:pPr lvl="1"/>
            <a:r>
              <a:rPr lang="zh-CN" altLang="en-US" dirty="0"/>
              <a:t>说法</a:t>
            </a:r>
            <a:r>
              <a:rPr lang="en-US" altLang="zh-CN" dirty="0"/>
              <a:t>3</a:t>
            </a:r>
            <a:r>
              <a:rPr lang="zh-CN" altLang="en-US" dirty="0"/>
              <a:t>：大数据是指无法在可容忍的时间内用传统方法或工具进行获取、存储、检索、共享、分析和可视化的数据集合。数据集组成非常巨大和复杂，以至于传统数据库管理工具处理起来面临很多问题。</a:t>
            </a:r>
            <a:endParaRPr lang="en-US" altLang="zh-CN" dirty="0"/>
          </a:p>
          <a:p>
            <a:pPr lvl="8"/>
            <a:r>
              <a:rPr lang="en-US" altLang="zh-CN" dirty="0"/>
              <a:t>			                         * from {Big Data} @wikipedia.</a:t>
            </a:r>
            <a:endParaRPr lang="zh-CN" altLang="en-US" dirty="0"/>
          </a:p>
          <a:p>
            <a:pPr lvl="1"/>
            <a:endParaRPr lang="en-US" altLang="zh-CN" dirty="0"/>
          </a:p>
          <a:p>
            <a:pPr lvl="1"/>
            <a:r>
              <a:rPr lang="zh-CN" altLang="en-US" dirty="0"/>
              <a:t>问题：虽然认识到传统方法在大数据面前已无能为力，但仍然没有抓住大数据的本质特征。</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难道这就是大数据？</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2" descr="C:\Users\lenovo\Pictures\xin_232120217210606214528159.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44890" y="1824037"/>
            <a:ext cx="8072437"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难道这就是大数据？</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0570" y="1857375"/>
            <a:ext cx="8429625"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难道这就是大数据？</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7" name="Picture 2" descr="c:\users\lenovo\appdata\roaming\360se6\USERDA~1\Temp\U_3415~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0778" y="1785937"/>
            <a:ext cx="7786687"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大数据有何本质特征？</a:t>
            </a:r>
            <a:endParaRPr lang="en-US" altLang="zh-CN" dirty="0"/>
          </a:p>
          <a:p>
            <a:pPr lvl="1"/>
            <a:r>
              <a:rPr lang="zh-CN" altLang="en-US" dirty="0"/>
              <a:t>要解决大数据面临的问题，就必须抓住大数据的本质特征和大数据处理面临的主要矛盾，然后针对这些本质特征寻找有效解决之道。</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大数据有何本质特征？</a:t>
            </a:r>
            <a:endParaRPr lang="en-US" altLang="zh-CN" dirty="0"/>
          </a:p>
          <a:p>
            <a:pPr lvl="1"/>
            <a:r>
              <a:rPr lang="zh-CN" altLang="en-US" dirty="0"/>
              <a:t>特征</a:t>
            </a:r>
            <a:r>
              <a:rPr lang="en-US" altLang="zh-CN" dirty="0"/>
              <a:t>1</a:t>
            </a:r>
            <a:r>
              <a:rPr lang="zh-CN" altLang="en-US" dirty="0"/>
              <a:t>：面向开放世界，没有清晰边界；</a:t>
            </a:r>
            <a:endParaRPr lang="zh-CN" altLang="en-US" dirty="0"/>
          </a:p>
          <a:p>
            <a:pPr lvl="1"/>
            <a:r>
              <a:rPr lang="zh-CN" altLang="en-US" dirty="0"/>
              <a:t>特征</a:t>
            </a:r>
            <a:r>
              <a:rPr lang="en-US" altLang="zh-CN" dirty="0"/>
              <a:t>2</a:t>
            </a:r>
            <a:r>
              <a:rPr lang="zh-CN" altLang="en-US" dirty="0"/>
              <a:t>：问题没有确定解，弱化一致性要求；</a:t>
            </a:r>
            <a:endParaRPr lang="zh-CN" altLang="en-US" dirty="0"/>
          </a:p>
          <a:p>
            <a:pPr lvl="1"/>
            <a:r>
              <a:rPr lang="zh-CN" altLang="en-US" dirty="0"/>
              <a:t>特征</a:t>
            </a:r>
            <a:r>
              <a:rPr lang="en-US" altLang="zh-CN" dirty="0"/>
              <a:t>3</a:t>
            </a:r>
            <a:r>
              <a:rPr lang="zh-CN" altLang="en-US" dirty="0"/>
              <a:t>：大数定律失效，需要覆盖全样本空间；</a:t>
            </a:r>
            <a:endParaRPr lang="zh-CN" altLang="en-US" dirty="0"/>
          </a:p>
          <a:p>
            <a:pPr lvl="1"/>
            <a:r>
              <a:rPr lang="zh-CN" altLang="en-US" dirty="0"/>
              <a:t>特征</a:t>
            </a:r>
            <a:r>
              <a:rPr lang="en-US" altLang="zh-CN" dirty="0"/>
              <a:t>4</a:t>
            </a:r>
            <a:r>
              <a:rPr lang="zh-CN" altLang="en-US" dirty="0"/>
              <a:t>：多维度、结构复杂，前期处理代价极大；</a:t>
            </a:r>
            <a:endParaRPr lang="zh-CN" altLang="en-US" dirty="0"/>
          </a:p>
          <a:p>
            <a:pPr lvl="1"/>
            <a:r>
              <a:rPr lang="zh-CN" altLang="en-US" dirty="0"/>
              <a:t>特征</a:t>
            </a:r>
            <a:r>
              <a:rPr lang="en-US" altLang="zh-CN" dirty="0"/>
              <a:t>5</a:t>
            </a:r>
            <a:r>
              <a:rPr lang="zh-CN" altLang="en-US" dirty="0"/>
              <a:t>：价值密度稀疏，必须通过聚合产生价值；</a:t>
            </a:r>
            <a:endParaRPr lang="zh-CN" altLang="en-US" dirty="0"/>
          </a:p>
          <a:p>
            <a:pPr lvl="1"/>
            <a:r>
              <a:rPr lang="zh-CN" altLang="en-US" dirty="0"/>
              <a:t>特征</a:t>
            </a:r>
            <a:r>
              <a:rPr lang="en-US" altLang="zh-CN" dirty="0"/>
              <a:t>6</a:t>
            </a:r>
            <a:r>
              <a:rPr lang="zh-CN" altLang="en-US" dirty="0"/>
              <a:t>：数量巨大，人力已根本无法处理，必须通过机器自动处理；</a:t>
            </a:r>
            <a:endParaRPr lang="zh-CN" altLang="en-US" dirty="0"/>
          </a:p>
          <a:p>
            <a:pPr lvl="1"/>
            <a:r>
              <a:rPr lang="zh-CN" altLang="en-US" dirty="0"/>
              <a:t>特征</a:t>
            </a:r>
            <a:r>
              <a:rPr lang="en-US" altLang="zh-CN" dirty="0"/>
              <a:t>7</a:t>
            </a:r>
            <a:r>
              <a:rPr lang="zh-CN" altLang="en-US" dirty="0"/>
              <a:t>：</a:t>
            </a:r>
            <a:r>
              <a:rPr lang="en-US" altLang="zh-CN" dirty="0"/>
              <a:t>…</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什么是大数据</a:t>
            </a:r>
            <a:endParaRPr lang="en-US" altLang="zh-CN" dirty="0"/>
          </a:p>
          <a:p>
            <a:pPr lvl="1"/>
            <a:r>
              <a:rPr lang="zh-CN" altLang="en-US" dirty="0"/>
              <a:t>大数据是由于面向开放世界</a:t>
            </a:r>
            <a:r>
              <a:rPr lang="en-US" altLang="zh-CN" dirty="0"/>
              <a:t>(</a:t>
            </a:r>
            <a:r>
              <a:rPr lang="zh-CN" altLang="en-US" dirty="0"/>
              <a:t>如互联网</a:t>
            </a:r>
            <a:r>
              <a:rPr lang="en-US" altLang="zh-CN" dirty="0"/>
              <a:t>)</a:t>
            </a:r>
            <a:r>
              <a:rPr lang="zh-CN" altLang="en-US" dirty="0"/>
              <a:t>而导致的数量极其庞大，结构杂乱无章，分布异构、语义模糊的信息集合。</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第三次信息化浪潮</a:t>
            </a:r>
            <a:endParaRPr lang="en-US" altLang="zh-CN" dirty="0"/>
          </a:p>
          <a:p>
            <a:pPr lvl="1"/>
            <a:r>
              <a:rPr lang="zh-CN" altLang="en-US" dirty="0"/>
              <a:t>根据</a:t>
            </a:r>
            <a:r>
              <a:rPr lang="en-US" altLang="zh-CN" dirty="0"/>
              <a:t>IBM</a:t>
            </a:r>
            <a:r>
              <a:rPr lang="zh-CN" altLang="en-US" dirty="0"/>
              <a:t>前首席执行官郭士纳的观点，</a:t>
            </a:r>
            <a:r>
              <a:rPr lang="en-US" altLang="zh-CN" dirty="0"/>
              <a:t>IT</a:t>
            </a:r>
            <a:r>
              <a:rPr lang="zh-CN" altLang="en-US" dirty="0"/>
              <a:t>领域每隔十五年就会迎来一次重大变革</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
        <p:nvSpPr>
          <p:cNvPr id="6" name="Text Box 75"/>
          <p:cNvSpPr txBox="1">
            <a:spLocks noChangeArrowheads="1"/>
          </p:cNvSpPr>
          <p:nvPr/>
        </p:nvSpPr>
        <p:spPr bwMode="auto">
          <a:xfrm>
            <a:off x="4610894" y="2539429"/>
            <a:ext cx="29702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表1-1 三次信息化浪潮</a:t>
            </a:r>
            <a:endParaRPr lang="zh-CN" altLang="en-US" dirty="0">
              <a:latin typeface="微软雅黑" panose="020B0503020204020204" pitchFamily="34" charset="-122"/>
              <a:ea typeface="微软雅黑" panose="020B0503020204020204" pitchFamily="34" charset="-122"/>
            </a:endParaRPr>
          </a:p>
        </p:txBody>
      </p:sp>
      <p:graphicFrame>
        <p:nvGraphicFramePr>
          <p:cNvPr id="7" name="Group 4"/>
          <p:cNvGraphicFramePr>
            <a:graphicFrameLocks noGrp="1"/>
          </p:cNvGraphicFramePr>
          <p:nvPr/>
        </p:nvGraphicFramePr>
        <p:xfrm>
          <a:off x="2171700" y="3017981"/>
          <a:ext cx="7848600" cy="3660776"/>
        </p:xfrm>
        <a:graphic>
          <a:graphicData uri="http://schemas.openxmlformats.org/drawingml/2006/table">
            <a:tbl>
              <a:tblPr>
                <a:tableStyleId>{2D5ABB26-0587-4C30-8999-92F81FD0307C}</a:tableStyleId>
              </a:tblPr>
              <a:tblGrid>
                <a:gridCol w="1422400"/>
                <a:gridCol w="1438275"/>
                <a:gridCol w="1503363"/>
                <a:gridCol w="1238250"/>
                <a:gridCol w="2246312"/>
              </a:tblGrid>
              <a:tr h="392113">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信息化浪潮</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发生时间</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标志</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解决问题</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代表企业</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060450">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第一次浪潮</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1980年前后</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个人计算机</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信息处理</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Intel、AMD、IBM、苹果、微软、联想、戴尔、惠普等</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01700">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第二次浪潮</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1995年前后</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互联网</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信息传输</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雅虎、谷歌、阿里巴巴、百度、腾讯等</a:t>
                      </a: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06513">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第三次浪潮</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2010年前后</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物联网、云计算和大数据</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信息爆炸</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将涌现出一批新的市场标杆企业</a:t>
                      </a: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图片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00528" y="1847850"/>
            <a:ext cx="7239000" cy="487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idx="1"/>
          </p:nvPr>
        </p:nvSpPr>
        <p:spPr>
          <a:xfrm>
            <a:off x="397163" y="1219203"/>
            <a:ext cx="11453091" cy="4957760"/>
          </a:xfrm>
        </p:spPr>
        <p:txBody>
          <a:bodyPr/>
          <a:lstStyle/>
          <a:p>
            <a:r>
              <a:rPr lang="zh-CN" altLang="en-US" dirty="0"/>
              <a:t>信息科技为大数据时代提供技术支撑</a:t>
            </a:r>
            <a:endParaRPr lang="en-US" altLang="zh-CN" dirty="0"/>
          </a:p>
          <a:p>
            <a:pPr lvl="1"/>
            <a:r>
              <a:rPr lang="zh-CN" altLang="en-US" dirty="0"/>
              <a:t>存储设备容量不断增加、价格不断下降</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
        <p:nvSpPr>
          <p:cNvPr id="7" name="Text Box 5"/>
          <p:cNvSpPr txBox="1">
            <a:spLocks noChangeArrowheads="1"/>
          </p:cNvSpPr>
          <p:nvPr/>
        </p:nvSpPr>
        <p:spPr bwMode="auto">
          <a:xfrm>
            <a:off x="4466844" y="6410644"/>
            <a:ext cx="40919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图1-</a:t>
            </a: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存储价格随时间变化情况</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信息科技为大数据时代提供技术支撑</a:t>
            </a:r>
            <a:endParaRPr lang="en-US" altLang="zh-CN" dirty="0"/>
          </a:p>
          <a:p>
            <a:pPr lvl="1"/>
            <a:r>
              <a:rPr lang="en-US" altLang="zh-CN" dirty="0"/>
              <a:t>CPU</a:t>
            </a:r>
            <a:r>
              <a:rPr lang="zh-CN" altLang="en-US" dirty="0"/>
              <a:t>处理能力大幅提升 </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4" descr="图片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95600" y="2235200"/>
            <a:ext cx="6400800"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3994410" y="6356350"/>
            <a:ext cx="48143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图1-</a:t>
            </a:r>
            <a:r>
              <a:rPr lang="en-US" altLang="zh-CN" sz="2000" dirty="0">
                <a:latin typeface="微软雅黑" panose="020B0503020204020204" pitchFamily="34" charset="-122"/>
                <a:ea typeface="微软雅黑" panose="020B0503020204020204" pitchFamily="34" charset="-122"/>
              </a:rPr>
              <a:t>3 CPU</a:t>
            </a:r>
            <a:r>
              <a:rPr lang="zh-CN" altLang="en-US" sz="2000" dirty="0">
                <a:latin typeface="微软雅黑" panose="020B0503020204020204" pitchFamily="34" charset="-122"/>
                <a:ea typeface="微软雅黑" panose="020B0503020204020204" pitchFamily="34" charset="-122"/>
              </a:rPr>
              <a:t>晶体管数目随时间变化情况</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信息科技为大数据时代提供技术支撑</a:t>
            </a:r>
            <a:endParaRPr lang="en-US" altLang="zh-CN" dirty="0"/>
          </a:p>
          <a:p>
            <a:pPr lvl="1"/>
            <a:r>
              <a:rPr lang="zh-CN" altLang="en-US" dirty="0"/>
              <a:t>网络带宽不断增加</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4" descr="图片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45380" y="2351754"/>
            <a:ext cx="5873215" cy="387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4618673" y="6360668"/>
            <a:ext cx="38242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图1-</a:t>
            </a: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网络带宽随时间变化情况</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数据产生方式的变革促成大数据时代的来临</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4" descr="图片5"/>
          <p:cNvPicPr>
            <a:picLocks noChangeAspect="1" noChangeArrowheads="1"/>
          </p:cNvPicPr>
          <p:nvPr/>
        </p:nvPicPr>
        <p:blipFill rotWithShape="1">
          <a:blip r:embed="rId1">
            <a:extLst>
              <a:ext uri="{28A0092B-C50C-407E-A947-70E740481C1C}">
                <a14:useLocalDpi xmlns:a14="http://schemas.microsoft.com/office/drawing/2010/main" val="0"/>
              </a:ext>
            </a:extLst>
          </a:blip>
          <a:srcRect b="3842"/>
          <a:stretch>
            <a:fillRect/>
          </a:stretch>
        </p:blipFill>
        <p:spPr bwMode="auto">
          <a:xfrm>
            <a:off x="3073405" y="1729311"/>
            <a:ext cx="6480725" cy="4489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3923787" y="6260306"/>
            <a:ext cx="4779962"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dirty="0">
                <a:solidFill>
                  <a:srgbClr val="800000"/>
                </a:solidFill>
                <a:latin typeface="微软雅黑" panose="020B0503020204020204" pitchFamily="34" charset="-122"/>
                <a:ea typeface="微软雅黑" panose="020B0503020204020204" pitchFamily="34" charset="-122"/>
                <a:sym typeface="宋体" panose="02010600030101010101" pitchFamily="2" charset="-122"/>
              </a:rPr>
              <a:t>被动产生</a:t>
            </a:r>
            <a:r>
              <a:rPr lang="en-US" altLang="zh-CN" b="1" dirty="0">
                <a:solidFill>
                  <a:srgbClr val="800000"/>
                </a:solidFill>
                <a:latin typeface="微软雅黑" panose="020B0503020204020204" pitchFamily="34" charset="-122"/>
                <a:ea typeface="微软雅黑" panose="020B0503020204020204" pitchFamily="34" charset="-122"/>
                <a:sym typeface="宋体" panose="02010600030101010101" pitchFamily="2" charset="-122"/>
              </a:rPr>
              <a:t>—&gt;</a:t>
            </a:r>
            <a:r>
              <a:rPr lang="zh-CN" altLang="en-US" b="1" dirty="0">
                <a:solidFill>
                  <a:srgbClr val="800000"/>
                </a:solidFill>
                <a:latin typeface="微软雅黑" panose="020B0503020204020204" pitchFamily="34" charset="-122"/>
                <a:ea typeface="微软雅黑" panose="020B0503020204020204" pitchFamily="34" charset="-122"/>
                <a:sym typeface="宋体" panose="02010600030101010101" pitchFamily="2" charset="-122"/>
              </a:rPr>
              <a:t>主动产生</a:t>
            </a:r>
            <a:r>
              <a:rPr lang="en-US" altLang="zh-CN" b="1" dirty="0">
                <a:solidFill>
                  <a:srgbClr val="800000"/>
                </a:solidFill>
                <a:latin typeface="微软雅黑" panose="020B0503020204020204" pitchFamily="34" charset="-122"/>
                <a:ea typeface="微软雅黑" panose="020B0503020204020204" pitchFamily="34" charset="-122"/>
                <a:sym typeface="宋体" panose="02010600030101010101" pitchFamily="2" charset="-122"/>
              </a:rPr>
              <a:t>—&gt;</a:t>
            </a:r>
            <a:r>
              <a:rPr lang="zh-CN" altLang="en-US" b="1" dirty="0">
                <a:solidFill>
                  <a:srgbClr val="800000"/>
                </a:solidFill>
                <a:latin typeface="微软雅黑" panose="020B0503020204020204" pitchFamily="34" charset="-122"/>
                <a:ea typeface="微软雅黑" panose="020B0503020204020204" pitchFamily="34" charset="-122"/>
                <a:sym typeface="宋体" panose="02010600030101010101" pitchFamily="2" charset="-122"/>
              </a:rPr>
              <a:t>自动产生</a:t>
            </a:r>
            <a:endParaRPr lang="zh-CN" altLang="en-US" dirty="0">
              <a:latin typeface="微软雅黑" panose="020B0503020204020204" pitchFamily="34" charset="-122"/>
              <a:ea typeface="微软雅黑" panose="020B0503020204020204" pitchFamily="34" charset="-122"/>
            </a:endParaRPr>
          </a:p>
          <a:p>
            <a:pPr algn="ctr" eaLnBrk="1" hangingPunct="1">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图1-</a:t>
            </a:r>
            <a:r>
              <a:rPr lang="en-US" altLang="zh-CN"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数据产生方式的变革</a:t>
            </a:r>
            <a:endParaRPr lang="zh-CN" altLang="en-US" dirty="0">
              <a:latin typeface="微软雅黑" panose="020B0503020204020204" pitchFamily="34" charset="-122"/>
              <a:ea typeface="微软雅黑" panose="020B0503020204020204" pitchFamily="34" charset="-122"/>
            </a:endParaRPr>
          </a:p>
          <a:p>
            <a:pPr eaLnBrk="1" hangingPunct="1">
              <a:buFont typeface="Arial" panose="020B0604020202020204" pitchFamily="34" charset="0"/>
              <a:buNone/>
            </a:pP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大数据的发展历程</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
        <p:nvSpPr>
          <p:cNvPr id="6" name="Text Box 49"/>
          <p:cNvSpPr txBox="1">
            <a:spLocks noChangeArrowheads="1"/>
          </p:cNvSpPr>
          <p:nvPr/>
        </p:nvSpPr>
        <p:spPr bwMode="auto">
          <a:xfrm>
            <a:off x="4231354" y="1749552"/>
            <a:ext cx="37292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表1-2 大数据发展的三个阶段</a:t>
            </a:r>
            <a:endParaRPr lang="zh-CN" altLang="en-US" sz="2000" dirty="0">
              <a:latin typeface="微软雅黑" panose="020B0503020204020204" pitchFamily="34" charset="-122"/>
              <a:ea typeface="微软雅黑" panose="020B0503020204020204" pitchFamily="34" charset="-122"/>
            </a:endParaRPr>
          </a:p>
        </p:txBody>
      </p:sp>
      <p:graphicFrame>
        <p:nvGraphicFramePr>
          <p:cNvPr id="8" name="Group 4"/>
          <p:cNvGraphicFramePr>
            <a:graphicFrameLocks noGrp="1"/>
          </p:cNvGraphicFramePr>
          <p:nvPr/>
        </p:nvGraphicFramePr>
        <p:xfrm>
          <a:off x="1969510" y="2419350"/>
          <a:ext cx="8520685" cy="3937000"/>
        </p:xfrm>
        <a:graphic>
          <a:graphicData uri="http://schemas.openxmlformats.org/drawingml/2006/table">
            <a:tbl>
              <a:tblPr>
                <a:tableStyleId>{2D5ABB26-0587-4C30-8999-92F81FD0307C}</a:tableStyleId>
              </a:tblPr>
              <a:tblGrid>
                <a:gridCol w="1744121"/>
                <a:gridCol w="1654502"/>
                <a:gridCol w="5122062"/>
              </a:tblGrid>
              <a:tr h="365744">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阶段</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时间</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内容</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190418">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第一阶段：萌芽期</a:t>
                      </a: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上世纪90年代至本世纪初</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随着数据挖掘理论和数据库技术的逐步成熟，一批商业智能工具和知识管理技术开始被应用，如数据仓库、专家系统、知识管理系统等。</a:t>
                      </a: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39598">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第二阶段：成熟期</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本世纪前十年</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Web2.0应用迅猛发展，非结构化数据大量产生，传统处理方法难以应对，带动了大数据技术的快速突破，大数据解决方案逐渐走向成熟，形成了并行计算与分布式系统两大核心技术，谷歌的GFD和MapReduce等发数据技术受到追捧，Hadoop平台开始大行其道。</a:t>
                      </a:r>
                      <a:endParaRPr kumimoji="0"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1240">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第三阶段：大规模应用期</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2010年以后</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大数据应用渗透各行各业，数据驱动决策，信息社会智能化程度大幅提高。</a:t>
                      </a: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大数据的</a:t>
            </a:r>
            <a:r>
              <a:rPr lang="en-US" altLang="zh-CN" dirty="0"/>
              <a:t>4V</a:t>
            </a:r>
            <a:r>
              <a:rPr lang="zh-CN" altLang="en-US" dirty="0"/>
              <a:t>特性</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grpSp>
        <p:nvGrpSpPr>
          <p:cNvPr id="6" name="Group 3"/>
          <p:cNvGrpSpPr>
            <a:grpSpLocks noChangeAspect="1"/>
          </p:cNvGrpSpPr>
          <p:nvPr/>
        </p:nvGrpSpPr>
        <p:grpSpPr bwMode="auto">
          <a:xfrm>
            <a:off x="2356483" y="1915898"/>
            <a:ext cx="8127864" cy="1033463"/>
            <a:chOff x="-2489195" y="1009131"/>
            <a:chExt cx="4937966" cy="1033151"/>
          </a:xfrm>
        </p:grpSpPr>
        <p:pic>
          <p:nvPicPr>
            <p:cNvPr id="7" name="Picture 16" descr="https://encrypted-tbn0.gstatic.com/images?q=tbn:ANd9GcT3FnZ8mLjcHsjGONi0s9oN4htj915LHxZvV8t_WtIwkKihjqGDl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05" y="1033151"/>
              <a:ext cx="2443866" cy="979192"/>
            </a:xfrm>
            <a:prstGeom prst="rect">
              <a:avLst/>
            </a:prstGeom>
            <a:solidFill>
              <a:srgbClr val="FFFAD9"/>
            </a:solidFill>
            <a:ln w="28575">
              <a:solidFill>
                <a:srgbClr val="FFC1C1"/>
              </a:solidFill>
              <a:prstDash val="dash"/>
              <a:miter lim="800000"/>
              <a:headEnd/>
              <a:tailEnd/>
            </a:ln>
            <a:effectLst>
              <a:outerShdw dist="35921" dir="2700000" algn="ctr" rotWithShape="0">
                <a:schemeClr val="bg2"/>
              </a:outerShdw>
            </a:effectLst>
          </p:spPr>
        </p:pic>
        <p:pic>
          <p:nvPicPr>
            <p:cNvPr id="8" name="Picture 6" descr="http://siliconangle.com/files/2011/06/semantic-web-big-dat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195" y="1009131"/>
              <a:ext cx="2443866" cy="1033151"/>
            </a:xfrm>
            <a:prstGeom prst="rect">
              <a:avLst/>
            </a:prstGeom>
            <a:solidFill>
              <a:srgbClr val="FFFAD9"/>
            </a:solidFill>
            <a:ln w="28575">
              <a:solidFill>
                <a:srgbClr val="FFC1C1"/>
              </a:solidFill>
              <a:prstDash val="dash"/>
              <a:miter lim="800000"/>
              <a:headEnd/>
              <a:tailEnd/>
            </a:ln>
            <a:effectLst>
              <a:outerShdw dist="35921" dir="2700000" algn="ctr" rotWithShape="0">
                <a:schemeClr val="bg2"/>
              </a:outerShdw>
            </a:effectLst>
          </p:spPr>
        </p:pic>
      </p:grpSp>
      <p:grpSp>
        <p:nvGrpSpPr>
          <p:cNvPr id="9" name="Group 6"/>
          <p:cNvGrpSpPr/>
          <p:nvPr/>
        </p:nvGrpSpPr>
        <p:grpSpPr bwMode="auto">
          <a:xfrm>
            <a:off x="2232523" y="3165475"/>
            <a:ext cx="8367712" cy="3190875"/>
            <a:chOff x="0" y="0"/>
            <a:chExt cx="8368365" cy="3190451"/>
          </a:xfrm>
        </p:grpSpPr>
        <p:sp>
          <p:nvSpPr>
            <p:cNvPr id="10" name="Rounded Rectangle 8"/>
            <p:cNvSpPr>
              <a:spLocks noChangeArrowheads="1"/>
            </p:cNvSpPr>
            <p:nvPr/>
          </p:nvSpPr>
          <p:spPr bwMode="auto">
            <a:xfrm>
              <a:off x="0" y="0"/>
              <a:ext cx="2044860" cy="628566"/>
            </a:xfrm>
            <a:prstGeom prst="roundRect">
              <a:avLst>
                <a:gd name="adj" fmla="val 16667"/>
              </a:avLst>
            </a:prstGeom>
            <a:solidFill>
              <a:srgbClr val="FFA954">
                <a:alpha val="79999"/>
              </a:srgbClr>
            </a:solidFill>
            <a:ln w="9525">
              <a:solidFill>
                <a:srgbClr val="FFA954"/>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u="sng">
                  <a:solidFill>
                    <a:srgbClr val="FFFF00"/>
                  </a:solidFill>
                  <a:latin typeface="Times New Roman" panose="02020603050405020304" pitchFamily="18" charset="0"/>
                  <a:ea typeface="微软雅黑" panose="020B0503020204020204" pitchFamily="34" charset="-122"/>
                </a:rPr>
                <a:t>V</a:t>
              </a:r>
              <a:r>
                <a:rPr lang="en-US" altLang="zh-CN">
                  <a:solidFill>
                    <a:schemeClr val="bg1"/>
                  </a:solidFill>
                  <a:latin typeface="Times New Roman" panose="02020603050405020304" pitchFamily="18" charset="0"/>
                  <a:ea typeface="微软雅黑" panose="020B0503020204020204" pitchFamily="34" charset="-122"/>
                </a:rPr>
                <a:t>olume</a:t>
              </a:r>
              <a:endParaRPr lang="zh-CN" altLang="en-US">
                <a:solidFill>
                  <a:schemeClr val="bg1"/>
                </a:solidFill>
                <a:latin typeface="Times New Roman" panose="02020603050405020304" pitchFamily="18" charset="0"/>
                <a:ea typeface="微软雅黑" panose="020B0503020204020204" pitchFamily="34" charset="-122"/>
              </a:endParaRPr>
            </a:p>
          </p:txBody>
        </p:sp>
        <p:sp>
          <p:nvSpPr>
            <p:cNvPr id="11" name="Rounded Rectangle 13"/>
            <p:cNvSpPr>
              <a:spLocks noChangeArrowheads="1"/>
            </p:cNvSpPr>
            <p:nvPr/>
          </p:nvSpPr>
          <p:spPr bwMode="auto">
            <a:xfrm>
              <a:off x="1587" y="555551"/>
              <a:ext cx="2044860" cy="2630137"/>
            </a:xfrm>
            <a:prstGeom prst="roundRect">
              <a:avLst>
                <a:gd name="adj" fmla="val 0"/>
              </a:avLst>
            </a:prstGeom>
            <a:solidFill>
              <a:schemeClr val="bg1"/>
            </a:solidFill>
            <a:ln w="9525">
              <a:solidFill>
                <a:srgbClr val="FFA954"/>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chemeClr val="bg1"/>
                  </a:solidFill>
                  <a:latin typeface="微软雅黑" panose="020B0503020204020204" pitchFamily="34" charset="-122"/>
                  <a:ea typeface="微软雅黑" panose="020B0503020204020204" pitchFamily="34" charset="-122"/>
                </a:rPr>
                <a:t>Volume</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2" name="Rounded Rectangle 10"/>
            <p:cNvSpPr>
              <a:spLocks noChangeArrowheads="1"/>
            </p:cNvSpPr>
            <p:nvPr/>
          </p:nvSpPr>
          <p:spPr bwMode="auto">
            <a:xfrm>
              <a:off x="4221491" y="0"/>
              <a:ext cx="2044860" cy="628566"/>
            </a:xfrm>
            <a:prstGeom prst="roundRect">
              <a:avLst>
                <a:gd name="adj" fmla="val 16667"/>
              </a:avLst>
            </a:prstGeom>
            <a:solidFill>
              <a:srgbClr val="7030A0">
                <a:alpha val="79999"/>
              </a:srgbClr>
            </a:solidFill>
            <a:ln w="9525">
              <a:solidFill>
                <a:srgbClr val="7030A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u="sng">
                  <a:solidFill>
                    <a:srgbClr val="FFFF00"/>
                  </a:solidFill>
                  <a:ea typeface="微软雅黑" panose="020B0503020204020204" pitchFamily="34" charset="-122"/>
                </a:rPr>
                <a:t>V</a:t>
              </a:r>
              <a:r>
                <a:rPr lang="en-US" altLang="zh-CN">
                  <a:solidFill>
                    <a:schemeClr val="bg1"/>
                  </a:solidFill>
                  <a:latin typeface="Times New Roman" panose="02020603050405020304" pitchFamily="18" charset="0"/>
                  <a:ea typeface="微软雅黑" panose="020B0503020204020204" pitchFamily="34" charset="-122"/>
                </a:rPr>
                <a:t>ariety</a:t>
              </a:r>
              <a:endParaRPr lang="zh-CN" altLang="en-US">
                <a:solidFill>
                  <a:schemeClr val="bg1"/>
                </a:solidFill>
                <a:latin typeface="Times New Roman" panose="02020603050405020304" pitchFamily="18" charset="0"/>
                <a:ea typeface="微软雅黑" panose="020B0503020204020204" pitchFamily="34" charset="-122"/>
              </a:endParaRPr>
            </a:p>
          </p:txBody>
        </p:sp>
        <p:sp>
          <p:nvSpPr>
            <p:cNvPr id="13" name="Rounded Rectangle 15"/>
            <p:cNvSpPr>
              <a:spLocks noChangeArrowheads="1"/>
            </p:cNvSpPr>
            <p:nvPr/>
          </p:nvSpPr>
          <p:spPr bwMode="auto">
            <a:xfrm>
              <a:off x="4221712" y="559557"/>
              <a:ext cx="2044898" cy="2630894"/>
            </a:xfrm>
            <a:prstGeom prst="roundRect">
              <a:avLst>
                <a:gd name="adj" fmla="val 0"/>
              </a:avLst>
            </a:prstGeom>
            <a:solidFill>
              <a:schemeClr val="bg1"/>
            </a:solidFill>
            <a:ln w="9525">
              <a:solidFill>
                <a:srgbClr val="7030A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chemeClr val="bg1"/>
                  </a:solidFill>
                  <a:latin typeface="微软雅黑" panose="020B0503020204020204" pitchFamily="34" charset="-122"/>
                  <a:ea typeface="微软雅黑" panose="020B0503020204020204" pitchFamily="34" charset="-122"/>
                </a:rPr>
                <a:t>Volume</a:t>
              </a: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14" name="Group 11"/>
            <p:cNvGrpSpPr/>
            <p:nvPr/>
          </p:nvGrpSpPr>
          <p:grpSpPr bwMode="auto">
            <a:xfrm>
              <a:off x="4339245" y="677751"/>
              <a:ext cx="1818614" cy="817563"/>
              <a:chOff x="0" y="0"/>
              <a:chExt cx="1504767" cy="1376940"/>
            </a:xfrm>
          </p:grpSpPr>
          <p:grpSp>
            <p:nvGrpSpPr>
              <p:cNvPr id="243" name="Group 12"/>
              <p:cNvGrpSpPr/>
              <p:nvPr/>
            </p:nvGrpSpPr>
            <p:grpSpPr bwMode="auto">
              <a:xfrm>
                <a:off x="257175" y="0"/>
                <a:ext cx="1116942" cy="112144"/>
                <a:chOff x="0" y="0"/>
                <a:chExt cx="1116942" cy="112144"/>
              </a:xfrm>
            </p:grpSpPr>
            <p:sp>
              <p:nvSpPr>
                <p:cNvPr id="282" name="Flowchart: Connector 193"/>
                <p:cNvSpPr>
                  <a:spLocks noChangeArrowheads="1"/>
                </p:cNvSpPr>
                <p:nvPr/>
              </p:nvSpPr>
              <p:spPr bwMode="auto">
                <a:xfrm>
                  <a:off x="0" y="0"/>
                  <a:ext cx="111600" cy="112144"/>
                </a:xfrm>
                <a:prstGeom prst="flowChartConnector">
                  <a:avLst/>
                </a:prstGeom>
                <a:solidFill>
                  <a:srgbClr val="7030A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83" name="Flowchart: Connector 194"/>
                <p:cNvSpPr>
                  <a:spLocks noChangeArrowheads="1"/>
                </p:cNvSpPr>
                <p:nvPr/>
              </p:nvSpPr>
              <p:spPr bwMode="auto">
                <a:xfrm>
                  <a:off x="244413" y="35"/>
                  <a:ext cx="111660"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84" name="Flowchart: Connector 196"/>
                <p:cNvSpPr>
                  <a:spLocks noChangeArrowheads="1"/>
                </p:cNvSpPr>
                <p:nvPr/>
              </p:nvSpPr>
              <p:spPr bwMode="auto">
                <a:xfrm>
                  <a:off x="747537" y="35"/>
                  <a:ext cx="111659"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85" name="Flowchart: Connector 197"/>
                <p:cNvSpPr>
                  <a:spLocks noChangeArrowheads="1"/>
                </p:cNvSpPr>
                <p:nvPr/>
              </p:nvSpPr>
              <p:spPr bwMode="auto">
                <a:xfrm>
                  <a:off x="1005342" y="0"/>
                  <a:ext cx="111600" cy="112144"/>
                </a:xfrm>
                <a:prstGeom prst="flowChartConnector">
                  <a:avLst/>
                </a:prstGeom>
                <a:solidFill>
                  <a:srgbClr val="0070C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44" name="Group 17"/>
              <p:cNvGrpSpPr/>
              <p:nvPr/>
            </p:nvGrpSpPr>
            <p:grpSpPr bwMode="auto">
              <a:xfrm>
                <a:off x="257175" y="372000"/>
                <a:ext cx="859767" cy="112144"/>
                <a:chOff x="0" y="0"/>
                <a:chExt cx="859767" cy="112144"/>
              </a:xfrm>
            </p:grpSpPr>
            <p:sp>
              <p:nvSpPr>
                <p:cNvPr id="278" name="Flowchart: Connector 187"/>
                <p:cNvSpPr>
                  <a:spLocks noChangeArrowheads="1"/>
                </p:cNvSpPr>
                <p:nvPr/>
              </p:nvSpPr>
              <p:spPr bwMode="auto">
                <a:xfrm>
                  <a:off x="76" y="-374"/>
                  <a:ext cx="111660"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9" name="Flowchart: Connector 188"/>
                <p:cNvSpPr>
                  <a:spLocks noChangeArrowheads="1"/>
                </p:cNvSpPr>
                <p:nvPr/>
              </p:nvSpPr>
              <p:spPr bwMode="auto">
                <a:xfrm>
                  <a:off x="244950" y="0"/>
                  <a:ext cx="111600" cy="112144"/>
                </a:xfrm>
                <a:prstGeom prst="flowChartConnector">
                  <a:avLst/>
                </a:prstGeom>
                <a:solidFill>
                  <a:srgbClr val="7030A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80" name="Flowchart: Connector 189"/>
                <p:cNvSpPr>
                  <a:spLocks noChangeArrowheads="1"/>
                </p:cNvSpPr>
                <p:nvPr/>
              </p:nvSpPr>
              <p:spPr bwMode="auto">
                <a:xfrm>
                  <a:off x="503201" y="-374"/>
                  <a:ext cx="111659" cy="112279"/>
                </a:xfrm>
                <a:prstGeom prst="flowChartConnector">
                  <a:avLst/>
                </a:prstGeom>
                <a:solidFill>
                  <a:srgbClr val="CF9A64">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81" name="Flowchart: Connector 190"/>
                <p:cNvSpPr>
                  <a:spLocks noChangeArrowheads="1"/>
                </p:cNvSpPr>
                <p:nvPr/>
              </p:nvSpPr>
              <p:spPr bwMode="auto">
                <a:xfrm>
                  <a:off x="752792" y="-374"/>
                  <a:ext cx="111659"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45" name="Group 22"/>
              <p:cNvGrpSpPr/>
              <p:nvPr/>
            </p:nvGrpSpPr>
            <p:grpSpPr bwMode="auto">
              <a:xfrm>
                <a:off x="0" y="732001"/>
                <a:ext cx="1374117" cy="112144"/>
                <a:chOff x="0" y="0"/>
                <a:chExt cx="1374117" cy="112144"/>
              </a:xfrm>
            </p:grpSpPr>
            <p:sp>
              <p:nvSpPr>
                <p:cNvPr id="273" name="Flowchart: Connector 180"/>
                <p:cNvSpPr>
                  <a:spLocks noChangeArrowheads="1"/>
                </p:cNvSpPr>
                <p:nvPr/>
              </p:nvSpPr>
              <p:spPr bwMode="auto">
                <a:xfrm>
                  <a:off x="-223" y="522"/>
                  <a:ext cx="111660" cy="112279"/>
                </a:xfrm>
                <a:prstGeom prst="flowChartConnector">
                  <a:avLst/>
                </a:prstGeom>
                <a:solidFill>
                  <a:srgbClr val="CF9A64">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4" name="Flowchart: Connector 182"/>
                <p:cNvSpPr>
                  <a:spLocks noChangeArrowheads="1"/>
                </p:cNvSpPr>
                <p:nvPr/>
              </p:nvSpPr>
              <p:spPr bwMode="auto">
                <a:xfrm>
                  <a:off x="501588" y="522"/>
                  <a:ext cx="111660"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5" name="Flowchart: Connector 183"/>
                <p:cNvSpPr>
                  <a:spLocks noChangeArrowheads="1"/>
                </p:cNvSpPr>
                <p:nvPr/>
              </p:nvSpPr>
              <p:spPr bwMode="auto">
                <a:xfrm>
                  <a:off x="759061" y="522"/>
                  <a:ext cx="111660" cy="112279"/>
                </a:xfrm>
                <a:prstGeom prst="flowChartConnector">
                  <a:avLst/>
                </a:prstGeom>
                <a:solidFill>
                  <a:srgbClr val="CF9A64">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6" name="Flowchart: Connector 184"/>
                <p:cNvSpPr>
                  <a:spLocks noChangeArrowheads="1"/>
                </p:cNvSpPr>
                <p:nvPr/>
              </p:nvSpPr>
              <p:spPr bwMode="auto">
                <a:xfrm>
                  <a:off x="1005342" y="0"/>
                  <a:ext cx="111600" cy="112144"/>
                </a:xfrm>
                <a:prstGeom prst="flowChartConnector">
                  <a:avLst/>
                </a:prstGeom>
                <a:solidFill>
                  <a:srgbClr val="00B0F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7" name="Flowchart: Connector 185"/>
                <p:cNvSpPr>
                  <a:spLocks noChangeArrowheads="1"/>
                </p:cNvSpPr>
                <p:nvPr/>
              </p:nvSpPr>
              <p:spPr bwMode="auto">
                <a:xfrm>
                  <a:off x="1262517" y="0"/>
                  <a:ext cx="111600" cy="112144"/>
                </a:xfrm>
                <a:prstGeom prst="flowChartConnector">
                  <a:avLst/>
                </a:prstGeom>
                <a:solidFill>
                  <a:srgbClr val="FF00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46" name="Group 28"/>
              <p:cNvGrpSpPr/>
              <p:nvPr/>
            </p:nvGrpSpPr>
            <p:grpSpPr bwMode="auto">
              <a:xfrm>
                <a:off x="0" y="1104001"/>
                <a:ext cx="1374117" cy="112144"/>
                <a:chOff x="0" y="0"/>
                <a:chExt cx="1374117" cy="112144"/>
              </a:xfrm>
            </p:grpSpPr>
            <p:sp>
              <p:nvSpPr>
                <p:cNvPr id="267" name="Flowchart: Connector 174"/>
                <p:cNvSpPr>
                  <a:spLocks noChangeArrowheads="1"/>
                </p:cNvSpPr>
                <p:nvPr/>
              </p:nvSpPr>
              <p:spPr bwMode="auto">
                <a:xfrm>
                  <a:off x="-223" y="113"/>
                  <a:ext cx="111660"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8" name="Flowchart: Connector 175"/>
                <p:cNvSpPr>
                  <a:spLocks noChangeArrowheads="1"/>
                </p:cNvSpPr>
                <p:nvPr/>
              </p:nvSpPr>
              <p:spPr bwMode="auto">
                <a:xfrm>
                  <a:off x="257175" y="0"/>
                  <a:ext cx="111600" cy="112144"/>
                </a:xfrm>
                <a:prstGeom prst="flowChartConnector">
                  <a:avLst/>
                </a:prstGeom>
                <a:solidFill>
                  <a:srgbClr val="FF00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9" name="Flowchart: Connector 176"/>
                <p:cNvSpPr>
                  <a:spLocks noChangeArrowheads="1"/>
                </p:cNvSpPr>
                <p:nvPr/>
              </p:nvSpPr>
              <p:spPr bwMode="auto">
                <a:xfrm>
                  <a:off x="501588" y="113"/>
                  <a:ext cx="111660"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0" name="Flowchart: Connector 177"/>
                <p:cNvSpPr>
                  <a:spLocks noChangeArrowheads="1"/>
                </p:cNvSpPr>
                <p:nvPr/>
              </p:nvSpPr>
              <p:spPr bwMode="auto">
                <a:xfrm>
                  <a:off x="759300" y="0"/>
                  <a:ext cx="111600" cy="112144"/>
                </a:xfrm>
                <a:prstGeom prst="flowChartConnector">
                  <a:avLst/>
                </a:prstGeom>
                <a:solidFill>
                  <a:srgbClr val="FFFF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1" name="Flowchart: Connector 178"/>
                <p:cNvSpPr>
                  <a:spLocks noChangeArrowheads="1"/>
                </p:cNvSpPr>
                <p:nvPr/>
              </p:nvSpPr>
              <p:spPr bwMode="auto">
                <a:xfrm>
                  <a:off x="1004712" y="113"/>
                  <a:ext cx="111659"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72" name="Flowchart: Connector 179"/>
                <p:cNvSpPr>
                  <a:spLocks noChangeArrowheads="1"/>
                </p:cNvSpPr>
                <p:nvPr/>
              </p:nvSpPr>
              <p:spPr bwMode="auto">
                <a:xfrm>
                  <a:off x="1262186" y="113"/>
                  <a:ext cx="111659" cy="112279"/>
                </a:xfrm>
                <a:prstGeom prst="flowChartConnector">
                  <a:avLst/>
                </a:prstGeom>
                <a:solidFill>
                  <a:srgbClr val="CF9A64">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47" name="Group 35"/>
              <p:cNvGrpSpPr/>
              <p:nvPr/>
            </p:nvGrpSpPr>
            <p:grpSpPr bwMode="auto">
              <a:xfrm>
                <a:off x="130650" y="160795"/>
                <a:ext cx="1374117" cy="112144"/>
                <a:chOff x="0" y="0"/>
                <a:chExt cx="1374117" cy="112144"/>
              </a:xfrm>
            </p:grpSpPr>
            <p:sp>
              <p:nvSpPr>
                <p:cNvPr id="262" name="Flowchart: Connector 168"/>
                <p:cNvSpPr>
                  <a:spLocks noChangeArrowheads="1"/>
                </p:cNvSpPr>
                <p:nvPr/>
              </p:nvSpPr>
              <p:spPr bwMode="auto">
                <a:xfrm>
                  <a:off x="0" y="0"/>
                  <a:ext cx="111600" cy="112144"/>
                </a:xfrm>
                <a:prstGeom prst="flowChartConnector">
                  <a:avLst/>
                </a:prstGeom>
                <a:solidFill>
                  <a:srgbClr val="FFFF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3" name="Flowchart: Connector 169"/>
                <p:cNvSpPr>
                  <a:spLocks noChangeArrowheads="1"/>
                </p:cNvSpPr>
                <p:nvPr/>
              </p:nvSpPr>
              <p:spPr bwMode="auto">
                <a:xfrm>
                  <a:off x="257175" y="0"/>
                  <a:ext cx="111600" cy="112144"/>
                </a:xfrm>
                <a:prstGeom prst="flowChartConnector">
                  <a:avLst/>
                </a:prstGeom>
                <a:solidFill>
                  <a:srgbClr val="0070C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4" name="Flowchart: Connector 170"/>
                <p:cNvSpPr>
                  <a:spLocks noChangeArrowheads="1"/>
                </p:cNvSpPr>
                <p:nvPr/>
              </p:nvSpPr>
              <p:spPr bwMode="auto">
                <a:xfrm>
                  <a:off x="502125" y="0"/>
                  <a:ext cx="111600" cy="112144"/>
                </a:xfrm>
                <a:prstGeom prst="flowChartConnector">
                  <a:avLst/>
                </a:prstGeom>
                <a:solidFill>
                  <a:srgbClr val="FF00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5" name="Flowchart: Connector 172"/>
                <p:cNvSpPr>
                  <a:spLocks noChangeArrowheads="1"/>
                </p:cNvSpPr>
                <p:nvPr/>
              </p:nvSpPr>
              <p:spPr bwMode="auto">
                <a:xfrm>
                  <a:off x="1005342" y="0"/>
                  <a:ext cx="111600" cy="112144"/>
                </a:xfrm>
                <a:prstGeom prst="flowChartConnector">
                  <a:avLst/>
                </a:prstGeom>
                <a:solidFill>
                  <a:srgbClr val="FFFF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6" name="Flowchart: Connector 173"/>
                <p:cNvSpPr>
                  <a:spLocks noChangeArrowheads="1"/>
                </p:cNvSpPr>
                <p:nvPr/>
              </p:nvSpPr>
              <p:spPr bwMode="auto">
                <a:xfrm>
                  <a:off x="1262900" y="-360"/>
                  <a:ext cx="111659" cy="112279"/>
                </a:xfrm>
                <a:prstGeom prst="flowChartConnector">
                  <a:avLst/>
                </a:prstGeom>
                <a:solidFill>
                  <a:srgbClr val="CF9A64">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48" name="Group 41"/>
              <p:cNvGrpSpPr/>
              <p:nvPr/>
            </p:nvGrpSpPr>
            <p:grpSpPr bwMode="auto">
              <a:xfrm>
                <a:off x="130650" y="532795"/>
                <a:ext cx="1374117" cy="112144"/>
                <a:chOff x="0" y="0"/>
                <a:chExt cx="1374117" cy="112144"/>
              </a:xfrm>
            </p:grpSpPr>
            <p:sp>
              <p:nvSpPr>
                <p:cNvPr id="257" name="Flowchart: Connector 162"/>
                <p:cNvSpPr>
                  <a:spLocks noChangeArrowheads="1"/>
                </p:cNvSpPr>
                <p:nvPr/>
              </p:nvSpPr>
              <p:spPr bwMode="auto">
                <a:xfrm>
                  <a:off x="0" y="0"/>
                  <a:ext cx="111600" cy="112144"/>
                </a:xfrm>
                <a:prstGeom prst="flowChartConnector">
                  <a:avLst/>
                </a:prstGeom>
                <a:solidFill>
                  <a:srgbClr val="FF00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58" name="Flowchart: Connector 163"/>
                <p:cNvSpPr>
                  <a:spLocks noChangeArrowheads="1"/>
                </p:cNvSpPr>
                <p:nvPr/>
              </p:nvSpPr>
              <p:spPr bwMode="auto">
                <a:xfrm>
                  <a:off x="257175" y="0"/>
                  <a:ext cx="111600" cy="112144"/>
                </a:xfrm>
                <a:prstGeom prst="flowChartConnector">
                  <a:avLst/>
                </a:prstGeom>
                <a:solidFill>
                  <a:srgbClr val="0070C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59" name="Flowchart: Connector 164"/>
                <p:cNvSpPr>
                  <a:spLocks noChangeArrowheads="1"/>
                </p:cNvSpPr>
                <p:nvPr/>
              </p:nvSpPr>
              <p:spPr bwMode="auto">
                <a:xfrm>
                  <a:off x="502125" y="0"/>
                  <a:ext cx="111600" cy="112144"/>
                </a:xfrm>
                <a:prstGeom prst="flowChartConnector">
                  <a:avLst/>
                </a:prstGeom>
                <a:solidFill>
                  <a:srgbClr val="FFFF0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0" name="Flowchart: Connector 166"/>
                <p:cNvSpPr>
                  <a:spLocks noChangeArrowheads="1"/>
                </p:cNvSpPr>
                <p:nvPr/>
              </p:nvSpPr>
              <p:spPr bwMode="auto">
                <a:xfrm>
                  <a:off x="1005342" y="0"/>
                  <a:ext cx="111600" cy="112144"/>
                </a:xfrm>
                <a:prstGeom prst="flowChartConnector">
                  <a:avLst/>
                </a:prstGeom>
                <a:solidFill>
                  <a:srgbClr val="7030A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61" name="Flowchart: Connector 167"/>
                <p:cNvSpPr>
                  <a:spLocks noChangeArrowheads="1"/>
                </p:cNvSpPr>
                <p:nvPr/>
              </p:nvSpPr>
              <p:spPr bwMode="auto">
                <a:xfrm>
                  <a:off x="1262900" y="-770"/>
                  <a:ext cx="111659"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49" name="Group 47"/>
              <p:cNvGrpSpPr/>
              <p:nvPr/>
            </p:nvGrpSpPr>
            <p:grpSpPr bwMode="auto">
              <a:xfrm>
                <a:off x="387825" y="892796"/>
                <a:ext cx="613725" cy="112144"/>
                <a:chOff x="0" y="0"/>
                <a:chExt cx="613725" cy="112144"/>
              </a:xfrm>
            </p:grpSpPr>
            <p:sp>
              <p:nvSpPr>
                <p:cNvPr id="254" name="Flowchart: Connector 157"/>
                <p:cNvSpPr>
                  <a:spLocks noChangeArrowheads="1"/>
                </p:cNvSpPr>
                <p:nvPr/>
              </p:nvSpPr>
              <p:spPr bwMode="auto">
                <a:xfrm>
                  <a:off x="0" y="0"/>
                  <a:ext cx="111600" cy="112144"/>
                </a:xfrm>
                <a:prstGeom prst="flowChartConnector">
                  <a:avLst/>
                </a:prstGeom>
                <a:solidFill>
                  <a:srgbClr val="7030A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55" name="Flowchart: Connector 158"/>
                <p:cNvSpPr>
                  <a:spLocks noChangeArrowheads="1"/>
                </p:cNvSpPr>
                <p:nvPr/>
              </p:nvSpPr>
              <p:spPr bwMode="auto">
                <a:xfrm>
                  <a:off x="244950" y="0"/>
                  <a:ext cx="111600" cy="112144"/>
                </a:xfrm>
                <a:prstGeom prst="flowChartConnector">
                  <a:avLst/>
                </a:prstGeom>
                <a:solidFill>
                  <a:srgbClr val="0070C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56" name="Flowchart: Connector 159"/>
                <p:cNvSpPr>
                  <a:spLocks noChangeArrowheads="1"/>
                </p:cNvSpPr>
                <p:nvPr/>
              </p:nvSpPr>
              <p:spPr bwMode="auto">
                <a:xfrm>
                  <a:off x="502125" y="0"/>
                  <a:ext cx="111600" cy="112144"/>
                </a:xfrm>
                <a:prstGeom prst="flowChartConnector">
                  <a:avLst/>
                </a:prstGeom>
                <a:solidFill>
                  <a:srgbClr val="7030A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50" name="Group 51"/>
              <p:cNvGrpSpPr/>
              <p:nvPr/>
            </p:nvGrpSpPr>
            <p:grpSpPr bwMode="auto">
              <a:xfrm>
                <a:off x="387825" y="1264796"/>
                <a:ext cx="1116942" cy="112144"/>
                <a:chOff x="0" y="0"/>
                <a:chExt cx="1116942" cy="112144"/>
              </a:xfrm>
            </p:grpSpPr>
            <p:sp>
              <p:nvSpPr>
                <p:cNvPr id="251" name="Flowchart: Connector 151"/>
                <p:cNvSpPr>
                  <a:spLocks noChangeArrowheads="1"/>
                </p:cNvSpPr>
                <p:nvPr/>
              </p:nvSpPr>
              <p:spPr bwMode="auto">
                <a:xfrm>
                  <a:off x="-523" y="-283"/>
                  <a:ext cx="111659" cy="112279"/>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52" name="Flowchart: Connector 153"/>
                <p:cNvSpPr>
                  <a:spLocks noChangeArrowheads="1"/>
                </p:cNvSpPr>
                <p:nvPr/>
              </p:nvSpPr>
              <p:spPr bwMode="auto">
                <a:xfrm>
                  <a:off x="502601" y="-283"/>
                  <a:ext cx="111660" cy="112279"/>
                </a:xfrm>
                <a:prstGeom prst="flowChartConnector">
                  <a:avLst/>
                </a:prstGeom>
                <a:solidFill>
                  <a:srgbClr val="CF9A64">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53" name="Flowchart: Connector 155"/>
                <p:cNvSpPr>
                  <a:spLocks noChangeArrowheads="1"/>
                </p:cNvSpPr>
                <p:nvPr/>
              </p:nvSpPr>
              <p:spPr bwMode="auto">
                <a:xfrm>
                  <a:off x="1005342" y="0"/>
                  <a:ext cx="111600" cy="112144"/>
                </a:xfrm>
                <a:prstGeom prst="flowChartConnector">
                  <a:avLst/>
                </a:prstGeom>
                <a:solidFill>
                  <a:srgbClr val="0070C0">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sp>
          <p:nvSpPr>
            <p:cNvPr id="15" name="TextBox 11"/>
            <p:cNvSpPr txBox="1">
              <a:spLocks noChangeArrowheads="1"/>
            </p:cNvSpPr>
            <p:nvPr/>
          </p:nvSpPr>
          <p:spPr bwMode="auto">
            <a:xfrm>
              <a:off x="4861304" y="1493639"/>
              <a:ext cx="870018" cy="3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a:solidFill>
                    <a:srgbClr val="0000CC"/>
                  </a:solidFill>
                  <a:latin typeface="黑体" panose="02010609060101010101" pitchFamily="49" charset="-122"/>
                  <a:ea typeface="黑体" panose="02010609060101010101" pitchFamily="49" charset="-122"/>
                </a:rPr>
                <a:t>模态多</a:t>
              </a:r>
              <a:endParaRPr lang="zh-CN" altLang="en-US">
                <a:solidFill>
                  <a:srgbClr val="0000CC"/>
                </a:solidFill>
                <a:latin typeface="黑体" panose="02010609060101010101" pitchFamily="49" charset="-122"/>
                <a:ea typeface="黑体" panose="02010609060101010101" pitchFamily="49" charset="-122"/>
              </a:endParaRPr>
            </a:p>
          </p:txBody>
        </p:sp>
        <p:sp>
          <p:nvSpPr>
            <p:cNvPr id="16" name="Rounded Rectangle 11"/>
            <p:cNvSpPr>
              <a:spLocks noChangeArrowheads="1"/>
            </p:cNvSpPr>
            <p:nvPr/>
          </p:nvSpPr>
          <p:spPr bwMode="auto">
            <a:xfrm>
              <a:off x="6323505" y="0"/>
              <a:ext cx="2044860" cy="628566"/>
            </a:xfrm>
            <a:prstGeom prst="roundRect">
              <a:avLst>
                <a:gd name="adj" fmla="val 16667"/>
              </a:avLst>
            </a:prstGeom>
            <a:solidFill>
              <a:srgbClr val="00B0F0">
                <a:alpha val="79999"/>
              </a:srgbClr>
            </a:solidFill>
            <a:ln w="9525">
              <a:solidFill>
                <a:srgbClr val="00B0F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u="sng">
                  <a:solidFill>
                    <a:srgbClr val="FFFF00"/>
                  </a:solidFill>
                  <a:ea typeface="微软雅黑" panose="020B0503020204020204" pitchFamily="34" charset="-122"/>
                </a:rPr>
                <a:t>V</a:t>
              </a:r>
              <a:r>
                <a:rPr lang="en-US" altLang="zh-CN">
                  <a:solidFill>
                    <a:schemeClr val="bg1"/>
                  </a:solidFill>
                  <a:latin typeface="Times New Roman" panose="02020603050405020304" pitchFamily="18" charset="0"/>
                  <a:ea typeface="微软雅黑" panose="020B0503020204020204" pitchFamily="34" charset="-122"/>
                </a:rPr>
                <a:t>eracity</a:t>
              </a:r>
              <a:endParaRPr lang="zh-CN" altLang="en-US">
                <a:solidFill>
                  <a:schemeClr val="bg1"/>
                </a:solidFill>
                <a:latin typeface="Times New Roman" panose="02020603050405020304" pitchFamily="18" charset="0"/>
                <a:ea typeface="微软雅黑" panose="020B0503020204020204" pitchFamily="34" charset="-122"/>
              </a:endParaRPr>
            </a:p>
          </p:txBody>
        </p:sp>
        <p:sp>
          <p:nvSpPr>
            <p:cNvPr id="17" name="Rounded Rectangle 16"/>
            <p:cNvSpPr>
              <a:spLocks noChangeArrowheads="1"/>
            </p:cNvSpPr>
            <p:nvPr/>
          </p:nvSpPr>
          <p:spPr bwMode="auto">
            <a:xfrm>
              <a:off x="6316035" y="559557"/>
              <a:ext cx="2044898" cy="2630893"/>
            </a:xfrm>
            <a:prstGeom prst="roundRect">
              <a:avLst>
                <a:gd name="adj" fmla="val 0"/>
              </a:avLst>
            </a:prstGeom>
            <a:solidFill>
              <a:schemeClr val="bg1"/>
            </a:solidFill>
            <a:ln w="9525">
              <a:solidFill>
                <a:srgbClr val="00B0F0"/>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chemeClr val="bg1"/>
                  </a:solidFill>
                  <a:latin typeface="微软雅黑" panose="020B0503020204020204" pitchFamily="34" charset="-122"/>
                  <a:ea typeface="微软雅黑" panose="020B0503020204020204" pitchFamily="34" charset="-122"/>
                </a:rPr>
                <a:t>Volume</a:t>
              </a: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18" name="Group 58"/>
            <p:cNvGrpSpPr/>
            <p:nvPr/>
          </p:nvGrpSpPr>
          <p:grpSpPr bwMode="auto">
            <a:xfrm>
              <a:off x="6433701" y="669549"/>
              <a:ext cx="1818616" cy="845926"/>
              <a:chOff x="0" y="0"/>
              <a:chExt cx="1504769" cy="1447724"/>
            </a:xfrm>
          </p:grpSpPr>
          <p:grpSp>
            <p:nvGrpSpPr>
              <p:cNvPr id="190" name="Group 59"/>
              <p:cNvGrpSpPr/>
              <p:nvPr/>
            </p:nvGrpSpPr>
            <p:grpSpPr bwMode="auto">
              <a:xfrm>
                <a:off x="186452" y="37856"/>
                <a:ext cx="1206717" cy="145072"/>
                <a:chOff x="0" y="0"/>
                <a:chExt cx="1206717" cy="145072"/>
              </a:xfrm>
            </p:grpSpPr>
            <p:sp>
              <p:nvSpPr>
                <p:cNvPr id="238" name="Flowchart: Connector 249"/>
                <p:cNvSpPr>
                  <a:spLocks noChangeArrowheads="1"/>
                </p:cNvSpPr>
                <p:nvPr/>
              </p:nvSpPr>
              <p:spPr bwMode="auto">
                <a:xfrm>
                  <a:off x="-452" y="666"/>
                  <a:ext cx="111659" cy="111375"/>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nvGrpSpPr>
                <p:cNvPr id="239" name="Group 61"/>
                <p:cNvGrpSpPr/>
                <p:nvPr/>
              </p:nvGrpSpPr>
              <p:grpSpPr bwMode="auto">
                <a:xfrm>
                  <a:off x="1089186" y="-14656"/>
                  <a:ext cx="121065" cy="135607"/>
                  <a:chOff x="0" y="0"/>
                  <a:chExt cx="146304" cy="79248"/>
                </a:xfrm>
              </p:grpSpPr>
              <p:pic>
                <p:nvPicPr>
                  <p:cNvPr id="241" name="Flowchart: Connector 25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6304" cy="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Text Box 63"/>
                  <p:cNvSpPr txBox="1">
                    <a:spLocks noChangeArrowheads="1"/>
                  </p:cNvSpPr>
                  <p:nvPr/>
                </p:nvSpPr>
                <p:spPr bwMode="auto">
                  <a:xfrm>
                    <a:off x="26918" y="18163"/>
                    <a:ext cx="95364" cy="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sp>
              <p:nvSpPr>
                <p:cNvPr id="240" name="Flowchart: Connector 253"/>
                <p:cNvSpPr>
                  <a:spLocks noChangeArrowheads="1"/>
                </p:cNvSpPr>
                <p:nvPr/>
              </p:nvSpPr>
              <p:spPr bwMode="auto">
                <a:xfrm>
                  <a:off x="819260" y="33264"/>
                  <a:ext cx="111659" cy="111375"/>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91" name="Group 65"/>
              <p:cNvGrpSpPr/>
              <p:nvPr/>
            </p:nvGrpSpPr>
            <p:grpSpPr bwMode="auto">
              <a:xfrm>
                <a:off x="111602" y="442784"/>
                <a:ext cx="1262517" cy="220961"/>
                <a:chOff x="0" y="0"/>
                <a:chExt cx="1262517" cy="220961"/>
              </a:xfrm>
            </p:grpSpPr>
            <p:sp>
              <p:nvSpPr>
                <p:cNvPr id="236" name="Flowchart: Connector 243"/>
                <p:cNvSpPr>
                  <a:spLocks noChangeArrowheads="1"/>
                </p:cNvSpPr>
                <p:nvPr/>
              </p:nvSpPr>
              <p:spPr bwMode="auto">
                <a:xfrm>
                  <a:off x="-480" y="109156"/>
                  <a:ext cx="111660" cy="1113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237" name="Flowchart: Connector 248"/>
                <p:cNvSpPr>
                  <a:spLocks noChangeArrowheads="1"/>
                </p:cNvSpPr>
                <p:nvPr/>
              </p:nvSpPr>
              <p:spPr bwMode="auto">
                <a:xfrm>
                  <a:off x="1150269" y="496"/>
                  <a:ext cx="111660" cy="1113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92" name="Group 68"/>
              <p:cNvGrpSpPr/>
              <p:nvPr/>
            </p:nvGrpSpPr>
            <p:grpSpPr bwMode="auto">
              <a:xfrm>
                <a:off x="0" y="802785"/>
                <a:ext cx="1172744" cy="389177"/>
                <a:chOff x="0" y="0"/>
                <a:chExt cx="1172744" cy="389177"/>
              </a:xfrm>
            </p:grpSpPr>
            <p:grpSp>
              <p:nvGrpSpPr>
                <p:cNvPr id="230" name="Group 69"/>
                <p:cNvGrpSpPr/>
                <p:nvPr/>
              </p:nvGrpSpPr>
              <p:grpSpPr bwMode="auto">
                <a:xfrm>
                  <a:off x="-5634" y="-7664"/>
                  <a:ext cx="262308" cy="271215"/>
                  <a:chOff x="0" y="0"/>
                  <a:chExt cx="316992" cy="158496"/>
                </a:xfrm>
              </p:grpSpPr>
              <p:pic>
                <p:nvPicPr>
                  <p:cNvPr id="234" name="Flowchart: Connector 2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16992" cy="158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 name="Text Box 71"/>
                  <p:cNvSpPr txBox="1">
                    <a:spLocks noChangeArrowheads="1"/>
                  </p:cNvSpPr>
                  <p:nvPr/>
                </p:nvSpPr>
                <p:spPr bwMode="auto">
                  <a:xfrm>
                    <a:off x="51191" y="26046"/>
                    <a:ext cx="214292" cy="104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31" name="Group 72"/>
                <p:cNvGrpSpPr/>
                <p:nvPr/>
              </p:nvGrpSpPr>
              <p:grpSpPr bwMode="auto">
                <a:xfrm>
                  <a:off x="1053686" y="263551"/>
                  <a:ext cx="126110" cy="135608"/>
                  <a:chOff x="0" y="0"/>
                  <a:chExt cx="152400" cy="79248"/>
                </a:xfrm>
              </p:grpSpPr>
              <p:pic>
                <p:nvPicPr>
                  <p:cNvPr id="232" name="Flowchart: Connector 24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2400" cy="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Text Box 74"/>
                  <p:cNvSpPr txBox="1">
                    <a:spLocks noChangeArrowheads="1"/>
                  </p:cNvSpPr>
                  <p:nvPr/>
                </p:nvSpPr>
                <p:spPr bwMode="auto">
                  <a:xfrm>
                    <a:off x="28764" y="17477"/>
                    <a:ext cx="95364" cy="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sp>
            <p:nvSpPr>
              <p:cNvPr id="193" name="Flowchart: Connector 231"/>
              <p:cNvSpPr>
                <a:spLocks noChangeArrowheads="1"/>
              </p:cNvSpPr>
              <p:nvPr/>
            </p:nvSpPr>
            <p:spPr bwMode="auto">
              <a:xfrm>
                <a:off x="-537" y="1176735"/>
                <a:ext cx="111659" cy="1113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nvGrpSpPr>
              <p:cNvPr id="194" name="Group 76"/>
              <p:cNvGrpSpPr/>
              <p:nvPr/>
            </p:nvGrpSpPr>
            <p:grpSpPr bwMode="auto">
              <a:xfrm>
                <a:off x="2" y="0"/>
                <a:ext cx="1504767" cy="687445"/>
                <a:chOff x="0" y="0"/>
                <a:chExt cx="1504767" cy="687445"/>
              </a:xfrm>
            </p:grpSpPr>
            <p:grpSp>
              <p:nvGrpSpPr>
                <p:cNvPr id="221" name="Group 77"/>
                <p:cNvGrpSpPr/>
                <p:nvPr/>
              </p:nvGrpSpPr>
              <p:grpSpPr bwMode="auto">
                <a:xfrm>
                  <a:off x="-5636" y="283984"/>
                  <a:ext cx="121065" cy="125176"/>
                  <a:chOff x="0" y="0"/>
                  <a:chExt cx="146304" cy="73152"/>
                </a:xfrm>
              </p:grpSpPr>
              <p:pic>
                <p:nvPicPr>
                  <p:cNvPr id="228" name="Flowchart: Connector 2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304" cy="7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 name="Text Box 79"/>
                  <p:cNvSpPr txBox="1">
                    <a:spLocks noChangeArrowheads="1"/>
                  </p:cNvSpPr>
                  <p:nvPr/>
                </p:nvSpPr>
                <p:spPr bwMode="auto">
                  <a:xfrm>
                    <a:off x="26562" y="14133"/>
                    <a:ext cx="95364" cy="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22" name="Group 80"/>
                <p:cNvGrpSpPr/>
                <p:nvPr/>
              </p:nvGrpSpPr>
              <p:grpSpPr bwMode="auto">
                <a:xfrm>
                  <a:off x="216317" y="-8094"/>
                  <a:ext cx="696124" cy="709333"/>
                  <a:chOff x="0" y="0"/>
                  <a:chExt cx="841248" cy="414528"/>
                </a:xfrm>
              </p:grpSpPr>
              <p:pic>
                <p:nvPicPr>
                  <p:cNvPr id="226" name="Flowchart: Connector 2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841248" cy="414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Text Box 82"/>
                  <p:cNvSpPr txBox="1">
                    <a:spLocks noChangeArrowheads="1"/>
                  </p:cNvSpPr>
                  <p:nvPr/>
                </p:nvSpPr>
                <p:spPr bwMode="auto">
                  <a:xfrm>
                    <a:off x="129389" y="63563"/>
                    <a:ext cx="584581" cy="284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23" name="Group 83"/>
                <p:cNvGrpSpPr/>
                <p:nvPr/>
              </p:nvGrpSpPr>
              <p:grpSpPr bwMode="auto">
                <a:xfrm>
                  <a:off x="1386612" y="221396"/>
                  <a:ext cx="121065" cy="135608"/>
                  <a:chOff x="0" y="0"/>
                  <a:chExt cx="146304" cy="79248"/>
                </a:xfrm>
              </p:grpSpPr>
              <p:pic>
                <p:nvPicPr>
                  <p:cNvPr id="224" name="Flowchart: Connector 23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6304" cy="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 name="Text Box 85"/>
                  <p:cNvSpPr txBox="1">
                    <a:spLocks noChangeArrowheads="1"/>
                  </p:cNvSpPr>
                  <p:nvPr/>
                </p:nvSpPr>
                <p:spPr bwMode="auto">
                  <a:xfrm>
                    <a:off x="27672" y="15549"/>
                    <a:ext cx="95364" cy="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grpSp>
            <p:nvGrpSpPr>
              <p:cNvPr id="195" name="Group 86"/>
              <p:cNvGrpSpPr/>
              <p:nvPr/>
            </p:nvGrpSpPr>
            <p:grpSpPr bwMode="auto">
              <a:xfrm>
                <a:off x="276227" y="230928"/>
                <a:ext cx="1165417" cy="1082856"/>
                <a:chOff x="0" y="0"/>
                <a:chExt cx="1165417" cy="1082856"/>
              </a:xfrm>
            </p:grpSpPr>
            <p:grpSp>
              <p:nvGrpSpPr>
                <p:cNvPr id="208" name="Group 87"/>
                <p:cNvGrpSpPr/>
                <p:nvPr/>
              </p:nvGrpSpPr>
              <p:grpSpPr bwMode="auto">
                <a:xfrm>
                  <a:off x="-4420" y="501605"/>
                  <a:ext cx="121065" cy="135608"/>
                  <a:chOff x="0" y="0"/>
                  <a:chExt cx="146304" cy="79248"/>
                </a:xfrm>
              </p:grpSpPr>
              <p:pic>
                <p:nvPicPr>
                  <p:cNvPr id="219" name="Flowchart: Connector 21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6304" cy="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 name="Text Box 89"/>
                  <p:cNvSpPr txBox="1">
                    <a:spLocks noChangeArrowheads="1"/>
                  </p:cNvSpPr>
                  <p:nvPr/>
                </p:nvSpPr>
                <p:spPr bwMode="auto">
                  <a:xfrm>
                    <a:off x="25093" y="17884"/>
                    <a:ext cx="95364" cy="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09" name="Group 90"/>
                <p:cNvGrpSpPr/>
                <p:nvPr/>
              </p:nvGrpSpPr>
              <p:grpSpPr bwMode="auto">
                <a:xfrm>
                  <a:off x="106556" y="532899"/>
                  <a:ext cx="443905" cy="458980"/>
                  <a:chOff x="0" y="0"/>
                  <a:chExt cx="536448" cy="268224"/>
                </a:xfrm>
              </p:grpSpPr>
              <p:pic>
                <p:nvPicPr>
                  <p:cNvPr id="217" name="Flowchart: Connector 2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536448" cy="268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Text Box 92"/>
                  <p:cNvSpPr txBox="1">
                    <a:spLocks noChangeArrowheads="1"/>
                  </p:cNvSpPr>
                  <p:nvPr/>
                </p:nvSpPr>
                <p:spPr bwMode="auto">
                  <a:xfrm>
                    <a:off x="82547" y="44201"/>
                    <a:ext cx="369153" cy="179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10" name="Group 93"/>
                <p:cNvGrpSpPr/>
                <p:nvPr/>
              </p:nvGrpSpPr>
              <p:grpSpPr bwMode="auto">
                <a:xfrm>
                  <a:off x="802680" y="365998"/>
                  <a:ext cx="368240" cy="385960"/>
                  <a:chOff x="0" y="0"/>
                  <a:chExt cx="445008" cy="225552"/>
                </a:xfrm>
              </p:grpSpPr>
              <p:pic>
                <p:nvPicPr>
                  <p:cNvPr id="215" name="Flowchart: Connector 2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445008" cy="22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 name="Text Box 95"/>
                  <p:cNvSpPr txBox="1">
                    <a:spLocks noChangeArrowheads="1"/>
                  </p:cNvSpPr>
                  <p:nvPr/>
                </p:nvSpPr>
                <p:spPr bwMode="auto">
                  <a:xfrm>
                    <a:off x="68823" y="37091"/>
                    <a:ext cx="306133" cy="14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211" name="Group 96"/>
                <p:cNvGrpSpPr/>
                <p:nvPr/>
              </p:nvGrpSpPr>
              <p:grpSpPr bwMode="auto">
                <a:xfrm>
                  <a:off x="560550" y="-9531"/>
                  <a:ext cx="332929" cy="344235"/>
                  <a:chOff x="0" y="0"/>
                  <a:chExt cx="402336" cy="201168"/>
                </a:xfrm>
              </p:grpSpPr>
              <p:pic>
                <p:nvPicPr>
                  <p:cNvPr id="213" name="Flowchart: Connector 2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402336" cy="20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Text Box 98"/>
                  <p:cNvSpPr txBox="1">
                    <a:spLocks noChangeArrowheads="1"/>
                  </p:cNvSpPr>
                  <p:nvPr/>
                </p:nvSpPr>
                <p:spPr bwMode="auto">
                  <a:xfrm>
                    <a:off x="65948" y="33299"/>
                    <a:ext cx="275521" cy="133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sp>
              <p:nvSpPr>
                <p:cNvPr id="212" name="Flowchart: Connector 224"/>
                <p:cNvSpPr>
                  <a:spLocks noChangeArrowheads="1"/>
                </p:cNvSpPr>
                <p:nvPr/>
              </p:nvSpPr>
              <p:spPr bwMode="auto">
                <a:xfrm>
                  <a:off x="930471" y="981123"/>
                  <a:ext cx="111660" cy="111376"/>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96" name="Group 100"/>
              <p:cNvGrpSpPr/>
              <p:nvPr/>
            </p:nvGrpSpPr>
            <p:grpSpPr bwMode="auto">
              <a:xfrm>
                <a:off x="751345" y="963580"/>
                <a:ext cx="753424" cy="462348"/>
                <a:chOff x="0" y="0"/>
                <a:chExt cx="753424" cy="462348"/>
              </a:xfrm>
            </p:grpSpPr>
            <p:grpSp>
              <p:nvGrpSpPr>
                <p:cNvPr id="204" name="Group 101"/>
                <p:cNvGrpSpPr/>
                <p:nvPr/>
              </p:nvGrpSpPr>
              <p:grpSpPr bwMode="auto">
                <a:xfrm>
                  <a:off x="-5367" y="186208"/>
                  <a:ext cx="262308" cy="281647"/>
                  <a:chOff x="0" y="0"/>
                  <a:chExt cx="316992" cy="164592"/>
                </a:xfrm>
              </p:grpSpPr>
              <p:pic>
                <p:nvPicPr>
                  <p:cNvPr id="206" name="Flowchart: Connector 21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316992" cy="16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 name="Text Box 103"/>
                  <p:cNvSpPr txBox="1">
                    <a:spLocks noChangeArrowheads="1"/>
                  </p:cNvSpPr>
                  <p:nvPr/>
                </p:nvSpPr>
                <p:spPr bwMode="auto">
                  <a:xfrm>
                    <a:off x="51438" y="30096"/>
                    <a:ext cx="217047" cy="108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sp>
              <p:nvSpPr>
                <p:cNvPr id="205" name="Flowchart: Connector 218"/>
                <p:cNvSpPr>
                  <a:spLocks noChangeArrowheads="1"/>
                </p:cNvSpPr>
                <p:nvPr/>
              </p:nvSpPr>
              <p:spPr bwMode="auto">
                <a:xfrm>
                  <a:off x="641890" y="1268"/>
                  <a:ext cx="111660" cy="1113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97" name="Group 105"/>
              <p:cNvGrpSpPr/>
              <p:nvPr/>
            </p:nvGrpSpPr>
            <p:grpSpPr bwMode="auto">
              <a:xfrm>
                <a:off x="387827" y="663745"/>
                <a:ext cx="617517" cy="783979"/>
                <a:chOff x="0" y="0"/>
                <a:chExt cx="617517" cy="783979"/>
              </a:xfrm>
            </p:grpSpPr>
            <p:grpSp>
              <p:nvGrpSpPr>
                <p:cNvPr id="198" name="Group 106"/>
                <p:cNvGrpSpPr/>
                <p:nvPr/>
              </p:nvGrpSpPr>
              <p:grpSpPr bwMode="auto">
                <a:xfrm>
                  <a:off x="-5044" y="663375"/>
                  <a:ext cx="121065" cy="135608"/>
                  <a:chOff x="0" y="0"/>
                  <a:chExt cx="146304" cy="79248"/>
                </a:xfrm>
              </p:grpSpPr>
              <p:pic>
                <p:nvPicPr>
                  <p:cNvPr id="202" name="Flowchart: Connector 20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6304" cy="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 Box 108"/>
                  <p:cNvSpPr txBox="1">
                    <a:spLocks noChangeArrowheads="1"/>
                  </p:cNvSpPr>
                  <p:nvPr/>
                </p:nvSpPr>
                <p:spPr bwMode="auto">
                  <a:xfrm>
                    <a:off x="25847" y="14542"/>
                    <a:ext cx="95364" cy="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99" name="Group 109"/>
                <p:cNvGrpSpPr/>
                <p:nvPr/>
              </p:nvGrpSpPr>
              <p:grpSpPr bwMode="auto">
                <a:xfrm>
                  <a:off x="499394" y="-14663"/>
                  <a:ext cx="121065" cy="135608"/>
                  <a:chOff x="0" y="0"/>
                  <a:chExt cx="146304" cy="79248"/>
                </a:xfrm>
              </p:grpSpPr>
              <p:pic>
                <p:nvPicPr>
                  <p:cNvPr id="200" name="Flowchart: Connector 2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6304" cy="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Text Box 111"/>
                  <p:cNvSpPr txBox="1">
                    <a:spLocks noChangeArrowheads="1"/>
                  </p:cNvSpPr>
                  <p:nvPr/>
                </p:nvSpPr>
                <p:spPr bwMode="auto">
                  <a:xfrm>
                    <a:off x="27634" y="18167"/>
                    <a:ext cx="95364" cy="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grpSp>
        <p:sp>
          <p:nvSpPr>
            <p:cNvPr id="19" name="TextBox 63"/>
            <p:cNvSpPr txBox="1">
              <a:spLocks noChangeArrowheads="1"/>
            </p:cNvSpPr>
            <p:nvPr/>
          </p:nvSpPr>
          <p:spPr bwMode="auto">
            <a:xfrm>
              <a:off x="6736781" y="1494431"/>
              <a:ext cx="12169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a:solidFill>
                    <a:srgbClr val="0000CC"/>
                  </a:solidFill>
                  <a:latin typeface="黑体" panose="02010609060101010101" pitchFamily="49" charset="-122"/>
                  <a:ea typeface="黑体" panose="02010609060101010101" pitchFamily="49" charset="-122"/>
                </a:rPr>
                <a:t>真伪难辨</a:t>
              </a:r>
              <a:endParaRPr lang="zh-CN" altLang="en-US">
                <a:solidFill>
                  <a:srgbClr val="0000CC"/>
                </a:solidFill>
                <a:latin typeface="黑体" panose="02010609060101010101" pitchFamily="49" charset="-122"/>
                <a:ea typeface="黑体" panose="02010609060101010101" pitchFamily="49" charset="-122"/>
              </a:endParaRPr>
            </a:p>
          </p:txBody>
        </p:sp>
        <p:sp>
          <p:nvSpPr>
            <p:cNvPr id="20" name="Rounded Rectangle 9"/>
            <p:cNvSpPr>
              <a:spLocks noChangeArrowheads="1"/>
            </p:cNvSpPr>
            <p:nvPr/>
          </p:nvSpPr>
          <p:spPr bwMode="auto">
            <a:xfrm>
              <a:off x="2102014" y="0"/>
              <a:ext cx="2044860" cy="628566"/>
            </a:xfrm>
            <a:prstGeom prst="roundRect">
              <a:avLst>
                <a:gd name="adj" fmla="val 16667"/>
              </a:avLst>
            </a:prstGeom>
            <a:solidFill>
              <a:srgbClr val="69C8FF">
                <a:alpha val="79999"/>
              </a:srgbClr>
            </a:solidFill>
            <a:ln w="9525">
              <a:solidFill>
                <a:srgbClr val="69C8FF"/>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u="sng">
                  <a:solidFill>
                    <a:srgbClr val="FFFF00"/>
                  </a:solidFill>
                  <a:ea typeface="微软雅黑" panose="020B0503020204020204" pitchFamily="34" charset="-122"/>
                </a:rPr>
                <a:t>V</a:t>
              </a:r>
              <a:r>
                <a:rPr lang="en-US" altLang="zh-CN">
                  <a:solidFill>
                    <a:schemeClr val="bg1"/>
                  </a:solidFill>
                  <a:latin typeface="Times New Roman" panose="02020603050405020304" pitchFamily="18" charset="0"/>
                  <a:ea typeface="微软雅黑" panose="020B0503020204020204" pitchFamily="34" charset="-122"/>
                </a:rPr>
                <a:t>elocity</a:t>
              </a:r>
              <a:endParaRPr lang="zh-CN" altLang="en-US">
                <a:solidFill>
                  <a:schemeClr val="bg1"/>
                </a:solidFill>
                <a:latin typeface="Times New Roman" panose="02020603050405020304" pitchFamily="18" charset="0"/>
                <a:ea typeface="微软雅黑" panose="020B0503020204020204" pitchFamily="34" charset="-122"/>
              </a:endParaRPr>
            </a:p>
          </p:txBody>
        </p:sp>
        <p:sp>
          <p:nvSpPr>
            <p:cNvPr id="21" name="Rounded Rectangle 14"/>
            <p:cNvSpPr>
              <a:spLocks noChangeArrowheads="1"/>
            </p:cNvSpPr>
            <p:nvPr/>
          </p:nvSpPr>
          <p:spPr bwMode="auto">
            <a:xfrm>
              <a:off x="2102014" y="560313"/>
              <a:ext cx="2044860" cy="2630138"/>
            </a:xfrm>
            <a:prstGeom prst="roundRect">
              <a:avLst>
                <a:gd name="adj" fmla="val 0"/>
              </a:avLst>
            </a:prstGeom>
            <a:solidFill>
              <a:schemeClr val="bg1"/>
            </a:solidFill>
            <a:ln w="9525">
              <a:solidFill>
                <a:srgbClr val="69C8FF"/>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chemeClr val="bg1"/>
                  </a:solidFill>
                  <a:latin typeface="微软雅黑" panose="020B0503020204020204" pitchFamily="34" charset="-122"/>
                  <a:ea typeface="微软雅黑" panose="020B0503020204020204" pitchFamily="34" charset="-122"/>
                </a:rPr>
                <a:t>Volume</a:t>
              </a: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22" name="Group 115"/>
            <p:cNvGrpSpPr/>
            <p:nvPr/>
          </p:nvGrpSpPr>
          <p:grpSpPr bwMode="auto">
            <a:xfrm>
              <a:off x="2181790" y="709594"/>
              <a:ext cx="1919354" cy="785720"/>
              <a:chOff x="0" y="0"/>
              <a:chExt cx="1588122" cy="1302566"/>
            </a:xfrm>
          </p:grpSpPr>
          <p:grpSp>
            <p:nvGrpSpPr>
              <p:cNvPr id="101" name="Group 116"/>
              <p:cNvGrpSpPr/>
              <p:nvPr/>
            </p:nvGrpSpPr>
            <p:grpSpPr bwMode="auto">
              <a:xfrm>
                <a:off x="226230" y="0"/>
                <a:ext cx="1361892" cy="1302566"/>
                <a:chOff x="0" y="0"/>
                <a:chExt cx="1361892" cy="1302566"/>
              </a:xfrm>
            </p:grpSpPr>
            <p:grpSp>
              <p:nvGrpSpPr>
                <p:cNvPr id="166" name="Group 117"/>
                <p:cNvGrpSpPr/>
                <p:nvPr/>
              </p:nvGrpSpPr>
              <p:grpSpPr bwMode="auto">
                <a:xfrm>
                  <a:off x="0" y="0"/>
                  <a:ext cx="1116942" cy="112144"/>
                  <a:chOff x="0" y="0"/>
                  <a:chExt cx="1116942" cy="112144"/>
                </a:xfrm>
              </p:grpSpPr>
              <p:sp>
                <p:nvSpPr>
                  <p:cNvPr id="187" name="Flowchart: Connector 22"/>
                  <p:cNvSpPr>
                    <a:spLocks noChangeArrowheads="1"/>
                  </p:cNvSpPr>
                  <p:nvPr/>
                </p:nvSpPr>
                <p:spPr bwMode="auto">
                  <a:xfrm>
                    <a:off x="-611" y="-126"/>
                    <a:ext cx="111659"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88" name="Flowchart: Connector 24"/>
                  <p:cNvSpPr>
                    <a:spLocks noChangeArrowheads="1"/>
                  </p:cNvSpPr>
                  <p:nvPr/>
                </p:nvSpPr>
                <p:spPr bwMode="auto">
                  <a:xfrm>
                    <a:off x="497259" y="-126"/>
                    <a:ext cx="111660"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89" name="Flowchart: Connector 32"/>
                  <p:cNvSpPr>
                    <a:spLocks noChangeArrowheads="1"/>
                  </p:cNvSpPr>
                  <p:nvPr/>
                </p:nvSpPr>
                <p:spPr bwMode="auto">
                  <a:xfrm>
                    <a:off x="1000383" y="-126"/>
                    <a:ext cx="111659"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67" name="Group 121"/>
                <p:cNvGrpSpPr/>
                <p:nvPr/>
              </p:nvGrpSpPr>
              <p:grpSpPr bwMode="auto">
                <a:xfrm>
                  <a:off x="0" y="486300"/>
                  <a:ext cx="1259454" cy="112144"/>
                  <a:chOff x="0" y="0"/>
                  <a:chExt cx="1259454" cy="112144"/>
                </a:xfrm>
              </p:grpSpPr>
              <p:sp>
                <p:nvSpPr>
                  <p:cNvPr id="184" name="Flowchart: Connector 36"/>
                  <p:cNvSpPr>
                    <a:spLocks noChangeArrowheads="1"/>
                  </p:cNvSpPr>
                  <p:nvPr/>
                </p:nvSpPr>
                <p:spPr bwMode="auto">
                  <a:xfrm>
                    <a:off x="-611" y="385"/>
                    <a:ext cx="111659" cy="11052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85" name="Flowchart: Connector 38"/>
                  <p:cNvSpPr>
                    <a:spLocks noChangeArrowheads="1"/>
                  </p:cNvSpPr>
                  <p:nvPr/>
                </p:nvSpPr>
                <p:spPr bwMode="auto">
                  <a:xfrm>
                    <a:off x="501200" y="385"/>
                    <a:ext cx="111659" cy="11052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86" name="Flowchart: Connector 40"/>
                  <p:cNvSpPr>
                    <a:spLocks noChangeArrowheads="1"/>
                  </p:cNvSpPr>
                  <p:nvPr/>
                </p:nvSpPr>
                <p:spPr bwMode="auto">
                  <a:xfrm>
                    <a:off x="1147511" y="385"/>
                    <a:ext cx="111659" cy="11052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68" name="Group 125"/>
                <p:cNvGrpSpPr/>
                <p:nvPr/>
              </p:nvGrpSpPr>
              <p:grpSpPr bwMode="auto">
                <a:xfrm>
                  <a:off x="53442" y="960601"/>
                  <a:ext cx="1170384" cy="112144"/>
                  <a:chOff x="0" y="0"/>
                  <a:chExt cx="1170384" cy="112144"/>
                </a:xfrm>
              </p:grpSpPr>
              <p:sp>
                <p:nvSpPr>
                  <p:cNvPr id="181" name="Flowchart: Connector 43"/>
                  <p:cNvSpPr>
                    <a:spLocks noChangeArrowheads="1"/>
                  </p:cNvSpPr>
                  <p:nvPr/>
                </p:nvSpPr>
                <p:spPr bwMode="auto">
                  <a:xfrm>
                    <a:off x="-194" y="-262"/>
                    <a:ext cx="111660" cy="11315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82" name="Flowchart: Connector 45"/>
                  <p:cNvSpPr>
                    <a:spLocks noChangeArrowheads="1"/>
                  </p:cNvSpPr>
                  <p:nvPr/>
                </p:nvSpPr>
                <p:spPr bwMode="auto">
                  <a:xfrm>
                    <a:off x="449071" y="-262"/>
                    <a:ext cx="111660" cy="11315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83" name="Flowchart: Connector 47"/>
                  <p:cNvSpPr>
                    <a:spLocks noChangeArrowheads="1"/>
                  </p:cNvSpPr>
                  <p:nvPr/>
                </p:nvSpPr>
                <p:spPr bwMode="auto">
                  <a:xfrm>
                    <a:off x="1058600" y="-262"/>
                    <a:ext cx="111660" cy="11315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69" name="Group 129"/>
                <p:cNvGrpSpPr/>
                <p:nvPr/>
              </p:nvGrpSpPr>
              <p:grpSpPr bwMode="auto">
                <a:xfrm>
                  <a:off x="244950" y="229821"/>
                  <a:ext cx="1116942" cy="112144"/>
                  <a:chOff x="0" y="0"/>
                  <a:chExt cx="1116942" cy="112144"/>
                </a:xfrm>
              </p:grpSpPr>
              <p:sp>
                <p:nvSpPr>
                  <p:cNvPr id="178" name="Flowchart: Connector 58"/>
                  <p:cNvSpPr>
                    <a:spLocks noChangeArrowheads="1"/>
                  </p:cNvSpPr>
                  <p:nvPr/>
                </p:nvSpPr>
                <p:spPr bwMode="auto">
                  <a:xfrm>
                    <a:off x="89" y="-1014"/>
                    <a:ext cx="111660" cy="11315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79" name="Flowchart: Connector 60"/>
                  <p:cNvSpPr>
                    <a:spLocks noChangeArrowheads="1"/>
                  </p:cNvSpPr>
                  <p:nvPr/>
                </p:nvSpPr>
                <p:spPr bwMode="auto">
                  <a:xfrm>
                    <a:off x="501900" y="-1014"/>
                    <a:ext cx="111660" cy="11315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80" name="Flowchart: Connector 62"/>
                  <p:cNvSpPr>
                    <a:spLocks noChangeArrowheads="1"/>
                  </p:cNvSpPr>
                  <p:nvPr/>
                </p:nvSpPr>
                <p:spPr bwMode="auto">
                  <a:xfrm>
                    <a:off x="1005025" y="-1014"/>
                    <a:ext cx="111659" cy="113150"/>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70" name="Group 133"/>
                <p:cNvGrpSpPr/>
                <p:nvPr/>
              </p:nvGrpSpPr>
              <p:grpSpPr bwMode="auto">
                <a:xfrm>
                  <a:off x="244950" y="716121"/>
                  <a:ext cx="1116942" cy="112144"/>
                  <a:chOff x="0" y="0"/>
                  <a:chExt cx="1116942" cy="112144"/>
                </a:xfrm>
              </p:grpSpPr>
              <p:sp>
                <p:nvSpPr>
                  <p:cNvPr id="175" name="Flowchart: Connector 65"/>
                  <p:cNvSpPr>
                    <a:spLocks noChangeArrowheads="1"/>
                  </p:cNvSpPr>
                  <p:nvPr/>
                </p:nvSpPr>
                <p:spPr bwMode="auto">
                  <a:xfrm>
                    <a:off x="89" y="-504"/>
                    <a:ext cx="111660"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76" name="Flowchart: Connector 67"/>
                  <p:cNvSpPr>
                    <a:spLocks noChangeArrowheads="1"/>
                  </p:cNvSpPr>
                  <p:nvPr/>
                </p:nvSpPr>
                <p:spPr bwMode="auto">
                  <a:xfrm>
                    <a:off x="501900" y="-504"/>
                    <a:ext cx="111660"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77" name="Flowchart: Connector 69"/>
                  <p:cNvSpPr>
                    <a:spLocks noChangeArrowheads="1"/>
                  </p:cNvSpPr>
                  <p:nvPr/>
                </p:nvSpPr>
                <p:spPr bwMode="auto">
                  <a:xfrm>
                    <a:off x="1005025" y="-504"/>
                    <a:ext cx="111659"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171" name="Group 137"/>
                <p:cNvGrpSpPr/>
                <p:nvPr/>
              </p:nvGrpSpPr>
              <p:grpSpPr bwMode="auto">
                <a:xfrm>
                  <a:off x="244950" y="1190422"/>
                  <a:ext cx="1116942" cy="112144"/>
                  <a:chOff x="0" y="0"/>
                  <a:chExt cx="1116942" cy="112144"/>
                </a:xfrm>
              </p:grpSpPr>
              <p:sp>
                <p:nvSpPr>
                  <p:cNvPr id="172" name="Flowchart: Connector 72"/>
                  <p:cNvSpPr>
                    <a:spLocks noChangeArrowheads="1"/>
                  </p:cNvSpPr>
                  <p:nvPr/>
                </p:nvSpPr>
                <p:spPr bwMode="auto">
                  <a:xfrm>
                    <a:off x="89" y="-1152"/>
                    <a:ext cx="111660"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73" name="Flowchart: Connector 74"/>
                  <p:cNvSpPr>
                    <a:spLocks noChangeArrowheads="1"/>
                  </p:cNvSpPr>
                  <p:nvPr/>
                </p:nvSpPr>
                <p:spPr bwMode="auto">
                  <a:xfrm>
                    <a:off x="501900" y="-1152"/>
                    <a:ext cx="111660"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74" name="Flowchart: Connector 76"/>
                  <p:cNvSpPr>
                    <a:spLocks noChangeArrowheads="1"/>
                  </p:cNvSpPr>
                  <p:nvPr/>
                </p:nvSpPr>
                <p:spPr bwMode="auto">
                  <a:xfrm>
                    <a:off x="1005025" y="-1152"/>
                    <a:ext cx="111659" cy="113152"/>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grpSp>
            <p:nvGrpSpPr>
              <p:cNvPr id="102" name="Group 141"/>
              <p:cNvGrpSpPr/>
              <p:nvPr/>
            </p:nvGrpSpPr>
            <p:grpSpPr bwMode="auto">
              <a:xfrm>
                <a:off x="438598" y="31955"/>
                <a:ext cx="260400" cy="43528"/>
                <a:chOff x="0" y="0"/>
                <a:chExt cx="260400" cy="43528"/>
              </a:xfrm>
            </p:grpSpPr>
            <p:cxnSp>
              <p:nvCxnSpPr>
                <p:cNvPr id="163" name="Straight Connector 316"/>
                <p:cNvCxnSpPr>
                  <a:cxnSpLocks noChangeShapeType="1"/>
                </p:cNvCxnSpPr>
                <p:nvPr/>
              </p:nvCxnSpPr>
              <p:spPr bwMode="auto">
                <a:xfrm>
                  <a:off x="49749" y="-504"/>
                  <a:ext cx="143186"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64" name="Straight Connector 317"/>
                <p:cNvCxnSpPr>
                  <a:cxnSpLocks noChangeShapeType="1"/>
                </p:cNvCxnSpPr>
                <p:nvPr/>
              </p:nvCxnSpPr>
              <p:spPr bwMode="auto">
                <a:xfrm>
                  <a:off x="-169" y="23180"/>
                  <a:ext cx="23382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65" name="Straight Connector 318"/>
                <p:cNvCxnSpPr>
                  <a:cxnSpLocks noChangeShapeType="1"/>
                </p:cNvCxnSpPr>
                <p:nvPr/>
              </p:nvCxnSpPr>
              <p:spPr bwMode="auto">
                <a:xfrm>
                  <a:off x="152213" y="44231"/>
                  <a:ext cx="10771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03" name="Group 145"/>
              <p:cNvGrpSpPr/>
              <p:nvPr/>
            </p:nvGrpSpPr>
            <p:grpSpPr bwMode="auto">
              <a:xfrm>
                <a:off x="178198" y="271969"/>
                <a:ext cx="260400" cy="43528"/>
                <a:chOff x="0" y="0"/>
                <a:chExt cx="260400" cy="43528"/>
              </a:xfrm>
            </p:grpSpPr>
            <p:cxnSp>
              <p:nvCxnSpPr>
                <p:cNvPr id="160" name="Straight Connector 326"/>
                <p:cNvCxnSpPr>
                  <a:cxnSpLocks noChangeShapeType="1"/>
                </p:cNvCxnSpPr>
                <p:nvPr/>
              </p:nvCxnSpPr>
              <p:spPr bwMode="auto">
                <a:xfrm>
                  <a:off x="50048" y="-1059"/>
                  <a:ext cx="143186"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61" name="Straight Connector 327"/>
                <p:cNvCxnSpPr>
                  <a:cxnSpLocks noChangeShapeType="1"/>
                </p:cNvCxnSpPr>
                <p:nvPr/>
              </p:nvCxnSpPr>
              <p:spPr bwMode="auto">
                <a:xfrm>
                  <a:off x="130" y="22623"/>
                  <a:ext cx="23382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62" name="Straight Connector 328"/>
                <p:cNvCxnSpPr>
                  <a:cxnSpLocks noChangeShapeType="1"/>
                </p:cNvCxnSpPr>
                <p:nvPr/>
              </p:nvCxnSpPr>
              <p:spPr bwMode="auto">
                <a:xfrm>
                  <a:off x="152512" y="43674"/>
                  <a:ext cx="10771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04" name="Group 149"/>
              <p:cNvGrpSpPr/>
              <p:nvPr/>
            </p:nvGrpSpPr>
            <p:grpSpPr bwMode="auto">
              <a:xfrm>
                <a:off x="672747" y="763956"/>
                <a:ext cx="260400" cy="43528"/>
                <a:chOff x="0" y="0"/>
                <a:chExt cx="260400" cy="43528"/>
              </a:xfrm>
            </p:grpSpPr>
            <p:cxnSp>
              <p:nvCxnSpPr>
                <p:cNvPr id="157" name="Straight Connector 330"/>
                <p:cNvCxnSpPr>
                  <a:cxnSpLocks noChangeShapeType="1"/>
                </p:cNvCxnSpPr>
                <p:nvPr/>
              </p:nvCxnSpPr>
              <p:spPr bwMode="auto">
                <a:xfrm>
                  <a:off x="49428" y="-973"/>
                  <a:ext cx="139246"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58" name="Straight Connector 331"/>
                <p:cNvCxnSpPr>
                  <a:cxnSpLocks noChangeShapeType="1"/>
                </p:cNvCxnSpPr>
                <p:nvPr/>
              </p:nvCxnSpPr>
              <p:spPr bwMode="auto">
                <a:xfrm>
                  <a:off x="-490" y="22710"/>
                  <a:ext cx="229886"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59" name="Straight Connector 332"/>
                <p:cNvCxnSpPr>
                  <a:cxnSpLocks noChangeShapeType="1"/>
                </p:cNvCxnSpPr>
                <p:nvPr/>
              </p:nvCxnSpPr>
              <p:spPr bwMode="auto">
                <a:xfrm>
                  <a:off x="147951" y="43762"/>
                  <a:ext cx="10771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05" name="Group 153"/>
              <p:cNvGrpSpPr/>
              <p:nvPr/>
            </p:nvGrpSpPr>
            <p:grpSpPr bwMode="auto">
              <a:xfrm>
                <a:off x="1212972" y="267616"/>
                <a:ext cx="260400" cy="43528"/>
                <a:chOff x="0" y="0"/>
                <a:chExt cx="260400" cy="43528"/>
              </a:xfrm>
            </p:grpSpPr>
            <p:cxnSp>
              <p:nvCxnSpPr>
                <p:cNvPr id="154" name="Straight Connector 334"/>
                <p:cNvCxnSpPr>
                  <a:cxnSpLocks noChangeShapeType="1"/>
                </p:cNvCxnSpPr>
                <p:nvPr/>
              </p:nvCxnSpPr>
              <p:spPr bwMode="auto">
                <a:xfrm>
                  <a:off x="49109" y="661"/>
                  <a:ext cx="144500"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55" name="Straight Connector 335"/>
                <p:cNvCxnSpPr>
                  <a:cxnSpLocks noChangeShapeType="1"/>
                </p:cNvCxnSpPr>
                <p:nvPr/>
              </p:nvCxnSpPr>
              <p:spPr bwMode="auto">
                <a:xfrm>
                  <a:off x="-4750" y="21713"/>
                  <a:ext cx="23908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56" name="Straight Connector 336"/>
                <p:cNvCxnSpPr>
                  <a:cxnSpLocks noChangeShapeType="1"/>
                </p:cNvCxnSpPr>
                <p:nvPr/>
              </p:nvCxnSpPr>
              <p:spPr bwMode="auto">
                <a:xfrm>
                  <a:off x="151573" y="42764"/>
                  <a:ext cx="10903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06" name="Group 157"/>
              <p:cNvGrpSpPr/>
              <p:nvPr/>
            </p:nvGrpSpPr>
            <p:grpSpPr bwMode="auto">
              <a:xfrm>
                <a:off x="178198" y="1232586"/>
                <a:ext cx="260400" cy="43528"/>
                <a:chOff x="0" y="0"/>
                <a:chExt cx="260400" cy="43528"/>
              </a:xfrm>
            </p:grpSpPr>
            <p:cxnSp>
              <p:nvCxnSpPr>
                <p:cNvPr id="151" name="Straight Connector 338"/>
                <p:cNvCxnSpPr>
                  <a:cxnSpLocks noChangeShapeType="1"/>
                </p:cNvCxnSpPr>
                <p:nvPr/>
              </p:nvCxnSpPr>
              <p:spPr bwMode="auto">
                <a:xfrm>
                  <a:off x="50048" y="-1213"/>
                  <a:ext cx="143186"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52" name="Straight Connector 339"/>
                <p:cNvCxnSpPr>
                  <a:cxnSpLocks noChangeShapeType="1"/>
                </p:cNvCxnSpPr>
                <p:nvPr/>
              </p:nvCxnSpPr>
              <p:spPr bwMode="auto">
                <a:xfrm>
                  <a:off x="130" y="22470"/>
                  <a:ext cx="23382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53" name="Straight Connector 340"/>
                <p:cNvCxnSpPr>
                  <a:cxnSpLocks noChangeShapeType="1"/>
                </p:cNvCxnSpPr>
                <p:nvPr/>
              </p:nvCxnSpPr>
              <p:spPr bwMode="auto">
                <a:xfrm>
                  <a:off x="152512" y="43521"/>
                  <a:ext cx="10771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07" name="Group 161"/>
              <p:cNvGrpSpPr/>
              <p:nvPr/>
            </p:nvGrpSpPr>
            <p:grpSpPr bwMode="auto">
              <a:xfrm>
                <a:off x="1212972" y="763956"/>
                <a:ext cx="260400" cy="43528"/>
                <a:chOff x="0" y="0"/>
                <a:chExt cx="260400" cy="43528"/>
              </a:xfrm>
            </p:grpSpPr>
            <p:cxnSp>
              <p:nvCxnSpPr>
                <p:cNvPr id="148" name="Straight Connector 342"/>
                <p:cNvCxnSpPr>
                  <a:cxnSpLocks noChangeShapeType="1"/>
                </p:cNvCxnSpPr>
                <p:nvPr/>
              </p:nvCxnSpPr>
              <p:spPr bwMode="auto">
                <a:xfrm>
                  <a:off x="49109" y="-973"/>
                  <a:ext cx="144500"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49" name="Straight Connector 343"/>
                <p:cNvCxnSpPr>
                  <a:cxnSpLocks noChangeShapeType="1"/>
                </p:cNvCxnSpPr>
                <p:nvPr/>
              </p:nvCxnSpPr>
              <p:spPr bwMode="auto">
                <a:xfrm>
                  <a:off x="-4750" y="22710"/>
                  <a:ext cx="23908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50" name="Straight Connector 344"/>
                <p:cNvCxnSpPr>
                  <a:cxnSpLocks noChangeShapeType="1"/>
                </p:cNvCxnSpPr>
                <p:nvPr/>
              </p:nvCxnSpPr>
              <p:spPr bwMode="auto">
                <a:xfrm>
                  <a:off x="151573" y="43762"/>
                  <a:ext cx="10903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08" name="Group 165"/>
              <p:cNvGrpSpPr/>
              <p:nvPr/>
            </p:nvGrpSpPr>
            <p:grpSpPr bwMode="auto">
              <a:xfrm>
                <a:off x="746377" y="271969"/>
                <a:ext cx="187156" cy="25714"/>
                <a:chOff x="0" y="0"/>
                <a:chExt cx="187156" cy="25714"/>
              </a:xfrm>
            </p:grpSpPr>
            <p:cxnSp>
              <p:nvCxnSpPr>
                <p:cNvPr id="146" name="Straight Connector 346"/>
                <p:cNvCxnSpPr>
                  <a:cxnSpLocks noChangeShapeType="1"/>
                </p:cNvCxnSpPr>
                <p:nvPr/>
              </p:nvCxnSpPr>
              <p:spPr bwMode="auto">
                <a:xfrm>
                  <a:off x="-556" y="-1059"/>
                  <a:ext cx="144501"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47" name="Straight Connector 348"/>
                <p:cNvCxnSpPr>
                  <a:cxnSpLocks noChangeShapeType="1"/>
                </p:cNvCxnSpPr>
                <p:nvPr/>
              </p:nvCxnSpPr>
              <p:spPr bwMode="auto">
                <a:xfrm>
                  <a:off x="78262" y="25255"/>
                  <a:ext cx="10903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09" name="Group 168"/>
              <p:cNvGrpSpPr/>
              <p:nvPr/>
            </p:nvGrpSpPr>
            <p:grpSpPr bwMode="auto">
              <a:xfrm>
                <a:off x="535083" y="1030288"/>
                <a:ext cx="187156" cy="25714"/>
                <a:chOff x="0" y="0"/>
                <a:chExt cx="187156" cy="25714"/>
              </a:xfrm>
            </p:grpSpPr>
            <p:cxnSp>
              <p:nvCxnSpPr>
                <p:cNvPr id="144" name="Straight Connector 350"/>
                <p:cNvCxnSpPr>
                  <a:cxnSpLocks noChangeShapeType="1"/>
                </p:cNvCxnSpPr>
                <p:nvPr/>
              </p:nvCxnSpPr>
              <p:spPr bwMode="auto">
                <a:xfrm>
                  <a:off x="-4699" y="1097"/>
                  <a:ext cx="148441"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45" name="Straight Connector 351"/>
                <p:cNvCxnSpPr>
                  <a:cxnSpLocks noChangeShapeType="1"/>
                </p:cNvCxnSpPr>
                <p:nvPr/>
              </p:nvCxnSpPr>
              <p:spPr bwMode="auto">
                <a:xfrm>
                  <a:off x="78060" y="24781"/>
                  <a:ext cx="109033"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0" name="Group 171"/>
              <p:cNvGrpSpPr/>
              <p:nvPr/>
            </p:nvGrpSpPr>
            <p:grpSpPr bwMode="auto">
              <a:xfrm>
                <a:off x="489202" y="522349"/>
                <a:ext cx="187156" cy="25714"/>
                <a:chOff x="0" y="0"/>
                <a:chExt cx="187156" cy="25714"/>
              </a:xfrm>
            </p:grpSpPr>
            <p:cxnSp>
              <p:nvCxnSpPr>
                <p:cNvPr id="142" name="Straight Connector 353"/>
                <p:cNvCxnSpPr>
                  <a:cxnSpLocks noChangeShapeType="1"/>
                </p:cNvCxnSpPr>
                <p:nvPr/>
              </p:nvCxnSpPr>
              <p:spPr bwMode="auto">
                <a:xfrm>
                  <a:off x="-4796" y="1175"/>
                  <a:ext cx="14844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43" name="Straight Connector 354"/>
                <p:cNvCxnSpPr>
                  <a:cxnSpLocks noChangeShapeType="1"/>
                </p:cNvCxnSpPr>
                <p:nvPr/>
              </p:nvCxnSpPr>
              <p:spPr bwMode="auto">
                <a:xfrm>
                  <a:off x="77964" y="24857"/>
                  <a:ext cx="10903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1" name="Group 174"/>
              <p:cNvGrpSpPr/>
              <p:nvPr/>
            </p:nvGrpSpPr>
            <p:grpSpPr bwMode="auto">
              <a:xfrm>
                <a:off x="1249594" y="1241493"/>
                <a:ext cx="187156" cy="25714"/>
                <a:chOff x="0" y="0"/>
                <a:chExt cx="187156" cy="25714"/>
              </a:xfrm>
            </p:grpSpPr>
            <p:cxnSp>
              <p:nvCxnSpPr>
                <p:cNvPr id="140" name="Straight Connector 356"/>
                <p:cNvCxnSpPr>
                  <a:cxnSpLocks noChangeShapeType="1"/>
                </p:cNvCxnSpPr>
                <p:nvPr/>
              </p:nvCxnSpPr>
              <p:spPr bwMode="auto">
                <a:xfrm>
                  <a:off x="-650" y="406"/>
                  <a:ext cx="144501"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41" name="Straight Connector 357"/>
                <p:cNvCxnSpPr>
                  <a:cxnSpLocks noChangeShapeType="1"/>
                </p:cNvCxnSpPr>
                <p:nvPr/>
              </p:nvCxnSpPr>
              <p:spPr bwMode="auto">
                <a:xfrm>
                  <a:off x="78169" y="26720"/>
                  <a:ext cx="109033"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2" name="Group 177"/>
              <p:cNvGrpSpPr/>
              <p:nvPr/>
            </p:nvGrpSpPr>
            <p:grpSpPr bwMode="auto">
              <a:xfrm>
                <a:off x="1025816" y="40862"/>
                <a:ext cx="187156" cy="25714"/>
                <a:chOff x="0" y="0"/>
                <a:chExt cx="187156" cy="25714"/>
              </a:xfrm>
            </p:grpSpPr>
            <p:cxnSp>
              <p:nvCxnSpPr>
                <p:cNvPr id="138" name="Straight Connector 362"/>
                <p:cNvCxnSpPr>
                  <a:cxnSpLocks noChangeShapeType="1"/>
                </p:cNvCxnSpPr>
                <p:nvPr/>
              </p:nvCxnSpPr>
              <p:spPr bwMode="auto">
                <a:xfrm>
                  <a:off x="-190" y="1114"/>
                  <a:ext cx="140560"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39" name="Straight Connector 363"/>
                <p:cNvCxnSpPr>
                  <a:cxnSpLocks noChangeShapeType="1"/>
                </p:cNvCxnSpPr>
                <p:nvPr/>
              </p:nvCxnSpPr>
              <p:spPr bwMode="auto">
                <a:xfrm>
                  <a:off x="78628" y="24797"/>
                  <a:ext cx="10377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3" name="Group 180"/>
              <p:cNvGrpSpPr/>
              <p:nvPr/>
            </p:nvGrpSpPr>
            <p:grpSpPr bwMode="auto">
              <a:xfrm>
                <a:off x="2918" y="54689"/>
                <a:ext cx="187156" cy="25714"/>
                <a:chOff x="0" y="0"/>
                <a:chExt cx="187156" cy="25714"/>
              </a:xfrm>
            </p:grpSpPr>
            <p:cxnSp>
              <p:nvCxnSpPr>
                <p:cNvPr id="136" name="Straight Connector 365"/>
                <p:cNvCxnSpPr>
                  <a:cxnSpLocks noChangeShapeType="1"/>
                </p:cNvCxnSpPr>
                <p:nvPr/>
              </p:nvCxnSpPr>
              <p:spPr bwMode="auto">
                <a:xfrm>
                  <a:off x="-617" y="446"/>
                  <a:ext cx="144501"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37" name="Straight Connector 366"/>
                <p:cNvCxnSpPr>
                  <a:cxnSpLocks noChangeShapeType="1"/>
                </p:cNvCxnSpPr>
                <p:nvPr/>
              </p:nvCxnSpPr>
              <p:spPr bwMode="auto">
                <a:xfrm>
                  <a:off x="78201" y="26760"/>
                  <a:ext cx="109032"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4" name="Group 183"/>
              <p:cNvGrpSpPr/>
              <p:nvPr/>
            </p:nvGrpSpPr>
            <p:grpSpPr bwMode="auto">
              <a:xfrm>
                <a:off x="14980" y="758018"/>
                <a:ext cx="425420" cy="49466"/>
                <a:chOff x="0" y="0"/>
                <a:chExt cx="425420" cy="49466"/>
              </a:xfrm>
            </p:grpSpPr>
            <p:cxnSp>
              <p:nvCxnSpPr>
                <p:cNvPr id="133" name="Straight Connector 368"/>
                <p:cNvCxnSpPr>
                  <a:cxnSpLocks noChangeShapeType="1"/>
                </p:cNvCxnSpPr>
                <p:nvPr/>
              </p:nvCxnSpPr>
              <p:spPr bwMode="auto">
                <a:xfrm>
                  <a:off x="-4798" y="-298"/>
                  <a:ext cx="144500"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34" name="Straight Connector 369"/>
                <p:cNvCxnSpPr>
                  <a:cxnSpLocks noChangeShapeType="1"/>
                </p:cNvCxnSpPr>
                <p:nvPr/>
              </p:nvCxnSpPr>
              <p:spPr bwMode="auto">
                <a:xfrm>
                  <a:off x="34611" y="20753"/>
                  <a:ext cx="359937"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35" name="Straight Connector 370"/>
                <p:cNvCxnSpPr>
                  <a:cxnSpLocks noChangeShapeType="1"/>
                </p:cNvCxnSpPr>
                <p:nvPr/>
              </p:nvCxnSpPr>
              <p:spPr bwMode="auto">
                <a:xfrm>
                  <a:off x="240853" y="49700"/>
                  <a:ext cx="179969"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5" name="Group 187"/>
              <p:cNvGrpSpPr/>
              <p:nvPr/>
            </p:nvGrpSpPr>
            <p:grpSpPr bwMode="auto">
              <a:xfrm>
                <a:off x="917752" y="533098"/>
                <a:ext cx="425420" cy="49466"/>
                <a:chOff x="0" y="0"/>
                <a:chExt cx="425420" cy="49466"/>
              </a:xfrm>
            </p:grpSpPr>
            <p:cxnSp>
              <p:nvCxnSpPr>
                <p:cNvPr id="130" name="Straight Connector 372"/>
                <p:cNvCxnSpPr>
                  <a:cxnSpLocks noChangeShapeType="1"/>
                </p:cNvCxnSpPr>
                <p:nvPr/>
              </p:nvCxnSpPr>
              <p:spPr bwMode="auto">
                <a:xfrm>
                  <a:off x="156" y="953"/>
                  <a:ext cx="144500"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31" name="Straight Connector 373"/>
                <p:cNvCxnSpPr>
                  <a:cxnSpLocks noChangeShapeType="1"/>
                </p:cNvCxnSpPr>
                <p:nvPr/>
              </p:nvCxnSpPr>
              <p:spPr bwMode="auto">
                <a:xfrm>
                  <a:off x="39565" y="22005"/>
                  <a:ext cx="359937"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32" name="Straight Connector 374"/>
                <p:cNvCxnSpPr>
                  <a:cxnSpLocks noChangeShapeType="1"/>
                </p:cNvCxnSpPr>
                <p:nvPr/>
              </p:nvCxnSpPr>
              <p:spPr bwMode="auto">
                <a:xfrm>
                  <a:off x="245807" y="48319"/>
                  <a:ext cx="17996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6" name="Group 191"/>
              <p:cNvGrpSpPr/>
              <p:nvPr/>
            </p:nvGrpSpPr>
            <p:grpSpPr bwMode="auto">
              <a:xfrm>
                <a:off x="891909" y="1012162"/>
                <a:ext cx="425420" cy="49466"/>
                <a:chOff x="0" y="0"/>
                <a:chExt cx="425420" cy="49466"/>
              </a:xfrm>
            </p:grpSpPr>
            <p:cxnSp>
              <p:nvCxnSpPr>
                <p:cNvPr id="127" name="Straight Connector 376"/>
                <p:cNvCxnSpPr>
                  <a:cxnSpLocks noChangeShapeType="1"/>
                </p:cNvCxnSpPr>
                <p:nvPr/>
              </p:nvCxnSpPr>
              <p:spPr bwMode="auto">
                <a:xfrm>
                  <a:off x="-275" y="806"/>
                  <a:ext cx="144500"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28" name="Straight Connector 377"/>
                <p:cNvCxnSpPr>
                  <a:cxnSpLocks noChangeShapeType="1"/>
                </p:cNvCxnSpPr>
                <p:nvPr/>
              </p:nvCxnSpPr>
              <p:spPr bwMode="auto">
                <a:xfrm>
                  <a:off x="39134" y="21857"/>
                  <a:ext cx="359937"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29" name="Straight Connector 378"/>
                <p:cNvCxnSpPr>
                  <a:cxnSpLocks noChangeShapeType="1"/>
                </p:cNvCxnSpPr>
                <p:nvPr/>
              </p:nvCxnSpPr>
              <p:spPr bwMode="auto">
                <a:xfrm>
                  <a:off x="245376" y="48171"/>
                  <a:ext cx="17996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7" name="Group 195"/>
              <p:cNvGrpSpPr/>
              <p:nvPr/>
            </p:nvGrpSpPr>
            <p:grpSpPr bwMode="auto">
              <a:xfrm>
                <a:off x="0" y="986760"/>
                <a:ext cx="260400" cy="43528"/>
                <a:chOff x="0" y="0"/>
                <a:chExt cx="260400" cy="43528"/>
              </a:xfrm>
            </p:grpSpPr>
            <p:cxnSp>
              <p:nvCxnSpPr>
                <p:cNvPr id="124" name="Straight Connector 409"/>
                <p:cNvCxnSpPr>
                  <a:cxnSpLocks noChangeShapeType="1"/>
                </p:cNvCxnSpPr>
                <p:nvPr/>
              </p:nvCxnSpPr>
              <p:spPr bwMode="auto">
                <a:xfrm>
                  <a:off x="49591" y="-108"/>
                  <a:ext cx="143186"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25" name="Straight Connector 410"/>
                <p:cNvCxnSpPr>
                  <a:cxnSpLocks noChangeShapeType="1"/>
                </p:cNvCxnSpPr>
                <p:nvPr/>
              </p:nvCxnSpPr>
              <p:spPr bwMode="auto">
                <a:xfrm>
                  <a:off x="-327" y="23574"/>
                  <a:ext cx="23382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26" name="Straight Connector 411"/>
                <p:cNvCxnSpPr>
                  <a:cxnSpLocks noChangeShapeType="1"/>
                </p:cNvCxnSpPr>
                <p:nvPr/>
              </p:nvCxnSpPr>
              <p:spPr bwMode="auto">
                <a:xfrm>
                  <a:off x="152055" y="44625"/>
                  <a:ext cx="107718"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8" name="Group 199"/>
              <p:cNvGrpSpPr/>
              <p:nvPr/>
            </p:nvGrpSpPr>
            <p:grpSpPr bwMode="auto">
              <a:xfrm>
                <a:off x="14980" y="535206"/>
                <a:ext cx="187156" cy="25714"/>
                <a:chOff x="0" y="0"/>
                <a:chExt cx="187156" cy="25714"/>
              </a:xfrm>
            </p:grpSpPr>
            <p:cxnSp>
              <p:nvCxnSpPr>
                <p:cNvPr id="122" name="Straight Connector 413"/>
                <p:cNvCxnSpPr>
                  <a:cxnSpLocks noChangeShapeType="1"/>
                </p:cNvCxnSpPr>
                <p:nvPr/>
              </p:nvCxnSpPr>
              <p:spPr bwMode="auto">
                <a:xfrm>
                  <a:off x="-4798" y="-1155"/>
                  <a:ext cx="148441"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23" name="Straight Connector 414"/>
                <p:cNvCxnSpPr>
                  <a:cxnSpLocks noChangeShapeType="1"/>
                </p:cNvCxnSpPr>
                <p:nvPr/>
              </p:nvCxnSpPr>
              <p:spPr bwMode="auto">
                <a:xfrm>
                  <a:off x="77961" y="25159"/>
                  <a:ext cx="109033"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nvGrpSpPr>
              <p:cNvPr id="119" name="Group 202"/>
              <p:cNvGrpSpPr/>
              <p:nvPr/>
            </p:nvGrpSpPr>
            <p:grpSpPr bwMode="auto">
              <a:xfrm>
                <a:off x="744330" y="1235243"/>
                <a:ext cx="187156" cy="25714"/>
                <a:chOff x="0" y="0"/>
                <a:chExt cx="187156" cy="25714"/>
              </a:xfrm>
            </p:grpSpPr>
            <p:cxnSp>
              <p:nvCxnSpPr>
                <p:cNvPr id="120" name="Straight Connector 416"/>
                <p:cNvCxnSpPr>
                  <a:cxnSpLocks noChangeShapeType="1"/>
                </p:cNvCxnSpPr>
                <p:nvPr/>
              </p:nvCxnSpPr>
              <p:spPr bwMode="auto">
                <a:xfrm>
                  <a:off x="177" y="-1238"/>
                  <a:ext cx="143187"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121" name="Straight Connector 417"/>
                <p:cNvCxnSpPr>
                  <a:cxnSpLocks noChangeShapeType="1"/>
                </p:cNvCxnSpPr>
                <p:nvPr/>
              </p:nvCxnSpPr>
              <p:spPr bwMode="auto">
                <a:xfrm>
                  <a:off x="78996" y="25076"/>
                  <a:ext cx="107719" cy="0"/>
                </a:xfrm>
                <a:prstGeom prst="line">
                  <a:avLst/>
                </a:prstGeom>
                <a:noFill/>
                <a:ln w="9525">
                  <a:solidFill>
                    <a:srgbClr val="7F7F7F"/>
                  </a:solidFill>
                  <a:round/>
                </a:ln>
                <a:extLst>
                  <a:ext uri="{909E8E84-426E-40DD-AFC4-6F175D3DCCD1}">
                    <a14:hiddenFill xmlns:a14="http://schemas.microsoft.com/office/drawing/2010/main">
                      <a:noFill/>
                    </a14:hiddenFill>
                  </a:ext>
                </a:extLst>
              </p:spPr>
            </p:cxnSp>
          </p:grpSp>
        </p:grpSp>
        <p:sp>
          <p:nvSpPr>
            <p:cNvPr id="23" name="TextBox 96"/>
            <p:cNvSpPr txBox="1">
              <a:spLocks noChangeArrowheads="1"/>
            </p:cNvSpPr>
            <p:nvPr/>
          </p:nvSpPr>
          <p:spPr bwMode="auto">
            <a:xfrm>
              <a:off x="2700548" y="1504750"/>
              <a:ext cx="870018" cy="3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a:solidFill>
                    <a:srgbClr val="0000CC"/>
                  </a:solidFill>
                  <a:latin typeface="黑体" panose="02010609060101010101" pitchFamily="49" charset="-122"/>
                  <a:ea typeface="黑体" panose="02010609060101010101" pitchFamily="49" charset="-122"/>
                </a:rPr>
                <a:t>速度快</a:t>
              </a:r>
              <a:endParaRPr lang="zh-CN" altLang="en-US">
                <a:solidFill>
                  <a:srgbClr val="0000CC"/>
                </a:solidFill>
                <a:latin typeface="黑体" panose="02010609060101010101" pitchFamily="49" charset="-122"/>
                <a:ea typeface="黑体" panose="02010609060101010101" pitchFamily="49" charset="-122"/>
              </a:endParaRPr>
            </a:p>
          </p:txBody>
        </p:sp>
        <p:grpSp>
          <p:nvGrpSpPr>
            <p:cNvPr id="24" name="Group 206"/>
            <p:cNvGrpSpPr/>
            <p:nvPr/>
          </p:nvGrpSpPr>
          <p:grpSpPr bwMode="auto">
            <a:xfrm>
              <a:off x="110628" y="684080"/>
              <a:ext cx="1818614" cy="773142"/>
              <a:chOff x="0" y="0"/>
              <a:chExt cx="1504767" cy="1376940"/>
            </a:xfrm>
          </p:grpSpPr>
          <p:grpSp>
            <p:nvGrpSpPr>
              <p:cNvPr id="45" name="Group 207"/>
              <p:cNvGrpSpPr/>
              <p:nvPr/>
            </p:nvGrpSpPr>
            <p:grpSpPr bwMode="auto">
              <a:xfrm>
                <a:off x="0" y="0"/>
                <a:ext cx="1374117" cy="112144"/>
                <a:chOff x="0" y="0"/>
                <a:chExt cx="1374117" cy="112144"/>
              </a:xfrm>
            </p:grpSpPr>
            <p:sp>
              <p:nvSpPr>
                <p:cNvPr id="95" name="Flowchart: Connector 527"/>
                <p:cNvSpPr>
                  <a:spLocks noChangeArrowheads="1"/>
                </p:cNvSpPr>
                <p:nvPr/>
              </p:nvSpPr>
              <p:spPr bwMode="auto">
                <a:xfrm>
                  <a:off x="419" y="7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6" name="Flowchart: Connector 528"/>
                <p:cNvSpPr>
                  <a:spLocks noChangeArrowheads="1"/>
                </p:cNvSpPr>
                <p:nvPr/>
              </p:nvSpPr>
              <p:spPr bwMode="auto">
                <a:xfrm>
                  <a:off x="257892" y="7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7" name="Flowchart: Connector 529"/>
                <p:cNvSpPr>
                  <a:spLocks noChangeArrowheads="1"/>
                </p:cNvSpPr>
                <p:nvPr/>
              </p:nvSpPr>
              <p:spPr bwMode="auto">
                <a:xfrm>
                  <a:off x="502229" y="7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8" name="Flowchart: Connector 530"/>
                <p:cNvSpPr>
                  <a:spLocks noChangeArrowheads="1"/>
                </p:cNvSpPr>
                <p:nvPr/>
              </p:nvSpPr>
              <p:spPr bwMode="auto">
                <a:xfrm>
                  <a:off x="759703" y="7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9" name="Flowchart: Connector 531"/>
                <p:cNvSpPr>
                  <a:spLocks noChangeArrowheads="1"/>
                </p:cNvSpPr>
                <p:nvPr/>
              </p:nvSpPr>
              <p:spPr bwMode="auto">
                <a:xfrm>
                  <a:off x="1005353" y="7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100" name="Flowchart: Connector 532"/>
                <p:cNvSpPr>
                  <a:spLocks noChangeArrowheads="1"/>
                </p:cNvSpPr>
                <p:nvPr/>
              </p:nvSpPr>
              <p:spPr bwMode="auto">
                <a:xfrm>
                  <a:off x="1262826" y="7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46" name="Group 214"/>
              <p:cNvGrpSpPr/>
              <p:nvPr/>
            </p:nvGrpSpPr>
            <p:grpSpPr bwMode="auto">
              <a:xfrm>
                <a:off x="0" y="372000"/>
                <a:ext cx="1374117" cy="112144"/>
                <a:chOff x="0" y="0"/>
                <a:chExt cx="1374117" cy="112144"/>
              </a:xfrm>
            </p:grpSpPr>
            <p:sp>
              <p:nvSpPr>
                <p:cNvPr id="89" name="Flowchart: Connector 521"/>
                <p:cNvSpPr>
                  <a:spLocks noChangeArrowheads="1"/>
                </p:cNvSpPr>
                <p:nvPr/>
              </p:nvSpPr>
              <p:spPr bwMode="auto">
                <a:xfrm>
                  <a:off x="419" y="1225"/>
                  <a:ext cx="111659"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0" name="Flowchart: Connector 522"/>
                <p:cNvSpPr>
                  <a:spLocks noChangeArrowheads="1"/>
                </p:cNvSpPr>
                <p:nvPr/>
              </p:nvSpPr>
              <p:spPr bwMode="auto">
                <a:xfrm>
                  <a:off x="257892" y="1225"/>
                  <a:ext cx="111659"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1" name="Flowchart: Connector 523"/>
                <p:cNvSpPr>
                  <a:spLocks noChangeArrowheads="1"/>
                </p:cNvSpPr>
                <p:nvPr/>
              </p:nvSpPr>
              <p:spPr bwMode="auto">
                <a:xfrm>
                  <a:off x="502229" y="1225"/>
                  <a:ext cx="111659"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2" name="Flowchart: Connector 524"/>
                <p:cNvSpPr>
                  <a:spLocks noChangeArrowheads="1"/>
                </p:cNvSpPr>
                <p:nvPr/>
              </p:nvSpPr>
              <p:spPr bwMode="auto">
                <a:xfrm>
                  <a:off x="759703" y="1225"/>
                  <a:ext cx="111659"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3" name="Flowchart: Connector 525"/>
                <p:cNvSpPr>
                  <a:spLocks noChangeArrowheads="1"/>
                </p:cNvSpPr>
                <p:nvPr/>
              </p:nvSpPr>
              <p:spPr bwMode="auto">
                <a:xfrm>
                  <a:off x="1005353" y="1225"/>
                  <a:ext cx="111660"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94" name="Flowchart: Connector 526"/>
                <p:cNvSpPr>
                  <a:spLocks noChangeArrowheads="1"/>
                </p:cNvSpPr>
                <p:nvPr/>
              </p:nvSpPr>
              <p:spPr bwMode="auto">
                <a:xfrm>
                  <a:off x="1262826" y="1225"/>
                  <a:ext cx="111660"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47" name="Group 221"/>
              <p:cNvGrpSpPr/>
              <p:nvPr/>
            </p:nvGrpSpPr>
            <p:grpSpPr bwMode="auto">
              <a:xfrm>
                <a:off x="0" y="732001"/>
                <a:ext cx="1374117" cy="112144"/>
                <a:chOff x="0" y="0"/>
                <a:chExt cx="1374117" cy="112144"/>
              </a:xfrm>
            </p:grpSpPr>
            <p:sp>
              <p:nvSpPr>
                <p:cNvPr id="83" name="Flowchart: Connector 515"/>
                <p:cNvSpPr>
                  <a:spLocks noChangeArrowheads="1"/>
                </p:cNvSpPr>
                <p:nvPr/>
              </p:nvSpPr>
              <p:spPr bwMode="auto">
                <a:xfrm>
                  <a:off x="419" y="242"/>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4" name="Flowchart: Connector 516"/>
                <p:cNvSpPr>
                  <a:spLocks noChangeArrowheads="1"/>
                </p:cNvSpPr>
                <p:nvPr/>
              </p:nvSpPr>
              <p:spPr bwMode="auto">
                <a:xfrm>
                  <a:off x="257892" y="242"/>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5" name="Flowchart: Connector 517"/>
                <p:cNvSpPr>
                  <a:spLocks noChangeArrowheads="1"/>
                </p:cNvSpPr>
                <p:nvPr/>
              </p:nvSpPr>
              <p:spPr bwMode="auto">
                <a:xfrm>
                  <a:off x="502229" y="242"/>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6" name="Flowchart: Connector 518"/>
                <p:cNvSpPr>
                  <a:spLocks noChangeArrowheads="1"/>
                </p:cNvSpPr>
                <p:nvPr/>
              </p:nvSpPr>
              <p:spPr bwMode="auto">
                <a:xfrm>
                  <a:off x="759703" y="242"/>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7" name="Flowchart: Connector 519"/>
                <p:cNvSpPr>
                  <a:spLocks noChangeArrowheads="1"/>
                </p:cNvSpPr>
                <p:nvPr/>
              </p:nvSpPr>
              <p:spPr bwMode="auto">
                <a:xfrm>
                  <a:off x="1005353" y="242"/>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8" name="Flowchart: Connector 520"/>
                <p:cNvSpPr>
                  <a:spLocks noChangeArrowheads="1"/>
                </p:cNvSpPr>
                <p:nvPr/>
              </p:nvSpPr>
              <p:spPr bwMode="auto">
                <a:xfrm>
                  <a:off x="1262826" y="242"/>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48" name="Group 228"/>
              <p:cNvGrpSpPr/>
              <p:nvPr/>
            </p:nvGrpSpPr>
            <p:grpSpPr bwMode="auto">
              <a:xfrm>
                <a:off x="0" y="1104001"/>
                <a:ext cx="1374117" cy="112144"/>
                <a:chOff x="0" y="0"/>
                <a:chExt cx="1374117" cy="112144"/>
              </a:xfrm>
            </p:grpSpPr>
            <p:sp>
              <p:nvSpPr>
                <p:cNvPr id="77" name="Flowchart: Connector 509"/>
                <p:cNvSpPr>
                  <a:spLocks noChangeArrowheads="1"/>
                </p:cNvSpPr>
                <p:nvPr/>
              </p:nvSpPr>
              <p:spPr bwMode="auto">
                <a:xfrm>
                  <a:off x="419" y="-9913"/>
                  <a:ext cx="111659" cy="12155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8" name="Flowchart: Connector 510"/>
                <p:cNvSpPr>
                  <a:spLocks noChangeArrowheads="1"/>
                </p:cNvSpPr>
                <p:nvPr/>
              </p:nvSpPr>
              <p:spPr bwMode="auto">
                <a:xfrm>
                  <a:off x="257892" y="-9913"/>
                  <a:ext cx="111659" cy="12155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9" name="Flowchart: Connector 511"/>
                <p:cNvSpPr>
                  <a:spLocks noChangeArrowheads="1"/>
                </p:cNvSpPr>
                <p:nvPr/>
              </p:nvSpPr>
              <p:spPr bwMode="auto">
                <a:xfrm>
                  <a:off x="502229" y="-9913"/>
                  <a:ext cx="111659" cy="12155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0" name="Flowchart: Connector 512"/>
                <p:cNvSpPr>
                  <a:spLocks noChangeArrowheads="1"/>
                </p:cNvSpPr>
                <p:nvPr/>
              </p:nvSpPr>
              <p:spPr bwMode="auto">
                <a:xfrm>
                  <a:off x="759703" y="-9913"/>
                  <a:ext cx="111659" cy="12155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1" name="Flowchart: Connector 513"/>
                <p:cNvSpPr>
                  <a:spLocks noChangeArrowheads="1"/>
                </p:cNvSpPr>
                <p:nvPr/>
              </p:nvSpPr>
              <p:spPr bwMode="auto">
                <a:xfrm>
                  <a:off x="1005353" y="-9913"/>
                  <a:ext cx="111660" cy="12155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82" name="Flowchart: Connector 514"/>
                <p:cNvSpPr>
                  <a:spLocks noChangeArrowheads="1"/>
                </p:cNvSpPr>
                <p:nvPr/>
              </p:nvSpPr>
              <p:spPr bwMode="auto">
                <a:xfrm>
                  <a:off x="1262826" y="-9913"/>
                  <a:ext cx="111660" cy="12155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49" name="Group 235"/>
              <p:cNvGrpSpPr/>
              <p:nvPr/>
            </p:nvGrpSpPr>
            <p:grpSpPr bwMode="auto">
              <a:xfrm>
                <a:off x="130650" y="160795"/>
                <a:ext cx="1374117" cy="112144"/>
                <a:chOff x="0" y="0"/>
                <a:chExt cx="1374117" cy="112144"/>
              </a:xfrm>
            </p:grpSpPr>
            <p:sp>
              <p:nvSpPr>
                <p:cNvPr id="71" name="Flowchart: Connector 503"/>
                <p:cNvSpPr>
                  <a:spLocks noChangeArrowheads="1"/>
                </p:cNvSpPr>
                <p:nvPr/>
              </p:nvSpPr>
              <p:spPr bwMode="auto">
                <a:xfrm>
                  <a:off x="-181" y="41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2" name="Flowchart: Connector 504"/>
                <p:cNvSpPr>
                  <a:spLocks noChangeArrowheads="1"/>
                </p:cNvSpPr>
                <p:nvPr/>
              </p:nvSpPr>
              <p:spPr bwMode="auto">
                <a:xfrm>
                  <a:off x="257292" y="41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3" name="Flowchart: Connector 505"/>
                <p:cNvSpPr>
                  <a:spLocks noChangeArrowheads="1"/>
                </p:cNvSpPr>
                <p:nvPr/>
              </p:nvSpPr>
              <p:spPr bwMode="auto">
                <a:xfrm>
                  <a:off x="501629" y="41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4" name="Flowchart: Connector 506"/>
                <p:cNvSpPr>
                  <a:spLocks noChangeArrowheads="1"/>
                </p:cNvSpPr>
                <p:nvPr/>
              </p:nvSpPr>
              <p:spPr bwMode="auto">
                <a:xfrm>
                  <a:off x="759103" y="41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5" name="Flowchart: Connector 507"/>
                <p:cNvSpPr>
                  <a:spLocks noChangeArrowheads="1"/>
                </p:cNvSpPr>
                <p:nvPr/>
              </p:nvSpPr>
              <p:spPr bwMode="auto">
                <a:xfrm>
                  <a:off x="1004754" y="41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6" name="Flowchart: Connector 508"/>
                <p:cNvSpPr>
                  <a:spLocks noChangeArrowheads="1"/>
                </p:cNvSpPr>
                <p:nvPr/>
              </p:nvSpPr>
              <p:spPr bwMode="auto">
                <a:xfrm>
                  <a:off x="1262227" y="41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50" name="Group 242"/>
              <p:cNvGrpSpPr/>
              <p:nvPr/>
            </p:nvGrpSpPr>
            <p:grpSpPr bwMode="auto">
              <a:xfrm>
                <a:off x="130650" y="532795"/>
                <a:ext cx="1374117" cy="112144"/>
                <a:chOff x="0" y="0"/>
                <a:chExt cx="1374117" cy="112144"/>
              </a:xfrm>
            </p:grpSpPr>
            <p:sp>
              <p:nvSpPr>
                <p:cNvPr id="65" name="Flowchart: Connector 497"/>
                <p:cNvSpPr>
                  <a:spLocks noChangeArrowheads="1"/>
                </p:cNvSpPr>
                <p:nvPr/>
              </p:nvSpPr>
              <p:spPr bwMode="auto">
                <a:xfrm>
                  <a:off x="-181" y="-126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6" name="Flowchart: Connector 498"/>
                <p:cNvSpPr>
                  <a:spLocks noChangeArrowheads="1"/>
                </p:cNvSpPr>
                <p:nvPr/>
              </p:nvSpPr>
              <p:spPr bwMode="auto">
                <a:xfrm>
                  <a:off x="257292" y="-126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7" name="Flowchart: Connector 499"/>
                <p:cNvSpPr>
                  <a:spLocks noChangeArrowheads="1"/>
                </p:cNvSpPr>
                <p:nvPr/>
              </p:nvSpPr>
              <p:spPr bwMode="auto">
                <a:xfrm>
                  <a:off x="501629" y="-126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8" name="Flowchart: Connector 500"/>
                <p:cNvSpPr>
                  <a:spLocks noChangeArrowheads="1"/>
                </p:cNvSpPr>
                <p:nvPr/>
              </p:nvSpPr>
              <p:spPr bwMode="auto">
                <a:xfrm>
                  <a:off x="759103" y="-1263"/>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9" name="Flowchart: Connector 501"/>
                <p:cNvSpPr>
                  <a:spLocks noChangeArrowheads="1"/>
                </p:cNvSpPr>
                <p:nvPr/>
              </p:nvSpPr>
              <p:spPr bwMode="auto">
                <a:xfrm>
                  <a:off x="1004754" y="-126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70" name="Flowchart: Connector 502"/>
                <p:cNvSpPr>
                  <a:spLocks noChangeArrowheads="1"/>
                </p:cNvSpPr>
                <p:nvPr/>
              </p:nvSpPr>
              <p:spPr bwMode="auto">
                <a:xfrm>
                  <a:off x="1262227" y="-1263"/>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51" name="Group 249"/>
              <p:cNvGrpSpPr/>
              <p:nvPr/>
            </p:nvGrpSpPr>
            <p:grpSpPr bwMode="auto">
              <a:xfrm>
                <a:off x="130650" y="892796"/>
                <a:ext cx="1374117" cy="112144"/>
                <a:chOff x="0" y="0"/>
                <a:chExt cx="1374117" cy="112144"/>
              </a:xfrm>
            </p:grpSpPr>
            <p:sp>
              <p:nvSpPr>
                <p:cNvPr id="59" name="Flowchart: Connector 491"/>
                <p:cNvSpPr>
                  <a:spLocks noChangeArrowheads="1"/>
                </p:cNvSpPr>
                <p:nvPr/>
              </p:nvSpPr>
              <p:spPr bwMode="auto">
                <a:xfrm>
                  <a:off x="-181" y="581"/>
                  <a:ext cx="111660"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0" name="Flowchart: Connector 492"/>
                <p:cNvSpPr>
                  <a:spLocks noChangeArrowheads="1"/>
                </p:cNvSpPr>
                <p:nvPr/>
              </p:nvSpPr>
              <p:spPr bwMode="auto">
                <a:xfrm>
                  <a:off x="257292" y="581"/>
                  <a:ext cx="111660"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1" name="Flowchart: Connector 493"/>
                <p:cNvSpPr>
                  <a:spLocks noChangeArrowheads="1"/>
                </p:cNvSpPr>
                <p:nvPr/>
              </p:nvSpPr>
              <p:spPr bwMode="auto">
                <a:xfrm>
                  <a:off x="501629" y="581"/>
                  <a:ext cx="111660"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2" name="Flowchart: Connector 494"/>
                <p:cNvSpPr>
                  <a:spLocks noChangeArrowheads="1"/>
                </p:cNvSpPr>
                <p:nvPr/>
              </p:nvSpPr>
              <p:spPr bwMode="auto">
                <a:xfrm>
                  <a:off x="759103" y="581"/>
                  <a:ext cx="111660"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3" name="Flowchart: Connector 495"/>
                <p:cNvSpPr>
                  <a:spLocks noChangeArrowheads="1"/>
                </p:cNvSpPr>
                <p:nvPr/>
              </p:nvSpPr>
              <p:spPr bwMode="auto">
                <a:xfrm>
                  <a:off x="1004754" y="581"/>
                  <a:ext cx="111659"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64" name="Flowchart: Connector 496"/>
                <p:cNvSpPr>
                  <a:spLocks noChangeArrowheads="1"/>
                </p:cNvSpPr>
                <p:nvPr/>
              </p:nvSpPr>
              <p:spPr bwMode="auto">
                <a:xfrm>
                  <a:off x="1262227" y="581"/>
                  <a:ext cx="111659" cy="110251"/>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nvGrpSpPr>
              <p:cNvPr id="52" name="Group 256"/>
              <p:cNvGrpSpPr/>
              <p:nvPr/>
            </p:nvGrpSpPr>
            <p:grpSpPr bwMode="auto">
              <a:xfrm>
                <a:off x="130650" y="1264796"/>
                <a:ext cx="1374117" cy="112144"/>
                <a:chOff x="0" y="0"/>
                <a:chExt cx="1374117" cy="112144"/>
              </a:xfrm>
            </p:grpSpPr>
            <p:sp>
              <p:nvSpPr>
                <p:cNvPr id="53" name="Flowchart: Connector 485"/>
                <p:cNvSpPr>
                  <a:spLocks noChangeArrowheads="1"/>
                </p:cNvSpPr>
                <p:nvPr/>
              </p:nvSpPr>
              <p:spPr bwMode="auto">
                <a:xfrm>
                  <a:off x="-181" y="-1095"/>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54" name="Flowchart: Connector 486"/>
                <p:cNvSpPr>
                  <a:spLocks noChangeArrowheads="1"/>
                </p:cNvSpPr>
                <p:nvPr/>
              </p:nvSpPr>
              <p:spPr bwMode="auto">
                <a:xfrm>
                  <a:off x="257292" y="-1095"/>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55" name="Flowchart: Connector 487"/>
                <p:cNvSpPr>
                  <a:spLocks noChangeArrowheads="1"/>
                </p:cNvSpPr>
                <p:nvPr/>
              </p:nvSpPr>
              <p:spPr bwMode="auto">
                <a:xfrm>
                  <a:off x="501629" y="-1095"/>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56" name="Flowchart: Connector 488"/>
                <p:cNvSpPr>
                  <a:spLocks noChangeArrowheads="1"/>
                </p:cNvSpPr>
                <p:nvPr/>
              </p:nvSpPr>
              <p:spPr bwMode="auto">
                <a:xfrm>
                  <a:off x="759103" y="-1095"/>
                  <a:ext cx="111660"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57" name="Flowchart: Connector 489"/>
                <p:cNvSpPr>
                  <a:spLocks noChangeArrowheads="1"/>
                </p:cNvSpPr>
                <p:nvPr/>
              </p:nvSpPr>
              <p:spPr bwMode="auto">
                <a:xfrm>
                  <a:off x="1004754" y="-1095"/>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sp>
              <p:nvSpPr>
                <p:cNvPr id="58" name="Flowchart: Connector 490"/>
                <p:cNvSpPr>
                  <a:spLocks noChangeArrowheads="1"/>
                </p:cNvSpPr>
                <p:nvPr/>
              </p:nvSpPr>
              <p:spPr bwMode="auto">
                <a:xfrm>
                  <a:off x="1262227" y="-1095"/>
                  <a:ext cx="111659" cy="113077"/>
                </a:xfrm>
                <a:prstGeom prst="flowChartConnector">
                  <a:avLst/>
                </a:prstGeom>
                <a:solidFill>
                  <a:srgbClr val="0D0D0D">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sz="1600"/>
                </a:p>
              </p:txBody>
            </p:sp>
          </p:grpSp>
        </p:grpSp>
        <p:sp>
          <p:nvSpPr>
            <p:cNvPr id="25" name="TextBox 191"/>
            <p:cNvSpPr txBox="1">
              <a:spLocks noChangeArrowheads="1"/>
            </p:cNvSpPr>
            <p:nvPr/>
          </p:nvSpPr>
          <p:spPr bwMode="auto">
            <a:xfrm>
              <a:off x="622349" y="1495226"/>
              <a:ext cx="870017" cy="3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a:solidFill>
                    <a:srgbClr val="0000CC"/>
                  </a:solidFill>
                  <a:latin typeface="黑体" panose="02010609060101010101" pitchFamily="49" charset="-122"/>
                  <a:ea typeface="黑体" panose="02010609060101010101" pitchFamily="49" charset="-122"/>
                </a:rPr>
                <a:t>体量大</a:t>
              </a:r>
              <a:endParaRPr lang="zh-CN" altLang="en-US">
                <a:solidFill>
                  <a:srgbClr val="0000CC"/>
                </a:solidFill>
                <a:latin typeface="黑体" panose="02010609060101010101" pitchFamily="49" charset="-122"/>
                <a:ea typeface="黑体" panose="02010609060101010101" pitchFamily="49" charset="-122"/>
              </a:endParaRPr>
            </a:p>
          </p:txBody>
        </p:sp>
        <p:grpSp>
          <p:nvGrpSpPr>
            <p:cNvPr id="26" name="Group 264"/>
            <p:cNvGrpSpPr/>
            <p:nvPr/>
          </p:nvGrpSpPr>
          <p:grpSpPr bwMode="auto">
            <a:xfrm>
              <a:off x="4349097" y="1934069"/>
              <a:ext cx="792163" cy="547109"/>
              <a:chOff x="0" y="0"/>
              <a:chExt cx="792000" cy="745224"/>
            </a:xfrm>
          </p:grpSpPr>
          <p:sp>
            <p:nvSpPr>
              <p:cNvPr id="43" name="Rounded Rectangle 380"/>
              <p:cNvSpPr>
                <a:spLocks noChangeArrowheads="1"/>
              </p:cNvSpPr>
              <p:nvPr/>
            </p:nvSpPr>
            <p:spPr bwMode="auto">
              <a:xfrm>
                <a:off x="-596" y="7625"/>
                <a:ext cx="792062" cy="737264"/>
              </a:xfrm>
              <a:prstGeom prst="roundRect">
                <a:avLst>
                  <a:gd name="adj" fmla="val 10000"/>
                </a:avLst>
              </a:prstGeom>
              <a:blipFill dpi="0" rotWithShape="0">
                <a:blip r:embed="rId13"/>
                <a:srcRect/>
                <a:stretch>
                  <a:fillRect/>
                </a:stretch>
              </a:blipFill>
              <a:ln w="25400">
                <a:solidFill>
                  <a:srgbClr val="FFFFFF"/>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4" name="TextBox 60"/>
              <p:cNvSpPr txBox="1">
                <a:spLocks noChangeArrowheads="1"/>
              </p:cNvSpPr>
              <p:nvPr/>
            </p:nvSpPr>
            <p:spPr bwMode="auto">
              <a:xfrm>
                <a:off x="402578" y="-1023"/>
                <a:ext cx="361904" cy="207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r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 typeface="Arial" panose="020B0604020202020204" pitchFamily="34" charset="0"/>
                  <a:buNone/>
                </a:pPr>
                <a:r>
                  <a:rPr lang="zh-CN" altLang="en-US" sz="1000">
                    <a:solidFill>
                      <a:srgbClr val="0033CC"/>
                    </a:solidFill>
                    <a:latin typeface="黑体" panose="02010609060101010101" pitchFamily="49" charset="-122"/>
                    <a:ea typeface="黑体" panose="02010609060101010101" pitchFamily="49" charset="-122"/>
                  </a:rPr>
                  <a:t>文本</a:t>
                </a:r>
                <a:endParaRPr lang="zh-CN" altLang="en-US" sz="1000">
                  <a:solidFill>
                    <a:srgbClr val="0033CC"/>
                  </a:solidFill>
                  <a:latin typeface="黑体" panose="02010609060101010101" pitchFamily="49" charset="-122"/>
                  <a:ea typeface="黑体" panose="02010609060101010101" pitchFamily="49" charset="-122"/>
                </a:endParaRPr>
              </a:p>
            </p:txBody>
          </p:sp>
        </p:grpSp>
        <p:grpSp>
          <p:nvGrpSpPr>
            <p:cNvPr id="27" name="Group 267"/>
            <p:cNvGrpSpPr/>
            <p:nvPr/>
          </p:nvGrpSpPr>
          <p:grpSpPr bwMode="auto">
            <a:xfrm>
              <a:off x="4325100" y="2441421"/>
              <a:ext cx="964785" cy="717788"/>
              <a:chOff x="0" y="0"/>
              <a:chExt cx="966370" cy="764106"/>
            </a:xfrm>
          </p:grpSpPr>
          <p:sp>
            <p:nvSpPr>
              <p:cNvPr id="41" name="Rounded Rectangle 383"/>
              <p:cNvSpPr>
                <a:spLocks noChangeAspect="1" noChangeArrowheads="1"/>
              </p:cNvSpPr>
              <p:nvPr/>
            </p:nvSpPr>
            <p:spPr bwMode="auto">
              <a:xfrm>
                <a:off x="-414" y="13337"/>
                <a:ext cx="900071" cy="750234"/>
              </a:xfrm>
              <a:prstGeom prst="roundRect">
                <a:avLst>
                  <a:gd name="adj" fmla="val 10000"/>
                </a:avLst>
              </a:prstGeom>
              <a:blipFill dpi="0" rotWithShape="0">
                <a:blip r:embed="rId14"/>
                <a:srcRect/>
                <a:stretch>
                  <a:fillRect/>
                </a:stretch>
              </a:blipFill>
              <a:ln w="25400">
                <a:solidFill>
                  <a:srgbClr val="FFFFFF"/>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2" name="TextBox 72"/>
              <p:cNvSpPr txBox="1">
                <a:spLocks noChangeArrowheads="1"/>
              </p:cNvSpPr>
              <p:nvPr/>
            </p:nvSpPr>
            <p:spPr bwMode="auto">
              <a:xfrm>
                <a:off x="603874" y="-181"/>
                <a:ext cx="362573" cy="20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r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 typeface="Arial" panose="020B0604020202020204" pitchFamily="34" charset="0"/>
                  <a:buNone/>
                </a:pPr>
                <a:r>
                  <a:rPr lang="zh-CN" altLang="en-US" sz="1000">
                    <a:solidFill>
                      <a:srgbClr val="0033CC"/>
                    </a:solidFill>
                    <a:latin typeface="黑体" panose="02010609060101010101" pitchFamily="49" charset="-122"/>
                    <a:ea typeface="黑体" panose="02010609060101010101" pitchFamily="49" charset="-122"/>
                  </a:rPr>
                  <a:t>视频</a:t>
                </a:r>
                <a:endParaRPr lang="zh-CN" altLang="en-US" sz="1000">
                  <a:solidFill>
                    <a:srgbClr val="0033CC"/>
                  </a:solidFill>
                  <a:latin typeface="黑体" panose="02010609060101010101" pitchFamily="49" charset="-122"/>
                  <a:ea typeface="黑体" panose="02010609060101010101" pitchFamily="49" charset="-122"/>
                </a:endParaRPr>
              </a:p>
            </p:txBody>
          </p:sp>
        </p:grpSp>
        <p:grpSp>
          <p:nvGrpSpPr>
            <p:cNvPr id="28" name="Group 270"/>
            <p:cNvGrpSpPr/>
            <p:nvPr/>
          </p:nvGrpSpPr>
          <p:grpSpPr bwMode="auto">
            <a:xfrm>
              <a:off x="5340651" y="1901449"/>
              <a:ext cx="817562" cy="579728"/>
              <a:chOff x="0" y="0"/>
              <a:chExt cx="816429" cy="736599"/>
            </a:xfrm>
          </p:grpSpPr>
          <p:sp>
            <p:nvSpPr>
              <p:cNvPr id="39" name="Rounded Rectangle 386"/>
              <p:cNvSpPr>
                <a:spLocks noChangeArrowheads="1"/>
              </p:cNvSpPr>
              <p:nvPr/>
            </p:nvSpPr>
            <p:spPr bwMode="auto">
              <a:xfrm>
                <a:off x="116" y="156"/>
                <a:ext cx="816493" cy="736131"/>
              </a:xfrm>
              <a:prstGeom prst="roundRect">
                <a:avLst>
                  <a:gd name="adj" fmla="val 10000"/>
                </a:avLst>
              </a:prstGeom>
              <a:blipFill dpi="0" rotWithShape="0">
                <a:blip r:embed="rId15"/>
                <a:srcRect/>
                <a:stretch>
                  <a:fillRect/>
                </a:stretch>
              </a:blipFill>
              <a:ln w="25400">
                <a:solidFill>
                  <a:srgbClr val="FFFFFF"/>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0" name="TextBox 84"/>
              <p:cNvSpPr txBox="1">
                <a:spLocks noChangeArrowheads="1"/>
              </p:cNvSpPr>
              <p:nvPr/>
            </p:nvSpPr>
            <p:spPr bwMode="auto">
              <a:xfrm>
                <a:off x="455132" y="156"/>
                <a:ext cx="361477" cy="207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r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 typeface="Arial" panose="020B0604020202020204" pitchFamily="34" charset="0"/>
                  <a:buNone/>
                </a:pPr>
                <a:r>
                  <a:rPr lang="zh-CN" altLang="en-US" sz="1000">
                    <a:solidFill>
                      <a:srgbClr val="0033CC"/>
                    </a:solidFill>
                    <a:latin typeface="黑体" panose="02010609060101010101" pitchFamily="49" charset="-122"/>
                    <a:ea typeface="黑体" panose="02010609060101010101" pitchFamily="49" charset="-122"/>
                  </a:rPr>
                  <a:t>图片</a:t>
                </a:r>
                <a:endParaRPr lang="zh-CN" altLang="en-US" sz="1000">
                  <a:solidFill>
                    <a:srgbClr val="0033CC"/>
                  </a:solidFill>
                  <a:latin typeface="黑体" panose="02010609060101010101" pitchFamily="49" charset="-122"/>
                  <a:ea typeface="黑体" panose="02010609060101010101" pitchFamily="49" charset="-122"/>
                </a:endParaRPr>
              </a:p>
            </p:txBody>
          </p:sp>
        </p:grpSp>
        <p:grpSp>
          <p:nvGrpSpPr>
            <p:cNvPr id="29" name="Group 273"/>
            <p:cNvGrpSpPr/>
            <p:nvPr/>
          </p:nvGrpSpPr>
          <p:grpSpPr bwMode="auto">
            <a:xfrm>
              <a:off x="5312868" y="2580823"/>
              <a:ext cx="873127" cy="578382"/>
              <a:chOff x="0" y="0"/>
              <a:chExt cx="872205" cy="755802"/>
            </a:xfrm>
          </p:grpSpPr>
          <p:sp>
            <p:nvSpPr>
              <p:cNvPr id="37" name="Rounded Rectangle 389"/>
              <p:cNvSpPr>
                <a:spLocks noChangeArrowheads="1"/>
              </p:cNvSpPr>
              <p:nvPr/>
            </p:nvSpPr>
            <p:spPr bwMode="auto">
              <a:xfrm>
                <a:off x="-677" y="6364"/>
                <a:ext cx="864341" cy="748784"/>
              </a:xfrm>
              <a:prstGeom prst="roundRect">
                <a:avLst>
                  <a:gd name="adj" fmla="val 10000"/>
                </a:avLst>
              </a:prstGeom>
              <a:blipFill dpi="0" rotWithShape="0">
                <a:blip r:embed="rId16"/>
                <a:srcRect/>
                <a:stretch>
                  <a:fillRect/>
                </a:stretch>
              </a:blipFill>
              <a:ln w="25400">
                <a:solidFill>
                  <a:srgbClr val="FFFFFF"/>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8" name="TextBox 102"/>
              <p:cNvSpPr txBox="1">
                <a:spLocks noChangeArrowheads="1"/>
              </p:cNvSpPr>
              <p:nvPr/>
            </p:nvSpPr>
            <p:spPr bwMode="auto">
              <a:xfrm>
                <a:off x="509998" y="142"/>
                <a:ext cx="361596" cy="207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r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 typeface="Arial" panose="020B0604020202020204" pitchFamily="34" charset="0"/>
                  <a:buNone/>
                </a:pPr>
                <a:r>
                  <a:rPr lang="zh-CN" altLang="en-US" sz="1000">
                    <a:solidFill>
                      <a:srgbClr val="0033CC"/>
                    </a:solidFill>
                    <a:latin typeface="黑体" panose="02010609060101010101" pitchFamily="49" charset="-122"/>
                    <a:ea typeface="黑体" panose="02010609060101010101" pitchFamily="49" charset="-122"/>
                  </a:rPr>
                  <a:t>音频</a:t>
                </a:r>
                <a:endParaRPr lang="zh-CN" altLang="en-US" sz="1000">
                  <a:solidFill>
                    <a:srgbClr val="0033CC"/>
                  </a:solidFill>
                  <a:latin typeface="黑体" panose="02010609060101010101" pitchFamily="49" charset="-122"/>
                  <a:ea typeface="黑体" panose="02010609060101010101" pitchFamily="49" charset="-122"/>
                </a:endParaRPr>
              </a:p>
            </p:txBody>
          </p:sp>
        </p:grpSp>
        <p:pic>
          <p:nvPicPr>
            <p:cNvPr id="30" name="Picture 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853" y="1894792"/>
              <a:ext cx="15525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391"/>
            <p:cNvSpPr>
              <a:spLocks noChangeArrowheads="1"/>
            </p:cNvSpPr>
            <p:nvPr/>
          </p:nvSpPr>
          <p:spPr bwMode="auto">
            <a:xfrm>
              <a:off x="26989" y="2404742"/>
              <a:ext cx="2044860" cy="585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rgbClr val="CF9A64"/>
                  </a:solidFill>
                  <a:latin typeface="黑体" panose="02010609060101010101" pitchFamily="49" charset="-122"/>
                  <a:ea typeface="黑体" panose="02010609060101010101" pitchFamily="49" charset="-122"/>
                </a:rPr>
                <a:t>到</a:t>
              </a:r>
              <a:r>
                <a:rPr lang="en-US" altLang="zh-CN" sz="1600">
                  <a:solidFill>
                    <a:srgbClr val="CF9A64"/>
                  </a:solidFill>
                  <a:latin typeface="黑体" panose="02010609060101010101" pitchFamily="49" charset="-122"/>
                  <a:ea typeface="黑体" panose="02010609060101010101" pitchFamily="49" charset="-122"/>
                </a:rPr>
                <a:t>2020</a:t>
              </a:r>
              <a:r>
                <a:rPr lang="zh-CN" altLang="en-US" sz="1600">
                  <a:solidFill>
                    <a:srgbClr val="CF9A64"/>
                  </a:solidFill>
                  <a:latin typeface="黑体" panose="02010609060101010101" pitchFamily="49" charset="-122"/>
                  <a:ea typeface="黑体" panose="02010609060101010101" pitchFamily="49" charset="-122"/>
                </a:rPr>
                <a:t>年，数据总量达</a:t>
              </a:r>
              <a:r>
                <a:rPr lang="en-US" altLang="zh-CN" sz="1600">
                  <a:solidFill>
                    <a:srgbClr val="CF9A64"/>
                  </a:solidFill>
                  <a:latin typeface="黑体" panose="02010609060101010101" pitchFamily="49" charset="-122"/>
                  <a:ea typeface="黑体" panose="02010609060101010101" pitchFamily="49" charset="-122"/>
                </a:rPr>
                <a:t>40ZB</a:t>
              </a:r>
              <a:r>
                <a:rPr lang="zh-CN" altLang="en-US" sz="1600">
                  <a:solidFill>
                    <a:srgbClr val="CF9A64"/>
                  </a:solidFill>
                  <a:latin typeface="黑体" panose="02010609060101010101" pitchFamily="49" charset="-122"/>
                  <a:ea typeface="黑体" panose="02010609060101010101" pitchFamily="49" charset="-122"/>
                </a:rPr>
                <a:t>，</a:t>
              </a:r>
              <a:r>
                <a:rPr lang="zh-CN" altLang="en-US" sz="1600">
                  <a:solidFill>
                    <a:srgbClr val="0033CC"/>
                  </a:solidFill>
                  <a:latin typeface="黑体" panose="02010609060101010101" pitchFamily="49" charset="-122"/>
                  <a:ea typeface="黑体" panose="02010609060101010101" pitchFamily="49" charset="-122"/>
                </a:rPr>
                <a:t>人均</a:t>
              </a:r>
              <a:r>
                <a:rPr lang="en-US" altLang="zh-CN" sz="1600">
                  <a:solidFill>
                    <a:srgbClr val="0033CC"/>
                  </a:solidFill>
                  <a:latin typeface="黑体" panose="02010609060101010101" pitchFamily="49" charset="-122"/>
                  <a:ea typeface="黑体" panose="02010609060101010101" pitchFamily="49" charset="-122"/>
                </a:rPr>
                <a:t>5.2TB</a:t>
              </a:r>
              <a:endParaRPr lang="zh-CN" altLang="en-US" sz="1600">
                <a:solidFill>
                  <a:srgbClr val="0033CC"/>
                </a:solidFill>
                <a:latin typeface="黑体" panose="02010609060101010101" pitchFamily="49" charset="-122"/>
                <a:ea typeface="黑体" panose="02010609060101010101" pitchFamily="49" charset="-122"/>
              </a:endParaRPr>
            </a:p>
          </p:txBody>
        </p:sp>
        <p:sp>
          <p:nvSpPr>
            <p:cNvPr id="32" name="Rectangle 393"/>
            <p:cNvSpPr>
              <a:spLocks noChangeArrowheads="1"/>
            </p:cNvSpPr>
            <p:nvPr/>
          </p:nvSpPr>
          <p:spPr bwMode="auto">
            <a:xfrm>
              <a:off x="2102014" y="2353949"/>
              <a:ext cx="2044860" cy="831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rgbClr val="CF9A64"/>
                  </a:solidFill>
                  <a:latin typeface="黑体" panose="02010609060101010101" pitchFamily="49" charset="-122"/>
                  <a:ea typeface="黑体" panose="02010609060101010101" pitchFamily="49" charset="-122"/>
                </a:rPr>
                <a:t>分享的内容条目超过</a:t>
              </a:r>
              <a:r>
                <a:rPr lang="en-US" altLang="zh-CN" sz="1600">
                  <a:solidFill>
                    <a:srgbClr val="0033CC"/>
                  </a:solidFill>
                  <a:latin typeface="黑体" panose="02010609060101010101" pitchFamily="49" charset="-122"/>
                  <a:ea typeface="黑体" panose="02010609060101010101" pitchFamily="49" charset="-122"/>
                </a:rPr>
                <a:t>25</a:t>
              </a:r>
              <a:r>
                <a:rPr lang="zh-CN" altLang="en-US" sz="1600">
                  <a:solidFill>
                    <a:srgbClr val="0033CC"/>
                  </a:solidFill>
                  <a:latin typeface="黑体" panose="02010609060101010101" pitchFamily="49" charset="-122"/>
                  <a:ea typeface="黑体" panose="02010609060101010101" pitchFamily="49" charset="-122"/>
                </a:rPr>
                <a:t>亿个</a:t>
              </a:r>
              <a:r>
                <a:rPr lang="en-US" altLang="zh-CN" sz="1600">
                  <a:solidFill>
                    <a:srgbClr val="0033CC"/>
                  </a:solidFill>
                  <a:latin typeface="黑体" panose="02010609060101010101" pitchFamily="49" charset="-122"/>
                  <a:ea typeface="黑体" panose="02010609060101010101" pitchFamily="49" charset="-122"/>
                </a:rPr>
                <a:t>/</a:t>
              </a:r>
              <a:r>
                <a:rPr lang="zh-CN" altLang="en-US" sz="1600">
                  <a:solidFill>
                    <a:srgbClr val="0033CC"/>
                  </a:solidFill>
                  <a:latin typeface="黑体" panose="02010609060101010101" pitchFamily="49" charset="-122"/>
                  <a:ea typeface="黑体" panose="02010609060101010101" pitchFamily="49" charset="-122"/>
                </a:rPr>
                <a:t>天</a:t>
              </a:r>
              <a:r>
                <a:rPr lang="zh-CN" altLang="en-US" sz="1600">
                  <a:solidFill>
                    <a:srgbClr val="CF9A64"/>
                  </a:solidFill>
                  <a:latin typeface="黑体" panose="02010609060101010101" pitchFamily="49" charset="-122"/>
                  <a:ea typeface="黑体" panose="02010609060101010101" pitchFamily="49" charset="-122"/>
                </a:rPr>
                <a:t>，增加数据超过</a:t>
              </a:r>
              <a:r>
                <a:rPr lang="en-US" altLang="zh-CN" sz="1600">
                  <a:solidFill>
                    <a:srgbClr val="0033CC"/>
                  </a:solidFill>
                  <a:latin typeface="黑体" panose="02010609060101010101" pitchFamily="49" charset="-122"/>
                  <a:ea typeface="黑体" panose="02010609060101010101" pitchFamily="49" charset="-122"/>
                </a:rPr>
                <a:t>500TB/</a:t>
              </a:r>
              <a:r>
                <a:rPr lang="zh-CN" altLang="en-US" sz="1600">
                  <a:solidFill>
                    <a:srgbClr val="0033CC"/>
                  </a:solidFill>
                  <a:latin typeface="黑体" panose="02010609060101010101" pitchFamily="49" charset="-122"/>
                  <a:ea typeface="黑体" panose="02010609060101010101" pitchFamily="49" charset="-122"/>
                </a:rPr>
                <a:t>天</a:t>
              </a:r>
              <a:endParaRPr lang="zh-CN" altLang="en-US" sz="1600">
                <a:solidFill>
                  <a:srgbClr val="0033CC"/>
                </a:solidFill>
                <a:latin typeface="黑体" panose="02010609060101010101" pitchFamily="49" charset="-122"/>
                <a:ea typeface="黑体" panose="02010609060101010101" pitchFamily="49" charset="-122"/>
              </a:endParaRPr>
            </a:p>
          </p:txBody>
        </p:sp>
        <p:pic>
          <p:nvPicPr>
            <p:cNvPr id="33" name="Picture 17" descr="http://pic14.nipic.com/20110427/1898385_221121122000_2.jpg"/>
            <p:cNvPicPr>
              <a:picLocks noChangeAspect="1" noChangeArrowheads="1"/>
            </p:cNvPicPr>
            <p:nvPr/>
          </p:nvPicPr>
          <p:blipFill>
            <a:blip r:embed="rId18">
              <a:extLst>
                <a:ext uri="{28A0092B-C50C-407E-A947-70E740481C1C}">
                  <a14:useLocalDpi xmlns:a14="http://schemas.microsoft.com/office/drawing/2010/main" val="0"/>
                </a:ext>
              </a:extLst>
            </a:blip>
            <a:srcRect l="8342" t="20259" r="4919" b="24615"/>
            <a:stretch>
              <a:fillRect/>
            </a:stretch>
          </p:blipFill>
          <p:spPr bwMode="auto">
            <a:xfrm>
              <a:off x="2276047" y="1895424"/>
              <a:ext cx="1529058" cy="41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 name="Group 280"/>
            <p:cNvGrpSpPr>
              <a:grpSpLocks noChangeAspect="1"/>
            </p:cNvGrpSpPr>
            <p:nvPr/>
          </p:nvGrpSpPr>
          <p:grpSpPr bwMode="auto">
            <a:xfrm>
              <a:off x="6366235" y="1870266"/>
              <a:ext cx="1958586" cy="1320185"/>
              <a:chOff x="0" y="0"/>
              <a:chExt cx="2017600" cy="1435149"/>
            </a:xfrm>
          </p:grpSpPr>
          <p:pic>
            <p:nvPicPr>
              <p:cNvPr id="35" name="Picture 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2017600" cy="5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5640" y="635049"/>
                <a:ext cx="1886889"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数据量大</a:t>
            </a:r>
            <a:endParaRPr lang="en-US" altLang="zh-CN" dirty="0"/>
          </a:p>
          <a:p>
            <a:pPr lvl="1"/>
            <a:r>
              <a:rPr lang="zh-CN" altLang="en-US" dirty="0"/>
              <a:t>根据</a:t>
            </a:r>
            <a:r>
              <a:rPr lang="en-US" altLang="zh-CN" dirty="0"/>
              <a:t>IDC</a:t>
            </a:r>
            <a:r>
              <a:rPr lang="zh-CN" altLang="en-US" dirty="0"/>
              <a:t>作出的估测，人类掌握的数据一直都在以每年</a:t>
            </a:r>
            <a:r>
              <a:rPr lang="en-US" altLang="zh-CN" dirty="0"/>
              <a:t>50%</a:t>
            </a:r>
            <a:r>
              <a:rPr lang="zh-CN" altLang="en-US" dirty="0"/>
              <a:t>的速度增长，也就是说每两年就增长一倍</a:t>
            </a:r>
            <a:r>
              <a:rPr lang="en-US" altLang="zh-CN" dirty="0"/>
              <a:t>(</a:t>
            </a:r>
            <a:r>
              <a:rPr lang="zh-CN" altLang="en-US" dirty="0"/>
              <a:t>大数据摩尔定律</a:t>
            </a:r>
            <a:r>
              <a:rPr lang="en-US" altLang="zh-CN" dirty="0"/>
              <a:t>)</a:t>
            </a:r>
            <a:r>
              <a:rPr lang="zh-CN" altLang="en-US" dirty="0"/>
              <a:t>。</a:t>
            </a:r>
            <a:endParaRPr lang="zh-CN" altLang="en-US" dirty="0"/>
          </a:p>
          <a:p>
            <a:pPr lvl="1"/>
            <a:r>
              <a:rPr lang="zh-CN" altLang="en-US" dirty="0"/>
              <a:t>人类在最近两年产生的数据量相当于之前产生的全部数据量。</a:t>
            </a:r>
            <a:endParaRPr lang="zh-CN" altLang="en-US" dirty="0"/>
          </a:p>
          <a:p>
            <a:pPr lvl="1"/>
            <a:r>
              <a:rPr lang="zh-CN" altLang="en-US" dirty="0"/>
              <a:t>预计到</a:t>
            </a:r>
            <a:r>
              <a:rPr lang="en-US" altLang="zh-CN" dirty="0"/>
              <a:t>2020</a:t>
            </a:r>
            <a:r>
              <a:rPr lang="zh-CN" altLang="en-US" dirty="0"/>
              <a:t>年，全球将总共拥有</a:t>
            </a:r>
            <a:r>
              <a:rPr lang="en-US" altLang="zh-CN" dirty="0"/>
              <a:t>35ZB</a:t>
            </a:r>
            <a:r>
              <a:rPr lang="zh-CN" altLang="en-US" dirty="0"/>
              <a:t>的数据量，相较于</a:t>
            </a:r>
            <a:r>
              <a:rPr lang="en-US" altLang="zh-CN" dirty="0"/>
              <a:t>2010</a:t>
            </a:r>
            <a:r>
              <a:rPr lang="zh-CN" altLang="en-US" dirty="0"/>
              <a:t>年，数据量将增长近</a:t>
            </a:r>
            <a:r>
              <a:rPr lang="en-US" altLang="zh-CN" dirty="0"/>
              <a:t>30</a:t>
            </a:r>
            <a:r>
              <a:rPr lang="zh-CN" altLang="en-US" dirty="0"/>
              <a:t>倍</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30899" y="3864073"/>
            <a:ext cx="3733800" cy="2897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2120" y="4333935"/>
            <a:ext cx="37338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数据类型繁多</a:t>
            </a:r>
            <a:endParaRPr lang="en-US" altLang="zh-CN" dirty="0"/>
          </a:p>
          <a:p>
            <a:pPr lvl="1"/>
            <a:r>
              <a:rPr lang="zh-CN" altLang="en-US" dirty="0"/>
              <a:t>大数据是由结构化和非结构化数据组成的</a:t>
            </a:r>
            <a:endParaRPr lang="en-US" altLang="zh-CN" dirty="0"/>
          </a:p>
          <a:p>
            <a:pPr lvl="2"/>
            <a:r>
              <a:rPr lang="en-US" altLang="zh-CN" dirty="0"/>
              <a:t>10%</a:t>
            </a:r>
            <a:r>
              <a:rPr lang="zh-CN" altLang="en-US" dirty="0"/>
              <a:t>的结构化数据，存储在数据库中。</a:t>
            </a:r>
            <a:endParaRPr lang="zh-CN" altLang="en-US" dirty="0"/>
          </a:p>
          <a:p>
            <a:pPr lvl="2"/>
            <a:r>
              <a:rPr lang="en-US" altLang="zh-CN" dirty="0"/>
              <a:t>90%</a:t>
            </a:r>
            <a:r>
              <a:rPr lang="zh-CN" altLang="en-US" dirty="0"/>
              <a:t>的非结构化数据，它们与人类信息密切相关。</a:t>
            </a:r>
            <a:endParaRPr lang="zh-CN" altLang="en-US" dirty="0"/>
          </a:p>
          <a:p>
            <a:pPr lvl="1"/>
            <a:r>
              <a:rPr lang="zh-CN" altLang="en-US" dirty="0"/>
              <a:t>非结构化数据类型多样</a:t>
            </a:r>
            <a:endParaRPr lang="zh-CN" altLang="en-US" dirty="0"/>
          </a:p>
          <a:p>
            <a:pPr lvl="2"/>
            <a:r>
              <a:rPr lang="zh-CN" altLang="en-US" dirty="0"/>
              <a:t>邮件、视频、微博。</a:t>
            </a:r>
            <a:endParaRPr lang="zh-CN" altLang="en-US" dirty="0"/>
          </a:p>
          <a:p>
            <a:pPr lvl="2"/>
            <a:r>
              <a:rPr lang="zh-CN" altLang="en-US" dirty="0"/>
              <a:t>位置信息、链接信息。</a:t>
            </a:r>
            <a:endParaRPr lang="zh-CN" altLang="en-US" dirty="0"/>
          </a:p>
          <a:p>
            <a:pPr lvl="2"/>
            <a:r>
              <a:rPr lang="zh-CN" altLang="en-US" dirty="0"/>
              <a:t>手机呼叫、网页点击。</a:t>
            </a:r>
            <a:endParaRPr lang="zh-CN" altLang="en-US" dirty="0"/>
          </a:p>
          <a:p>
            <a:pPr lvl="2"/>
            <a:r>
              <a:rPr lang="zh-CN" altLang="en-US" dirty="0"/>
              <a:t>“长微博”。</a:t>
            </a:r>
            <a:endParaRPr lang="zh-CN" altLang="en-US" dirty="0"/>
          </a:p>
          <a:p>
            <a:pPr lvl="2"/>
            <a:r>
              <a:rPr lang="en-US" altLang="zh-CN" dirty="0"/>
              <a:t>...</a:t>
            </a:r>
            <a:endParaRPr lang="en-US" altLang="zh-CN"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06640" y="2170176"/>
            <a:ext cx="4083050"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p:cNvSpPr>
            <a:spLocks noChangeArrowheads="1"/>
          </p:cNvSpPr>
          <p:nvPr/>
        </p:nvSpPr>
        <p:spPr bwMode="auto">
          <a:xfrm>
            <a:off x="7187184" y="2170176"/>
            <a:ext cx="685800" cy="1981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快速处理</a:t>
            </a:r>
            <a:endParaRPr lang="en-US" altLang="zh-CN" dirty="0"/>
          </a:p>
          <a:p>
            <a:pPr lvl="1"/>
            <a:r>
              <a:rPr lang="zh-CN" altLang="en-US" dirty="0"/>
              <a:t>从数据的生成到消耗，时间窗口非常小，可用于生成决策的时间非常少。</a:t>
            </a:r>
            <a:endParaRPr lang="zh-CN" altLang="en-US" dirty="0"/>
          </a:p>
          <a:p>
            <a:pPr lvl="1"/>
            <a:r>
              <a:rPr lang="en-US" altLang="zh-CN" dirty="0"/>
              <a:t>1</a:t>
            </a:r>
            <a:r>
              <a:rPr lang="zh-CN" altLang="en-US" dirty="0"/>
              <a:t>秒定律：这一点也是和传统的数据挖掘技术有着本质的不同。</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8" name="Picture 7" descr="http://img.jrjimg.cn/2012/12/2012122412420598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10347" y="3108960"/>
            <a:ext cx="5748643" cy="324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价值密度低</a:t>
            </a:r>
            <a:endParaRPr lang="en-US" altLang="zh-CN" dirty="0"/>
          </a:p>
          <a:p>
            <a:pPr lvl="1"/>
            <a:r>
              <a:rPr lang="zh-CN" altLang="en-US" dirty="0"/>
              <a:t>价值密度低，商业价值高</a:t>
            </a:r>
            <a:endParaRPr lang="zh-CN" altLang="en-US" dirty="0"/>
          </a:p>
          <a:p>
            <a:pPr lvl="1"/>
            <a:r>
              <a:rPr lang="zh-CN" altLang="en-US" dirty="0"/>
              <a:t>以视频为例，连续不间断监控过程中，可能有用的数据仅仅有一两秒，但是具有很高的商业价值。</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7" descr="http://cache.d1net.com/uploadfile/2013/0619/2013061901203647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35920" y="3473053"/>
            <a:ext cx="4762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descr="http://himg2.huanqiu.com/attachment2010/2013/1210/2013121010004328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521" y="3954065"/>
            <a:ext cx="26289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sym typeface="仿宋" panose="02010609060101010101" pitchFamily="49" charset="-122"/>
              </a:rPr>
              <a:t>大数据与常规数据</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
        <p:nvSpPr>
          <p:cNvPr id="6" name="灯片编号占位符 4"/>
          <p:cNvSpPr txBox="1">
            <a:spLocks noGrp="1" noChangeArrowheads="1"/>
          </p:cNvSpPr>
          <p:nvPr/>
        </p:nvSpPr>
        <p:spPr bwMode="auto">
          <a:xfrm>
            <a:off x="7796784"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fld id="{03250EA7-AEE8-41BA-B197-B5825BFF8F5D}" type="slidenum">
              <a:rPr lang="zh-CN" altLang="en-US" sz="1200">
                <a:solidFill>
                  <a:srgbClr val="898989"/>
                </a:solidFill>
              </a:rPr>
            </a:fld>
            <a:endParaRPr lang="zh-CN" altLang="en-US" sz="1200">
              <a:solidFill>
                <a:srgbClr val="898989"/>
              </a:solidFill>
            </a:endParaRPr>
          </a:p>
        </p:txBody>
      </p:sp>
      <p:sp>
        <p:nvSpPr>
          <p:cNvPr id="7" name="圆柱形 5"/>
          <p:cNvSpPr>
            <a:spLocks noChangeArrowheads="1"/>
          </p:cNvSpPr>
          <p:nvPr/>
        </p:nvSpPr>
        <p:spPr bwMode="auto">
          <a:xfrm>
            <a:off x="2458022" y="4857750"/>
            <a:ext cx="1643062" cy="1071563"/>
          </a:xfrm>
          <a:prstGeom prst="can">
            <a:avLst>
              <a:gd name="adj" fmla="val 20644"/>
            </a:avLst>
          </a:prstGeom>
          <a:blipFill dpi="0" rotWithShape="1">
            <a:blip r:embed="rId1"/>
            <a:srcRect/>
            <a:stretch>
              <a:fillRect/>
            </a:stretch>
          </a:blipFill>
          <a:ln w="3175">
            <a:solidFill>
              <a:schemeClr val="bg1"/>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800" b="1">
                <a:solidFill>
                  <a:srgbClr val="35385A"/>
                </a:solidFill>
                <a:latin typeface="Lucida Sans Unicode" panose="020B0602030504020204" pitchFamily="34" charset="0"/>
                <a:ea typeface="黑体" panose="02010609060101010101" pitchFamily="49" charset="-122"/>
                <a:sym typeface="黑体" panose="02010609060101010101" pitchFamily="49" charset="-122"/>
              </a:rPr>
              <a:t>常规数据</a:t>
            </a:r>
            <a:endParaRPr lang="zh-CN" altLang="en-US"/>
          </a:p>
        </p:txBody>
      </p:sp>
      <p:sp>
        <p:nvSpPr>
          <p:cNvPr id="8" name="圆角矩形 32"/>
          <p:cNvSpPr>
            <a:spLocks noChangeArrowheads="1"/>
          </p:cNvSpPr>
          <p:nvPr/>
        </p:nvSpPr>
        <p:spPr bwMode="auto">
          <a:xfrm>
            <a:off x="4782122" y="3260725"/>
            <a:ext cx="857250" cy="385763"/>
          </a:xfrm>
          <a:prstGeom prst="roundRect">
            <a:avLst>
              <a:gd name="adj" fmla="val 6968"/>
            </a:avLst>
          </a:prstGeom>
          <a:solidFill>
            <a:srgbClr val="C4BD97"/>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9" name="圆角矩形 30"/>
          <p:cNvSpPr>
            <a:spLocks noChangeArrowheads="1"/>
          </p:cNvSpPr>
          <p:nvPr/>
        </p:nvSpPr>
        <p:spPr bwMode="auto">
          <a:xfrm>
            <a:off x="4791647" y="2366963"/>
            <a:ext cx="857250" cy="385762"/>
          </a:xfrm>
          <a:prstGeom prst="roundRect">
            <a:avLst>
              <a:gd name="adj" fmla="val 6968"/>
            </a:avLst>
          </a:prstGeom>
          <a:solidFill>
            <a:srgbClr val="B7CCE4"/>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10" name="圆角矩形 29"/>
          <p:cNvSpPr>
            <a:spLocks noChangeArrowheads="1"/>
          </p:cNvSpPr>
          <p:nvPr/>
        </p:nvSpPr>
        <p:spPr bwMode="auto">
          <a:xfrm>
            <a:off x="4791647" y="1933575"/>
            <a:ext cx="857250" cy="385763"/>
          </a:xfrm>
          <a:prstGeom prst="roundRect">
            <a:avLst>
              <a:gd name="adj" fmla="val 6968"/>
            </a:avLst>
          </a:prstGeom>
          <a:solidFill>
            <a:srgbClr val="F2F2F2"/>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11" name="TextBox 4"/>
          <p:cNvSpPr>
            <a:spLocks noChangeArrowheads="1"/>
          </p:cNvSpPr>
          <p:nvPr/>
        </p:nvSpPr>
        <p:spPr bwMode="auto">
          <a:xfrm>
            <a:off x="4777359" y="1952625"/>
            <a:ext cx="1071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范围广</a:t>
            </a:r>
            <a:endParaRPr lang="zh-CN" altLang="en-US"/>
          </a:p>
        </p:txBody>
      </p:sp>
      <p:sp>
        <p:nvSpPr>
          <p:cNvPr id="12" name="TextBox 5"/>
          <p:cNvSpPr>
            <a:spLocks noChangeArrowheads="1"/>
          </p:cNvSpPr>
          <p:nvPr/>
        </p:nvSpPr>
        <p:spPr bwMode="auto">
          <a:xfrm>
            <a:off x="4777359" y="2379663"/>
            <a:ext cx="1071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模态多</a:t>
            </a:r>
            <a:endParaRPr lang="zh-CN" altLang="en-US"/>
          </a:p>
        </p:txBody>
      </p:sp>
      <p:sp>
        <p:nvSpPr>
          <p:cNvPr id="13" name="圆角矩形 31"/>
          <p:cNvSpPr>
            <a:spLocks noChangeArrowheads="1"/>
          </p:cNvSpPr>
          <p:nvPr/>
        </p:nvSpPr>
        <p:spPr bwMode="auto">
          <a:xfrm>
            <a:off x="4782122" y="2817813"/>
            <a:ext cx="857250" cy="385762"/>
          </a:xfrm>
          <a:prstGeom prst="roundRect">
            <a:avLst>
              <a:gd name="adj" fmla="val 6968"/>
            </a:avLst>
          </a:prstGeom>
          <a:solidFill>
            <a:srgbClr val="E5DFEC"/>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14" name="TextBox 6"/>
          <p:cNvSpPr>
            <a:spLocks noChangeArrowheads="1"/>
          </p:cNvSpPr>
          <p:nvPr/>
        </p:nvSpPr>
        <p:spPr bwMode="auto">
          <a:xfrm>
            <a:off x="4777359" y="2809875"/>
            <a:ext cx="1071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增长快</a:t>
            </a:r>
            <a:endParaRPr lang="zh-CN" altLang="en-US"/>
          </a:p>
        </p:txBody>
      </p:sp>
      <p:sp>
        <p:nvSpPr>
          <p:cNvPr id="15" name="TextBox 9"/>
          <p:cNvSpPr>
            <a:spLocks noChangeArrowheads="1"/>
          </p:cNvSpPr>
          <p:nvPr/>
        </p:nvSpPr>
        <p:spPr bwMode="auto">
          <a:xfrm>
            <a:off x="4758309" y="3275013"/>
            <a:ext cx="1071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关联繁</a:t>
            </a:r>
            <a:endParaRPr lang="zh-CN" altLang="en-US"/>
          </a:p>
        </p:txBody>
      </p:sp>
      <p:sp>
        <p:nvSpPr>
          <p:cNvPr id="16" name="直接连接符 26"/>
          <p:cNvSpPr>
            <a:spLocks noChangeShapeType="1"/>
          </p:cNvSpPr>
          <p:nvPr/>
        </p:nvSpPr>
        <p:spPr bwMode="auto">
          <a:xfrm>
            <a:off x="1529334" y="4214813"/>
            <a:ext cx="8501063" cy="1587"/>
          </a:xfrm>
          <a:prstGeom prst="line">
            <a:avLst/>
          </a:prstGeom>
          <a:noFill/>
          <a:ln w="38100" cmpd="dbl">
            <a:solidFill>
              <a:schemeClr val="accent1"/>
            </a:solidFill>
            <a:prstDash val="sysDash"/>
            <a:round/>
          </a:ln>
          <a:extLst>
            <a:ext uri="{909E8E84-426E-40DD-AFC4-6F175D3DCCD1}">
              <a14:hiddenFill xmlns:a14="http://schemas.microsoft.com/office/drawing/2010/main">
                <a:noFill/>
              </a14:hiddenFill>
            </a:ext>
          </a:extLst>
        </p:spPr>
        <p:txBody>
          <a:bodyPr/>
          <a:lstStyle/>
          <a:p>
            <a:endParaRPr lang="zh-CN" altLang="en-US"/>
          </a:p>
        </p:txBody>
      </p:sp>
      <p:sp>
        <p:nvSpPr>
          <p:cNvPr id="17" name="矩形 35"/>
          <p:cNvSpPr>
            <a:spLocks noChangeArrowheads="1"/>
          </p:cNvSpPr>
          <p:nvPr/>
        </p:nvSpPr>
        <p:spPr bwMode="auto">
          <a:xfrm>
            <a:off x="4644009" y="1857375"/>
            <a:ext cx="1143000" cy="2286000"/>
          </a:xfrm>
          <a:prstGeom prst="rect">
            <a:avLst/>
          </a:prstGeom>
          <a:noFill/>
          <a:ln w="28575">
            <a:solidFill>
              <a:srgbClr val="1D1B10"/>
            </a:solidFill>
            <a:prstDash val="sysDash"/>
            <a:miter lim="800000"/>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18" name="圆角矩形 47"/>
          <p:cNvSpPr>
            <a:spLocks noChangeArrowheads="1"/>
          </p:cNvSpPr>
          <p:nvPr/>
        </p:nvSpPr>
        <p:spPr bwMode="auto">
          <a:xfrm>
            <a:off x="4450334" y="5867400"/>
            <a:ext cx="1509713" cy="385763"/>
          </a:xfrm>
          <a:prstGeom prst="roundRect">
            <a:avLst>
              <a:gd name="adj" fmla="val 6968"/>
            </a:avLst>
          </a:prstGeom>
          <a:solidFill>
            <a:srgbClr val="C4BD97"/>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19" name="圆角矩形 48"/>
          <p:cNvSpPr>
            <a:spLocks noChangeArrowheads="1"/>
          </p:cNvSpPr>
          <p:nvPr/>
        </p:nvSpPr>
        <p:spPr bwMode="auto">
          <a:xfrm>
            <a:off x="4459859" y="4951413"/>
            <a:ext cx="1495425" cy="385762"/>
          </a:xfrm>
          <a:prstGeom prst="roundRect">
            <a:avLst>
              <a:gd name="adj" fmla="val 6968"/>
            </a:avLst>
          </a:prstGeom>
          <a:solidFill>
            <a:srgbClr val="B7CCE4"/>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20" name="圆角矩形 49"/>
          <p:cNvSpPr>
            <a:spLocks noChangeArrowheads="1"/>
          </p:cNvSpPr>
          <p:nvPr/>
        </p:nvSpPr>
        <p:spPr bwMode="auto">
          <a:xfrm>
            <a:off x="4459859" y="4505325"/>
            <a:ext cx="1495425" cy="385763"/>
          </a:xfrm>
          <a:prstGeom prst="roundRect">
            <a:avLst>
              <a:gd name="adj" fmla="val 6968"/>
            </a:avLst>
          </a:prstGeom>
          <a:solidFill>
            <a:srgbClr val="F2F2F2"/>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21" name="TextBox 4"/>
          <p:cNvSpPr>
            <a:spLocks noChangeArrowheads="1"/>
          </p:cNvSpPr>
          <p:nvPr/>
        </p:nvSpPr>
        <p:spPr bwMode="auto">
          <a:xfrm>
            <a:off x="4445572" y="4500563"/>
            <a:ext cx="158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规模较小</a:t>
            </a:r>
            <a:endParaRPr lang="zh-CN" altLang="en-US"/>
          </a:p>
        </p:txBody>
      </p:sp>
      <p:sp>
        <p:nvSpPr>
          <p:cNvPr id="22" name="TextBox 5"/>
          <p:cNvSpPr>
            <a:spLocks noChangeArrowheads="1"/>
          </p:cNvSpPr>
          <p:nvPr/>
        </p:nvSpPr>
        <p:spPr bwMode="auto">
          <a:xfrm>
            <a:off x="4445572" y="4953000"/>
            <a:ext cx="1870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模态有限</a:t>
            </a:r>
            <a:endParaRPr lang="zh-CN" altLang="en-US"/>
          </a:p>
        </p:txBody>
      </p:sp>
      <p:sp>
        <p:nvSpPr>
          <p:cNvPr id="23" name="圆角矩形 52"/>
          <p:cNvSpPr>
            <a:spLocks noChangeArrowheads="1"/>
          </p:cNvSpPr>
          <p:nvPr/>
        </p:nvSpPr>
        <p:spPr bwMode="auto">
          <a:xfrm>
            <a:off x="4450334" y="5400675"/>
            <a:ext cx="1504950" cy="385763"/>
          </a:xfrm>
          <a:prstGeom prst="roundRect">
            <a:avLst>
              <a:gd name="adj" fmla="val 6968"/>
            </a:avLst>
          </a:prstGeom>
          <a:solidFill>
            <a:srgbClr val="E5DFEC"/>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24" name="TextBox 6"/>
          <p:cNvSpPr>
            <a:spLocks noChangeArrowheads="1"/>
          </p:cNvSpPr>
          <p:nvPr/>
        </p:nvSpPr>
        <p:spPr bwMode="auto">
          <a:xfrm>
            <a:off x="4445572" y="5395913"/>
            <a:ext cx="17240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增速较慢</a:t>
            </a:r>
            <a:endParaRPr lang="zh-CN" altLang="en-US"/>
          </a:p>
        </p:txBody>
      </p:sp>
      <p:sp>
        <p:nvSpPr>
          <p:cNvPr id="25" name="TextBox 9"/>
          <p:cNvSpPr>
            <a:spLocks noChangeArrowheads="1"/>
          </p:cNvSpPr>
          <p:nvPr/>
        </p:nvSpPr>
        <p:spPr bwMode="auto">
          <a:xfrm>
            <a:off x="4426522" y="5867400"/>
            <a:ext cx="1885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关联相对简单</a:t>
            </a:r>
            <a:endParaRPr lang="zh-CN" altLang="en-US"/>
          </a:p>
        </p:txBody>
      </p:sp>
      <p:sp>
        <p:nvSpPr>
          <p:cNvPr id="26" name="矩形 55"/>
          <p:cNvSpPr>
            <a:spLocks noChangeArrowheads="1"/>
          </p:cNvSpPr>
          <p:nvPr/>
        </p:nvSpPr>
        <p:spPr bwMode="auto">
          <a:xfrm>
            <a:off x="4340797" y="4405313"/>
            <a:ext cx="1714500" cy="2357437"/>
          </a:xfrm>
          <a:prstGeom prst="rect">
            <a:avLst/>
          </a:prstGeom>
          <a:noFill/>
          <a:ln w="28575">
            <a:solidFill>
              <a:srgbClr val="1D1B10"/>
            </a:solidFill>
            <a:prstDash val="sysDash"/>
            <a:miter lim="800000"/>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27" name="TextBox 7"/>
          <p:cNvSpPr>
            <a:spLocks noChangeArrowheads="1"/>
          </p:cNvSpPr>
          <p:nvPr/>
        </p:nvSpPr>
        <p:spPr bwMode="auto">
          <a:xfrm>
            <a:off x="6101334" y="2041525"/>
            <a:ext cx="1785938" cy="3365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b="1">
                <a:solidFill>
                  <a:srgbClr val="000000"/>
                </a:solidFill>
                <a:latin typeface="黑体" panose="02010609060101010101" pitchFamily="49" charset="-122"/>
                <a:ea typeface="黑体" panose="02010609060101010101" pitchFamily="49" charset="-122"/>
                <a:sym typeface="宋体" panose="02010600030101010101" pitchFamily="2" charset="-122"/>
              </a:rPr>
              <a:t>稠密与稀疏共存</a:t>
            </a:r>
            <a:endParaRPr lang="zh-CN" altLang="en-US" sz="1600"/>
          </a:p>
        </p:txBody>
      </p:sp>
      <p:sp>
        <p:nvSpPr>
          <p:cNvPr id="28" name="TextBox 8"/>
          <p:cNvSpPr>
            <a:spLocks noChangeArrowheads="1"/>
          </p:cNvSpPr>
          <p:nvPr/>
        </p:nvSpPr>
        <p:spPr bwMode="auto">
          <a:xfrm>
            <a:off x="6101334" y="2490788"/>
            <a:ext cx="1785938" cy="3365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b="1">
                <a:solidFill>
                  <a:srgbClr val="000000"/>
                </a:solidFill>
                <a:latin typeface="黑体" panose="02010609060101010101" pitchFamily="49" charset="-122"/>
                <a:ea typeface="黑体" panose="02010609060101010101" pitchFamily="49" charset="-122"/>
                <a:sym typeface="宋体" panose="02010600030101010101" pitchFamily="2" charset="-122"/>
              </a:rPr>
              <a:t>冗余与缺失并存</a:t>
            </a:r>
            <a:endParaRPr lang="zh-CN" altLang="en-US" sz="1600"/>
          </a:p>
        </p:txBody>
      </p:sp>
      <p:sp>
        <p:nvSpPr>
          <p:cNvPr id="29" name="TextBox 10"/>
          <p:cNvSpPr>
            <a:spLocks noChangeArrowheads="1"/>
          </p:cNvSpPr>
          <p:nvPr/>
        </p:nvSpPr>
        <p:spPr bwMode="auto">
          <a:xfrm>
            <a:off x="6110859" y="2944813"/>
            <a:ext cx="1785938" cy="3365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b="1">
                <a:solidFill>
                  <a:srgbClr val="000000"/>
                </a:solidFill>
                <a:latin typeface="黑体" panose="02010609060101010101" pitchFamily="49" charset="-122"/>
                <a:ea typeface="黑体" panose="02010609060101010101" pitchFamily="49" charset="-122"/>
                <a:sym typeface="黑体" panose="02010609060101010101" pitchFamily="49" charset="-122"/>
              </a:rPr>
              <a:t>动态与静态互现</a:t>
            </a:r>
            <a:endParaRPr lang="zh-CN" altLang="en-US" sz="1600"/>
          </a:p>
        </p:txBody>
      </p:sp>
      <p:sp>
        <p:nvSpPr>
          <p:cNvPr id="30" name="TextBox 10"/>
          <p:cNvSpPr>
            <a:spLocks noChangeArrowheads="1"/>
          </p:cNvSpPr>
          <p:nvPr/>
        </p:nvSpPr>
        <p:spPr bwMode="auto">
          <a:xfrm>
            <a:off x="6101334" y="3397250"/>
            <a:ext cx="1785938" cy="3365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b="1">
                <a:solidFill>
                  <a:srgbClr val="000000"/>
                </a:solidFill>
                <a:latin typeface="黑体" panose="02010609060101010101" pitchFamily="49" charset="-122"/>
                <a:ea typeface="黑体" panose="02010609060101010101" pitchFamily="49" charset="-122"/>
                <a:sym typeface="黑体" panose="02010609060101010101" pitchFamily="49" charset="-122"/>
              </a:rPr>
              <a:t>显式与隐藏均有</a:t>
            </a:r>
            <a:endParaRPr lang="zh-CN" altLang="en-US" sz="1600"/>
          </a:p>
        </p:txBody>
      </p:sp>
      <p:sp>
        <p:nvSpPr>
          <p:cNvPr id="31" name="矩形 62"/>
          <p:cNvSpPr>
            <a:spLocks noChangeArrowheads="1"/>
          </p:cNvSpPr>
          <p:nvPr/>
        </p:nvSpPr>
        <p:spPr bwMode="auto">
          <a:xfrm>
            <a:off x="6029897" y="1928813"/>
            <a:ext cx="1928812" cy="1928812"/>
          </a:xfrm>
          <a:prstGeom prst="rect">
            <a:avLst/>
          </a:prstGeom>
          <a:noFill/>
          <a:ln w="28575">
            <a:solidFill>
              <a:srgbClr val="1D1B10"/>
            </a:solidFill>
            <a:prstDash val="sysDash"/>
            <a:miter lim="800000"/>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32" name="TextBox 63"/>
          <p:cNvSpPr>
            <a:spLocks noChangeArrowheads="1"/>
          </p:cNvSpPr>
          <p:nvPr/>
        </p:nvSpPr>
        <p:spPr bwMode="auto">
          <a:xfrm>
            <a:off x="4877372" y="1385888"/>
            <a:ext cx="1571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400" b="1">
                <a:solidFill>
                  <a:srgbClr val="000000"/>
                </a:solidFill>
                <a:latin typeface="黑体" panose="02010609060101010101" pitchFamily="49" charset="-122"/>
                <a:ea typeface="黑体" panose="02010609060101010101" pitchFamily="49" charset="-122"/>
                <a:sym typeface="黑体" panose="02010609060101010101" pitchFamily="49" charset="-122"/>
              </a:rPr>
              <a:t>特性</a:t>
            </a:r>
            <a:endParaRPr lang="zh-CN" altLang="en-US"/>
          </a:p>
        </p:txBody>
      </p:sp>
      <p:sp>
        <p:nvSpPr>
          <p:cNvPr id="33" name="TextBox 64"/>
          <p:cNvSpPr>
            <a:spLocks noChangeArrowheads="1"/>
          </p:cNvSpPr>
          <p:nvPr/>
        </p:nvSpPr>
        <p:spPr bwMode="auto">
          <a:xfrm>
            <a:off x="6601397" y="1395413"/>
            <a:ext cx="1571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400" b="1">
                <a:solidFill>
                  <a:srgbClr val="000000"/>
                </a:solidFill>
                <a:latin typeface="黑体" panose="02010609060101010101" pitchFamily="49" charset="-122"/>
                <a:ea typeface="黑体" panose="02010609060101010101" pitchFamily="49" charset="-122"/>
                <a:sym typeface="黑体" panose="02010609060101010101" pitchFamily="49" charset="-122"/>
              </a:rPr>
              <a:t>问题</a:t>
            </a:r>
            <a:endParaRPr lang="zh-CN" altLang="en-US"/>
          </a:p>
        </p:txBody>
      </p:sp>
      <p:sp>
        <p:nvSpPr>
          <p:cNvPr id="34" name="TextBox 22"/>
          <p:cNvSpPr>
            <a:spLocks noChangeArrowheads="1"/>
          </p:cNvSpPr>
          <p:nvPr/>
        </p:nvSpPr>
        <p:spPr bwMode="auto">
          <a:xfrm>
            <a:off x="8173022" y="2286000"/>
            <a:ext cx="2071687" cy="369888"/>
          </a:xfrm>
          <a:prstGeom prst="rect">
            <a:avLst/>
          </a:prstGeom>
          <a:solidFill>
            <a:srgbClr val="0C0C0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描述与存储的挑战</a:t>
            </a:r>
            <a:endParaRPr lang="zh-CN" altLang="en-US"/>
          </a:p>
        </p:txBody>
      </p:sp>
      <p:sp>
        <p:nvSpPr>
          <p:cNvPr id="35" name="TextBox 25"/>
          <p:cNvSpPr>
            <a:spLocks noChangeArrowheads="1"/>
          </p:cNvSpPr>
          <p:nvPr/>
        </p:nvSpPr>
        <p:spPr bwMode="auto">
          <a:xfrm>
            <a:off x="8173022" y="2714625"/>
            <a:ext cx="2071687" cy="369888"/>
          </a:xfrm>
          <a:prstGeom prst="rect">
            <a:avLst/>
          </a:prstGeom>
          <a:solidFill>
            <a:srgbClr val="0C0C0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分析与理解的挑战</a:t>
            </a:r>
            <a:endParaRPr lang="zh-CN" altLang="en-US"/>
          </a:p>
        </p:txBody>
      </p:sp>
      <p:sp>
        <p:nvSpPr>
          <p:cNvPr id="36" name="TextBox 25"/>
          <p:cNvSpPr>
            <a:spLocks noChangeArrowheads="1"/>
          </p:cNvSpPr>
          <p:nvPr/>
        </p:nvSpPr>
        <p:spPr bwMode="auto">
          <a:xfrm>
            <a:off x="8173022" y="3143250"/>
            <a:ext cx="2071687" cy="369888"/>
          </a:xfrm>
          <a:prstGeom prst="rect">
            <a:avLst/>
          </a:prstGeom>
          <a:solidFill>
            <a:srgbClr val="0C0C0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挖掘与预测的挑战</a:t>
            </a:r>
            <a:endParaRPr lang="zh-CN" altLang="en-US"/>
          </a:p>
        </p:txBody>
      </p:sp>
      <p:sp>
        <p:nvSpPr>
          <p:cNvPr id="37" name="矩形 68"/>
          <p:cNvSpPr>
            <a:spLocks noChangeArrowheads="1"/>
          </p:cNvSpPr>
          <p:nvPr/>
        </p:nvSpPr>
        <p:spPr bwMode="auto">
          <a:xfrm>
            <a:off x="8130159" y="1928813"/>
            <a:ext cx="2160588" cy="1928812"/>
          </a:xfrm>
          <a:prstGeom prst="rect">
            <a:avLst/>
          </a:prstGeom>
          <a:noFill/>
          <a:ln w="28575">
            <a:solidFill>
              <a:srgbClr val="1D1B10"/>
            </a:solidFill>
            <a:prstDash val="sysDash"/>
            <a:miter lim="800000"/>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38" name="TextBox 69"/>
          <p:cNvSpPr>
            <a:spLocks noChangeArrowheads="1"/>
          </p:cNvSpPr>
          <p:nvPr/>
        </p:nvSpPr>
        <p:spPr bwMode="auto">
          <a:xfrm>
            <a:off x="8815959" y="1395413"/>
            <a:ext cx="1571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400" b="1">
                <a:solidFill>
                  <a:srgbClr val="000000"/>
                </a:solidFill>
                <a:latin typeface="黑体" panose="02010609060101010101" pitchFamily="49" charset="-122"/>
                <a:ea typeface="黑体" panose="02010609060101010101" pitchFamily="49" charset="-122"/>
                <a:sym typeface="黑体" panose="02010609060101010101" pitchFamily="49" charset="-122"/>
              </a:rPr>
              <a:t>挑战</a:t>
            </a:r>
            <a:endParaRPr lang="zh-CN" altLang="en-US"/>
          </a:p>
        </p:txBody>
      </p:sp>
      <p:sp>
        <p:nvSpPr>
          <p:cNvPr id="39" name="圆柱形 70"/>
          <p:cNvSpPr>
            <a:spLocks noChangeArrowheads="1"/>
          </p:cNvSpPr>
          <p:nvPr/>
        </p:nvSpPr>
        <p:spPr bwMode="auto">
          <a:xfrm>
            <a:off x="1815084" y="1785938"/>
            <a:ext cx="2500313" cy="2143125"/>
          </a:xfrm>
          <a:prstGeom prst="can">
            <a:avLst>
              <a:gd name="adj" fmla="val 20644"/>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a:solidFill>
                  <a:srgbClr val="35385A"/>
                </a:solidFill>
                <a:latin typeface="Lucida Sans Unicode" panose="020B0602030504020204" pitchFamily="34" charset="0"/>
                <a:ea typeface="黑体" panose="02010609060101010101" pitchFamily="49" charset="-122"/>
                <a:sym typeface="黑体" panose="02010609060101010101" pitchFamily="49" charset="-122"/>
              </a:rPr>
              <a:t>大数据</a:t>
            </a:r>
            <a:endParaRPr lang="en-US" altLang="zh-CN"/>
          </a:p>
        </p:txBody>
      </p:sp>
      <p:sp>
        <p:nvSpPr>
          <p:cNvPr id="40" name="TextBox 7"/>
          <p:cNvSpPr>
            <a:spLocks noChangeArrowheads="1"/>
          </p:cNvSpPr>
          <p:nvPr/>
        </p:nvSpPr>
        <p:spPr bwMode="auto">
          <a:xfrm>
            <a:off x="6315647" y="6072188"/>
            <a:ext cx="1928812" cy="641350"/>
          </a:xfrm>
          <a:prstGeom prst="rect">
            <a:avLst/>
          </a:prstGeom>
          <a:solidFill>
            <a:srgbClr val="49442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应用目标</a:t>
            </a:r>
            <a:endPar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endParaRPr>
          </a:p>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相对明确</a:t>
            </a:r>
            <a:endParaRPr lang="zh-CN" altLang="en-US"/>
          </a:p>
        </p:txBody>
      </p:sp>
      <p:sp>
        <p:nvSpPr>
          <p:cNvPr id="41" name="TextBox 7"/>
          <p:cNvSpPr>
            <a:spLocks noChangeArrowheads="1"/>
          </p:cNvSpPr>
          <p:nvPr/>
        </p:nvSpPr>
        <p:spPr bwMode="auto">
          <a:xfrm>
            <a:off x="6315647" y="4357688"/>
            <a:ext cx="1928812" cy="641350"/>
          </a:xfrm>
          <a:prstGeom prst="rect">
            <a:avLst/>
          </a:prstGeom>
          <a:solidFill>
            <a:srgbClr val="49442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数据结构相对</a:t>
            </a:r>
            <a:endPar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endParaRPr>
          </a:p>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简单</a:t>
            </a:r>
            <a:endParaRPr lang="zh-CN" altLang="en-US"/>
          </a:p>
        </p:txBody>
      </p:sp>
      <p:sp>
        <p:nvSpPr>
          <p:cNvPr id="42" name="圆角矩形 38"/>
          <p:cNvSpPr>
            <a:spLocks noChangeArrowheads="1"/>
          </p:cNvSpPr>
          <p:nvPr/>
        </p:nvSpPr>
        <p:spPr bwMode="auto">
          <a:xfrm>
            <a:off x="4785297" y="3698875"/>
            <a:ext cx="857250" cy="385763"/>
          </a:xfrm>
          <a:prstGeom prst="roundRect">
            <a:avLst>
              <a:gd name="adj" fmla="val 6968"/>
            </a:avLst>
          </a:prstGeom>
          <a:solidFill>
            <a:srgbClr val="CCC0D9"/>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43" name="TextBox 6"/>
          <p:cNvSpPr>
            <a:spLocks noChangeArrowheads="1"/>
          </p:cNvSpPr>
          <p:nvPr/>
        </p:nvSpPr>
        <p:spPr bwMode="auto">
          <a:xfrm>
            <a:off x="4780534" y="3690938"/>
            <a:ext cx="1071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时序长</a:t>
            </a:r>
            <a:endParaRPr lang="zh-CN" altLang="en-US"/>
          </a:p>
        </p:txBody>
      </p:sp>
      <p:sp>
        <p:nvSpPr>
          <p:cNvPr id="44" name="圆角矩形 40"/>
          <p:cNvSpPr>
            <a:spLocks noChangeArrowheads="1"/>
          </p:cNvSpPr>
          <p:nvPr/>
        </p:nvSpPr>
        <p:spPr bwMode="auto">
          <a:xfrm>
            <a:off x="4451922" y="6329363"/>
            <a:ext cx="1504950" cy="385762"/>
          </a:xfrm>
          <a:prstGeom prst="roundRect">
            <a:avLst>
              <a:gd name="adj" fmla="val 6968"/>
            </a:avLst>
          </a:prstGeom>
          <a:solidFill>
            <a:srgbClr val="CCC0D9"/>
          </a:solidFill>
          <a:ln w="19050">
            <a:solidFill>
              <a:srgbClr val="395E8A"/>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b="1">
              <a:solidFill>
                <a:srgbClr val="FFFFFF"/>
              </a:solidFill>
              <a:latin typeface="Lucida Sans Unicode" panose="020B0602030504020204" pitchFamily="34" charset="0"/>
              <a:ea typeface="黑体" panose="02010609060101010101" pitchFamily="49" charset="-122"/>
              <a:sym typeface="Lucida Sans Unicode" panose="020B0602030504020204" pitchFamily="34" charset="0"/>
            </a:endParaRPr>
          </a:p>
        </p:txBody>
      </p:sp>
      <p:sp>
        <p:nvSpPr>
          <p:cNvPr id="45" name="TextBox 6"/>
          <p:cNvSpPr>
            <a:spLocks noChangeArrowheads="1"/>
          </p:cNvSpPr>
          <p:nvPr/>
        </p:nvSpPr>
        <p:spPr bwMode="auto">
          <a:xfrm>
            <a:off x="4447159" y="6324600"/>
            <a:ext cx="172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b="1">
                <a:solidFill>
                  <a:srgbClr val="000000"/>
                </a:solidFill>
                <a:latin typeface="黑体" panose="02010609060101010101" pitchFamily="49" charset="-122"/>
                <a:ea typeface="黑体" panose="02010609060101010101" pitchFamily="49" charset="-122"/>
                <a:sym typeface="黑体" panose="02010609060101010101" pitchFamily="49" charset="-122"/>
              </a:rPr>
              <a:t>持续时间较短</a:t>
            </a:r>
            <a:endParaRPr lang="zh-CN" altLang="en-US"/>
          </a:p>
        </p:txBody>
      </p:sp>
      <p:sp>
        <p:nvSpPr>
          <p:cNvPr id="46" name="TextBox 7"/>
          <p:cNvSpPr>
            <a:spLocks noChangeArrowheads="1"/>
          </p:cNvSpPr>
          <p:nvPr/>
        </p:nvSpPr>
        <p:spPr bwMode="auto">
          <a:xfrm>
            <a:off x="6315647" y="5211763"/>
            <a:ext cx="1928812" cy="646112"/>
          </a:xfrm>
          <a:prstGeom prst="rect">
            <a:avLst/>
          </a:prstGeom>
          <a:solidFill>
            <a:srgbClr val="49442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solidFill>
                  <a:srgbClr val="FFFFFF"/>
                </a:solidFill>
                <a:latin typeface="黑体" panose="02010609060101010101" pitchFamily="49" charset="-122"/>
                <a:ea typeface="黑体" panose="02010609060101010101" pitchFamily="49" charset="-122"/>
                <a:sym typeface="黑体" panose="02010609060101010101" pitchFamily="49" charset="-122"/>
              </a:rPr>
              <a:t>处理方法通常为模型化、参数化</a:t>
            </a:r>
            <a:endParaRPr lang="zh-CN" altLang="en-US"/>
          </a:p>
        </p:txBody>
      </p:sp>
      <p:pic>
        <p:nvPicPr>
          <p:cNvPr id="47"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0209" y="5715000"/>
            <a:ext cx="14239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3084" y="4513263"/>
            <a:ext cx="142875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大数据与传统数据库</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
        <p:nvSpPr>
          <p:cNvPr id="25" name="AutoShape 3"/>
          <p:cNvSpPr>
            <a:spLocks noChangeArrowheads="1"/>
          </p:cNvSpPr>
          <p:nvPr/>
        </p:nvSpPr>
        <p:spPr bwMode="auto">
          <a:xfrm>
            <a:off x="7074408" y="3316876"/>
            <a:ext cx="2286000" cy="2667000"/>
          </a:xfrm>
          <a:prstGeom prst="roundRect">
            <a:avLst>
              <a:gd name="adj" fmla="val 16667"/>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latin typeface="Verdana" panose="020B0604030504040204" pitchFamily="34" charset="0"/>
            </a:endParaRPr>
          </a:p>
        </p:txBody>
      </p:sp>
      <p:sp>
        <p:nvSpPr>
          <p:cNvPr id="26" name="AutoShape 4"/>
          <p:cNvSpPr>
            <a:spLocks noChangeArrowheads="1"/>
          </p:cNvSpPr>
          <p:nvPr/>
        </p:nvSpPr>
        <p:spPr bwMode="auto">
          <a:xfrm>
            <a:off x="2654808" y="3316876"/>
            <a:ext cx="2286000" cy="2667000"/>
          </a:xfrm>
          <a:prstGeom prst="roundRect">
            <a:avLst>
              <a:gd name="adj" fmla="val 16667"/>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latin typeface="Verdana" panose="020B0604030504040204" pitchFamily="34" charset="0"/>
            </a:endParaRPr>
          </a:p>
        </p:txBody>
      </p:sp>
      <p:sp>
        <p:nvSpPr>
          <p:cNvPr id="27" name="Text Box 5"/>
          <p:cNvSpPr txBox="1">
            <a:spLocks noChangeArrowheads="1"/>
          </p:cNvSpPr>
          <p:nvPr/>
        </p:nvSpPr>
        <p:spPr bwMode="auto">
          <a:xfrm>
            <a:off x="2915158" y="3537539"/>
            <a:ext cx="1873250"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solidFill>
                <a:srgbClr val="000000"/>
              </a:solidFill>
            </a:endParaRPr>
          </a:p>
          <a:p>
            <a:pPr>
              <a:buFont typeface="Arial" panose="020B0604020202020204" pitchFamily="34" charset="0"/>
              <a:buNone/>
            </a:pPr>
            <a:r>
              <a:rPr lang="en-US" altLang="zh-CN">
                <a:solidFill>
                  <a:srgbClr val="000000"/>
                </a:solidFill>
              </a:rPr>
              <a:t>GB/TB</a:t>
            </a:r>
            <a:r>
              <a:rPr lang="zh-CN" altLang="en-US">
                <a:solidFill>
                  <a:srgbClr val="000000"/>
                </a:solidFill>
              </a:rPr>
              <a:t>级</a:t>
            </a:r>
            <a:endParaRPr lang="zh-CN" altLang="en-US">
              <a:solidFill>
                <a:srgbClr val="000000"/>
              </a:solidFill>
            </a:endParaRPr>
          </a:p>
          <a:p>
            <a:pPr>
              <a:buFont typeface="Arial" panose="020B0604020202020204" pitchFamily="34" charset="0"/>
              <a:buNone/>
            </a:pPr>
            <a:r>
              <a:rPr lang="zh-CN" altLang="en-US">
                <a:solidFill>
                  <a:srgbClr val="000000"/>
                </a:solidFill>
              </a:rPr>
              <a:t>高质量、较干净</a:t>
            </a:r>
            <a:endParaRPr lang="zh-CN" altLang="en-US">
              <a:solidFill>
                <a:srgbClr val="000000"/>
              </a:solidFill>
            </a:endParaRPr>
          </a:p>
          <a:p>
            <a:pPr>
              <a:buFont typeface="Arial" panose="020B0604020202020204" pitchFamily="34" charset="0"/>
              <a:buNone/>
            </a:pPr>
            <a:r>
              <a:rPr lang="zh-CN" altLang="en-US">
                <a:solidFill>
                  <a:srgbClr val="000000"/>
                </a:solidFill>
              </a:rPr>
              <a:t>强结构化</a:t>
            </a:r>
            <a:endParaRPr lang="zh-CN" altLang="en-US">
              <a:solidFill>
                <a:srgbClr val="000000"/>
              </a:solidFill>
            </a:endParaRPr>
          </a:p>
          <a:p>
            <a:pPr>
              <a:buFont typeface="Arial" panose="020B0604020202020204" pitchFamily="34" charset="0"/>
              <a:buNone/>
            </a:pPr>
            <a:r>
              <a:rPr lang="en-US" altLang="zh-CN">
                <a:solidFill>
                  <a:srgbClr val="000000"/>
                </a:solidFill>
              </a:rPr>
              <a:t>Top-down</a:t>
            </a:r>
            <a:endParaRPr lang="en-US" altLang="zh-CN">
              <a:solidFill>
                <a:srgbClr val="000000"/>
              </a:solidFill>
            </a:endParaRPr>
          </a:p>
          <a:p>
            <a:pPr>
              <a:buFont typeface="Arial" panose="020B0604020202020204" pitchFamily="34" charset="0"/>
              <a:buNone/>
            </a:pPr>
            <a:r>
              <a:rPr lang="zh-CN" altLang="en-US">
                <a:solidFill>
                  <a:srgbClr val="000000"/>
                </a:solidFill>
              </a:rPr>
              <a:t>重交易</a:t>
            </a:r>
            <a:endParaRPr lang="zh-CN" altLang="en-US">
              <a:solidFill>
                <a:srgbClr val="000000"/>
              </a:solidFill>
            </a:endParaRPr>
          </a:p>
          <a:p>
            <a:pPr>
              <a:buFont typeface="Arial" panose="020B0604020202020204" pitchFamily="34" charset="0"/>
              <a:buNone/>
            </a:pPr>
            <a:r>
              <a:rPr lang="zh-CN" altLang="en-US">
                <a:solidFill>
                  <a:srgbClr val="000000"/>
                </a:solidFill>
              </a:rPr>
              <a:t>确定解</a:t>
            </a:r>
            <a:endParaRPr lang="zh-CN" altLang="en-US">
              <a:solidFill>
                <a:srgbClr val="000000"/>
              </a:solidFill>
            </a:endParaRPr>
          </a:p>
        </p:txBody>
      </p:sp>
      <p:sp>
        <p:nvSpPr>
          <p:cNvPr id="28" name="Freeform 6"/>
          <p:cNvSpPr>
            <a:spLocks noChangeArrowheads="1"/>
          </p:cNvSpPr>
          <p:nvPr/>
        </p:nvSpPr>
        <p:spPr bwMode="auto">
          <a:xfrm>
            <a:off x="4734433" y="3220039"/>
            <a:ext cx="903288" cy="1241425"/>
          </a:xfrm>
          <a:custGeom>
            <a:avLst/>
            <a:gdLst>
              <a:gd name="T0" fmla="*/ 903288 w 580"/>
              <a:gd name="T1" fmla="*/ 0 h 798"/>
              <a:gd name="T2" fmla="*/ 900173 w 580"/>
              <a:gd name="T3" fmla="*/ 140010 h 798"/>
              <a:gd name="T4" fmla="*/ 884599 w 580"/>
              <a:gd name="T5" fmla="*/ 270687 h 798"/>
              <a:gd name="T6" fmla="*/ 859681 w 580"/>
              <a:gd name="T7" fmla="*/ 392029 h 798"/>
              <a:gd name="T8" fmla="*/ 819189 w 580"/>
              <a:gd name="T9" fmla="*/ 504037 h 798"/>
              <a:gd name="T10" fmla="*/ 769352 w 580"/>
              <a:gd name="T11" fmla="*/ 606711 h 798"/>
              <a:gd name="T12" fmla="*/ 703942 w 580"/>
              <a:gd name="T13" fmla="*/ 700052 h 798"/>
              <a:gd name="T14" fmla="*/ 626072 w 580"/>
              <a:gd name="T15" fmla="*/ 790281 h 798"/>
              <a:gd name="T16" fmla="*/ 532628 w 580"/>
              <a:gd name="T17" fmla="*/ 871175 h 798"/>
              <a:gd name="T18" fmla="*/ 420496 w 580"/>
              <a:gd name="T19" fmla="*/ 948959 h 798"/>
              <a:gd name="T20" fmla="*/ 292790 w 580"/>
              <a:gd name="T21" fmla="*/ 1020520 h 798"/>
              <a:gd name="T22" fmla="*/ 292790 w 580"/>
              <a:gd name="T23" fmla="*/ 1241425 h 798"/>
              <a:gd name="T24" fmla="*/ 0 w 580"/>
              <a:gd name="T25" fmla="*/ 799615 h 798"/>
              <a:gd name="T26" fmla="*/ 292790 w 580"/>
              <a:gd name="T27" fmla="*/ 357804 h 798"/>
              <a:gd name="T28" fmla="*/ 292790 w 580"/>
              <a:gd name="T29" fmla="*/ 578709 h 798"/>
              <a:gd name="T30" fmla="*/ 348856 w 580"/>
              <a:gd name="T31" fmla="*/ 572487 h 798"/>
              <a:gd name="T32" fmla="*/ 411152 w 580"/>
              <a:gd name="T33" fmla="*/ 553819 h 798"/>
              <a:gd name="T34" fmla="*/ 476562 w 580"/>
              <a:gd name="T35" fmla="*/ 522705 h 798"/>
              <a:gd name="T36" fmla="*/ 541973 w 580"/>
              <a:gd name="T37" fmla="*/ 482258 h 798"/>
              <a:gd name="T38" fmla="*/ 610498 w 580"/>
              <a:gd name="T39" fmla="*/ 435588 h 798"/>
              <a:gd name="T40" fmla="*/ 672794 w 580"/>
              <a:gd name="T41" fmla="*/ 382695 h 798"/>
              <a:gd name="T42" fmla="*/ 735090 w 580"/>
              <a:gd name="T43" fmla="*/ 323579 h 798"/>
              <a:gd name="T44" fmla="*/ 788041 w 580"/>
              <a:gd name="T45" fmla="*/ 258241 h 798"/>
              <a:gd name="T46" fmla="*/ 834763 w 580"/>
              <a:gd name="T47" fmla="*/ 192903 h 798"/>
              <a:gd name="T48" fmla="*/ 869025 w 580"/>
              <a:gd name="T49" fmla="*/ 127565 h 798"/>
              <a:gd name="T50" fmla="*/ 893944 w 580"/>
              <a:gd name="T51" fmla="*/ 62227 h 798"/>
              <a:gd name="T52" fmla="*/ 900173 w 580"/>
              <a:gd name="T53" fmla="*/ 0 h 798"/>
              <a:gd name="T54" fmla="*/ 903288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rgbClr val="FFEDD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9" name="AutoShape 7"/>
          <p:cNvSpPr>
            <a:spLocks noChangeAspect="1" noChangeArrowheads="1" noTextEdit="1"/>
          </p:cNvSpPr>
          <p:nvPr/>
        </p:nvSpPr>
        <p:spPr bwMode="auto">
          <a:xfrm flipH="1">
            <a:off x="6380671" y="3216864"/>
            <a:ext cx="909637"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 name="Freeform 8"/>
          <p:cNvSpPr>
            <a:spLocks noChangeArrowheads="1"/>
          </p:cNvSpPr>
          <p:nvPr/>
        </p:nvSpPr>
        <p:spPr bwMode="auto">
          <a:xfrm flipH="1">
            <a:off x="6387021" y="3220039"/>
            <a:ext cx="903287" cy="1241425"/>
          </a:xfrm>
          <a:custGeom>
            <a:avLst/>
            <a:gdLst>
              <a:gd name="T0" fmla="*/ 903287 w 580"/>
              <a:gd name="T1" fmla="*/ 0 h 798"/>
              <a:gd name="T2" fmla="*/ 900172 w 580"/>
              <a:gd name="T3" fmla="*/ 140010 h 798"/>
              <a:gd name="T4" fmla="*/ 884598 w 580"/>
              <a:gd name="T5" fmla="*/ 270687 h 798"/>
              <a:gd name="T6" fmla="*/ 859680 w 580"/>
              <a:gd name="T7" fmla="*/ 392029 h 798"/>
              <a:gd name="T8" fmla="*/ 819188 w 580"/>
              <a:gd name="T9" fmla="*/ 504037 h 798"/>
              <a:gd name="T10" fmla="*/ 769351 w 580"/>
              <a:gd name="T11" fmla="*/ 606711 h 798"/>
              <a:gd name="T12" fmla="*/ 703941 w 580"/>
              <a:gd name="T13" fmla="*/ 700052 h 798"/>
              <a:gd name="T14" fmla="*/ 626071 w 580"/>
              <a:gd name="T15" fmla="*/ 790281 h 798"/>
              <a:gd name="T16" fmla="*/ 532628 w 580"/>
              <a:gd name="T17" fmla="*/ 871175 h 798"/>
              <a:gd name="T18" fmla="*/ 420496 w 580"/>
              <a:gd name="T19" fmla="*/ 948959 h 798"/>
              <a:gd name="T20" fmla="*/ 292790 w 580"/>
              <a:gd name="T21" fmla="*/ 1020520 h 798"/>
              <a:gd name="T22" fmla="*/ 292790 w 580"/>
              <a:gd name="T23" fmla="*/ 1241425 h 798"/>
              <a:gd name="T24" fmla="*/ 0 w 580"/>
              <a:gd name="T25" fmla="*/ 799615 h 798"/>
              <a:gd name="T26" fmla="*/ 292790 w 580"/>
              <a:gd name="T27" fmla="*/ 357804 h 798"/>
              <a:gd name="T28" fmla="*/ 292790 w 580"/>
              <a:gd name="T29" fmla="*/ 578709 h 798"/>
              <a:gd name="T30" fmla="*/ 348856 w 580"/>
              <a:gd name="T31" fmla="*/ 572487 h 798"/>
              <a:gd name="T32" fmla="*/ 411151 w 580"/>
              <a:gd name="T33" fmla="*/ 553819 h 798"/>
              <a:gd name="T34" fmla="*/ 476562 w 580"/>
              <a:gd name="T35" fmla="*/ 522705 h 798"/>
              <a:gd name="T36" fmla="*/ 541972 w 580"/>
              <a:gd name="T37" fmla="*/ 482258 h 798"/>
              <a:gd name="T38" fmla="*/ 610497 w 580"/>
              <a:gd name="T39" fmla="*/ 435588 h 798"/>
              <a:gd name="T40" fmla="*/ 672793 w 580"/>
              <a:gd name="T41" fmla="*/ 382695 h 798"/>
              <a:gd name="T42" fmla="*/ 735089 w 580"/>
              <a:gd name="T43" fmla="*/ 323579 h 798"/>
              <a:gd name="T44" fmla="*/ 788040 w 580"/>
              <a:gd name="T45" fmla="*/ 258241 h 798"/>
              <a:gd name="T46" fmla="*/ 834762 w 580"/>
              <a:gd name="T47" fmla="*/ 192903 h 798"/>
              <a:gd name="T48" fmla="*/ 869024 w 580"/>
              <a:gd name="T49" fmla="*/ 127565 h 798"/>
              <a:gd name="T50" fmla="*/ 893943 w 580"/>
              <a:gd name="T51" fmla="*/ 62227 h 798"/>
              <a:gd name="T52" fmla="*/ 900172 w 580"/>
              <a:gd name="T53" fmla="*/ 0 h 798"/>
              <a:gd name="T54" fmla="*/ 903287 w 580"/>
              <a:gd name="T55" fmla="*/ 0 h 79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rgbClr val="AECEEF"/>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1" name="Group 9"/>
          <p:cNvGrpSpPr/>
          <p:nvPr/>
        </p:nvGrpSpPr>
        <p:grpSpPr bwMode="auto">
          <a:xfrm>
            <a:off x="4559808" y="1592851"/>
            <a:ext cx="2998788" cy="1601788"/>
            <a:chOff x="0" y="0"/>
            <a:chExt cx="1889" cy="1009"/>
          </a:xfrm>
        </p:grpSpPr>
        <p:grpSp>
          <p:nvGrpSpPr>
            <p:cNvPr id="32" name="Group 10"/>
            <p:cNvGrpSpPr/>
            <p:nvPr/>
          </p:nvGrpSpPr>
          <p:grpSpPr bwMode="auto">
            <a:xfrm>
              <a:off x="0" y="90"/>
              <a:ext cx="1889" cy="919"/>
              <a:chOff x="0" y="0"/>
              <a:chExt cx="1926" cy="937"/>
            </a:xfrm>
          </p:grpSpPr>
          <p:sp>
            <p:nvSpPr>
              <p:cNvPr id="37" name="Oval 11"/>
              <p:cNvSpPr>
                <a:spLocks noChangeArrowheads="1"/>
              </p:cNvSpPr>
              <p:nvPr/>
            </p:nvSpPr>
            <p:spPr bwMode="auto">
              <a:xfrm>
                <a:off x="21" y="30"/>
                <a:ext cx="1905" cy="907"/>
              </a:xfrm>
              <a:prstGeom prst="ellipse">
                <a:avLst/>
              </a:prstGeom>
              <a:gradFill rotWithShape="1">
                <a:gsLst>
                  <a:gs pos="0">
                    <a:schemeClr val="hlink"/>
                  </a:gs>
                  <a:gs pos="100000">
                    <a:srgbClr val="003263"/>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8" name="Oval 12"/>
              <p:cNvSpPr>
                <a:spLocks noChangeArrowheads="1"/>
              </p:cNvSpPr>
              <p:nvPr/>
            </p:nvSpPr>
            <p:spPr bwMode="auto">
              <a:xfrm>
                <a:off x="0" y="0"/>
                <a:ext cx="1905" cy="907"/>
              </a:xfrm>
              <a:prstGeom prst="ellipse">
                <a:avLst/>
              </a:prstGeom>
              <a:gradFill rotWithShape="1">
                <a:gsLst>
                  <a:gs pos="0">
                    <a:srgbClr val="8EBBE8"/>
                  </a:gs>
                  <a:gs pos="100000">
                    <a:schemeClr val="hlink"/>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sp>
          <p:nvSpPr>
            <p:cNvPr id="33" name="Oval 13"/>
            <p:cNvSpPr>
              <a:spLocks noChangeArrowheads="1"/>
            </p:cNvSpPr>
            <p:nvPr/>
          </p:nvSpPr>
          <p:spPr bwMode="auto">
            <a:xfrm>
              <a:off x="89" y="0"/>
              <a:ext cx="1691" cy="845"/>
            </a:xfrm>
            <a:prstGeom prst="ellipse">
              <a:avLst/>
            </a:prstGeom>
            <a:gradFill rotWithShape="1">
              <a:gsLst>
                <a:gs pos="0">
                  <a:srgbClr val="76695B"/>
                </a:gs>
                <a:gs pos="100000">
                  <a:schemeClr val="accent2"/>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4" name="Oval 14"/>
            <p:cNvSpPr>
              <a:spLocks noChangeArrowheads="1"/>
            </p:cNvSpPr>
            <p:nvPr/>
          </p:nvSpPr>
          <p:spPr bwMode="auto">
            <a:xfrm>
              <a:off x="111" y="5"/>
              <a:ext cx="1650" cy="824"/>
            </a:xfrm>
            <a:prstGeom prst="ellipse">
              <a:avLst/>
            </a:prstGeom>
            <a:gradFill rotWithShape="1">
              <a:gsLst>
                <a:gs pos="0">
                  <a:schemeClr val="accent2">
                    <a:alpha val="0"/>
                  </a:schemeClr>
                </a:gs>
                <a:gs pos="100000">
                  <a:srgbClr val="FFF5EB"/>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5" name="Oval 15"/>
            <p:cNvSpPr>
              <a:spLocks noChangeArrowheads="1"/>
            </p:cNvSpPr>
            <p:nvPr/>
          </p:nvSpPr>
          <p:spPr bwMode="auto">
            <a:xfrm>
              <a:off x="128" y="13"/>
              <a:ext cx="1570" cy="770"/>
            </a:xfrm>
            <a:prstGeom prst="ellipse">
              <a:avLst/>
            </a:prstGeom>
            <a:gradFill rotWithShape="1">
              <a:gsLst>
                <a:gs pos="0">
                  <a:srgbClr val="CAB39C"/>
                </a:gs>
                <a:gs pos="100000">
                  <a:schemeClr val="accent2">
                    <a:alpha val="48000"/>
                  </a:schemeClr>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6" name="Oval 16"/>
            <p:cNvSpPr>
              <a:spLocks noChangeArrowheads="1"/>
            </p:cNvSpPr>
            <p:nvPr/>
          </p:nvSpPr>
          <p:spPr bwMode="auto">
            <a:xfrm>
              <a:off x="211" y="30"/>
              <a:ext cx="1382" cy="624"/>
            </a:xfrm>
            <a:prstGeom prst="ellipse">
              <a:avLst/>
            </a:prstGeom>
            <a:gradFill rotWithShape="1">
              <a:gsLst>
                <a:gs pos="0">
                  <a:srgbClr val="FFFFFF"/>
                </a:gs>
                <a:gs pos="100000">
                  <a:schemeClr val="accent2">
                    <a:alpha val="37999"/>
                  </a:schemeClr>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sp>
        <p:nvSpPr>
          <p:cNvPr id="39" name="Text Box 17"/>
          <p:cNvSpPr txBox="1">
            <a:spLocks noChangeArrowheads="1"/>
          </p:cNvSpPr>
          <p:nvPr/>
        </p:nvSpPr>
        <p:spPr bwMode="auto">
          <a:xfrm>
            <a:off x="5436108" y="1664289"/>
            <a:ext cx="12223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2400" b="1">
                <a:solidFill>
                  <a:srgbClr val="000000"/>
                </a:solidFill>
              </a:rPr>
              <a:t>数据库</a:t>
            </a:r>
            <a:endParaRPr lang="zh-CN" altLang="en-US" sz="2400" b="1">
              <a:solidFill>
                <a:srgbClr val="000000"/>
              </a:solidFill>
            </a:endParaRPr>
          </a:p>
          <a:p>
            <a:pPr algn="ctr">
              <a:buFont typeface="Arial" panose="020B0604020202020204" pitchFamily="34" charset="0"/>
              <a:buNone/>
            </a:pPr>
            <a:r>
              <a:rPr lang="en-US" altLang="zh-CN" sz="2400" b="1">
                <a:solidFill>
                  <a:srgbClr val="000000"/>
                </a:solidFill>
              </a:rPr>
              <a:t>vs</a:t>
            </a:r>
            <a:endParaRPr lang="en-US" altLang="zh-CN" sz="2400" b="1">
              <a:solidFill>
                <a:srgbClr val="000000"/>
              </a:solidFill>
            </a:endParaRPr>
          </a:p>
          <a:p>
            <a:pPr algn="ctr">
              <a:buFont typeface="Arial" panose="020B0604020202020204" pitchFamily="34" charset="0"/>
              <a:buNone/>
            </a:pPr>
            <a:r>
              <a:rPr lang="zh-CN" altLang="en-US" sz="2400" b="1">
                <a:solidFill>
                  <a:srgbClr val="000000"/>
                </a:solidFill>
              </a:rPr>
              <a:t>大数据*</a:t>
            </a:r>
            <a:endParaRPr lang="zh-CN" altLang="en-US" sz="1400">
              <a:solidFill>
                <a:srgbClr val="000000"/>
              </a:solidFill>
            </a:endParaRPr>
          </a:p>
        </p:txBody>
      </p:sp>
      <p:sp>
        <p:nvSpPr>
          <p:cNvPr id="40" name="Text Box 18"/>
          <p:cNvSpPr txBox="1">
            <a:spLocks noChangeArrowheads="1"/>
          </p:cNvSpPr>
          <p:nvPr/>
        </p:nvSpPr>
        <p:spPr bwMode="auto">
          <a:xfrm>
            <a:off x="2699258" y="2888251"/>
            <a:ext cx="21669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1600" b="1">
                <a:latin typeface="Verdana" panose="020B0604030504040204" pitchFamily="34" charset="0"/>
              </a:rPr>
              <a:t>传统数据库</a:t>
            </a:r>
            <a:r>
              <a:rPr lang="en-US" altLang="zh-CN" sz="1600" b="1">
                <a:latin typeface="Verdana" panose="020B0604030504040204" pitchFamily="34" charset="0"/>
              </a:rPr>
              <a:t>/</a:t>
            </a:r>
            <a:r>
              <a:rPr lang="zh-CN" altLang="en-US" sz="1600" b="1">
                <a:latin typeface="Verdana" panose="020B0604030504040204" pitchFamily="34" charset="0"/>
              </a:rPr>
              <a:t>数据仓库</a:t>
            </a:r>
            <a:endParaRPr lang="zh-CN" altLang="en-US" sz="1600" b="1">
              <a:latin typeface="Verdana" panose="020B0604030504040204" pitchFamily="34" charset="0"/>
            </a:endParaRPr>
          </a:p>
        </p:txBody>
      </p:sp>
      <p:sp>
        <p:nvSpPr>
          <p:cNvPr id="41" name="Text Box 19"/>
          <p:cNvSpPr txBox="1">
            <a:spLocks noChangeArrowheads="1"/>
          </p:cNvSpPr>
          <p:nvPr/>
        </p:nvSpPr>
        <p:spPr bwMode="auto">
          <a:xfrm>
            <a:off x="7379208" y="3608976"/>
            <a:ext cx="187325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solidFill>
                <a:srgbClr val="000000"/>
              </a:solidFill>
            </a:endParaRPr>
          </a:p>
          <a:p>
            <a:pPr>
              <a:buFont typeface="Arial" panose="020B0604020202020204" pitchFamily="34" charset="0"/>
              <a:buNone/>
            </a:pPr>
            <a:r>
              <a:rPr lang="en-US" altLang="zh-CN">
                <a:solidFill>
                  <a:srgbClr val="000000"/>
                </a:solidFill>
              </a:rPr>
              <a:t>PB</a:t>
            </a:r>
            <a:r>
              <a:rPr lang="zh-CN" altLang="en-US">
                <a:solidFill>
                  <a:srgbClr val="000000"/>
                </a:solidFill>
              </a:rPr>
              <a:t>级以上</a:t>
            </a:r>
            <a:endParaRPr lang="zh-CN" altLang="en-US">
              <a:solidFill>
                <a:srgbClr val="000000"/>
              </a:solidFill>
            </a:endParaRPr>
          </a:p>
          <a:p>
            <a:pPr>
              <a:buFont typeface="Arial" panose="020B0604020202020204" pitchFamily="34" charset="0"/>
              <a:buNone/>
            </a:pPr>
            <a:r>
              <a:rPr lang="zh-CN" altLang="en-US">
                <a:solidFill>
                  <a:srgbClr val="000000"/>
                </a:solidFill>
              </a:rPr>
              <a:t>有噪声、有冗余</a:t>
            </a:r>
            <a:endParaRPr lang="zh-CN" altLang="en-US">
              <a:solidFill>
                <a:srgbClr val="000000"/>
              </a:solidFill>
            </a:endParaRPr>
          </a:p>
          <a:p>
            <a:pPr>
              <a:buFont typeface="Arial" panose="020B0604020202020204" pitchFamily="34" charset="0"/>
              <a:buNone/>
            </a:pPr>
            <a:r>
              <a:rPr lang="zh-CN" altLang="en-US">
                <a:solidFill>
                  <a:srgbClr val="000000"/>
                </a:solidFill>
              </a:rPr>
              <a:t>非结构化</a:t>
            </a:r>
            <a:endParaRPr lang="zh-CN" altLang="en-US">
              <a:solidFill>
                <a:srgbClr val="000000"/>
              </a:solidFill>
            </a:endParaRPr>
          </a:p>
          <a:p>
            <a:pPr>
              <a:buFont typeface="Arial" panose="020B0604020202020204" pitchFamily="34" charset="0"/>
              <a:buNone/>
            </a:pPr>
            <a:r>
              <a:rPr lang="en-US" altLang="zh-CN">
                <a:solidFill>
                  <a:srgbClr val="000000"/>
                </a:solidFill>
              </a:rPr>
              <a:t>Bottom-up</a:t>
            </a:r>
            <a:endParaRPr lang="en-US" altLang="zh-CN">
              <a:solidFill>
                <a:srgbClr val="000000"/>
              </a:solidFill>
            </a:endParaRPr>
          </a:p>
          <a:p>
            <a:pPr>
              <a:buFont typeface="Arial" panose="020B0604020202020204" pitchFamily="34" charset="0"/>
              <a:buNone/>
            </a:pPr>
            <a:r>
              <a:rPr lang="zh-CN" altLang="en-US">
                <a:solidFill>
                  <a:srgbClr val="000000"/>
                </a:solidFill>
              </a:rPr>
              <a:t>重交互</a:t>
            </a:r>
            <a:endParaRPr lang="zh-CN" altLang="en-US">
              <a:solidFill>
                <a:srgbClr val="000000"/>
              </a:solidFill>
            </a:endParaRPr>
          </a:p>
          <a:p>
            <a:pPr>
              <a:buFont typeface="Arial" panose="020B0604020202020204" pitchFamily="34" charset="0"/>
              <a:buNone/>
            </a:pPr>
            <a:r>
              <a:rPr lang="zh-CN" altLang="en-US">
                <a:solidFill>
                  <a:srgbClr val="000000"/>
                </a:solidFill>
              </a:rPr>
              <a:t>满意解</a:t>
            </a:r>
            <a:endParaRPr lang="zh-CN" altLang="en-US">
              <a:solidFill>
                <a:srgbClr val="000000"/>
              </a:solidFill>
            </a:endParaRPr>
          </a:p>
        </p:txBody>
      </p:sp>
      <p:sp>
        <p:nvSpPr>
          <p:cNvPr id="42" name="Text Box 20"/>
          <p:cNvSpPr txBox="1">
            <a:spLocks noChangeArrowheads="1"/>
          </p:cNvSpPr>
          <p:nvPr/>
        </p:nvSpPr>
        <p:spPr bwMode="auto">
          <a:xfrm>
            <a:off x="7668133" y="2961276"/>
            <a:ext cx="1008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1600" b="1">
                <a:latin typeface="Verdana" panose="020B0604030504040204" pitchFamily="34" charset="0"/>
              </a:rPr>
              <a:t>大数据</a:t>
            </a:r>
            <a:endParaRPr lang="zh-CN" altLang="en-US" sz="1600" b="1">
              <a:latin typeface="Verdana" panose="020B0604030504040204" pitchFamily="34" charset="0"/>
            </a:endParaRPr>
          </a:p>
        </p:txBody>
      </p:sp>
      <p:sp>
        <p:nvSpPr>
          <p:cNvPr id="43" name="Text Box 21"/>
          <p:cNvSpPr txBox="1">
            <a:spLocks noChangeArrowheads="1"/>
          </p:cNvSpPr>
          <p:nvPr/>
        </p:nvSpPr>
        <p:spPr bwMode="auto">
          <a:xfrm>
            <a:off x="2483358" y="6345826"/>
            <a:ext cx="7993063" cy="360363"/>
          </a:xfrm>
          <a:prstGeom prst="rect">
            <a:avLst/>
          </a:prstGeom>
          <a:noFill/>
          <a:ln w="9525">
            <a:noFill/>
            <a:miter lim="800000"/>
          </a:ln>
        </p:spPr>
        <p:txBody>
          <a:bodyPr lIns="0" tIns="0" rIns="0" bIns="0"/>
          <a:lstStyle/>
          <a:p>
            <a:pPr eaLnBrk="1" hangingPunct="1">
              <a:lnSpc>
                <a:spcPct val="70000"/>
              </a:lnSpc>
              <a:spcBef>
                <a:spcPct val="50000"/>
              </a:spcBef>
              <a:buFont typeface="Arial" panose="020B0604020202020204" pitchFamily="34" charset="0"/>
              <a:buNone/>
              <a:defRPr/>
            </a:pPr>
            <a:r>
              <a:rPr lang="zh-CN" altLang="en-US" sz="1600">
                <a:effectLst>
                  <a:outerShdw blurRad="38100" dist="38100" dir="2700000" algn="tl">
                    <a:srgbClr val="C0C0C0"/>
                  </a:outerShdw>
                </a:effectLst>
                <a:latin typeface="Arial Narrow" panose="020B0606020202030204" pitchFamily="34" charset="0"/>
              </a:rPr>
              <a:t>* 摘自李德毅院士于</a:t>
            </a:r>
            <a:r>
              <a:rPr lang="en-US" sz="1600">
                <a:effectLst>
                  <a:outerShdw blurRad="38100" dist="38100" dir="2700000" algn="tl">
                    <a:srgbClr val="C0C0C0"/>
                  </a:outerShdw>
                </a:effectLst>
                <a:latin typeface="Arial Narrow" panose="020B0606020202030204" pitchFamily="34" charset="0"/>
              </a:rPr>
              <a:t>2012</a:t>
            </a:r>
            <a:r>
              <a:rPr lang="zh-CN" altLang="en-US" sz="1600">
                <a:effectLst>
                  <a:outerShdw blurRad="38100" dist="38100" dir="2700000" algn="tl">
                    <a:srgbClr val="C0C0C0"/>
                  </a:outerShdw>
                </a:effectLst>
                <a:latin typeface="Arial Narrow" panose="020B0606020202030204" pitchFamily="34" charset="0"/>
              </a:rPr>
              <a:t>年</a:t>
            </a:r>
            <a:r>
              <a:rPr lang="en-US" sz="1600">
                <a:effectLst>
                  <a:outerShdw blurRad="38100" dist="38100" dir="2700000" algn="tl">
                    <a:srgbClr val="C0C0C0"/>
                  </a:outerShdw>
                </a:effectLst>
                <a:latin typeface="Arial Narrow" panose="020B0606020202030204" pitchFamily="34" charset="0"/>
              </a:rPr>
              <a:t>5</a:t>
            </a:r>
            <a:r>
              <a:rPr lang="zh-CN" altLang="en-US" sz="1600">
                <a:effectLst>
                  <a:outerShdw blurRad="38100" dist="38100" dir="2700000" algn="tl">
                    <a:srgbClr val="C0C0C0"/>
                  </a:outerShdw>
                </a:effectLst>
                <a:latin typeface="Arial Narrow" panose="020B0606020202030204" pitchFamily="34" charset="0"/>
              </a:rPr>
              <a:t>月</a:t>
            </a:r>
            <a:r>
              <a:rPr lang="en-US" sz="1600">
                <a:effectLst>
                  <a:outerShdw blurRad="38100" dist="38100" dir="2700000" algn="tl">
                    <a:srgbClr val="C0C0C0"/>
                  </a:outerShdw>
                </a:effectLst>
                <a:latin typeface="Arial Narrow" panose="020B0606020202030204" pitchFamily="34" charset="0"/>
              </a:rPr>
              <a:t>23</a:t>
            </a:r>
            <a:r>
              <a:rPr lang="zh-CN" altLang="en-US" sz="1600">
                <a:effectLst>
                  <a:outerShdw blurRad="38100" dist="38100" dir="2700000" algn="tl">
                    <a:srgbClr val="C0C0C0"/>
                  </a:outerShdw>
                </a:effectLst>
                <a:latin typeface="Arial Narrow" panose="020B0606020202030204" pitchFamily="34" charset="0"/>
              </a:rPr>
              <a:t>日在云计算大会上的讲话，略有修改</a:t>
            </a:r>
            <a:endParaRPr lang="zh-CN" altLang="en-US" sz="1600">
              <a:effectLst>
                <a:outerShdw blurRad="38100" dist="38100" dir="2700000" algn="tl">
                  <a:srgbClr val="C0C0C0"/>
                </a:outerShdw>
              </a:effectLst>
              <a:latin typeface="Arial Narrow" panose="020B0606020202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noProof="1">
                <a:sym typeface="仿宋" panose="02010609060101010101" pitchFamily="49" charset="-122"/>
              </a:rPr>
              <a:t>大数据涉及诸多不同的领域</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grpSp>
        <p:nvGrpSpPr>
          <p:cNvPr id="6" name="Group 10"/>
          <p:cNvGrpSpPr/>
          <p:nvPr/>
        </p:nvGrpSpPr>
        <p:grpSpPr bwMode="auto">
          <a:xfrm>
            <a:off x="1787652" y="2092392"/>
            <a:ext cx="8953500" cy="1606550"/>
            <a:chOff x="68" y="1593"/>
            <a:chExt cx="5640" cy="1012"/>
          </a:xfrm>
        </p:grpSpPr>
        <p:pic>
          <p:nvPicPr>
            <p:cNvPr id="7" name="Picture 8"/>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 y="1593"/>
              <a:ext cx="794"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 y="1605"/>
              <a:ext cx="794"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9" y="1605"/>
              <a:ext cx="793"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0" y="1613"/>
              <a:ext cx="794"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6" y="1612"/>
              <a:ext cx="793"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3" y="1602"/>
              <a:ext cx="794"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21"/>
            <p:cNvSpPr>
              <a:spLocks noChangeArrowheads="1"/>
            </p:cNvSpPr>
            <p:nvPr/>
          </p:nvSpPr>
          <p:spPr bwMode="auto">
            <a:xfrm>
              <a:off x="116" y="2417"/>
              <a:ext cx="749" cy="182"/>
            </a:xfrm>
            <a:prstGeom prst="rect">
              <a:avLst/>
            </a:prstGeom>
            <a:solidFill>
              <a:srgbClr val="FF99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天文</a:t>
              </a:r>
              <a:endParaRPr lang="zh-CN" altLang="en-US"/>
            </a:p>
          </p:txBody>
        </p:sp>
        <p:sp>
          <p:nvSpPr>
            <p:cNvPr id="14" name="Rectangle 22"/>
            <p:cNvSpPr>
              <a:spLocks noChangeArrowheads="1"/>
            </p:cNvSpPr>
            <p:nvPr/>
          </p:nvSpPr>
          <p:spPr bwMode="auto">
            <a:xfrm>
              <a:off x="909" y="2420"/>
              <a:ext cx="748" cy="181"/>
            </a:xfrm>
            <a:prstGeom prst="rect">
              <a:avLst/>
            </a:prstGeom>
            <a:solidFill>
              <a:srgbClr val="CCFF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气象</a:t>
              </a:r>
              <a:endParaRPr lang="zh-CN" altLang="en-US"/>
            </a:p>
          </p:txBody>
        </p:sp>
        <p:sp>
          <p:nvSpPr>
            <p:cNvPr id="15" name="Rectangle 23"/>
            <p:cNvSpPr>
              <a:spLocks noChangeArrowheads="1"/>
            </p:cNvSpPr>
            <p:nvPr/>
          </p:nvSpPr>
          <p:spPr bwMode="auto">
            <a:xfrm>
              <a:off x="1719" y="2420"/>
              <a:ext cx="749" cy="181"/>
            </a:xfrm>
            <a:prstGeom prst="rect">
              <a:avLst/>
            </a:prstGeom>
            <a:solidFill>
              <a:srgbClr val="FF99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基因</a:t>
              </a:r>
              <a:endParaRPr lang="zh-CN" altLang="en-US"/>
            </a:p>
          </p:txBody>
        </p:sp>
        <p:sp>
          <p:nvSpPr>
            <p:cNvPr id="16" name="Rectangle 24"/>
            <p:cNvSpPr>
              <a:spLocks noChangeArrowheads="1"/>
            </p:cNvSpPr>
            <p:nvPr/>
          </p:nvSpPr>
          <p:spPr bwMode="auto">
            <a:xfrm>
              <a:off x="2512" y="2415"/>
              <a:ext cx="748" cy="182"/>
            </a:xfrm>
            <a:prstGeom prst="rect">
              <a:avLst/>
            </a:prstGeom>
            <a:solidFill>
              <a:srgbClr val="CCFF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医学</a:t>
              </a:r>
              <a:endParaRPr lang="zh-CN" altLang="en-US"/>
            </a:p>
          </p:txBody>
        </p:sp>
        <p:sp>
          <p:nvSpPr>
            <p:cNvPr id="17" name="Rectangle 25"/>
            <p:cNvSpPr>
              <a:spLocks noChangeArrowheads="1"/>
            </p:cNvSpPr>
            <p:nvPr/>
          </p:nvSpPr>
          <p:spPr bwMode="auto">
            <a:xfrm>
              <a:off x="3322" y="2422"/>
              <a:ext cx="749" cy="181"/>
            </a:xfrm>
            <a:prstGeom prst="rect">
              <a:avLst/>
            </a:prstGeom>
            <a:solidFill>
              <a:srgbClr val="FF99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经济</a:t>
              </a:r>
              <a:endParaRPr lang="zh-CN" altLang="en-US"/>
            </a:p>
          </p:txBody>
        </p:sp>
        <p:sp>
          <p:nvSpPr>
            <p:cNvPr id="18" name="Rectangle 26"/>
            <p:cNvSpPr>
              <a:spLocks noChangeArrowheads="1"/>
            </p:cNvSpPr>
            <p:nvPr/>
          </p:nvSpPr>
          <p:spPr bwMode="auto">
            <a:xfrm>
              <a:off x="4122" y="2417"/>
              <a:ext cx="748" cy="182"/>
            </a:xfrm>
            <a:prstGeom prst="rect">
              <a:avLst/>
            </a:prstGeom>
            <a:solidFill>
              <a:srgbClr val="CCFF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物理</a:t>
              </a:r>
              <a:endParaRPr lang="zh-CN" altLang="en-US"/>
            </a:p>
          </p:txBody>
        </p:sp>
        <p:sp>
          <p:nvSpPr>
            <p:cNvPr id="19" name="Rectangle 34"/>
            <p:cNvSpPr>
              <a:spLocks noChangeArrowheads="1"/>
            </p:cNvSpPr>
            <p:nvPr/>
          </p:nvSpPr>
          <p:spPr bwMode="auto">
            <a:xfrm>
              <a:off x="4928" y="2424"/>
              <a:ext cx="749" cy="181"/>
            </a:xfrm>
            <a:prstGeom prst="rect">
              <a:avLst/>
            </a:prstGeom>
            <a:solidFill>
              <a:srgbClr val="FF99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其他领域</a:t>
              </a:r>
              <a:endParaRPr lang="zh-CN" altLang="en-US"/>
            </a:p>
          </p:txBody>
        </p:sp>
        <p:pic>
          <p:nvPicPr>
            <p:cNvPr id="20" name="Picture 2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4" y="1611"/>
              <a:ext cx="794"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5"/>
          <p:cNvGrpSpPr/>
          <p:nvPr/>
        </p:nvGrpSpPr>
        <p:grpSpPr bwMode="auto">
          <a:xfrm>
            <a:off x="1884490" y="4505392"/>
            <a:ext cx="8320087" cy="1887537"/>
            <a:chOff x="285" y="2976"/>
            <a:chExt cx="5241" cy="1189"/>
          </a:xfrm>
        </p:grpSpPr>
        <p:sp>
          <p:nvSpPr>
            <p:cNvPr id="22" name="Rectangle 13"/>
            <p:cNvSpPr>
              <a:spLocks noChangeArrowheads="1"/>
            </p:cNvSpPr>
            <p:nvPr/>
          </p:nvSpPr>
          <p:spPr bwMode="auto">
            <a:xfrm>
              <a:off x="339" y="3935"/>
              <a:ext cx="1134" cy="227"/>
            </a:xfrm>
            <a:prstGeom prst="rect">
              <a:avLst/>
            </a:prstGeom>
            <a:solidFill>
              <a:srgbClr val="FF99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用户生成数据</a:t>
              </a:r>
              <a:endParaRPr lang="zh-CN" altLang="en-US"/>
            </a:p>
          </p:txBody>
        </p:sp>
        <p:sp>
          <p:nvSpPr>
            <p:cNvPr id="23" name="Rectangle 16"/>
            <p:cNvSpPr>
              <a:spLocks noChangeArrowheads="1"/>
            </p:cNvSpPr>
            <p:nvPr/>
          </p:nvSpPr>
          <p:spPr bwMode="auto">
            <a:xfrm>
              <a:off x="1681" y="3928"/>
              <a:ext cx="1134" cy="227"/>
            </a:xfrm>
            <a:prstGeom prst="rect">
              <a:avLst/>
            </a:prstGeom>
            <a:solidFill>
              <a:srgbClr val="CCFF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sz="1600">
                  <a:solidFill>
                    <a:srgbClr val="0000CC"/>
                  </a:solidFill>
                  <a:latin typeface="楷体_GB2312" pitchFamily="49" charset="-122"/>
                  <a:ea typeface="楷体_GB2312" pitchFamily="49" charset="-122"/>
                  <a:sym typeface="楷体_GB2312" pitchFamily="49" charset="-122"/>
                </a:rPr>
                <a:t>Deep Web</a:t>
              </a:r>
              <a:r>
                <a:rPr lang="zh-CN" altLang="en-US" sz="1600">
                  <a:solidFill>
                    <a:srgbClr val="0000CC"/>
                  </a:solidFill>
                  <a:latin typeface="楷体_GB2312" pitchFamily="49" charset="-122"/>
                  <a:ea typeface="楷体_GB2312" pitchFamily="49" charset="-122"/>
                  <a:sym typeface="楷体_GB2312" pitchFamily="49" charset="-122"/>
                </a:rPr>
                <a:t>数据</a:t>
              </a:r>
              <a:endParaRPr lang="zh-CN" altLang="en-US"/>
            </a:p>
          </p:txBody>
        </p:sp>
        <p:sp>
          <p:nvSpPr>
            <p:cNvPr id="24" name="Rectangle 17"/>
            <p:cNvSpPr>
              <a:spLocks noChangeArrowheads="1"/>
            </p:cNvSpPr>
            <p:nvPr/>
          </p:nvSpPr>
          <p:spPr bwMode="auto">
            <a:xfrm>
              <a:off x="3003" y="3932"/>
              <a:ext cx="1134" cy="227"/>
            </a:xfrm>
            <a:prstGeom prst="rect">
              <a:avLst/>
            </a:prstGeom>
            <a:solidFill>
              <a:srgbClr val="FF99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多模态内容数据</a:t>
              </a:r>
              <a:endParaRPr lang="zh-CN" altLang="en-US"/>
            </a:p>
          </p:txBody>
        </p:sp>
        <p:grpSp>
          <p:nvGrpSpPr>
            <p:cNvPr id="25" name="Group 27"/>
            <p:cNvGrpSpPr/>
            <p:nvPr/>
          </p:nvGrpSpPr>
          <p:grpSpPr bwMode="auto">
            <a:xfrm>
              <a:off x="285" y="2991"/>
              <a:ext cx="1247" cy="907"/>
              <a:chOff x="0" y="0"/>
              <a:chExt cx="2476650" cy="1748000"/>
            </a:xfrm>
          </p:grpSpPr>
          <p:pic>
            <p:nvPicPr>
              <p:cNvPr id="39" name="Picture 2" descr="http://t3.gstatic.com/images?q=tbn:ANd9GcQw71GI6Hsuayq2VoqCwDS1esgEtPHynFVhG_KH7OUa9isv3AavLg"/>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2088000" cy="136800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40" name="Picture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650" y="190000"/>
                <a:ext cx="2088000" cy="136800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41" name="Picture 24" descr="http://www.idealaunch.com/blog/wp-content/uploads/2010/06/ugc.jpg"/>
              <p:cNvPicPr>
                <a:picLocks noChangeArrowheads="1"/>
              </p:cNvPicPr>
              <p:nvPr/>
            </p:nvPicPr>
            <p:blipFill>
              <a:blip r:embed="rId10">
                <a:extLst>
                  <a:ext uri="{28A0092B-C50C-407E-A947-70E740481C1C}">
                    <a14:useLocalDpi xmlns:a14="http://schemas.microsoft.com/office/drawing/2010/main" val="0"/>
                  </a:ext>
                </a:extLst>
              </a:blip>
              <a:srcRect l="10648" t="13547" b="10825"/>
              <a:stretch>
                <a:fillRect/>
              </a:stretch>
            </p:blipFill>
            <p:spPr bwMode="auto">
              <a:xfrm>
                <a:off x="388650" y="380000"/>
                <a:ext cx="2088000" cy="1368000"/>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26" name="Group 31"/>
            <p:cNvGrpSpPr/>
            <p:nvPr/>
          </p:nvGrpSpPr>
          <p:grpSpPr bwMode="auto">
            <a:xfrm>
              <a:off x="1618" y="2988"/>
              <a:ext cx="1248" cy="908"/>
              <a:chOff x="0" y="0"/>
              <a:chExt cx="2464162" cy="1752646"/>
            </a:xfrm>
          </p:grpSpPr>
          <p:pic>
            <p:nvPicPr>
              <p:cNvPr id="36" name="Picture 4" descr="http://t2.gstatic.com/images?q=tbn:ANd9GcSDkV55zVP6EaqILe599Fb5IKGlp3pQEkCOuUUyZCHKH70IiEwj0A"/>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208800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15" descr="http://www.e-mergenceconsulting.com/EmergenceWeb/Portals/0/SampleImages/LogFileSample2.gif"/>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96769" y="194646"/>
                <a:ext cx="208800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6" descr="http://baremetalsoft.com/baretail/screenshot_main.gif"/>
              <p:cNvPicPr>
                <a:picLocks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76162" y="384646"/>
                <a:ext cx="208800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 name="Group 35"/>
            <p:cNvGrpSpPr/>
            <p:nvPr/>
          </p:nvGrpSpPr>
          <p:grpSpPr bwMode="auto">
            <a:xfrm>
              <a:off x="2948" y="2976"/>
              <a:ext cx="1247" cy="907"/>
              <a:chOff x="0" y="0"/>
              <a:chExt cx="2494379" cy="1744506"/>
            </a:xfrm>
          </p:grpSpPr>
          <p:pic>
            <p:nvPicPr>
              <p:cNvPr id="33" name="Picture 6" descr="http://t2.gstatic.com/images?q=tbn:ANd9GcQ6_JYgl5_0vF9ZY3txTFFQCLOwKrjHyv2jnKrco2fNQjXtxH-C"/>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08800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8" descr="http://ts3.mm.bing.net/th?id=I4550419637207262&amp;pid=1.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0844" y="190000"/>
                <a:ext cx="208800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0" descr="http://ts3.mm.bing.net/th?id=I4952617545368650&amp;pid=1.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6379" y="376506"/>
                <a:ext cx="2088000" cy="136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 name="Group 39"/>
            <p:cNvGrpSpPr/>
            <p:nvPr/>
          </p:nvGrpSpPr>
          <p:grpSpPr bwMode="auto">
            <a:xfrm>
              <a:off x="4270" y="2995"/>
              <a:ext cx="1256" cy="907"/>
              <a:chOff x="0" y="0"/>
              <a:chExt cx="2508831" cy="1769686"/>
            </a:xfrm>
          </p:grpSpPr>
          <p:pic>
            <p:nvPicPr>
              <p:cNvPr id="30" name="Picture 34" descr="http://ts4.mm.bing.net/th?id=I4851720173716095&amp;pid=1.1"/>
              <p:cNvPicPr>
                <a:picLocks noChangeArrowheads="1"/>
              </p:cNvPicPr>
              <p:nvPr/>
            </p:nvPicPr>
            <p:blipFill>
              <a:blip r:embed="rId17">
                <a:extLst>
                  <a:ext uri="{28A0092B-C50C-407E-A947-70E740481C1C}">
                    <a14:useLocalDpi xmlns:a14="http://schemas.microsoft.com/office/drawing/2010/main" val="0"/>
                  </a:ext>
                </a:extLst>
              </a:blip>
              <a:srcRect t="13535"/>
              <a:stretch>
                <a:fillRect/>
              </a:stretch>
            </p:blipFill>
            <p:spPr bwMode="auto">
              <a:xfrm flipV="1">
                <a:off x="0" y="0"/>
                <a:ext cx="2087364" cy="1367751"/>
              </a:xfrm>
              <a:prstGeom prst="rect">
                <a:avLst/>
              </a:prstGeom>
              <a:noFill/>
              <a:ln w="19050">
                <a:solidFill>
                  <a:srgbClr val="F4F3EC"/>
                </a:solidFill>
                <a:miter lim="800000"/>
                <a:headEnd/>
                <a:tailEnd/>
              </a:ln>
              <a:extLst>
                <a:ext uri="{909E8E84-426E-40DD-AFC4-6F175D3DCCD1}">
                  <a14:hiddenFill xmlns:a14="http://schemas.microsoft.com/office/drawing/2010/main">
                    <a:solidFill>
                      <a:srgbClr val="FFFFFF"/>
                    </a:solidFill>
                  </a14:hiddenFill>
                </a:ext>
              </a:extLst>
            </p:spPr>
          </p:pic>
          <p:pic>
            <p:nvPicPr>
              <p:cNvPr id="31" name="Picture 36" descr="http://ts1.mm.bing.net/th?id=I4655650613100712&amp;pid=1.1"/>
              <p:cNvPicPr>
                <a:picLocks noChangeArrowheads="1"/>
              </p:cNvPicPr>
              <p:nvPr/>
            </p:nvPicPr>
            <p:blipFill>
              <a:blip r:embed="rId18">
                <a:extLst>
                  <a:ext uri="{28A0092B-C50C-407E-A947-70E740481C1C}">
                    <a14:useLocalDpi xmlns:a14="http://schemas.microsoft.com/office/drawing/2010/main" val="0"/>
                  </a:ext>
                </a:extLst>
              </a:blip>
              <a:srcRect l="7098" t="4564" r="7098" b="13184"/>
              <a:stretch>
                <a:fillRect/>
              </a:stretch>
            </p:blipFill>
            <p:spPr bwMode="auto">
              <a:xfrm>
                <a:off x="205741" y="208772"/>
                <a:ext cx="2087363" cy="1367752"/>
              </a:xfrm>
              <a:prstGeom prst="rect">
                <a:avLst/>
              </a:prstGeom>
              <a:noFill/>
              <a:ln w="19050">
                <a:solidFill>
                  <a:srgbClr val="F4F3EC"/>
                </a:solidFill>
                <a:miter lim="800000"/>
                <a:headEnd/>
                <a:tailEnd/>
              </a:ln>
              <a:extLst>
                <a:ext uri="{909E8E84-426E-40DD-AFC4-6F175D3DCCD1}">
                  <a14:hiddenFill xmlns:a14="http://schemas.microsoft.com/office/drawing/2010/main">
                    <a:solidFill>
                      <a:srgbClr val="FFFFFF"/>
                    </a:solidFill>
                  </a14:hiddenFill>
                </a:ext>
              </a:extLst>
            </p:spPr>
          </p:pic>
          <p:pic>
            <p:nvPicPr>
              <p:cNvPr id="32" name="Picture 34" descr="http://ts4.mm.bing.net/th?id=I4851720173716095&amp;pid=1.1"/>
              <p:cNvPicPr>
                <a:picLocks noChangeArrowheads="1"/>
              </p:cNvPicPr>
              <p:nvPr/>
            </p:nvPicPr>
            <p:blipFill>
              <a:blip r:embed="rId17">
                <a:extLst>
                  <a:ext uri="{28A0092B-C50C-407E-A947-70E740481C1C}">
                    <a14:useLocalDpi xmlns:a14="http://schemas.microsoft.com/office/drawing/2010/main" val="0"/>
                  </a:ext>
                </a:extLst>
              </a:blip>
              <a:srcRect t="13535"/>
              <a:stretch>
                <a:fillRect/>
              </a:stretch>
            </p:blipFill>
            <p:spPr bwMode="auto">
              <a:xfrm>
                <a:off x="421468" y="401935"/>
                <a:ext cx="2087363" cy="1367751"/>
              </a:xfrm>
              <a:prstGeom prst="rect">
                <a:avLst/>
              </a:prstGeom>
              <a:noFill/>
              <a:ln w="19050">
                <a:solidFill>
                  <a:srgbClr val="F4F3EC"/>
                </a:solidFill>
                <a:miter lim="800000"/>
                <a:headEnd/>
                <a:tailEnd/>
              </a:ln>
              <a:extLst>
                <a:ext uri="{909E8E84-426E-40DD-AFC4-6F175D3DCCD1}">
                  <a14:hiddenFill xmlns:a14="http://schemas.microsoft.com/office/drawing/2010/main">
                    <a:solidFill>
                      <a:srgbClr val="FFFFFF"/>
                    </a:solidFill>
                  </a14:hiddenFill>
                </a:ext>
              </a:extLst>
            </p:spPr>
          </p:pic>
        </p:grpSp>
        <p:sp>
          <p:nvSpPr>
            <p:cNvPr id="29" name="Rectangle 51"/>
            <p:cNvSpPr>
              <a:spLocks noChangeArrowheads="1"/>
            </p:cNvSpPr>
            <p:nvPr/>
          </p:nvSpPr>
          <p:spPr bwMode="auto">
            <a:xfrm>
              <a:off x="4326" y="3938"/>
              <a:ext cx="1134" cy="227"/>
            </a:xfrm>
            <a:prstGeom prst="rect">
              <a:avLst/>
            </a:prstGeom>
            <a:solidFill>
              <a:srgbClr val="CCFFCC"/>
            </a:solidFill>
            <a:ln w="9525">
              <a:solidFill>
                <a:schemeClr val="tx1"/>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1600">
                  <a:solidFill>
                    <a:srgbClr val="0000CC"/>
                  </a:solidFill>
                  <a:latin typeface="楷体_GB2312" pitchFamily="49" charset="-122"/>
                  <a:ea typeface="楷体_GB2312" pitchFamily="49" charset="-122"/>
                  <a:sym typeface="楷体_GB2312" pitchFamily="49" charset="-122"/>
                </a:rPr>
                <a:t>网络与关系数据</a:t>
              </a:r>
              <a:endParaRPr lang="zh-CN" alt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大数据计算模式</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
        <p:nvSpPr>
          <p:cNvPr id="42" name="Text Box 58"/>
          <p:cNvSpPr txBox="1">
            <a:spLocks noChangeArrowheads="1"/>
          </p:cNvSpPr>
          <p:nvPr/>
        </p:nvSpPr>
        <p:spPr bwMode="auto">
          <a:xfrm>
            <a:off x="3679317" y="1990725"/>
            <a:ext cx="45746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表1</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 大数据计算模式及其代表产品</a:t>
            </a:r>
            <a:endParaRPr lang="zh-CN" altLang="en-US" sz="2000" dirty="0">
              <a:latin typeface="微软雅黑" panose="020B0503020204020204" pitchFamily="34" charset="-122"/>
              <a:ea typeface="微软雅黑" panose="020B0503020204020204" pitchFamily="34" charset="-122"/>
            </a:endParaRPr>
          </a:p>
        </p:txBody>
      </p:sp>
      <p:graphicFrame>
        <p:nvGraphicFramePr>
          <p:cNvPr id="43" name="Group 3"/>
          <p:cNvGraphicFramePr>
            <a:graphicFrameLocks noGrp="1"/>
          </p:cNvGraphicFramePr>
          <p:nvPr/>
        </p:nvGraphicFramePr>
        <p:xfrm>
          <a:off x="1831439" y="2590796"/>
          <a:ext cx="8614832" cy="3765554"/>
        </p:xfrm>
        <a:graphic>
          <a:graphicData uri="http://schemas.openxmlformats.org/drawingml/2006/table">
            <a:tbl>
              <a:tblPr>
                <a:tableStyleId>{2D5ABB26-0587-4C30-8999-92F81FD0307C}</a:tableStyleId>
              </a:tblPr>
              <a:tblGrid>
                <a:gridCol w="2356641"/>
                <a:gridCol w="2668990"/>
                <a:gridCol w="3589201"/>
              </a:tblGrid>
              <a:tr h="380910">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大数据计算模式</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解决问题</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代表产品</a:t>
                      </a:r>
                      <a:endParaRPr kumimoji="0" lang="zh-CN" altLang="en-US" sz="2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640055">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批处理计算</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针对大规模数据的批量处理</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MapReduce、Spark等</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88757">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流计算</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针对流数据的实时计算</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Storm、S4、Flume、Streams、Puma、DStream、Super Mario、银河流数据处理平台等</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15771">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图计算</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针对大规模图结构数据的处理</a:t>
                      </a: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Pregel、GraphX、Giraph、PowerGraph、Hama、GoldenOrb等</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0055">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查询分析计算</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大规模数据的存储管理和查询分析</a:t>
                      </a:r>
                      <a:endParaRPr kumimoji="0"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anose="020B0604020202020204" pitchFamily="34" charset="0"/>
                        <a:buNone/>
                      </a:pPr>
                      <a:r>
                        <a:rPr kumimoji="0" lang="zh-CN" altLang="en-US" sz="18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Dremel、Hive、Cassandra、Impala等</a:t>
                      </a: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09" marB="4570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大数据管理的基础—数据中心</a:t>
            </a:r>
            <a:endParaRPr lang="en-US" altLang="zh-CN" dirty="0"/>
          </a:p>
          <a:p>
            <a:pPr lvl="1"/>
            <a:r>
              <a:rPr lang="zh-CN" altLang="en-US" dirty="0"/>
              <a:t>数据中心</a:t>
            </a:r>
            <a:r>
              <a:rPr lang="en-US" altLang="zh-CN" dirty="0"/>
              <a:t>—</a:t>
            </a:r>
            <a:r>
              <a:rPr lang="zh-CN" altLang="en-US" dirty="0"/>
              <a:t>看上去，规模庞大</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sp>
        <p:nvSpPr>
          <p:cNvPr id="42" name="矩形 4"/>
          <p:cNvSpPr>
            <a:spLocks noChangeArrowheads="1"/>
          </p:cNvSpPr>
          <p:nvPr/>
        </p:nvSpPr>
        <p:spPr bwMode="auto">
          <a:xfrm>
            <a:off x="1801622" y="4160837"/>
            <a:ext cx="4176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buFont typeface="Arial" panose="020B0604020202020204" pitchFamily="34" charset="0"/>
              <a:buNone/>
            </a:pPr>
            <a:r>
              <a:rPr lang="zh-CN" altLang="en-US" sz="2000" b="1">
                <a:latin typeface="黑体" panose="02010609060101010101" pitchFamily="49" charset="-122"/>
                <a:ea typeface="黑体" panose="02010609060101010101" pitchFamily="49" charset="-122"/>
              </a:rPr>
              <a:t>脸谱</a:t>
            </a:r>
            <a:r>
              <a:rPr lang="en-US" altLang="zh-CN" sz="2000" b="1">
                <a:latin typeface="黑体" panose="02010609060101010101" pitchFamily="49" charset="-122"/>
                <a:ea typeface="黑体" panose="02010609060101010101" pitchFamily="49" charset="-122"/>
              </a:rPr>
              <a:t>(Facebook) </a:t>
            </a:r>
            <a:r>
              <a:rPr lang="zh-CN" altLang="en-US" sz="2000" b="1">
                <a:latin typeface="黑体" panose="02010609060101010101" pitchFamily="49" charset="-122"/>
                <a:ea typeface="黑体" panose="02010609060101010101" pitchFamily="49" charset="-122"/>
              </a:rPr>
              <a:t>数据中心</a:t>
            </a:r>
            <a:endParaRPr lang="en-US" altLang="zh-CN" sz="2000" b="1">
              <a:latin typeface="黑体" panose="02010609060101010101" pitchFamily="49" charset="-122"/>
              <a:ea typeface="黑体" panose="02010609060101010101" pitchFamily="49" charset="-122"/>
            </a:endParaRPr>
          </a:p>
        </p:txBody>
      </p:sp>
      <p:pic>
        <p:nvPicPr>
          <p:cNvPr id="43" name="Picture 3" descr="C:\Users\wp\Desktop\MicrosoftSanAntonioDataCentercredittoAeroPhoto.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97435" y="2436812"/>
            <a:ext cx="4357687"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 descr="C:\Users\wp\Desktop\The new Apple data center located in Maiden, North Carolin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797" y="4681442"/>
            <a:ext cx="4214813"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矩形 7"/>
          <p:cNvSpPr>
            <a:spLocks noChangeArrowheads="1"/>
          </p:cNvSpPr>
          <p:nvPr/>
        </p:nvSpPr>
        <p:spPr bwMode="auto">
          <a:xfrm>
            <a:off x="6329172" y="4203700"/>
            <a:ext cx="438150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buFont typeface="Arial" panose="020B0604020202020204" pitchFamily="34" charset="0"/>
              <a:buNone/>
            </a:pPr>
            <a:r>
              <a:rPr lang="zh-CN" altLang="en-US" sz="2000" b="1">
                <a:latin typeface="黑体" panose="02010609060101010101" pitchFamily="49" charset="-122"/>
                <a:ea typeface="黑体" panose="02010609060101010101" pitchFamily="49" charset="-122"/>
              </a:rPr>
              <a:t>微软</a:t>
            </a:r>
            <a:r>
              <a:rPr lang="en-US" altLang="zh-CN" sz="2000" b="1">
                <a:latin typeface="黑体" panose="02010609060101010101" pitchFamily="49" charset="-122"/>
                <a:ea typeface="黑体" panose="02010609060101010101" pitchFamily="49" charset="-122"/>
              </a:rPr>
              <a:t>(Microsoft)</a:t>
            </a:r>
            <a:r>
              <a:rPr lang="zh-CN" altLang="en-US" sz="2000" b="1">
                <a:latin typeface="黑体" panose="02010609060101010101" pitchFamily="49" charset="-122"/>
                <a:ea typeface="黑体" panose="02010609060101010101" pitchFamily="49" charset="-122"/>
              </a:rPr>
              <a:t>数据中心</a:t>
            </a:r>
            <a:endParaRPr lang="zh-CN" altLang="en-US" sz="2000" b="1">
              <a:latin typeface="黑体" panose="02010609060101010101" pitchFamily="49" charset="-122"/>
              <a:ea typeface="黑体" panose="02010609060101010101" pitchFamily="49" charset="-122"/>
            </a:endParaRPr>
          </a:p>
        </p:txBody>
      </p:sp>
      <p:sp>
        <p:nvSpPr>
          <p:cNvPr id="46" name="矩形 8"/>
          <p:cNvSpPr>
            <a:spLocks noChangeArrowheads="1"/>
          </p:cNvSpPr>
          <p:nvPr/>
        </p:nvSpPr>
        <p:spPr bwMode="auto">
          <a:xfrm>
            <a:off x="1757172" y="6378480"/>
            <a:ext cx="46434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buFont typeface="Arial" panose="020B0604020202020204" pitchFamily="34" charset="0"/>
              <a:buNone/>
            </a:pPr>
            <a:r>
              <a:rPr lang="zh-CN" altLang="en-US" sz="2000" b="1">
                <a:latin typeface="黑体" panose="02010609060101010101" pitchFamily="49" charset="-122"/>
                <a:ea typeface="黑体" panose="02010609060101010101" pitchFamily="49" charset="-122"/>
              </a:rPr>
              <a:t>苹果</a:t>
            </a:r>
            <a:r>
              <a:rPr lang="en-US" altLang="zh-CN" sz="2000" b="1">
                <a:latin typeface="黑体" panose="02010609060101010101" pitchFamily="49" charset="-122"/>
                <a:ea typeface="黑体" panose="02010609060101010101" pitchFamily="49" charset="-122"/>
              </a:rPr>
              <a:t>(Apple) </a:t>
            </a:r>
            <a:r>
              <a:rPr lang="zh-CN" altLang="en-US" sz="2000" b="1">
                <a:latin typeface="黑体" panose="02010609060101010101" pitchFamily="49" charset="-122"/>
                <a:ea typeface="黑体" panose="02010609060101010101" pitchFamily="49" charset="-122"/>
              </a:rPr>
              <a:t>数据中心</a:t>
            </a:r>
            <a:endParaRPr lang="zh-CN" altLang="en-US" sz="2000" b="1">
              <a:latin typeface="黑体" panose="02010609060101010101" pitchFamily="49" charset="-122"/>
              <a:ea typeface="黑体" panose="02010609060101010101" pitchFamily="49" charset="-122"/>
            </a:endParaRPr>
          </a:p>
        </p:txBody>
      </p:sp>
      <p:pic>
        <p:nvPicPr>
          <p:cNvPr id="4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7435" y="4676680"/>
            <a:ext cx="4357687"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10"/>
          <p:cNvSpPr txBox="1">
            <a:spLocks noChangeArrowheads="1"/>
          </p:cNvSpPr>
          <p:nvPr/>
        </p:nvSpPr>
        <p:spPr bwMode="auto">
          <a:xfrm>
            <a:off x="6438710" y="6386417"/>
            <a:ext cx="31115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buFont typeface="Arial" panose="020B0604020202020204" pitchFamily="34" charset="0"/>
              <a:buNone/>
            </a:pPr>
            <a:r>
              <a:rPr lang="zh-CN" altLang="en-US" sz="2000" b="1">
                <a:latin typeface="黑体" panose="02010609060101010101" pitchFamily="49" charset="-122"/>
                <a:ea typeface="黑体" panose="02010609060101010101" pitchFamily="49" charset="-122"/>
              </a:rPr>
              <a:t>谷歌</a:t>
            </a:r>
            <a:r>
              <a:rPr lang="en-US" altLang="zh-CN" sz="2000" b="1">
                <a:latin typeface="黑体" panose="02010609060101010101" pitchFamily="49" charset="-122"/>
                <a:ea typeface="黑体" panose="02010609060101010101" pitchFamily="49" charset="-122"/>
              </a:rPr>
              <a:t>(Google) </a:t>
            </a:r>
            <a:r>
              <a:rPr lang="zh-CN" altLang="en-US" sz="2000" b="1">
                <a:latin typeface="黑体" panose="02010609060101010101" pitchFamily="49" charset="-122"/>
                <a:ea typeface="黑体" panose="02010609060101010101" pitchFamily="49" charset="-122"/>
              </a:rPr>
              <a:t>数据中心</a:t>
            </a:r>
            <a:endParaRPr lang="zh-CN" altLang="en-US" sz="2000" b="1">
              <a:latin typeface="黑体" panose="02010609060101010101" pitchFamily="49" charset="-122"/>
              <a:ea typeface="黑体" panose="02010609060101010101" pitchFamily="49" charset="-122"/>
            </a:endParaRPr>
          </a:p>
        </p:txBody>
      </p:sp>
      <p:pic>
        <p:nvPicPr>
          <p:cNvPr id="49" name="Picture 2" descr="C:\Users\wp\Desktop\An image of the planned Facebook data center in Rutherford County, North Carolin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97" y="2368550"/>
            <a:ext cx="4214813"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大数据管理的基础—数据中心</a:t>
            </a:r>
            <a:endParaRPr lang="en-US" altLang="zh-CN" dirty="0"/>
          </a:p>
          <a:p>
            <a:pPr lvl="1"/>
            <a:r>
              <a:rPr lang="zh-CN" altLang="en-US" dirty="0"/>
              <a:t>数据中心</a:t>
            </a:r>
            <a:r>
              <a:rPr lang="en-US" altLang="zh-CN" dirty="0"/>
              <a:t>—</a:t>
            </a:r>
            <a:r>
              <a:rPr lang="zh-CN" altLang="en-US" dirty="0"/>
              <a:t>走进去，结构复杂</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Picture 2" descr="http://www.i-slownik.pl/img_hasla/1978/google-data-center.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61316" y="2386157"/>
            <a:ext cx="4125912"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D:\dcn\photo\Chicago-Inside-Container-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866" y="2395682"/>
            <a:ext cx="4271962"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C:\JamesRH\Conferences\2007\AmazonDevCon\BLU-ColoRoomOverHeadRackable (Mediu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228" y="4721369"/>
            <a:ext cx="4271963"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大数据处理的需求和特点</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graphicFrame>
        <p:nvGraphicFramePr>
          <p:cNvPr id="6" name="图示 5"/>
          <p:cNvGraphicFramePr/>
          <p:nvPr/>
        </p:nvGraphicFramePr>
        <p:xfrm>
          <a:off x="1367533" y="2309677"/>
          <a:ext cx="4392489" cy="324035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7" name="图示 6"/>
          <p:cNvGraphicFramePr/>
          <p:nvPr/>
        </p:nvGraphicFramePr>
        <p:xfrm>
          <a:off x="5952700" y="2038396"/>
          <a:ext cx="4704184" cy="89542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8" name="图示 7"/>
          <p:cNvGraphicFramePr/>
          <p:nvPr/>
        </p:nvGraphicFramePr>
        <p:xfrm>
          <a:off x="5904692" y="2902493"/>
          <a:ext cx="4704179" cy="895428"/>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aphicFrame>
        <p:nvGraphicFramePr>
          <p:cNvPr id="9" name="图示 8"/>
          <p:cNvGraphicFramePr/>
          <p:nvPr/>
        </p:nvGraphicFramePr>
        <p:xfrm>
          <a:off x="5892914" y="3829212"/>
          <a:ext cx="4704184" cy="895427"/>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graphicFrame>
        <p:nvGraphicFramePr>
          <p:cNvPr id="10" name="图示 9"/>
          <p:cNvGraphicFramePr/>
          <p:nvPr/>
        </p:nvGraphicFramePr>
        <p:xfrm>
          <a:off x="5950270" y="4702693"/>
          <a:ext cx="4752537" cy="936104"/>
        </p:xfrm>
        <a:graphic>
          <a:graphicData uri="http://schemas.openxmlformats.org/drawingml/2006/diagram">
            <dgm:relIds xmlns:dgm="http://schemas.openxmlformats.org/drawingml/2006/diagram" xmlns:r="http://schemas.openxmlformats.org/officeDocument/2006/relationships" r:dm="rId21" r:lo="rId22" r:qs="rId23" r:cs="rId24"/>
          </a:graphicData>
        </a:graphic>
      </p:graphicFrame>
      <p:cxnSp>
        <p:nvCxnSpPr>
          <p:cNvPr id="11" name="直接箭头连接符 10"/>
          <p:cNvCxnSpPr/>
          <p:nvPr/>
        </p:nvCxnSpPr>
        <p:spPr bwMode="auto">
          <a:xfrm>
            <a:off x="5904484" y="5999061"/>
            <a:ext cx="4787900" cy="0"/>
          </a:xfrm>
          <a:prstGeom prst="straightConnector1">
            <a:avLst/>
          </a:prstGeom>
          <a:noFill/>
          <a:ln w="25400" cap="flat" cmpd="sng" algn="ctr">
            <a:solidFill>
              <a:srgbClr val="4F81BD"/>
            </a:solidFill>
            <a:prstDash val="solid"/>
            <a:headEnd type="none" w="med" len="med"/>
            <a:tailEnd type="arrow"/>
          </a:ln>
          <a:effectLst>
            <a:outerShdw blurRad="40000" dist="20000" dir="5400000" rotWithShape="0">
              <a:srgbClr val="000000">
                <a:alpha val="38000"/>
              </a:srgbClr>
            </a:outerShdw>
          </a:effectLst>
        </p:spPr>
      </p:cxnSp>
      <p:cxnSp>
        <p:nvCxnSpPr>
          <p:cNvPr id="12" name="直接箭头连接符 11"/>
          <p:cNvCxnSpPr/>
          <p:nvPr/>
        </p:nvCxnSpPr>
        <p:spPr bwMode="auto">
          <a:xfrm flipH="1">
            <a:off x="1548384" y="5999061"/>
            <a:ext cx="4356100" cy="0"/>
          </a:xfrm>
          <a:prstGeom prst="straightConnector1">
            <a:avLst/>
          </a:prstGeom>
          <a:noFill/>
          <a:ln w="25400" cap="flat" cmpd="sng" algn="ctr">
            <a:solidFill>
              <a:srgbClr val="4F81BD"/>
            </a:solidFill>
            <a:prstDash val="solid"/>
            <a:headEnd type="none" w="med" len="med"/>
            <a:tailEnd type="arrow"/>
          </a:ln>
          <a:effectLst>
            <a:outerShdw blurRad="40000" dist="20000" dir="5400000" rotWithShape="0">
              <a:srgbClr val="000000">
                <a:alpha val="38000"/>
              </a:srgbClr>
            </a:outerShdw>
          </a:effectLst>
        </p:spPr>
      </p:cxnSp>
      <p:cxnSp>
        <p:nvCxnSpPr>
          <p:cNvPr id="13" name="直接连接符 12"/>
          <p:cNvCxnSpPr/>
          <p:nvPr/>
        </p:nvCxnSpPr>
        <p:spPr bwMode="auto">
          <a:xfrm>
            <a:off x="5760022" y="2109686"/>
            <a:ext cx="0" cy="3889375"/>
          </a:xfrm>
          <a:prstGeom prst="line">
            <a:avLst/>
          </a:prstGeom>
          <a:noFill/>
          <a:ln w="25400" cap="flat" cmpd="sng" algn="ctr">
            <a:solidFill>
              <a:srgbClr val="4F81BD"/>
            </a:solidFill>
            <a:prstDash val="solid"/>
            <a:headEnd type="none" w="med" len="med"/>
            <a:tailEnd type="none" w="med" len="med"/>
          </a:ln>
          <a:effectLst>
            <a:outerShdw blurRad="40000" dist="20000" dir="5400000" rotWithShape="0">
              <a:srgbClr val="000000">
                <a:alpha val="38000"/>
              </a:srgbClr>
            </a:outerShdw>
          </a:effectLst>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noProof="1"/>
              <a:t>大数据架构：分层架构</a:t>
            </a:r>
            <a:endParaRPr lang="en-US" altLang="zh-CN" noProof="1"/>
          </a:p>
          <a:p>
            <a:pPr lvl="1"/>
            <a:r>
              <a:rPr lang="zh-CN" altLang="en-US" dirty="0"/>
              <a:t>从数据在生命周期看，大数据从数据源经过分析挖掘到最终获得价值需要经过</a:t>
            </a:r>
            <a:r>
              <a:rPr lang="en-US" altLang="zh-CN" dirty="0"/>
              <a:t>5</a:t>
            </a:r>
            <a:r>
              <a:rPr lang="zh-CN" altLang="en-US" dirty="0"/>
              <a:t>个环节，包括数据准备、数据存储与管理、计算处理、数据分析和知识展现。</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图片 22118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85669" y="2869177"/>
            <a:ext cx="6820662" cy="3756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大数据的系统架构：整体系统架构</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图片 22016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6495" y="1891456"/>
            <a:ext cx="6038850" cy="4464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大数据架构：整体逻辑功能架构</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11.1 </a:t>
            </a:r>
            <a:r>
              <a:rPr lang="zh-CN" altLang="en-US" dirty="0"/>
              <a:t>大数据</a:t>
            </a:r>
            <a:endParaRPr lang="zh-CN" altLang="en-US" dirty="0"/>
          </a:p>
        </p:txBody>
      </p:sp>
      <p:pic>
        <p:nvPicPr>
          <p:cNvPr id="6" name="图片 2437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6930" y="1874999"/>
            <a:ext cx="4478140" cy="4750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noProof="1">
                <a:sym typeface="+mn-ea"/>
              </a:rPr>
              <a:t>什么是云计算</a:t>
            </a:r>
            <a:r>
              <a:rPr lang="en-US" altLang="zh-CN" noProof="1">
                <a:sym typeface="+mn-ea"/>
              </a:rPr>
              <a:t>?</a:t>
            </a:r>
            <a:endParaRPr lang="en-US" altLang="zh-CN" noProof="1">
              <a:sym typeface="+mn-ea"/>
            </a:endParaRPr>
          </a:p>
          <a:p>
            <a:pPr lvl="1"/>
            <a:r>
              <a:rPr lang="zh-CN" altLang="en-US" dirty="0"/>
              <a:t>云计算是一种商业计算模型。它将计算任务分布在大量计算机构成的资源池上，使各种应用系统能够根据需要获取计算力、存储空间和信息服务。</a:t>
            </a:r>
            <a:endParaRPr lang="en-US" altLang="zh-CN" dirty="0"/>
          </a:p>
          <a:p>
            <a:pPr lvl="1"/>
            <a:r>
              <a:rPr lang="zh-CN" altLang="en-US" dirty="0"/>
              <a:t>运用由网络连接起来的大量虚拟化的计算设备对信息进行处理并得到结果的一种计算方式。</a:t>
            </a:r>
            <a:endParaRPr lang="zh-CN" altLang="en-US" dirty="0"/>
          </a:p>
          <a:p>
            <a:pPr lvl="1"/>
            <a:r>
              <a:rPr lang="zh-CN" altLang="en-US" dirty="0"/>
              <a:t>云计算不是一种产品，也不是一种技术，而是一种产生和获取计算能力的运营模式。</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云计算的由来</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cxnSp>
        <p:nvCxnSpPr>
          <p:cNvPr id="7" name="Straight Arrow Connector 10"/>
          <p:cNvCxnSpPr>
            <a:cxnSpLocks noChangeShapeType="1"/>
          </p:cNvCxnSpPr>
          <p:nvPr/>
        </p:nvCxnSpPr>
        <p:spPr bwMode="auto">
          <a:xfrm rot="16200000" flipV="1">
            <a:off x="228021" y="4168775"/>
            <a:ext cx="4672012" cy="11112"/>
          </a:xfrm>
          <a:prstGeom prst="straightConnector1">
            <a:avLst/>
          </a:prstGeom>
          <a:noFill/>
          <a:ln w="28575">
            <a:solidFill>
              <a:srgbClr val="FF0000"/>
            </a:solidFill>
            <a:round/>
            <a:tailEnd type="arrow" w="med" len="med"/>
          </a:ln>
          <a:extLst>
            <a:ext uri="{909E8E84-426E-40DD-AFC4-6F175D3DCCD1}">
              <a14:hiddenFill xmlns:a14="http://schemas.microsoft.com/office/drawing/2010/main">
                <a:noFill/>
              </a14:hiddenFill>
            </a:ext>
          </a:extLst>
        </p:spPr>
      </p:cxnSp>
      <p:sp>
        <p:nvSpPr>
          <p:cNvPr id="8" name="TextBox 11"/>
          <p:cNvSpPr txBox="1">
            <a:spLocks noChangeArrowheads="1"/>
          </p:cNvSpPr>
          <p:nvPr/>
        </p:nvSpPr>
        <p:spPr bwMode="auto">
          <a:xfrm>
            <a:off x="3058533" y="610235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zh-CN" altLang="en-US" sz="1400" b="1">
                <a:latin typeface="Tahoma" panose="020B0604030504040204" pitchFamily="34" charset="0"/>
                <a:ea typeface="华文细黑" panose="02010600040101010101" pitchFamily="2" charset="-122"/>
              </a:rPr>
              <a:t>大型机时代</a:t>
            </a:r>
            <a:endParaRPr lang="zh-CN" altLang="en-US" sz="1400" b="1">
              <a:latin typeface="Tahoma" panose="020B0604030504040204" pitchFamily="34" charset="0"/>
              <a:ea typeface="华文细黑" panose="02010600040101010101" pitchFamily="2" charset="-122"/>
            </a:endParaRPr>
          </a:p>
        </p:txBody>
      </p:sp>
      <p:sp>
        <p:nvSpPr>
          <p:cNvPr id="9" name="Rectangle 12"/>
          <p:cNvSpPr>
            <a:spLocks noChangeArrowheads="1"/>
          </p:cNvSpPr>
          <p:nvPr/>
        </p:nvSpPr>
        <p:spPr bwMode="auto">
          <a:xfrm>
            <a:off x="3066471" y="6508750"/>
            <a:ext cx="984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en-US" altLang="zh-CN" sz="1400">
                <a:latin typeface="宋体" panose="02010600030101010101" pitchFamily="2" charset="-122"/>
              </a:rPr>
              <a:t>1960</a:t>
            </a:r>
            <a:r>
              <a:rPr lang="zh-CN" altLang="en-US" sz="1400">
                <a:latin typeface="宋体" panose="02010600030101010101" pitchFamily="2" charset="-122"/>
              </a:rPr>
              <a:t>年代 </a:t>
            </a:r>
            <a:endParaRPr lang="zh-CN" altLang="en-US" sz="1400">
              <a:latin typeface="宋体" panose="02010600030101010101" pitchFamily="2" charset="-122"/>
            </a:endParaRPr>
          </a:p>
        </p:txBody>
      </p:sp>
      <p:sp>
        <p:nvSpPr>
          <p:cNvPr id="10" name="Rectangle 13"/>
          <p:cNvSpPr>
            <a:spLocks noChangeArrowheads="1"/>
          </p:cNvSpPr>
          <p:nvPr/>
        </p:nvSpPr>
        <p:spPr bwMode="auto">
          <a:xfrm>
            <a:off x="4803196" y="6508750"/>
            <a:ext cx="984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en-US" altLang="zh-CN" sz="1400">
                <a:latin typeface="宋体" panose="02010600030101010101" pitchFamily="2" charset="-122"/>
              </a:rPr>
              <a:t>1980</a:t>
            </a:r>
            <a:r>
              <a:rPr lang="zh-CN" altLang="en-US" sz="1400">
                <a:latin typeface="宋体" panose="02010600030101010101" pitchFamily="2" charset="-122"/>
              </a:rPr>
              <a:t>年代 </a:t>
            </a:r>
            <a:endParaRPr lang="zh-CN" altLang="en-US" sz="1400">
              <a:latin typeface="宋体" panose="02010600030101010101" pitchFamily="2" charset="-122"/>
            </a:endParaRPr>
          </a:p>
        </p:txBody>
      </p:sp>
      <p:sp>
        <p:nvSpPr>
          <p:cNvPr id="11" name="Rectangle 15"/>
          <p:cNvSpPr>
            <a:spLocks noChangeArrowheads="1"/>
          </p:cNvSpPr>
          <p:nvPr/>
        </p:nvSpPr>
        <p:spPr bwMode="auto">
          <a:xfrm>
            <a:off x="8425871" y="6530975"/>
            <a:ext cx="984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en-US" altLang="zh-CN" sz="1400">
                <a:latin typeface="宋体" panose="02010600030101010101" pitchFamily="2" charset="-122"/>
              </a:rPr>
              <a:t>2000</a:t>
            </a:r>
            <a:r>
              <a:rPr lang="zh-CN" altLang="en-US" sz="1400">
                <a:latin typeface="宋体" panose="02010600030101010101" pitchFamily="2" charset="-122"/>
              </a:rPr>
              <a:t>年代 </a:t>
            </a:r>
            <a:endParaRPr lang="zh-CN" altLang="en-US" sz="1400">
              <a:latin typeface="宋体" panose="02010600030101010101" pitchFamily="2" charset="-122"/>
            </a:endParaRPr>
          </a:p>
        </p:txBody>
      </p:sp>
      <p:sp>
        <p:nvSpPr>
          <p:cNvPr id="12" name="Rectangle 18"/>
          <p:cNvSpPr>
            <a:spLocks noChangeArrowheads="1"/>
          </p:cNvSpPr>
          <p:nvPr/>
        </p:nvSpPr>
        <p:spPr bwMode="auto">
          <a:xfrm>
            <a:off x="6651046" y="6508750"/>
            <a:ext cx="984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en-US" altLang="zh-CN" sz="1400">
                <a:latin typeface="宋体" panose="02010600030101010101" pitchFamily="2" charset="-122"/>
              </a:rPr>
              <a:t>1990</a:t>
            </a:r>
            <a:r>
              <a:rPr lang="zh-CN" altLang="en-US" sz="1400">
                <a:latin typeface="宋体" panose="02010600030101010101" pitchFamily="2" charset="-122"/>
              </a:rPr>
              <a:t>年代 </a:t>
            </a:r>
            <a:endParaRPr lang="zh-CN" altLang="en-US" sz="1400">
              <a:latin typeface="宋体" panose="02010600030101010101" pitchFamily="2" charset="-122"/>
            </a:endParaRPr>
          </a:p>
        </p:txBody>
      </p:sp>
      <p:pic>
        <p:nvPicPr>
          <p:cNvPr id="13" name="Picture 12" descr="Blue_man_computers_(ca20891)_90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55583" y="4748212"/>
            <a:ext cx="915988" cy="927100"/>
          </a:xfrm>
          <a:prstGeom prst="rect">
            <a:avLst/>
          </a:prstGeom>
          <a:noFill/>
          <a:ln w="57150" cmpd="thinThick">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4" name="Picture 14" descr="web_photo_3_4-17-02_(AA0396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2958" y="4318000"/>
            <a:ext cx="914400" cy="914400"/>
          </a:xfrm>
          <a:prstGeom prst="rect">
            <a:avLst/>
          </a:prstGeom>
          <a:noFill/>
          <a:ln w="57150" cmpd="thinThick">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5" name="Picture 2" descr="http://www.neu.edu.cn/cxsj/online/C1/images/firstcomput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1083" y="5153025"/>
            <a:ext cx="939800" cy="933450"/>
          </a:xfrm>
          <a:prstGeom prst="rect">
            <a:avLst/>
          </a:prstGeom>
          <a:noFill/>
          <a:ln w="57150" cmpd="thinThick">
            <a:solidFill>
              <a:srgbClr val="000000"/>
            </a:solidFill>
            <a:miter lim="800000"/>
            <a:headEnd/>
            <a:tailEnd/>
          </a:ln>
          <a:extLst>
            <a:ext uri="{909E8E84-426E-40DD-AFC4-6F175D3DCCD1}">
              <a14:hiddenFill xmlns:a14="http://schemas.microsoft.com/office/drawing/2010/main">
                <a:solidFill>
                  <a:srgbClr val="FFFFFF"/>
                </a:solidFill>
              </a14:hiddenFill>
            </a:ext>
          </a:extLst>
        </p:spPr>
      </p:pic>
      <p:cxnSp>
        <p:nvCxnSpPr>
          <p:cNvPr id="16" name="Straight Arrow Connector 30"/>
          <p:cNvCxnSpPr>
            <a:cxnSpLocks noChangeShapeType="1"/>
          </p:cNvCxnSpPr>
          <p:nvPr/>
        </p:nvCxnSpPr>
        <p:spPr bwMode="auto">
          <a:xfrm>
            <a:off x="2558471" y="6510337"/>
            <a:ext cx="7500937" cy="1588"/>
          </a:xfrm>
          <a:prstGeom prst="straightConnector1">
            <a:avLst/>
          </a:prstGeom>
          <a:noFill/>
          <a:ln w="28575">
            <a:solidFill>
              <a:srgbClr val="FF0000"/>
            </a:solidFill>
            <a:round/>
            <a:tailEnd type="arrow" w="med" len="med"/>
          </a:ln>
          <a:extLst>
            <a:ext uri="{909E8E84-426E-40DD-AFC4-6F175D3DCCD1}">
              <a14:hiddenFill xmlns:a14="http://schemas.microsoft.com/office/drawing/2010/main">
                <a:noFill/>
              </a14:hiddenFill>
            </a:ext>
          </a:extLst>
        </p:spPr>
      </p:cxnSp>
      <p:grpSp>
        <p:nvGrpSpPr>
          <p:cNvPr id="17" name="Group 13"/>
          <p:cNvGrpSpPr/>
          <p:nvPr/>
        </p:nvGrpSpPr>
        <p:grpSpPr bwMode="auto">
          <a:xfrm>
            <a:off x="3528433" y="4340225"/>
            <a:ext cx="1530350" cy="755650"/>
            <a:chOff x="0" y="0"/>
            <a:chExt cx="964" cy="476"/>
          </a:xfrm>
        </p:grpSpPr>
        <p:pic>
          <p:nvPicPr>
            <p:cNvPr id="18" name="Curved Down Arrow 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64"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5"/>
            <p:cNvSpPr txBox="1">
              <a:spLocks noChangeArrowheads="1"/>
            </p:cNvSpPr>
            <p:nvPr/>
          </p:nvSpPr>
          <p:spPr bwMode="auto">
            <a:xfrm rot="-898770">
              <a:off x="-47" y="36"/>
              <a:ext cx="11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chemeClr val="hlink"/>
                </a:buClr>
                <a:buFont typeface="Arial" panose="020B0604020202020204" pitchFamily="34" charset="0"/>
                <a:buNone/>
              </a:pPr>
              <a:endParaRPr lang="en-US" altLang="zh-CN" sz="1400">
                <a:latin typeface="Times New Roman" panose="02020603050405020304" pitchFamily="18" charset="0"/>
              </a:endParaRPr>
            </a:p>
          </p:txBody>
        </p:sp>
      </p:grpSp>
      <p:sp>
        <p:nvSpPr>
          <p:cNvPr id="20" name="TextBox 35"/>
          <p:cNvSpPr txBox="1">
            <a:spLocks noChangeArrowheads="1"/>
          </p:cNvSpPr>
          <p:nvPr/>
        </p:nvSpPr>
        <p:spPr bwMode="auto">
          <a:xfrm>
            <a:off x="4784146" y="5724525"/>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zh-CN" altLang="en-US" sz="1400" b="1">
                <a:latin typeface="Tahoma" panose="020B0604030504040204" pitchFamily="34" charset="0"/>
                <a:ea typeface="华文细黑" panose="02010600040101010101" pitchFamily="2" charset="-122"/>
              </a:rPr>
              <a:t>微型机时代</a:t>
            </a:r>
            <a:endParaRPr lang="zh-CN" altLang="en-US" sz="1400" b="1">
              <a:latin typeface="Tahoma" panose="020B0604030504040204" pitchFamily="34" charset="0"/>
              <a:ea typeface="华文细黑" panose="02010600040101010101" pitchFamily="2" charset="-122"/>
            </a:endParaRPr>
          </a:p>
        </p:txBody>
      </p:sp>
      <p:sp>
        <p:nvSpPr>
          <p:cNvPr id="21" name="Rectangle 36"/>
          <p:cNvSpPr>
            <a:spLocks noChangeArrowheads="1"/>
          </p:cNvSpPr>
          <p:nvPr/>
        </p:nvSpPr>
        <p:spPr bwMode="auto">
          <a:xfrm>
            <a:off x="3069646" y="2960687"/>
            <a:ext cx="2071687" cy="141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chemeClr val="hlink"/>
              </a:buClr>
              <a:buFont typeface="Arial" panose="020B0604020202020204" pitchFamily="34" charset="0"/>
              <a:buNone/>
            </a:pPr>
            <a:r>
              <a:rPr lang="zh-CN" altLang="en-US" sz="1400" b="1">
                <a:latin typeface="楷体_GB2312" pitchFamily="49" charset="-122"/>
                <a:ea typeface="楷体_GB2312" pitchFamily="49" charset="-122"/>
              </a:rPr>
              <a:t>个人计算机变革</a:t>
            </a:r>
            <a:endParaRPr lang="zh-CN" altLang="en-US" sz="1400">
              <a:latin typeface="楷体_GB2312" pitchFamily="49" charset="-122"/>
              <a:ea typeface="楷体_GB2312" pitchFamily="49" charset="-122"/>
            </a:endParaRPr>
          </a:p>
          <a:p>
            <a:pPr>
              <a:spcBef>
                <a:spcPct val="20000"/>
              </a:spcBef>
              <a:buClr>
                <a:schemeClr val="hlink"/>
              </a:buClr>
              <a:buFont typeface="Wingdings" panose="05000000000000000000" pitchFamily="2" charset="2"/>
              <a:buChar char="q"/>
            </a:pPr>
            <a:r>
              <a:rPr lang="zh-CN" altLang="en-US" sz="1400">
                <a:latin typeface="楷体_GB2312" pitchFamily="49" charset="-122"/>
                <a:ea typeface="楷体_GB2312" pitchFamily="49" charset="-122"/>
              </a:rPr>
              <a:t>将只在特定行业中应用的大型主机变成每个人都负担得起的个人电脑，大幅度提高了个人生产效率和企业效率</a:t>
            </a:r>
            <a:endParaRPr lang="zh-CN" altLang="en-US" sz="1400">
              <a:latin typeface="楷体_GB2312" pitchFamily="49" charset="-122"/>
              <a:ea typeface="楷体_GB2312" pitchFamily="49" charset="-122"/>
            </a:endParaRPr>
          </a:p>
        </p:txBody>
      </p:sp>
      <p:sp>
        <p:nvSpPr>
          <p:cNvPr id="22" name="Rectangle 38"/>
          <p:cNvSpPr>
            <a:spLocks noChangeArrowheads="1"/>
          </p:cNvSpPr>
          <p:nvPr/>
        </p:nvSpPr>
        <p:spPr bwMode="auto">
          <a:xfrm>
            <a:off x="5058783" y="2532062"/>
            <a:ext cx="2286000" cy="141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chemeClr val="hlink"/>
              </a:buClr>
              <a:buFont typeface="Arial" panose="020B0604020202020204" pitchFamily="34" charset="0"/>
              <a:buNone/>
            </a:pPr>
            <a:r>
              <a:rPr lang="zh-CN" altLang="en-US" sz="1400" b="1">
                <a:latin typeface="楷体_GB2312" pitchFamily="49" charset="-122"/>
                <a:ea typeface="楷体_GB2312" pitchFamily="49" charset="-122"/>
              </a:rPr>
              <a:t>互联网变革</a:t>
            </a:r>
            <a:endParaRPr lang="zh-CN" altLang="en-US" sz="1400">
              <a:latin typeface="楷体_GB2312" pitchFamily="49" charset="-122"/>
              <a:ea typeface="楷体_GB2312" pitchFamily="49" charset="-122"/>
            </a:endParaRPr>
          </a:p>
          <a:p>
            <a:pPr>
              <a:spcBef>
                <a:spcPct val="20000"/>
              </a:spcBef>
              <a:buClr>
                <a:schemeClr val="hlink"/>
              </a:buClr>
              <a:buFont typeface="Wingdings" panose="05000000000000000000" pitchFamily="2" charset="2"/>
              <a:buChar char="q"/>
            </a:pPr>
            <a:r>
              <a:rPr lang="zh-CN" altLang="en-US" sz="1400">
                <a:latin typeface="楷体_GB2312" pitchFamily="49" charset="-122"/>
                <a:ea typeface="楷体_GB2312" pitchFamily="49" charset="-122"/>
              </a:rPr>
              <a:t>将数以亿万计的信息孤岛汇集成庞大的信息网络，极大的提高了人类沟通，共享和协作的效率，丰富了社交和娱乐生活</a:t>
            </a:r>
            <a:endParaRPr lang="zh-CN" altLang="en-US" sz="1400">
              <a:latin typeface="楷体_GB2312" pitchFamily="49" charset="-122"/>
              <a:ea typeface="楷体_GB2312" pitchFamily="49" charset="-122"/>
            </a:endParaRPr>
          </a:p>
        </p:txBody>
      </p:sp>
      <p:sp>
        <p:nvSpPr>
          <p:cNvPr id="23" name="TextBox 39"/>
          <p:cNvSpPr txBox="1">
            <a:spLocks noChangeArrowheads="1"/>
          </p:cNvSpPr>
          <p:nvPr/>
        </p:nvSpPr>
        <p:spPr bwMode="auto">
          <a:xfrm>
            <a:off x="6641521" y="5294312"/>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zh-CN" altLang="en-US" sz="1400" b="1">
                <a:latin typeface="Tahoma" panose="020B0604030504040204" pitchFamily="34" charset="0"/>
                <a:ea typeface="华文细黑" panose="02010600040101010101" pitchFamily="2" charset="-122"/>
              </a:rPr>
              <a:t>互联网时代</a:t>
            </a:r>
            <a:endParaRPr lang="zh-CN" altLang="en-US" sz="1400" b="1">
              <a:latin typeface="Tahoma" panose="020B0604030504040204" pitchFamily="34" charset="0"/>
              <a:ea typeface="华文细黑" panose="02010600040101010101" pitchFamily="2" charset="-122"/>
            </a:endParaRPr>
          </a:p>
        </p:txBody>
      </p:sp>
      <p:grpSp>
        <p:nvGrpSpPr>
          <p:cNvPr id="24" name="Group 20"/>
          <p:cNvGrpSpPr/>
          <p:nvPr/>
        </p:nvGrpSpPr>
        <p:grpSpPr bwMode="auto">
          <a:xfrm>
            <a:off x="5454071" y="3949700"/>
            <a:ext cx="1530350" cy="755650"/>
            <a:chOff x="0" y="0"/>
            <a:chExt cx="964" cy="476"/>
          </a:xfrm>
        </p:grpSpPr>
        <p:pic>
          <p:nvPicPr>
            <p:cNvPr id="25" name="Curved Down Arrow 4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64"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22"/>
            <p:cNvSpPr txBox="1">
              <a:spLocks noChangeArrowheads="1"/>
            </p:cNvSpPr>
            <p:nvPr/>
          </p:nvSpPr>
          <p:spPr bwMode="auto">
            <a:xfrm rot="-898770">
              <a:off x="-46" y="35"/>
              <a:ext cx="111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chemeClr val="hlink"/>
                </a:buClr>
                <a:buFont typeface="Arial" panose="020B0604020202020204" pitchFamily="34" charset="0"/>
                <a:buNone/>
              </a:pPr>
              <a:endParaRPr lang="en-US" altLang="zh-CN" sz="1400">
                <a:latin typeface="Times New Roman" panose="02020603050405020304" pitchFamily="18" charset="0"/>
              </a:endParaRPr>
            </a:p>
          </p:txBody>
        </p:sp>
      </p:grpSp>
      <p:sp>
        <p:nvSpPr>
          <p:cNvPr id="27" name="Rectangle 42"/>
          <p:cNvSpPr>
            <a:spLocks noChangeArrowheads="1"/>
          </p:cNvSpPr>
          <p:nvPr/>
        </p:nvSpPr>
        <p:spPr bwMode="auto">
          <a:xfrm>
            <a:off x="7416221" y="2103437"/>
            <a:ext cx="2643187"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chemeClr val="hlink"/>
              </a:buClr>
              <a:buFont typeface="Arial" panose="020B0604020202020204" pitchFamily="34" charset="0"/>
              <a:buNone/>
            </a:pPr>
            <a:r>
              <a:rPr lang="zh-CN" altLang="en-US" sz="1400" b="1">
                <a:latin typeface="楷体_GB2312" pitchFamily="49" charset="-122"/>
                <a:ea typeface="楷体_GB2312" pitchFamily="49" charset="-122"/>
              </a:rPr>
              <a:t>云计算变革</a:t>
            </a:r>
            <a:endParaRPr lang="zh-CN" altLang="en-US" sz="1400">
              <a:latin typeface="楷体_GB2312" pitchFamily="49" charset="-122"/>
              <a:ea typeface="楷体_GB2312" pitchFamily="49" charset="-122"/>
            </a:endParaRPr>
          </a:p>
          <a:p>
            <a:pPr>
              <a:spcBef>
                <a:spcPct val="20000"/>
              </a:spcBef>
              <a:buClr>
                <a:schemeClr val="hlink"/>
              </a:buClr>
              <a:buFont typeface="Wingdings" panose="05000000000000000000" pitchFamily="2" charset="2"/>
              <a:buChar char="q"/>
            </a:pPr>
            <a:r>
              <a:rPr lang="zh-CN" altLang="en-US" sz="1400">
                <a:latin typeface="楷体_GB2312" pitchFamily="49" charset="-122"/>
                <a:ea typeface="楷体_GB2312" pitchFamily="49" charset="-122"/>
              </a:rPr>
              <a:t>将</a:t>
            </a:r>
            <a:r>
              <a:rPr lang="en-US" altLang="zh-CN" sz="1400">
                <a:latin typeface="楷体_GB2312" pitchFamily="49" charset="-122"/>
                <a:ea typeface="楷体_GB2312" pitchFamily="49" charset="-122"/>
              </a:rPr>
              <a:t>IT</a:t>
            </a:r>
            <a:r>
              <a:rPr lang="zh-CN" altLang="en-US" sz="1400">
                <a:latin typeface="楷体_GB2312" pitchFamily="49" charset="-122"/>
                <a:ea typeface="楷体_GB2312" pitchFamily="49" charset="-122"/>
              </a:rPr>
              <a:t>基础设施转变为像水和煤气一样的社会公用基础设施</a:t>
            </a:r>
            <a:endParaRPr lang="zh-CN" altLang="en-US" sz="1400">
              <a:latin typeface="楷体_GB2312" pitchFamily="49" charset="-122"/>
              <a:ea typeface="楷体_GB2312" pitchFamily="49" charset="-122"/>
            </a:endParaRPr>
          </a:p>
          <a:p>
            <a:pPr>
              <a:spcBef>
                <a:spcPct val="20000"/>
              </a:spcBef>
              <a:buClr>
                <a:schemeClr val="hlink"/>
              </a:buClr>
              <a:buFont typeface="Wingdings" panose="05000000000000000000" pitchFamily="2" charset="2"/>
              <a:buChar char="q"/>
            </a:pPr>
            <a:r>
              <a:rPr lang="zh-CN" altLang="en-US" sz="1400">
                <a:latin typeface="楷体_GB2312" pitchFamily="49" charset="-122"/>
                <a:ea typeface="楷体_GB2312" pitchFamily="49" charset="-122"/>
              </a:rPr>
              <a:t>超级数据中心成为</a:t>
            </a:r>
            <a:r>
              <a:rPr lang="en-US" altLang="zh-CN" sz="1400">
                <a:latin typeface="楷体_GB2312" pitchFamily="49" charset="-122"/>
                <a:ea typeface="楷体_GB2312" pitchFamily="49" charset="-122"/>
              </a:rPr>
              <a:t>IT</a:t>
            </a:r>
            <a:r>
              <a:rPr lang="zh-CN" altLang="en-US" sz="1400">
                <a:latin typeface="楷体_GB2312" pitchFamily="49" charset="-122"/>
                <a:ea typeface="楷体_GB2312" pitchFamily="49" charset="-122"/>
              </a:rPr>
              <a:t>资源和服务的提供者</a:t>
            </a:r>
            <a:endParaRPr lang="zh-CN" altLang="en-US" sz="1400">
              <a:latin typeface="楷体_GB2312" pitchFamily="49" charset="-122"/>
              <a:ea typeface="楷体_GB2312" pitchFamily="49" charset="-122"/>
            </a:endParaRPr>
          </a:p>
        </p:txBody>
      </p:sp>
      <p:pic>
        <p:nvPicPr>
          <p:cNvPr id="28" name="Picture 4" descr="http://www.it848.com.cn/uploadfile/200910/2009101009072867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27458" y="3889375"/>
            <a:ext cx="928688" cy="928687"/>
          </a:xfrm>
          <a:prstGeom prst="rect">
            <a:avLst/>
          </a:prstGeom>
          <a:noFill/>
          <a:ln w="57150" cmpd="thinThick">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29" name="Group 25"/>
          <p:cNvGrpSpPr/>
          <p:nvPr/>
        </p:nvGrpSpPr>
        <p:grpSpPr bwMode="auto">
          <a:xfrm>
            <a:off x="7240008" y="3505200"/>
            <a:ext cx="1530350" cy="755650"/>
            <a:chOff x="0" y="0"/>
            <a:chExt cx="964" cy="476"/>
          </a:xfrm>
        </p:grpSpPr>
        <p:pic>
          <p:nvPicPr>
            <p:cNvPr id="30" name="Curved Down Arrow 4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964"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27"/>
            <p:cNvSpPr txBox="1">
              <a:spLocks noChangeArrowheads="1"/>
            </p:cNvSpPr>
            <p:nvPr/>
          </p:nvSpPr>
          <p:spPr bwMode="auto">
            <a:xfrm rot="-898770">
              <a:off x="-46" y="36"/>
              <a:ext cx="111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20000"/>
                </a:spcBef>
                <a:buClr>
                  <a:schemeClr val="hlink"/>
                </a:buClr>
                <a:buFont typeface="Arial" panose="020B0604020202020204" pitchFamily="34" charset="0"/>
                <a:buNone/>
              </a:pPr>
              <a:endParaRPr lang="en-US" altLang="zh-CN" sz="1400">
                <a:latin typeface="Times New Roman" panose="02020603050405020304" pitchFamily="18" charset="0"/>
              </a:endParaRPr>
            </a:p>
          </p:txBody>
        </p:sp>
      </p:grpSp>
      <p:sp>
        <p:nvSpPr>
          <p:cNvPr id="32" name="Rectangle 45"/>
          <p:cNvSpPr>
            <a:spLocks noChangeArrowheads="1"/>
          </p:cNvSpPr>
          <p:nvPr/>
        </p:nvSpPr>
        <p:spPr bwMode="auto">
          <a:xfrm>
            <a:off x="1986971" y="1909762"/>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zh-CN" altLang="en-US" sz="1400" b="1">
                <a:latin typeface="Tahoma" panose="020B0604030504040204" pitchFamily="34" charset="0"/>
                <a:ea typeface="华文细黑" panose="02010600040101010101" pitchFamily="2" charset="-122"/>
              </a:rPr>
              <a:t>技术</a:t>
            </a:r>
            <a:endParaRPr lang="zh-CN" altLang="en-US" sz="1400" b="1">
              <a:latin typeface="Tahoma" panose="020B0604030504040204" pitchFamily="34" charset="0"/>
              <a:ea typeface="华文细黑" panose="02010600040101010101" pitchFamily="2" charset="-122"/>
            </a:endParaRPr>
          </a:p>
        </p:txBody>
      </p:sp>
      <p:sp>
        <p:nvSpPr>
          <p:cNvPr id="33" name="TextBox 46"/>
          <p:cNvSpPr txBox="1">
            <a:spLocks noChangeArrowheads="1"/>
          </p:cNvSpPr>
          <p:nvPr/>
        </p:nvSpPr>
        <p:spPr bwMode="auto">
          <a:xfrm>
            <a:off x="8344908" y="48895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zh-CN" altLang="en-US" sz="1400" b="1">
                <a:latin typeface="Tahoma" panose="020B0604030504040204" pitchFamily="34" charset="0"/>
                <a:ea typeface="华文细黑" panose="02010600040101010101" pitchFamily="2" charset="-122"/>
              </a:rPr>
              <a:t>云计算时代</a:t>
            </a:r>
            <a:endParaRPr lang="zh-CN" altLang="en-US" sz="1400" b="1">
              <a:latin typeface="Tahoma" panose="020B0604030504040204" pitchFamily="34" charset="0"/>
              <a:ea typeface="华文细黑" panose="02010600040101010101" pitchFamily="2" charset="-122"/>
            </a:endParaRPr>
          </a:p>
        </p:txBody>
      </p:sp>
      <p:sp>
        <p:nvSpPr>
          <p:cNvPr id="34" name="Rectangle 48"/>
          <p:cNvSpPr>
            <a:spLocks noChangeArrowheads="1"/>
          </p:cNvSpPr>
          <p:nvPr/>
        </p:nvSpPr>
        <p:spPr bwMode="auto">
          <a:xfrm>
            <a:off x="9702221" y="6553200"/>
            <a:ext cx="53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Font typeface="Arial" panose="020B0604020202020204" pitchFamily="34" charset="0"/>
              <a:buNone/>
            </a:pPr>
            <a:r>
              <a:rPr lang="zh-CN" altLang="en-US" sz="1400" b="1">
                <a:latin typeface="Tahoma" panose="020B0604030504040204" pitchFamily="34" charset="0"/>
                <a:ea typeface="华文细黑" panose="02010600040101010101" pitchFamily="2" charset="-122"/>
              </a:rPr>
              <a:t>时间</a:t>
            </a:r>
            <a:endParaRPr lang="zh-CN" altLang="en-US" sz="1400" b="1">
              <a:latin typeface="Tahoma" panose="020B0604030504040204" pitchFamily="34" charset="0"/>
              <a:ea typeface="华文细黑" panose="02010600040101010101" pitchFamily="2" charset="-122"/>
            </a:endParaRPr>
          </a:p>
        </p:txBody>
      </p:sp>
      <p:sp>
        <p:nvSpPr>
          <p:cNvPr id="35" name="Rectangle 49"/>
          <p:cNvSpPr>
            <a:spLocks noChangeArrowheads="1"/>
          </p:cNvSpPr>
          <p:nvPr/>
        </p:nvSpPr>
        <p:spPr bwMode="auto">
          <a:xfrm>
            <a:off x="2575933" y="1639887"/>
            <a:ext cx="60007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hlink"/>
              </a:buClr>
              <a:buFont typeface="Arial" panose="020B0604020202020204" pitchFamily="34" charset="0"/>
              <a:buNone/>
            </a:pPr>
            <a:r>
              <a:rPr lang="zh-CN" altLang="en-US" b="1" u="sng">
                <a:solidFill>
                  <a:srgbClr val="FF3300"/>
                </a:solidFill>
                <a:latin typeface="Tahoma" panose="020B0604030504040204" pitchFamily="34" charset="0"/>
                <a:ea typeface="华文细黑" panose="02010600040101010101" pitchFamily="2" charset="-122"/>
              </a:rPr>
              <a:t>云计算是继个人计算机、互联网变革之后的又一次</a:t>
            </a:r>
            <a:r>
              <a:rPr lang="en-US" altLang="zh-CN" b="1" u="sng">
                <a:solidFill>
                  <a:srgbClr val="FF3300"/>
                </a:solidFill>
                <a:latin typeface="Tahoma" panose="020B0604030504040204" pitchFamily="34" charset="0"/>
                <a:ea typeface="华文细黑" panose="02010600040101010101" pitchFamily="2" charset="-122"/>
              </a:rPr>
              <a:t>IT</a:t>
            </a:r>
            <a:r>
              <a:rPr lang="zh-CN" altLang="en-US" b="1" u="sng">
                <a:solidFill>
                  <a:srgbClr val="FF3300"/>
                </a:solidFill>
                <a:latin typeface="Tahoma" panose="020B0604030504040204" pitchFamily="34" charset="0"/>
                <a:ea typeface="华文细黑" panose="02010600040101010101" pitchFamily="2" charset="-122"/>
              </a:rPr>
              <a:t>革命</a:t>
            </a:r>
            <a:endParaRPr lang="zh-CN" altLang="en-US" b="1" u="sng">
              <a:solidFill>
                <a:srgbClr val="FF3300"/>
              </a:solidFill>
              <a:latin typeface="Tahoma" panose="020B0604030504040204" pitchFamily="34" charset="0"/>
              <a:ea typeface="华文细黑" panose="02010600040101010101" pitchFamily="2" charset="-122"/>
            </a:endParaRPr>
          </a:p>
        </p:txBody>
      </p:sp>
      <p:sp>
        <p:nvSpPr>
          <p:cNvPr id="36" name="Freeform 33"/>
          <p:cNvSpPr>
            <a:spLocks noChangeArrowheads="1"/>
          </p:cNvSpPr>
          <p:nvPr/>
        </p:nvSpPr>
        <p:spPr bwMode="auto">
          <a:xfrm>
            <a:off x="3464933" y="2397125"/>
            <a:ext cx="6551613" cy="3960812"/>
          </a:xfrm>
          <a:custGeom>
            <a:avLst/>
            <a:gdLst>
              <a:gd name="T0" fmla="*/ 0 w 3810"/>
              <a:gd name="T1" fmla="*/ 3960812 h 2086"/>
              <a:gd name="T2" fmla="*/ 2104770 w 3810"/>
              <a:gd name="T3" fmla="*/ 3529794 h 2086"/>
              <a:gd name="T4" fmla="*/ 4133879 w 3810"/>
              <a:gd name="T5" fmla="*/ 2582313 h 2086"/>
              <a:gd name="T6" fmla="*/ 6004785 w 3810"/>
              <a:gd name="T7" fmla="*/ 860138 h 2086"/>
              <a:gd name="T8" fmla="*/ 6551613 w 3810"/>
              <a:gd name="T9" fmla="*/ 0 h 20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10" h="2086">
                <a:moveTo>
                  <a:pt x="0" y="2086"/>
                </a:moveTo>
                <a:cubicBezTo>
                  <a:pt x="411" y="2033"/>
                  <a:pt x="823" y="1980"/>
                  <a:pt x="1224" y="1859"/>
                </a:cubicBezTo>
                <a:cubicBezTo>
                  <a:pt x="1625" y="1738"/>
                  <a:pt x="2026" y="1594"/>
                  <a:pt x="2404" y="1360"/>
                </a:cubicBezTo>
                <a:cubicBezTo>
                  <a:pt x="2782" y="1126"/>
                  <a:pt x="3258" y="680"/>
                  <a:pt x="3492" y="453"/>
                </a:cubicBezTo>
                <a:cubicBezTo>
                  <a:pt x="3726" y="226"/>
                  <a:pt x="3757" y="76"/>
                  <a:pt x="3810" y="0"/>
                </a:cubicBezTo>
              </a:path>
            </a:pathLst>
          </a:custGeom>
          <a:noFill/>
          <a:ln w="44450">
            <a:solidFill>
              <a:schemeClr val="accent2"/>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云计算定义</a:t>
            </a:r>
            <a:endParaRPr lang="en-US" altLang="zh-CN" dirty="0"/>
          </a:p>
          <a:p>
            <a:pPr lvl="1"/>
            <a:r>
              <a:rPr lang="zh-CN" altLang="en-US" dirty="0"/>
              <a:t>云计算</a:t>
            </a:r>
            <a:r>
              <a:rPr lang="en-US" altLang="zh-CN" dirty="0"/>
              <a:t>(Cloud Computing )</a:t>
            </a:r>
            <a:r>
              <a:rPr lang="zh-CN" altLang="en-US" dirty="0"/>
              <a:t>是分布式处理</a:t>
            </a:r>
            <a:r>
              <a:rPr lang="en-US" altLang="zh-CN" dirty="0"/>
              <a:t>(Distributed Computing)</a:t>
            </a:r>
            <a:r>
              <a:rPr lang="zh-CN" altLang="en-US" dirty="0"/>
              <a:t>、并行处理</a:t>
            </a:r>
            <a:r>
              <a:rPr lang="en-US" altLang="zh-CN" dirty="0"/>
              <a:t>(Parallel Computing)</a:t>
            </a:r>
            <a:r>
              <a:rPr lang="zh-CN" altLang="en-US" dirty="0"/>
              <a:t>和网格计算</a:t>
            </a:r>
            <a:r>
              <a:rPr lang="en-US" altLang="zh-CN" dirty="0"/>
              <a:t>(Grid Computing)</a:t>
            </a:r>
            <a:r>
              <a:rPr lang="zh-CN" altLang="en-US" dirty="0"/>
              <a:t>的发展，或者说是这些计算机科学概念的商业实现。</a:t>
            </a:r>
            <a:endParaRPr lang="zh-CN" altLang="en-US" dirty="0"/>
          </a:p>
          <a:p>
            <a:pPr lvl="1"/>
            <a:r>
              <a:rPr lang="zh-CN" altLang="en-US" dirty="0"/>
              <a:t>云计算是指基于互联网的超级计算模式</a:t>
            </a:r>
            <a:r>
              <a:rPr lang="en-US" altLang="zh-CN" dirty="0"/>
              <a:t>--</a:t>
            </a:r>
            <a:r>
              <a:rPr lang="zh-CN" altLang="en-US" dirty="0"/>
              <a:t>即把存储于个人电脑、移动电话和其他设备上的大量信息和处理器资源集中在一起，协同工作。在极大规模上可扩展的信息技术能力向外部客户作为服务来提供的一种计算方式。</a:t>
            </a:r>
            <a:endParaRPr lang="zh-CN" altLang="en-US" dirty="0"/>
          </a:p>
          <a:p>
            <a:pPr lvl="1"/>
            <a:r>
              <a:rPr lang="zh-CN" altLang="en-US" dirty="0"/>
              <a:t>使得计算资源如同用水、用电、用燃气一样</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
        <p:nvSpPr>
          <p:cNvPr id="6" name="Cloud"/>
          <p:cNvSpPr>
            <a:spLocks noChangeAspect="1" noEditPoints="1" noChangeArrowheads="1"/>
          </p:cNvSpPr>
          <p:nvPr/>
        </p:nvSpPr>
        <p:spPr bwMode="auto">
          <a:xfrm>
            <a:off x="4037007" y="4138980"/>
            <a:ext cx="4432300" cy="1363663"/>
          </a:xfrm>
          <a:custGeom>
            <a:avLst/>
            <a:gdLst>
              <a:gd name="T0" fmla="*/ 399933 w 21600"/>
              <a:gd name="T1" fmla="*/ 453292 h 21600"/>
              <a:gd name="T2" fmla="*/ 0 w 21600"/>
              <a:gd name="T3" fmla="*/ 639975 h 21600"/>
              <a:gd name="T4" fmla="*/ 220384 w 21600"/>
              <a:gd name="T5" fmla="*/ 801910 h 21600"/>
              <a:gd name="T6" fmla="*/ 218127 w 21600"/>
              <a:gd name="T7" fmla="*/ 799763 h 21600"/>
              <a:gd name="T8" fmla="*/ 97470 w 21600"/>
              <a:gd name="T9" fmla="*/ 927417 h 21600"/>
              <a:gd name="T10" fmla="*/ 544804 w 21600"/>
              <a:gd name="T11" fmla="*/ 1114289 h 21600"/>
              <a:gd name="T12" fmla="*/ 596924 w 21600"/>
              <a:gd name="T13" fmla="*/ 1112964 h 21600"/>
              <a:gd name="T14" fmla="*/ 594462 w 21600"/>
              <a:gd name="T15" fmla="*/ 1114226 h 21600"/>
              <a:gd name="T16" fmla="*/ 1281879 w 21600"/>
              <a:gd name="T17" fmla="*/ 1281591 h 21600"/>
              <a:gd name="T18" fmla="*/ 1689814 w 21600"/>
              <a:gd name="T19" fmla="*/ 1233989 h 21600"/>
              <a:gd name="T20" fmla="*/ 1688583 w 21600"/>
              <a:gd name="T21" fmla="*/ 1234241 h 21600"/>
              <a:gd name="T22" fmla="*/ 2264577 w 21600"/>
              <a:gd name="T23" fmla="*/ 1363474 h 21600"/>
              <a:gd name="T24" fmla="*/ 2927575 w 21600"/>
              <a:gd name="T25" fmla="*/ 1156841 h 21600"/>
              <a:gd name="T26" fmla="*/ 2928191 w 21600"/>
              <a:gd name="T27" fmla="*/ 1158482 h 21600"/>
              <a:gd name="T28" fmla="*/ 3242556 w 21600"/>
              <a:gd name="T29" fmla="*/ 1196172 h 21600"/>
              <a:gd name="T30" fmla="*/ 3835991 w 21600"/>
              <a:gd name="T31" fmla="*/ 949829 h 21600"/>
              <a:gd name="T32" fmla="*/ 3834965 w 21600"/>
              <a:gd name="T33" fmla="*/ 949198 h 21600"/>
              <a:gd name="T34" fmla="*/ 4431684 w 21600"/>
              <a:gd name="T35" fmla="*/ 661124 h 21600"/>
              <a:gd name="T36" fmla="*/ 4287840 w 21600"/>
              <a:gd name="T37" fmla="*/ 483785 h 21600"/>
              <a:gd name="T38" fmla="*/ 4286403 w 21600"/>
              <a:gd name="T39" fmla="*/ 483658 h 21600"/>
              <a:gd name="T40" fmla="*/ 4330726 w 21600"/>
              <a:gd name="T41" fmla="*/ 393189 h 21600"/>
              <a:gd name="T42" fmla="*/ 3927305 w 21600"/>
              <a:gd name="T43" fmla="*/ 171657 h 21600"/>
              <a:gd name="T44" fmla="*/ 3929152 w 21600"/>
              <a:gd name="T45" fmla="*/ 171215 h 21600"/>
              <a:gd name="T46" fmla="*/ 3438726 w 21600"/>
              <a:gd name="T47" fmla="*/ 0 h 21600"/>
              <a:gd name="T48" fmla="*/ 3058492 w 21600"/>
              <a:gd name="T49" fmla="*/ 73549 h 21600"/>
              <a:gd name="T50" fmla="*/ 3059313 w 21600"/>
              <a:gd name="T51" fmla="*/ 73865 h 21600"/>
              <a:gd name="T52" fmla="*/ 2703293 w 21600"/>
              <a:gd name="T53" fmla="*/ 0 h 21600"/>
              <a:gd name="T54" fmla="*/ 2302539 w 21600"/>
              <a:gd name="T55" fmla="*/ 103853 h 21600"/>
              <a:gd name="T56" fmla="*/ 2304180 w 21600"/>
              <a:gd name="T57" fmla="*/ 106947 h 21600"/>
              <a:gd name="T58" fmla="*/ 1920253 w 21600"/>
              <a:gd name="T59" fmla="*/ 41036 h 21600"/>
              <a:gd name="T60" fmla="*/ 1437009 w 21600"/>
              <a:gd name="T61" fmla="*/ 162756 h 21600"/>
              <a:gd name="T62" fmla="*/ 1435368 w 21600"/>
              <a:gd name="T63" fmla="*/ 164271 h 21600"/>
              <a:gd name="T64" fmla="*/ 1085093 w 21600"/>
              <a:gd name="T65" fmla="*/ 124497 h 21600"/>
              <a:gd name="T66" fmla="*/ 392341 w 21600"/>
              <a:gd name="T67" fmla="*/ 414591 h 21600"/>
              <a:gd name="T68" fmla="*/ 398497 w 21600"/>
              <a:gd name="T69" fmla="*/ 453670 h 21600"/>
              <a:gd name="T70" fmla="*/ 399933 w 21600"/>
              <a:gd name="T71" fmla="*/ 453292 h 21600"/>
              <a:gd name="T72" fmla="*/ 220384 w 21600"/>
              <a:gd name="T73" fmla="*/ 801910 h 21600"/>
              <a:gd name="T74" fmla="*/ 445692 w 21600"/>
              <a:gd name="T75" fmla="*/ 827668 h 21600"/>
              <a:gd name="T76" fmla="*/ 480371 w 21600"/>
              <a:gd name="T77" fmla="*/ 827099 h 21600"/>
              <a:gd name="T78" fmla="*/ 596924 w 21600"/>
              <a:gd name="T79" fmla="*/ 1112964 h 21600"/>
              <a:gd name="T80" fmla="*/ 710604 w 21600"/>
              <a:gd name="T81" fmla="*/ 1100968 h 21600"/>
              <a:gd name="T82" fmla="*/ 1620047 w 21600"/>
              <a:gd name="T83" fmla="*/ 1179316 h 21600"/>
              <a:gd name="T84" fmla="*/ 1688583 w 21600"/>
              <a:gd name="T85" fmla="*/ 1234241 h 21600"/>
              <a:gd name="T86" fmla="*/ 2927575 w 21600"/>
              <a:gd name="T87" fmla="*/ 1156841 h 21600"/>
              <a:gd name="T88" fmla="*/ 2954867 w 21600"/>
              <a:gd name="T89" fmla="*/ 1096612 h 21600"/>
              <a:gd name="T90" fmla="*/ 3835991 w 21600"/>
              <a:gd name="T91" fmla="*/ 949829 h 21600"/>
              <a:gd name="T92" fmla="*/ 3836197 w 21600"/>
              <a:gd name="T93" fmla="*/ 947809 h 21600"/>
              <a:gd name="T94" fmla="*/ 3502543 w 21600"/>
              <a:gd name="T95" fmla="*/ 724572 h 21600"/>
              <a:gd name="T96" fmla="*/ 4137839 w 21600"/>
              <a:gd name="T97" fmla="*/ 568130 h 21600"/>
              <a:gd name="T98" fmla="*/ 4286403 w 21600"/>
              <a:gd name="T99" fmla="*/ 483658 h 21600"/>
              <a:gd name="T100" fmla="*/ 3936949 w 21600"/>
              <a:gd name="T101" fmla="*/ 211115 h 21600"/>
              <a:gd name="T102" fmla="*/ 3937155 w 21600"/>
              <a:gd name="T103" fmla="*/ 208148 h 21600"/>
              <a:gd name="T104" fmla="*/ 3929152 w 21600"/>
              <a:gd name="T105" fmla="*/ 171215 h 21600"/>
              <a:gd name="T106" fmla="*/ 3058492 w 21600"/>
              <a:gd name="T107" fmla="*/ 73549 h 21600"/>
              <a:gd name="T108" fmla="*/ 2982569 w 21600"/>
              <a:gd name="T109" fmla="*/ 124434 h 21600"/>
              <a:gd name="T110" fmla="*/ 2302539 w 21600"/>
              <a:gd name="T111" fmla="*/ 103853 h 21600"/>
              <a:gd name="T112" fmla="*/ 2265603 w 21600"/>
              <a:gd name="T113" fmla="*/ 147730 h 21600"/>
              <a:gd name="T114" fmla="*/ 1568747 w 21600"/>
              <a:gd name="T115" fmla="*/ 206822 h 21600"/>
              <a:gd name="T116" fmla="*/ 1435368 w 21600"/>
              <a:gd name="T117" fmla="*/ 164271 h 21600"/>
              <a:gd name="T118" fmla="*/ 398497 w 21600"/>
              <a:gd name="T119" fmla="*/ 453670 h 21600"/>
              <a:gd name="T120" fmla="*/ 421889 w 21600"/>
              <a:gd name="T121" fmla="*/ 498431 h 2160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600" h="2160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a:moveTo>
                  <a:pt x="1074" y="12702"/>
                </a:moveTo>
                <a:cubicBezTo>
                  <a:pt x="1407" y="12969"/>
                  <a:pt x="1786" y="13110"/>
                  <a:pt x="2172" y="13110"/>
                </a:cubicBezTo>
                <a:cubicBezTo>
                  <a:pt x="2228" y="13109"/>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gradFill rotWithShape="1">
            <a:gsLst>
              <a:gs pos="0">
                <a:srgbClr val="DFDFFF">
                  <a:alpha val="79999"/>
                </a:srgbClr>
              </a:gs>
              <a:gs pos="100000">
                <a:srgbClr val="FFFFFF">
                  <a:alpha val="79999"/>
                </a:srgbClr>
              </a:gs>
            </a:gsLst>
            <a:lin ang="5400000" scaled="1"/>
          </a:gradFill>
          <a:ln w="9525">
            <a:solidFill>
              <a:srgbClr val="000000"/>
            </a:solidFill>
            <a:round/>
          </a:ln>
          <a:effectLst>
            <a:outerShdw dist="107763" dir="2700000" algn="ctr" rotWithShape="0">
              <a:srgbClr val="808080">
                <a:alpha val="50000"/>
              </a:srgbClr>
            </a:outerShdw>
          </a:effectLst>
        </p:spPr>
        <p:txBody>
          <a:bodyPr/>
          <a:lstStyle/>
          <a:p>
            <a:endParaRPr lang="zh-CN" altLang="en-US"/>
          </a:p>
        </p:txBody>
      </p:sp>
      <p:pic>
        <p:nvPicPr>
          <p:cNvPr id="7" name="Picture 5" descr="tpr52_with_fpr_fromright"/>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27782" y="5651868"/>
            <a:ext cx="126523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IBM System z9 109"/>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8540745" y="4880343"/>
            <a:ext cx="9779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descr="13148_MotImag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35270" y="4859705"/>
            <a:ext cx="690562" cy="990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Line 8"/>
          <p:cNvSpPr>
            <a:spLocks noChangeShapeType="1"/>
          </p:cNvSpPr>
          <p:nvPr/>
        </p:nvSpPr>
        <p:spPr bwMode="auto">
          <a:xfrm flipV="1">
            <a:off x="3386132" y="5045443"/>
            <a:ext cx="774700" cy="838200"/>
          </a:xfrm>
          <a:prstGeom prst="line">
            <a:avLst/>
          </a:prstGeom>
          <a:noFill/>
          <a:ln w="28575">
            <a:solidFill>
              <a:srgbClr val="CCECFF"/>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11" name="Line 9"/>
          <p:cNvSpPr>
            <a:spLocks noChangeShapeType="1"/>
          </p:cNvSpPr>
          <p:nvPr/>
        </p:nvSpPr>
        <p:spPr bwMode="auto">
          <a:xfrm flipV="1">
            <a:off x="6411907" y="5197843"/>
            <a:ext cx="0" cy="838200"/>
          </a:xfrm>
          <a:prstGeom prst="line">
            <a:avLst/>
          </a:prstGeom>
          <a:noFill/>
          <a:ln w="28575">
            <a:solidFill>
              <a:srgbClr val="CCECFF"/>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0"/>
          <p:cNvSpPr>
            <a:spLocks noChangeShapeType="1"/>
          </p:cNvSpPr>
          <p:nvPr/>
        </p:nvSpPr>
        <p:spPr bwMode="auto">
          <a:xfrm flipH="1" flipV="1">
            <a:off x="8616945" y="4570780"/>
            <a:ext cx="422275" cy="304800"/>
          </a:xfrm>
          <a:prstGeom prst="line">
            <a:avLst/>
          </a:prstGeom>
          <a:noFill/>
          <a:ln w="28575">
            <a:solidFill>
              <a:srgbClr val="CCECFF"/>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13" name="Text Box 11"/>
          <p:cNvSpPr txBox="1">
            <a:spLocks noChangeArrowheads="1"/>
          </p:cNvSpPr>
          <p:nvPr/>
        </p:nvSpPr>
        <p:spPr bwMode="auto">
          <a:xfrm>
            <a:off x="2170107" y="6012230"/>
            <a:ext cx="219392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1400" b="1" i="1">
                <a:latin typeface="Verdana" panose="020B0604030504040204" pitchFamily="34" charset="0"/>
              </a:rPr>
              <a:t>40</a:t>
            </a:r>
            <a:r>
              <a:rPr lang="zh-CN" altLang="en-US" sz="1400" b="1">
                <a:latin typeface="Verdana" panose="020B0604030504040204" pitchFamily="34" charset="0"/>
              </a:rPr>
              <a:t>多亿的移动电话</a:t>
            </a:r>
            <a:r>
              <a:rPr lang="zh-CN" altLang="en-US" sz="1400" b="1" i="1">
                <a:latin typeface="Verdana" panose="020B0604030504040204" pitchFamily="34" charset="0"/>
              </a:rPr>
              <a:t>一</a:t>
            </a:r>
            <a:r>
              <a:rPr lang="zh-CN" altLang="en-US" sz="1400" i="1">
                <a:latin typeface="Verdana" panose="020B0604030504040204" pitchFamily="34" charset="0"/>
              </a:rPr>
              <a:t> </a:t>
            </a:r>
            <a:r>
              <a:rPr lang="en-US" altLang="zh-CN" sz="1400" i="1">
                <a:latin typeface="Verdana" panose="020B0604030504040204" pitchFamily="34" charset="0"/>
              </a:rPr>
              <a:t>2010</a:t>
            </a:r>
            <a:r>
              <a:rPr lang="zh-CN" altLang="en-US" sz="1400" i="1">
                <a:latin typeface="Verdana" panose="020B0604030504040204" pitchFamily="34" charset="0"/>
              </a:rPr>
              <a:t>年 </a:t>
            </a:r>
            <a:r>
              <a:rPr lang="en-US" altLang="zh-CN" sz="1400" i="1">
                <a:latin typeface="Verdana" panose="020B0604030504040204" pitchFamily="34" charset="0"/>
              </a:rPr>
              <a:t>[</a:t>
            </a:r>
            <a:r>
              <a:rPr lang="zh-CN" altLang="en-US" sz="1400" i="1">
                <a:latin typeface="Verdana" panose="020B0604030504040204" pitchFamily="34" charset="0"/>
              </a:rPr>
              <a:t>数据来源</a:t>
            </a:r>
            <a:r>
              <a:rPr lang="en-US" altLang="zh-CN" sz="1400" i="1">
                <a:latin typeface="Verdana" panose="020B0604030504040204" pitchFamily="34" charset="0"/>
              </a:rPr>
              <a:t>: Nokia]</a:t>
            </a:r>
            <a:endParaRPr lang="en-US" altLang="zh-CN" sz="1400" i="1">
              <a:latin typeface="Verdana" panose="020B0604030504040204" pitchFamily="34" charset="0"/>
              <a:cs typeface="Arial" panose="020B0604020202020204" pitchFamily="34" charset="0"/>
            </a:endParaRPr>
          </a:p>
        </p:txBody>
      </p:sp>
      <p:sp>
        <p:nvSpPr>
          <p:cNvPr id="14" name="Text Box 12"/>
          <p:cNvSpPr txBox="1">
            <a:spLocks noChangeArrowheads="1"/>
          </p:cNvSpPr>
          <p:nvPr/>
        </p:nvSpPr>
        <p:spPr bwMode="auto">
          <a:xfrm>
            <a:off x="7513632" y="6215186"/>
            <a:ext cx="17907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400" b="1" dirty="0">
                <a:latin typeface="Verdana" panose="020B0604030504040204" pitchFamily="34" charset="0"/>
              </a:rPr>
              <a:t>个人电脑和</a:t>
            </a:r>
            <a:endParaRPr lang="zh-CN" altLang="en-US" sz="1400" b="1" dirty="0">
              <a:latin typeface="Verdana" panose="020B0604030504040204" pitchFamily="34" charset="0"/>
            </a:endParaRPr>
          </a:p>
          <a:p>
            <a:pPr eaLnBrk="1" hangingPunct="1">
              <a:buFont typeface="Arial" panose="020B0604020202020204" pitchFamily="34" charset="0"/>
              <a:buNone/>
            </a:pPr>
            <a:r>
              <a:rPr lang="zh-CN" altLang="en-US" sz="1400" b="1" dirty="0">
                <a:latin typeface="Verdana" panose="020B0604030504040204" pitchFamily="34" charset="0"/>
              </a:rPr>
              <a:t>笔记本电脑</a:t>
            </a:r>
            <a:endParaRPr lang="zh-CN" altLang="en-US" sz="1400" b="1" dirty="0">
              <a:latin typeface="Verdana" panose="020B0604030504040204" pitchFamily="34" charset="0"/>
              <a:cs typeface="Arial" panose="020B0604020202020204" pitchFamily="34" charset="0"/>
            </a:endParaRPr>
          </a:p>
        </p:txBody>
      </p:sp>
      <p:sp>
        <p:nvSpPr>
          <p:cNvPr id="15" name="Text Box 13"/>
          <p:cNvSpPr txBox="1">
            <a:spLocks noChangeArrowheads="1"/>
          </p:cNvSpPr>
          <p:nvPr/>
        </p:nvSpPr>
        <p:spPr bwMode="auto">
          <a:xfrm>
            <a:off x="9548807" y="4788268"/>
            <a:ext cx="9413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400" b="1">
                <a:latin typeface="Verdana" panose="020B0604030504040204" pitchFamily="34" charset="0"/>
              </a:rPr>
              <a:t>企业电脑</a:t>
            </a:r>
            <a:endParaRPr lang="zh-CN" altLang="en-US" sz="1400" b="1">
              <a:latin typeface="Verdana" panose="020B0604030504040204" pitchFamily="34" charset="0"/>
            </a:endParaRPr>
          </a:p>
          <a:p>
            <a:pPr eaLnBrk="1" hangingPunct="1">
              <a:buFont typeface="Arial" panose="020B0604020202020204" pitchFamily="34" charset="0"/>
              <a:buNone/>
            </a:pPr>
            <a:r>
              <a:rPr lang="zh-CN" altLang="en-US" sz="1400" b="1">
                <a:latin typeface="Verdana" panose="020B0604030504040204" pitchFamily="34" charset="0"/>
              </a:rPr>
              <a:t>和服务器</a:t>
            </a:r>
            <a:endParaRPr lang="zh-CN" altLang="en-US" sz="1400">
              <a:latin typeface="Verdana" panose="020B0604030504040204" pitchFamily="34" charset="0"/>
              <a:cs typeface="Arial" panose="020B0604020202020204" pitchFamily="34" charset="0"/>
            </a:endParaRPr>
          </a:p>
        </p:txBody>
      </p:sp>
      <p:pic>
        <p:nvPicPr>
          <p:cNvPr id="16" name="Picture 14"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6220" y="43596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5"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9782" y="42834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6"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1670" y="4588243"/>
            <a:ext cx="188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7"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4182" y="48930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8"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4870" y="4207243"/>
            <a:ext cx="188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9"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695" y="45882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20"/>
          <p:cNvSpPr>
            <a:spLocks noChangeShapeType="1"/>
          </p:cNvSpPr>
          <p:nvPr/>
        </p:nvSpPr>
        <p:spPr bwMode="auto">
          <a:xfrm flipV="1">
            <a:off x="5778495" y="4512043"/>
            <a:ext cx="773112" cy="20955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1"/>
          <p:cNvSpPr>
            <a:spLocks noChangeShapeType="1"/>
          </p:cNvSpPr>
          <p:nvPr/>
        </p:nvSpPr>
        <p:spPr bwMode="auto">
          <a:xfrm flipH="1">
            <a:off x="5567357" y="4664443"/>
            <a:ext cx="141288"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4" name="Line 22"/>
          <p:cNvSpPr>
            <a:spLocks noChangeShapeType="1"/>
          </p:cNvSpPr>
          <p:nvPr/>
        </p:nvSpPr>
        <p:spPr bwMode="auto">
          <a:xfrm>
            <a:off x="6200770" y="5197843"/>
            <a:ext cx="350837"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5" name="Line 23"/>
          <p:cNvSpPr>
            <a:spLocks noChangeShapeType="1"/>
          </p:cNvSpPr>
          <p:nvPr/>
        </p:nvSpPr>
        <p:spPr bwMode="auto">
          <a:xfrm>
            <a:off x="6059482" y="4588243"/>
            <a:ext cx="211138" cy="28575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6" name="Line 24"/>
          <p:cNvSpPr>
            <a:spLocks noChangeShapeType="1"/>
          </p:cNvSpPr>
          <p:nvPr/>
        </p:nvSpPr>
        <p:spPr bwMode="auto">
          <a:xfrm flipV="1">
            <a:off x="6481757" y="4873993"/>
            <a:ext cx="141288" cy="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7" name="Line 25"/>
          <p:cNvSpPr>
            <a:spLocks noChangeShapeType="1"/>
          </p:cNvSpPr>
          <p:nvPr/>
        </p:nvSpPr>
        <p:spPr bwMode="auto">
          <a:xfrm flipV="1">
            <a:off x="6623045" y="5045443"/>
            <a:ext cx="211137" cy="20955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 name="Line 26"/>
          <p:cNvSpPr>
            <a:spLocks noChangeShapeType="1"/>
          </p:cNvSpPr>
          <p:nvPr/>
        </p:nvSpPr>
        <p:spPr bwMode="auto">
          <a:xfrm>
            <a:off x="6692895" y="4492993"/>
            <a:ext cx="280987"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 name="Line 27"/>
          <p:cNvSpPr>
            <a:spLocks noChangeShapeType="1"/>
          </p:cNvSpPr>
          <p:nvPr/>
        </p:nvSpPr>
        <p:spPr bwMode="auto">
          <a:xfrm flipV="1">
            <a:off x="6059482" y="4416793"/>
            <a:ext cx="492125"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0" name="Line 28"/>
          <p:cNvSpPr>
            <a:spLocks noChangeShapeType="1"/>
          </p:cNvSpPr>
          <p:nvPr/>
        </p:nvSpPr>
        <p:spPr bwMode="auto">
          <a:xfrm flipV="1">
            <a:off x="6973882" y="4969243"/>
            <a:ext cx="211138"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1" name="Line 29"/>
          <p:cNvSpPr>
            <a:spLocks noChangeShapeType="1"/>
          </p:cNvSpPr>
          <p:nvPr/>
        </p:nvSpPr>
        <p:spPr bwMode="auto">
          <a:xfrm flipV="1">
            <a:off x="6762745" y="4721593"/>
            <a:ext cx="211137"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2" name="Line 30"/>
          <p:cNvSpPr>
            <a:spLocks noChangeShapeType="1"/>
          </p:cNvSpPr>
          <p:nvPr/>
        </p:nvSpPr>
        <p:spPr bwMode="auto">
          <a:xfrm flipV="1">
            <a:off x="6411907" y="4645393"/>
            <a:ext cx="561975" cy="9525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3" name="Line 31"/>
          <p:cNvSpPr>
            <a:spLocks noChangeShapeType="1"/>
          </p:cNvSpPr>
          <p:nvPr/>
        </p:nvSpPr>
        <p:spPr bwMode="auto">
          <a:xfrm flipV="1">
            <a:off x="6623045" y="4721593"/>
            <a:ext cx="420687" cy="3810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4" name="Line 32"/>
          <p:cNvSpPr>
            <a:spLocks noChangeShapeType="1"/>
          </p:cNvSpPr>
          <p:nvPr/>
        </p:nvSpPr>
        <p:spPr bwMode="auto">
          <a:xfrm>
            <a:off x="5708645" y="4797793"/>
            <a:ext cx="280987" cy="3048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5" name="Line 33"/>
          <p:cNvSpPr>
            <a:spLocks noChangeShapeType="1"/>
          </p:cNvSpPr>
          <p:nvPr/>
        </p:nvSpPr>
        <p:spPr bwMode="auto">
          <a:xfrm>
            <a:off x="5778495" y="4740643"/>
            <a:ext cx="703262" cy="457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6" name="Line 34"/>
          <p:cNvSpPr>
            <a:spLocks noChangeShapeType="1"/>
          </p:cNvSpPr>
          <p:nvPr/>
        </p:nvSpPr>
        <p:spPr bwMode="auto">
          <a:xfrm flipV="1">
            <a:off x="5778495" y="4873993"/>
            <a:ext cx="492125"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7" name="Line 35"/>
          <p:cNvSpPr>
            <a:spLocks noChangeShapeType="1"/>
          </p:cNvSpPr>
          <p:nvPr/>
        </p:nvSpPr>
        <p:spPr bwMode="auto">
          <a:xfrm flipV="1">
            <a:off x="5286370" y="4664443"/>
            <a:ext cx="350837" cy="3810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8" name="Line 36"/>
          <p:cNvSpPr>
            <a:spLocks noChangeShapeType="1"/>
          </p:cNvSpPr>
          <p:nvPr/>
        </p:nvSpPr>
        <p:spPr bwMode="auto">
          <a:xfrm>
            <a:off x="6059482" y="4435843"/>
            <a:ext cx="492125" cy="28575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9" name="Line 37"/>
          <p:cNvSpPr>
            <a:spLocks noChangeShapeType="1"/>
          </p:cNvSpPr>
          <p:nvPr/>
        </p:nvSpPr>
        <p:spPr bwMode="auto">
          <a:xfrm>
            <a:off x="6411907" y="4950193"/>
            <a:ext cx="422275" cy="9525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0" name="Line 38"/>
          <p:cNvSpPr>
            <a:spLocks noChangeShapeType="1"/>
          </p:cNvSpPr>
          <p:nvPr/>
        </p:nvSpPr>
        <p:spPr bwMode="auto">
          <a:xfrm flipV="1">
            <a:off x="6692895" y="4645393"/>
            <a:ext cx="0" cy="9525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1" name="Line 39"/>
          <p:cNvSpPr>
            <a:spLocks noChangeShapeType="1"/>
          </p:cNvSpPr>
          <p:nvPr/>
        </p:nvSpPr>
        <p:spPr bwMode="auto">
          <a:xfrm flipV="1">
            <a:off x="6340470" y="4492993"/>
            <a:ext cx="211137"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42" name="Line 40"/>
          <p:cNvSpPr>
            <a:spLocks noChangeShapeType="1"/>
          </p:cNvSpPr>
          <p:nvPr/>
        </p:nvSpPr>
        <p:spPr bwMode="auto">
          <a:xfrm flipH="1" flipV="1">
            <a:off x="6411907" y="4950193"/>
            <a:ext cx="69850"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pic>
        <p:nvPicPr>
          <p:cNvPr id="43" name="Picture 41"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5232" y="502639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2"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7207" y="44358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43"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3945" y="45120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44"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2807" y="49692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45"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8832" y="48168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46"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1757" y="50454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47"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6007" y="47406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Line 48"/>
          <p:cNvSpPr>
            <a:spLocks noChangeShapeType="1"/>
          </p:cNvSpPr>
          <p:nvPr/>
        </p:nvSpPr>
        <p:spPr bwMode="auto">
          <a:xfrm flipV="1">
            <a:off x="5145082" y="4512043"/>
            <a:ext cx="211138"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1" name="Line 49"/>
          <p:cNvSpPr>
            <a:spLocks noChangeShapeType="1"/>
          </p:cNvSpPr>
          <p:nvPr/>
        </p:nvSpPr>
        <p:spPr bwMode="auto">
          <a:xfrm>
            <a:off x="5637207" y="5045443"/>
            <a:ext cx="141288"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2" name="Line 50"/>
          <p:cNvSpPr>
            <a:spLocks noChangeShapeType="1"/>
          </p:cNvSpPr>
          <p:nvPr/>
        </p:nvSpPr>
        <p:spPr bwMode="auto">
          <a:xfrm flipV="1">
            <a:off x="4722807" y="4664443"/>
            <a:ext cx="211138"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3" name="Line 51"/>
          <p:cNvSpPr>
            <a:spLocks noChangeShapeType="1"/>
          </p:cNvSpPr>
          <p:nvPr/>
        </p:nvSpPr>
        <p:spPr bwMode="auto">
          <a:xfrm flipV="1">
            <a:off x="5286370" y="5045443"/>
            <a:ext cx="211137"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4" name="Line 52"/>
          <p:cNvSpPr>
            <a:spLocks noChangeShapeType="1"/>
          </p:cNvSpPr>
          <p:nvPr/>
        </p:nvSpPr>
        <p:spPr bwMode="auto">
          <a:xfrm>
            <a:off x="4933945" y="5121643"/>
            <a:ext cx="141287"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5" name="Line 53"/>
          <p:cNvSpPr>
            <a:spLocks noChangeShapeType="1"/>
          </p:cNvSpPr>
          <p:nvPr/>
        </p:nvSpPr>
        <p:spPr bwMode="auto">
          <a:xfrm>
            <a:off x="4652957" y="4816843"/>
            <a:ext cx="69850"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6" name="Line 54"/>
          <p:cNvSpPr>
            <a:spLocks noChangeShapeType="1"/>
          </p:cNvSpPr>
          <p:nvPr/>
        </p:nvSpPr>
        <p:spPr bwMode="auto">
          <a:xfrm>
            <a:off x="4652957" y="4816843"/>
            <a:ext cx="422275"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7" name="Line 55"/>
          <p:cNvSpPr>
            <a:spLocks noChangeShapeType="1"/>
          </p:cNvSpPr>
          <p:nvPr/>
        </p:nvSpPr>
        <p:spPr bwMode="auto">
          <a:xfrm flipH="1" flipV="1">
            <a:off x="5005382" y="4740643"/>
            <a:ext cx="139700"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8" name="Line 56"/>
          <p:cNvSpPr>
            <a:spLocks noChangeShapeType="1"/>
          </p:cNvSpPr>
          <p:nvPr/>
        </p:nvSpPr>
        <p:spPr bwMode="auto">
          <a:xfrm flipV="1">
            <a:off x="4794245" y="4740643"/>
            <a:ext cx="211137"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59" name="Line 57"/>
          <p:cNvSpPr>
            <a:spLocks noChangeShapeType="1"/>
          </p:cNvSpPr>
          <p:nvPr/>
        </p:nvSpPr>
        <p:spPr bwMode="auto">
          <a:xfrm>
            <a:off x="5145082" y="4740643"/>
            <a:ext cx="352425"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0" name="Line 58"/>
          <p:cNvSpPr>
            <a:spLocks noChangeShapeType="1"/>
          </p:cNvSpPr>
          <p:nvPr/>
        </p:nvSpPr>
        <p:spPr bwMode="auto">
          <a:xfrm flipH="1" flipV="1">
            <a:off x="5426070" y="4664443"/>
            <a:ext cx="71437"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1" name="Line 59"/>
          <p:cNvSpPr>
            <a:spLocks noChangeShapeType="1"/>
          </p:cNvSpPr>
          <p:nvPr/>
        </p:nvSpPr>
        <p:spPr bwMode="auto">
          <a:xfrm flipV="1">
            <a:off x="5848345" y="4435843"/>
            <a:ext cx="71437"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2" name="Line 60"/>
          <p:cNvSpPr>
            <a:spLocks noChangeShapeType="1"/>
          </p:cNvSpPr>
          <p:nvPr/>
        </p:nvSpPr>
        <p:spPr bwMode="auto">
          <a:xfrm flipV="1">
            <a:off x="5567357" y="4359643"/>
            <a:ext cx="352425"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3" name="Line 61"/>
          <p:cNvSpPr>
            <a:spLocks noChangeShapeType="1"/>
          </p:cNvSpPr>
          <p:nvPr/>
        </p:nvSpPr>
        <p:spPr bwMode="auto">
          <a:xfrm flipV="1">
            <a:off x="4933945" y="4588243"/>
            <a:ext cx="492125" cy="457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4" name="Line 62"/>
          <p:cNvSpPr>
            <a:spLocks noChangeShapeType="1"/>
          </p:cNvSpPr>
          <p:nvPr/>
        </p:nvSpPr>
        <p:spPr bwMode="auto">
          <a:xfrm flipV="1">
            <a:off x="6129332" y="4359643"/>
            <a:ext cx="422275" cy="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5" name="Line 63"/>
          <p:cNvSpPr>
            <a:spLocks noChangeShapeType="1"/>
          </p:cNvSpPr>
          <p:nvPr/>
        </p:nvSpPr>
        <p:spPr bwMode="auto">
          <a:xfrm>
            <a:off x="6623045" y="4359643"/>
            <a:ext cx="420687"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6" name="Line 64"/>
          <p:cNvSpPr>
            <a:spLocks noChangeShapeType="1"/>
          </p:cNvSpPr>
          <p:nvPr/>
        </p:nvSpPr>
        <p:spPr bwMode="auto">
          <a:xfrm>
            <a:off x="5989632" y="4588243"/>
            <a:ext cx="69850" cy="457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7" name="Line 65"/>
          <p:cNvSpPr>
            <a:spLocks noChangeShapeType="1"/>
          </p:cNvSpPr>
          <p:nvPr/>
        </p:nvSpPr>
        <p:spPr bwMode="auto">
          <a:xfrm flipV="1">
            <a:off x="5919782" y="5197843"/>
            <a:ext cx="139700"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8" name="Line 66"/>
          <p:cNvSpPr>
            <a:spLocks noChangeShapeType="1"/>
          </p:cNvSpPr>
          <p:nvPr/>
        </p:nvSpPr>
        <p:spPr bwMode="auto">
          <a:xfrm flipV="1">
            <a:off x="6200770" y="4969243"/>
            <a:ext cx="139700"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9" name="Line 67"/>
          <p:cNvSpPr>
            <a:spLocks noChangeShapeType="1"/>
          </p:cNvSpPr>
          <p:nvPr/>
        </p:nvSpPr>
        <p:spPr bwMode="auto">
          <a:xfrm flipV="1">
            <a:off x="6411907" y="4588243"/>
            <a:ext cx="139700"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0" name="Line 68"/>
          <p:cNvSpPr>
            <a:spLocks noChangeShapeType="1"/>
          </p:cNvSpPr>
          <p:nvPr/>
        </p:nvSpPr>
        <p:spPr bwMode="auto">
          <a:xfrm flipV="1">
            <a:off x="7185020" y="4435843"/>
            <a:ext cx="141287" cy="3048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1" name="Line 69"/>
          <p:cNvSpPr>
            <a:spLocks noChangeShapeType="1"/>
          </p:cNvSpPr>
          <p:nvPr/>
        </p:nvSpPr>
        <p:spPr bwMode="auto">
          <a:xfrm flipV="1">
            <a:off x="7115170" y="4283443"/>
            <a:ext cx="139700"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2" name="Line 70"/>
          <p:cNvSpPr>
            <a:spLocks noChangeShapeType="1"/>
          </p:cNvSpPr>
          <p:nvPr/>
        </p:nvSpPr>
        <p:spPr bwMode="auto">
          <a:xfrm flipV="1">
            <a:off x="7254870" y="4512043"/>
            <a:ext cx="141287" cy="3048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3" name="Line 71"/>
          <p:cNvSpPr>
            <a:spLocks noChangeShapeType="1"/>
          </p:cNvSpPr>
          <p:nvPr/>
        </p:nvSpPr>
        <p:spPr bwMode="auto">
          <a:xfrm flipV="1">
            <a:off x="7254870" y="4588243"/>
            <a:ext cx="282575"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4" name="Line 72"/>
          <p:cNvSpPr>
            <a:spLocks noChangeShapeType="1"/>
          </p:cNvSpPr>
          <p:nvPr/>
        </p:nvSpPr>
        <p:spPr bwMode="auto">
          <a:xfrm flipV="1">
            <a:off x="7607295" y="4664443"/>
            <a:ext cx="280987" cy="76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5" name="Line 73"/>
          <p:cNvSpPr>
            <a:spLocks noChangeShapeType="1"/>
          </p:cNvSpPr>
          <p:nvPr/>
        </p:nvSpPr>
        <p:spPr bwMode="auto">
          <a:xfrm flipV="1">
            <a:off x="7396157" y="4816843"/>
            <a:ext cx="69850"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6" name="Line 74"/>
          <p:cNvSpPr>
            <a:spLocks noChangeShapeType="1"/>
          </p:cNvSpPr>
          <p:nvPr/>
        </p:nvSpPr>
        <p:spPr bwMode="auto">
          <a:xfrm flipV="1">
            <a:off x="7537445" y="4512043"/>
            <a:ext cx="0"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pic>
        <p:nvPicPr>
          <p:cNvPr id="77" name="Picture 75"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9970" y="43596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Line 76"/>
          <p:cNvSpPr>
            <a:spLocks noChangeShapeType="1"/>
          </p:cNvSpPr>
          <p:nvPr/>
        </p:nvSpPr>
        <p:spPr bwMode="auto">
          <a:xfrm>
            <a:off x="7607295" y="4512043"/>
            <a:ext cx="280987" cy="152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9" name="Line 77"/>
          <p:cNvSpPr>
            <a:spLocks noChangeShapeType="1"/>
          </p:cNvSpPr>
          <p:nvPr/>
        </p:nvSpPr>
        <p:spPr bwMode="auto">
          <a:xfrm flipH="1" flipV="1">
            <a:off x="7396157" y="4512043"/>
            <a:ext cx="69850"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80" name="Line 78"/>
          <p:cNvSpPr>
            <a:spLocks noChangeShapeType="1"/>
          </p:cNvSpPr>
          <p:nvPr/>
        </p:nvSpPr>
        <p:spPr bwMode="auto">
          <a:xfrm>
            <a:off x="7115170" y="4512043"/>
            <a:ext cx="350837" cy="3810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pic>
        <p:nvPicPr>
          <p:cNvPr id="81" name="Picture 79"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3882" y="42834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80"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2245" y="45120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81"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620" y="472159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Picture 82"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1607" y="472159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83"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1607" y="434059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84"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3445" y="502639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85"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7507" y="489304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86" descr="MCj043524200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645" y="5102593"/>
            <a:ext cx="187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Line 87"/>
          <p:cNvSpPr>
            <a:spLocks noChangeShapeType="1"/>
          </p:cNvSpPr>
          <p:nvPr/>
        </p:nvSpPr>
        <p:spPr bwMode="auto">
          <a:xfrm flipV="1">
            <a:off x="5214932" y="4588243"/>
            <a:ext cx="774700" cy="4572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0" name="Line 88"/>
          <p:cNvSpPr>
            <a:spLocks noChangeShapeType="1"/>
          </p:cNvSpPr>
          <p:nvPr/>
        </p:nvSpPr>
        <p:spPr bwMode="auto">
          <a:xfrm>
            <a:off x="5497507" y="4588243"/>
            <a:ext cx="280988" cy="5334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1" name="Line 89"/>
          <p:cNvSpPr>
            <a:spLocks noChangeShapeType="1"/>
          </p:cNvSpPr>
          <p:nvPr/>
        </p:nvSpPr>
        <p:spPr bwMode="auto">
          <a:xfrm>
            <a:off x="5286370" y="5121643"/>
            <a:ext cx="492125" cy="228600"/>
          </a:xfrm>
          <a:prstGeom prst="line">
            <a:avLst/>
          </a:prstGeom>
          <a:noFill/>
          <a:ln w="9525">
            <a:solidFill>
              <a:srgbClr val="3333CC"/>
            </a:solidFill>
            <a:prstDash val="dash"/>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2" name="Object 90"/>
          <p:cNvGraphicFramePr>
            <a:graphicFrameLocks noChangeAspect="1"/>
          </p:cNvGraphicFramePr>
          <p:nvPr/>
        </p:nvGraphicFramePr>
        <p:xfrm>
          <a:off x="4945057" y="5651868"/>
          <a:ext cx="614363" cy="1057275"/>
        </p:xfrm>
        <a:graphic>
          <a:graphicData uri="http://schemas.openxmlformats.org/presentationml/2006/ole">
            <mc:AlternateContent xmlns:mc="http://schemas.openxmlformats.org/markup-compatibility/2006">
              <mc:Choice xmlns:v="urn:schemas-microsoft-com:vml" Requires="v">
                <p:oleObj spid="_x0000_s1026" name="" r:id="rId5" imgW="666750" imgH="1057275" progId="Paint.Picture">
                  <p:embed/>
                </p:oleObj>
              </mc:Choice>
              <mc:Fallback>
                <p:oleObj name="" r:id="rId5" imgW="666750" imgH="1057275" progId="Paint.Picture">
                  <p:embed/>
                  <p:pic>
                    <p:nvPicPr>
                      <p:cNvPr id="0" name="Object 9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5057" y="5651868"/>
                        <a:ext cx="614363"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 name="Line 91"/>
          <p:cNvSpPr>
            <a:spLocks noChangeShapeType="1"/>
          </p:cNvSpPr>
          <p:nvPr/>
        </p:nvSpPr>
        <p:spPr bwMode="auto">
          <a:xfrm flipV="1">
            <a:off x="4652957" y="5274043"/>
            <a:ext cx="141288" cy="381000"/>
          </a:xfrm>
          <a:prstGeom prst="line">
            <a:avLst/>
          </a:prstGeom>
          <a:noFill/>
          <a:ln w="28575">
            <a:solidFill>
              <a:srgbClr val="CCECFF"/>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94" name="Text Box 92"/>
          <p:cNvSpPr txBox="1">
            <a:spLocks noChangeArrowheads="1"/>
          </p:cNvSpPr>
          <p:nvPr/>
        </p:nvSpPr>
        <p:spPr bwMode="auto">
          <a:xfrm>
            <a:off x="4333869" y="6426759"/>
            <a:ext cx="777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1400" b="1" i="1">
                <a:latin typeface="Verdana" panose="020B0604030504040204" pitchFamily="34" charset="0"/>
              </a:rPr>
              <a:t>PDA</a:t>
            </a:r>
            <a:endParaRPr lang="en-US" altLang="zh-CN" sz="1400" b="1" i="1">
              <a:latin typeface="Verdana" panose="020B0604030504040204" pitchFamily="34" charset="0"/>
              <a:cs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云计算起源和发展</a:t>
            </a:r>
            <a:endParaRPr lang="en-US" altLang="zh-CN" dirty="0"/>
          </a:p>
          <a:p>
            <a:pPr lvl="1"/>
            <a:r>
              <a:rPr lang="en-US" altLang="zh-CN" dirty="0"/>
              <a:t>1961</a:t>
            </a:r>
            <a:r>
              <a:rPr lang="zh-CN" altLang="en-US" dirty="0"/>
              <a:t>年斯坦福教授</a:t>
            </a:r>
            <a:r>
              <a:rPr lang="en-US" altLang="zh-CN" dirty="0"/>
              <a:t>John McCarthy </a:t>
            </a:r>
            <a:r>
              <a:rPr lang="zh-CN" altLang="en-US" dirty="0"/>
              <a:t>提出计算资源可以成为一种重要的新型工业基础</a:t>
            </a:r>
            <a:r>
              <a:rPr lang="en-US" altLang="zh-CN" dirty="0"/>
              <a:t>, </a:t>
            </a:r>
            <a:r>
              <a:rPr lang="zh-CN" altLang="en-US" dirty="0"/>
              <a:t>类似水、电、气和通信。</a:t>
            </a:r>
            <a:endParaRPr lang="zh-CN" altLang="en-US" dirty="0"/>
          </a:p>
          <a:p>
            <a:pPr lvl="1"/>
            <a:r>
              <a:rPr lang="en-US" altLang="zh-CN" dirty="0"/>
              <a:t>1999</a:t>
            </a:r>
            <a:r>
              <a:rPr lang="zh-CN" altLang="en-US" dirty="0"/>
              <a:t>年</a:t>
            </a:r>
            <a:r>
              <a:rPr lang="en-US" altLang="zh-CN" dirty="0"/>
              <a:t>Salesforce</a:t>
            </a:r>
            <a:r>
              <a:rPr lang="zh-CN" altLang="en-US" dirty="0"/>
              <a:t>成立，</a:t>
            </a:r>
            <a:r>
              <a:rPr lang="en-US" altLang="zh-CN" dirty="0"/>
              <a:t>2001</a:t>
            </a:r>
            <a:r>
              <a:rPr lang="zh-CN" altLang="en-US" dirty="0"/>
              <a:t>年发布在线</a:t>
            </a:r>
            <a:r>
              <a:rPr lang="en-US" altLang="zh-CN" dirty="0"/>
              <a:t>CRM</a:t>
            </a:r>
            <a:r>
              <a:rPr lang="zh-CN" altLang="en-US" dirty="0"/>
              <a:t>系统。</a:t>
            </a:r>
            <a:endParaRPr lang="zh-CN" altLang="en-US" dirty="0"/>
          </a:p>
          <a:p>
            <a:pPr lvl="1"/>
            <a:r>
              <a:rPr lang="en-US" altLang="zh-CN" dirty="0"/>
              <a:t>2001</a:t>
            </a:r>
            <a:r>
              <a:rPr lang="zh-CN" altLang="en-US" dirty="0"/>
              <a:t>年</a:t>
            </a:r>
            <a:r>
              <a:rPr lang="en-US" altLang="zh-CN" dirty="0"/>
              <a:t>Google CEO Eric Schmidt </a:t>
            </a:r>
            <a:r>
              <a:rPr lang="zh-CN" altLang="en-US" dirty="0"/>
              <a:t>在搜索引擎大会上首次提出”</a:t>
            </a:r>
            <a:r>
              <a:rPr lang="en-US" altLang="zh-CN" dirty="0"/>
              <a:t>Cloud Computing“</a:t>
            </a:r>
            <a:r>
              <a:rPr lang="zh-CN" altLang="en-US" dirty="0"/>
              <a:t>概念。</a:t>
            </a:r>
            <a:endParaRPr lang="zh-CN" altLang="en-US" dirty="0"/>
          </a:p>
          <a:p>
            <a:pPr lvl="1"/>
            <a:r>
              <a:rPr lang="en-US" altLang="zh-CN" dirty="0"/>
              <a:t>2003</a:t>
            </a:r>
            <a:r>
              <a:rPr lang="zh-CN" altLang="en-US" dirty="0"/>
              <a:t>年</a:t>
            </a:r>
            <a:r>
              <a:rPr lang="en-US" altLang="zh-CN" dirty="0"/>
              <a:t>Google</a:t>
            </a:r>
            <a:r>
              <a:rPr lang="zh-CN" altLang="en-US" dirty="0"/>
              <a:t>逐步开始在内部使用云计算，</a:t>
            </a:r>
            <a:r>
              <a:rPr lang="en-US" altLang="zh-CN" dirty="0"/>
              <a:t>2008</a:t>
            </a:r>
            <a:r>
              <a:rPr lang="zh-CN" altLang="en-US" dirty="0"/>
              <a:t>年推出</a:t>
            </a:r>
            <a:r>
              <a:rPr lang="en-US" altLang="zh-CN" dirty="0"/>
              <a:t>Google </a:t>
            </a:r>
            <a:r>
              <a:rPr lang="en-US" altLang="zh-CN" dirty="0" err="1"/>
              <a:t>AppEngine</a:t>
            </a:r>
            <a:r>
              <a:rPr lang="zh-CN" altLang="en-US" dirty="0"/>
              <a:t>云计算平台。</a:t>
            </a:r>
            <a:endParaRPr lang="zh-CN" altLang="en-US" dirty="0"/>
          </a:p>
          <a:p>
            <a:pPr lvl="1"/>
            <a:r>
              <a:rPr lang="en-US" altLang="zh-CN" dirty="0"/>
              <a:t>2006</a:t>
            </a:r>
            <a:r>
              <a:rPr lang="zh-CN" altLang="en-US" dirty="0"/>
              <a:t>年</a:t>
            </a:r>
            <a:r>
              <a:rPr lang="en-US" altLang="zh-CN" dirty="0"/>
              <a:t>Amazon</a:t>
            </a:r>
            <a:r>
              <a:rPr lang="zh-CN" altLang="en-US" dirty="0"/>
              <a:t>正式对外推出弹性计算服务</a:t>
            </a:r>
            <a:r>
              <a:rPr lang="en-US" altLang="zh-CN" dirty="0"/>
              <a:t>(EC2) </a:t>
            </a:r>
            <a:r>
              <a:rPr lang="zh-CN" altLang="en-US" dirty="0"/>
              <a:t>。</a:t>
            </a:r>
            <a:endParaRPr lang="zh-CN" altLang="en-US" dirty="0"/>
          </a:p>
          <a:p>
            <a:pPr lvl="1"/>
            <a:r>
              <a:rPr lang="en-US" altLang="zh-CN" dirty="0"/>
              <a:t>…</a:t>
            </a:r>
            <a:r>
              <a:rPr lang="zh-CN" altLang="en-US" dirty="0"/>
              <a:t>各大全球知名厂商跟进</a:t>
            </a:r>
            <a:r>
              <a:rPr lang="en-US" altLang="zh-CN" dirty="0"/>
              <a:t>(</a:t>
            </a:r>
            <a:r>
              <a:rPr lang="en-US" altLang="zh-CN" dirty="0" err="1"/>
              <a:t>IBM,MicroSoft</a:t>
            </a:r>
            <a:r>
              <a:rPr lang="en-US" altLang="zh-CN" dirty="0"/>
              <a:t>….) </a:t>
            </a:r>
            <a:r>
              <a:rPr lang="zh-CN" altLang="en-US" dirty="0"/>
              <a:t>。</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
        <p:nvSpPr>
          <p:cNvPr id="6" name="Line 7"/>
          <p:cNvSpPr>
            <a:spLocks noChangeShapeType="1"/>
          </p:cNvSpPr>
          <p:nvPr/>
        </p:nvSpPr>
        <p:spPr bwMode="auto">
          <a:xfrm>
            <a:off x="2137410" y="1219203"/>
            <a:ext cx="0" cy="5327650"/>
          </a:xfrm>
          <a:prstGeom prst="line">
            <a:avLst/>
          </a:prstGeom>
          <a:noFill/>
          <a:ln w="76200">
            <a:solidFill>
              <a:srgbClr val="6666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7"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76" y="3891540"/>
            <a:ext cx="16573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descr="AWS home page">
            <a:hlinkClick r:id="rId2"/>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2376" y="4683703"/>
            <a:ext cx="1800225"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jmccol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89" y="1243590"/>
            <a:ext cx="1236662"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4776043124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9764" y="2234190"/>
            <a:ext cx="1185862"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15"/>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
        <p:nvSpPr>
          <p:cNvPr id="6" name="AutoShape 15"/>
          <p:cNvSpPr>
            <a:spLocks noChangeArrowheads="1"/>
          </p:cNvSpPr>
          <p:nvPr/>
        </p:nvSpPr>
        <p:spPr bwMode="auto">
          <a:xfrm>
            <a:off x="6832473" y="3793935"/>
            <a:ext cx="1933575" cy="2662237"/>
          </a:xfrm>
          <a:prstGeom prst="roundRect">
            <a:avLst>
              <a:gd name="adj" fmla="val 16667"/>
            </a:avLst>
          </a:prstGeom>
          <a:solidFill>
            <a:schemeClr val="tx1"/>
          </a:solidFill>
          <a:ln w="9525">
            <a:solidFill>
              <a:srgbClr val="336699"/>
            </a:solidFill>
            <a:round/>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indent="1778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2" eaLnBrk="1" hangingPunct="1">
              <a:spcBef>
                <a:spcPts val="500"/>
              </a:spcBef>
              <a:buClr>
                <a:srgbClr val="A4001E"/>
              </a:buClr>
              <a:buFont typeface="Wingdings" panose="05000000000000000000" pitchFamily="2" charset="2"/>
              <a:buChar char="l"/>
            </a:pPr>
            <a:r>
              <a:rPr lang="zh-CN" altLang="en-US" sz="2000" b="1">
                <a:solidFill>
                  <a:schemeClr val="bg1"/>
                </a:solidFill>
              </a:rPr>
              <a:t>在动态、多机构参与的虚拟组织中协同共享资源和求解问题 </a:t>
            </a:r>
            <a:endParaRPr lang="zh-CN" altLang="en-US" sz="2000" b="1">
              <a:solidFill>
                <a:schemeClr val="bg1"/>
              </a:solidFill>
            </a:endParaRPr>
          </a:p>
          <a:p>
            <a:pPr eaLnBrk="1" hangingPunct="1">
              <a:spcBef>
                <a:spcPts val="500"/>
              </a:spcBef>
              <a:buClr>
                <a:srgbClr val="A4001E"/>
              </a:buClr>
              <a:buFont typeface="Arial" panose="020B0604020202020204" pitchFamily="34" charset="0"/>
              <a:buNone/>
            </a:pPr>
            <a:endParaRPr lang="zh-CN" altLang="en-US" sz="2000" b="1">
              <a:solidFill>
                <a:schemeClr val="bg1"/>
              </a:solidFill>
            </a:endParaRPr>
          </a:p>
        </p:txBody>
      </p:sp>
      <p:sp>
        <p:nvSpPr>
          <p:cNvPr id="7" name="AutoShape 15"/>
          <p:cNvSpPr>
            <a:spLocks noChangeArrowheads="1"/>
          </p:cNvSpPr>
          <p:nvPr/>
        </p:nvSpPr>
        <p:spPr bwMode="auto">
          <a:xfrm>
            <a:off x="2944686" y="3793935"/>
            <a:ext cx="1727200" cy="2662237"/>
          </a:xfrm>
          <a:prstGeom prst="roundRect">
            <a:avLst>
              <a:gd name="adj" fmla="val 16667"/>
            </a:avLst>
          </a:prstGeom>
          <a:solidFill>
            <a:schemeClr val="tx1"/>
          </a:solidFill>
          <a:ln w="9525">
            <a:solidFill>
              <a:srgbClr val="336699"/>
            </a:solidFill>
            <a:round/>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indent="1778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2" eaLnBrk="1" hangingPunct="1">
              <a:spcBef>
                <a:spcPts val="500"/>
              </a:spcBef>
              <a:buClr>
                <a:srgbClr val="A4001E"/>
              </a:buClr>
              <a:buFont typeface="Wingdings" panose="05000000000000000000" pitchFamily="2" charset="2"/>
              <a:buChar char="l"/>
            </a:pPr>
            <a:r>
              <a:rPr lang="zh-CN" altLang="en-US" sz="2000" b="1">
                <a:solidFill>
                  <a:schemeClr val="bg1"/>
                </a:solidFill>
              </a:rPr>
              <a:t>同时使用多种计算资源解决计算问题的过程</a:t>
            </a:r>
            <a:r>
              <a:rPr lang="zh-CN" altLang="en-US" sz="2400">
                <a:solidFill>
                  <a:schemeClr val="bg1"/>
                </a:solidFill>
              </a:rPr>
              <a:t> </a:t>
            </a:r>
            <a:endParaRPr lang="zh-CN" altLang="en-US" sz="2400">
              <a:solidFill>
                <a:schemeClr val="bg1"/>
              </a:solidFill>
            </a:endParaRPr>
          </a:p>
        </p:txBody>
      </p:sp>
      <p:sp>
        <p:nvSpPr>
          <p:cNvPr id="8" name="AutoShape 15"/>
          <p:cNvSpPr>
            <a:spLocks noChangeArrowheads="1"/>
          </p:cNvSpPr>
          <p:nvPr/>
        </p:nvSpPr>
        <p:spPr bwMode="auto">
          <a:xfrm>
            <a:off x="4816348" y="3793935"/>
            <a:ext cx="1871663" cy="2660650"/>
          </a:xfrm>
          <a:prstGeom prst="roundRect">
            <a:avLst>
              <a:gd name="adj" fmla="val 16667"/>
            </a:avLst>
          </a:prstGeom>
          <a:solidFill>
            <a:schemeClr val="tx1"/>
          </a:solidFill>
          <a:ln w="9525">
            <a:solidFill>
              <a:srgbClr val="336699"/>
            </a:solidFill>
            <a:round/>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indent="1778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2" eaLnBrk="1" hangingPunct="1">
              <a:spcBef>
                <a:spcPts val="500"/>
              </a:spcBef>
              <a:buClr>
                <a:srgbClr val="A4001E"/>
              </a:buClr>
              <a:buFont typeface="Wingdings" panose="05000000000000000000" pitchFamily="2" charset="2"/>
              <a:buChar char="l"/>
            </a:pPr>
            <a:r>
              <a:rPr lang="zh-CN" altLang="en-US" sz="2000" b="1">
                <a:solidFill>
                  <a:schemeClr val="bg1"/>
                </a:solidFill>
              </a:rPr>
              <a:t>将需要巨大计算能力的问题分成许多小部分进行处理，最后综合结果</a:t>
            </a:r>
            <a:endParaRPr lang="zh-CN" altLang="en-US" sz="2000" b="1">
              <a:solidFill>
                <a:schemeClr val="bg1"/>
              </a:solidFill>
            </a:endParaRPr>
          </a:p>
        </p:txBody>
      </p:sp>
      <p:sp>
        <p:nvSpPr>
          <p:cNvPr id="9" name="Oval 7"/>
          <p:cNvSpPr>
            <a:spLocks noChangeArrowheads="1"/>
          </p:cNvSpPr>
          <p:nvPr/>
        </p:nvSpPr>
        <p:spPr bwMode="auto">
          <a:xfrm>
            <a:off x="5032248" y="2785872"/>
            <a:ext cx="1530350" cy="1014413"/>
          </a:xfrm>
          <a:prstGeom prst="ellipse">
            <a:avLst/>
          </a:prstGeom>
          <a:gradFill rotWithShape="1">
            <a:gsLst>
              <a:gs pos="0">
                <a:srgbClr val="FF9900"/>
              </a:gs>
              <a:gs pos="100000">
                <a:srgbClr val="432800"/>
              </a:gs>
            </a:gsLst>
            <a:path path="rect">
              <a:fillToRect r="100000" b="10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buFont typeface="Arial" panose="020B0604020202020204" pitchFamily="34" charset="0"/>
              <a:buNone/>
            </a:pPr>
            <a:r>
              <a:rPr lang="zh-CN" altLang="en-US" b="1"/>
              <a:t>分布式计算</a:t>
            </a:r>
            <a:r>
              <a:rPr lang="zh-CN" altLang="en-US"/>
              <a:t> </a:t>
            </a:r>
            <a:endParaRPr lang="zh-CN" altLang="en-US"/>
          </a:p>
        </p:txBody>
      </p:sp>
      <p:sp>
        <p:nvSpPr>
          <p:cNvPr id="10" name="Oval 8"/>
          <p:cNvSpPr>
            <a:spLocks noChangeArrowheads="1"/>
          </p:cNvSpPr>
          <p:nvPr/>
        </p:nvSpPr>
        <p:spPr bwMode="auto">
          <a:xfrm>
            <a:off x="3232023" y="2779522"/>
            <a:ext cx="1368425" cy="1014413"/>
          </a:xfrm>
          <a:prstGeom prst="ellipse">
            <a:avLst/>
          </a:prstGeom>
          <a:gradFill rotWithShape="1">
            <a:gsLst>
              <a:gs pos="0">
                <a:srgbClr val="99CCFF"/>
              </a:gs>
              <a:gs pos="100000">
                <a:srgbClr val="283643"/>
              </a:gs>
            </a:gsLst>
            <a:path path="rect">
              <a:fillToRect r="100000" b="10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buFont typeface="Arial" panose="020B0604020202020204" pitchFamily="34" charset="0"/>
              <a:buNone/>
            </a:pPr>
            <a:r>
              <a:rPr lang="zh-CN" altLang="en-US" b="1">
                <a:solidFill>
                  <a:srgbClr val="FFFFFF"/>
                </a:solidFill>
                <a:latin typeface="微软雅黑" panose="020B0503020204020204" pitchFamily="34" charset="-122"/>
                <a:ea typeface="微软雅黑" panose="020B0503020204020204" pitchFamily="34" charset="-122"/>
              </a:rPr>
              <a:t>并行计算</a:t>
            </a: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11" name="Oval 9"/>
          <p:cNvSpPr>
            <a:spLocks noChangeArrowheads="1"/>
          </p:cNvSpPr>
          <p:nvPr/>
        </p:nvSpPr>
        <p:spPr bwMode="auto">
          <a:xfrm>
            <a:off x="6976936" y="2785872"/>
            <a:ext cx="1511300" cy="1014413"/>
          </a:xfrm>
          <a:prstGeom prst="ellipse">
            <a:avLst/>
          </a:prstGeom>
          <a:gradFill rotWithShape="1">
            <a:gsLst>
              <a:gs pos="0">
                <a:srgbClr val="CC99FF"/>
              </a:gs>
              <a:gs pos="100000">
                <a:srgbClr val="362843"/>
              </a:gs>
            </a:gsLst>
            <a:path path="rect">
              <a:fillToRect r="100000" b="10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buFont typeface="Arial" panose="020B0604020202020204" pitchFamily="34" charset="0"/>
              <a:buNone/>
            </a:pPr>
            <a:r>
              <a:rPr lang="zh-CN" altLang="en-US" b="1"/>
              <a:t>网格计算</a:t>
            </a:r>
            <a:r>
              <a:rPr lang="zh-CN" altLang="en-US"/>
              <a:t> </a:t>
            </a:r>
            <a:endParaRPr lang="zh-CN" altLang="en-US"/>
          </a:p>
        </p:txBody>
      </p:sp>
      <p:sp>
        <p:nvSpPr>
          <p:cNvPr id="12" name="AutoShape 5"/>
          <p:cNvSpPr>
            <a:spLocks noChangeArrowheads="1"/>
          </p:cNvSpPr>
          <p:nvPr/>
        </p:nvSpPr>
        <p:spPr bwMode="auto">
          <a:xfrm>
            <a:off x="1984248" y="1185672"/>
            <a:ext cx="7970838" cy="879475"/>
          </a:xfrm>
          <a:prstGeom prst="roundRect">
            <a:avLst>
              <a:gd name="adj" fmla="val 50000"/>
            </a:avLst>
          </a:prstGeom>
          <a:gradFill rotWithShape="1">
            <a:gsLst>
              <a:gs pos="0">
                <a:srgbClr val="99CC00"/>
              </a:gs>
              <a:gs pos="100000">
                <a:srgbClr val="567200"/>
              </a:gs>
            </a:gsLst>
            <a:lin ang="5400000" scaled="1"/>
          </a:gradFill>
          <a:ln>
            <a:noFill/>
          </a:ln>
          <a:effectLst>
            <a:outerShdw dist="107763" dir="2700000" algn="ctr" rotWithShape="0">
              <a:srgbClr val="008080">
                <a:alpha val="50000"/>
              </a:srgbClr>
            </a:outerShdw>
          </a:effectLst>
          <a:extLst>
            <a:ext uri="{91240B29-F687-4F45-9708-019B960494DF}">
              <a14:hiddenLine xmlns:a14="http://schemas.microsoft.com/office/drawing/2010/main" w="9525">
                <a:solidFill>
                  <a:srgbClr val="000000"/>
                </a:solidFill>
                <a:round/>
              </a14:hiddenLine>
            </a:ext>
          </a:extLst>
        </p:spPr>
        <p:txBody>
          <a:bodyPr wrap="none" anchor="ct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latinLnBrk="1" hangingPunct="1">
              <a:buFont typeface="Wingdings" panose="05000000000000000000" pitchFamily="2" charset="2"/>
              <a:buNone/>
            </a:pPr>
            <a:r>
              <a:rPr lang="zh-CN" altLang="en-US" sz="3200" b="1">
                <a:solidFill>
                  <a:srgbClr val="FFFFFF"/>
                </a:solidFill>
                <a:latin typeface="微软雅黑" panose="020B0503020204020204" pitchFamily="34" charset="-122"/>
                <a:ea typeface="微软雅黑" panose="020B0503020204020204" pitchFamily="34" charset="-122"/>
              </a:rPr>
              <a:t>云计算</a:t>
            </a:r>
            <a:endParaRPr lang="zh-CN" altLang="en-US" sz="3200" b="1">
              <a:solidFill>
                <a:srgbClr val="FFFFFF"/>
              </a:solidFill>
              <a:latin typeface="微软雅黑" panose="020B0503020204020204" pitchFamily="34" charset="-122"/>
              <a:ea typeface="微软雅黑" panose="020B0503020204020204" pitchFamily="34" charset="-122"/>
            </a:endParaRPr>
          </a:p>
        </p:txBody>
      </p:sp>
      <p:sp>
        <p:nvSpPr>
          <p:cNvPr id="13" name="Freeform 4"/>
          <p:cNvSpPr>
            <a:spLocks noChangeArrowheads="1"/>
          </p:cNvSpPr>
          <p:nvPr/>
        </p:nvSpPr>
        <p:spPr bwMode="auto">
          <a:xfrm>
            <a:off x="3597148" y="2117535"/>
            <a:ext cx="4806950" cy="838200"/>
          </a:xfrm>
          <a:custGeom>
            <a:avLst/>
            <a:gdLst>
              <a:gd name="T0" fmla="*/ 2389152 w 5034"/>
              <a:gd name="T1" fmla="*/ 0 h 1908"/>
              <a:gd name="T2" fmla="*/ 1398924 w 5034"/>
              <a:gd name="T3" fmla="*/ 168255 h 1908"/>
              <a:gd name="T4" fmla="*/ 1702581 w 5034"/>
              <a:gd name="T5" fmla="*/ 168255 h 1908"/>
              <a:gd name="T6" fmla="*/ 0 w 5034"/>
              <a:gd name="T7" fmla="*/ 838200 h 1908"/>
              <a:gd name="T8" fmla="*/ 4806950 w 5034"/>
              <a:gd name="T9" fmla="*/ 838200 h 1908"/>
              <a:gd name="T10" fmla="*/ 3083361 w 5034"/>
              <a:gd name="T11" fmla="*/ 168255 h 1908"/>
              <a:gd name="T12" fmla="*/ 3450042 w 5034"/>
              <a:gd name="T13" fmla="*/ 173527 h 1908"/>
              <a:gd name="T14" fmla="*/ 2389152 w 5034"/>
              <a:gd name="T15" fmla="*/ 0 h 19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034" h="1908">
                <a:moveTo>
                  <a:pt x="2502" y="0"/>
                </a:moveTo>
                <a:lnTo>
                  <a:pt x="1465" y="383"/>
                </a:lnTo>
                <a:lnTo>
                  <a:pt x="1783" y="383"/>
                </a:lnTo>
                <a:lnTo>
                  <a:pt x="0" y="1908"/>
                </a:lnTo>
                <a:lnTo>
                  <a:pt x="5034" y="1908"/>
                </a:lnTo>
                <a:lnTo>
                  <a:pt x="3229" y="383"/>
                </a:lnTo>
                <a:lnTo>
                  <a:pt x="3613" y="395"/>
                </a:lnTo>
                <a:lnTo>
                  <a:pt x="2502" y="0"/>
                </a:lnTo>
                <a:close/>
              </a:path>
            </a:pathLst>
          </a:custGeom>
          <a:gradFill rotWithShape="1">
            <a:gsLst>
              <a:gs pos="0">
                <a:srgbClr val="66CCFF"/>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从不同角度看云计算的内涵</a:t>
            </a:r>
            <a:endParaRPr lang="en-US" altLang="zh-CN" dirty="0"/>
          </a:p>
          <a:p>
            <a:pPr lvl="1"/>
            <a:r>
              <a:rPr lang="zh-CN" altLang="en-US" dirty="0"/>
              <a:t>云计算是一种</a:t>
            </a:r>
            <a:r>
              <a:rPr lang="en-US" altLang="zh-CN" dirty="0"/>
              <a:t>IT</a:t>
            </a:r>
            <a:r>
              <a:rPr lang="zh-CN" altLang="en-US" dirty="0"/>
              <a:t>基础设施交付和使用模式</a:t>
            </a:r>
            <a:endParaRPr lang="en-US" altLang="zh-CN" dirty="0"/>
          </a:p>
          <a:p>
            <a:pPr lvl="2"/>
            <a:r>
              <a:rPr lang="zh-CN" altLang="en-US" dirty="0"/>
              <a:t>从原理看，云计算是将计算工作分布在大量的、分布式的计算机上，从而利用大量计算资源</a:t>
            </a:r>
            <a:r>
              <a:rPr lang="en-US" altLang="zh-CN" dirty="0"/>
              <a:t>(</a:t>
            </a:r>
            <a:r>
              <a:rPr lang="zh-CN" altLang="en-US" dirty="0"/>
              <a:t>包括硬件设备、软件及网络等</a:t>
            </a:r>
            <a:r>
              <a:rPr lang="en-US" altLang="zh-CN" dirty="0"/>
              <a:t>IT</a:t>
            </a:r>
            <a:r>
              <a:rPr lang="zh-CN" altLang="en-US" dirty="0"/>
              <a:t>基础设施</a:t>
            </a:r>
            <a:r>
              <a:rPr lang="en-US" altLang="zh-CN" dirty="0"/>
              <a:t>)</a:t>
            </a:r>
            <a:r>
              <a:rPr lang="zh-CN" altLang="en-US" dirty="0"/>
              <a:t>完成所要求的计算任务。</a:t>
            </a:r>
            <a:endParaRPr lang="zh-CN" altLang="en-US" dirty="0"/>
          </a:p>
          <a:p>
            <a:pPr lvl="2"/>
            <a:endParaRPr lang="zh-CN" altLang="en-US" dirty="0"/>
          </a:p>
          <a:p>
            <a:pPr lvl="1"/>
            <a:r>
              <a:rPr lang="zh-CN" altLang="en-US" dirty="0"/>
              <a:t>云计算是一种信息服务的交付和使用模式</a:t>
            </a:r>
            <a:endParaRPr lang="en-US" altLang="zh-CN" dirty="0"/>
          </a:p>
          <a:p>
            <a:pPr lvl="2"/>
            <a:r>
              <a:rPr lang="zh-CN" altLang="en-US" dirty="0"/>
              <a:t>从商业层面看，云计算提供的是而且仅是服务</a:t>
            </a:r>
            <a:r>
              <a:rPr lang="en-US" altLang="zh-CN" dirty="0"/>
              <a:t>——</a:t>
            </a:r>
            <a:r>
              <a:rPr lang="zh-CN" altLang="en-US" dirty="0"/>
              <a:t>可以统称为“云服务”。</a:t>
            </a:r>
            <a:endParaRPr lang="zh-CN" altLang="en-US" dirty="0"/>
          </a:p>
          <a:p>
            <a:pPr lvl="2"/>
            <a:r>
              <a:rPr lang="zh-CN" altLang="en-US" dirty="0"/>
              <a:t>从云计算服务商和云计算用户间的关系看，服务商并未向用户提供硬件、软件等事物或具体产品，而是运用自己所掌握的</a:t>
            </a:r>
            <a:r>
              <a:rPr lang="en-US" altLang="zh-CN" dirty="0"/>
              <a:t>IT</a:t>
            </a:r>
            <a:r>
              <a:rPr lang="zh-CN" altLang="en-US" dirty="0"/>
              <a:t>资源帮助用户完成计算任务，满足用户使用软硬件设备或获得信息的需要。</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从不同角度看云计算的内涵</a:t>
            </a:r>
            <a:endParaRPr lang="en-US" altLang="zh-CN" dirty="0"/>
          </a:p>
          <a:p>
            <a:pPr lvl="1"/>
            <a:r>
              <a:rPr lang="zh-CN" altLang="en-US" dirty="0"/>
              <a:t>云计算是一种基于互联网的新型计算模式</a:t>
            </a:r>
            <a:endParaRPr lang="en-US" altLang="zh-CN" dirty="0"/>
          </a:p>
          <a:p>
            <a:pPr lvl="2"/>
            <a:r>
              <a:rPr lang="zh-CN" altLang="en-US" dirty="0"/>
              <a:t>从数值和信息处理的角度看，云计算是通过互联网将计算任务分布到由大量计算机构成的资源池上，从而使用户能够根据需要获取计算能力、存储空和信息服务。</a:t>
            </a:r>
            <a:endParaRPr lang="zh-CN" altLang="en-US" dirty="0"/>
          </a:p>
          <a:p>
            <a:pPr lvl="2"/>
            <a:r>
              <a:rPr lang="zh-CN" altLang="en-US" dirty="0"/>
              <a:t>云计算的四方面新特征：</a:t>
            </a:r>
            <a:endParaRPr lang="zh-CN" altLang="en-US" dirty="0"/>
          </a:p>
          <a:p>
            <a:pPr lvl="3"/>
            <a:r>
              <a:rPr lang="zh-CN" altLang="en-US" dirty="0"/>
              <a:t>资源汇聚：计算资源汇聚在一起通过多租户模式服务多个消费者</a:t>
            </a:r>
            <a:endParaRPr lang="zh-CN" altLang="en-US" dirty="0"/>
          </a:p>
          <a:p>
            <a:pPr lvl="3"/>
            <a:r>
              <a:rPr lang="zh-CN" altLang="en-US" dirty="0"/>
              <a:t>快速弹性：计算能力能够以某种自动方式快速而弹性地实现供应</a:t>
            </a:r>
            <a:endParaRPr lang="zh-CN" altLang="en-US" dirty="0"/>
          </a:p>
          <a:p>
            <a:pPr lvl="3"/>
            <a:r>
              <a:rPr lang="zh-CN" altLang="en-US" dirty="0"/>
              <a:t>按需的自助服务：消费者能够根据自己的需要获取计算能力</a:t>
            </a:r>
            <a:endParaRPr lang="zh-CN" altLang="en-US" dirty="0"/>
          </a:p>
          <a:p>
            <a:pPr lvl="3"/>
            <a:r>
              <a:rPr lang="en-US" altLang="zh-CN" dirty="0"/>
              <a:t>4.</a:t>
            </a:r>
            <a:r>
              <a:rPr lang="zh-CN" altLang="en-US" dirty="0"/>
              <a:t>可控可计量：系统根据服务类型提供相应的计量方式</a:t>
            </a:r>
            <a:endParaRPr lang="zh-CN" altLang="en-US" dirty="0"/>
          </a:p>
          <a:p>
            <a:pPr lvl="3"/>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云服务</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
        <p:nvSpPr>
          <p:cNvPr id="6" name="灯片编号占位符 3"/>
          <p:cNvSpPr txBox="1">
            <a:spLocks noGrp="1" noChangeArrowheads="1"/>
          </p:cNvSpPr>
          <p:nvPr/>
        </p:nvSpPr>
        <p:spPr bwMode="auto">
          <a:xfrm>
            <a:off x="5158740" y="634682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60000"/>
              </a:lnSpc>
              <a:buFont typeface="Arial" panose="020B0604020202020204" pitchFamily="34" charset="0"/>
              <a:buNone/>
            </a:pPr>
            <a:fld id="{0270BA14-4648-4223-A087-D39454AFD1F7}" type="slidenum">
              <a:rPr lang="en-US" altLang="zh-CN" sz="2400" baseline="20000">
                <a:solidFill>
                  <a:schemeClr val="accent2"/>
                </a:solidFill>
                <a:ea typeface="楷体_GB2312" pitchFamily="49" charset="-122"/>
              </a:rPr>
            </a:fld>
            <a:endParaRPr lang="en-US" altLang="zh-CN" sz="2400" baseline="20000">
              <a:solidFill>
                <a:schemeClr val="accent2"/>
              </a:solidFill>
              <a:ea typeface="楷体_GB2312" pitchFamily="49" charset="-122"/>
            </a:endParaRPr>
          </a:p>
        </p:txBody>
      </p:sp>
      <p:grpSp>
        <p:nvGrpSpPr>
          <p:cNvPr id="7" name="Group 3"/>
          <p:cNvGrpSpPr/>
          <p:nvPr/>
        </p:nvGrpSpPr>
        <p:grpSpPr bwMode="auto">
          <a:xfrm>
            <a:off x="2091690" y="1219203"/>
            <a:ext cx="8280400" cy="512763"/>
            <a:chOff x="0" y="0"/>
            <a:chExt cx="3493" cy="323"/>
          </a:xfrm>
        </p:grpSpPr>
        <p:sp>
          <p:nvSpPr>
            <p:cNvPr id="8" name="AutoShape 6"/>
            <p:cNvSpPr>
              <a:spLocks noChangeArrowheads="1"/>
            </p:cNvSpPr>
            <p:nvPr/>
          </p:nvSpPr>
          <p:spPr bwMode="auto">
            <a:xfrm>
              <a:off x="0" y="0"/>
              <a:ext cx="3493" cy="323"/>
            </a:xfrm>
            <a:prstGeom prst="roundRect">
              <a:avLst>
                <a:gd name="adj" fmla="val 16667"/>
              </a:avLst>
            </a:prstGeom>
            <a:gradFill rotWithShape="1">
              <a:gsLst>
                <a:gs pos="0">
                  <a:srgbClr val="EAC924"/>
                </a:gs>
                <a:gs pos="100000">
                  <a:srgbClr val="F7EBAF"/>
                </a:gs>
              </a:gsLst>
              <a:lin ang="5400000" scaled="1"/>
            </a:gradFill>
            <a:ln>
              <a:noFill/>
            </a:ln>
            <a:effectLst>
              <a:outerShdw dist="35921" dir="2700000" algn="ctr" rotWithShape="0">
                <a:srgbClr val="B2B2B2"/>
              </a:outerShdw>
            </a:effectLst>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9" name="AutoShape 7"/>
            <p:cNvSpPr>
              <a:spLocks noChangeArrowheads="1"/>
            </p:cNvSpPr>
            <p:nvPr/>
          </p:nvSpPr>
          <p:spPr bwMode="auto">
            <a:xfrm>
              <a:off x="30" y="237"/>
              <a:ext cx="3443" cy="83"/>
            </a:xfrm>
            <a:prstGeom prst="roundRect">
              <a:avLst>
                <a:gd name="adj" fmla="val 50000"/>
              </a:avLst>
            </a:prstGeom>
            <a:gradFill rotWithShape="1">
              <a:gsLst>
                <a:gs pos="0">
                  <a:srgbClr val="EAC924">
                    <a:alpha val="0"/>
                  </a:srgbClr>
                </a:gs>
                <a:gs pos="100000">
                  <a:srgbClr val="EDD03F"/>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10" name="AutoShape 8"/>
            <p:cNvSpPr>
              <a:spLocks noChangeArrowheads="1"/>
            </p:cNvSpPr>
            <p:nvPr/>
          </p:nvSpPr>
          <p:spPr bwMode="auto">
            <a:xfrm>
              <a:off x="30" y="7"/>
              <a:ext cx="3443" cy="83"/>
            </a:xfrm>
            <a:prstGeom prst="roundRect">
              <a:avLst>
                <a:gd name="adj" fmla="val 50000"/>
              </a:avLst>
            </a:prstGeom>
            <a:gradFill rotWithShape="1">
              <a:gsLst>
                <a:gs pos="0">
                  <a:srgbClr val="F8EDB6"/>
                </a:gs>
                <a:gs pos="100000">
                  <a:srgbClr val="EAC924">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grpSp>
      <p:sp>
        <p:nvSpPr>
          <p:cNvPr id="11" name="Text Box 9"/>
          <p:cNvSpPr txBox="1">
            <a:spLocks noChangeArrowheads="1"/>
          </p:cNvSpPr>
          <p:nvPr/>
        </p:nvSpPr>
        <p:spPr bwMode="auto">
          <a:xfrm>
            <a:off x="2379028" y="1279528"/>
            <a:ext cx="7848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000" b="1">
                <a:solidFill>
                  <a:srgbClr val="000000"/>
                </a:solidFill>
                <a:latin typeface="微软雅黑" panose="020B0503020204020204" pitchFamily="34" charset="-122"/>
                <a:ea typeface="微软雅黑" panose="020B0503020204020204" pitchFamily="34" charset="-122"/>
              </a:rPr>
              <a:t>云计算服务对象：在各行各业、各种组织、各种产业拓展应用范围</a:t>
            </a:r>
            <a:endParaRPr lang="zh-CN" altLang="en-US" sz="2000" b="1">
              <a:solidFill>
                <a:srgbClr val="000000"/>
              </a:solidFill>
              <a:latin typeface="微软雅黑" panose="020B0503020204020204" pitchFamily="34" charset="-122"/>
              <a:ea typeface="微软雅黑" panose="020B0503020204020204" pitchFamily="34" charset="-122"/>
            </a:endParaRPr>
          </a:p>
        </p:txBody>
      </p:sp>
      <p:grpSp>
        <p:nvGrpSpPr>
          <p:cNvPr id="12" name="Group 8"/>
          <p:cNvGrpSpPr/>
          <p:nvPr/>
        </p:nvGrpSpPr>
        <p:grpSpPr bwMode="auto">
          <a:xfrm>
            <a:off x="2091690" y="3163891"/>
            <a:ext cx="8281988" cy="512762"/>
            <a:chOff x="0" y="0"/>
            <a:chExt cx="3493" cy="323"/>
          </a:xfrm>
        </p:grpSpPr>
        <p:sp>
          <p:nvSpPr>
            <p:cNvPr id="13" name="AutoShape 19"/>
            <p:cNvSpPr>
              <a:spLocks noChangeArrowheads="1"/>
            </p:cNvSpPr>
            <p:nvPr/>
          </p:nvSpPr>
          <p:spPr bwMode="auto">
            <a:xfrm>
              <a:off x="0" y="0"/>
              <a:ext cx="3493" cy="323"/>
            </a:xfrm>
            <a:prstGeom prst="roundRect">
              <a:avLst>
                <a:gd name="adj" fmla="val 16667"/>
              </a:avLst>
            </a:prstGeom>
            <a:gradFill rotWithShape="1">
              <a:gsLst>
                <a:gs pos="0">
                  <a:srgbClr val="48BE67"/>
                </a:gs>
                <a:gs pos="100000">
                  <a:srgbClr val="BCE7C8"/>
                </a:gs>
              </a:gsLst>
              <a:lin ang="5400000" scaled="1"/>
            </a:gradFill>
            <a:ln>
              <a:noFill/>
            </a:ln>
            <a:effectLst>
              <a:outerShdw dist="35921" dir="2700000" algn="ctr" rotWithShape="0">
                <a:srgbClr val="B2B2B2"/>
              </a:outerShdw>
            </a:effectLst>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14" name="AutoShape 20"/>
            <p:cNvSpPr>
              <a:spLocks noChangeArrowheads="1"/>
            </p:cNvSpPr>
            <p:nvPr/>
          </p:nvSpPr>
          <p:spPr bwMode="auto">
            <a:xfrm>
              <a:off x="30" y="237"/>
              <a:ext cx="3443" cy="83"/>
            </a:xfrm>
            <a:prstGeom prst="roundRect">
              <a:avLst>
                <a:gd name="adj" fmla="val 50000"/>
              </a:avLst>
            </a:prstGeom>
            <a:gradFill rotWithShape="1">
              <a:gsLst>
                <a:gs pos="0">
                  <a:srgbClr val="82F094">
                    <a:alpha val="0"/>
                  </a:srgbClr>
                </a:gs>
                <a:gs pos="100000">
                  <a:srgbClr val="91F2A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15" name="AutoShape 21"/>
            <p:cNvSpPr>
              <a:spLocks noChangeArrowheads="1"/>
            </p:cNvSpPr>
            <p:nvPr/>
          </p:nvSpPr>
          <p:spPr bwMode="auto">
            <a:xfrm>
              <a:off x="30" y="7"/>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grpSp>
      <p:sp>
        <p:nvSpPr>
          <p:cNvPr id="16" name="Text Box 22"/>
          <p:cNvSpPr txBox="1">
            <a:spLocks noChangeArrowheads="1"/>
          </p:cNvSpPr>
          <p:nvPr/>
        </p:nvSpPr>
        <p:spPr bwMode="auto">
          <a:xfrm>
            <a:off x="2379028" y="3224216"/>
            <a:ext cx="7848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b="1">
                <a:solidFill>
                  <a:srgbClr val="000000"/>
                </a:solidFill>
                <a:latin typeface="微软雅黑" panose="020B0503020204020204" pitchFamily="34" charset="-122"/>
                <a:ea typeface="微软雅黑" panose="020B0503020204020204" pitchFamily="34" charset="-122"/>
              </a:rPr>
              <a:t>云计算服务内容：从基础架构、在线存储、软件服务扩展到各种应用领域</a:t>
            </a:r>
            <a:endParaRPr lang="zh-CN" altLang="en-US" b="1">
              <a:solidFill>
                <a:srgbClr val="000000"/>
              </a:solidFill>
              <a:latin typeface="微软雅黑" panose="020B0503020204020204" pitchFamily="34" charset="-122"/>
              <a:ea typeface="微软雅黑" panose="020B0503020204020204" pitchFamily="34" charset="-122"/>
            </a:endParaRPr>
          </a:p>
        </p:txBody>
      </p:sp>
      <p:grpSp>
        <p:nvGrpSpPr>
          <p:cNvPr id="17" name="Group 13"/>
          <p:cNvGrpSpPr/>
          <p:nvPr/>
        </p:nvGrpSpPr>
        <p:grpSpPr bwMode="auto">
          <a:xfrm>
            <a:off x="2091690" y="5026028"/>
            <a:ext cx="8353425" cy="512763"/>
            <a:chOff x="0" y="0"/>
            <a:chExt cx="3493" cy="323"/>
          </a:xfrm>
        </p:grpSpPr>
        <p:sp>
          <p:nvSpPr>
            <p:cNvPr id="18" name="AutoShape 32"/>
            <p:cNvSpPr>
              <a:spLocks noChangeArrowheads="1"/>
            </p:cNvSpPr>
            <p:nvPr/>
          </p:nvSpPr>
          <p:spPr bwMode="auto">
            <a:xfrm>
              <a:off x="0" y="0"/>
              <a:ext cx="3493" cy="323"/>
            </a:xfrm>
            <a:prstGeom prst="roundRect">
              <a:avLst>
                <a:gd name="adj" fmla="val 16667"/>
              </a:avLst>
            </a:prstGeom>
            <a:gradFill rotWithShape="1">
              <a:gsLst>
                <a:gs pos="0">
                  <a:srgbClr val="80D4F2"/>
                </a:gs>
                <a:gs pos="100000">
                  <a:srgbClr val="3CA1E6"/>
                </a:gs>
              </a:gsLst>
              <a:lin ang="5400000" scaled="1"/>
            </a:gradFill>
            <a:ln>
              <a:noFill/>
            </a:ln>
            <a:effectLst>
              <a:outerShdw dist="35921" dir="2700000" algn="ctr" rotWithShape="0">
                <a:srgbClr val="B2B2B2"/>
              </a:outerShdw>
            </a:effectLst>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19" name="AutoShape 33"/>
            <p:cNvSpPr>
              <a:spLocks noChangeArrowheads="1"/>
            </p:cNvSpPr>
            <p:nvPr/>
          </p:nvSpPr>
          <p:spPr bwMode="auto">
            <a:xfrm>
              <a:off x="30" y="237"/>
              <a:ext cx="3443" cy="83"/>
            </a:xfrm>
            <a:prstGeom prst="roundRect">
              <a:avLst>
                <a:gd name="adj" fmla="val 50000"/>
              </a:avLst>
            </a:prstGeom>
            <a:gradFill rotWithShape="1">
              <a:gsLst>
                <a:gs pos="0">
                  <a:srgbClr val="80D4F2">
                    <a:alpha val="0"/>
                  </a:srgbClr>
                </a:gs>
                <a:gs pos="100000">
                  <a:srgbClr val="8FD9F4"/>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20" name="AutoShape 34"/>
            <p:cNvSpPr>
              <a:spLocks noChangeArrowheads="1"/>
            </p:cNvSpPr>
            <p:nvPr/>
          </p:nvSpPr>
          <p:spPr bwMode="auto">
            <a:xfrm>
              <a:off x="30" y="7"/>
              <a:ext cx="3443" cy="83"/>
            </a:xfrm>
            <a:prstGeom prst="roundRect">
              <a:avLst>
                <a:gd name="adj" fmla="val 50000"/>
              </a:avLst>
            </a:prstGeom>
            <a:gradFill rotWithShape="1">
              <a:gsLst>
                <a:gs pos="0">
                  <a:srgbClr val="D5F1FB"/>
                </a:gs>
                <a:gs pos="100000">
                  <a:srgbClr val="80D4F2">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grpSp>
      <p:sp>
        <p:nvSpPr>
          <p:cNvPr id="21" name="Text Box 35"/>
          <p:cNvSpPr txBox="1">
            <a:spLocks noChangeArrowheads="1"/>
          </p:cNvSpPr>
          <p:nvPr/>
        </p:nvSpPr>
        <p:spPr bwMode="auto">
          <a:xfrm>
            <a:off x="2379028" y="5086353"/>
            <a:ext cx="7775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000" b="1">
                <a:solidFill>
                  <a:srgbClr val="000000"/>
                </a:solidFill>
                <a:latin typeface="微软雅黑" panose="020B0503020204020204" pitchFamily="34" charset="-122"/>
                <a:ea typeface="微软雅黑" panose="020B0503020204020204" pitchFamily="34" charset="-122"/>
              </a:rPr>
              <a:t>云计算服务形式：更简单易用、更安全、更智能的差异化服务</a:t>
            </a:r>
            <a:endParaRPr lang="zh-CN" altLang="en-US" sz="2000" b="1">
              <a:solidFill>
                <a:srgbClr val="000000"/>
              </a:solidFill>
              <a:latin typeface="微软雅黑" panose="020B0503020204020204" pitchFamily="34" charset="-122"/>
              <a:ea typeface="微软雅黑" panose="020B0503020204020204" pitchFamily="34" charset="-122"/>
            </a:endParaRPr>
          </a:p>
        </p:txBody>
      </p:sp>
      <p:sp>
        <p:nvSpPr>
          <p:cNvPr id="22" name="AutoShape 61"/>
          <p:cNvSpPr>
            <a:spLocks noChangeArrowheads="1"/>
          </p:cNvSpPr>
          <p:nvPr/>
        </p:nvSpPr>
        <p:spPr bwMode="auto">
          <a:xfrm>
            <a:off x="2163128" y="1795466"/>
            <a:ext cx="4176712" cy="1295400"/>
          </a:xfrm>
          <a:prstGeom prst="roundRect">
            <a:avLst>
              <a:gd name="adj" fmla="val 13745"/>
            </a:avLst>
          </a:prstGeom>
          <a:noFill/>
          <a:ln w="19050">
            <a:solidFill>
              <a:schemeClr val="bg2"/>
            </a:solidFill>
            <a:round/>
          </a:ln>
          <a:extLst>
            <a:ext uri="{909E8E84-426E-40DD-AFC4-6F175D3DCCD1}">
              <a14:hiddenFill xmlns:a14="http://schemas.microsoft.com/office/drawing/2010/main">
                <a:solidFill>
                  <a:srgbClr val="FFFFFF"/>
                </a:solidFill>
              </a14:hiddenFill>
            </a:ext>
          </a:extLst>
        </p:spPr>
        <p:txBody>
          <a:bodyPr/>
          <a:lstStyle>
            <a:lvl1pPr marL="186055" indent="-18605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1600" b="1">
                <a:latin typeface="微软雅黑" panose="020B0503020204020204" pitchFamily="34" charset="-122"/>
                <a:ea typeface="微软雅黑" panose="020B0503020204020204" pitchFamily="34" charset="-122"/>
              </a:rPr>
              <a:t>从行业视角</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满足中小企业、政府部门、科研教育、娱乐、商业企业的信息化需求</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成为互联网企业的运营平台和资源平台</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成为人民群众生活的必需品</a:t>
            </a:r>
            <a:endParaRPr lang="zh-CN" altLang="en-US" sz="1400">
              <a:latin typeface="微软雅黑" panose="020B0503020204020204" pitchFamily="34" charset="-122"/>
              <a:ea typeface="微软雅黑" panose="020B0503020204020204" pitchFamily="34" charset="-122"/>
            </a:endParaRPr>
          </a:p>
        </p:txBody>
      </p:sp>
      <p:sp>
        <p:nvSpPr>
          <p:cNvPr id="23" name="AutoShape 63"/>
          <p:cNvSpPr>
            <a:spLocks noChangeArrowheads="1"/>
          </p:cNvSpPr>
          <p:nvPr/>
        </p:nvSpPr>
        <p:spPr bwMode="auto">
          <a:xfrm>
            <a:off x="6411278" y="1795466"/>
            <a:ext cx="3960812" cy="1295400"/>
          </a:xfrm>
          <a:prstGeom prst="roundRect">
            <a:avLst>
              <a:gd name="adj" fmla="val 13745"/>
            </a:avLst>
          </a:prstGeom>
          <a:noFill/>
          <a:ln w="19050">
            <a:solidFill>
              <a:schemeClr val="bg2"/>
            </a:solidFill>
            <a:round/>
          </a:ln>
          <a:extLst>
            <a:ext uri="{909E8E84-426E-40DD-AFC4-6F175D3DCCD1}">
              <a14:hiddenFill xmlns:a14="http://schemas.microsoft.com/office/drawing/2010/main">
                <a:solidFill>
                  <a:srgbClr val="FFFFFF"/>
                </a:solidFill>
              </a14:hiddenFill>
            </a:ext>
          </a:extLst>
        </p:spPr>
        <p:txBody>
          <a:bodyPr/>
          <a:lstStyle>
            <a:lvl1pPr marL="186055" indent="-18605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1600" b="1">
                <a:latin typeface="微软雅黑" panose="020B0503020204020204" pitchFamily="34" charset="-122"/>
                <a:ea typeface="微软雅黑" panose="020B0503020204020204" pitchFamily="34" charset="-122"/>
              </a:rPr>
              <a:t>从产业领域视角</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成为物联网信息存储、分析的智能化平台</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成为移动互联网的基础信息支撑平台</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成为移动电子商务、移动支付的支持平台</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逐步进入网络通信基础设施领域</a:t>
            </a:r>
            <a:endParaRPr lang="zh-CN" altLang="en-US" sz="1400">
              <a:latin typeface="微软雅黑" panose="020B0503020204020204" pitchFamily="34" charset="-122"/>
              <a:ea typeface="微软雅黑" panose="020B0503020204020204" pitchFamily="34" charset="-122"/>
            </a:endParaRPr>
          </a:p>
        </p:txBody>
      </p:sp>
      <p:sp>
        <p:nvSpPr>
          <p:cNvPr id="24" name="AutoShape 64"/>
          <p:cNvSpPr>
            <a:spLocks noChangeArrowheads="1"/>
          </p:cNvSpPr>
          <p:nvPr/>
        </p:nvSpPr>
        <p:spPr bwMode="auto">
          <a:xfrm>
            <a:off x="2163128" y="3738566"/>
            <a:ext cx="2520950" cy="1225550"/>
          </a:xfrm>
          <a:prstGeom prst="roundRect">
            <a:avLst>
              <a:gd name="adj" fmla="val 13745"/>
            </a:avLst>
          </a:prstGeom>
          <a:noFill/>
          <a:ln w="19050">
            <a:solidFill>
              <a:schemeClr val="bg2"/>
            </a:solidFill>
            <a:round/>
          </a:ln>
          <a:extLst>
            <a:ext uri="{909E8E84-426E-40DD-AFC4-6F175D3DCCD1}">
              <a14:hiddenFill xmlns:a14="http://schemas.microsoft.com/office/drawing/2010/main">
                <a:solidFill>
                  <a:srgbClr val="FFFFFF"/>
                </a:solidFill>
              </a14:hiddenFill>
            </a:ext>
          </a:extLst>
        </p:spPr>
        <p:txBody>
          <a:bodyPr/>
          <a:lstStyle>
            <a:lvl1pPr marL="186055" indent="-18605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1600" b="1">
                <a:latin typeface="微软雅黑" panose="020B0503020204020204" pitchFamily="34" charset="-122"/>
                <a:ea typeface="微软雅黑" panose="020B0503020204020204" pitchFamily="34" charset="-122"/>
              </a:rPr>
              <a:t>已有主要服务内容</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基础设施</a:t>
            </a:r>
            <a:r>
              <a:rPr lang="zh-CN" altLang="en-US" sz="1400">
                <a:latin typeface="微软雅黑" panose="020B0503020204020204" pitchFamily="34" charset="-122"/>
                <a:ea typeface="微软雅黑" panose="020B0503020204020204" pitchFamily="34" charset="-122"/>
              </a:rPr>
              <a:t>即服务</a:t>
            </a:r>
            <a:r>
              <a:rPr lang="en-US" altLang="zh-CN" sz="1400">
                <a:latin typeface="微软雅黑" panose="020B0503020204020204" pitchFamily="34" charset="-122"/>
                <a:ea typeface="微软雅黑" panose="020B0503020204020204" pitchFamily="34" charset="-122"/>
              </a:rPr>
              <a:t>/</a:t>
            </a:r>
            <a:r>
              <a:rPr lang="en-US" altLang="zh-CN" sz="1400" b="1">
                <a:solidFill>
                  <a:srgbClr val="FF0000"/>
                </a:solidFill>
                <a:latin typeface="微软雅黑" panose="020B0503020204020204" pitchFamily="34" charset="-122"/>
                <a:ea typeface="微软雅黑" panose="020B0503020204020204" pitchFamily="34" charset="-122"/>
              </a:rPr>
              <a:t>I</a:t>
            </a:r>
            <a:r>
              <a:rPr lang="en-US" altLang="zh-CN" sz="1400">
                <a:latin typeface="微软雅黑" panose="020B0503020204020204" pitchFamily="34" charset="-122"/>
                <a:ea typeface="微软雅黑" panose="020B0503020204020204" pitchFamily="34" charset="-122"/>
              </a:rPr>
              <a:t>aaS</a:t>
            </a:r>
            <a:endParaRPr lang="en-US" altLang="zh-CN"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软件平台</a:t>
            </a:r>
            <a:r>
              <a:rPr lang="zh-CN" altLang="en-US" sz="1400">
                <a:latin typeface="微软雅黑" panose="020B0503020204020204" pitchFamily="34" charset="-122"/>
                <a:ea typeface="微软雅黑" panose="020B0503020204020204" pitchFamily="34" charset="-122"/>
              </a:rPr>
              <a:t>即服务</a:t>
            </a:r>
            <a:r>
              <a:rPr lang="en-US" altLang="zh-CN" sz="1400">
                <a:latin typeface="微软雅黑" panose="020B0503020204020204" pitchFamily="34" charset="-122"/>
                <a:ea typeface="微软雅黑" panose="020B0503020204020204" pitchFamily="34" charset="-122"/>
              </a:rPr>
              <a:t>/</a:t>
            </a:r>
            <a:r>
              <a:rPr lang="en-US" altLang="zh-CN" sz="1400" b="1">
                <a:solidFill>
                  <a:srgbClr val="FF0000"/>
                </a:solidFill>
                <a:latin typeface="微软雅黑" panose="020B0503020204020204" pitchFamily="34" charset="-122"/>
                <a:ea typeface="微软雅黑" panose="020B0503020204020204" pitchFamily="34" charset="-122"/>
              </a:rPr>
              <a:t>P</a:t>
            </a:r>
            <a:r>
              <a:rPr lang="en-US" altLang="zh-CN" sz="1400">
                <a:latin typeface="微软雅黑" panose="020B0503020204020204" pitchFamily="34" charset="-122"/>
                <a:ea typeface="微软雅黑" panose="020B0503020204020204" pitchFamily="34" charset="-122"/>
              </a:rPr>
              <a:t>aaS</a:t>
            </a:r>
            <a:endParaRPr lang="en-US" altLang="zh-CN"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软件</a:t>
            </a:r>
            <a:r>
              <a:rPr lang="zh-CN" altLang="en-US" sz="1400">
                <a:latin typeface="微软雅黑" panose="020B0503020204020204" pitchFamily="34" charset="-122"/>
                <a:ea typeface="微软雅黑" panose="020B0503020204020204" pitchFamily="34" charset="-122"/>
              </a:rPr>
              <a:t>即服务</a:t>
            </a:r>
            <a:r>
              <a:rPr lang="en-US" altLang="zh-CN" sz="1400">
                <a:latin typeface="微软雅黑" panose="020B0503020204020204" pitchFamily="34" charset="-122"/>
                <a:ea typeface="微软雅黑" panose="020B0503020204020204" pitchFamily="34" charset="-122"/>
              </a:rPr>
              <a:t>/</a:t>
            </a:r>
            <a:r>
              <a:rPr lang="en-US" altLang="zh-CN" sz="1400" b="1">
                <a:solidFill>
                  <a:srgbClr val="FF0000"/>
                </a:solidFill>
                <a:latin typeface="微软雅黑" panose="020B0503020204020204" pitchFamily="34" charset="-122"/>
                <a:ea typeface="微软雅黑" panose="020B0503020204020204" pitchFamily="34" charset="-122"/>
              </a:rPr>
              <a:t>S</a:t>
            </a:r>
            <a:r>
              <a:rPr lang="en-US" altLang="zh-CN" sz="1400">
                <a:latin typeface="微软雅黑" panose="020B0503020204020204" pitchFamily="34" charset="-122"/>
                <a:ea typeface="微软雅黑" panose="020B0503020204020204" pitchFamily="34" charset="-122"/>
              </a:rPr>
              <a:t>aaS</a:t>
            </a:r>
            <a:endParaRPr lang="en-US" altLang="zh-CN"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存储</a:t>
            </a:r>
            <a:r>
              <a:rPr lang="zh-CN" altLang="en-US" sz="1400">
                <a:latin typeface="微软雅黑" panose="020B0503020204020204" pitchFamily="34" charset="-122"/>
                <a:ea typeface="微软雅黑" panose="020B0503020204020204" pitchFamily="34" charset="-122"/>
              </a:rPr>
              <a:t>即服务</a:t>
            </a:r>
            <a:r>
              <a:rPr lang="en-US" altLang="zh-CN" sz="1400">
                <a:latin typeface="微软雅黑" panose="020B0503020204020204" pitchFamily="34" charset="-122"/>
                <a:ea typeface="微软雅黑" panose="020B0503020204020204" pitchFamily="34" charset="-122"/>
              </a:rPr>
              <a:t>/</a:t>
            </a:r>
            <a:r>
              <a:rPr lang="en-US" altLang="zh-CN" sz="1400" b="1">
                <a:solidFill>
                  <a:srgbClr val="FF0000"/>
                </a:solidFill>
                <a:latin typeface="微软雅黑" panose="020B0503020204020204" pitchFamily="34" charset="-122"/>
                <a:ea typeface="微软雅黑" panose="020B0503020204020204" pitchFamily="34" charset="-122"/>
              </a:rPr>
              <a:t>D</a:t>
            </a:r>
            <a:r>
              <a:rPr lang="en-US" altLang="zh-CN" sz="1400">
                <a:latin typeface="微软雅黑" panose="020B0503020204020204" pitchFamily="34" charset="-122"/>
                <a:ea typeface="微软雅黑" panose="020B0503020204020204" pitchFamily="34" charset="-122"/>
              </a:rPr>
              <a:t>aaS</a:t>
            </a:r>
            <a:endParaRPr lang="en-US" altLang="zh-CN" sz="1400">
              <a:latin typeface="微软雅黑" panose="020B0503020204020204" pitchFamily="34" charset="-122"/>
              <a:ea typeface="微软雅黑" panose="020B0503020204020204" pitchFamily="34" charset="-122"/>
            </a:endParaRPr>
          </a:p>
        </p:txBody>
      </p:sp>
      <p:sp>
        <p:nvSpPr>
          <p:cNvPr id="25" name="Rectangle 65"/>
          <p:cNvSpPr>
            <a:spLocks noChangeArrowheads="1"/>
          </p:cNvSpPr>
          <p:nvPr/>
        </p:nvSpPr>
        <p:spPr bwMode="auto">
          <a:xfrm>
            <a:off x="5125403" y="4224341"/>
            <a:ext cx="865187" cy="366712"/>
          </a:xfrm>
          <a:prstGeom prst="rect">
            <a:avLst/>
          </a:prstGeom>
          <a:noFill/>
          <a:ln>
            <a:noFill/>
          </a:ln>
          <a:effectLst>
            <a:prstShdw prst="shdw17" dist="17961" dir="2700000">
              <a:srgbClr val="8792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b="1">
                <a:solidFill>
                  <a:srgbClr val="FF0000"/>
                </a:solidFill>
                <a:latin typeface="微软雅黑" panose="020B0503020204020204" pitchFamily="34" charset="-122"/>
                <a:ea typeface="微软雅黑" panose="020B0503020204020204" pitchFamily="34" charset="-122"/>
              </a:rPr>
              <a:t>X</a:t>
            </a:r>
            <a:r>
              <a:rPr lang="en-US" altLang="zh-CN">
                <a:latin typeface="微软雅黑" panose="020B0503020204020204" pitchFamily="34" charset="-122"/>
                <a:ea typeface="微软雅黑" panose="020B0503020204020204" pitchFamily="34" charset="-122"/>
              </a:rPr>
              <a:t>aaS</a:t>
            </a:r>
            <a:endParaRPr lang="en-US" altLang="zh-CN">
              <a:latin typeface="微软雅黑" panose="020B0503020204020204" pitchFamily="34" charset="-122"/>
              <a:ea typeface="微软雅黑" panose="020B0503020204020204" pitchFamily="34" charset="-122"/>
            </a:endParaRPr>
          </a:p>
        </p:txBody>
      </p:sp>
      <p:sp>
        <p:nvSpPr>
          <p:cNvPr id="26" name="AutoShape 67"/>
          <p:cNvSpPr>
            <a:spLocks noChangeArrowheads="1"/>
          </p:cNvSpPr>
          <p:nvPr/>
        </p:nvSpPr>
        <p:spPr bwMode="auto">
          <a:xfrm rot="10800000">
            <a:off x="4826953" y="4027491"/>
            <a:ext cx="360362" cy="720725"/>
          </a:xfrm>
          <a:prstGeom prst="rightArrow">
            <a:avLst>
              <a:gd name="adj1" fmla="val 50000"/>
              <a:gd name="adj2" fmla="val 25000"/>
            </a:avLst>
          </a:prstGeom>
          <a:solidFill>
            <a:schemeClr val="accent1"/>
          </a:solidFill>
          <a:ln>
            <a:noFill/>
          </a:ln>
          <a:effectLst>
            <a:prstShdw prst="shdw17" dist="17961" dir="2700000">
              <a:srgbClr val="879299"/>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27" name="AutoShape 68"/>
          <p:cNvSpPr>
            <a:spLocks noChangeArrowheads="1"/>
          </p:cNvSpPr>
          <p:nvPr/>
        </p:nvSpPr>
        <p:spPr bwMode="auto">
          <a:xfrm>
            <a:off x="6050915" y="4027491"/>
            <a:ext cx="360363" cy="720725"/>
          </a:xfrm>
          <a:prstGeom prst="rightArrow">
            <a:avLst>
              <a:gd name="adj1" fmla="val 50000"/>
              <a:gd name="adj2" fmla="val 25000"/>
            </a:avLst>
          </a:prstGeom>
          <a:solidFill>
            <a:schemeClr val="accent1"/>
          </a:solidFill>
          <a:ln>
            <a:noFill/>
          </a:ln>
          <a:effectLst>
            <a:prstShdw prst="shdw17" dist="17961" dir="2700000">
              <a:srgbClr val="879299"/>
            </a:prst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latin typeface="微软雅黑" panose="020B0503020204020204" pitchFamily="34" charset="-122"/>
              <a:ea typeface="微软雅黑" panose="020B0503020204020204" pitchFamily="34" charset="-122"/>
            </a:endParaRPr>
          </a:p>
        </p:txBody>
      </p:sp>
      <p:sp>
        <p:nvSpPr>
          <p:cNvPr id="28" name="AutoShape 69"/>
          <p:cNvSpPr>
            <a:spLocks noChangeArrowheads="1"/>
          </p:cNvSpPr>
          <p:nvPr/>
        </p:nvSpPr>
        <p:spPr bwMode="auto">
          <a:xfrm>
            <a:off x="6555740" y="3738566"/>
            <a:ext cx="3816350" cy="1225550"/>
          </a:xfrm>
          <a:prstGeom prst="roundRect">
            <a:avLst>
              <a:gd name="adj" fmla="val 13745"/>
            </a:avLst>
          </a:prstGeom>
          <a:noFill/>
          <a:ln w="19050">
            <a:solidFill>
              <a:schemeClr val="bg2"/>
            </a:solidFill>
            <a:round/>
          </a:ln>
          <a:extLst>
            <a:ext uri="{909E8E84-426E-40DD-AFC4-6F175D3DCCD1}">
              <a14:hiddenFill xmlns:a14="http://schemas.microsoft.com/office/drawing/2010/main">
                <a:solidFill>
                  <a:srgbClr val="FFFFFF"/>
                </a:solidFill>
              </a14:hiddenFill>
            </a:ext>
          </a:extLst>
        </p:spPr>
        <p:txBody>
          <a:bodyPr/>
          <a:lstStyle>
            <a:lvl1pPr marL="186055" indent="-18605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1600" b="1">
                <a:latin typeface="微软雅黑" panose="020B0503020204020204" pitchFamily="34" charset="-122"/>
                <a:ea typeface="微软雅黑" panose="020B0503020204020204" pitchFamily="34" charset="-122"/>
              </a:rPr>
              <a:t>一切皆服务，延伸到各种应用</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硬件</a:t>
            </a:r>
            <a:r>
              <a:rPr lang="zh-CN" altLang="en-US" sz="1400">
                <a:latin typeface="微软雅黑" panose="020B0503020204020204" pitchFamily="34" charset="-122"/>
                <a:ea typeface="微软雅黑" panose="020B0503020204020204" pitchFamily="34" charset="-122"/>
              </a:rPr>
              <a:t>即服务：终端设备成为服务发布形式</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消息</a:t>
            </a:r>
            <a:r>
              <a:rPr lang="zh-CN" altLang="en-US" sz="1400">
                <a:latin typeface="微软雅黑" panose="020B0503020204020204" pitchFamily="34" charset="-122"/>
                <a:ea typeface="微软雅黑" panose="020B0503020204020204" pitchFamily="34" charset="-122"/>
              </a:rPr>
              <a:t>即服务：消息中间件成为服务</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监控</a:t>
            </a:r>
            <a:r>
              <a:rPr lang="zh-CN" altLang="en-US" sz="1400">
                <a:latin typeface="微软雅黑" panose="020B0503020204020204" pitchFamily="34" charset="-122"/>
                <a:ea typeface="微软雅黑" panose="020B0503020204020204" pitchFamily="34" charset="-122"/>
              </a:rPr>
              <a:t>即服务：监控内容成为服务</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现存各种应用均被</a:t>
            </a:r>
            <a:r>
              <a:rPr lang="zh-CN" altLang="en-US" sz="1400" b="1">
                <a:latin typeface="微软雅黑" panose="020B0503020204020204" pitchFamily="34" charset="-122"/>
                <a:ea typeface="微软雅黑" panose="020B0503020204020204" pitchFamily="34" charset="-122"/>
              </a:rPr>
              <a:t>云服务化</a:t>
            </a:r>
            <a:r>
              <a:rPr lang="en-US" altLang="zh-CN" sz="1400">
                <a:latin typeface="微软雅黑" panose="020B0503020204020204" pitchFamily="34" charset="-122"/>
                <a:ea typeface="微软雅黑" panose="020B0503020204020204" pitchFamily="34" charset="-122"/>
              </a:rPr>
              <a:t>…</a:t>
            </a:r>
            <a:endParaRPr lang="en-US" altLang="zh-CN" sz="1400">
              <a:latin typeface="微软雅黑" panose="020B0503020204020204" pitchFamily="34" charset="-122"/>
              <a:ea typeface="微软雅黑" panose="020B0503020204020204" pitchFamily="34" charset="-122"/>
            </a:endParaRPr>
          </a:p>
        </p:txBody>
      </p:sp>
      <p:sp>
        <p:nvSpPr>
          <p:cNvPr id="29" name="AutoShape 70"/>
          <p:cNvSpPr>
            <a:spLocks noChangeArrowheads="1"/>
          </p:cNvSpPr>
          <p:nvPr/>
        </p:nvSpPr>
        <p:spPr bwMode="auto">
          <a:xfrm>
            <a:off x="2163128" y="5611816"/>
            <a:ext cx="8208962" cy="1152525"/>
          </a:xfrm>
          <a:prstGeom prst="roundRect">
            <a:avLst>
              <a:gd name="adj" fmla="val 16667"/>
            </a:avLst>
          </a:prstGeom>
          <a:solidFill>
            <a:srgbClr val="FFFFFF"/>
          </a:solidFill>
          <a:ln w="9525">
            <a:solidFill>
              <a:schemeClr val="bg2"/>
            </a:solidFill>
            <a:round/>
          </a:ln>
          <a:effectLst>
            <a:prstShdw prst="shdw17" dist="17961" dir="2700000">
              <a:srgbClr val="858585"/>
            </a:prstShdw>
          </a:effectLst>
        </p:spPr>
        <p:txBody>
          <a:bodyPr wrap="none" anchor="ctr"/>
          <a:lstStyle>
            <a:lvl1pPr marL="186055" indent="-18605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更为</a:t>
            </a:r>
            <a:r>
              <a:rPr lang="zh-CN" altLang="en-US" sz="1400" b="1">
                <a:latin typeface="微软雅黑" panose="020B0503020204020204" pitchFamily="34" charset="-122"/>
                <a:ea typeface="微软雅黑" panose="020B0503020204020204" pitchFamily="34" charset="-122"/>
              </a:rPr>
              <a:t>便捷</a:t>
            </a:r>
            <a:r>
              <a:rPr lang="zh-CN" altLang="en-US" sz="1400">
                <a:latin typeface="微软雅黑" panose="020B0503020204020204" pitchFamily="34" charset="-122"/>
                <a:ea typeface="微软雅黑" panose="020B0503020204020204" pitchFamily="34" charset="-122"/>
              </a:rPr>
              <a:t>：就像现在水、电、气、通信那样简单，打开即用，关闭即停，按需使用，用完充值</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隐私和信息</a:t>
            </a:r>
            <a:r>
              <a:rPr lang="zh-CN" altLang="en-US" sz="1400" b="1">
                <a:latin typeface="微软雅黑" panose="020B0503020204020204" pitchFamily="34" charset="-122"/>
                <a:ea typeface="微软雅黑" panose="020B0503020204020204" pitchFamily="34" charset="-122"/>
              </a:rPr>
              <a:t>安全</a:t>
            </a:r>
            <a:r>
              <a:rPr lang="zh-CN" altLang="en-US" sz="1400">
                <a:latin typeface="微软雅黑" panose="020B0503020204020204" pitchFamily="34" charset="-122"/>
                <a:ea typeface="微软雅黑" panose="020B0503020204020204" pitchFamily="34" charset="-122"/>
              </a:rPr>
              <a:t>更有保障：用户信息隔离、网络传输加密、高强度身份认证、服务商数据安全审核</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a:latin typeface="微软雅黑" panose="020B0503020204020204" pitchFamily="34" charset="-122"/>
                <a:ea typeface="微软雅黑" panose="020B0503020204020204" pitchFamily="34" charset="-122"/>
              </a:rPr>
              <a:t>更</a:t>
            </a:r>
            <a:r>
              <a:rPr lang="zh-CN" altLang="en-US" sz="1400" b="1">
                <a:latin typeface="微软雅黑" panose="020B0503020204020204" pitchFamily="34" charset="-122"/>
                <a:ea typeface="微软雅黑" panose="020B0503020204020204" pitchFamily="34" charset="-122"/>
              </a:rPr>
              <a:t>智能</a:t>
            </a:r>
            <a:r>
              <a:rPr lang="zh-CN" altLang="en-US" sz="1400">
                <a:latin typeface="微软雅黑" panose="020B0503020204020204" pitchFamily="34" charset="-122"/>
                <a:ea typeface="微软雅黑" panose="020B0503020204020204" pitchFamily="34" charset="-122"/>
              </a:rPr>
              <a:t>化：用户服务状态恢复、信息推荐、精准营销、预测用户潜在信息需求、</a:t>
            </a:r>
            <a:endParaRPr lang="zh-CN" altLang="en-US" sz="1400">
              <a:latin typeface="微软雅黑" panose="020B0503020204020204" pitchFamily="34" charset="-122"/>
              <a:ea typeface="微软雅黑" panose="020B0503020204020204" pitchFamily="34" charset="-122"/>
            </a:endParaRPr>
          </a:p>
          <a:p>
            <a:pPr>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rPr>
              <a:t>差异化</a:t>
            </a:r>
            <a:r>
              <a:rPr lang="zh-CN" altLang="en-US" sz="1400">
                <a:latin typeface="微软雅黑" panose="020B0503020204020204" pitchFamily="34" charset="-122"/>
                <a:ea typeface="微软雅黑" panose="020B0503020204020204" pitchFamily="34" charset="-122"/>
              </a:rPr>
              <a:t>服务：提供从免费、普通用户、中端用户、高端用户的各种服务，按质论价</a:t>
            </a: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noProof="1"/>
              <a:t>云计算特点</a:t>
            </a:r>
            <a:endParaRPr lang="en-US" altLang="zh-CN" noProof="1"/>
          </a:p>
          <a:p>
            <a:pPr lvl="1"/>
            <a:r>
              <a:rPr lang="zh-CN" altLang="en-US" dirty="0"/>
              <a:t>超大规模 </a:t>
            </a:r>
            <a:endParaRPr lang="zh-CN" altLang="en-US" dirty="0"/>
          </a:p>
          <a:p>
            <a:pPr lvl="1"/>
            <a:r>
              <a:rPr lang="zh-CN" altLang="en-US" dirty="0"/>
              <a:t>虚拟化</a:t>
            </a:r>
            <a:endParaRPr lang="zh-CN" altLang="en-US" dirty="0"/>
          </a:p>
          <a:p>
            <a:pPr lvl="1"/>
            <a:r>
              <a:rPr lang="zh-CN" altLang="en-US" dirty="0"/>
              <a:t>高可靠性 </a:t>
            </a:r>
            <a:endParaRPr lang="zh-CN" altLang="en-US" dirty="0"/>
          </a:p>
          <a:p>
            <a:pPr lvl="1"/>
            <a:r>
              <a:rPr lang="zh-CN" altLang="en-US" dirty="0"/>
              <a:t>高通用性 </a:t>
            </a:r>
            <a:endParaRPr lang="zh-CN" altLang="en-US" dirty="0"/>
          </a:p>
          <a:p>
            <a:pPr lvl="1"/>
            <a:r>
              <a:rPr lang="zh-CN" altLang="en-US" dirty="0"/>
              <a:t>高可伸缩性</a:t>
            </a:r>
            <a:endParaRPr lang="zh-CN" altLang="en-US" dirty="0"/>
          </a:p>
          <a:p>
            <a:pPr lvl="1"/>
            <a:r>
              <a:rPr lang="zh-CN" altLang="en-US" dirty="0"/>
              <a:t>多租户  </a:t>
            </a:r>
            <a:endParaRPr lang="zh-CN" altLang="en-US" dirty="0"/>
          </a:p>
          <a:p>
            <a:pPr lvl="1"/>
            <a:r>
              <a:rPr lang="zh-CN" altLang="en-US" dirty="0"/>
              <a:t>按需服务 </a:t>
            </a:r>
            <a:endParaRPr lang="zh-CN" altLang="en-US" dirty="0"/>
          </a:p>
          <a:p>
            <a:pPr lvl="1"/>
            <a:r>
              <a:rPr lang="zh-CN" altLang="en-US" dirty="0"/>
              <a:t>极其廉价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noProof="1"/>
              <a:t>云计算服务类型</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graphicFrame>
        <p:nvGraphicFramePr>
          <p:cNvPr id="6" name="对象 30723"/>
          <p:cNvGraphicFramePr/>
          <p:nvPr/>
        </p:nvGraphicFramePr>
        <p:xfrm>
          <a:off x="3422904" y="1779355"/>
          <a:ext cx="6096000" cy="2843212"/>
        </p:xfrm>
        <a:graphic>
          <a:graphicData uri="http://schemas.openxmlformats.org/presentationml/2006/ole">
            <mc:AlternateContent xmlns:mc="http://schemas.openxmlformats.org/markup-compatibility/2006">
              <mc:Choice xmlns:v="urn:schemas-microsoft-com:vml" Requires="v">
                <p:oleObj spid="_x0000_s2050" name="" r:id="rId1" imgW="1552575" imgH="748030" progId="Word.Picture.8">
                  <p:embed/>
                </p:oleObj>
              </mc:Choice>
              <mc:Fallback>
                <p:oleObj name="" r:id="rId1" imgW="1552575" imgH="748030" progId="Word.Picture.8">
                  <p:embed/>
                  <p:pic>
                    <p:nvPicPr>
                      <p:cNvPr id="0" name="对象 307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2904" y="1779355"/>
                        <a:ext cx="6096000"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AutoShape 27"/>
          <p:cNvSpPr>
            <a:spLocks noChangeArrowheads="1"/>
          </p:cNvSpPr>
          <p:nvPr/>
        </p:nvSpPr>
        <p:spPr bwMode="gray">
          <a:xfrm>
            <a:off x="7490079" y="4681305"/>
            <a:ext cx="688975" cy="671512"/>
          </a:xfrm>
          <a:prstGeom prst="cube">
            <a:avLst>
              <a:gd name="adj" fmla="val 17060"/>
            </a:avLst>
          </a:prstGeom>
          <a:solidFill>
            <a:srgbClr val="0DC0FF"/>
          </a:solidFill>
          <a:ln w="9525">
            <a:noFill/>
            <a:miter lim="800000"/>
          </a:ln>
          <a:effectLst/>
        </p:spPr>
        <p:txBody>
          <a:bodyPr wrap="none" anchor="ctr"/>
          <a:lstStyle/>
          <a:p>
            <a:pPr defTabSz="913765" eaLnBrk="1" fontAlgn="auto" hangingPunct="1">
              <a:spcBef>
                <a:spcPts val="0"/>
              </a:spcBef>
              <a:spcAft>
                <a:spcPts val="0"/>
              </a:spcAft>
              <a:defRPr/>
            </a:pPr>
            <a:endParaRPr lang="zh-CN" altLang="en-US" sz="2800" b="1" kern="0" dirty="0">
              <a:solidFill>
                <a:sysClr val="windowText" lastClr="000000"/>
              </a:solidFill>
              <a:latin typeface="华文细黑" panose="02010600040101010101" pitchFamily="2" charset="-122"/>
              <a:ea typeface="华文细黑" panose="02010600040101010101" pitchFamily="2" charset="-122"/>
            </a:endParaRPr>
          </a:p>
        </p:txBody>
      </p:sp>
      <p:sp>
        <p:nvSpPr>
          <p:cNvPr id="8" name="AutoShape 28"/>
          <p:cNvSpPr>
            <a:spLocks noChangeArrowheads="1"/>
          </p:cNvSpPr>
          <p:nvPr/>
        </p:nvSpPr>
        <p:spPr bwMode="gray">
          <a:xfrm>
            <a:off x="8140954" y="4760680"/>
            <a:ext cx="2257425" cy="442912"/>
          </a:xfrm>
          <a:prstGeom prst="cube">
            <a:avLst>
              <a:gd name="adj" fmla="val 12949"/>
            </a:avLst>
          </a:prstGeom>
          <a:gradFill rotWithShape="1">
            <a:gsLst>
              <a:gs pos="0">
                <a:srgbClr val="99CC00">
                  <a:gamma/>
                  <a:shade val="84314"/>
                  <a:invGamma/>
                </a:srgbClr>
              </a:gs>
              <a:gs pos="100000">
                <a:srgbClr val="99CC00"/>
              </a:gs>
            </a:gsLst>
            <a:lin ang="2700000" scaled="1"/>
          </a:gradFill>
          <a:ln w="9525">
            <a:noFill/>
            <a:miter lim="800000"/>
          </a:ln>
          <a:effectLst/>
        </p:spPr>
        <p:txBody>
          <a:bodyPr wrap="none" anchor="ctr"/>
          <a:lstStyle/>
          <a:p>
            <a:pPr defTabSz="913765" eaLnBrk="1" fontAlgn="auto" hangingPunct="1">
              <a:spcBef>
                <a:spcPts val="0"/>
              </a:spcBef>
              <a:spcAft>
                <a:spcPts val="0"/>
              </a:spcAft>
              <a:defRPr/>
            </a:pPr>
            <a:endParaRPr lang="zh-CN" altLang="en-US" sz="2800" b="1" kern="0" dirty="0">
              <a:solidFill>
                <a:sysClr val="windowText" lastClr="000000"/>
              </a:solidFill>
              <a:latin typeface="华文细黑" panose="02010600040101010101" pitchFamily="2" charset="-122"/>
              <a:ea typeface="华文细黑" panose="02010600040101010101" pitchFamily="2" charset="-122"/>
            </a:endParaRPr>
          </a:p>
        </p:txBody>
      </p:sp>
      <p:sp>
        <p:nvSpPr>
          <p:cNvPr id="9" name="Text Box 29"/>
          <p:cNvSpPr txBox="1">
            <a:spLocks noChangeArrowheads="1"/>
          </p:cNvSpPr>
          <p:nvPr/>
        </p:nvSpPr>
        <p:spPr bwMode="auto">
          <a:xfrm>
            <a:off x="8155242" y="4824180"/>
            <a:ext cx="2163762" cy="396875"/>
          </a:xfrm>
          <a:prstGeom prst="rect">
            <a:avLst/>
          </a:prstGeom>
          <a:noFill/>
          <a:ln>
            <a:noFill/>
          </a:ln>
          <a:effectLst>
            <a:outerShdw dist="17961" dir="2700000" algn="ctr" rotWithShape="0">
              <a:srgbClr val="4D4D4D">
                <a:alpha val="2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sz="2000" b="1">
                <a:solidFill>
                  <a:srgbClr val="FAFAFA"/>
                </a:solidFill>
                <a:latin typeface="黑体" panose="02010609060101010101" pitchFamily="49" charset="-122"/>
                <a:ea typeface="黑体" panose="02010609060101010101" pitchFamily="49" charset="-122"/>
              </a:rPr>
              <a:t>SaaS</a:t>
            </a:r>
            <a:endParaRPr lang="en-US" altLang="zh-CN" sz="2000" b="1">
              <a:solidFill>
                <a:srgbClr val="FAFAFA"/>
              </a:solidFill>
              <a:latin typeface="黑体" panose="02010609060101010101" pitchFamily="49" charset="-122"/>
              <a:ea typeface="黑体" panose="02010609060101010101" pitchFamily="49" charset="-122"/>
            </a:endParaRPr>
          </a:p>
        </p:txBody>
      </p:sp>
      <p:sp>
        <p:nvSpPr>
          <p:cNvPr id="10" name="Text Box 30"/>
          <p:cNvSpPr txBox="1">
            <a:spLocks noChangeArrowheads="1"/>
          </p:cNvSpPr>
          <p:nvPr/>
        </p:nvSpPr>
        <p:spPr bwMode="auto">
          <a:xfrm>
            <a:off x="7458329" y="4881330"/>
            <a:ext cx="682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b="1">
                <a:solidFill>
                  <a:srgbClr val="FFFFFF"/>
                </a:solidFill>
                <a:latin typeface="华文细黑" panose="02010600040101010101" pitchFamily="2" charset="-122"/>
                <a:ea typeface="华文细黑" panose="02010600040101010101" pitchFamily="2" charset="-122"/>
              </a:rPr>
              <a:t>03</a:t>
            </a:r>
            <a:endParaRPr lang="en-US" altLang="zh-CN" sz="2800" b="1">
              <a:solidFill>
                <a:srgbClr val="FFFFFF"/>
              </a:solidFill>
              <a:latin typeface="华文细黑" panose="02010600040101010101" pitchFamily="2" charset="-122"/>
              <a:ea typeface="华文细黑" panose="02010600040101010101" pitchFamily="2" charset="-122"/>
            </a:endParaRPr>
          </a:p>
        </p:txBody>
      </p:sp>
      <p:sp>
        <p:nvSpPr>
          <p:cNvPr id="11" name="AutoShape 31"/>
          <p:cNvSpPr>
            <a:spLocks noChangeArrowheads="1"/>
          </p:cNvSpPr>
          <p:nvPr/>
        </p:nvSpPr>
        <p:spPr bwMode="gray">
          <a:xfrm>
            <a:off x="4451604" y="4681305"/>
            <a:ext cx="674688" cy="671512"/>
          </a:xfrm>
          <a:prstGeom prst="cube">
            <a:avLst>
              <a:gd name="adj" fmla="val 17060"/>
            </a:avLst>
          </a:prstGeom>
          <a:solidFill>
            <a:srgbClr val="0DC0FF"/>
          </a:solidFill>
          <a:ln w="9525">
            <a:noFill/>
            <a:miter lim="800000"/>
          </a:ln>
          <a:effectLst/>
        </p:spPr>
        <p:txBody>
          <a:bodyPr wrap="none" anchor="ctr"/>
          <a:lstStyle/>
          <a:p>
            <a:pPr defTabSz="913765" eaLnBrk="1" fontAlgn="auto" hangingPunct="1">
              <a:spcBef>
                <a:spcPts val="0"/>
              </a:spcBef>
              <a:spcAft>
                <a:spcPts val="0"/>
              </a:spcAft>
              <a:defRPr/>
            </a:pPr>
            <a:endParaRPr lang="zh-CN" altLang="en-US" sz="2800" b="1" kern="0" dirty="0">
              <a:solidFill>
                <a:sysClr val="windowText" lastClr="000000"/>
              </a:solidFill>
              <a:latin typeface="华文细黑" panose="02010600040101010101" pitchFamily="2" charset="-122"/>
              <a:ea typeface="华文细黑" panose="02010600040101010101" pitchFamily="2" charset="-122"/>
            </a:endParaRPr>
          </a:p>
        </p:txBody>
      </p:sp>
      <p:sp>
        <p:nvSpPr>
          <p:cNvPr id="12" name="AutoShape 32"/>
          <p:cNvSpPr>
            <a:spLocks noChangeArrowheads="1"/>
          </p:cNvSpPr>
          <p:nvPr/>
        </p:nvSpPr>
        <p:spPr bwMode="gray">
          <a:xfrm>
            <a:off x="5027867" y="4760680"/>
            <a:ext cx="2430462" cy="442912"/>
          </a:xfrm>
          <a:prstGeom prst="cube">
            <a:avLst>
              <a:gd name="adj" fmla="val 12949"/>
            </a:avLst>
          </a:prstGeom>
          <a:gradFill rotWithShape="1">
            <a:gsLst>
              <a:gs pos="0">
                <a:srgbClr val="BBE0E3">
                  <a:lumMod val="50000"/>
                </a:srgbClr>
              </a:gs>
              <a:gs pos="100000">
                <a:srgbClr val="009999"/>
              </a:gs>
            </a:gsLst>
            <a:lin ang="2700000" scaled="1"/>
          </a:gradFill>
          <a:ln w="9525">
            <a:noFill/>
            <a:miter lim="800000"/>
          </a:ln>
          <a:effectLst/>
        </p:spPr>
        <p:txBody>
          <a:bodyPr wrap="none" anchor="ctr"/>
          <a:lstStyle/>
          <a:p>
            <a:pPr defTabSz="913765" eaLnBrk="1" fontAlgn="auto" hangingPunct="1">
              <a:spcBef>
                <a:spcPts val="0"/>
              </a:spcBef>
              <a:spcAft>
                <a:spcPts val="0"/>
              </a:spcAft>
              <a:defRPr/>
            </a:pPr>
            <a:endParaRPr lang="zh-CN" altLang="en-US" sz="2800" b="1" kern="0" dirty="0">
              <a:solidFill>
                <a:sysClr val="windowText" lastClr="000000"/>
              </a:solidFill>
              <a:latin typeface="华文细黑" panose="02010600040101010101" pitchFamily="2" charset="-122"/>
              <a:ea typeface="华文细黑" panose="02010600040101010101" pitchFamily="2" charset="-122"/>
            </a:endParaRPr>
          </a:p>
        </p:txBody>
      </p:sp>
      <p:sp>
        <p:nvSpPr>
          <p:cNvPr id="13" name="Text Box 34"/>
          <p:cNvSpPr txBox="1">
            <a:spLocks noChangeArrowheads="1"/>
          </p:cNvSpPr>
          <p:nvPr/>
        </p:nvSpPr>
        <p:spPr bwMode="auto">
          <a:xfrm>
            <a:off x="4380167" y="4881330"/>
            <a:ext cx="682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b="1">
                <a:solidFill>
                  <a:srgbClr val="FFFFFF"/>
                </a:solidFill>
                <a:latin typeface="华文细黑" panose="02010600040101010101" pitchFamily="2" charset="-122"/>
                <a:ea typeface="华文细黑" panose="02010600040101010101" pitchFamily="2" charset="-122"/>
              </a:rPr>
              <a:t>02</a:t>
            </a:r>
            <a:endParaRPr lang="en-US" altLang="zh-CN" sz="2800" b="1">
              <a:solidFill>
                <a:srgbClr val="FFFFFF"/>
              </a:solidFill>
              <a:latin typeface="华文细黑" panose="02010600040101010101" pitchFamily="2" charset="-122"/>
              <a:ea typeface="华文细黑" panose="02010600040101010101" pitchFamily="2" charset="-122"/>
            </a:endParaRPr>
          </a:p>
        </p:txBody>
      </p:sp>
      <p:sp>
        <p:nvSpPr>
          <p:cNvPr id="14" name="AutoShape 35"/>
          <p:cNvSpPr>
            <a:spLocks noChangeArrowheads="1"/>
          </p:cNvSpPr>
          <p:nvPr/>
        </p:nvSpPr>
        <p:spPr bwMode="gray">
          <a:xfrm>
            <a:off x="1617917" y="4681305"/>
            <a:ext cx="809625" cy="671512"/>
          </a:xfrm>
          <a:prstGeom prst="cube">
            <a:avLst>
              <a:gd name="adj" fmla="val 17060"/>
            </a:avLst>
          </a:prstGeom>
          <a:solidFill>
            <a:srgbClr val="0DC0FF"/>
          </a:solidFill>
          <a:ln w="9525">
            <a:noFill/>
            <a:miter lim="800000"/>
          </a:ln>
          <a:effectLst/>
        </p:spPr>
        <p:txBody>
          <a:bodyPr wrap="none" anchor="ctr"/>
          <a:lstStyle/>
          <a:p>
            <a:pPr defTabSz="913765" eaLnBrk="1" fontAlgn="auto" hangingPunct="1">
              <a:spcBef>
                <a:spcPts val="0"/>
              </a:spcBef>
              <a:spcAft>
                <a:spcPts val="0"/>
              </a:spcAft>
              <a:defRPr/>
            </a:pPr>
            <a:endParaRPr lang="zh-CN" altLang="en-US" sz="2800" b="1" kern="0" dirty="0">
              <a:solidFill>
                <a:sysClr val="windowText" lastClr="000000"/>
              </a:solidFill>
              <a:latin typeface="华文细黑" panose="02010600040101010101" pitchFamily="2" charset="-122"/>
              <a:ea typeface="华文细黑" panose="02010600040101010101" pitchFamily="2" charset="-122"/>
            </a:endParaRPr>
          </a:p>
        </p:txBody>
      </p:sp>
      <p:sp>
        <p:nvSpPr>
          <p:cNvPr id="15" name="AutoShape 36"/>
          <p:cNvSpPr>
            <a:spLocks noChangeArrowheads="1"/>
          </p:cNvSpPr>
          <p:nvPr/>
        </p:nvSpPr>
        <p:spPr bwMode="gray">
          <a:xfrm>
            <a:off x="2302129" y="4778142"/>
            <a:ext cx="2149475" cy="442913"/>
          </a:xfrm>
          <a:prstGeom prst="cube">
            <a:avLst>
              <a:gd name="adj" fmla="val 12949"/>
            </a:avLst>
          </a:prstGeom>
          <a:gradFill rotWithShape="1">
            <a:gsLst>
              <a:gs pos="0">
                <a:srgbClr val="333399">
                  <a:lumMod val="40000"/>
                  <a:lumOff val="60000"/>
                </a:srgbClr>
              </a:gs>
              <a:gs pos="100000">
                <a:srgbClr val="333399"/>
              </a:gs>
            </a:gsLst>
            <a:lin ang="2700000" scaled="1"/>
          </a:gradFill>
          <a:ln w="9525">
            <a:noFill/>
            <a:miter lim="800000"/>
          </a:ln>
          <a:effectLst/>
        </p:spPr>
        <p:txBody>
          <a:bodyPr wrap="none" anchor="ctr"/>
          <a:lstStyle/>
          <a:p>
            <a:pPr defTabSz="913765" eaLnBrk="1" fontAlgn="auto" hangingPunct="1">
              <a:spcBef>
                <a:spcPts val="0"/>
              </a:spcBef>
              <a:spcAft>
                <a:spcPts val="0"/>
              </a:spcAft>
              <a:defRPr/>
            </a:pPr>
            <a:endParaRPr lang="zh-CN" altLang="en-US" sz="2800" b="1" kern="0" dirty="0">
              <a:solidFill>
                <a:sysClr val="windowText" lastClr="000000"/>
              </a:solidFill>
              <a:latin typeface="华文细黑" panose="02010600040101010101" pitchFamily="2" charset="-122"/>
              <a:ea typeface="华文细黑" panose="02010600040101010101" pitchFamily="2" charset="-122"/>
            </a:endParaRPr>
          </a:p>
        </p:txBody>
      </p:sp>
      <p:sp>
        <p:nvSpPr>
          <p:cNvPr id="16" name="Text Box 37"/>
          <p:cNvSpPr txBox="1">
            <a:spLocks noChangeArrowheads="1"/>
          </p:cNvSpPr>
          <p:nvPr/>
        </p:nvSpPr>
        <p:spPr bwMode="auto">
          <a:xfrm>
            <a:off x="5250117" y="4824180"/>
            <a:ext cx="1971675" cy="396875"/>
          </a:xfrm>
          <a:prstGeom prst="rect">
            <a:avLst/>
          </a:prstGeom>
          <a:noFill/>
          <a:ln>
            <a:noFill/>
          </a:ln>
          <a:effectLst>
            <a:outerShdw dist="17961" dir="2700000" algn="ctr" rotWithShape="0">
              <a:srgbClr val="4D4D4D">
                <a:alpha val="2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sz="2000" b="1">
                <a:solidFill>
                  <a:srgbClr val="FAFAFA"/>
                </a:solidFill>
                <a:latin typeface="黑体" panose="02010609060101010101" pitchFamily="49" charset="-122"/>
                <a:ea typeface="黑体" panose="02010609060101010101" pitchFamily="49" charset="-122"/>
              </a:rPr>
              <a:t>PaaS</a:t>
            </a:r>
            <a:endParaRPr lang="en-US" altLang="zh-CN" sz="2000" b="1">
              <a:solidFill>
                <a:srgbClr val="FAFAFA"/>
              </a:solidFill>
              <a:latin typeface="黑体" panose="02010609060101010101" pitchFamily="49" charset="-122"/>
              <a:ea typeface="黑体" panose="02010609060101010101" pitchFamily="49" charset="-122"/>
            </a:endParaRPr>
          </a:p>
        </p:txBody>
      </p:sp>
      <p:sp>
        <p:nvSpPr>
          <p:cNvPr id="17" name="Text Box 38"/>
          <p:cNvSpPr txBox="1">
            <a:spLocks noChangeArrowheads="1"/>
          </p:cNvSpPr>
          <p:nvPr/>
        </p:nvSpPr>
        <p:spPr bwMode="auto">
          <a:xfrm>
            <a:off x="1617917" y="4881330"/>
            <a:ext cx="6842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800" b="1">
                <a:solidFill>
                  <a:srgbClr val="FFFFFF"/>
                </a:solidFill>
                <a:latin typeface="华文细黑" panose="02010600040101010101" pitchFamily="2" charset="-122"/>
                <a:ea typeface="华文细黑" panose="02010600040101010101" pitchFamily="2" charset="-122"/>
              </a:rPr>
              <a:t>01</a:t>
            </a:r>
            <a:endParaRPr lang="en-US" altLang="zh-CN" sz="2800" b="1">
              <a:solidFill>
                <a:srgbClr val="FFFFFF"/>
              </a:solidFill>
              <a:latin typeface="华文细黑" panose="02010600040101010101" pitchFamily="2" charset="-122"/>
              <a:ea typeface="华文细黑" panose="02010600040101010101" pitchFamily="2" charset="-122"/>
            </a:endParaRPr>
          </a:p>
        </p:txBody>
      </p:sp>
      <p:sp>
        <p:nvSpPr>
          <p:cNvPr id="18" name="Text Box 33"/>
          <p:cNvSpPr txBox="1">
            <a:spLocks noChangeArrowheads="1"/>
          </p:cNvSpPr>
          <p:nvPr/>
        </p:nvSpPr>
        <p:spPr bwMode="auto">
          <a:xfrm>
            <a:off x="2302129" y="4806717"/>
            <a:ext cx="2149475" cy="396875"/>
          </a:xfrm>
          <a:prstGeom prst="rect">
            <a:avLst/>
          </a:prstGeom>
          <a:noFill/>
          <a:ln>
            <a:noFill/>
          </a:ln>
          <a:effectLst>
            <a:outerShdw dist="17961" dir="2700000" algn="ctr" rotWithShape="0">
              <a:srgbClr val="4D4D4D">
                <a:alpha val="2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sz="2000" b="1">
                <a:solidFill>
                  <a:srgbClr val="FAFAFA"/>
                </a:solidFill>
                <a:latin typeface="黑体" panose="02010609060101010101" pitchFamily="49" charset="-122"/>
                <a:ea typeface="黑体" panose="02010609060101010101" pitchFamily="49" charset="-122"/>
              </a:rPr>
              <a:t>IaaS</a:t>
            </a:r>
            <a:endParaRPr lang="en-US" altLang="zh-CN" sz="2000" b="1">
              <a:solidFill>
                <a:srgbClr val="FAFAFA"/>
              </a:solidFill>
              <a:latin typeface="黑体" panose="02010609060101010101" pitchFamily="49" charset="-122"/>
              <a:ea typeface="黑体" panose="02010609060101010101" pitchFamily="49" charset="-122"/>
            </a:endParaRPr>
          </a:p>
        </p:txBody>
      </p:sp>
      <p:cxnSp>
        <p:nvCxnSpPr>
          <p:cNvPr id="19" name="直接连接符 114"/>
          <p:cNvCxnSpPr>
            <a:cxnSpLocks noChangeShapeType="1"/>
          </p:cNvCxnSpPr>
          <p:nvPr/>
        </p:nvCxnSpPr>
        <p:spPr bwMode="auto">
          <a:xfrm>
            <a:off x="4670679" y="5402030"/>
            <a:ext cx="3175" cy="1071922"/>
          </a:xfrm>
          <a:prstGeom prst="line">
            <a:avLst/>
          </a:prstGeom>
          <a:noFill/>
          <a:ln w="28575">
            <a:solidFill>
              <a:schemeClr val="tx1"/>
            </a:solidFill>
            <a:prstDash val="dash"/>
            <a:round/>
          </a:ln>
          <a:extLst>
            <a:ext uri="{909E8E84-426E-40DD-AFC4-6F175D3DCCD1}">
              <a14:hiddenFill xmlns:a14="http://schemas.microsoft.com/office/drawing/2010/main">
                <a:noFill/>
              </a14:hiddenFill>
            </a:ext>
          </a:extLst>
        </p:spPr>
      </p:cxnSp>
      <p:sp>
        <p:nvSpPr>
          <p:cNvPr id="20" name="矩形 17"/>
          <p:cNvSpPr>
            <a:spLocks noChangeArrowheads="1"/>
          </p:cNvSpPr>
          <p:nvPr/>
        </p:nvSpPr>
        <p:spPr bwMode="auto">
          <a:xfrm>
            <a:off x="1506792" y="5344880"/>
            <a:ext cx="28733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lnSpc>
                <a:spcPct val="120000"/>
              </a:lnSpc>
              <a:buClr>
                <a:srgbClr val="FF9900"/>
              </a:buClr>
              <a:buSzPct val="80000"/>
              <a:buFont typeface="Wingdings" panose="05000000000000000000" pitchFamily="2" charset="2"/>
              <a:buChar char="n"/>
            </a:pPr>
            <a:r>
              <a:rPr lang="en-US" altLang="en-US" b="1"/>
              <a:t>将硬件设备等基础资源封装成服务供用户使用</a:t>
            </a:r>
            <a:r>
              <a:rPr lang="en-US" altLang="en-US"/>
              <a:t> </a:t>
            </a:r>
            <a:endParaRPr lang="en-US" altLang="en-US"/>
          </a:p>
        </p:txBody>
      </p:sp>
      <p:sp>
        <p:nvSpPr>
          <p:cNvPr id="21" name="矩形 18"/>
          <p:cNvSpPr>
            <a:spLocks noChangeArrowheads="1"/>
          </p:cNvSpPr>
          <p:nvPr/>
        </p:nvSpPr>
        <p:spPr bwMode="auto">
          <a:xfrm>
            <a:off x="4673854" y="5402030"/>
            <a:ext cx="3071813"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lnSpc>
                <a:spcPct val="120000"/>
              </a:lnSpc>
              <a:buClr>
                <a:srgbClr val="FF9900"/>
              </a:buClr>
              <a:buSzPct val="80000"/>
              <a:buFont typeface="Wingdings" panose="05000000000000000000" pitchFamily="2" charset="2"/>
              <a:buChar char="n"/>
            </a:pPr>
            <a:r>
              <a:rPr lang="en-US" altLang="en-US" b="1"/>
              <a:t>对资源的抽象层次更进一步，提供用户应用程序运行环境</a:t>
            </a:r>
            <a:r>
              <a:rPr lang="en-US" altLang="en-US"/>
              <a:t> </a:t>
            </a:r>
            <a:endParaRPr lang="en-US" altLang="en-US"/>
          </a:p>
        </p:txBody>
      </p:sp>
      <p:sp>
        <p:nvSpPr>
          <p:cNvPr id="22" name="矩形 19"/>
          <p:cNvSpPr>
            <a:spLocks noChangeArrowheads="1"/>
          </p:cNvSpPr>
          <p:nvPr/>
        </p:nvSpPr>
        <p:spPr bwMode="auto">
          <a:xfrm>
            <a:off x="7745667" y="5260742"/>
            <a:ext cx="2682875"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nchor="ctr"/>
          <a:lstStyle>
            <a:lvl1pPr marL="177800" indent="-1778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lnSpc>
                <a:spcPct val="120000"/>
              </a:lnSpc>
              <a:buClr>
                <a:srgbClr val="FF9900"/>
              </a:buClr>
              <a:buSzPct val="80000"/>
              <a:buFont typeface="Wingdings" panose="05000000000000000000" pitchFamily="2" charset="2"/>
              <a:buChar char="n"/>
            </a:pPr>
            <a:r>
              <a:rPr lang="en-US" altLang="en-US" b="1"/>
              <a:t>针对性更强，它将某些特定应用软件功能封装成服务</a:t>
            </a:r>
            <a:r>
              <a:rPr lang="en-US" altLang="en-US"/>
              <a:t> </a:t>
            </a:r>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云计算技术体系结构</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graphicFrame>
        <p:nvGraphicFramePr>
          <p:cNvPr id="7" name="Object 4"/>
          <p:cNvGraphicFramePr/>
          <p:nvPr/>
        </p:nvGraphicFramePr>
        <p:xfrm>
          <a:off x="2514600" y="1776412"/>
          <a:ext cx="7162800" cy="4945063"/>
        </p:xfrm>
        <a:graphic>
          <a:graphicData uri="http://schemas.openxmlformats.org/presentationml/2006/ole">
            <mc:AlternateContent xmlns:mc="http://schemas.openxmlformats.org/markup-compatibility/2006">
              <mc:Choice xmlns:v="urn:schemas-microsoft-com:vml" Requires="v">
                <p:oleObj spid="_x0000_s3074" name="" r:id="rId1" imgW="9550400" imgH="6592570" progId="Visio.Drawing.11">
                  <p:embed/>
                </p:oleObj>
              </mc:Choice>
              <mc:Fallback>
                <p:oleObj name="" r:id="rId1" imgW="9550400" imgH="6592570" progId="Visio.Drawing.11">
                  <p:embed/>
                  <p:pic>
                    <p:nvPicPr>
                      <p:cNvPr id="0" name="Object 4"/>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776412"/>
                        <a:ext cx="7162800" cy="494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云计算技术体系结构</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
        <p:nvSpPr>
          <p:cNvPr id="6" name="矩形 50179"/>
          <p:cNvSpPr>
            <a:spLocks noChangeArrowheads="1"/>
          </p:cNvSpPr>
          <p:nvPr/>
        </p:nvSpPr>
        <p:spPr bwMode="auto">
          <a:xfrm>
            <a:off x="2148396" y="2330387"/>
            <a:ext cx="3652837" cy="1503362"/>
          </a:xfrm>
          <a:prstGeom prst="rect">
            <a:avLst/>
          </a:prstGeom>
          <a:gradFill rotWithShape="1">
            <a:gsLst>
              <a:gs pos="0">
                <a:schemeClr val="accent2"/>
              </a:gs>
              <a:gs pos="100000">
                <a:srgbClr val="76695B"/>
              </a:gs>
            </a:gsLst>
            <a:lin ang="5400000" scaled="1"/>
          </a:gradFill>
          <a:ln w="9525">
            <a:miter lim="800000"/>
          </a:ln>
          <a:scene3d>
            <a:camera prst="legacyPerspectiveBottomRight"/>
            <a:lightRig rig="legacyFlat3" dir="b"/>
          </a:scene3d>
          <a:sp3d extrusionH="430200" prstMaterial="legacyMatte">
            <a:bevelT w="13500" h="13500" prst="angle"/>
            <a:bevelB w="13500" h="13500" prst="angle"/>
            <a:extrusionClr>
              <a:schemeClr val="accent2"/>
            </a:extrusionClr>
            <a:contourClr>
              <a:schemeClr val="accent2"/>
            </a:contourClr>
          </a:sp3d>
        </p:spPr>
        <p:txBody>
          <a:bodyP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7" name="矩形 50180"/>
          <p:cNvSpPr>
            <a:spLocks noChangeArrowheads="1"/>
          </p:cNvSpPr>
          <p:nvPr/>
        </p:nvSpPr>
        <p:spPr bwMode="auto">
          <a:xfrm>
            <a:off x="4037521" y="2470087"/>
            <a:ext cx="1455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Clr>
                <a:srgbClr val="FF0066"/>
              </a:buClr>
              <a:buSzPct val="75000"/>
              <a:buFont typeface="Arial" panose="020B0604020202020204" pitchFamily="34" charset="0"/>
              <a:buNone/>
            </a:pPr>
            <a:r>
              <a:rPr lang="en-US" altLang="zh-CN" b="1">
                <a:latin typeface="宋体" panose="02010600030101010101" pitchFamily="2" charset="-122"/>
              </a:rPr>
              <a:t>SOA</a:t>
            </a:r>
            <a:r>
              <a:rPr lang="en-US" altLang="en-US" b="1">
                <a:latin typeface="宋体" panose="02010600030101010101" pitchFamily="2" charset="-122"/>
              </a:rPr>
              <a:t>构建层</a:t>
            </a:r>
            <a:r>
              <a:rPr lang="en-US" altLang="en-US"/>
              <a:t> </a:t>
            </a:r>
            <a:endParaRPr lang="en-US" altLang="zh-CN"/>
          </a:p>
        </p:txBody>
      </p:sp>
      <p:sp>
        <p:nvSpPr>
          <p:cNvPr id="8" name="矩形 50181"/>
          <p:cNvSpPr>
            <a:spLocks noChangeArrowheads="1"/>
          </p:cNvSpPr>
          <p:nvPr/>
        </p:nvSpPr>
        <p:spPr bwMode="auto">
          <a:xfrm>
            <a:off x="6183821" y="2325624"/>
            <a:ext cx="3786187" cy="1503363"/>
          </a:xfrm>
          <a:prstGeom prst="rect">
            <a:avLst/>
          </a:prstGeom>
          <a:gradFill rotWithShape="1">
            <a:gsLst>
              <a:gs pos="0">
                <a:schemeClr val="folHlink"/>
              </a:gs>
              <a:gs pos="100000">
                <a:srgbClr val="4A4A58"/>
              </a:gs>
            </a:gsLst>
            <a:lin ang="5400000" scaled="1"/>
          </a:gradFill>
          <a:ln w="9525">
            <a:miter lim="800000"/>
          </a:ln>
          <a:scene3d>
            <a:camera prst="legacyPerspectiveBottomLeft"/>
            <a:lightRig rig="legacyFlat3" dir="b"/>
          </a:scene3d>
          <a:sp3d extrusionH="430200" prstMaterial="legacyMatte">
            <a:bevelT w="13500" h="13500" prst="angle"/>
            <a:bevelB w="13500" h="13500" prst="angle"/>
            <a:extrusionClr>
              <a:schemeClr val="folHlink"/>
            </a:extrusionClr>
            <a:contourClr>
              <a:schemeClr val="folHlink"/>
            </a:contourClr>
          </a:sp3d>
        </p:spPr>
        <p:txBody>
          <a:bodyP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9" name="矩形 50182"/>
          <p:cNvSpPr>
            <a:spLocks noChangeArrowheads="1"/>
          </p:cNvSpPr>
          <p:nvPr/>
        </p:nvSpPr>
        <p:spPr bwMode="auto">
          <a:xfrm>
            <a:off x="6288596" y="2446274"/>
            <a:ext cx="1644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Clr>
                <a:srgbClr val="FF0066"/>
              </a:buClr>
              <a:buSzPct val="75000"/>
              <a:buFont typeface="Arial" panose="020B0604020202020204" pitchFamily="34" charset="0"/>
              <a:buNone/>
            </a:pPr>
            <a:r>
              <a:rPr lang="en-US" altLang="en-US" b="1"/>
              <a:t>管理中间件层</a:t>
            </a:r>
            <a:r>
              <a:rPr lang="en-US" altLang="en-US"/>
              <a:t> </a:t>
            </a:r>
            <a:endParaRPr lang="en-US" altLang="zh-CN"/>
          </a:p>
        </p:txBody>
      </p:sp>
      <p:sp>
        <p:nvSpPr>
          <p:cNvPr id="10" name="矩形 50183"/>
          <p:cNvSpPr>
            <a:spLocks noChangeArrowheads="1"/>
          </p:cNvSpPr>
          <p:nvPr/>
        </p:nvSpPr>
        <p:spPr bwMode="auto">
          <a:xfrm>
            <a:off x="2146808" y="4265549"/>
            <a:ext cx="3652838" cy="1503363"/>
          </a:xfrm>
          <a:prstGeom prst="rect">
            <a:avLst/>
          </a:prstGeom>
          <a:gradFill rotWithShape="1">
            <a:gsLst>
              <a:gs pos="0">
                <a:srgbClr val="687176"/>
              </a:gs>
              <a:gs pos="100000">
                <a:schemeClr val="accent1"/>
              </a:gs>
            </a:gsLst>
            <a:lin ang="5400000" scaled="1"/>
          </a:gradFill>
          <a:ln w="9525">
            <a:miter lim="800000"/>
          </a:ln>
          <a:scene3d>
            <a:camera prst="legacyPerspectiveTopRight"/>
            <a:lightRig rig="legacyFlat3" dir="b"/>
          </a:scene3d>
          <a:sp3d extrusionH="430200" prstMaterial="legacyMatte">
            <a:bevelT w="13500" h="13500" prst="angle"/>
            <a:bevelB w="13500" h="13500" prst="angle"/>
            <a:extrusionClr>
              <a:schemeClr val="accent1"/>
            </a:extrusionClr>
            <a:contourClr>
              <a:srgbClr val="687176"/>
            </a:contourClr>
          </a:sp3d>
        </p:spPr>
        <p:txBody>
          <a:bodyP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1" name="矩形 50184"/>
          <p:cNvSpPr>
            <a:spLocks noChangeArrowheads="1"/>
          </p:cNvSpPr>
          <p:nvPr/>
        </p:nvSpPr>
        <p:spPr bwMode="auto">
          <a:xfrm>
            <a:off x="4007358" y="5360924"/>
            <a:ext cx="1552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Clr>
                <a:srgbClr val="FF0066"/>
              </a:buClr>
              <a:buSzPct val="75000"/>
              <a:buFont typeface="Arial" panose="020B0604020202020204" pitchFamily="34" charset="0"/>
              <a:buNone/>
            </a:pPr>
            <a:r>
              <a:rPr lang="en-US" altLang="en-US" b="1"/>
              <a:t>物理资源层</a:t>
            </a:r>
            <a:endParaRPr lang="en-US" altLang="en-US" b="1"/>
          </a:p>
        </p:txBody>
      </p:sp>
      <p:sp>
        <p:nvSpPr>
          <p:cNvPr id="12" name="矩形 50185"/>
          <p:cNvSpPr>
            <a:spLocks noChangeArrowheads="1"/>
          </p:cNvSpPr>
          <p:nvPr/>
        </p:nvSpPr>
        <p:spPr bwMode="auto">
          <a:xfrm>
            <a:off x="6188583" y="4267137"/>
            <a:ext cx="3790950" cy="1493837"/>
          </a:xfrm>
          <a:prstGeom prst="rect">
            <a:avLst/>
          </a:prstGeom>
          <a:gradFill rotWithShape="1">
            <a:gsLst>
              <a:gs pos="0">
                <a:srgbClr val="002F5E"/>
              </a:gs>
              <a:gs pos="100000">
                <a:schemeClr val="hlink"/>
              </a:gs>
            </a:gsLst>
            <a:lin ang="5400000" scaled="1"/>
          </a:gradFill>
          <a:ln w="9525">
            <a:miter lim="800000"/>
          </a:ln>
          <a:scene3d>
            <a:camera prst="legacyPerspectiveTopLeft"/>
            <a:lightRig rig="legacyFlat3" dir="b"/>
          </a:scene3d>
          <a:sp3d extrusionH="430200" prstMaterial="legacyMatte">
            <a:bevelT w="13500" h="13500" prst="angle"/>
            <a:bevelB w="13500" h="13500" prst="angle"/>
            <a:extrusionClr>
              <a:schemeClr val="hlink"/>
            </a:extrusionClr>
            <a:contourClr>
              <a:srgbClr val="002F5E"/>
            </a:contourClr>
          </a:sp3d>
        </p:spPr>
        <p:txBody>
          <a:bodyP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3" name="矩形 50186"/>
          <p:cNvSpPr>
            <a:spLocks noChangeArrowheads="1"/>
          </p:cNvSpPr>
          <p:nvPr/>
        </p:nvSpPr>
        <p:spPr bwMode="auto">
          <a:xfrm>
            <a:off x="6717221" y="5345049"/>
            <a:ext cx="1220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Clr>
                <a:srgbClr val="FF0066"/>
              </a:buClr>
              <a:buSzPct val="75000"/>
              <a:buFont typeface="Arial" panose="020B0604020202020204" pitchFamily="34" charset="0"/>
              <a:buNone/>
            </a:pPr>
            <a:r>
              <a:rPr lang="en-US" altLang="en-US" b="1"/>
              <a:t>资源池层</a:t>
            </a:r>
            <a:r>
              <a:rPr lang="en-US" altLang="en-US"/>
              <a:t> </a:t>
            </a:r>
            <a:endParaRPr lang="en-US" altLang="zh-CN"/>
          </a:p>
        </p:txBody>
      </p:sp>
      <p:sp>
        <p:nvSpPr>
          <p:cNvPr id="14" name="文本框 50187"/>
          <p:cNvSpPr txBox="1">
            <a:spLocks noChangeArrowheads="1"/>
          </p:cNvSpPr>
          <p:nvPr/>
        </p:nvSpPr>
        <p:spPr bwMode="auto">
          <a:xfrm>
            <a:off x="2196021" y="4444937"/>
            <a:ext cx="17732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a:latin typeface="黑体" panose="02010609060101010101" pitchFamily="49" charset="-122"/>
                <a:ea typeface="黑体" panose="02010609060101010101" pitchFamily="49" charset="-122"/>
              </a:rPr>
              <a:t>计算机、存储器、网络设施、数据库和软件等 </a:t>
            </a:r>
            <a:endParaRPr lang="en-US" altLang="zh-CN">
              <a:latin typeface="黑体" panose="02010609060101010101" pitchFamily="49" charset="-122"/>
              <a:ea typeface="黑体" panose="02010609060101010101" pitchFamily="49" charset="-122"/>
            </a:endParaRPr>
          </a:p>
        </p:txBody>
      </p:sp>
      <p:sp>
        <p:nvSpPr>
          <p:cNvPr id="15" name="文本框 50188"/>
          <p:cNvSpPr txBox="1">
            <a:spLocks noChangeArrowheads="1"/>
          </p:cNvSpPr>
          <p:nvPr/>
        </p:nvSpPr>
        <p:spPr bwMode="auto">
          <a:xfrm>
            <a:off x="2196021" y="2279587"/>
            <a:ext cx="2003425"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 typeface="Arial" panose="020B0604020202020204" pitchFamily="34" charset="0"/>
              <a:buNone/>
            </a:pPr>
            <a:r>
              <a:rPr lang="zh-CN" altLang="en-US">
                <a:ea typeface="黑体" panose="02010609060101010101" pitchFamily="49" charset="-122"/>
              </a:rPr>
              <a:t>封装</a:t>
            </a:r>
            <a:r>
              <a:rPr lang="zh-CN" altLang="en-US">
                <a:latin typeface="黑体" panose="02010609060101010101" pitchFamily="49" charset="-122"/>
                <a:ea typeface="黑体" panose="02010609060101010101" pitchFamily="49" charset="-122"/>
              </a:rPr>
              <a:t>云计算能力成标准的</a:t>
            </a:r>
            <a:r>
              <a:rPr lang="en-US" altLang="zh-CN">
                <a:latin typeface="黑体" panose="02010609060101010101" pitchFamily="49" charset="-122"/>
                <a:ea typeface="黑体" panose="02010609060101010101" pitchFamily="49" charset="-122"/>
              </a:rPr>
              <a:t>Web Services</a:t>
            </a:r>
            <a:r>
              <a:rPr lang="zh-CN" altLang="en-US">
                <a:latin typeface="黑体" panose="02010609060101010101" pitchFamily="49" charset="-122"/>
                <a:ea typeface="黑体" panose="02010609060101010101" pitchFamily="49" charset="-122"/>
              </a:rPr>
              <a:t>服务，并纳入到</a:t>
            </a:r>
            <a:r>
              <a:rPr lang="en-US" altLang="zh-CN">
                <a:latin typeface="黑体" panose="02010609060101010101" pitchFamily="49" charset="-122"/>
                <a:ea typeface="黑体" panose="02010609060101010101" pitchFamily="49" charset="-122"/>
              </a:rPr>
              <a:t>SOA</a:t>
            </a:r>
            <a:r>
              <a:rPr lang="zh-CN" altLang="en-US">
                <a:latin typeface="黑体" panose="02010609060101010101" pitchFamily="49" charset="-122"/>
                <a:ea typeface="黑体" panose="02010609060101010101" pitchFamily="49" charset="-122"/>
              </a:rPr>
              <a:t>体系</a:t>
            </a:r>
            <a:endParaRPr lang="en-US" altLang="zh-CN">
              <a:latin typeface="黑体" panose="02010609060101010101" pitchFamily="49" charset="-122"/>
              <a:ea typeface="黑体" panose="02010609060101010101" pitchFamily="49" charset="-122"/>
            </a:endParaRPr>
          </a:p>
        </p:txBody>
      </p:sp>
      <p:sp>
        <p:nvSpPr>
          <p:cNvPr id="16" name="文本框 50189"/>
          <p:cNvSpPr txBox="1">
            <a:spLocks noChangeArrowheads="1"/>
          </p:cNvSpPr>
          <p:nvPr/>
        </p:nvSpPr>
        <p:spPr bwMode="auto">
          <a:xfrm>
            <a:off x="7717346" y="2319274"/>
            <a:ext cx="2262187"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a:latin typeface="黑体" panose="02010609060101010101" pitchFamily="49" charset="-122"/>
                <a:ea typeface="黑体" panose="02010609060101010101" pitchFamily="49" charset="-122"/>
              </a:rPr>
              <a:t>云计算的资源管理，并对众多应用任务进行调度，使资源能够高效</a:t>
            </a:r>
            <a:r>
              <a:rPr lang="zh-CN" altLang="en-US">
                <a:ea typeface="黑体" panose="02010609060101010101" pitchFamily="49" charset="-122"/>
              </a:rPr>
              <a:t>、安全地为应用提供服务</a:t>
            </a:r>
            <a:r>
              <a:rPr lang="zh-CN" altLang="en-US"/>
              <a:t> </a:t>
            </a:r>
            <a:endParaRPr lang="en-US" altLang="zh-CN"/>
          </a:p>
        </p:txBody>
      </p:sp>
      <p:sp>
        <p:nvSpPr>
          <p:cNvPr id="17" name="文本框 50190"/>
          <p:cNvSpPr txBox="1">
            <a:spLocks noChangeArrowheads="1"/>
          </p:cNvSpPr>
          <p:nvPr/>
        </p:nvSpPr>
        <p:spPr bwMode="auto">
          <a:xfrm>
            <a:off x="7933246" y="4267137"/>
            <a:ext cx="1944687"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30000"/>
              </a:lnSpc>
              <a:buFont typeface="Arial" panose="020B0604020202020204" pitchFamily="34" charset="0"/>
              <a:buNone/>
            </a:pPr>
            <a:r>
              <a:rPr lang="zh-CN" altLang="en-US">
                <a:latin typeface="黑体" panose="02010609060101010101" pitchFamily="49" charset="-122"/>
                <a:ea typeface="黑体" panose="02010609060101010101" pitchFamily="49" charset="-122"/>
              </a:rPr>
              <a:t>将大量相同类型的资源构成同构或接近同构的资源池</a:t>
            </a:r>
            <a:endParaRPr lang="en-US" altLang="zh-CN">
              <a:latin typeface="黑体" panose="02010609060101010101" pitchFamily="49" charset="-122"/>
              <a:ea typeface="黑体" panose="02010609060101010101" pitchFamily="49" charset="-122"/>
            </a:endParaRPr>
          </a:p>
        </p:txBody>
      </p:sp>
      <p:grpSp>
        <p:nvGrpSpPr>
          <p:cNvPr id="18" name="组合 50191"/>
          <p:cNvGrpSpPr/>
          <p:nvPr/>
        </p:nvGrpSpPr>
        <p:grpSpPr bwMode="auto">
          <a:xfrm>
            <a:off x="6904546" y="4427474"/>
            <a:ext cx="812800" cy="812800"/>
            <a:chOff x="2430" y="1692"/>
            <a:chExt cx="339" cy="339"/>
          </a:xfrm>
        </p:grpSpPr>
        <p:sp>
          <p:nvSpPr>
            <p:cNvPr id="19" name="任意多边形 50192"/>
            <p:cNvSpPr>
              <a:spLocks noEditPoints="1" noChangeArrowheads="1"/>
            </p:cNvSpPr>
            <p:nvPr/>
          </p:nvSpPr>
          <p:spPr bwMode="auto">
            <a:xfrm>
              <a:off x="2430" y="1692"/>
              <a:ext cx="339" cy="339"/>
            </a:xfrm>
            <a:custGeom>
              <a:avLst/>
              <a:gdLst>
                <a:gd name="T0" fmla="*/ 170 w 339"/>
                <a:gd name="T1" fmla="*/ 0 h 339"/>
                <a:gd name="T2" fmla="*/ 131 w 339"/>
                <a:gd name="T3" fmla="*/ 5 h 339"/>
                <a:gd name="T4" fmla="*/ 95 w 339"/>
                <a:gd name="T5" fmla="*/ 17 h 339"/>
                <a:gd name="T6" fmla="*/ 63 w 339"/>
                <a:gd name="T7" fmla="*/ 38 h 339"/>
                <a:gd name="T8" fmla="*/ 38 w 339"/>
                <a:gd name="T9" fmla="*/ 63 h 339"/>
                <a:gd name="T10" fmla="*/ 18 w 339"/>
                <a:gd name="T11" fmla="*/ 95 h 339"/>
                <a:gd name="T12" fmla="*/ 5 w 339"/>
                <a:gd name="T13" fmla="*/ 131 h 339"/>
                <a:gd name="T14" fmla="*/ 0 w 339"/>
                <a:gd name="T15" fmla="*/ 170 h 339"/>
                <a:gd name="T16" fmla="*/ 5 w 339"/>
                <a:gd name="T17" fmla="*/ 209 h 339"/>
                <a:gd name="T18" fmla="*/ 18 w 339"/>
                <a:gd name="T19" fmla="*/ 245 h 339"/>
                <a:gd name="T20" fmla="*/ 38 w 339"/>
                <a:gd name="T21" fmla="*/ 276 h 339"/>
                <a:gd name="T22" fmla="*/ 63 w 339"/>
                <a:gd name="T23" fmla="*/ 302 h 339"/>
                <a:gd name="T24" fmla="*/ 95 w 339"/>
                <a:gd name="T25" fmla="*/ 323 h 339"/>
                <a:gd name="T26" fmla="*/ 131 w 339"/>
                <a:gd name="T27" fmla="*/ 335 h 339"/>
                <a:gd name="T28" fmla="*/ 170 w 339"/>
                <a:gd name="T29" fmla="*/ 339 h 339"/>
                <a:gd name="T30" fmla="*/ 209 w 339"/>
                <a:gd name="T31" fmla="*/ 335 h 339"/>
                <a:gd name="T32" fmla="*/ 245 w 339"/>
                <a:gd name="T33" fmla="*/ 323 h 339"/>
                <a:gd name="T34" fmla="*/ 276 w 339"/>
                <a:gd name="T35" fmla="*/ 302 h 339"/>
                <a:gd name="T36" fmla="*/ 303 w 339"/>
                <a:gd name="T37" fmla="*/ 276 h 339"/>
                <a:gd name="T38" fmla="*/ 323 w 339"/>
                <a:gd name="T39" fmla="*/ 245 h 339"/>
                <a:gd name="T40" fmla="*/ 335 w 339"/>
                <a:gd name="T41" fmla="*/ 209 h 339"/>
                <a:gd name="T42" fmla="*/ 339 w 339"/>
                <a:gd name="T43" fmla="*/ 170 h 339"/>
                <a:gd name="T44" fmla="*/ 335 w 339"/>
                <a:gd name="T45" fmla="*/ 131 h 339"/>
                <a:gd name="T46" fmla="*/ 323 w 339"/>
                <a:gd name="T47" fmla="*/ 95 h 339"/>
                <a:gd name="T48" fmla="*/ 303 w 339"/>
                <a:gd name="T49" fmla="*/ 63 h 339"/>
                <a:gd name="T50" fmla="*/ 276 w 339"/>
                <a:gd name="T51" fmla="*/ 38 h 339"/>
                <a:gd name="T52" fmla="*/ 245 w 339"/>
                <a:gd name="T53" fmla="*/ 17 h 339"/>
                <a:gd name="T54" fmla="*/ 209 w 339"/>
                <a:gd name="T55" fmla="*/ 5 h 339"/>
                <a:gd name="T56" fmla="*/ 170 w 339"/>
                <a:gd name="T57" fmla="*/ 0 h 339"/>
                <a:gd name="T58" fmla="*/ 170 w 339"/>
                <a:gd name="T59" fmla="*/ 294 h 339"/>
                <a:gd name="T60" fmla="*/ 137 w 339"/>
                <a:gd name="T61" fmla="*/ 291 h 339"/>
                <a:gd name="T62" fmla="*/ 107 w 339"/>
                <a:gd name="T63" fmla="*/ 278 h 339"/>
                <a:gd name="T64" fmla="*/ 81 w 339"/>
                <a:gd name="T65" fmla="*/ 258 h 339"/>
                <a:gd name="T66" fmla="*/ 62 w 339"/>
                <a:gd name="T67" fmla="*/ 233 h 339"/>
                <a:gd name="T68" fmla="*/ 50 w 339"/>
                <a:gd name="T69" fmla="*/ 203 h 339"/>
                <a:gd name="T70" fmla="*/ 45 w 339"/>
                <a:gd name="T71" fmla="*/ 170 h 339"/>
                <a:gd name="T72" fmla="*/ 50 w 339"/>
                <a:gd name="T73" fmla="*/ 137 h 339"/>
                <a:gd name="T74" fmla="*/ 62 w 339"/>
                <a:gd name="T75" fmla="*/ 107 h 339"/>
                <a:gd name="T76" fmla="*/ 81 w 339"/>
                <a:gd name="T77" fmla="*/ 81 h 339"/>
                <a:gd name="T78" fmla="*/ 107 w 339"/>
                <a:gd name="T79" fmla="*/ 62 h 339"/>
                <a:gd name="T80" fmla="*/ 137 w 339"/>
                <a:gd name="T81" fmla="*/ 48 h 339"/>
                <a:gd name="T82" fmla="*/ 170 w 339"/>
                <a:gd name="T83" fmla="*/ 44 h 339"/>
                <a:gd name="T84" fmla="*/ 203 w 339"/>
                <a:gd name="T85" fmla="*/ 48 h 339"/>
                <a:gd name="T86" fmla="*/ 233 w 339"/>
                <a:gd name="T87" fmla="*/ 62 h 339"/>
                <a:gd name="T88" fmla="*/ 258 w 339"/>
                <a:gd name="T89" fmla="*/ 81 h 339"/>
                <a:gd name="T90" fmla="*/ 278 w 339"/>
                <a:gd name="T91" fmla="*/ 107 h 339"/>
                <a:gd name="T92" fmla="*/ 291 w 339"/>
                <a:gd name="T93" fmla="*/ 137 h 339"/>
                <a:gd name="T94" fmla="*/ 296 w 339"/>
                <a:gd name="T95" fmla="*/ 170 h 339"/>
                <a:gd name="T96" fmla="*/ 291 w 339"/>
                <a:gd name="T97" fmla="*/ 203 h 339"/>
                <a:gd name="T98" fmla="*/ 278 w 339"/>
                <a:gd name="T99" fmla="*/ 233 h 339"/>
                <a:gd name="T100" fmla="*/ 258 w 339"/>
                <a:gd name="T101" fmla="*/ 258 h 339"/>
                <a:gd name="T102" fmla="*/ 233 w 339"/>
                <a:gd name="T103" fmla="*/ 278 h 339"/>
                <a:gd name="T104" fmla="*/ 203 w 339"/>
                <a:gd name="T105" fmla="*/ 291 h 339"/>
                <a:gd name="T106" fmla="*/ 170 w 339"/>
                <a:gd name="T107" fmla="*/ 294 h 3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39" h="339">
                  <a:moveTo>
                    <a:pt x="170" y="0"/>
                  </a:moveTo>
                  <a:lnTo>
                    <a:pt x="131" y="5"/>
                  </a:lnTo>
                  <a:lnTo>
                    <a:pt x="95" y="17"/>
                  </a:lnTo>
                  <a:lnTo>
                    <a:pt x="63" y="38"/>
                  </a:lnTo>
                  <a:lnTo>
                    <a:pt x="38" y="63"/>
                  </a:lnTo>
                  <a:lnTo>
                    <a:pt x="18" y="95"/>
                  </a:lnTo>
                  <a:lnTo>
                    <a:pt x="5" y="131"/>
                  </a:lnTo>
                  <a:lnTo>
                    <a:pt x="0" y="170"/>
                  </a:lnTo>
                  <a:lnTo>
                    <a:pt x="5" y="209"/>
                  </a:lnTo>
                  <a:lnTo>
                    <a:pt x="18" y="245"/>
                  </a:lnTo>
                  <a:lnTo>
                    <a:pt x="38" y="276"/>
                  </a:lnTo>
                  <a:lnTo>
                    <a:pt x="63" y="302"/>
                  </a:lnTo>
                  <a:lnTo>
                    <a:pt x="95" y="323"/>
                  </a:lnTo>
                  <a:lnTo>
                    <a:pt x="131" y="335"/>
                  </a:lnTo>
                  <a:lnTo>
                    <a:pt x="170" y="339"/>
                  </a:lnTo>
                  <a:lnTo>
                    <a:pt x="209" y="335"/>
                  </a:lnTo>
                  <a:lnTo>
                    <a:pt x="245" y="323"/>
                  </a:lnTo>
                  <a:lnTo>
                    <a:pt x="276" y="302"/>
                  </a:lnTo>
                  <a:lnTo>
                    <a:pt x="303" y="276"/>
                  </a:lnTo>
                  <a:lnTo>
                    <a:pt x="323" y="245"/>
                  </a:lnTo>
                  <a:lnTo>
                    <a:pt x="335" y="209"/>
                  </a:lnTo>
                  <a:lnTo>
                    <a:pt x="339" y="170"/>
                  </a:lnTo>
                  <a:lnTo>
                    <a:pt x="335" y="131"/>
                  </a:lnTo>
                  <a:lnTo>
                    <a:pt x="323" y="95"/>
                  </a:lnTo>
                  <a:lnTo>
                    <a:pt x="303" y="63"/>
                  </a:lnTo>
                  <a:lnTo>
                    <a:pt x="276" y="38"/>
                  </a:lnTo>
                  <a:lnTo>
                    <a:pt x="245" y="17"/>
                  </a:lnTo>
                  <a:lnTo>
                    <a:pt x="209" y="5"/>
                  </a:lnTo>
                  <a:lnTo>
                    <a:pt x="170" y="0"/>
                  </a:lnTo>
                  <a:close/>
                  <a:moveTo>
                    <a:pt x="170" y="294"/>
                  </a:moveTo>
                  <a:lnTo>
                    <a:pt x="137" y="291"/>
                  </a:lnTo>
                  <a:lnTo>
                    <a:pt x="107" y="278"/>
                  </a:lnTo>
                  <a:lnTo>
                    <a:pt x="81" y="258"/>
                  </a:lnTo>
                  <a:lnTo>
                    <a:pt x="62" y="233"/>
                  </a:lnTo>
                  <a:lnTo>
                    <a:pt x="50" y="203"/>
                  </a:lnTo>
                  <a:lnTo>
                    <a:pt x="45" y="170"/>
                  </a:lnTo>
                  <a:lnTo>
                    <a:pt x="50" y="137"/>
                  </a:lnTo>
                  <a:lnTo>
                    <a:pt x="62" y="107"/>
                  </a:lnTo>
                  <a:lnTo>
                    <a:pt x="81" y="81"/>
                  </a:lnTo>
                  <a:lnTo>
                    <a:pt x="107" y="62"/>
                  </a:lnTo>
                  <a:lnTo>
                    <a:pt x="137" y="48"/>
                  </a:lnTo>
                  <a:lnTo>
                    <a:pt x="170" y="44"/>
                  </a:lnTo>
                  <a:lnTo>
                    <a:pt x="203" y="48"/>
                  </a:lnTo>
                  <a:lnTo>
                    <a:pt x="233" y="62"/>
                  </a:lnTo>
                  <a:lnTo>
                    <a:pt x="258" y="81"/>
                  </a:lnTo>
                  <a:lnTo>
                    <a:pt x="278" y="107"/>
                  </a:lnTo>
                  <a:lnTo>
                    <a:pt x="291" y="137"/>
                  </a:lnTo>
                  <a:lnTo>
                    <a:pt x="296" y="170"/>
                  </a:lnTo>
                  <a:lnTo>
                    <a:pt x="291" y="203"/>
                  </a:lnTo>
                  <a:lnTo>
                    <a:pt x="278" y="233"/>
                  </a:lnTo>
                  <a:lnTo>
                    <a:pt x="258" y="258"/>
                  </a:lnTo>
                  <a:lnTo>
                    <a:pt x="233" y="278"/>
                  </a:lnTo>
                  <a:lnTo>
                    <a:pt x="203" y="291"/>
                  </a:lnTo>
                  <a:lnTo>
                    <a:pt x="170" y="294"/>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20" name="任意多边形 50193"/>
            <p:cNvSpPr>
              <a:spLocks noEditPoints="1" noChangeArrowheads="1"/>
            </p:cNvSpPr>
            <p:nvPr/>
          </p:nvSpPr>
          <p:spPr bwMode="auto">
            <a:xfrm>
              <a:off x="2516" y="1799"/>
              <a:ext cx="168" cy="157"/>
            </a:xfrm>
            <a:custGeom>
              <a:avLst/>
              <a:gdLst>
                <a:gd name="T0" fmla="*/ 12 w 168"/>
                <a:gd name="T1" fmla="*/ 76 h 157"/>
                <a:gd name="T2" fmla="*/ 30 w 168"/>
                <a:gd name="T3" fmla="*/ 114 h 157"/>
                <a:gd name="T4" fmla="*/ 63 w 168"/>
                <a:gd name="T5" fmla="*/ 132 h 157"/>
                <a:gd name="T6" fmla="*/ 106 w 168"/>
                <a:gd name="T7" fmla="*/ 132 h 157"/>
                <a:gd name="T8" fmla="*/ 139 w 168"/>
                <a:gd name="T9" fmla="*/ 114 h 157"/>
                <a:gd name="T10" fmla="*/ 157 w 168"/>
                <a:gd name="T11" fmla="*/ 76 h 157"/>
                <a:gd name="T12" fmla="*/ 163 w 168"/>
                <a:gd name="T13" fmla="*/ 100 h 157"/>
                <a:gd name="T14" fmla="*/ 142 w 168"/>
                <a:gd name="T15" fmla="*/ 136 h 157"/>
                <a:gd name="T16" fmla="*/ 106 w 168"/>
                <a:gd name="T17" fmla="*/ 156 h 157"/>
                <a:gd name="T18" fmla="*/ 61 w 168"/>
                <a:gd name="T19" fmla="*/ 156 h 157"/>
                <a:gd name="T20" fmla="*/ 27 w 168"/>
                <a:gd name="T21" fmla="*/ 136 h 157"/>
                <a:gd name="T22" fmla="*/ 4 w 168"/>
                <a:gd name="T23" fmla="*/ 100 h 157"/>
                <a:gd name="T24" fmla="*/ 39 w 168"/>
                <a:gd name="T25" fmla="*/ 45 h 157"/>
                <a:gd name="T26" fmla="*/ 27 w 168"/>
                <a:gd name="T27" fmla="*/ 42 h 157"/>
                <a:gd name="T28" fmla="*/ 19 w 168"/>
                <a:gd name="T29" fmla="*/ 34 h 157"/>
                <a:gd name="T30" fmla="*/ 16 w 168"/>
                <a:gd name="T31" fmla="*/ 22 h 157"/>
                <a:gd name="T32" fmla="*/ 19 w 168"/>
                <a:gd name="T33" fmla="*/ 12 h 157"/>
                <a:gd name="T34" fmla="*/ 27 w 168"/>
                <a:gd name="T35" fmla="*/ 3 h 157"/>
                <a:gd name="T36" fmla="*/ 39 w 168"/>
                <a:gd name="T37" fmla="*/ 0 h 157"/>
                <a:gd name="T38" fmla="*/ 49 w 168"/>
                <a:gd name="T39" fmla="*/ 3 h 157"/>
                <a:gd name="T40" fmla="*/ 58 w 168"/>
                <a:gd name="T41" fmla="*/ 12 h 157"/>
                <a:gd name="T42" fmla="*/ 61 w 168"/>
                <a:gd name="T43" fmla="*/ 22 h 157"/>
                <a:gd name="T44" fmla="*/ 58 w 168"/>
                <a:gd name="T45" fmla="*/ 34 h 157"/>
                <a:gd name="T46" fmla="*/ 49 w 168"/>
                <a:gd name="T47" fmla="*/ 42 h 157"/>
                <a:gd name="T48" fmla="*/ 39 w 168"/>
                <a:gd name="T49" fmla="*/ 45 h 157"/>
                <a:gd name="T50" fmla="*/ 124 w 168"/>
                <a:gd name="T51" fmla="*/ 45 h 157"/>
                <a:gd name="T52" fmla="*/ 114 w 168"/>
                <a:gd name="T53" fmla="*/ 39 h 157"/>
                <a:gd name="T54" fmla="*/ 108 w 168"/>
                <a:gd name="T55" fmla="*/ 28 h 157"/>
                <a:gd name="T56" fmla="*/ 108 w 168"/>
                <a:gd name="T57" fmla="*/ 16 h 157"/>
                <a:gd name="T58" fmla="*/ 114 w 168"/>
                <a:gd name="T59" fmla="*/ 6 h 157"/>
                <a:gd name="T60" fmla="*/ 124 w 168"/>
                <a:gd name="T61" fmla="*/ 1 h 157"/>
                <a:gd name="T62" fmla="*/ 136 w 168"/>
                <a:gd name="T63" fmla="*/ 1 h 157"/>
                <a:gd name="T64" fmla="*/ 145 w 168"/>
                <a:gd name="T65" fmla="*/ 6 h 157"/>
                <a:gd name="T66" fmla="*/ 151 w 168"/>
                <a:gd name="T67" fmla="*/ 16 h 157"/>
                <a:gd name="T68" fmla="*/ 151 w 168"/>
                <a:gd name="T69" fmla="*/ 28 h 157"/>
                <a:gd name="T70" fmla="*/ 145 w 168"/>
                <a:gd name="T71" fmla="*/ 39 h 157"/>
                <a:gd name="T72" fmla="*/ 136 w 168"/>
                <a:gd name="T73" fmla="*/ 45 h 15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68" h="157">
                  <a:moveTo>
                    <a:pt x="0" y="76"/>
                  </a:moveTo>
                  <a:lnTo>
                    <a:pt x="12" y="76"/>
                  </a:lnTo>
                  <a:lnTo>
                    <a:pt x="18" y="97"/>
                  </a:lnTo>
                  <a:lnTo>
                    <a:pt x="30" y="114"/>
                  </a:lnTo>
                  <a:lnTo>
                    <a:pt x="43" y="126"/>
                  </a:lnTo>
                  <a:lnTo>
                    <a:pt x="63" y="132"/>
                  </a:lnTo>
                  <a:lnTo>
                    <a:pt x="84" y="135"/>
                  </a:lnTo>
                  <a:lnTo>
                    <a:pt x="106" y="132"/>
                  </a:lnTo>
                  <a:lnTo>
                    <a:pt x="124" y="126"/>
                  </a:lnTo>
                  <a:lnTo>
                    <a:pt x="139" y="114"/>
                  </a:lnTo>
                  <a:lnTo>
                    <a:pt x="150" y="97"/>
                  </a:lnTo>
                  <a:lnTo>
                    <a:pt x="157" y="76"/>
                  </a:lnTo>
                  <a:lnTo>
                    <a:pt x="168" y="76"/>
                  </a:lnTo>
                  <a:lnTo>
                    <a:pt x="163" y="100"/>
                  </a:lnTo>
                  <a:lnTo>
                    <a:pt x="154" y="120"/>
                  </a:lnTo>
                  <a:lnTo>
                    <a:pt x="142" y="136"/>
                  </a:lnTo>
                  <a:lnTo>
                    <a:pt x="126" y="148"/>
                  </a:lnTo>
                  <a:lnTo>
                    <a:pt x="106" y="156"/>
                  </a:lnTo>
                  <a:lnTo>
                    <a:pt x="84" y="157"/>
                  </a:lnTo>
                  <a:lnTo>
                    <a:pt x="61" y="156"/>
                  </a:lnTo>
                  <a:lnTo>
                    <a:pt x="43" y="148"/>
                  </a:lnTo>
                  <a:lnTo>
                    <a:pt x="27" y="136"/>
                  </a:lnTo>
                  <a:lnTo>
                    <a:pt x="13" y="120"/>
                  </a:lnTo>
                  <a:lnTo>
                    <a:pt x="4" y="100"/>
                  </a:lnTo>
                  <a:lnTo>
                    <a:pt x="0" y="76"/>
                  </a:lnTo>
                  <a:close/>
                  <a:moveTo>
                    <a:pt x="39" y="45"/>
                  </a:moveTo>
                  <a:lnTo>
                    <a:pt x="33" y="45"/>
                  </a:lnTo>
                  <a:lnTo>
                    <a:pt x="27" y="42"/>
                  </a:lnTo>
                  <a:lnTo>
                    <a:pt x="22" y="39"/>
                  </a:lnTo>
                  <a:lnTo>
                    <a:pt x="19" y="34"/>
                  </a:lnTo>
                  <a:lnTo>
                    <a:pt x="16" y="28"/>
                  </a:lnTo>
                  <a:lnTo>
                    <a:pt x="16" y="22"/>
                  </a:lnTo>
                  <a:lnTo>
                    <a:pt x="16" y="16"/>
                  </a:lnTo>
                  <a:lnTo>
                    <a:pt x="19" y="12"/>
                  </a:lnTo>
                  <a:lnTo>
                    <a:pt x="22" y="6"/>
                  </a:lnTo>
                  <a:lnTo>
                    <a:pt x="27" y="3"/>
                  </a:lnTo>
                  <a:lnTo>
                    <a:pt x="33" y="1"/>
                  </a:lnTo>
                  <a:lnTo>
                    <a:pt x="39" y="0"/>
                  </a:lnTo>
                  <a:lnTo>
                    <a:pt x="45" y="1"/>
                  </a:lnTo>
                  <a:lnTo>
                    <a:pt x="49" y="3"/>
                  </a:lnTo>
                  <a:lnTo>
                    <a:pt x="55" y="6"/>
                  </a:lnTo>
                  <a:lnTo>
                    <a:pt x="58" y="12"/>
                  </a:lnTo>
                  <a:lnTo>
                    <a:pt x="61" y="16"/>
                  </a:lnTo>
                  <a:lnTo>
                    <a:pt x="61" y="22"/>
                  </a:lnTo>
                  <a:lnTo>
                    <a:pt x="61" y="28"/>
                  </a:lnTo>
                  <a:lnTo>
                    <a:pt x="58" y="34"/>
                  </a:lnTo>
                  <a:lnTo>
                    <a:pt x="55" y="39"/>
                  </a:lnTo>
                  <a:lnTo>
                    <a:pt x="49" y="42"/>
                  </a:lnTo>
                  <a:lnTo>
                    <a:pt x="45" y="45"/>
                  </a:lnTo>
                  <a:lnTo>
                    <a:pt x="39" y="45"/>
                  </a:lnTo>
                  <a:close/>
                  <a:moveTo>
                    <a:pt x="130" y="45"/>
                  </a:moveTo>
                  <a:lnTo>
                    <a:pt x="124" y="45"/>
                  </a:lnTo>
                  <a:lnTo>
                    <a:pt x="118" y="42"/>
                  </a:lnTo>
                  <a:lnTo>
                    <a:pt x="114" y="39"/>
                  </a:lnTo>
                  <a:lnTo>
                    <a:pt x="109" y="34"/>
                  </a:lnTo>
                  <a:lnTo>
                    <a:pt x="108" y="28"/>
                  </a:lnTo>
                  <a:lnTo>
                    <a:pt x="106" y="22"/>
                  </a:lnTo>
                  <a:lnTo>
                    <a:pt x="108" y="16"/>
                  </a:lnTo>
                  <a:lnTo>
                    <a:pt x="109" y="12"/>
                  </a:lnTo>
                  <a:lnTo>
                    <a:pt x="114" y="6"/>
                  </a:lnTo>
                  <a:lnTo>
                    <a:pt x="118" y="3"/>
                  </a:lnTo>
                  <a:lnTo>
                    <a:pt x="124" y="1"/>
                  </a:lnTo>
                  <a:lnTo>
                    <a:pt x="130" y="0"/>
                  </a:lnTo>
                  <a:lnTo>
                    <a:pt x="136" y="1"/>
                  </a:lnTo>
                  <a:lnTo>
                    <a:pt x="141" y="3"/>
                  </a:lnTo>
                  <a:lnTo>
                    <a:pt x="145" y="6"/>
                  </a:lnTo>
                  <a:lnTo>
                    <a:pt x="150" y="12"/>
                  </a:lnTo>
                  <a:lnTo>
                    <a:pt x="151" y="16"/>
                  </a:lnTo>
                  <a:lnTo>
                    <a:pt x="153" y="22"/>
                  </a:lnTo>
                  <a:lnTo>
                    <a:pt x="151" y="28"/>
                  </a:lnTo>
                  <a:lnTo>
                    <a:pt x="150" y="34"/>
                  </a:lnTo>
                  <a:lnTo>
                    <a:pt x="145" y="39"/>
                  </a:lnTo>
                  <a:lnTo>
                    <a:pt x="141" y="42"/>
                  </a:lnTo>
                  <a:lnTo>
                    <a:pt x="136" y="45"/>
                  </a:lnTo>
                  <a:lnTo>
                    <a:pt x="130" y="45"/>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grpSp>
      <p:grpSp>
        <p:nvGrpSpPr>
          <p:cNvPr id="21" name="组合 50194"/>
          <p:cNvGrpSpPr/>
          <p:nvPr/>
        </p:nvGrpSpPr>
        <p:grpSpPr bwMode="auto">
          <a:xfrm>
            <a:off x="4199446" y="2900299"/>
            <a:ext cx="835025" cy="819150"/>
            <a:chOff x="866" y="2169"/>
            <a:chExt cx="406" cy="405"/>
          </a:xfrm>
        </p:grpSpPr>
        <p:sp>
          <p:nvSpPr>
            <p:cNvPr id="22" name="任意多边形 50195"/>
            <p:cNvSpPr>
              <a:spLocks noChangeArrowheads="1"/>
            </p:cNvSpPr>
            <p:nvPr/>
          </p:nvSpPr>
          <p:spPr bwMode="auto">
            <a:xfrm>
              <a:off x="1073" y="2181"/>
              <a:ext cx="190" cy="152"/>
            </a:xfrm>
            <a:custGeom>
              <a:avLst/>
              <a:gdLst>
                <a:gd name="T0" fmla="*/ 34 w 190"/>
                <a:gd name="T1" fmla="*/ 15 h 152"/>
                <a:gd name="T2" fmla="*/ 40 w 190"/>
                <a:gd name="T3" fmla="*/ 17 h 152"/>
                <a:gd name="T4" fmla="*/ 46 w 190"/>
                <a:gd name="T5" fmla="*/ 18 h 152"/>
                <a:gd name="T6" fmla="*/ 51 w 190"/>
                <a:gd name="T7" fmla="*/ 23 h 152"/>
                <a:gd name="T8" fmla="*/ 55 w 190"/>
                <a:gd name="T9" fmla="*/ 27 h 152"/>
                <a:gd name="T10" fmla="*/ 57 w 190"/>
                <a:gd name="T11" fmla="*/ 33 h 152"/>
                <a:gd name="T12" fmla="*/ 58 w 190"/>
                <a:gd name="T13" fmla="*/ 39 h 152"/>
                <a:gd name="T14" fmla="*/ 58 w 190"/>
                <a:gd name="T15" fmla="*/ 51 h 152"/>
                <a:gd name="T16" fmla="*/ 58 w 190"/>
                <a:gd name="T17" fmla="*/ 57 h 152"/>
                <a:gd name="T18" fmla="*/ 55 w 190"/>
                <a:gd name="T19" fmla="*/ 62 h 152"/>
                <a:gd name="T20" fmla="*/ 54 w 190"/>
                <a:gd name="T21" fmla="*/ 66 h 152"/>
                <a:gd name="T22" fmla="*/ 60 w 190"/>
                <a:gd name="T23" fmla="*/ 69 h 152"/>
                <a:gd name="T24" fmla="*/ 66 w 190"/>
                <a:gd name="T25" fmla="*/ 72 h 152"/>
                <a:gd name="T26" fmla="*/ 70 w 190"/>
                <a:gd name="T27" fmla="*/ 72 h 152"/>
                <a:gd name="T28" fmla="*/ 73 w 190"/>
                <a:gd name="T29" fmla="*/ 72 h 152"/>
                <a:gd name="T30" fmla="*/ 75 w 190"/>
                <a:gd name="T31" fmla="*/ 72 h 152"/>
                <a:gd name="T32" fmla="*/ 82 w 190"/>
                <a:gd name="T33" fmla="*/ 72 h 152"/>
                <a:gd name="T34" fmla="*/ 87 w 190"/>
                <a:gd name="T35" fmla="*/ 75 h 152"/>
                <a:gd name="T36" fmla="*/ 93 w 190"/>
                <a:gd name="T37" fmla="*/ 78 h 152"/>
                <a:gd name="T38" fmla="*/ 96 w 190"/>
                <a:gd name="T39" fmla="*/ 83 h 152"/>
                <a:gd name="T40" fmla="*/ 99 w 190"/>
                <a:gd name="T41" fmla="*/ 89 h 152"/>
                <a:gd name="T42" fmla="*/ 99 w 190"/>
                <a:gd name="T43" fmla="*/ 95 h 152"/>
                <a:gd name="T44" fmla="*/ 99 w 190"/>
                <a:gd name="T45" fmla="*/ 96 h 152"/>
                <a:gd name="T46" fmla="*/ 118 w 190"/>
                <a:gd name="T47" fmla="*/ 119 h 152"/>
                <a:gd name="T48" fmla="*/ 132 w 190"/>
                <a:gd name="T49" fmla="*/ 146 h 152"/>
                <a:gd name="T50" fmla="*/ 145 w 190"/>
                <a:gd name="T51" fmla="*/ 146 h 152"/>
                <a:gd name="T52" fmla="*/ 156 w 190"/>
                <a:gd name="T53" fmla="*/ 146 h 152"/>
                <a:gd name="T54" fmla="*/ 160 w 190"/>
                <a:gd name="T55" fmla="*/ 146 h 152"/>
                <a:gd name="T56" fmla="*/ 175 w 190"/>
                <a:gd name="T57" fmla="*/ 147 h 152"/>
                <a:gd name="T58" fmla="*/ 190 w 190"/>
                <a:gd name="T59" fmla="*/ 152 h 152"/>
                <a:gd name="T60" fmla="*/ 180 w 190"/>
                <a:gd name="T61" fmla="*/ 116 h 152"/>
                <a:gd name="T62" fmla="*/ 162 w 190"/>
                <a:gd name="T63" fmla="*/ 84 h 152"/>
                <a:gd name="T64" fmla="*/ 139 w 190"/>
                <a:gd name="T65" fmla="*/ 56 h 152"/>
                <a:gd name="T66" fmla="*/ 111 w 190"/>
                <a:gd name="T67" fmla="*/ 33 h 152"/>
                <a:gd name="T68" fmla="*/ 79 w 190"/>
                <a:gd name="T69" fmla="*/ 15 h 152"/>
                <a:gd name="T70" fmla="*/ 43 w 190"/>
                <a:gd name="T71" fmla="*/ 5 h 152"/>
                <a:gd name="T72" fmla="*/ 6 w 190"/>
                <a:gd name="T73" fmla="*/ 0 h 152"/>
                <a:gd name="T74" fmla="*/ 3 w 190"/>
                <a:gd name="T75" fmla="*/ 0 h 152"/>
                <a:gd name="T76" fmla="*/ 0 w 190"/>
                <a:gd name="T77" fmla="*/ 2 h 152"/>
                <a:gd name="T78" fmla="*/ 4 w 190"/>
                <a:gd name="T79" fmla="*/ 8 h 152"/>
                <a:gd name="T80" fmla="*/ 9 w 190"/>
                <a:gd name="T81" fmla="*/ 15 h 152"/>
                <a:gd name="T82" fmla="*/ 19 w 190"/>
                <a:gd name="T83" fmla="*/ 15 h 152"/>
                <a:gd name="T84" fmla="*/ 30 w 190"/>
                <a:gd name="T85" fmla="*/ 15 h 152"/>
                <a:gd name="T86" fmla="*/ 34 w 190"/>
                <a:gd name="T87" fmla="*/ 15 h 15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90" h="152">
                  <a:moveTo>
                    <a:pt x="34" y="15"/>
                  </a:moveTo>
                  <a:lnTo>
                    <a:pt x="40" y="17"/>
                  </a:lnTo>
                  <a:lnTo>
                    <a:pt x="46" y="18"/>
                  </a:lnTo>
                  <a:lnTo>
                    <a:pt x="51" y="23"/>
                  </a:lnTo>
                  <a:lnTo>
                    <a:pt x="55" y="27"/>
                  </a:lnTo>
                  <a:lnTo>
                    <a:pt x="57" y="33"/>
                  </a:lnTo>
                  <a:lnTo>
                    <a:pt x="58" y="39"/>
                  </a:lnTo>
                  <a:lnTo>
                    <a:pt x="58" y="51"/>
                  </a:lnTo>
                  <a:lnTo>
                    <a:pt x="58" y="57"/>
                  </a:lnTo>
                  <a:lnTo>
                    <a:pt x="55" y="62"/>
                  </a:lnTo>
                  <a:lnTo>
                    <a:pt x="54" y="66"/>
                  </a:lnTo>
                  <a:lnTo>
                    <a:pt x="60" y="69"/>
                  </a:lnTo>
                  <a:lnTo>
                    <a:pt x="66" y="72"/>
                  </a:lnTo>
                  <a:lnTo>
                    <a:pt x="70" y="72"/>
                  </a:lnTo>
                  <a:lnTo>
                    <a:pt x="73" y="72"/>
                  </a:lnTo>
                  <a:lnTo>
                    <a:pt x="75" y="72"/>
                  </a:lnTo>
                  <a:lnTo>
                    <a:pt x="82" y="72"/>
                  </a:lnTo>
                  <a:lnTo>
                    <a:pt x="87" y="75"/>
                  </a:lnTo>
                  <a:lnTo>
                    <a:pt x="93" y="78"/>
                  </a:lnTo>
                  <a:lnTo>
                    <a:pt x="96" y="83"/>
                  </a:lnTo>
                  <a:lnTo>
                    <a:pt x="99" y="89"/>
                  </a:lnTo>
                  <a:lnTo>
                    <a:pt x="99" y="95"/>
                  </a:lnTo>
                  <a:lnTo>
                    <a:pt x="99" y="96"/>
                  </a:lnTo>
                  <a:lnTo>
                    <a:pt x="118" y="119"/>
                  </a:lnTo>
                  <a:lnTo>
                    <a:pt x="132" y="146"/>
                  </a:lnTo>
                  <a:lnTo>
                    <a:pt x="145" y="146"/>
                  </a:lnTo>
                  <a:lnTo>
                    <a:pt x="156" y="146"/>
                  </a:lnTo>
                  <a:lnTo>
                    <a:pt x="160" y="146"/>
                  </a:lnTo>
                  <a:lnTo>
                    <a:pt x="175" y="147"/>
                  </a:lnTo>
                  <a:lnTo>
                    <a:pt x="190" y="152"/>
                  </a:lnTo>
                  <a:lnTo>
                    <a:pt x="180" y="116"/>
                  </a:lnTo>
                  <a:lnTo>
                    <a:pt x="162" y="84"/>
                  </a:lnTo>
                  <a:lnTo>
                    <a:pt x="139" y="56"/>
                  </a:lnTo>
                  <a:lnTo>
                    <a:pt x="111" y="33"/>
                  </a:lnTo>
                  <a:lnTo>
                    <a:pt x="79" y="15"/>
                  </a:lnTo>
                  <a:lnTo>
                    <a:pt x="43" y="5"/>
                  </a:lnTo>
                  <a:lnTo>
                    <a:pt x="6" y="0"/>
                  </a:lnTo>
                  <a:lnTo>
                    <a:pt x="3" y="0"/>
                  </a:lnTo>
                  <a:lnTo>
                    <a:pt x="0" y="2"/>
                  </a:lnTo>
                  <a:lnTo>
                    <a:pt x="4" y="8"/>
                  </a:lnTo>
                  <a:lnTo>
                    <a:pt x="9" y="15"/>
                  </a:lnTo>
                  <a:lnTo>
                    <a:pt x="19" y="15"/>
                  </a:lnTo>
                  <a:lnTo>
                    <a:pt x="30" y="15"/>
                  </a:lnTo>
                  <a:lnTo>
                    <a:pt x="34" y="15"/>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23" name="任意多边形 50196"/>
            <p:cNvSpPr>
              <a:spLocks noChangeArrowheads="1"/>
            </p:cNvSpPr>
            <p:nvPr/>
          </p:nvSpPr>
          <p:spPr bwMode="auto">
            <a:xfrm>
              <a:off x="911" y="2415"/>
              <a:ext cx="110" cy="131"/>
            </a:xfrm>
            <a:custGeom>
              <a:avLst/>
              <a:gdLst>
                <a:gd name="T0" fmla="*/ 40 w 109"/>
                <a:gd name="T1" fmla="*/ 0 h 131"/>
                <a:gd name="T2" fmla="*/ 33 w 109"/>
                <a:gd name="T3" fmla="*/ 11 h 131"/>
                <a:gd name="T4" fmla="*/ 25 w 109"/>
                <a:gd name="T5" fmla="*/ 21 h 131"/>
                <a:gd name="T6" fmla="*/ 16 w 109"/>
                <a:gd name="T7" fmla="*/ 32 h 131"/>
                <a:gd name="T8" fmla="*/ 12 w 109"/>
                <a:gd name="T9" fmla="*/ 39 h 131"/>
                <a:gd name="T10" fmla="*/ 9 w 109"/>
                <a:gd name="T11" fmla="*/ 41 h 131"/>
                <a:gd name="T12" fmla="*/ 7 w 109"/>
                <a:gd name="T13" fmla="*/ 44 h 131"/>
                <a:gd name="T14" fmla="*/ 3 w 109"/>
                <a:gd name="T15" fmla="*/ 45 h 131"/>
                <a:gd name="T16" fmla="*/ 0 w 109"/>
                <a:gd name="T17" fmla="*/ 47 h 131"/>
                <a:gd name="T18" fmla="*/ 18 w 109"/>
                <a:gd name="T19" fmla="*/ 74 h 131"/>
                <a:gd name="T20" fmla="*/ 39 w 109"/>
                <a:gd name="T21" fmla="*/ 96 h 131"/>
                <a:gd name="T22" fmla="*/ 64 w 109"/>
                <a:gd name="T23" fmla="*/ 116 h 131"/>
                <a:gd name="T24" fmla="*/ 91 w 109"/>
                <a:gd name="T25" fmla="*/ 131 h 131"/>
                <a:gd name="T26" fmla="*/ 101 w 109"/>
                <a:gd name="T27" fmla="*/ 104 h 131"/>
                <a:gd name="T28" fmla="*/ 110 w 109"/>
                <a:gd name="T29" fmla="*/ 77 h 131"/>
                <a:gd name="T30" fmla="*/ 88 w 109"/>
                <a:gd name="T31" fmla="*/ 63 h 131"/>
                <a:gd name="T32" fmla="*/ 68 w 109"/>
                <a:gd name="T33" fmla="*/ 45 h 131"/>
                <a:gd name="T34" fmla="*/ 52 w 109"/>
                <a:gd name="T35" fmla="*/ 24 h 131"/>
                <a:gd name="T36" fmla="*/ 40 w 109"/>
                <a:gd name="T37" fmla="*/ 0 h 1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9" h="131">
                  <a:moveTo>
                    <a:pt x="40" y="0"/>
                  </a:moveTo>
                  <a:lnTo>
                    <a:pt x="33" y="11"/>
                  </a:lnTo>
                  <a:lnTo>
                    <a:pt x="25" y="21"/>
                  </a:lnTo>
                  <a:lnTo>
                    <a:pt x="16" y="32"/>
                  </a:lnTo>
                  <a:lnTo>
                    <a:pt x="12" y="39"/>
                  </a:lnTo>
                  <a:lnTo>
                    <a:pt x="9" y="41"/>
                  </a:lnTo>
                  <a:lnTo>
                    <a:pt x="7" y="44"/>
                  </a:lnTo>
                  <a:lnTo>
                    <a:pt x="3" y="45"/>
                  </a:lnTo>
                  <a:lnTo>
                    <a:pt x="0" y="47"/>
                  </a:lnTo>
                  <a:lnTo>
                    <a:pt x="18" y="74"/>
                  </a:lnTo>
                  <a:lnTo>
                    <a:pt x="39" y="96"/>
                  </a:lnTo>
                  <a:lnTo>
                    <a:pt x="63" y="116"/>
                  </a:lnTo>
                  <a:lnTo>
                    <a:pt x="90" y="131"/>
                  </a:lnTo>
                  <a:lnTo>
                    <a:pt x="100" y="104"/>
                  </a:lnTo>
                  <a:lnTo>
                    <a:pt x="109" y="77"/>
                  </a:lnTo>
                  <a:lnTo>
                    <a:pt x="87" y="63"/>
                  </a:lnTo>
                  <a:lnTo>
                    <a:pt x="67" y="45"/>
                  </a:lnTo>
                  <a:lnTo>
                    <a:pt x="52" y="24"/>
                  </a:lnTo>
                  <a:lnTo>
                    <a:pt x="40" y="0"/>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24" name="任意多边形 50197"/>
            <p:cNvSpPr>
              <a:spLocks noChangeArrowheads="1"/>
            </p:cNvSpPr>
            <p:nvPr/>
          </p:nvSpPr>
          <p:spPr bwMode="auto">
            <a:xfrm>
              <a:off x="911" y="2198"/>
              <a:ext cx="110" cy="130"/>
            </a:xfrm>
            <a:custGeom>
              <a:avLst/>
              <a:gdLst>
                <a:gd name="T0" fmla="*/ 9 w 109"/>
                <a:gd name="T1" fmla="*/ 90 h 130"/>
                <a:gd name="T2" fmla="*/ 12 w 109"/>
                <a:gd name="T3" fmla="*/ 93 h 130"/>
                <a:gd name="T4" fmla="*/ 16 w 109"/>
                <a:gd name="T5" fmla="*/ 99 h 130"/>
                <a:gd name="T6" fmla="*/ 25 w 109"/>
                <a:gd name="T7" fmla="*/ 109 h 130"/>
                <a:gd name="T8" fmla="*/ 33 w 109"/>
                <a:gd name="T9" fmla="*/ 120 h 130"/>
                <a:gd name="T10" fmla="*/ 40 w 109"/>
                <a:gd name="T11" fmla="*/ 130 h 130"/>
                <a:gd name="T12" fmla="*/ 52 w 109"/>
                <a:gd name="T13" fmla="*/ 106 h 130"/>
                <a:gd name="T14" fmla="*/ 68 w 109"/>
                <a:gd name="T15" fmla="*/ 85 h 130"/>
                <a:gd name="T16" fmla="*/ 88 w 109"/>
                <a:gd name="T17" fmla="*/ 67 h 130"/>
                <a:gd name="T18" fmla="*/ 110 w 109"/>
                <a:gd name="T19" fmla="*/ 54 h 130"/>
                <a:gd name="T20" fmla="*/ 101 w 109"/>
                <a:gd name="T21" fmla="*/ 27 h 130"/>
                <a:gd name="T22" fmla="*/ 91 w 109"/>
                <a:gd name="T23" fmla="*/ 0 h 130"/>
                <a:gd name="T24" fmla="*/ 64 w 109"/>
                <a:gd name="T25" fmla="*/ 15 h 130"/>
                <a:gd name="T26" fmla="*/ 39 w 109"/>
                <a:gd name="T27" fmla="*/ 34 h 130"/>
                <a:gd name="T28" fmla="*/ 18 w 109"/>
                <a:gd name="T29" fmla="*/ 57 h 130"/>
                <a:gd name="T30" fmla="*/ 0 w 109"/>
                <a:gd name="T31" fmla="*/ 84 h 130"/>
                <a:gd name="T32" fmla="*/ 6 w 109"/>
                <a:gd name="T33" fmla="*/ 85 h 130"/>
                <a:gd name="T34" fmla="*/ 9 w 109"/>
                <a:gd name="T35" fmla="*/ 90 h 1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09" h="130">
                  <a:moveTo>
                    <a:pt x="9" y="90"/>
                  </a:moveTo>
                  <a:lnTo>
                    <a:pt x="12" y="93"/>
                  </a:lnTo>
                  <a:lnTo>
                    <a:pt x="16" y="99"/>
                  </a:lnTo>
                  <a:lnTo>
                    <a:pt x="25" y="109"/>
                  </a:lnTo>
                  <a:lnTo>
                    <a:pt x="33" y="120"/>
                  </a:lnTo>
                  <a:lnTo>
                    <a:pt x="40" y="130"/>
                  </a:lnTo>
                  <a:lnTo>
                    <a:pt x="52" y="106"/>
                  </a:lnTo>
                  <a:lnTo>
                    <a:pt x="67" y="85"/>
                  </a:lnTo>
                  <a:lnTo>
                    <a:pt x="87" y="67"/>
                  </a:lnTo>
                  <a:lnTo>
                    <a:pt x="109" y="54"/>
                  </a:lnTo>
                  <a:lnTo>
                    <a:pt x="100" y="27"/>
                  </a:lnTo>
                  <a:lnTo>
                    <a:pt x="90" y="0"/>
                  </a:lnTo>
                  <a:lnTo>
                    <a:pt x="63" y="15"/>
                  </a:lnTo>
                  <a:lnTo>
                    <a:pt x="39" y="34"/>
                  </a:lnTo>
                  <a:lnTo>
                    <a:pt x="18" y="57"/>
                  </a:lnTo>
                  <a:lnTo>
                    <a:pt x="0" y="84"/>
                  </a:lnTo>
                  <a:lnTo>
                    <a:pt x="6" y="85"/>
                  </a:lnTo>
                  <a:lnTo>
                    <a:pt x="9" y="90"/>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25" name="任意多边形 50198"/>
            <p:cNvSpPr>
              <a:spLocks noChangeArrowheads="1"/>
            </p:cNvSpPr>
            <p:nvPr/>
          </p:nvSpPr>
          <p:spPr bwMode="auto">
            <a:xfrm>
              <a:off x="1073" y="2411"/>
              <a:ext cx="190" cy="151"/>
            </a:xfrm>
            <a:custGeom>
              <a:avLst/>
              <a:gdLst>
                <a:gd name="T0" fmla="*/ 132 w 190"/>
                <a:gd name="T1" fmla="*/ 6 h 151"/>
                <a:gd name="T2" fmla="*/ 118 w 190"/>
                <a:gd name="T3" fmla="*/ 33 h 151"/>
                <a:gd name="T4" fmla="*/ 99 w 190"/>
                <a:gd name="T5" fmla="*/ 55 h 151"/>
                <a:gd name="T6" fmla="*/ 99 w 190"/>
                <a:gd name="T7" fmla="*/ 57 h 151"/>
                <a:gd name="T8" fmla="*/ 99 w 190"/>
                <a:gd name="T9" fmla="*/ 63 h 151"/>
                <a:gd name="T10" fmla="*/ 96 w 190"/>
                <a:gd name="T11" fmla="*/ 69 h 151"/>
                <a:gd name="T12" fmla="*/ 93 w 190"/>
                <a:gd name="T13" fmla="*/ 73 h 151"/>
                <a:gd name="T14" fmla="*/ 87 w 190"/>
                <a:gd name="T15" fmla="*/ 76 h 151"/>
                <a:gd name="T16" fmla="*/ 82 w 190"/>
                <a:gd name="T17" fmla="*/ 79 h 151"/>
                <a:gd name="T18" fmla="*/ 75 w 190"/>
                <a:gd name="T19" fmla="*/ 81 h 151"/>
                <a:gd name="T20" fmla="*/ 73 w 190"/>
                <a:gd name="T21" fmla="*/ 81 h 151"/>
                <a:gd name="T22" fmla="*/ 70 w 190"/>
                <a:gd name="T23" fmla="*/ 81 h 151"/>
                <a:gd name="T24" fmla="*/ 66 w 190"/>
                <a:gd name="T25" fmla="*/ 81 h 151"/>
                <a:gd name="T26" fmla="*/ 60 w 190"/>
                <a:gd name="T27" fmla="*/ 82 h 151"/>
                <a:gd name="T28" fmla="*/ 54 w 190"/>
                <a:gd name="T29" fmla="*/ 85 h 151"/>
                <a:gd name="T30" fmla="*/ 55 w 190"/>
                <a:gd name="T31" fmla="*/ 90 h 151"/>
                <a:gd name="T32" fmla="*/ 58 w 190"/>
                <a:gd name="T33" fmla="*/ 94 h 151"/>
                <a:gd name="T34" fmla="*/ 58 w 190"/>
                <a:gd name="T35" fmla="*/ 100 h 151"/>
                <a:gd name="T36" fmla="*/ 58 w 190"/>
                <a:gd name="T37" fmla="*/ 112 h 151"/>
                <a:gd name="T38" fmla="*/ 57 w 190"/>
                <a:gd name="T39" fmla="*/ 118 h 151"/>
                <a:gd name="T40" fmla="*/ 55 w 190"/>
                <a:gd name="T41" fmla="*/ 124 h 151"/>
                <a:gd name="T42" fmla="*/ 51 w 190"/>
                <a:gd name="T43" fmla="*/ 129 h 151"/>
                <a:gd name="T44" fmla="*/ 46 w 190"/>
                <a:gd name="T45" fmla="*/ 133 h 151"/>
                <a:gd name="T46" fmla="*/ 40 w 190"/>
                <a:gd name="T47" fmla="*/ 135 h 151"/>
                <a:gd name="T48" fmla="*/ 34 w 190"/>
                <a:gd name="T49" fmla="*/ 136 h 151"/>
                <a:gd name="T50" fmla="*/ 30 w 190"/>
                <a:gd name="T51" fmla="*/ 136 h 151"/>
                <a:gd name="T52" fmla="*/ 19 w 190"/>
                <a:gd name="T53" fmla="*/ 136 h 151"/>
                <a:gd name="T54" fmla="*/ 9 w 190"/>
                <a:gd name="T55" fmla="*/ 136 h 151"/>
                <a:gd name="T56" fmla="*/ 4 w 190"/>
                <a:gd name="T57" fmla="*/ 144 h 151"/>
                <a:gd name="T58" fmla="*/ 0 w 190"/>
                <a:gd name="T59" fmla="*/ 150 h 151"/>
                <a:gd name="T60" fmla="*/ 3 w 190"/>
                <a:gd name="T61" fmla="*/ 151 h 151"/>
                <a:gd name="T62" fmla="*/ 6 w 190"/>
                <a:gd name="T63" fmla="*/ 151 h 151"/>
                <a:gd name="T64" fmla="*/ 43 w 190"/>
                <a:gd name="T65" fmla="*/ 147 h 151"/>
                <a:gd name="T66" fmla="*/ 79 w 190"/>
                <a:gd name="T67" fmla="*/ 136 h 151"/>
                <a:gd name="T68" fmla="*/ 111 w 190"/>
                <a:gd name="T69" fmla="*/ 118 h 151"/>
                <a:gd name="T70" fmla="*/ 139 w 190"/>
                <a:gd name="T71" fmla="*/ 96 h 151"/>
                <a:gd name="T72" fmla="*/ 162 w 190"/>
                <a:gd name="T73" fmla="*/ 67 h 151"/>
                <a:gd name="T74" fmla="*/ 180 w 190"/>
                <a:gd name="T75" fmla="*/ 36 h 151"/>
                <a:gd name="T76" fmla="*/ 190 w 190"/>
                <a:gd name="T77" fmla="*/ 0 h 151"/>
                <a:gd name="T78" fmla="*/ 175 w 190"/>
                <a:gd name="T79" fmla="*/ 4 h 151"/>
                <a:gd name="T80" fmla="*/ 160 w 190"/>
                <a:gd name="T81" fmla="*/ 6 h 151"/>
                <a:gd name="T82" fmla="*/ 156 w 190"/>
                <a:gd name="T83" fmla="*/ 6 h 151"/>
                <a:gd name="T84" fmla="*/ 145 w 190"/>
                <a:gd name="T85" fmla="*/ 6 h 151"/>
                <a:gd name="T86" fmla="*/ 132 w 190"/>
                <a:gd name="T87" fmla="*/ 6 h 15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90" h="151">
                  <a:moveTo>
                    <a:pt x="132" y="6"/>
                  </a:moveTo>
                  <a:lnTo>
                    <a:pt x="118" y="33"/>
                  </a:lnTo>
                  <a:lnTo>
                    <a:pt x="99" y="55"/>
                  </a:lnTo>
                  <a:lnTo>
                    <a:pt x="99" y="57"/>
                  </a:lnTo>
                  <a:lnTo>
                    <a:pt x="99" y="63"/>
                  </a:lnTo>
                  <a:lnTo>
                    <a:pt x="96" y="69"/>
                  </a:lnTo>
                  <a:lnTo>
                    <a:pt x="93" y="73"/>
                  </a:lnTo>
                  <a:lnTo>
                    <a:pt x="87" y="76"/>
                  </a:lnTo>
                  <a:lnTo>
                    <a:pt x="82" y="79"/>
                  </a:lnTo>
                  <a:lnTo>
                    <a:pt x="75" y="81"/>
                  </a:lnTo>
                  <a:lnTo>
                    <a:pt x="73" y="81"/>
                  </a:lnTo>
                  <a:lnTo>
                    <a:pt x="70" y="81"/>
                  </a:lnTo>
                  <a:lnTo>
                    <a:pt x="66" y="81"/>
                  </a:lnTo>
                  <a:lnTo>
                    <a:pt x="60" y="82"/>
                  </a:lnTo>
                  <a:lnTo>
                    <a:pt x="54" y="85"/>
                  </a:lnTo>
                  <a:lnTo>
                    <a:pt x="55" y="90"/>
                  </a:lnTo>
                  <a:lnTo>
                    <a:pt x="58" y="94"/>
                  </a:lnTo>
                  <a:lnTo>
                    <a:pt x="58" y="100"/>
                  </a:lnTo>
                  <a:lnTo>
                    <a:pt x="58" y="112"/>
                  </a:lnTo>
                  <a:lnTo>
                    <a:pt x="57" y="118"/>
                  </a:lnTo>
                  <a:lnTo>
                    <a:pt x="55" y="124"/>
                  </a:lnTo>
                  <a:lnTo>
                    <a:pt x="51" y="129"/>
                  </a:lnTo>
                  <a:lnTo>
                    <a:pt x="46" y="133"/>
                  </a:lnTo>
                  <a:lnTo>
                    <a:pt x="40" y="135"/>
                  </a:lnTo>
                  <a:lnTo>
                    <a:pt x="34" y="136"/>
                  </a:lnTo>
                  <a:lnTo>
                    <a:pt x="30" y="136"/>
                  </a:lnTo>
                  <a:lnTo>
                    <a:pt x="19" y="136"/>
                  </a:lnTo>
                  <a:lnTo>
                    <a:pt x="9" y="136"/>
                  </a:lnTo>
                  <a:lnTo>
                    <a:pt x="4" y="144"/>
                  </a:lnTo>
                  <a:lnTo>
                    <a:pt x="0" y="150"/>
                  </a:lnTo>
                  <a:lnTo>
                    <a:pt x="3" y="151"/>
                  </a:lnTo>
                  <a:lnTo>
                    <a:pt x="6" y="151"/>
                  </a:lnTo>
                  <a:lnTo>
                    <a:pt x="43" y="147"/>
                  </a:lnTo>
                  <a:lnTo>
                    <a:pt x="79" y="136"/>
                  </a:lnTo>
                  <a:lnTo>
                    <a:pt x="111" y="118"/>
                  </a:lnTo>
                  <a:lnTo>
                    <a:pt x="139" y="96"/>
                  </a:lnTo>
                  <a:lnTo>
                    <a:pt x="162" y="67"/>
                  </a:lnTo>
                  <a:lnTo>
                    <a:pt x="180" y="36"/>
                  </a:lnTo>
                  <a:lnTo>
                    <a:pt x="190" y="0"/>
                  </a:lnTo>
                  <a:lnTo>
                    <a:pt x="175" y="4"/>
                  </a:lnTo>
                  <a:lnTo>
                    <a:pt x="160" y="6"/>
                  </a:lnTo>
                  <a:lnTo>
                    <a:pt x="156" y="6"/>
                  </a:lnTo>
                  <a:lnTo>
                    <a:pt x="145" y="6"/>
                  </a:lnTo>
                  <a:lnTo>
                    <a:pt x="132" y="6"/>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26" name="任意多边形 50199"/>
            <p:cNvSpPr>
              <a:spLocks noChangeArrowheads="1"/>
            </p:cNvSpPr>
            <p:nvPr/>
          </p:nvSpPr>
          <p:spPr bwMode="auto">
            <a:xfrm>
              <a:off x="866" y="2169"/>
              <a:ext cx="406" cy="405"/>
            </a:xfrm>
            <a:custGeom>
              <a:avLst/>
              <a:gdLst>
                <a:gd name="T0" fmla="*/ 259 w 406"/>
                <a:gd name="T1" fmla="*/ 129 h 405"/>
                <a:gd name="T2" fmla="*/ 280 w 406"/>
                <a:gd name="T3" fmla="*/ 126 h 405"/>
                <a:gd name="T4" fmla="*/ 282 w 406"/>
                <a:gd name="T5" fmla="*/ 107 h 405"/>
                <a:gd name="T6" fmla="*/ 277 w 406"/>
                <a:gd name="T7" fmla="*/ 99 h 405"/>
                <a:gd name="T8" fmla="*/ 220 w 406"/>
                <a:gd name="T9" fmla="*/ 72 h 405"/>
                <a:gd name="T10" fmla="*/ 238 w 406"/>
                <a:gd name="T11" fmla="*/ 69 h 405"/>
                <a:gd name="T12" fmla="*/ 241 w 406"/>
                <a:gd name="T13" fmla="*/ 51 h 405"/>
                <a:gd name="T14" fmla="*/ 235 w 406"/>
                <a:gd name="T15" fmla="*/ 44 h 405"/>
                <a:gd name="T16" fmla="*/ 195 w 406"/>
                <a:gd name="T17" fmla="*/ 35 h 405"/>
                <a:gd name="T18" fmla="*/ 175 w 406"/>
                <a:gd name="T19" fmla="*/ 9 h 405"/>
                <a:gd name="T20" fmla="*/ 165 w 406"/>
                <a:gd name="T21" fmla="*/ 2 h 405"/>
                <a:gd name="T22" fmla="*/ 151 w 406"/>
                <a:gd name="T23" fmla="*/ 0 h 405"/>
                <a:gd name="T24" fmla="*/ 138 w 406"/>
                <a:gd name="T25" fmla="*/ 15 h 405"/>
                <a:gd name="T26" fmla="*/ 157 w 406"/>
                <a:gd name="T27" fmla="*/ 69 h 405"/>
                <a:gd name="T28" fmla="*/ 180 w 406"/>
                <a:gd name="T29" fmla="*/ 132 h 405"/>
                <a:gd name="T30" fmla="*/ 190 w 406"/>
                <a:gd name="T31" fmla="*/ 165 h 405"/>
                <a:gd name="T32" fmla="*/ 160 w 406"/>
                <a:gd name="T33" fmla="*/ 177 h 405"/>
                <a:gd name="T34" fmla="*/ 106 w 406"/>
                <a:gd name="T35" fmla="*/ 182 h 405"/>
                <a:gd name="T36" fmla="*/ 76 w 406"/>
                <a:gd name="T37" fmla="*/ 183 h 405"/>
                <a:gd name="T38" fmla="*/ 21 w 406"/>
                <a:gd name="T39" fmla="*/ 192 h 405"/>
                <a:gd name="T40" fmla="*/ 4 w 406"/>
                <a:gd name="T41" fmla="*/ 278 h 405"/>
                <a:gd name="T42" fmla="*/ 81 w 406"/>
                <a:gd name="T43" fmla="*/ 222 h 405"/>
                <a:gd name="T44" fmla="*/ 124 w 406"/>
                <a:gd name="T45" fmla="*/ 224 h 405"/>
                <a:gd name="T46" fmla="*/ 175 w 406"/>
                <a:gd name="T47" fmla="*/ 231 h 405"/>
                <a:gd name="T48" fmla="*/ 189 w 406"/>
                <a:gd name="T49" fmla="*/ 246 h 405"/>
                <a:gd name="T50" fmla="*/ 172 w 406"/>
                <a:gd name="T51" fmla="*/ 293 h 405"/>
                <a:gd name="T52" fmla="*/ 150 w 406"/>
                <a:gd name="T53" fmla="*/ 357 h 405"/>
                <a:gd name="T54" fmla="*/ 135 w 406"/>
                <a:gd name="T55" fmla="*/ 401 h 405"/>
                <a:gd name="T56" fmla="*/ 156 w 406"/>
                <a:gd name="T57" fmla="*/ 405 h 405"/>
                <a:gd name="T58" fmla="*/ 169 w 406"/>
                <a:gd name="T59" fmla="*/ 404 h 405"/>
                <a:gd name="T60" fmla="*/ 181 w 406"/>
                <a:gd name="T61" fmla="*/ 389 h 405"/>
                <a:gd name="T62" fmla="*/ 199 w 406"/>
                <a:gd name="T63" fmla="*/ 363 h 405"/>
                <a:gd name="T64" fmla="*/ 238 w 406"/>
                <a:gd name="T65" fmla="*/ 360 h 405"/>
                <a:gd name="T66" fmla="*/ 241 w 406"/>
                <a:gd name="T67" fmla="*/ 342 h 405"/>
                <a:gd name="T68" fmla="*/ 235 w 406"/>
                <a:gd name="T69" fmla="*/ 333 h 405"/>
                <a:gd name="T70" fmla="*/ 238 w 406"/>
                <a:gd name="T71" fmla="*/ 306 h 405"/>
                <a:gd name="T72" fmla="*/ 280 w 406"/>
                <a:gd name="T73" fmla="*/ 305 h 405"/>
                <a:gd name="T74" fmla="*/ 282 w 406"/>
                <a:gd name="T75" fmla="*/ 285 h 405"/>
                <a:gd name="T76" fmla="*/ 277 w 406"/>
                <a:gd name="T77" fmla="*/ 278 h 405"/>
                <a:gd name="T78" fmla="*/ 294 w 406"/>
                <a:gd name="T79" fmla="*/ 233 h 405"/>
                <a:gd name="T80" fmla="*/ 376 w 406"/>
                <a:gd name="T81" fmla="*/ 230 h 405"/>
                <a:gd name="T82" fmla="*/ 403 w 406"/>
                <a:gd name="T83" fmla="*/ 213 h 405"/>
                <a:gd name="T84" fmla="*/ 397 w 406"/>
                <a:gd name="T85" fmla="*/ 185 h 405"/>
                <a:gd name="T86" fmla="*/ 367 w 406"/>
                <a:gd name="T87" fmla="*/ 174 h 40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06" h="405">
                  <a:moveTo>
                    <a:pt x="360" y="174"/>
                  </a:moveTo>
                  <a:lnTo>
                    <a:pt x="294" y="173"/>
                  </a:lnTo>
                  <a:lnTo>
                    <a:pt x="259" y="129"/>
                  </a:lnTo>
                  <a:lnTo>
                    <a:pt x="274" y="129"/>
                  </a:lnTo>
                  <a:lnTo>
                    <a:pt x="277" y="128"/>
                  </a:lnTo>
                  <a:lnTo>
                    <a:pt x="280" y="126"/>
                  </a:lnTo>
                  <a:lnTo>
                    <a:pt x="282" y="123"/>
                  </a:lnTo>
                  <a:lnTo>
                    <a:pt x="282" y="120"/>
                  </a:lnTo>
                  <a:lnTo>
                    <a:pt x="282" y="107"/>
                  </a:lnTo>
                  <a:lnTo>
                    <a:pt x="282" y="104"/>
                  </a:lnTo>
                  <a:lnTo>
                    <a:pt x="280" y="101"/>
                  </a:lnTo>
                  <a:lnTo>
                    <a:pt x="277" y="99"/>
                  </a:lnTo>
                  <a:lnTo>
                    <a:pt x="274" y="99"/>
                  </a:lnTo>
                  <a:lnTo>
                    <a:pt x="238" y="99"/>
                  </a:lnTo>
                  <a:lnTo>
                    <a:pt x="220" y="72"/>
                  </a:lnTo>
                  <a:lnTo>
                    <a:pt x="232" y="72"/>
                  </a:lnTo>
                  <a:lnTo>
                    <a:pt x="235" y="72"/>
                  </a:lnTo>
                  <a:lnTo>
                    <a:pt x="238" y="69"/>
                  </a:lnTo>
                  <a:lnTo>
                    <a:pt x="241" y="68"/>
                  </a:lnTo>
                  <a:lnTo>
                    <a:pt x="241" y="63"/>
                  </a:lnTo>
                  <a:lnTo>
                    <a:pt x="241" y="51"/>
                  </a:lnTo>
                  <a:lnTo>
                    <a:pt x="241" y="48"/>
                  </a:lnTo>
                  <a:lnTo>
                    <a:pt x="238" y="45"/>
                  </a:lnTo>
                  <a:lnTo>
                    <a:pt x="235" y="44"/>
                  </a:lnTo>
                  <a:lnTo>
                    <a:pt x="232" y="42"/>
                  </a:lnTo>
                  <a:lnTo>
                    <a:pt x="199" y="42"/>
                  </a:lnTo>
                  <a:lnTo>
                    <a:pt x="195" y="35"/>
                  </a:lnTo>
                  <a:lnTo>
                    <a:pt x="189" y="26"/>
                  </a:lnTo>
                  <a:lnTo>
                    <a:pt x="181" y="17"/>
                  </a:lnTo>
                  <a:lnTo>
                    <a:pt x="175" y="9"/>
                  </a:lnTo>
                  <a:lnTo>
                    <a:pt x="172" y="5"/>
                  </a:lnTo>
                  <a:lnTo>
                    <a:pt x="169" y="3"/>
                  </a:lnTo>
                  <a:lnTo>
                    <a:pt x="165" y="2"/>
                  </a:lnTo>
                  <a:lnTo>
                    <a:pt x="160" y="0"/>
                  </a:lnTo>
                  <a:lnTo>
                    <a:pt x="156" y="0"/>
                  </a:lnTo>
                  <a:lnTo>
                    <a:pt x="151" y="0"/>
                  </a:lnTo>
                  <a:lnTo>
                    <a:pt x="133" y="0"/>
                  </a:lnTo>
                  <a:lnTo>
                    <a:pt x="135" y="5"/>
                  </a:lnTo>
                  <a:lnTo>
                    <a:pt x="138" y="15"/>
                  </a:lnTo>
                  <a:lnTo>
                    <a:pt x="144" y="30"/>
                  </a:lnTo>
                  <a:lnTo>
                    <a:pt x="150" y="48"/>
                  </a:lnTo>
                  <a:lnTo>
                    <a:pt x="157" y="69"/>
                  </a:lnTo>
                  <a:lnTo>
                    <a:pt x="165" y="92"/>
                  </a:lnTo>
                  <a:lnTo>
                    <a:pt x="172" y="113"/>
                  </a:lnTo>
                  <a:lnTo>
                    <a:pt x="180" y="132"/>
                  </a:lnTo>
                  <a:lnTo>
                    <a:pt x="184" y="149"/>
                  </a:lnTo>
                  <a:lnTo>
                    <a:pt x="189" y="159"/>
                  </a:lnTo>
                  <a:lnTo>
                    <a:pt x="190" y="165"/>
                  </a:lnTo>
                  <a:lnTo>
                    <a:pt x="186" y="170"/>
                  </a:lnTo>
                  <a:lnTo>
                    <a:pt x="175" y="174"/>
                  </a:lnTo>
                  <a:lnTo>
                    <a:pt x="160" y="177"/>
                  </a:lnTo>
                  <a:lnTo>
                    <a:pt x="142" y="180"/>
                  </a:lnTo>
                  <a:lnTo>
                    <a:pt x="124" y="182"/>
                  </a:lnTo>
                  <a:lnTo>
                    <a:pt x="106" y="182"/>
                  </a:lnTo>
                  <a:lnTo>
                    <a:pt x="91" y="183"/>
                  </a:lnTo>
                  <a:lnTo>
                    <a:pt x="81" y="183"/>
                  </a:lnTo>
                  <a:lnTo>
                    <a:pt x="76" y="183"/>
                  </a:lnTo>
                  <a:lnTo>
                    <a:pt x="33" y="128"/>
                  </a:lnTo>
                  <a:lnTo>
                    <a:pt x="4" y="128"/>
                  </a:lnTo>
                  <a:lnTo>
                    <a:pt x="21" y="192"/>
                  </a:lnTo>
                  <a:lnTo>
                    <a:pt x="0" y="203"/>
                  </a:lnTo>
                  <a:lnTo>
                    <a:pt x="21" y="213"/>
                  </a:lnTo>
                  <a:lnTo>
                    <a:pt x="4" y="278"/>
                  </a:lnTo>
                  <a:lnTo>
                    <a:pt x="33" y="278"/>
                  </a:lnTo>
                  <a:lnTo>
                    <a:pt x="76" y="222"/>
                  </a:lnTo>
                  <a:lnTo>
                    <a:pt x="81" y="222"/>
                  </a:lnTo>
                  <a:lnTo>
                    <a:pt x="91" y="222"/>
                  </a:lnTo>
                  <a:lnTo>
                    <a:pt x="106" y="224"/>
                  </a:lnTo>
                  <a:lnTo>
                    <a:pt x="124" y="224"/>
                  </a:lnTo>
                  <a:lnTo>
                    <a:pt x="142" y="225"/>
                  </a:lnTo>
                  <a:lnTo>
                    <a:pt x="160" y="228"/>
                  </a:lnTo>
                  <a:lnTo>
                    <a:pt x="175" y="231"/>
                  </a:lnTo>
                  <a:lnTo>
                    <a:pt x="186" y="236"/>
                  </a:lnTo>
                  <a:lnTo>
                    <a:pt x="190" y="240"/>
                  </a:lnTo>
                  <a:lnTo>
                    <a:pt x="189" y="246"/>
                  </a:lnTo>
                  <a:lnTo>
                    <a:pt x="184" y="257"/>
                  </a:lnTo>
                  <a:lnTo>
                    <a:pt x="180" y="273"/>
                  </a:lnTo>
                  <a:lnTo>
                    <a:pt x="172" y="293"/>
                  </a:lnTo>
                  <a:lnTo>
                    <a:pt x="165" y="314"/>
                  </a:lnTo>
                  <a:lnTo>
                    <a:pt x="157" y="336"/>
                  </a:lnTo>
                  <a:lnTo>
                    <a:pt x="150" y="357"/>
                  </a:lnTo>
                  <a:lnTo>
                    <a:pt x="144" y="375"/>
                  </a:lnTo>
                  <a:lnTo>
                    <a:pt x="138" y="390"/>
                  </a:lnTo>
                  <a:lnTo>
                    <a:pt x="135" y="401"/>
                  </a:lnTo>
                  <a:lnTo>
                    <a:pt x="133" y="405"/>
                  </a:lnTo>
                  <a:lnTo>
                    <a:pt x="151" y="405"/>
                  </a:lnTo>
                  <a:lnTo>
                    <a:pt x="156" y="405"/>
                  </a:lnTo>
                  <a:lnTo>
                    <a:pt x="160" y="405"/>
                  </a:lnTo>
                  <a:lnTo>
                    <a:pt x="165" y="404"/>
                  </a:lnTo>
                  <a:lnTo>
                    <a:pt x="169" y="404"/>
                  </a:lnTo>
                  <a:lnTo>
                    <a:pt x="172" y="401"/>
                  </a:lnTo>
                  <a:lnTo>
                    <a:pt x="175" y="396"/>
                  </a:lnTo>
                  <a:lnTo>
                    <a:pt x="181" y="389"/>
                  </a:lnTo>
                  <a:lnTo>
                    <a:pt x="189" y="380"/>
                  </a:lnTo>
                  <a:lnTo>
                    <a:pt x="195" y="371"/>
                  </a:lnTo>
                  <a:lnTo>
                    <a:pt x="199" y="363"/>
                  </a:lnTo>
                  <a:lnTo>
                    <a:pt x="232" y="363"/>
                  </a:lnTo>
                  <a:lnTo>
                    <a:pt x="235" y="362"/>
                  </a:lnTo>
                  <a:lnTo>
                    <a:pt x="238" y="360"/>
                  </a:lnTo>
                  <a:lnTo>
                    <a:pt x="241" y="357"/>
                  </a:lnTo>
                  <a:lnTo>
                    <a:pt x="241" y="354"/>
                  </a:lnTo>
                  <a:lnTo>
                    <a:pt x="241" y="342"/>
                  </a:lnTo>
                  <a:lnTo>
                    <a:pt x="241" y="338"/>
                  </a:lnTo>
                  <a:lnTo>
                    <a:pt x="238" y="336"/>
                  </a:lnTo>
                  <a:lnTo>
                    <a:pt x="235" y="333"/>
                  </a:lnTo>
                  <a:lnTo>
                    <a:pt x="232" y="333"/>
                  </a:lnTo>
                  <a:lnTo>
                    <a:pt x="220" y="333"/>
                  </a:lnTo>
                  <a:lnTo>
                    <a:pt x="238" y="306"/>
                  </a:lnTo>
                  <a:lnTo>
                    <a:pt x="274" y="306"/>
                  </a:lnTo>
                  <a:lnTo>
                    <a:pt x="277" y="306"/>
                  </a:lnTo>
                  <a:lnTo>
                    <a:pt x="280" y="305"/>
                  </a:lnTo>
                  <a:lnTo>
                    <a:pt x="282" y="302"/>
                  </a:lnTo>
                  <a:lnTo>
                    <a:pt x="282" y="299"/>
                  </a:lnTo>
                  <a:lnTo>
                    <a:pt x="282" y="285"/>
                  </a:lnTo>
                  <a:lnTo>
                    <a:pt x="282" y="282"/>
                  </a:lnTo>
                  <a:lnTo>
                    <a:pt x="280" y="279"/>
                  </a:lnTo>
                  <a:lnTo>
                    <a:pt x="277" y="278"/>
                  </a:lnTo>
                  <a:lnTo>
                    <a:pt x="274" y="276"/>
                  </a:lnTo>
                  <a:lnTo>
                    <a:pt x="259" y="276"/>
                  </a:lnTo>
                  <a:lnTo>
                    <a:pt x="294" y="233"/>
                  </a:lnTo>
                  <a:lnTo>
                    <a:pt x="360" y="233"/>
                  </a:lnTo>
                  <a:lnTo>
                    <a:pt x="367" y="231"/>
                  </a:lnTo>
                  <a:lnTo>
                    <a:pt x="376" y="230"/>
                  </a:lnTo>
                  <a:lnTo>
                    <a:pt x="387" y="227"/>
                  </a:lnTo>
                  <a:lnTo>
                    <a:pt x="397" y="221"/>
                  </a:lnTo>
                  <a:lnTo>
                    <a:pt x="403" y="213"/>
                  </a:lnTo>
                  <a:lnTo>
                    <a:pt x="406" y="203"/>
                  </a:lnTo>
                  <a:lnTo>
                    <a:pt x="403" y="192"/>
                  </a:lnTo>
                  <a:lnTo>
                    <a:pt x="397" y="185"/>
                  </a:lnTo>
                  <a:lnTo>
                    <a:pt x="387" y="179"/>
                  </a:lnTo>
                  <a:lnTo>
                    <a:pt x="376" y="176"/>
                  </a:lnTo>
                  <a:lnTo>
                    <a:pt x="367" y="174"/>
                  </a:lnTo>
                  <a:lnTo>
                    <a:pt x="360" y="174"/>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grpSp>
      <p:grpSp>
        <p:nvGrpSpPr>
          <p:cNvPr id="27" name="组合 50200"/>
          <p:cNvGrpSpPr/>
          <p:nvPr/>
        </p:nvGrpSpPr>
        <p:grpSpPr bwMode="auto">
          <a:xfrm>
            <a:off x="4186746" y="4436999"/>
            <a:ext cx="812800" cy="809625"/>
            <a:chOff x="1884" y="3188"/>
            <a:chExt cx="411" cy="409"/>
          </a:xfrm>
        </p:grpSpPr>
        <p:sp>
          <p:nvSpPr>
            <p:cNvPr id="28" name="任意多边形 50201"/>
            <p:cNvSpPr>
              <a:spLocks noEditPoints="1" noChangeArrowheads="1"/>
            </p:cNvSpPr>
            <p:nvPr/>
          </p:nvSpPr>
          <p:spPr bwMode="auto">
            <a:xfrm>
              <a:off x="1884" y="3188"/>
              <a:ext cx="411" cy="409"/>
            </a:xfrm>
            <a:custGeom>
              <a:avLst/>
              <a:gdLst>
                <a:gd name="T0" fmla="*/ 0 w 411"/>
                <a:gd name="T1" fmla="*/ 204 h 409"/>
                <a:gd name="T2" fmla="*/ 5 w 411"/>
                <a:gd name="T3" fmla="*/ 246 h 409"/>
                <a:gd name="T4" fmla="*/ 17 w 411"/>
                <a:gd name="T5" fmla="*/ 285 h 409"/>
                <a:gd name="T6" fmla="*/ 36 w 411"/>
                <a:gd name="T7" fmla="*/ 319 h 409"/>
                <a:gd name="T8" fmla="*/ 60 w 411"/>
                <a:gd name="T9" fmla="*/ 349 h 409"/>
                <a:gd name="T10" fmla="*/ 92 w 411"/>
                <a:gd name="T11" fmla="*/ 375 h 409"/>
                <a:gd name="T12" fmla="*/ 126 w 411"/>
                <a:gd name="T13" fmla="*/ 393 h 409"/>
                <a:gd name="T14" fmla="*/ 165 w 411"/>
                <a:gd name="T15" fmla="*/ 405 h 409"/>
                <a:gd name="T16" fmla="*/ 206 w 411"/>
                <a:gd name="T17" fmla="*/ 409 h 409"/>
                <a:gd name="T18" fmla="*/ 248 w 411"/>
                <a:gd name="T19" fmla="*/ 405 h 409"/>
                <a:gd name="T20" fmla="*/ 285 w 411"/>
                <a:gd name="T21" fmla="*/ 393 h 409"/>
                <a:gd name="T22" fmla="*/ 321 w 411"/>
                <a:gd name="T23" fmla="*/ 375 h 409"/>
                <a:gd name="T24" fmla="*/ 351 w 411"/>
                <a:gd name="T25" fmla="*/ 349 h 409"/>
                <a:gd name="T26" fmla="*/ 375 w 411"/>
                <a:gd name="T27" fmla="*/ 319 h 409"/>
                <a:gd name="T28" fmla="*/ 395 w 411"/>
                <a:gd name="T29" fmla="*/ 285 h 409"/>
                <a:gd name="T30" fmla="*/ 407 w 411"/>
                <a:gd name="T31" fmla="*/ 246 h 409"/>
                <a:gd name="T32" fmla="*/ 411 w 411"/>
                <a:gd name="T33" fmla="*/ 204 h 409"/>
                <a:gd name="T34" fmla="*/ 407 w 411"/>
                <a:gd name="T35" fmla="*/ 163 h 409"/>
                <a:gd name="T36" fmla="*/ 395 w 411"/>
                <a:gd name="T37" fmla="*/ 124 h 409"/>
                <a:gd name="T38" fmla="*/ 375 w 411"/>
                <a:gd name="T39" fmla="*/ 90 h 409"/>
                <a:gd name="T40" fmla="*/ 351 w 411"/>
                <a:gd name="T41" fmla="*/ 60 h 409"/>
                <a:gd name="T42" fmla="*/ 321 w 411"/>
                <a:gd name="T43" fmla="*/ 34 h 409"/>
                <a:gd name="T44" fmla="*/ 285 w 411"/>
                <a:gd name="T45" fmla="*/ 15 h 409"/>
                <a:gd name="T46" fmla="*/ 248 w 411"/>
                <a:gd name="T47" fmla="*/ 3 h 409"/>
                <a:gd name="T48" fmla="*/ 206 w 411"/>
                <a:gd name="T49" fmla="*/ 0 h 409"/>
                <a:gd name="T50" fmla="*/ 165 w 411"/>
                <a:gd name="T51" fmla="*/ 3 h 409"/>
                <a:gd name="T52" fmla="*/ 126 w 411"/>
                <a:gd name="T53" fmla="*/ 15 h 409"/>
                <a:gd name="T54" fmla="*/ 92 w 411"/>
                <a:gd name="T55" fmla="*/ 34 h 409"/>
                <a:gd name="T56" fmla="*/ 60 w 411"/>
                <a:gd name="T57" fmla="*/ 60 h 409"/>
                <a:gd name="T58" fmla="*/ 36 w 411"/>
                <a:gd name="T59" fmla="*/ 90 h 409"/>
                <a:gd name="T60" fmla="*/ 17 w 411"/>
                <a:gd name="T61" fmla="*/ 124 h 409"/>
                <a:gd name="T62" fmla="*/ 5 w 411"/>
                <a:gd name="T63" fmla="*/ 163 h 409"/>
                <a:gd name="T64" fmla="*/ 0 w 411"/>
                <a:gd name="T65" fmla="*/ 204 h 409"/>
                <a:gd name="T66" fmla="*/ 42 w 411"/>
                <a:gd name="T67" fmla="*/ 204 h 409"/>
                <a:gd name="T68" fmla="*/ 47 w 411"/>
                <a:gd name="T69" fmla="*/ 166 h 409"/>
                <a:gd name="T70" fmla="*/ 59 w 411"/>
                <a:gd name="T71" fmla="*/ 133 h 409"/>
                <a:gd name="T72" fmla="*/ 78 w 411"/>
                <a:gd name="T73" fmla="*/ 102 h 409"/>
                <a:gd name="T74" fmla="*/ 104 w 411"/>
                <a:gd name="T75" fmla="*/ 76 h 409"/>
                <a:gd name="T76" fmla="*/ 134 w 411"/>
                <a:gd name="T77" fmla="*/ 58 h 409"/>
                <a:gd name="T78" fmla="*/ 168 w 411"/>
                <a:gd name="T79" fmla="*/ 45 h 409"/>
                <a:gd name="T80" fmla="*/ 206 w 411"/>
                <a:gd name="T81" fmla="*/ 42 h 409"/>
                <a:gd name="T82" fmla="*/ 243 w 411"/>
                <a:gd name="T83" fmla="*/ 45 h 409"/>
                <a:gd name="T84" fmla="*/ 278 w 411"/>
                <a:gd name="T85" fmla="*/ 58 h 409"/>
                <a:gd name="T86" fmla="*/ 308 w 411"/>
                <a:gd name="T87" fmla="*/ 76 h 409"/>
                <a:gd name="T88" fmla="*/ 333 w 411"/>
                <a:gd name="T89" fmla="*/ 102 h 409"/>
                <a:gd name="T90" fmla="*/ 353 w 411"/>
                <a:gd name="T91" fmla="*/ 133 h 409"/>
                <a:gd name="T92" fmla="*/ 365 w 411"/>
                <a:gd name="T93" fmla="*/ 166 h 409"/>
                <a:gd name="T94" fmla="*/ 369 w 411"/>
                <a:gd name="T95" fmla="*/ 204 h 409"/>
                <a:gd name="T96" fmla="*/ 365 w 411"/>
                <a:gd name="T97" fmla="*/ 241 h 409"/>
                <a:gd name="T98" fmla="*/ 353 w 411"/>
                <a:gd name="T99" fmla="*/ 276 h 409"/>
                <a:gd name="T100" fmla="*/ 333 w 411"/>
                <a:gd name="T101" fmla="*/ 306 h 409"/>
                <a:gd name="T102" fmla="*/ 308 w 411"/>
                <a:gd name="T103" fmla="*/ 331 h 409"/>
                <a:gd name="T104" fmla="*/ 278 w 411"/>
                <a:gd name="T105" fmla="*/ 351 h 409"/>
                <a:gd name="T106" fmla="*/ 243 w 411"/>
                <a:gd name="T107" fmla="*/ 363 h 409"/>
                <a:gd name="T108" fmla="*/ 206 w 411"/>
                <a:gd name="T109" fmla="*/ 367 h 409"/>
                <a:gd name="T110" fmla="*/ 168 w 411"/>
                <a:gd name="T111" fmla="*/ 363 h 409"/>
                <a:gd name="T112" fmla="*/ 134 w 411"/>
                <a:gd name="T113" fmla="*/ 351 h 409"/>
                <a:gd name="T114" fmla="*/ 104 w 411"/>
                <a:gd name="T115" fmla="*/ 331 h 409"/>
                <a:gd name="T116" fmla="*/ 78 w 411"/>
                <a:gd name="T117" fmla="*/ 306 h 409"/>
                <a:gd name="T118" fmla="*/ 59 w 411"/>
                <a:gd name="T119" fmla="*/ 276 h 409"/>
                <a:gd name="T120" fmla="*/ 47 w 411"/>
                <a:gd name="T121" fmla="*/ 241 h 409"/>
                <a:gd name="T122" fmla="*/ 42 w 411"/>
                <a:gd name="T123" fmla="*/ 204 h 4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11" h="409">
                  <a:moveTo>
                    <a:pt x="0" y="204"/>
                  </a:moveTo>
                  <a:lnTo>
                    <a:pt x="5" y="246"/>
                  </a:lnTo>
                  <a:lnTo>
                    <a:pt x="17" y="285"/>
                  </a:lnTo>
                  <a:lnTo>
                    <a:pt x="36" y="319"/>
                  </a:lnTo>
                  <a:lnTo>
                    <a:pt x="60" y="349"/>
                  </a:lnTo>
                  <a:lnTo>
                    <a:pt x="92" y="375"/>
                  </a:lnTo>
                  <a:lnTo>
                    <a:pt x="126" y="393"/>
                  </a:lnTo>
                  <a:lnTo>
                    <a:pt x="165" y="405"/>
                  </a:lnTo>
                  <a:lnTo>
                    <a:pt x="206" y="409"/>
                  </a:lnTo>
                  <a:lnTo>
                    <a:pt x="248" y="405"/>
                  </a:lnTo>
                  <a:lnTo>
                    <a:pt x="285" y="393"/>
                  </a:lnTo>
                  <a:lnTo>
                    <a:pt x="321" y="375"/>
                  </a:lnTo>
                  <a:lnTo>
                    <a:pt x="351" y="349"/>
                  </a:lnTo>
                  <a:lnTo>
                    <a:pt x="375" y="319"/>
                  </a:lnTo>
                  <a:lnTo>
                    <a:pt x="395" y="285"/>
                  </a:lnTo>
                  <a:lnTo>
                    <a:pt x="407" y="246"/>
                  </a:lnTo>
                  <a:lnTo>
                    <a:pt x="411" y="204"/>
                  </a:lnTo>
                  <a:lnTo>
                    <a:pt x="407" y="163"/>
                  </a:lnTo>
                  <a:lnTo>
                    <a:pt x="395" y="124"/>
                  </a:lnTo>
                  <a:lnTo>
                    <a:pt x="375" y="90"/>
                  </a:lnTo>
                  <a:lnTo>
                    <a:pt x="351" y="60"/>
                  </a:lnTo>
                  <a:lnTo>
                    <a:pt x="321" y="34"/>
                  </a:lnTo>
                  <a:lnTo>
                    <a:pt x="285" y="15"/>
                  </a:lnTo>
                  <a:lnTo>
                    <a:pt x="248" y="3"/>
                  </a:lnTo>
                  <a:lnTo>
                    <a:pt x="206" y="0"/>
                  </a:lnTo>
                  <a:lnTo>
                    <a:pt x="165" y="3"/>
                  </a:lnTo>
                  <a:lnTo>
                    <a:pt x="126" y="15"/>
                  </a:lnTo>
                  <a:lnTo>
                    <a:pt x="92" y="34"/>
                  </a:lnTo>
                  <a:lnTo>
                    <a:pt x="60" y="60"/>
                  </a:lnTo>
                  <a:lnTo>
                    <a:pt x="36" y="90"/>
                  </a:lnTo>
                  <a:lnTo>
                    <a:pt x="17" y="124"/>
                  </a:lnTo>
                  <a:lnTo>
                    <a:pt x="5" y="163"/>
                  </a:lnTo>
                  <a:lnTo>
                    <a:pt x="0" y="204"/>
                  </a:lnTo>
                  <a:close/>
                  <a:moveTo>
                    <a:pt x="42" y="204"/>
                  </a:moveTo>
                  <a:lnTo>
                    <a:pt x="47" y="166"/>
                  </a:lnTo>
                  <a:lnTo>
                    <a:pt x="59" y="133"/>
                  </a:lnTo>
                  <a:lnTo>
                    <a:pt x="78" y="102"/>
                  </a:lnTo>
                  <a:lnTo>
                    <a:pt x="104" y="76"/>
                  </a:lnTo>
                  <a:lnTo>
                    <a:pt x="134" y="58"/>
                  </a:lnTo>
                  <a:lnTo>
                    <a:pt x="168" y="45"/>
                  </a:lnTo>
                  <a:lnTo>
                    <a:pt x="206" y="42"/>
                  </a:lnTo>
                  <a:lnTo>
                    <a:pt x="243" y="45"/>
                  </a:lnTo>
                  <a:lnTo>
                    <a:pt x="278" y="58"/>
                  </a:lnTo>
                  <a:lnTo>
                    <a:pt x="308" y="76"/>
                  </a:lnTo>
                  <a:lnTo>
                    <a:pt x="333" y="102"/>
                  </a:lnTo>
                  <a:lnTo>
                    <a:pt x="353" y="133"/>
                  </a:lnTo>
                  <a:lnTo>
                    <a:pt x="365" y="166"/>
                  </a:lnTo>
                  <a:lnTo>
                    <a:pt x="369" y="204"/>
                  </a:lnTo>
                  <a:lnTo>
                    <a:pt x="365" y="241"/>
                  </a:lnTo>
                  <a:lnTo>
                    <a:pt x="353" y="276"/>
                  </a:lnTo>
                  <a:lnTo>
                    <a:pt x="333" y="306"/>
                  </a:lnTo>
                  <a:lnTo>
                    <a:pt x="308" y="331"/>
                  </a:lnTo>
                  <a:lnTo>
                    <a:pt x="278" y="351"/>
                  </a:lnTo>
                  <a:lnTo>
                    <a:pt x="243" y="363"/>
                  </a:lnTo>
                  <a:lnTo>
                    <a:pt x="206" y="367"/>
                  </a:lnTo>
                  <a:lnTo>
                    <a:pt x="168" y="363"/>
                  </a:lnTo>
                  <a:lnTo>
                    <a:pt x="134" y="351"/>
                  </a:lnTo>
                  <a:lnTo>
                    <a:pt x="104" y="331"/>
                  </a:lnTo>
                  <a:lnTo>
                    <a:pt x="78" y="306"/>
                  </a:lnTo>
                  <a:lnTo>
                    <a:pt x="59" y="276"/>
                  </a:lnTo>
                  <a:lnTo>
                    <a:pt x="47" y="241"/>
                  </a:lnTo>
                  <a:lnTo>
                    <a:pt x="42" y="204"/>
                  </a:lnTo>
                  <a:close/>
                </a:path>
              </a:pathLst>
            </a:custGeom>
            <a:solidFill>
              <a:srgbClr val="F8F8F8"/>
            </a:solidFill>
            <a:ln w="1905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29" name="任意多边形 50202"/>
            <p:cNvSpPr>
              <a:spLocks noChangeArrowheads="1"/>
            </p:cNvSpPr>
            <p:nvPr/>
          </p:nvSpPr>
          <p:spPr bwMode="auto">
            <a:xfrm>
              <a:off x="2064" y="3269"/>
              <a:ext cx="141" cy="229"/>
            </a:xfrm>
            <a:custGeom>
              <a:avLst/>
              <a:gdLst>
                <a:gd name="T0" fmla="*/ 32 w 141"/>
                <a:gd name="T1" fmla="*/ 229 h 229"/>
                <a:gd name="T2" fmla="*/ 24 w 141"/>
                <a:gd name="T3" fmla="*/ 229 h 229"/>
                <a:gd name="T4" fmla="*/ 18 w 141"/>
                <a:gd name="T5" fmla="*/ 228 h 229"/>
                <a:gd name="T6" fmla="*/ 12 w 141"/>
                <a:gd name="T7" fmla="*/ 225 h 229"/>
                <a:gd name="T8" fmla="*/ 8 w 141"/>
                <a:gd name="T9" fmla="*/ 222 h 229"/>
                <a:gd name="T10" fmla="*/ 5 w 141"/>
                <a:gd name="T11" fmla="*/ 217 h 229"/>
                <a:gd name="T12" fmla="*/ 3 w 141"/>
                <a:gd name="T13" fmla="*/ 213 h 229"/>
                <a:gd name="T14" fmla="*/ 2 w 141"/>
                <a:gd name="T15" fmla="*/ 207 h 229"/>
                <a:gd name="T16" fmla="*/ 0 w 141"/>
                <a:gd name="T17" fmla="*/ 199 h 229"/>
                <a:gd name="T18" fmla="*/ 2 w 141"/>
                <a:gd name="T19" fmla="*/ 190 h 229"/>
                <a:gd name="T20" fmla="*/ 5 w 141"/>
                <a:gd name="T21" fmla="*/ 181 h 229"/>
                <a:gd name="T22" fmla="*/ 11 w 141"/>
                <a:gd name="T23" fmla="*/ 172 h 229"/>
                <a:gd name="T24" fmla="*/ 18 w 141"/>
                <a:gd name="T25" fmla="*/ 162 h 229"/>
                <a:gd name="T26" fmla="*/ 80 w 141"/>
                <a:gd name="T27" fmla="*/ 88 h 229"/>
                <a:gd name="T28" fmla="*/ 83 w 141"/>
                <a:gd name="T29" fmla="*/ 84 h 229"/>
                <a:gd name="T30" fmla="*/ 86 w 141"/>
                <a:gd name="T31" fmla="*/ 79 h 229"/>
                <a:gd name="T32" fmla="*/ 87 w 141"/>
                <a:gd name="T33" fmla="*/ 73 h 229"/>
                <a:gd name="T34" fmla="*/ 89 w 141"/>
                <a:gd name="T35" fmla="*/ 69 h 229"/>
                <a:gd name="T36" fmla="*/ 87 w 141"/>
                <a:gd name="T37" fmla="*/ 63 h 229"/>
                <a:gd name="T38" fmla="*/ 86 w 141"/>
                <a:gd name="T39" fmla="*/ 58 h 229"/>
                <a:gd name="T40" fmla="*/ 83 w 141"/>
                <a:gd name="T41" fmla="*/ 55 h 229"/>
                <a:gd name="T42" fmla="*/ 78 w 141"/>
                <a:gd name="T43" fmla="*/ 51 h 229"/>
                <a:gd name="T44" fmla="*/ 74 w 141"/>
                <a:gd name="T45" fmla="*/ 49 h 229"/>
                <a:gd name="T46" fmla="*/ 68 w 141"/>
                <a:gd name="T47" fmla="*/ 49 h 229"/>
                <a:gd name="T48" fmla="*/ 63 w 141"/>
                <a:gd name="T49" fmla="*/ 49 h 229"/>
                <a:gd name="T50" fmla="*/ 59 w 141"/>
                <a:gd name="T51" fmla="*/ 51 h 229"/>
                <a:gd name="T52" fmla="*/ 56 w 141"/>
                <a:gd name="T53" fmla="*/ 55 h 229"/>
                <a:gd name="T54" fmla="*/ 53 w 141"/>
                <a:gd name="T55" fmla="*/ 58 h 229"/>
                <a:gd name="T56" fmla="*/ 51 w 141"/>
                <a:gd name="T57" fmla="*/ 64 h 229"/>
                <a:gd name="T58" fmla="*/ 50 w 141"/>
                <a:gd name="T59" fmla="*/ 69 h 229"/>
                <a:gd name="T60" fmla="*/ 51 w 141"/>
                <a:gd name="T61" fmla="*/ 75 h 229"/>
                <a:gd name="T62" fmla="*/ 53 w 141"/>
                <a:gd name="T63" fmla="*/ 81 h 229"/>
                <a:gd name="T64" fmla="*/ 56 w 141"/>
                <a:gd name="T65" fmla="*/ 85 h 229"/>
                <a:gd name="T66" fmla="*/ 62 w 141"/>
                <a:gd name="T67" fmla="*/ 91 h 229"/>
                <a:gd name="T68" fmla="*/ 30 w 141"/>
                <a:gd name="T69" fmla="*/ 129 h 229"/>
                <a:gd name="T70" fmla="*/ 17 w 141"/>
                <a:gd name="T71" fmla="*/ 115 h 229"/>
                <a:gd name="T72" fmla="*/ 9 w 141"/>
                <a:gd name="T73" fmla="*/ 102 h 229"/>
                <a:gd name="T74" fmla="*/ 3 w 141"/>
                <a:gd name="T75" fmla="*/ 87 h 229"/>
                <a:gd name="T76" fmla="*/ 2 w 141"/>
                <a:gd name="T77" fmla="*/ 70 h 229"/>
                <a:gd name="T78" fmla="*/ 5 w 141"/>
                <a:gd name="T79" fmla="*/ 51 h 229"/>
                <a:gd name="T80" fmla="*/ 11 w 141"/>
                <a:gd name="T81" fmla="*/ 34 h 229"/>
                <a:gd name="T82" fmla="*/ 21 w 141"/>
                <a:gd name="T83" fmla="*/ 19 h 229"/>
                <a:gd name="T84" fmla="*/ 35 w 141"/>
                <a:gd name="T85" fmla="*/ 9 h 229"/>
                <a:gd name="T86" fmla="*/ 51 w 141"/>
                <a:gd name="T87" fmla="*/ 1 h 229"/>
                <a:gd name="T88" fmla="*/ 71 w 141"/>
                <a:gd name="T89" fmla="*/ 0 h 229"/>
                <a:gd name="T90" fmla="*/ 89 w 141"/>
                <a:gd name="T91" fmla="*/ 1 h 229"/>
                <a:gd name="T92" fmla="*/ 105 w 141"/>
                <a:gd name="T93" fmla="*/ 7 h 229"/>
                <a:gd name="T94" fmla="*/ 119 w 141"/>
                <a:gd name="T95" fmla="*/ 19 h 229"/>
                <a:gd name="T96" fmla="*/ 129 w 141"/>
                <a:gd name="T97" fmla="*/ 33 h 229"/>
                <a:gd name="T98" fmla="*/ 135 w 141"/>
                <a:gd name="T99" fmla="*/ 49 h 229"/>
                <a:gd name="T100" fmla="*/ 137 w 141"/>
                <a:gd name="T101" fmla="*/ 69 h 229"/>
                <a:gd name="T102" fmla="*/ 134 w 141"/>
                <a:gd name="T103" fmla="*/ 91 h 229"/>
                <a:gd name="T104" fmla="*/ 122 w 141"/>
                <a:gd name="T105" fmla="*/ 115 h 229"/>
                <a:gd name="T106" fmla="*/ 101 w 141"/>
                <a:gd name="T107" fmla="*/ 139 h 229"/>
                <a:gd name="T108" fmla="*/ 99 w 141"/>
                <a:gd name="T109" fmla="*/ 142 h 229"/>
                <a:gd name="T110" fmla="*/ 66 w 141"/>
                <a:gd name="T111" fmla="*/ 177 h 229"/>
                <a:gd name="T112" fmla="*/ 141 w 141"/>
                <a:gd name="T113" fmla="*/ 177 h 229"/>
                <a:gd name="T114" fmla="*/ 141 w 141"/>
                <a:gd name="T115" fmla="*/ 229 h 229"/>
                <a:gd name="T116" fmla="*/ 32 w 141"/>
                <a:gd name="T117" fmla="*/ 229 h 22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1" h="229">
                  <a:moveTo>
                    <a:pt x="32" y="229"/>
                  </a:moveTo>
                  <a:lnTo>
                    <a:pt x="24" y="229"/>
                  </a:lnTo>
                  <a:lnTo>
                    <a:pt x="18" y="228"/>
                  </a:lnTo>
                  <a:lnTo>
                    <a:pt x="12" y="225"/>
                  </a:lnTo>
                  <a:lnTo>
                    <a:pt x="8" y="222"/>
                  </a:lnTo>
                  <a:lnTo>
                    <a:pt x="5" y="217"/>
                  </a:lnTo>
                  <a:lnTo>
                    <a:pt x="3" y="213"/>
                  </a:lnTo>
                  <a:lnTo>
                    <a:pt x="2" y="207"/>
                  </a:lnTo>
                  <a:lnTo>
                    <a:pt x="0" y="199"/>
                  </a:lnTo>
                  <a:lnTo>
                    <a:pt x="2" y="190"/>
                  </a:lnTo>
                  <a:lnTo>
                    <a:pt x="5" y="181"/>
                  </a:lnTo>
                  <a:lnTo>
                    <a:pt x="11" y="172"/>
                  </a:lnTo>
                  <a:lnTo>
                    <a:pt x="18" y="162"/>
                  </a:lnTo>
                  <a:lnTo>
                    <a:pt x="80" y="88"/>
                  </a:lnTo>
                  <a:lnTo>
                    <a:pt x="83" y="84"/>
                  </a:lnTo>
                  <a:lnTo>
                    <a:pt x="86" y="79"/>
                  </a:lnTo>
                  <a:lnTo>
                    <a:pt x="87" y="73"/>
                  </a:lnTo>
                  <a:lnTo>
                    <a:pt x="89" y="69"/>
                  </a:lnTo>
                  <a:lnTo>
                    <a:pt x="87" y="63"/>
                  </a:lnTo>
                  <a:lnTo>
                    <a:pt x="86" y="58"/>
                  </a:lnTo>
                  <a:lnTo>
                    <a:pt x="83" y="55"/>
                  </a:lnTo>
                  <a:lnTo>
                    <a:pt x="78" y="51"/>
                  </a:lnTo>
                  <a:lnTo>
                    <a:pt x="74" y="49"/>
                  </a:lnTo>
                  <a:lnTo>
                    <a:pt x="68" y="49"/>
                  </a:lnTo>
                  <a:lnTo>
                    <a:pt x="63" y="49"/>
                  </a:lnTo>
                  <a:lnTo>
                    <a:pt x="59" y="51"/>
                  </a:lnTo>
                  <a:lnTo>
                    <a:pt x="56" y="55"/>
                  </a:lnTo>
                  <a:lnTo>
                    <a:pt x="53" y="58"/>
                  </a:lnTo>
                  <a:lnTo>
                    <a:pt x="51" y="64"/>
                  </a:lnTo>
                  <a:lnTo>
                    <a:pt x="50" y="69"/>
                  </a:lnTo>
                  <a:lnTo>
                    <a:pt x="51" y="75"/>
                  </a:lnTo>
                  <a:lnTo>
                    <a:pt x="53" y="81"/>
                  </a:lnTo>
                  <a:lnTo>
                    <a:pt x="56" y="85"/>
                  </a:lnTo>
                  <a:lnTo>
                    <a:pt x="62" y="91"/>
                  </a:lnTo>
                  <a:lnTo>
                    <a:pt x="30" y="129"/>
                  </a:lnTo>
                  <a:lnTo>
                    <a:pt x="17" y="115"/>
                  </a:lnTo>
                  <a:lnTo>
                    <a:pt x="9" y="102"/>
                  </a:lnTo>
                  <a:lnTo>
                    <a:pt x="3" y="87"/>
                  </a:lnTo>
                  <a:lnTo>
                    <a:pt x="2" y="70"/>
                  </a:lnTo>
                  <a:lnTo>
                    <a:pt x="5" y="51"/>
                  </a:lnTo>
                  <a:lnTo>
                    <a:pt x="11" y="34"/>
                  </a:lnTo>
                  <a:lnTo>
                    <a:pt x="21" y="19"/>
                  </a:lnTo>
                  <a:lnTo>
                    <a:pt x="35" y="9"/>
                  </a:lnTo>
                  <a:lnTo>
                    <a:pt x="51" y="1"/>
                  </a:lnTo>
                  <a:lnTo>
                    <a:pt x="71" y="0"/>
                  </a:lnTo>
                  <a:lnTo>
                    <a:pt x="89" y="1"/>
                  </a:lnTo>
                  <a:lnTo>
                    <a:pt x="105" y="7"/>
                  </a:lnTo>
                  <a:lnTo>
                    <a:pt x="119" y="19"/>
                  </a:lnTo>
                  <a:lnTo>
                    <a:pt x="129" y="33"/>
                  </a:lnTo>
                  <a:lnTo>
                    <a:pt x="135" y="49"/>
                  </a:lnTo>
                  <a:lnTo>
                    <a:pt x="137" y="69"/>
                  </a:lnTo>
                  <a:lnTo>
                    <a:pt x="134" y="91"/>
                  </a:lnTo>
                  <a:lnTo>
                    <a:pt x="122" y="115"/>
                  </a:lnTo>
                  <a:lnTo>
                    <a:pt x="101" y="139"/>
                  </a:lnTo>
                  <a:lnTo>
                    <a:pt x="99" y="142"/>
                  </a:lnTo>
                  <a:lnTo>
                    <a:pt x="66" y="177"/>
                  </a:lnTo>
                  <a:lnTo>
                    <a:pt x="141" y="177"/>
                  </a:lnTo>
                  <a:lnTo>
                    <a:pt x="141" y="229"/>
                  </a:lnTo>
                  <a:lnTo>
                    <a:pt x="32" y="229"/>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30" name="任意多边形 50203"/>
            <p:cNvSpPr>
              <a:spLocks noChangeArrowheads="1"/>
            </p:cNvSpPr>
            <p:nvPr/>
          </p:nvSpPr>
          <p:spPr bwMode="auto">
            <a:xfrm>
              <a:off x="1946" y="3333"/>
              <a:ext cx="102" cy="113"/>
            </a:xfrm>
            <a:custGeom>
              <a:avLst/>
              <a:gdLst>
                <a:gd name="T0" fmla="*/ 0 w 102"/>
                <a:gd name="T1" fmla="*/ 113 h 113"/>
                <a:gd name="T2" fmla="*/ 33 w 102"/>
                <a:gd name="T3" fmla="*/ 54 h 113"/>
                <a:gd name="T4" fmla="*/ 3 w 102"/>
                <a:gd name="T5" fmla="*/ 0 h 113"/>
                <a:gd name="T6" fmla="*/ 33 w 102"/>
                <a:gd name="T7" fmla="*/ 0 h 113"/>
                <a:gd name="T8" fmla="*/ 51 w 102"/>
                <a:gd name="T9" fmla="*/ 33 h 113"/>
                <a:gd name="T10" fmla="*/ 70 w 102"/>
                <a:gd name="T11" fmla="*/ 0 h 113"/>
                <a:gd name="T12" fmla="*/ 99 w 102"/>
                <a:gd name="T13" fmla="*/ 0 h 113"/>
                <a:gd name="T14" fmla="*/ 69 w 102"/>
                <a:gd name="T15" fmla="*/ 54 h 113"/>
                <a:gd name="T16" fmla="*/ 102 w 102"/>
                <a:gd name="T17" fmla="*/ 113 h 113"/>
                <a:gd name="T18" fmla="*/ 72 w 102"/>
                <a:gd name="T19" fmla="*/ 113 h 113"/>
                <a:gd name="T20" fmla="*/ 51 w 102"/>
                <a:gd name="T21" fmla="*/ 75 h 113"/>
                <a:gd name="T22" fmla="*/ 30 w 102"/>
                <a:gd name="T23" fmla="*/ 113 h 113"/>
                <a:gd name="T24" fmla="*/ 0 w 102"/>
                <a:gd name="T25" fmla="*/ 113 h 1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13">
                  <a:moveTo>
                    <a:pt x="0" y="113"/>
                  </a:moveTo>
                  <a:lnTo>
                    <a:pt x="33" y="54"/>
                  </a:lnTo>
                  <a:lnTo>
                    <a:pt x="3" y="0"/>
                  </a:lnTo>
                  <a:lnTo>
                    <a:pt x="33" y="0"/>
                  </a:lnTo>
                  <a:lnTo>
                    <a:pt x="51" y="33"/>
                  </a:lnTo>
                  <a:lnTo>
                    <a:pt x="70" y="0"/>
                  </a:lnTo>
                  <a:lnTo>
                    <a:pt x="99" y="0"/>
                  </a:lnTo>
                  <a:lnTo>
                    <a:pt x="69" y="54"/>
                  </a:lnTo>
                  <a:lnTo>
                    <a:pt x="102" y="113"/>
                  </a:lnTo>
                  <a:lnTo>
                    <a:pt x="72" y="113"/>
                  </a:lnTo>
                  <a:lnTo>
                    <a:pt x="51" y="75"/>
                  </a:lnTo>
                  <a:lnTo>
                    <a:pt x="30" y="113"/>
                  </a:lnTo>
                  <a:lnTo>
                    <a:pt x="0" y="113"/>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grpSp>
      <p:grpSp>
        <p:nvGrpSpPr>
          <p:cNvPr id="31" name="组合 50204"/>
          <p:cNvGrpSpPr/>
          <p:nvPr/>
        </p:nvGrpSpPr>
        <p:grpSpPr bwMode="auto">
          <a:xfrm>
            <a:off x="6895021" y="2909824"/>
            <a:ext cx="809625" cy="809625"/>
            <a:chOff x="3349" y="3250"/>
            <a:chExt cx="380" cy="380"/>
          </a:xfrm>
        </p:grpSpPr>
        <p:sp>
          <p:nvSpPr>
            <p:cNvPr id="32" name="任意多边形 50205"/>
            <p:cNvSpPr>
              <a:spLocks noChangeArrowheads="1"/>
            </p:cNvSpPr>
            <p:nvPr/>
          </p:nvSpPr>
          <p:spPr bwMode="auto">
            <a:xfrm>
              <a:off x="3349" y="3250"/>
              <a:ext cx="380" cy="190"/>
            </a:xfrm>
            <a:custGeom>
              <a:avLst/>
              <a:gdLst>
                <a:gd name="T0" fmla="*/ 190 w 409"/>
                <a:gd name="T1" fmla="*/ 0 h 207"/>
                <a:gd name="T2" fmla="*/ 229 w 409"/>
                <a:gd name="T3" fmla="*/ 5 h 207"/>
                <a:gd name="T4" fmla="*/ 265 w 409"/>
                <a:gd name="T5" fmla="*/ 16 h 207"/>
                <a:gd name="T6" fmla="*/ 296 w 409"/>
                <a:gd name="T7" fmla="*/ 33 h 207"/>
                <a:gd name="T8" fmla="*/ 324 w 409"/>
                <a:gd name="T9" fmla="*/ 55 h 207"/>
                <a:gd name="T10" fmla="*/ 348 w 409"/>
                <a:gd name="T11" fmla="*/ 84 h 207"/>
                <a:gd name="T12" fmla="*/ 365 w 409"/>
                <a:gd name="T13" fmla="*/ 116 h 207"/>
                <a:gd name="T14" fmla="*/ 376 w 409"/>
                <a:gd name="T15" fmla="*/ 151 h 207"/>
                <a:gd name="T16" fmla="*/ 380 w 409"/>
                <a:gd name="T17" fmla="*/ 189 h 207"/>
                <a:gd name="T18" fmla="*/ 380 w 409"/>
                <a:gd name="T19" fmla="*/ 190 h 207"/>
                <a:gd name="T20" fmla="*/ 333 w 409"/>
                <a:gd name="T21" fmla="*/ 190 h 207"/>
                <a:gd name="T22" fmla="*/ 251 w 409"/>
                <a:gd name="T23" fmla="*/ 63 h 207"/>
                <a:gd name="T24" fmla="*/ 251 w 409"/>
                <a:gd name="T25" fmla="*/ 99 h 207"/>
                <a:gd name="T26" fmla="*/ 190 w 409"/>
                <a:gd name="T27" fmla="*/ 99 h 207"/>
                <a:gd name="T28" fmla="*/ 190 w 409"/>
                <a:gd name="T29" fmla="*/ 39 h 207"/>
                <a:gd name="T30" fmla="*/ 156 w 409"/>
                <a:gd name="T31" fmla="*/ 43 h 207"/>
                <a:gd name="T32" fmla="*/ 124 w 409"/>
                <a:gd name="T33" fmla="*/ 54 h 207"/>
                <a:gd name="T34" fmla="*/ 95 w 409"/>
                <a:gd name="T35" fmla="*/ 72 h 207"/>
                <a:gd name="T36" fmla="*/ 72 w 409"/>
                <a:gd name="T37" fmla="*/ 95 h 207"/>
                <a:gd name="T38" fmla="*/ 54 w 409"/>
                <a:gd name="T39" fmla="*/ 123 h 207"/>
                <a:gd name="T40" fmla="*/ 43 w 409"/>
                <a:gd name="T41" fmla="*/ 154 h 207"/>
                <a:gd name="T42" fmla="*/ 39 w 409"/>
                <a:gd name="T43" fmla="*/ 189 h 207"/>
                <a:gd name="T44" fmla="*/ 39 w 409"/>
                <a:gd name="T45" fmla="*/ 190 h 207"/>
                <a:gd name="T46" fmla="*/ 0 w 409"/>
                <a:gd name="T47" fmla="*/ 190 h 207"/>
                <a:gd name="T48" fmla="*/ 0 w 409"/>
                <a:gd name="T49" fmla="*/ 189 h 207"/>
                <a:gd name="T50" fmla="*/ 3 w 409"/>
                <a:gd name="T51" fmla="*/ 151 h 207"/>
                <a:gd name="T52" fmla="*/ 14 w 409"/>
                <a:gd name="T53" fmla="*/ 116 h 207"/>
                <a:gd name="T54" fmla="*/ 32 w 409"/>
                <a:gd name="T55" fmla="*/ 84 h 207"/>
                <a:gd name="T56" fmla="*/ 56 w 409"/>
                <a:gd name="T57" fmla="*/ 55 h 207"/>
                <a:gd name="T58" fmla="*/ 84 w 409"/>
                <a:gd name="T59" fmla="*/ 33 h 207"/>
                <a:gd name="T60" fmla="*/ 115 w 409"/>
                <a:gd name="T61" fmla="*/ 16 h 207"/>
                <a:gd name="T62" fmla="*/ 151 w 409"/>
                <a:gd name="T63" fmla="*/ 5 h 207"/>
                <a:gd name="T64" fmla="*/ 190 w 409"/>
                <a:gd name="T65" fmla="*/ 0 h 2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09" h="207">
                  <a:moveTo>
                    <a:pt x="204" y="0"/>
                  </a:moveTo>
                  <a:lnTo>
                    <a:pt x="246" y="5"/>
                  </a:lnTo>
                  <a:lnTo>
                    <a:pt x="285" y="17"/>
                  </a:lnTo>
                  <a:lnTo>
                    <a:pt x="319" y="36"/>
                  </a:lnTo>
                  <a:lnTo>
                    <a:pt x="349" y="60"/>
                  </a:lnTo>
                  <a:lnTo>
                    <a:pt x="375" y="92"/>
                  </a:lnTo>
                  <a:lnTo>
                    <a:pt x="393" y="126"/>
                  </a:lnTo>
                  <a:lnTo>
                    <a:pt x="405" y="164"/>
                  </a:lnTo>
                  <a:lnTo>
                    <a:pt x="409" y="206"/>
                  </a:lnTo>
                  <a:lnTo>
                    <a:pt x="409" y="207"/>
                  </a:lnTo>
                  <a:lnTo>
                    <a:pt x="358" y="207"/>
                  </a:lnTo>
                  <a:lnTo>
                    <a:pt x="270" y="69"/>
                  </a:lnTo>
                  <a:lnTo>
                    <a:pt x="270" y="108"/>
                  </a:lnTo>
                  <a:lnTo>
                    <a:pt x="204" y="108"/>
                  </a:lnTo>
                  <a:lnTo>
                    <a:pt x="204" y="42"/>
                  </a:lnTo>
                  <a:lnTo>
                    <a:pt x="168" y="47"/>
                  </a:lnTo>
                  <a:lnTo>
                    <a:pt x="133" y="59"/>
                  </a:lnTo>
                  <a:lnTo>
                    <a:pt x="102" y="78"/>
                  </a:lnTo>
                  <a:lnTo>
                    <a:pt x="78" y="104"/>
                  </a:lnTo>
                  <a:lnTo>
                    <a:pt x="58" y="134"/>
                  </a:lnTo>
                  <a:lnTo>
                    <a:pt x="46" y="168"/>
                  </a:lnTo>
                  <a:lnTo>
                    <a:pt x="42" y="206"/>
                  </a:lnTo>
                  <a:lnTo>
                    <a:pt x="42" y="207"/>
                  </a:lnTo>
                  <a:lnTo>
                    <a:pt x="0" y="207"/>
                  </a:lnTo>
                  <a:lnTo>
                    <a:pt x="0" y="206"/>
                  </a:lnTo>
                  <a:lnTo>
                    <a:pt x="3" y="164"/>
                  </a:lnTo>
                  <a:lnTo>
                    <a:pt x="15" y="126"/>
                  </a:lnTo>
                  <a:lnTo>
                    <a:pt x="34" y="92"/>
                  </a:lnTo>
                  <a:lnTo>
                    <a:pt x="60" y="60"/>
                  </a:lnTo>
                  <a:lnTo>
                    <a:pt x="90" y="36"/>
                  </a:lnTo>
                  <a:lnTo>
                    <a:pt x="124" y="17"/>
                  </a:lnTo>
                  <a:lnTo>
                    <a:pt x="163" y="5"/>
                  </a:lnTo>
                  <a:lnTo>
                    <a:pt x="204" y="0"/>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33" name="任意多边形 50206"/>
            <p:cNvSpPr>
              <a:spLocks noChangeArrowheads="1"/>
            </p:cNvSpPr>
            <p:nvPr/>
          </p:nvSpPr>
          <p:spPr bwMode="auto">
            <a:xfrm>
              <a:off x="3396" y="3313"/>
              <a:ext cx="143" cy="253"/>
            </a:xfrm>
            <a:custGeom>
              <a:avLst/>
              <a:gdLst>
                <a:gd name="T0" fmla="*/ 82 w 153"/>
                <a:gd name="T1" fmla="*/ 253 h 276"/>
                <a:gd name="T2" fmla="*/ 82 w 153"/>
                <a:gd name="T3" fmla="*/ 217 h 276"/>
                <a:gd name="T4" fmla="*/ 143 w 153"/>
                <a:gd name="T5" fmla="*/ 217 h 276"/>
                <a:gd name="T6" fmla="*/ 143 w 153"/>
                <a:gd name="T7" fmla="*/ 36 h 276"/>
                <a:gd name="T8" fmla="*/ 82 w 153"/>
                <a:gd name="T9" fmla="*/ 36 h 276"/>
                <a:gd name="T10" fmla="*/ 82 w 153"/>
                <a:gd name="T11" fmla="*/ 0 h 276"/>
                <a:gd name="T12" fmla="*/ 0 w 153"/>
                <a:gd name="T13" fmla="*/ 127 h 276"/>
                <a:gd name="T14" fmla="*/ 82 w 153"/>
                <a:gd name="T15" fmla="*/ 253 h 2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3" h="276">
                  <a:moveTo>
                    <a:pt x="88" y="276"/>
                  </a:moveTo>
                  <a:lnTo>
                    <a:pt x="88" y="237"/>
                  </a:lnTo>
                  <a:lnTo>
                    <a:pt x="153" y="237"/>
                  </a:lnTo>
                  <a:lnTo>
                    <a:pt x="153" y="39"/>
                  </a:lnTo>
                  <a:lnTo>
                    <a:pt x="88" y="39"/>
                  </a:lnTo>
                  <a:lnTo>
                    <a:pt x="88" y="0"/>
                  </a:lnTo>
                  <a:lnTo>
                    <a:pt x="0" y="138"/>
                  </a:lnTo>
                  <a:lnTo>
                    <a:pt x="88" y="276"/>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sp>
          <p:nvSpPr>
            <p:cNvPr id="34" name="任意多边形 50207"/>
            <p:cNvSpPr>
              <a:spLocks noChangeArrowheads="1"/>
            </p:cNvSpPr>
            <p:nvPr/>
          </p:nvSpPr>
          <p:spPr bwMode="auto">
            <a:xfrm>
              <a:off x="3349" y="3440"/>
              <a:ext cx="380" cy="190"/>
            </a:xfrm>
            <a:custGeom>
              <a:avLst/>
              <a:gdLst>
                <a:gd name="T0" fmla="*/ 190 w 409"/>
                <a:gd name="T1" fmla="*/ 190 h 207"/>
                <a:gd name="T2" fmla="*/ 229 w 409"/>
                <a:gd name="T3" fmla="*/ 186 h 207"/>
                <a:gd name="T4" fmla="*/ 265 w 409"/>
                <a:gd name="T5" fmla="*/ 175 h 207"/>
                <a:gd name="T6" fmla="*/ 296 w 409"/>
                <a:gd name="T7" fmla="*/ 159 h 207"/>
                <a:gd name="T8" fmla="*/ 324 w 409"/>
                <a:gd name="T9" fmla="*/ 135 h 207"/>
                <a:gd name="T10" fmla="*/ 348 w 409"/>
                <a:gd name="T11" fmla="*/ 107 h 207"/>
                <a:gd name="T12" fmla="*/ 365 w 409"/>
                <a:gd name="T13" fmla="*/ 76 h 207"/>
                <a:gd name="T14" fmla="*/ 376 w 409"/>
                <a:gd name="T15" fmla="*/ 40 h 207"/>
                <a:gd name="T16" fmla="*/ 380 w 409"/>
                <a:gd name="T17" fmla="*/ 2 h 207"/>
                <a:gd name="T18" fmla="*/ 380 w 409"/>
                <a:gd name="T19" fmla="*/ 0 h 207"/>
                <a:gd name="T20" fmla="*/ 333 w 409"/>
                <a:gd name="T21" fmla="*/ 0 h 207"/>
                <a:gd name="T22" fmla="*/ 251 w 409"/>
                <a:gd name="T23" fmla="*/ 127 h 207"/>
                <a:gd name="T24" fmla="*/ 251 w 409"/>
                <a:gd name="T25" fmla="*/ 91 h 207"/>
                <a:gd name="T26" fmla="*/ 190 w 409"/>
                <a:gd name="T27" fmla="*/ 91 h 207"/>
                <a:gd name="T28" fmla="*/ 190 w 409"/>
                <a:gd name="T29" fmla="*/ 151 h 207"/>
                <a:gd name="T30" fmla="*/ 156 w 409"/>
                <a:gd name="T31" fmla="*/ 148 h 207"/>
                <a:gd name="T32" fmla="*/ 124 w 409"/>
                <a:gd name="T33" fmla="*/ 137 h 207"/>
                <a:gd name="T34" fmla="*/ 95 w 409"/>
                <a:gd name="T35" fmla="*/ 118 h 207"/>
                <a:gd name="T36" fmla="*/ 72 w 409"/>
                <a:gd name="T37" fmla="*/ 95 h 207"/>
                <a:gd name="T38" fmla="*/ 54 w 409"/>
                <a:gd name="T39" fmla="*/ 68 h 207"/>
                <a:gd name="T40" fmla="*/ 43 w 409"/>
                <a:gd name="T41" fmla="*/ 36 h 207"/>
                <a:gd name="T42" fmla="*/ 39 w 409"/>
                <a:gd name="T43" fmla="*/ 2 h 207"/>
                <a:gd name="T44" fmla="*/ 39 w 409"/>
                <a:gd name="T45" fmla="*/ 0 h 207"/>
                <a:gd name="T46" fmla="*/ 0 w 409"/>
                <a:gd name="T47" fmla="*/ 0 h 207"/>
                <a:gd name="T48" fmla="*/ 0 w 409"/>
                <a:gd name="T49" fmla="*/ 2 h 207"/>
                <a:gd name="T50" fmla="*/ 3 w 409"/>
                <a:gd name="T51" fmla="*/ 40 h 207"/>
                <a:gd name="T52" fmla="*/ 14 w 409"/>
                <a:gd name="T53" fmla="*/ 76 h 207"/>
                <a:gd name="T54" fmla="*/ 32 w 409"/>
                <a:gd name="T55" fmla="*/ 107 h 207"/>
                <a:gd name="T56" fmla="*/ 56 w 409"/>
                <a:gd name="T57" fmla="*/ 135 h 207"/>
                <a:gd name="T58" fmla="*/ 84 w 409"/>
                <a:gd name="T59" fmla="*/ 159 h 207"/>
                <a:gd name="T60" fmla="*/ 115 w 409"/>
                <a:gd name="T61" fmla="*/ 175 h 207"/>
                <a:gd name="T62" fmla="*/ 151 w 409"/>
                <a:gd name="T63" fmla="*/ 186 h 207"/>
                <a:gd name="T64" fmla="*/ 190 w 409"/>
                <a:gd name="T65" fmla="*/ 190 h 20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09" h="207">
                  <a:moveTo>
                    <a:pt x="204" y="207"/>
                  </a:moveTo>
                  <a:lnTo>
                    <a:pt x="246" y="203"/>
                  </a:lnTo>
                  <a:lnTo>
                    <a:pt x="285" y="191"/>
                  </a:lnTo>
                  <a:lnTo>
                    <a:pt x="319" y="173"/>
                  </a:lnTo>
                  <a:lnTo>
                    <a:pt x="349" y="147"/>
                  </a:lnTo>
                  <a:lnTo>
                    <a:pt x="375" y="117"/>
                  </a:lnTo>
                  <a:lnTo>
                    <a:pt x="393" y="83"/>
                  </a:lnTo>
                  <a:lnTo>
                    <a:pt x="405" y="44"/>
                  </a:lnTo>
                  <a:lnTo>
                    <a:pt x="409" y="2"/>
                  </a:lnTo>
                  <a:lnTo>
                    <a:pt x="409" y="0"/>
                  </a:lnTo>
                  <a:lnTo>
                    <a:pt x="358" y="0"/>
                  </a:lnTo>
                  <a:lnTo>
                    <a:pt x="270" y="138"/>
                  </a:lnTo>
                  <a:lnTo>
                    <a:pt x="270" y="99"/>
                  </a:lnTo>
                  <a:lnTo>
                    <a:pt x="204" y="99"/>
                  </a:lnTo>
                  <a:lnTo>
                    <a:pt x="204" y="165"/>
                  </a:lnTo>
                  <a:lnTo>
                    <a:pt x="168" y="161"/>
                  </a:lnTo>
                  <a:lnTo>
                    <a:pt x="133" y="149"/>
                  </a:lnTo>
                  <a:lnTo>
                    <a:pt x="102" y="129"/>
                  </a:lnTo>
                  <a:lnTo>
                    <a:pt x="78" y="104"/>
                  </a:lnTo>
                  <a:lnTo>
                    <a:pt x="58" y="74"/>
                  </a:lnTo>
                  <a:lnTo>
                    <a:pt x="46" y="39"/>
                  </a:lnTo>
                  <a:lnTo>
                    <a:pt x="42" y="2"/>
                  </a:lnTo>
                  <a:lnTo>
                    <a:pt x="42" y="0"/>
                  </a:lnTo>
                  <a:lnTo>
                    <a:pt x="0" y="0"/>
                  </a:lnTo>
                  <a:lnTo>
                    <a:pt x="0" y="2"/>
                  </a:lnTo>
                  <a:lnTo>
                    <a:pt x="3" y="44"/>
                  </a:lnTo>
                  <a:lnTo>
                    <a:pt x="15" y="83"/>
                  </a:lnTo>
                  <a:lnTo>
                    <a:pt x="34" y="117"/>
                  </a:lnTo>
                  <a:lnTo>
                    <a:pt x="60" y="147"/>
                  </a:lnTo>
                  <a:lnTo>
                    <a:pt x="90" y="173"/>
                  </a:lnTo>
                  <a:lnTo>
                    <a:pt x="124" y="191"/>
                  </a:lnTo>
                  <a:lnTo>
                    <a:pt x="163" y="203"/>
                  </a:lnTo>
                  <a:lnTo>
                    <a:pt x="204" y="207"/>
                  </a:lnTo>
                  <a:close/>
                </a:path>
              </a:pathLst>
            </a:custGeom>
            <a:solidFill>
              <a:srgbClr val="F8F8F8"/>
            </a:solidFill>
            <a:ln w="0">
              <a:solidFill>
                <a:srgbClr val="F8F8F8"/>
              </a:solidFill>
              <a:round/>
            </a:ln>
            <a:effectLst>
              <a:outerShdw dist="35921" dir="2700000" algn="ctr" rotWithShape="0">
                <a:srgbClr val="333333">
                  <a:alpha val="50000"/>
                </a:srgbClr>
              </a:outerShdw>
            </a:effectLst>
          </p:spPr>
          <p:txBody>
            <a:bodyPr/>
            <a:lstStyle/>
            <a:p>
              <a:endParaRPr lang="zh-CN" altLang="en-US"/>
            </a:p>
          </p:txBody>
        </p:sp>
      </p:grpSp>
      <p:grpSp>
        <p:nvGrpSpPr>
          <p:cNvPr id="35" name="组合 50208"/>
          <p:cNvGrpSpPr/>
          <p:nvPr/>
        </p:nvGrpSpPr>
        <p:grpSpPr bwMode="auto">
          <a:xfrm>
            <a:off x="5120196" y="3293999"/>
            <a:ext cx="1660525" cy="1612900"/>
            <a:chOff x="2457" y="2000"/>
            <a:chExt cx="901" cy="888"/>
          </a:xfrm>
        </p:grpSpPr>
        <p:pic>
          <p:nvPicPr>
            <p:cNvPr id="36" name="图片 50209" descr="circuler_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57" y="2000"/>
              <a:ext cx="901"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椭圆 50210"/>
            <p:cNvSpPr>
              <a:spLocks noChangeArrowheads="1"/>
            </p:cNvSpPr>
            <p:nvPr/>
          </p:nvSpPr>
          <p:spPr bwMode="auto">
            <a:xfrm>
              <a:off x="2457" y="2000"/>
              <a:ext cx="895" cy="888"/>
            </a:xfrm>
            <a:prstGeom prst="ellipse">
              <a:avLst/>
            </a:prstGeom>
            <a:gradFill rotWithShape="1">
              <a:gsLst>
                <a:gs pos="0">
                  <a:srgbClr val="434328">
                    <a:alpha val="89998"/>
                  </a:srgbClr>
                </a:gs>
                <a:gs pos="50000">
                  <a:srgbClr val="FFFF99">
                    <a:alpha val="45000"/>
                  </a:srgbClr>
                </a:gs>
                <a:gs pos="100000">
                  <a:srgbClr val="434328">
                    <a:alpha val="89998"/>
                  </a:srgbClr>
                </a:gs>
              </a:gsLst>
              <a:lin ang="5400000" scaled="1"/>
            </a:gradFill>
            <a:ln w="57150">
              <a:solidFill>
                <a:srgbClr val="F8F8F8"/>
              </a:solidFill>
              <a:round/>
            </a:ln>
          </p:spPr>
          <p:txBody>
            <a:bodyPr/>
            <a:lstStyle/>
            <a:p>
              <a:pPr eaLnBrk="1" hangingPunct="1">
                <a:buFont typeface="Arial" panose="020B0604020202020204" pitchFamily="34" charset="0"/>
                <a:buNone/>
                <a:defRPr/>
              </a:pPr>
              <a:endParaRPr lang="zh-CN" altLang="en-US"/>
            </a:p>
          </p:txBody>
        </p:sp>
        <p:sp>
          <p:nvSpPr>
            <p:cNvPr id="38" name="任意多边形 50211"/>
            <p:cNvSpPr>
              <a:spLocks noChangeArrowheads="1"/>
            </p:cNvSpPr>
            <p:nvPr/>
          </p:nvSpPr>
          <p:spPr bwMode="auto">
            <a:xfrm>
              <a:off x="2550" y="2018"/>
              <a:ext cx="703" cy="308"/>
            </a:xfrm>
            <a:custGeom>
              <a:avLst/>
              <a:gdLst>
                <a:gd name="T0" fmla="*/ 692 w 1321"/>
                <a:gd name="T1" fmla="*/ 173 h 712"/>
                <a:gd name="T2" fmla="*/ 701 w 1321"/>
                <a:gd name="T3" fmla="*/ 191 h 712"/>
                <a:gd name="T4" fmla="*/ 703 w 1321"/>
                <a:gd name="T5" fmla="*/ 208 h 712"/>
                <a:gd name="T6" fmla="*/ 700 w 1321"/>
                <a:gd name="T7" fmla="*/ 223 h 712"/>
                <a:gd name="T8" fmla="*/ 691 w 1321"/>
                <a:gd name="T9" fmla="*/ 238 h 712"/>
                <a:gd name="T10" fmla="*/ 677 w 1321"/>
                <a:gd name="T11" fmla="*/ 250 h 712"/>
                <a:gd name="T12" fmla="*/ 659 w 1321"/>
                <a:gd name="T13" fmla="*/ 261 h 712"/>
                <a:gd name="T14" fmla="*/ 636 w 1321"/>
                <a:gd name="T15" fmla="*/ 272 h 712"/>
                <a:gd name="T16" fmla="*/ 610 w 1321"/>
                <a:gd name="T17" fmla="*/ 281 h 712"/>
                <a:gd name="T18" fmla="*/ 581 w 1321"/>
                <a:gd name="T19" fmla="*/ 289 h 712"/>
                <a:gd name="T20" fmla="*/ 549 w 1321"/>
                <a:gd name="T21" fmla="*/ 295 h 712"/>
                <a:gd name="T22" fmla="*/ 515 w 1321"/>
                <a:gd name="T23" fmla="*/ 300 h 712"/>
                <a:gd name="T24" fmla="*/ 477 w 1321"/>
                <a:gd name="T25" fmla="*/ 305 h 712"/>
                <a:gd name="T26" fmla="*/ 439 w 1321"/>
                <a:gd name="T27" fmla="*/ 307 h 712"/>
                <a:gd name="T28" fmla="*/ 423 w 1321"/>
                <a:gd name="T29" fmla="*/ 308 h 712"/>
                <a:gd name="T30" fmla="*/ 253 w 1321"/>
                <a:gd name="T31" fmla="*/ 308 h 712"/>
                <a:gd name="T32" fmla="*/ 251 w 1321"/>
                <a:gd name="T33" fmla="*/ 308 h 712"/>
                <a:gd name="T34" fmla="*/ 218 w 1321"/>
                <a:gd name="T35" fmla="*/ 306 h 712"/>
                <a:gd name="T36" fmla="*/ 185 w 1321"/>
                <a:gd name="T37" fmla="*/ 305 h 712"/>
                <a:gd name="T38" fmla="*/ 154 w 1321"/>
                <a:gd name="T39" fmla="*/ 301 h 712"/>
                <a:gd name="T40" fmla="*/ 125 w 1321"/>
                <a:gd name="T41" fmla="*/ 298 h 712"/>
                <a:gd name="T42" fmla="*/ 99 w 1321"/>
                <a:gd name="T43" fmla="*/ 293 h 712"/>
                <a:gd name="T44" fmla="*/ 75 w 1321"/>
                <a:gd name="T45" fmla="*/ 287 h 712"/>
                <a:gd name="T46" fmla="*/ 54 w 1321"/>
                <a:gd name="T47" fmla="*/ 280 h 712"/>
                <a:gd name="T48" fmla="*/ 36 w 1321"/>
                <a:gd name="T49" fmla="*/ 273 h 712"/>
                <a:gd name="T50" fmla="*/ 21 w 1321"/>
                <a:gd name="T51" fmla="*/ 263 h 712"/>
                <a:gd name="T52" fmla="*/ 10 w 1321"/>
                <a:gd name="T53" fmla="*/ 252 h 712"/>
                <a:gd name="T54" fmla="*/ 3 w 1321"/>
                <a:gd name="T55" fmla="*/ 240 h 712"/>
                <a:gd name="T56" fmla="*/ 0 w 1321"/>
                <a:gd name="T57" fmla="*/ 227 h 712"/>
                <a:gd name="T58" fmla="*/ 0 w 1321"/>
                <a:gd name="T59" fmla="*/ 225 h 712"/>
                <a:gd name="T60" fmla="*/ 2 w 1321"/>
                <a:gd name="T61" fmla="*/ 211 h 712"/>
                <a:gd name="T62" fmla="*/ 9 w 1321"/>
                <a:gd name="T63" fmla="*/ 193 h 712"/>
                <a:gd name="T64" fmla="*/ 27 w 1321"/>
                <a:gd name="T65" fmla="*/ 160 h 712"/>
                <a:gd name="T66" fmla="*/ 50 w 1321"/>
                <a:gd name="T67" fmla="*/ 129 h 712"/>
                <a:gd name="T68" fmla="*/ 78 w 1321"/>
                <a:gd name="T69" fmla="*/ 102 h 712"/>
                <a:gd name="T70" fmla="*/ 109 w 1321"/>
                <a:gd name="T71" fmla="*/ 76 h 712"/>
                <a:gd name="T72" fmla="*/ 144 w 1321"/>
                <a:gd name="T73" fmla="*/ 54 h 712"/>
                <a:gd name="T74" fmla="*/ 181 w 1321"/>
                <a:gd name="T75" fmla="*/ 35 h 712"/>
                <a:gd name="T76" fmla="*/ 221 w 1321"/>
                <a:gd name="T77" fmla="*/ 20 h 712"/>
                <a:gd name="T78" fmla="*/ 264 w 1321"/>
                <a:gd name="T79" fmla="*/ 9 h 712"/>
                <a:gd name="T80" fmla="*/ 309 w 1321"/>
                <a:gd name="T81" fmla="*/ 3 h 712"/>
                <a:gd name="T82" fmla="*/ 355 w 1321"/>
                <a:gd name="T83" fmla="*/ 0 h 712"/>
                <a:gd name="T84" fmla="*/ 404 w 1321"/>
                <a:gd name="T85" fmla="*/ 3 h 712"/>
                <a:gd name="T86" fmla="*/ 451 w 1321"/>
                <a:gd name="T87" fmla="*/ 10 h 712"/>
                <a:gd name="T88" fmla="*/ 496 w 1321"/>
                <a:gd name="T89" fmla="*/ 23 h 712"/>
                <a:gd name="T90" fmla="*/ 537 w 1321"/>
                <a:gd name="T91" fmla="*/ 39 h 712"/>
                <a:gd name="T92" fmla="*/ 576 w 1321"/>
                <a:gd name="T93" fmla="*/ 59 h 712"/>
                <a:gd name="T94" fmla="*/ 611 w 1321"/>
                <a:gd name="T95" fmla="*/ 84 h 712"/>
                <a:gd name="T96" fmla="*/ 643 w 1321"/>
                <a:gd name="T97" fmla="*/ 111 h 712"/>
                <a:gd name="T98" fmla="*/ 669 w 1321"/>
                <a:gd name="T99" fmla="*/ 141 h 712"/>
                <a:gd name="T100" fmla="*/ 692 w 1321"/>
                <a:gd name="T101" fmla="*/ 173 h 71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E2E1B7"/>
                </a:gs>
              </a:gsLst>
              <a:lin ang="5400000" scaled="1"/>
            </a:gradFill>
            <a:ln>
              <a:noFill/>
            </a:ln>
            <a:extLst>
              <a:ext uri="{91240B29-F687-4F45-9708-019B960494DF}">
                <a14:hiddenLine xmlns:a14="http://schemas.microsoft.com/office/drawing/2010/main" w="0">
                  <a:solidFill>
                    <a:srgbClr val="000000"/>
                  </a:solidFill>
                  <a:round/>
                </a14:hiddenLine>
              </a:ext>
            </a:extLst>
          </p:spPr>
          <p:txBody>
            <a:bodyPr/>
            <a:lstStyle/>
            <a:p>
              <a:endParaRPr lang="zh-CN" altLang="en-US"/>
            </a:p>
          </p:txBody>
        </p:sp>
        <p:grpSp>
          <p:nvGrpSpPr>
            <p:cNvPr id="39" name="组合 50212"/>
            <p:cNvGrpSpPr/>
            <p:nvPr/>
          </p:nvGrpSpPr>
          <p:grpSpPr bwMode="auto">
            <a:xfrm rot="-1297425" flipH="1" flipV="1">
              <a:off x="2525" y="2693"/>
              <a:ext cx="781" cy="188"/>
              <a:chOff x="2532" y="1051"/>
              <a:chExt cx="893" cy="246"/>
            </a:xfrm>
          </p:grpSpPr>
          <p:grpSp>
            <p:nvGrpSpPr>
              <p:cNvPr id="40" name="组合 50213"/>
              <p:cNvGrpSpPr/>
              <p:nvPr/>
            </p:nvGrpSpPr>
            <p:grpSpPr bwMode="auto">
              <a:xfrm>
                <a:off x="2532" y="1051"/>
                <a:ext cx="743" cy="185"/>
                <a:chOff x="1565" y="2568"/>
                <a:chExt cx="1118" cy="279"/>
              </a:xfrm>
            </p:grpSpPr>
            <p:sp>
              <p:nvSpPr>
                <p:cNvPr id="46" name="新月形 50214"/>
                <p:cNvSpPr>
                  <a:spLocks noChangeArrowheads="1"/>
                </p:cNvSpPr>
                <p:nvPr/>
              </p:nvSpPr>
              <p:spPr bwMode="auto">
                <a:xfrm rot="5263130">
                  <a:off x="1850" y="2265"/>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7" name="新月形 50215"/>
                <p:cNvSpPr>
                  <a:spLocks noChangeArrowheads="1"/>
                </p:cNvSpPr>
                <p:nvPr/>
              </p:nvSpPr>
              <p:spPr bwMode="auto">
                <a:xfrm rot="6078281">
                  <a:off x="1986" y="2265"/>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8" name="新月形 50216"/>
                <p:cNvSpPr>
                  <a:spLocks noChangeArrowheads="1"/>
                </p:cNvSpPr>
                <p:nvPr/>
              </p:nvSpPr>
              <p:spPr bwMode="auto">
                <a:xfrm rot="6373927">
                  <a:off x="2062" y="2287"/>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9" name="新月形 50217"/>
                <p:cNvSpPr>
                  <a:spLocks noChangeArrowheads="1"/>
                </p:cNvSpPr>
                <p:nvPr/>
              </p:nvSpPr>
              <p:spPr bwMode="auto">
                <a:xfrm rot="6906312">
                  <a:off x="2152" y="2317"/>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grpSp>
            <p:nvGrpSpPr>
              <p:cNvPr id="41" name="组合 50218"/>
              <p:cNvGrpSpPr/>
              <p:nvPr/>
            </p:nvGrpSpPr>
            <p:grpSpPr bwMode="auto">
              <a:xfrm rot="1353540">
                <a:off x="2682" y="1111"/>
                <a:ext cx="743" cy="186"/>
                <a:chOff x="1565" y="2568"/>
                <a:chExt cx="1118" cy="279"/>
              </a:xfrm>
            </p:grpSpPr>
            <p:sp>
              <p:nvSpPr>
                <p:cNvPr id="42" name="新月形 50219"/>
                <p:cNvSpPr>
                  <a:spLocks noChangeArrowheads="1"/>
                </p:cNvSpPr>
                <p:nvPr/>
              </p:nvSpPr>
              <p:spPr bwMode="auto">
                <a:xfrm rot="5263130">
                  <a:off x="1850" y="2265"/>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3" name="新月形 50220"/>
                <p:cNvSpPr>
                  <a:spLocks noChangeArrowheads="1"/>
                </p:cNvSpPr>
                <p:nvPr/>
              </p:nvSpPr>
              <p:spPr bwMode="auto">
                <a:xfrm rot="6078281">
                  <a:off x="1986" y="2265"/>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4" name="新月形 50221"/>
                <p:cNvSpPr>
                  <a:spLocks noChangeArrowheads="1"/>
                </p:cNvSpPr>
                <p:nvPr/>
              </p:nvSpPr>
              <p:spPr bwMode="auto">
                <a:xfrm rot="6373927">
                  <a:off x="2062" y="2287"/>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5" name="新月形 50222"/>
                <p:cNvSpPr>
                  <a:spLocks noChangeArrowheads="1"/>
                </p:cNvSpPr>
                <p:nvPr/>
              </p:nvSpPr>
              <p:spPr bwMode="auto">
                <a:xfrm rot="6906312">
                  <a:off x="2152" y="2317"/>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grpSp>
      </p:grpSp>
      <p:sp>
        <p:nvSpPr>
          <p:cNvPr id="50" name="文本框 50224"/>
          <p:cNvSpPr txBox="1">
            <a:spLocks noChangeArrowheads="1"/>
          </p:cNvSpPr>
          <p:nvPr/>
        </p:nvSpPr>
        <p:spPr bwMode="auto">
          <a:xfrm>
            <a:off x="5299583" y="3789299"/>
            <a:ext cx="1289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b="1">
                <a:solidFill>
                  <a:srgbClr val="080808"/>
                </a:solidFill>
              </a:rPr>
              <a:t>云计算体系结构</a:t>
            </a:r>
            <a:endParaRPr lang="zh-CN" altLang="en-US" b="1">
              <a:solidFill>
                <a:srgbClr val="080808"/>
              </a:solidFill>
            </a:endParaRPr>
          </a:p>
        </p:txBody>
      </p:sp>
      <p:sp>
        <p:nvSpPr>
          <p:cNvPr id="51" name="文本框 1"/>
          <p:cNvSpPr txBox="1">
            <a:spLocks noChangeArrowheads="1"/>
          </p:cNvSpPr>
          <p:nvPr/>
        </p:nvSpPr>
        <p:spPr bwMode="auto">
          <a:xfrm>
            <a:off x="5883783" y="3817874"/>
            <a:ext cx="400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en-US" b="1">
                <a:latin typeface="黑体" panose="02010609060101010101" pitchFamily="49" charset="-122"/>
                <a:ea typeface="黑体" panose="02010609060101010101" pitchFamily="49" charset="-122"/>
                <a:sym typeface="Wingdings 2" panose="05020102010507070707" pitchFamily="18" charset="2"/>
              </a:rPr>
              <a:t></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云计算技术体系结构</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
        <p:nvSpPr>
          <p:cNvPr id="6" name="圆角矩形 51203"/>
          <p:cNvSpPr>
            <a:spLocks noChangeArrowheads="1"/>
          </p:cNvSpPr>
          <p:nvPr/>
        </p:nvSpPr>
        <p:spPr bwMode="auto">
          <a:xfrm>
            <a:off x="2900357" y="6221557"/>
            <a:ext cx="6540500" cy="457200"/>
          </a:xfrm>
          <a:prstGeom prst="roundRect">
            <a:avLst>
              <a:gd name="adj" fmla="val 27481"/>
            </a:avLst>
          </a:prstGeom>
          <a:gradFill rotWithShape="1">
            <a:gsLst>
              <a:gs pos="0">
                <a:schemeClr val="tx2"/>
              </a:gs>
              <a:gs pos="100000">
                <a:srgbClr val="EB4646"/>
              </a:gs>
            </a:gsLst>
            <a:lin ang="5400000" scaled="1"/>
          </a:gradFill>
          <a:ln w="25400">
            <a:solidFill>
              <a:schemeClr val="tx2"/>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7" name="直角三角形 51204"/>
          <p:cNvSpPr>
            <a:spLocks noChangeArrowheads="1"/>
          </p:cNvSpPr>
          <p:nvPr/>
        </p:nvSpPr>
        <p:spPr bwMode="auto">
          <a:xfrm flipH="1">
            <a:off x="4319234" y="2039557"/>
            <a:ext cx="1873250" cy="1873250"/>
          </a:xfrm>
          <a:prstGeom prst="rtTriangle">
            <a:avLst/>
          </a:prstGeom>
          <a:gradFill rotWithShape="1">
            <a:gsLst>
              <a:gs pos="0">
                <a:schemeClr val="hlink"/>
              </a:gs>
              <a:gs pos="100000">
                <a:srgbClr val="8BB9E8"/>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8" name="直接连接符 51205"/>
          <p:cNvSpPr>
            <a:spLocks noChangeShapeType="1"/>
          </p:cNvSpPr>
          <p:nvPr/>
        </p:nvSpPr>
        <p:spPr bwMode="auto">
          <a:xfrm flipH="1">
            <a:off x="6200998" y="1706182"/>
            <a:ext cx="24824" cy="4328856"/>
          </a:xfrm>
          <a:prstGeom prst="line">
            <a:avLst/>
          </a:prstGeom>
          <a:noFill/>
          <a:ln w="9525">
            <a:solidFill>
              <a:srgbClr val="1C1C1C"/>
            </a:solidFill>
            <a:prstDash val="lgDash"/>
            <a:round/>
            <a:head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 name="直角三角形 51206"/>
          <p:cNvSpPr>
            <a:spLocks noChangeArrowheads="1"/>
          </p:cNvSpPr>
          <p:nvPr/>
        </p:nvSpPr>
        <p:spPr bwMode="auto">
          <a:xfrm>
            <a:off x="6251222" y="2039557"/>
            <a:ext cx="1873250" cy="1873250"/>
          </a:xfrm>
          <a:prstGeom prst="rtTriangle">
            <a:avLst/>
          </a:prstGeom>
          <a:gradFill rotWithShape="1">
            <a:gsLst>
              <a:gs pos="0">
                <a:schemeClr val="accent2"/>
              </a:gs>
              <a:gs pos="100000">
                <a:srgbClr val="FFEFD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0" name="直角三角形 51207"/>
          <p:cNvSpPr>
            <a:spLocks noChangeArrowheads="1"/>
          </p:cNvSpPr>
          <p:nvPr/>
        </p:nvSpPr>
        <p:spPr bwMode="auto">
          <a:xfrm rot="5400000">
            <a:off x="6252809" y="3981070"/>
            <a:ext cx="1873250" cy="1873250"/>
          </a:xfrm>
          <a:prstGeom prst="rtTriangle">
            <a:avLst/>
          </a:prstGeom>
          <a:gradFill rotWithShape="1">
            <a:gsLst>
              <a:gs pos="0">
                <a:schemeClr val="accent1"/>
              </a:gs>
              <a:gs pos="100000">
                <a:srgbClr val="EEF9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1" name="直角三角形 51208"/>
          <p:cNvSpPr>
            <a:spLocks noChangeArrowheads="1"/>
          </p:cNvSpPr>
          <p:nvPr/>
        </p:nvSpPr>
        <p:spPr bwMode="auto">
          <a:xfrm rot="16200000" flipH="1">
            <a:off x="4320822" y="3981070"/>
            <a:ext cx="1873250" cy="1873250"/>
          </a:xfrm>
          <a:prstGeom prst="rtTriangle">
            <a:avLst/>
          </a:prstGeom>
          <a:gradFill rotWithShape="1">
            <a:gsLst>
              <a:gs pos="0">
                <a:schemeClr val="folHlink"/>
              </a:gs>
              <a:gs pos="100000">
                <a:srgbClr val="C5C5D8"/>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2" name="直接连接符 51209"/>
          <p:cNvSpPr>
            <a:spLocks noChangeShapeType="1"/>
          </p:cNvSpPr>
          <p:nvPr/>
        </p:nvSpPr>
        <p:spPr bwMode="auto">
          <a:xfrm>
            <a:off x="3692172" y="3949320"/>
            <a:ext cx="5070475" cy="0"/>
          </a:xfrm>
          <a:prstGeom prst="line">
            <a:avLst/>
          </a:prstGeom>
          <a:noFill/>
          <a:ln w="9525">
            <a:solidFill>
              <a:srgbClr val="1C1C1C"/>
            </a:solidFill>
            <a:prstDash val="lgDash"/>
            <a:rou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3" name="矩形 51210"/>
          <p:cNvSpPr>
            <a:spLocks noChangeArrowheads="1"/>
          </p:cNvSpPr>
          <p:nvPr/>
        </p:nvSpPr>
        <p:spPr bwMode="auto">
          <a:xfrm>
            <a:off x="728386" y="2103508"/>
            <a:ext cx="384117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en-US" dirty="0" err="1">
                <a:solidFill>
                  <a:srgbClr val="FF0000"/>
                </a:solidFill>
                <a:latin typeface="微软雅黑" panose="020B0503020204020204" pitchFamily="34" charset="-122"/>
                <a:ea typeface="微软雅黑" panose="020B0503020204020204" pitchFamily="34" charset="-122"/>
              </a:rPr>
              <a:t>均衡使用云资源节点，检测节点故障并试图恢复或屏蔽之，并对资源的使用情况进行监视统计</a:t>
            </a:r>
            <a:r>
              <a:rPr lang="en-US" altLang="en-US" dirty="0">
                <a:solidFill>
                  <a:srgbClr val="FF0000"/>
                </a:solidFill>
                <a:latin typeface="微软雅黑" panose="020B0503020204020204" pitchFamily="34" charset="-122"/>
                <a:ea typeface="微软雅黑" panose="020B0503020204020204" pitchFamily="34" charset="-122"/>
              </a:rPr>
              <a:t> </a:t>
            </a:r>
            <a:endParaRPr lang="en-US" altLang="en-US" dirty="0">
              <a:solidFill>
                <a:srgbClr val="FF0000"/>
              </a:solidFill>
              <a:latin typeface="微软雅黑" panose="020B0503020204020204" pitchFamily="34" charset="-122"/>
              <a:ea typeface="微软雅黑" panose="020B0503020204020204" pitchFamily="34" charset="-122"/>
            </a:endParaRPr>
          </a:p>
        </p:txBody>
      </p:sp>
      <p:sp>
        <p:nvSpPr>
          <p:cNvPr id="14" name="矩形 51211"/>
          <p:cNvSpPr>
            <a:spLocks noChangeArrowheads="1"/>
          </p:cNvSpPr>
          <p:nvPr/>
        </p:nvSpPr>
        <p:spPr bwMode="auto">
          <a:xfrm>
            <a:off x="4530372" y="2976182"/>
            <a:ext cx="1165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en-US" b="1"/>
              <a:t>资源管理</a:t>
            </a:r>
            <a:r>
              <a:rPr lang="en-US" altLang="en-US"/>
              <a:t> </a:t>
            </a:r>
            <a:endParaRPr lang="en-US" altLang="en-US"/>
          </a:p>
        </p:txBody>
      </p:sp>
      <p:sp>
        <p:nvSpPr>
          <p:cNvPr id="15" name="矩形 51212"/>
          <p:cNvSpPr>
            <a:spLocks noChangeArrowheads="1"/>
          </p:cNvSpPr>
          <p:nvPr/>
        </p:nvSpPr>
        <p:spPr bwMode="auto">
          <a:xfrm>
            <a:off x="6729059" y="2976182"/>
            <a:ext cx="1101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en-US" b="1"/>
              <a:t>任务管理</a:t>
            </a:r>
            <a:endParaRPr lang="en-US" altLang="en-US" b="1"/>
          </a:p>
        </p:txBody>
      </p:sp>
      <p:sp>
        <p:nvSpPr>
          <p:cNvPr id="16" name="矩形 51213"/>
          <p:cNvSpPr>
            <a:spLocks noChangeArrowheads="1"/>
          </p:cNvSpPr>
          <p:nvPr/>
        </p:nvSpPr>
        <p:spPr bwMode="auto">
          <a:xfrm>
            <a:off x="6698897" y="4436682"/>
            <a:ext cx="1165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en-US" b="1" dirty="0" err="1"/>
              <a:t>安全管理</a:t>
            </a:r>
            <a:r>
              <a:rPr lang="en-US" altLang="en-US" dirty="0"/>
              <a:t> </a:t>
            </a:r>
            <a:endParaRPr lang="en-US" altLang="en-US" dirty="0"/>
          </a:p>
        </p:txBody>
      </p:sp>
      <p:sp>
        <p:nvSpPr>
          <p:cNvPr id="17" name="矩形 51214"/>
          <p:cNvSpPr>
            <a:spLocks noChangeArrowheads="1"/>
          </p:cNvSpPr>
          <p:nvPr/>
        </p:nvSpPr>
        <p:spPr bwMode="auto">
          <a:xfrm>
            <a:off x="4577997" y="4436682"/>
            <a:ext cx="1165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en-US" b="1"/>
              <a:t>用户管理</a:t>
            </a:r>
            <a:r>
              <a:rPr lang="en-US" altLang="en-US"/>
              <a:t> </a:t>
            </a:r>
            <a:endParaRPr lang="en-US" altLang="zh-CN"/>
          </a:p>
        </p:txBody>
      </p:sp>
      <p:sp>
        <p:nvSpPr>
          <p:cNvPr id="18" name="矩形 51215"/>
          <p:cNvSpPr>
            <a:spLocks noChangeArrowheads="1"/>
          </p:cNvSpPr>
          <p:nvPr/>
        </p:nvSpPr>
        <p:spPr bwMode="auto">
          <a:xfrm>
            <a:off x="3079745" y="6281882"/>
            <a:ext cx="624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000" b="1">
                <a:solidFill>
                  <a:schemeClr val="bg1"/>
                </a:solidFill>
                <a:latin typeface="黑体" panose="02010609060101010101" pitchFamily="49" charset="-122"/>
                <a:ea typeface="黑体" panose="02010609060101010101" pitchFamily="49" charset="-122"/>
              </a:rPr>
              <a:t>云计算的管理中间件层</a:t>
            </a:r>
            <a:r>
              <a:rPr lang="zh-CN" altLang="en-US" sz="2000">
                <a:solidFill>
                  <a:schemeClr val="bg1"/>
                </a:solidFill>
                <a:latin typeface="黑体" panose="02010609060101010101" pitchFamily="49" charset="-122"/>
                <a:ea typeface="黑体" panose="02010609060101010101" pitchFamily="49" charset="-122"/>
              </a:rPr>
              <a:t> </a:t>
            </a:r>
            <a:endParaRPr lang="en-US" altLang="zh-CN" sz="2000">
              <a:solidFill>
                <a:schemeClr val="bg1"/>
              </a:solidFill>
              <a:latin typeface="黑体" panose="02010609060101010101" pitchFamily="49" charset="-122"/>
              <a:ea typeface="黑体" panose="02010609060101010101" pitchFamily="49" charset="-122"/>
            </a:endParaRPr>
          </a:p>
        </p:txBody>
      </p:sp>
      <p:sp>
        <p:nvSpPr>
          <p:cNvPr id="19" name="矩形 51216"/>
          <p:cNvSpPr>
            <a:spLocks noChangeArrowheads="1"/>
          </p:cNvSpPr>
          <p:nvPr/>
        </p:nvSpPr>
        <p:spPr bwMode="auto">
          <a:xfrm>
            <a:off x="7730108" y="1926844"/>
            <a:ext cx="390703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en-US" dirty="0" err="1">
                <a:solidFill>
                  <a:srgbClr val="FF0000"/>
                </a:solidFill>
                <a:latin typeface="微软雅黑" panose="020B0503020204020204" pitchFamily="34" charset="-122"/>
                <a:ea typeface="微软雅黑" panose="020B0503020204020204" pitchFamily="34" charset="-122"/>
              </a:rPr>
              <a:t>执行用户或应用提交的任务，包括完成用户任务映象</a:t>
            </a:r>
            <a:r>
              <a:rPr lang="en-US"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Image</a:t>
            </a:r>
            <a:r>
              <a:rPr lang="en-US" altLang="en-US" dirty="0">
                <a:solidFill>
                  <a:srgbClr val="FF0000"/>
                </a:solidFill>
                <a:latin typeface="微软雅黑" panose="020B0503020204020204" pitchFamily="34" charset="-122"/>
                <a:ea typeface="微软雅黑" panose="020B0503020204020204" pitchFamily="34" charset="-122"/>
              </a:rPr>
              <a:t>)</a:t>
            </a:r>
            <a:r>
              <a:rPr lang="en-US" altLang="en-US" dirty="0" err="1">
                <a:solidFill>
                  <a:srgbClr val="FF0000"/>
                </a:solidFill>
                <a:latin typeface="微软雅黑" panose="020B0503020204020204" pitchFamily="34" charset="-122"/>
                <a:ea typeface="微软雅黑" panose="020B0503020204020204" pitchFamily="34" charset="-122"/>
              </a:rPr>
              <a:t>的部署和管理、任务调度、任务执行、任务生命期管理等</a:t>
            </a:r>
            <a:r>
              <a:rPr lang="en-US" altLang="en-US" dirty="0">
                <a:solidFill>
                  <a:srgbClr val="FF0000"/>
                </a:solidFill>
                <a:latin typeface="微软雅黑" panose="020B0503020204020204" pitchFamily="34" charset="-122"/>
                <a:ea typeface="微软雅黑" panose="020B0503020204020204" pitchFamily="34" charset="-122"/>
              </a:rPr>
              <a:t> </a:t>
            </a:r>
            <a:endParaRPr lang="en-US" altLang="en-US" dirty="0">
              <a:solidFill>
                <a:srgbClr val="FF0000"/>
              </a:solidFill>
              <a:latin typeface="微软雅黑" panose="020B0503020204020204" pitchFamily="34" charset="-122"/>
              <a:ea typeface="微软雅黑" panose="020B0503020204020204" pitchFamily="34" charset="-122"/>
            </a:endParaRPr>
          </a:p>
        </p:txBody>
      </p:sp>
      <p:sp>
        <p:nvSpPr>
          <p:cNvPr id="20" name="矩形 51217"/>
          <p:cNvSpPr>
            <a:spLocks noChangeArrowheads="1"/>
          </p:cNvSpPr>
          <p:nvPr/>
        </p:nvSpPr>
        <p:spPr bwMode="auto">
          <a:xfrm>
            <a:off x="388649" y="4653991"/>
            <a:ext cx="433126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en-US" dirty="0">
                <a:latin typeface="微软雅黑" panose="020B0503020204020204" pitchFamily="34" charset="-122"/>
                <a:ea typeface="微软雅黑" panose="020B0503020204020204" pitchFamily="34" charset="-122"/>
              </a:rPr>
              <a:t>实现云计算商业模式的一个必不可少的环节，包括提供用户交互接口、管理和识别用户身份、创建用户程序的执行环境、对用户的使用进行计费等 </a:t>
            </a:r>
            <a:endParaRPr lang="en-US" altLang="en-US" dirty="0">
              <a:latin typeface="微软雅黑" panose="020B0503020204020204" pitchFamily="34" charset="-122"/>
              <a:ea typeface="微软雅黑" panose="020B0503020204020204" pitchFamily="34" charset="-122"/>
            </a:endParaRPr>
          </a:p>
        </p:txBody>
      </p:sp>
      <p:sp>
        <p:nvSpPr>
          <p:cNvPr id="21" name="矩形 51218"/>
          <p:cNvSpPr>
            <a:spLocks noChangeArrowheads="1"/>
          </p:cNvSpPr>
          <p:nvPr/>
        </p:nvSpPr>
        <p:spPr bwMode="auto">
          <a:xfrm>
            <a:off x="7818431" y="4708670"/>
            <a:ext cx="387369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保障云计算设施的整体安全，包括身份认证、访问授权、综合防护和安全审计等 </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2227" descr="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71800" y="1512887"/>
            <a:ext cx="6248400"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idx="1"/>
          </p:nvPr>
        </p:nvSpPr>
        <p:spPr>
          <a:xfrm>
            <a:off x="397163" y="1219203"/>
            <a:ext cx="11453091" cy="4957760"/>
          </a:xfrm>
        </p:spPr>
        <p:txBody>
          <a:bodyPr/>
          <a:lstStyle/>
          <a:p>
            <a:r>
              <a:rPr lang="zh-CN" altLang="en-US" noProof="1"/>
              <a:t>云计算技术体系结构</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
        <p:nvSpPr>
          <p:cNvPr id="7" name="矩形 52228"/>
          <p:cNvSpPr>
            <a:spLocks noChangeArrowheads="1"/>
          </p:cNvSpPr>
          <p:nvPr/>
        </p:nvSpPr>
        <p:spPr bwMode="auto">
          <a:xfrm>
            <a:off x="3035300" y="6323012"/>
            <a:ext cx="62484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en-US" sz="2000">
                <a:latin typeface="黑体" panose="02010609060101010101" pitchFamily="49" charset="-122"/>
                <a:ea typeface="黑体" panose="02010609060101010101" pitchFamily="49" charset="-122"/>
              </a:rPr>
              <a:t>简化的</a:t>
            </a:r>
            <a:r>
              <a:rPr lang="en-US" altLang="zh-CN" sz="2000">
                <a:latin typeface="黑体" panose="02010609060101010101" pitchFamily="49" charset="-122"/>
                <a:ea typeface="黑体" panose="02010609060101010101" pitchFamily="49" charset="-122"/>
              </a:rPr>
              <a:t>IaaS</a:t>
            </a:r>
            <a:r>
              <a:rPr lang="en-US" altLang="en-US" sz="2000">
                <a:latin typeface="黑体" panose="02010609060101010101" pitchFamily="49" charset="-122"/>
                <a:ea typeface="黑体" panose="02010609060101010101" pitchFamily="49" charset="-122"/>
              </a:rPr>
              <a:t>实现机制图 </a:t>
            </a:r>
            <a:endParaRPr lang="en-US" altLang="en-US" sz="2000">
              <a:latin typeface="黑体" panose="02010609060101010101" pitchFamily="49" charset="-122"/>
              <a:ea typeface="黑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云计算的优势</a:t>
            </a:r>
            <a:endParaRPr lang="en-US" altLang="zh-CN" dirty="0"/>
          </a:p>
          <a:p>
            <a:pPr lvl="1"/>
            <a:r>
              <a:rPr lang="zh-CN" altLang="en-US" dirty="0"/>
              <a:t>数据在云端：不怕丢失</a:t>
            </a:r>
            <a:r>
              <a:rPr lang="en-US" altLang="zh-CN" dirty="0"/>
              <a:t>,</a:t>
            </a:r>
            <a:r>
              <a:rPr lang="zh-CN" altLang="en-US" dirty="0"/>
              <a:t>不必备份</a:t>
            </a:r>
            <a:r>
              <a:rPr lang="en-US" altLang="zh-CN" dirty="0"/>
              <a:t>,</a:t>
            </a:r>
            <a:r>
              <a:rPr lang="zh-CN" altLang="en-US" dirty="0"/>
              <a:t>可以任意点的恢复 ；</a:t>
            </a:r>
            <a:endParaRPr lang="zh-CN" altLang="en-US" dirty="0"/>
          </a:p>
          <a:p>
            <a:pPr lvl="1"/>
            <a:r>
              <a:rPr lang="zh-CN" altLang="en-US" dirty="0"/>
              <a:t>软件在云端：不必下载自动升级 ；</a:t>
            </a:r>
            <a:endParaRPr lang="zh-CN" altLang="en-US" dirty="0"/>
          </a:p>
          <a:p>
            <a:pPr lvl="1"/>
            <a:r>
              <a:rPr lang="zh-CN" altLang="en-US" dirty="0"/>
              <a:t>无所不在的计算：在任何时间地点，任何设备登录后就可以进行计算服务；</a:t>
            </a:r>
            <a:endParaRPr lang="zh-CN" altLang="en-US" dirty="0"/>
          </a:p>
          <a:p>
            <a:pPr lvl="1"/>
            <a:r>
              <a:rPr lang="zh-CN" altLang="en-US" dirty="0"/>
              <a:t>无限强大的计算：具有无限空间的，无限速度。</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grpSp>
        <p:nvGrpSpPr>
          <p:cNvPr id="6" name="Group 4"/>
          <p:cNvGrpSpPr/>
          <p:nvPr/>
        </p:nvGrpSpPr>
        <p:grpSpPr bwMode="auto">
          <a:xfrm>
            <a:off x="4702429" y="3429000"/>
            <a:ext cx="2600325" cy="3484563"/>
            <a:chOff x="0" y="0"/>
            <a:chExt cx="3086" cy="2007"/>
          </a:xfrm>
        </p:grpSpPr>
        <p:pic>
          <p:nvPicPr>
            <p:cNvPr id="7" name="Picture 5" descr="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3086" cy="2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p:nvSpPr>
          <p:spPr bwMode="auto">
            <a:xfrm>
              <a:off x="102" y="64"/>
              <a:ext cx="2858" cy="18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grpSp>
        <p:nvGrpSpPr>
          <p:cNvPr id="9" name="Group 7"/>
          <p:cNvGrpSpPr/>
          <p:nvPr/>
        </p:nvGrpSpPr>
        <p:grpSpPr bwMode="auto">
          <a:xfrm>
            <a:off x="7321804" y="3429000"/>
            <a:ext cx="2601913" cy="3484563"/>
            <a:chOff x="0" y="0"/>
            <a:chExt cx="3086" cy="2007"/>
          </a:xfrm>
        </p:grpSpPr>
        <p:pic>
          <p:nvPicPr>
            <p:cNvPr id="10" name="Picture 8" descr="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3086" cy="2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9"/>
            <p:cNvSpPr>
              <a:spLocks noChangeArrowheads="1"/>
            </p:cNvSpPr>
            <p:nvPr/>
          </p:nvSpPr>
          <p:spPr bwMode="auto">
            <a:xfrm>
              <a:off x="102" y="64"/>
              <a:ext cx="2858" cy="18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pic>
        <p:nvPicPr>
          <p:cNvPr id="12" name="Picture 10" descr="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81467" y="3429000"/>
            <a:ext cx="2601912" cy="348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1"/>
          <p:cNvSpPr>
            <a:spLocks noChangeArrowheads="1"/>
          </p:cNvSpPr>
          <p:nvPr/>
        </p:nvSpPr>
        <p:spPr bwMode="auto">
          <a:xfrm>
            <a:off x="2168779" y="3540125"/>
            <a:ext cx="2408238" cy="3219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4" name="Cloud"/>
          <p:cNvSpPr>
            <a:spLocks noChangeAspect="1" noEditPoints="1" noChangeArrowheads="1"/>
          </p:cNvSpPr>
          <p:nvPr/>
        </p:nvSpPr>
        <p:spPr bwMode="auto">
          <a:xfrm>
            <a:off x="7409117" y="4044950"/>
            <a:ext cx="2452687" cy="2024063"/>
          </a:xfrm>
          <a:custGeom>
            <a:avLst/>
            <a:gdLst>
              <a:gd name="T0" fmla="*/ 221310 w 21600"/>
              <a:gd name="T1" fmla="*/ 672814 h 21600"/>
              <a:gd name="T2" fmla="*/ 0 w 21600"/>
              <a:gd name="T3" fmla="*/ 949904 h 21600"/>
              <a:gd name="T4" fmla="*/ 121953 w 21600"/>
              <a:gd name="T5" fmla="*/ 1190261 h 21600"/>
              <a:gd name="T6" fmla="*/ 120704 w 21600"/>
              <a:gd name="T7" fmla="*/ 1187075 h 21600"/>
              <a:gd name="T8" fmla="*/ 53936 w 21600"/>
              <a:gd name="T9" fmla="*/ 1376550 h 21600"/>
              <a:gd name="T10" fmla="*/ 301476 w 21600"/>
              <a:gd name="T11" fmla="*/ 1653922 h 21600"/>
              <a:gd name="T12" fmla="*/ 330318 w 21600"/>
              <a:gd name="T13" fmla="*/ 1651954 h 21600"/>
              <a:gd name="T14" fmla="*/ 328955 w 21600"/>
              <a:gd name="T15" fmla="*/ 1653828 h 21600"/>
              <a:gd name="T16" fmla="*/ 709349 w 21600"/>
              <a:gd name="T17" fmla="*/ 1902244 h 21600"/>
              <a:gd name="T18" fmla="*/ 935087 w 21600"/>
              <a:gd name="T19" fmla="*/ 1831590 h 21600"/>
              <a:gd name="T20" fmla="*/ 934406 w 21600"/>
              <a:gd name="T21" fmla="*/ 1831964 h 21600"/>
              <a:gd name="T22" fmla="*/ 1253141 w 21600"/>
              <a:gd name="T23" fmla="*/ 2023782 h 21600"/>
              <a:gd name="T24" fmla="*/ 1620022 w 21600"/>
              <a:gd name="T25" fmla="*/ 1717080 h 21600"/>
              <a:gd name="T26" fmla="*/ 1620363 w 21600"/>
              <a:gd name="T27" fmla="*/ 1719516 h 21600"/>
              <a:gd name="T28" fmla="*/ 1794322 w 21600"/>
              <a:gd name="T29" fmla="*/ 1775459 h 21600"/>
              <a:gd name="T30" fmla="*/ 2122710 w 21600"/>
              <a:gd name="T31" fmla="*/ 1409816 h 21600"/>
              <a:gd name="T32" fmla="*/ 2122142 w 21600"/>
              <a:gd name="T33" fmla="*/ 1408879 h 21600"/>
              <a:gd name="T34" fmla="*/ 2452346 w 21600"/>
              <a:gd name="T35" fmla="*/ 981296 h 21600"/>
              <a:gd name="T36" fmla="*/ 2372748 w 21600"/>
              <a:gd name="T37" fmla="*/ 718074 h 21600"/>
              <a:gd name="T38" fmla="*/ 2371953 w 21600"/>
              <a:gd name="T39" fmla="*/ 717886 h 21600"/>
              <a:gd name="T40" fmla="*/ 2396480 w 21600"/>
              <a:gd name="T41" fmla="*/ 583605 h 21600"/>
              <a:gd name="T42" fmla="*/ 2173240 w 21600"/>
              <a:gd name="T43" fmla="*/ 254788 h 21600"/>
              <a:gd name="T44" fmla="*/ 2174262 w 21600"/>
              <a:gd name="T45" fmla="*/ 254132 h 21600"/>
              <a:gd name="T46" fmla="*/ 1902876 w 21600"/>
              <a:gd name="T47" fmla="*/ 0 h 21600"/>
              <a:gd name="T48" fmla="*/ 1692468 w 21600"/>
              <a:gd name="T49" fmla="*/ 109168 h 21600"/>
              <a:gd name="T50" fmla="*/ 1692922 w 21600"/>
              <a:gd name="T51" fmla="*/ 109637 h 21600"/>
              <a:gd name="T52" fmla="*/ 1495912 w 21600"/>
              <a:gd name="T53" fmla="*/ 0 h 21600"/>
              <a:gd name="T54" fmla="*/ 1274148 w 21600"/>
              <a:gd name="T55" fmla="*/ 154147 h 21600"/>
              <a:gd name="T56" fmla="*/ 1275057 w 21600"/>
              <a:gd name="T57" fmla="*/ 158739 h 21600"/>
              <a:gd name="T58" fmla="*/ 1062604 w 21600"/>
              <a:gd name="T59" fmla="*/ 60909 h 21600"/>
              <a:gd name="T60" fmla="*/ 795193 w 21600"/>
              <a:gd name="T61" fmla="*/ 241576 h 21600"/>
              <a:gd name="T62" fmla="*/ 794285 w 21600"/>
              <a:gd name="T63" fmla="*/ 243825 h 21600"/>
              <a:gd name="T64" fmla="*/ 600454 w 21600"/>
              <a:gd name="T65" fmla="*/ 184789 h 21600"/>
              <a:gd name="T66" fmla="*/ 217108 w 21600"/>
              <a:gd name="T67" fmla="*/ 615371 h 21600"/>
              <a:gd name="T68" fmla="*/ 220515 w 21600"/>
              <a:gd name="T69" fmla="*/ 673376 h 21600"/>
              <a:gd name="T70" fmla="*/ 221310 w 21600"/>
              <a:gd name="T71" fmla="*/ 672814 h 21600"/>
              <a:gd name="T72" fmla="*/ 121953 w 21600"/>
              <a:gd name="T73" fmla="*/ 1190261 h 21600"/>
              <a:gd name="T74" fmla="*/ 246631 w 21600"/>
              <a:gd name="T75" fmla="*/ 1228494 h 21600"/>
              <a:gd name="T76" fmla="*/ 265821 w 21600"/>
              <a:gd name="T77" fmla="*/ 1227650 h 21600"/>
              <a:gd name="T78" fmla="*/ 330318 w 21600"/>
              <a:gd name="T79" fmla="*/ 1651954 h 21600"/>
              <a:gd name="T80" fmla="*/ 393225 w 21600"/>
              <a:gd name="T81" fmla="*/ 1634150 h 21600"/>
              <a:gd name="T82" fmla="*/ 896480 w 21600"/>
              <a:gd name="T83" fmla="*/ 1750440 h 21600"/>
              <a:gd name="T84" fmla="*/ 934406 w 21600"/>
              <a:gd name="T85" fmla="*/ 1831964 h 21600"/>
              <a:gd name="T86" fmla="*/ 1620022 w 21600"/>
              <a:gd name="T87" fmla="*/ 1717080 h 21600"/>
              <a:gd name="T88" fmla="*/ 1635125 w 21600"/>
              <a:gd name="T89" fmla="*/ 1627684 h 21600"/>
              <a:gd name="T90" fmla="*/ 2122710 w 21600"/>
              <a:gd name="T91" fmla="*/ 1409816 h 21600"/>
              <a:gd name="T92" fmla="*/ 2122823 w 21600"/>
              <a:gd name="T93" fmla="*/ 1406817 h 21600"/>
              <a:gd name="T94" fmla="*/ 1938190 w 21600"/>
              <a:gd name="T95" fmla="*/ 1075471 h 21600"/>
              <a:gd name="T96" fmla="*/ 2289742 w 21600"/>
              <a:gd name="T97" fmla="*/ 843266 h 21600"/>
              <a:gd name="T98" fmla="*/ 2371953 w 21600"/>
              <a:gd name="T99" fmla="*/ 717886 h 21600"/>
              <a:gd name="T100" fmla="*/ 2178577 w 21600"/>
              <a:gd name="T101" fmla="*/ 313355 h 21600"/>
              <a:gd name="T102" fmla="*/ 2178690 w 21600"/>
              <a:gd name="T103" fmla="*/ 308951 h 21600"/>
              <a:gd name="T104" fmla="*/ 2174262 w 21600"/>
              <a:gd name="T105" fmla="*/ 254132 h 21600"/>
              <a:gd name="T106" fmla="*/ 1692468 w 21600"/>
              <a:gd name="T107" fmla="*/ 109168 h 21600"/>
              <a:gd name="T108" fmla="*/ 1650454 w 21600"/>
              <a:gd name="T109" fmla="*/ 184696 h 21600"/>
              <a:gd name="T110" fmla="*/ 1274148 w 21600"/>
              <a:gd name="T111" fmla="*/ 154147 h 21600"/>
              <a:gd name="T112" fmla="*/ 1253709 w 21600"/>
              <a:gd name="T113" fmla="*/ 219273 h 21600"/>
              <a:gd name="T114" fmla="*/ 868092 w 21600"/>
              <a:gd name="T115" fmla="*/ 306983 h 21600"/>
              <a:gd name="T116" fmla="*/ 794285 w 21600"/>
              <a:gd name="T117" fmla="*/ 243825 h 21600"/>
              <a:gd name="T118" fmla="*/ 220515 w 21600"/>
              <a:gd name="T119" fmla="*/ 673376 h 21600"/>
              <a:gd name="T120" fmla="*/ 233459 w 21600"/>
              <a:gd name="T121" fmla="*/ 739814 h 2160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600" h="2160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a:moveTo>
                  <a:pt x="1074" y="12702"/>
                </a:moveTo>
                <a:cubicBezTo>
                  <a:pt x="1407" y="12969"/>
                  <a:pt x="1786" y="13110"/>
                  <a:pt x="2172" y="13110"/>
                </a:cubicBezTo>
                <a:cubicBezTo>
                  <a:pt x="2228" y="13109"/>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gradFill rotWithShape="1">
            <a:gsLst>
              <a:gs pos="0">
                <a:schemeClr val="accent1">
                  <a:alpha val="50000"/>
                </a:schemeClr>
              </a:gs>
              <a:gs pos="100000">
                <a:srgbClr val="B2D1EF">
                  <a:alpha val="39998"/>
                </a:srgbClr>
              </a:gs>
            </a:gsLst>
            <a:path path="rect">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pic>
        <p:nvPicPr>
          <p:cNvPr id="15" name="Picture 13"/>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572754" y="4381500"/>
            <a:ext cx="5746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4"/>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750554" y="4572000"/>
            <a:ext cx="57308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5"/>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880729" y="4740275"/>
            <a:ext cx="573088"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6"/>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752017" y="4770438"/>
            <a:ext cx="574675"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7"/>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929817" y="4960938"/>
            <a:ext cx="573087" cy="76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8"/>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059992" y="5129213"/>
            <a:ext cx="5730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Oval 19" descr="mobile-map1"/>
          <p:cNvSpPr>
            <a:spLocks noChangeArrowheads="1"/>
          </p:cNvSpPr>
          <p:nvPr/>
        </p:nvSpPr>
        <p:spPr bwMode="auto">
          <a:xfrm>
            <a:off x="9306179" y="5456238"/>
            <a:ext cx="446088" cy="495300"/>
          </a:xfrm>
          <a:prstGeom prst="ellipse">
            <a:avLst/>
          </a:prstGeom>
          <a:blipFill dpi="0" rotWithShape="1">
            <a:blip r:embed="rId3"/>
            <a:srcRect/>
            <a:stretch>
              <a:fillRect/>
            </a:stretch>
          </a:blipFill>
          <a:ln w="38100">
            <a:solidFill>
              <a:srgbClr val="D6A908"/>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pic>
        <p:nvPicPr>
          <p:cNvPr id="22" name="Picture 20"/>
          <p:cNvPicPr>
            <a:picLocks noChangeAspect="1" noChangeArrowheads="1"/>
          </p:cNvPicPr>
          <p:nvPr/>
        </p:nvPicPr>
        <p:blipFill>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34517" y="4279900"/>
            <a:ext cx="4730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1" descr="ipod"/>
          <p:cNvPicPr>
            <a:picLocks noChangeAspect="1" noChangeArrowheads="1"/>
          </p:cNvPicPr>
          <p:nvPr/>
        </p:nvPicPr>
        <p:blipFill>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017129" y="4318000"/>
            <a:ext cx="3698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2"/>
          <p:cNvPicPr>
            <a:picLocks noChangeAspect="1" noChangeArrowheads="1"/>
          </p:cNvPicPr>
          <p:nvPr/>
        </p:nvPicPr>
        <p:blipFill>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318879" y="4241800"/>
            <a:ext cx="2857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3"/>
          <p:cNvPicPr>
            <a:picLocks noChangeAspect="1" noChangeArrowheads="1"/>
          </p:cNvPicPr>
          <p:nvPr/>
        </p:nvPicPr>
        <p:blipFill>
          <a:blip r:embed="rId7">
            <a:extLst>
              <a:ext uri="{28A0092B-C50C-407E-A947-70E740481C1C}">
                <a14:useLocalDpi xmlns:a14="http://schemas.microsoft.com/office/drawing/2010/main" val="0"/>
              </a:ext>
            </a:extLst>
          </a:blip>
          <a:srcRect t="18776" b="12802"/>
          <a:stretch>
            <a:fillRect/>
          </a:stretch>
        </p:blipFill>
        <p:spPr bwMode="auto">
          <a:xfrm>
            <a:off x="6051804" y="4089400"/>
            <a:ext cx="1030288"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4"/>
          <p:cNvPicPr>
            <a:picLocks noChangeAspect="1" noChangeArrowheads="1"/>
          </p:cNvPicPr>
          <p:nvPr/>
        </p:nvPicPr>
        <p:blipFill>
          <a:blip r:embed="rId7">
            <a:extLst>
              <a:ext uri="{28A0092B-C50C-407E-A947-70E740481C1C}">
                <a14:useLocalDpi xmlns:a14="http://schemas.microsoft.com/office/drawing/2010/main" val="0"/>
              </a:ext>
            </a:extLst>
          </a:blip>
          <a:srcRect t="18776" b="12802"/>
          <a:stretch>
            <a:fillRect/>
          </a:stretch>
        </p:blipFill>
        <p:spPr bwMode="auto">
          <a:xfrm>
            <a:off x="4815142" y="4089400"/>
            <a:ext cx="1074737"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5"/>
          <p:cNvPicPr>
            <a:picLocks noChangeAspect="1" noChangeArrowheads="1"/>
          </p:cNvPicPr>
          <p:nvPr/>
        </p:nvPicPr>
        <p:blipFill>
          <a:blip r:embed="rId7">
            <a:extLst>
              <a:ext uri="{28A0092B-C50C-407E-A947-70E740481C1C}">
                <a14:useLocalDpi xmlns:a14="http://schemas.microsoft.com/office/drawing/2010/main" val="0"/>
              </a:ext>
            </a:extLst>
          </a:blip>
          <a:srcRect t="18776" b="12802"/>
          <a:stretch>
            <a:fillRect/>
          </a:stretch>
        </p:blipFill>
        <p:spPr bwMode="auto">
          <a:xfrm>
            <a:off x="4813554" y="5437188"/>
            <a:ext cx="1065213"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6"/>
          <p:cNvPicPr>
            <a:picLocks noChangeAspect="1" noChangeArrowheads="1"/>
          </p:cNvPicPr>
          <p:nvPr/>
        </p:nvPicPr>
        <p:blipFill>
          <a:blip r:embed="rId7">
            <a:extLst>
              <a:ext uri="{28A0092B-C50C-407E-A947-70E740481C1C}">
                <a14:useLocalDpi xmlns:a14="http://schemas.microsoft.com/office/drawing/2010/main" val="0"/>
              </a:ext>
            </a:extLst>
          </a:blip>
          <a:srcRect t="18776" b="12802"/>
          <a:stretch>
            <a:fillRect/>
          </a:stretch>
        </p:blipFill>
        <p:spPr bwMode="auto">
          <a:xfrm>
            <a:off x="6056567" y="5437188"/>
            <a:ext cx="108902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4867" y="4591050"/>
            <a:ext cx="1457325"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28"/>
          <p:cNvSpPr txBox="1">
            <a:spLocks noChangeArrowheads="1"/>
          </p:cNvSpPr>
          <p:nvPr/>
        </p:nvSpPr>
        <p:spPr bwMode="auto">
          <a:xfrm>
            <a:off x="2160842" y="6319838"/>
            <a:ext cx="23955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ea typeface="黑体" panose="02010609060101010101" pitchFamily="49" charset="-122"/>
              </a:rPr>
              <a:t>硬件为中心</a:t>
            </a:r>
            <a:endParaRPr lang="zh-CN" altLang="en-US" b="1">
              <a:ea typeface="黑体" panose="02010609060101010101" pitchFamily="49" charset="-122"/>
            </a:endParaRPr>
          </a:p>
        </p:txBody>
      </p:sp>
      <p:sp>
        <p:nvSpPr>
          <p:cNvPr id="31" name="Text Box 29"/>
          <p:cNvSpPr txBox="1">
            <a:spLocks noChangeArrowheads="1"/>
          </p:cNvSpPr>
          <p:nvPr/>
        </p:nvSpPr>
        <p:spPr bwMode="auto">
          <a:xfrm>
            <a:off x="4777042" y="6305550"/>
            <a:ext cx="24050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ea typeface="黑体" panose="02010609060101010101" pitchFamily="49" charset="-122"/>
              </a:rPr>
              <a:t>软件为中心 </a:t>
            </a:r>
            <a:endParaRPr lang="zh-CN" altLang="en-US" b="1">
              <a:ea typeface="黑体" panose="02010609060101010101" pitchFamily="49" charset="-122"/>
            </a:endParaRPr>
          </a:p>
        </p:txBody>
      </p:sp>
      <p:sp>
        <p:nvSpPr>
          <p:cNvPr id="32" name="Text Box 30"/>
          <p:cNvSpPr txBox="1">
            <a:spLocks noChangeArrowheads="1"/>
          </p:cNvSpPr>
          <p:nvPr/>
        </p:nvSpPr>
        <p:spPr bwMode="auto">
          <a:xfrm>
            <a:off x="7405942" y="6297613"/>
            <a:ext cx="24177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ea typeface="黑体" panose="02010609060101010101" pitchFamily="49" charset="-122"/>
              </a:rPr>
              <a:t>服务为中心 </a:t>
            </a:r>
            <a:endParaRPr lang="zh-CN" altLang="en-US" b="1">
              <a:ea typeface="黑体" panose="02010609060101010101" pitchFamily="49" charset="-122"/>
            </a:endParaRPr>
          </a:p>
        </p:txBody>
      </p:sp>
      <p:pic>
        <p:nvPicPr>
          <p:cNvPr id="33" name="Picture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2392" y="4748213"/>
            <a:ext cx="6921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 name="Group 32"/>
          <p:cNvGrpSpPr/>
          <p:nvPr/>
        </p:nvGrpSpPr>
        <p:grpSpPr bwMode="auto">
          <a:xfrm>
            <a:off x="2170367" y="3530600"/>
            <a:ext cx="2473325" cy="468313"/>
            <a:chOff x="0" y="0"/>
            <a:chExt cx="1688" cy="295"/>
          </a:xfrm>
        </p:grpSpPr>
        <p:sp>
          <p:nvSpPr>
            <p:cNvPr id="35" name="Rectangle 33"/>
            <p:cNvSpPr>
              <a:spLocks noChangeArrowheads="1"/>
            </p:cNvSpPr>
            <p:nvPr/>
          </p:nvSpPr>
          <p:spPr bwMode="auto">
            <a:xfrm>
              <a:off x="0" y="0"/>
              <a:ext cx="1649" cy="295"/>
            </a:xfrm>
            <a:prstGeom prst="rect">
              <a:avLst/>
            </a:prstGeom>
            <a:solidFill>
              <a:srgbClr val="0066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6" name="Text Box 34"/>
            <p:cNvSpPr txBox="1">
              <a:spLocks noChangeArrowheads="1"/>
            </p:cNvSpPr>
            <p:nvPr/>
          </p:nvSpPr>
          <p:spPr bwMode="auto">
            <a:xfrm>
              <a:off x="46" y="32"/>
              <a:ext cx="164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GB" altLang="en-US" sz="1900">
                  <a:solidFill>
                    <a:schemeClr val="bg1"/>
                  </a:solidFill>
                  <a:ea typeface="黑体" panose="02010609060101010101" pitchFamily="49" charset="-122"/>
                </a:rPr>
                <a:t>PC</a:t>
              </a:r>
              <a:endParaRPr lang="en-US" altLang="zh-CN" sz="1900">
                <a:solidFill>
                  <a:schemeClr val="bg1"/>
                </a:solidFill>
                <a:ea typeface="黑体" panose="02010609060101010101" pitchFamily="49" charset="-122"/>
              </a:endParaRPr>
            </a:p>
          </p:txBody>
        </p:sp>
      </p:grpSp>
      <p:grpSp>
        <p:nvGrpSpPr>
          <p:cNvPr id="37" name="Group 35"/>
          <p:cNvGrpSpPr/>
          <p:nvPr/>
        </p:nvGrpSpPr>
        <p:grpSpPr bwMode="auto">
          <a:xfrm>
            <a:off x="4778629" y="3530600"/>
            <a:ext cx="2473325" cy="468313"/>
            <a:chOff x="0" y="0"/>
            <a:chExt cx="1688" cy="295"/>
          </a:xfrm>
        </p:grpSpPr>
        <p:sp>
          <p:nvSpPr>
            <p:cNvPr id="38" name="Rectangle 36"/>
            <p:cNvSpPr>
              <a:spLocks noChangeArrowheads="1"/>
            </p:cNvSpPr>
            <p:nvPr/>
          </p:nvSpPr>
          <p:spPr bwMode="auto">
            <a:xfrm>
              <a:off x="0" y="0"/>
              <a:ext cx="1649" cy="295"/>
            </a:xfrm>
            <a:prstGeom prst="rect">
              <a:avLst/>
            </a:prstGeom>
            <a:solidFill>
              <a:srgbClr val="0066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39" name="Text Box 37"/>
            <p:cNvSpPr txBox="1">
              <a:spLocks noChangeArrowheads="1"/>
            </p:cNvSpPr>
            <p:nvPr/>
          </p:nvSpPr>
          <p:spPr bwMode="auto">
            <a:xfrm>
              <a:off x="46" y="32"/>
              <a:ext cx="164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1900">
                  <a:solidFill>
                    <a:schemeClr val="bg1"/>
                  </a:solidFill>
                  <a:ea typeface="黑体" panose="02010609060101010101" pitchFamily="49" charset="-122"/>
                </a:rPr>
                <a:t>C/S</a:t>
              </a:r>
              <a:endParaRPr lang="en-US" altLang="zh-CN" sz="1900">
                <a:solidFill>
                  <a:schemeClr val="bg1"/>
                </a:solidFill>
                <a:ea typeface="黑体" panose="02010609060101010101" pitchFamily="49" charset="-122"/>
              </a:endParaRPr>
            </a:p>
          </p:txBody>
        </p:sp>
      </p:grpSp>
      <p:grpSp>
        <p:nvGrpSpPr>
          <p:cNvPr id="40" name="Group 38"/>
          <p:cNvGrpSpPr/>
          <p:nvPr/>
        </p:nvGrpSpPr>
        <p:grpSpPr bwMode="auto">
          <a:xfrm>
            <a:off x="7398004" y="3530600"/>
            <a:ext cx="2473325" cy="468313"/>
            <a:chOff x="0" y="0"/>
            <a:chExt cx="1688" cy="295"/>
          </a:xfrm>
        </p:grpSpPr>
        <p:sp>
          <p:nvSpPr>
            <p:cNvPr id="41" name="Rectangle 39"/>
            <p:cNvSpPr>
              <a:spLocks noChangeArrowheads="1"/>
            </p:cNvSpPr>
            <p:nvPr/>
          </p:nvSpPr>
          <p:spPr bwMode="auto">
            <a:xfrm>
              <a:off x="0" y="0"/>
              <a:ext cx="1649" cy="295"/>
            </a:xfrm>
            <a:prstGeom prst="rect">
              <a:avLst/>
            </a:prstGeom>
            <a:solidFill>
              <a:srgbClr val="0066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42" name="Text Box 40"/>
            <p:cNvSpPr txBox="1">
              <a:spLocks noChangeArrowheads="1"/>
            </p:cNvSpPr>
            <p:nvPr/>
          </p:nvSpPr>
          <p:spPr bwMode="auto">
            <a:xfrm>
              <a:off x="46" y="32"/>
              <a:ext cx="164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1900">
                  <a:solidFill>
                    <a:schemeClr val="bg1"/>
                  </a:solidFill>
                  <a:ea typeface="黑体" panose="02010609060101010101" pitchFamily="49" charset="-122"/>
                </a:rPr>
                <a:t>云计算</a:t>
              </a:r>
              <a:endParaRPr lang="zh-CN" altLang="en-US" sz="1900">
                <a:solidFill>
                  <a:schemeClr val="bg1"/>
                </a:solidFill>
                <a:ea typeface="黑体" panose="02010609060101010101" pitchFamily="49" charset="-122"/>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天下大势，合久必分，分久必合，计算机技术的分合演义</a:t>
            </a:r>
            <a:endParaRPr lang="en-US" altLang="zh-CN" dirty="0"/>
          </a:p>
          <a:p>
            <a:pPr lvl="1"/>
            <a:r>
              <a:rPr lang="zh-CN" altLang="en-US" dirty="0"/>
              <a:t>早期计算技术以“合”为特征</a:t>
            </a:r>
            <a:r>
              <a:rPr lang="en-US" altLang="zh-CN" dirty="0"/>
              <a:t>:</a:t>
            </a:r>
            <a:r>
              <a:rPr lang="zh-CN" altLang="en-US" dirty="0"/>
              <a:t>曲高和寡</a:t>
            </a:r>
            <a:endParaRPr lang="zh-CN" altLang="en-US" dirty="0"/>
          </a:p>
          <a:p>
            <a:pPr lvl="1"/>
            <a:r>
              <a:rPr lang="en-US" altLang="zh-CN" dirty="0"/>
              <a:t>PC</a:t>
            </a:r>
            <a:r>
              <a:rPr lang="zh-CN" altLang="en-US" dirty="0"/>
              <a:t>的发展使“分”成为了主流</a:t>
            </a:r>
            <a:r>
              <a:rPr lang="en-US" altLang="zh-CN" dirty="0"/>
              <a:t>:</a:t>
            </a:r>
            <a:endParaRPr lang="en-US" altLang="zh-CN" dirty="0"/>
          </a:p>
          <a:p>
            <a:pPr lvl="2"/>
            <a:r>
              <a:rPr lang="zh-CN" altLang="en-US" dirty="0"/>
              <a:t>旧时王谢堂前燕，飞入寻常百姓家</a:t>
            </a:r>
            <a:endParaRPr lang="en-US" altLang="zh-CN" dirty="0"/>
          </a:p>
          <a:p>
            <a:pPr lvl="1"/>
            <a:r>
              <a:rPr lang="zh-CN" altLang="en-US" dirty="0"/>
              <a:t>网络技术的发展使云计算成为了“合”的模式，计算和存储通过网络隐于云端：</a:t>
            </a:r>
            <a:endParaRPr lang="en-US" altLang="zh-CN" dirty="0"/>
          </a:p>
          <a:p>
            <a:pPr lvl="2"/>
            <a:r>
              <a:rPr lang="zh-CN" altLang="en-US" dirty="0"/>
              <a:t>大象无形</a:t>
            </a:r>
            <a:endParaRPr lang="zh-CN" altLang="en-US" dirty="0"/>
          </a:p>
          <a:p>
            <a:pPr lvl="2"/>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pic>
        <p:nvPicPr>
          <p:cNvPr id="6" name="Picture 4" descr="ENIA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6321" y="4286017"/>
            <a:ext cx="2409825"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8708" y="4322530"/>
            <a:ext cx="2736850"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2896" y="4359042"/>
            <a:ext cx="2879725"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云计算体系结构</a:t>
            </a:r>
            <a:endParaRPr lang="en-US" altLang="zh-CN" dirty="0"/>
          </a:p>
          <a:p>
            <a:pPr lvl="1"/>
            <a:r>
              <a:rPr lang="zh-CN" altLang="en-US" dirty="0"/>
              <a:t>云计算的基本原理是通过使计算分布在大量的分布式计算机上，而非本地计算机或远程服务器中，企业数据中心的运行将更与互联网相似。</a:t>
            </a:r>
            <a:endParaRPr lang="zh-CN" altLang="en-US" dirty="0"/>
          </a:p>
          <a:p>
            <a:pPr lvl="1"/>
            <a:r>
              <a:rPr lang="zh-CN" altLang="en-US" dirty="0"/>
              <a:t>这使得企业能够将资源切换到需要的应用上，根据需求访问计算机和存储系统。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云计算发展路线</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11.2 </a:t>
            </a:r>
            <a:r>
              <a:rPr lang="zh-CN" altLang="en-US" dirty="0"/>
              <a:t>云计算</a:t>
            </a:r>
            <a:endParaRPr lang="zh-CN" altLang="en-US" dirty="0"/>
          </a:p>
        </p:txBody>
      </p:sp>
      <p:grpSp>
        <p:nvGrpSpPr>
          <p:cNvPr id="6" name="Group 3"/>
          <p:cNvGrpSpPr/>
          <p:nvPr/>
        </p:nvGrpSpPr>
        <p:grpSpPr bwMode="auto">
          <a:xfrm>
            <a:off x="3622167" y="1978024"/>
            <a:ext cx="5253038" cy="4560888"/>
            <a:chOff x="0" y="0"/>
            <a:chExt cx="5101" cy="3915"/>
          </a:xfrm>
        </p:grpSpPr>
        <p:pic>
          <p:nvPicPr>
            <p:cNvPr id="7" name="图片 3" descr="ParallelComputing.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5"/>
              <a:ext cx="1350" cy="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4" descr="m_cluster-s.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65" y="0"/>
              <a:ext cx="1305" cy="1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5" descr="concept_Grid_adars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0" y="2250"/>
              <a:ext cx="1591" cy="1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descr="未命名2.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 y="2430"/>
              <a:ext cx="1243" cy="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燕尾形箭头 11"/>
            <p:cNvSpPr>
              <a:spLocks noChangeArrowheads="1"/>
            </p:cNvSpPr>
            <p:nvPr/>
          </p:nvSpPr>
          <p:spPr bwMode="auto">
            <a:xfrm>
              <a:off x="1890" y="540"/>
              <a:ext cx="617" cy="305"/>
            </a:xfrm>
            <a:prstGeom prst="notchedRightArrow">
              <a:avLst>
                <a:gd name="adj1" fmla="val 50000"/>
                <a:gd name="adj2" fmla="val 49871"/>
              </a:avLst>
            </a:prstGeom>
            <a:solidFill>
              <a:schemeClr val="accent1"/>
            </a:solidFill>
            <a:ln w="25400">
              <a:solidFill>
                <a:srgbClr val="A5B3BC"/>
              </a:solidFill>
              <a:miter lim="800000"/>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Times New Roman" panose="02020603050405020304" pitchFamily="18" charset="0"/>
              </a:endParaRPr>
            </a:p>
          </p:txBody>
        </p:sp>
        <p:sp>
          <p:nvSpPr>
            <p:cNvPr id="12" name="燕尾形箭头 12"/>
            <p:cNvSpPr>
              <a:spLocks noChangeArrowheads="1"/>
            </p:cNvSpPr>
            <p:nvPr/>
          </p:nvSpPr>
          <p:spPr bwMode="auto">
            <a:xfrm rot="10800000">
              <a:off x="2340" y="2610"/>
              <a:ext cx="617" cy="305"/>
            </a:xfrm>
            <a:prstGeom prst="notchedRightArrow">
              <a:avLst>
                <a:gd name="adj1" fmla="val 50000"/>
                <a:gd name="adj2" fmla="val 49890"/>
              </a:avLst>
            </a:prstGeom>
            <a:solidFill>
              <a:schemeClr val="accent1"/>
            </a:solidFill>
            <a:ln w="55000" cmpd="thickThin">
              <a:solidFill>
                <a:srgbClr val="1E768C"/>
              </a:solidFill>
              <a:miter lim="800000"/>
            </a:ln>
          </p:spPr>
          <p:txBody>
            <a:bodyPr rot="1080000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Times New Roman" panose="02020603050405020304" pitchFamily="18" charset="0"/>
              </a:endParaRPr>
            </a:p>
          </p:txBody>
        </p:sp>
        <p:sp>
          <p:nvSpPr>
            <p:cNvPr id="13" name="燕尾形箭头 13"/>
            <p:cNvSpPr>
              <a:spLocks noChangeArrowheads="1"/>
            </p:cNvSpPr>
            <p:nvPr/>
          </p:nvSpPr>
          <p:spPr bwMode="auto">
            <a:xfrm rot="5400000">
              <a:off x="3956" y="1534"/>
              <a:ext cx="616" cy="305"/>
            </a:xfrm>
            <a:prstGeom prst="notchedRightArrow">
              <a:avLst>
                <a:gd name="adj1" fmla="val 50000"/>
                <a:gd name="adj2" fmla="val 49893"/>
              </a:avLst>
            </a:prstGeom>
            <a:solidFill>
              <a:schemeClr val="accent1"/>
            </a:solidFill>
            <a:ln w="55000" cmpd="thickThin">
              <a:solidFill>
                <a:srgbClr val="1E768C"/>
              </a:solidFill>
              <a:miter lim="800000"/>
            </a:ln>
          </p:spPr>
          <p:txBody>
            <a:bodyPr rot="10800000" vert="eaVert"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Times New Roman" panose="02020603050405020304" pitchFamily="18" charset="0"/>
              </a:endParaRPr>
            </a:p>
          </p:txBody>
        </p:sp>
        <p:sp>
          <p:nvSpPr>
            <p:cNvPr id="14" name="TextBox 14"/>
            <p:cNvSpPr txBox="1">
              <a:spLocks noChangeArrowheads="1"/>
            </p:cNvSpPr>
            <p:nvPr/>
          </p:nvSpPr>
          <p:spPr bwMode="auto">
            <a:xfrm>
              <a:off x="0" y="1305"/>
              <a:ext cx="1067"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a:latin typeface="Lucida Sans Unicode" panose="020B0602030504020204" pitchFamily="34" charset="0"/>
                  <a:ea typeface="黑体" panose="02010609060101010101" pitchFamily="49" charset="-122"/>
                </a:rPr>
                <a:t>并行计算</a:t>
              </a:r>
              <a:endParaRPr lang="zh-CN" altLang="en-US">
                <a:latin typeface="Lucida Sans Unicode" panose="020B0602030504020204" pitchFamily="34" charset="0"/>
                <a:ea typeface="黑体" panose="02010609060101010101" pitchFamily="49" charset="-122"/>
              </a:endParaRPr>
            </a:p>
          </p:txBody>
        </p:sp>
        <p:sp>
          <p:nvSpPr>
            <p:cNvPr id="15" name="TextBox 15"/>
            <p:cNvSpPr txBox="1">
              <a:spLocks noChangeArrowheads="1"/>
            </p:cNvSpPr>
            <p:nvPr/>
          </p:nvSpPr>
          <p:spPr bwMode="auto">
            <a:xfrm>
              <a:off x="3781" y="1126"/>
              <a:ext cx="1067"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a:latin typeface="Lucida Sans Unicode" panose="020B0602030504020204" pitchFamily="34" charset="0"/>
                  <a:ea typeface="黑体" panose="02010609060101010101" pitchFamily="49" charset="-122"/>
                </a:rPr>
                <a:t>集群计算</a:t>
              </a:r>
              <a:endParaRPr lang="zh-CN" altLang="en-US">
                <a:latin typeface="Lucida Sans Unicode" panose="020B0602030504020204" pitchFamily="34" charset="0"/>
                <a:ea typeface="黑体" panose="02010609060101010101" pitchFamily="49" charset="-122"/>
              </a:endParaRPr>
            </a:p>
          </p:txBody>
        </p:sp>
        <p:sp>
          <p:nvSpPr>
            <p:cNvPr id="16" name="TextBox 16"/>
            <p:cNvSpPr txBox="1">
              <a:spLocks noChangeArrowheads="1"/>
            </p:cNvSpPr>
            <p:nvPr/>
          </p:nvSpPr>
          <p:spPr bwMode="auto">
            <a:xfrm>
              <a:off x="3690" y="3600"/>
              <a:ext cx="1067"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a:latin typeface="Lucida Sans Unicode" panose="020B0602030504020204" pitchFamily="34" charset="0"/>
                  <a:ea typeface="黑体" panose="02010609060101010101" pitchFamily="49" charset="-122"/>
                </a:rPr>
                <a:t>网格计算</a:t>
              </a:r>
              <a:endParaRPr lang="zh-CN" altLang="en-US">
                <a:latin typeface="Lucida Sans Unicode" panose="020B0602030504020204" pitchFamily="34" charset="0"/>
                <a:ea typeface="黑体" panose="02010609060101010101" pitchFamily="49" charset="-122"/>
              </a:endParaRPr>
            </a:p>
          </p:txBody>
        </p:sp>
        <p:sp>
          <p:nvSpPr>
            <p:cNvPr id="17" name="TextBox 17"/>
            <p:cNvSpPr txBox="1">
              <a:spLocks noChangeArrowheads="1"/>
            </p:cNvSpPr>
            <p:nvPr/>
          </p:nvSpPr>
          <p:spPr bwMode="auto">
            <a:xfrm>
              <a:off x="179" y="2205"/>
              <a:ext cx="845"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a:latin typeface="Lucida Sans Unicode" panose="020B0602030504020204" pitchFamily="34" charset="0"/>
                  <a:ea typeface="黑体" panose="02010609060101010101" pitchFamily="49" charset="-122"/>
                </a:rPr>
                <a:t>云计算</a:t>
              </a:r>
              <a:endParaRPr lang="zh-CN" altLang="en-US">
                <a:latin typeface="Lucida Sans Unicode" panose="020B0602030504020204" pitchFamily="34" charset="0"/>
                <a:ea typeface="黑体" panose="02010609060101010101" pitchFamily="49" charset="-122"/>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什么是云数据管理？</a:t>
            </a:r>
            <a:endParaRPr lang="en-US" altLang="zh-CN" dirty="0"/>
          </a:p>
          <a:p>
            <a:pPr lvl="1"/>
            <a:r>
              <a:rPr lang="zh-CN" altLang="en-US" dirty="0"/>
              <a:t>目前还没有统一定义！</a:t>
            </a:r>
            <a:endParaRPr lang="zh-CN" altLang="en-US" dirty="0"/>
          </a:p>
          <a:p>
            <a:pPr lvl="1"/>
            <a:r>
              <a:rPr lang="zh-CN" altLang="en-US" dirty="0"/>
              <a:t>一般认为，云数据管理是指对存储在云计算环境下的海量数据资源进行有效组织管理、运行维护的大型分布式数据管理体系架构。</a:t>
            </a:r>
            <a:endParaRPr lang="zh-CN" altLang="en-US" dirty="0"/>
          </a:p>
          <a:p>
            <a:pPr lvl="1"/>
            <a:r>
              <a:rPr lang="zh-CN" altLang="en-US" dirty="0"/>
              <a:t>从面向服务的角度看，云数据管理又可称为</a:t>
            </a:r>
            <a:r>
              <a:rPr lang="en-US" altLang="zh-CN" dirty="0"/>
              <a:t>DaaS(Data as a Service</a:t>
            </a:r>
            <a:r>
              <a:rPr lang="zh-CN" altLang="en-US" dirty="0"/>
              <a:t>，数据即服务</a:t>
            </a:r>
            <a:r>
              <a:rPr lang="en-US" altLang="zh-CN" dirty="0"/>
              <a:t>)</a:t>
            </a:r>
            <a:r>
              <a:rPr lang="zh-CN" altLang="en-US" dirty="0"/>
              <a:t>，即以新一代大规模分布式云存储为基础的数据服务系统，其核心是以</a:t>
            </a:r>
            <a:r>
              <a:rPr lang="en-US" altLang="zh-CN" dirty="0"/>
              <a:t>No SQL(New SQL)</a:t>
            </a:r>
            <a:r>
              <a:rPr lang="zh-CN" altLang="en-US" dirty="0"/>
              <a:t>为代表的新一代云数据存储</a:t>
            </a:r>
            <a:r>
              <a:rPr lang="en-US" altLang="zh-CN" dirty="0"/>
              <a:t>(</a:t>
            </a:r>
            <a:r>
              <a:rPr lang="zh-CN" altLang="en-US" dirty="0"/>
              <a:t>库</a:t>
            </a:r>
            <a:r>
              <a:rPr lang="en-US" altLang="zh-CN" dirty="0"/>
              <a:t>)</a:t>
            </a:r>
            <a:r>
              <a:rPr lang="zh-CN" altLang="en-US" dirty="0"/>
              <a:t>系统。</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云数据管理的背景</a:t>
            </a:r>
            <a:endParaRPr lang="en-US" altLang="zh-CN" dirty="0"/>
          </a:p>
          <a:p>
            <a:pPr lvl="1"/>
            <a:r>
              <a:rPr lang="zh-CN" altLang="en-US" dirty="0"/>
              <a:t>随着互联网的日益普及和</a:t>
            </a:r>
            <a:r>
              <a:rPr lang="en-US" altLang="zh-CN" dirty="0"/>
              <a:t>IT </a:t>
            </a:r>
            <a:r>
              <a:rPr lang="zh-CN" altLang="en-US" dirty="0"/>
              <a:t>技术的迅猛发展，互联网上的数据急剧膨胀，如何存储和管理海量数据已成为一个亟待解决的挑战性问题。</a:t>
            </a:r>
            <a:endParaRPr lang="zh-CN" altLang="en-US" dirty="0"/>
          </a:p>
          <a:p>
            <a:pPr lvl="1"/>
            <a:r>
              <a:rPr lang="zh-CN" altLang="en-US" dirty="0"/>
              <a:t>为此，云计算的概念应运而生，并彻底改变了数据存储的基础架构。</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云数据管理的背景</a:t>
            </a:r>
            <a:endParaRPr lang="en-US" altLang="zh-CN" dirty="0"/>
          </a:p>
          <a:p>
            <a:pPr lvl="1"/>
            <a:r>
              <a:rPr lang="en-US" altLang="zh-CN" dirty="0"/>
              <a:t>Web</a:t>
            </a:r>
            <a:r>
              <a:rPr lang="zh-CN" altLang="en-US" dirty="0"/>
              <a:t>应用作为推动云计算发展的主力，正快速的普及成熟起来，它需要能够按需进行扩展，企业都希望他们的</a:t>
            </a:r>
            <a:r>
              <a:rPr lang="en-US" altLang="zh-CN" dirty="0"/>
              <a:t>Web</a:t>
            </a:r>
            <a:r>
              <a:rPr lang="zh-CN" altLang="en-US" dirty="0"/>
              <a:t>应用系统能够应对不断增长的用户量和数据量，以及适应用户和其它开发人员对</a:t>
            </a:r>
            <a:r>
              <a:rPr lang="en-US" altLang="zh-CN" dirty="0"/>
              <a:t>WEB</a:t>
            </a:r>
            <a:r>
              <a:rPr lang="zh-CN" altLang="en-US" dirty="0"/>
              <a:t>应用系统的高吞吐量和低响应时间的要求。</a:t>
            </a:r>
            <a:endParaRPr lang="zh-CN" altLang="en-US" dirty="0"/>
          </a:p>
          <a:p>
            <a:pPr lvl="1"/>
            <a:r>
              <a:rPr lang="zh-CN" altLang="en-US" dirty="0"/>
              <a:t>系统必须以低延迟的响应速度</a:t>
            </a:r>
            <a:r>
              <a:rPr lang="en-US" altLang="zh-CN" dirty="0"/>
              <a:t>(</a:t>
            </a:r>
            <a:r>
              <a:rPr lang="zh-CN" altLang="en-US" dirty="0"/>
              <a:t>几十毫秒</a:t>
            </a:r>
            <a:r>
              <a:rPr lang="en-US" altLang="zh-CN" dirty="0"/>
              <a:t>)</a:t>
            </a:r>
            <a:r>
              <a:rPr lang="zh-CN" altLang="en-US" dirty="0"/>
              <a:t>、高吞吐量</a:t>
            </a:r>
            <a:r>
              <a:rPr lang="en-US" altLang="zh-CN" dirty="0"/>
              <a:t>(</a:t>
            </a:r>
            <a:r>
              <a:rPr lang="zh-CN" altLang="en-US" dirty="0"/>
              <a:t>每秒上万的读写</a:t>
            </a:r>
            <a:r>
              <a:rPr lang="en-US" altLang="zh-CN" dirty="0"/>
              <a:t>)</a:t>
            </a:r>
            <a:r>
              <a:rPr lang="zh-CN" altLang="en-US" dirty="0"/>
              <a:t>为世界范围内的用户请求提供服务。</a:t>
            </a:r>
            <a:endParaRPr lang="zh-CN" altLang="en-US" dirty="0"/>
          </a:p>
          <a:p>
            <a:pPr lvl="1"/>
            <a:r>
              <a:rPr lang="zh-CN" altLang="en-US" dirty="0"/>
              <a:t>并且，应用必须具备高可用性，长期维持最小的运维成本。</a:t>
            </a:r>
            <a:endParaRPr lang="zh-CN" altLang="en-US" dirty="0"/>
          </a:p>
          <a:p>
            <a:pPr lvl="1"/>
            <a:r>
              <a:rPr lang="zh-CN" altLang="en-US" dirty="0"/>
              <a:t>但是，如果</a:t>
            </a:r>
            <a:r>
              <a:rPr lang="en-US" altLang="zh-CN" dirty="0"/>
              <a:t>WEB</a:t>
            </a:r>
            <a:r>
              <a:rPr lang="zh-CN" altLang="en-US" dirty="0"/>
              <a:t>应用系统仍然依赖传统的关系</a:t>
            </a:r>
            <a:r>
              <a:rPr lang="en-US" altLang="zh-CN" dirty="0"/>
              <a:t>(SQL)</a:t>
            </a:r>
            <a:r>
              <a:rPr lang="zh-CN" altLang="en-US" dirty="0"/>
              <a:t>数据库系统，我们会发现数据存储将成为最大的瓶颈。</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云数据的特点</a:t>
            </a:r>
            <a:endParaRPr lang="en-US" altLang="zh-CN" dirty="0"/>
          </a:p>
          <a:p>
            <a:pPr lvl="1"/>
            <a:r>
              <a:rPr lang="zh-CN" altLang="en-US" dirty="0"/>
              <a:t>海量性</a:t>
            </a:r>
            <a:endParaRPr lang="zh-CN" altLang="en-US" dirty="0"/>
          </a:p>
          <a:p>
            <a:pPr lvl="1"/>
            <a:endParaRPr lang="zh-CN" altLang="en-US" dirty="0"/>
          </a:p>
          <a:p>
            <a:pPr lvl="1"/>
            <a:r>
              <a:rPr lang="zh-CN" altLang="en-US" dirty="0"/>
              <a:t>异构性</a:t>
            </a:r>
            <a:endParaRPr lang="zh-CN" altLang="en-US" dirty="0"/>
          </a:p>
          <a:p>
            <a:pPr lvl="1"/>
            <a:endParaRPr lang="zh-CN" altLang="en-US" dirty="0"/>
          </a:p>
          <a:p>
            <a:pPr lvl="1"/>
            <a:r>
              <a:rPr lang="zh-CN" altLang="en-US" dirty="0"/>
              <a:t>不确定性</a:t>
            </a:r>
            <a:endParaRPr lang="zh-CN" altLang="en-US" dirty="0"/>
          </a:p>
          <a:p>
            <a:pPr lvl="1"/>
            <a:endParaRPr lang="zh-CN" altLang="en-US" dirty="0"/>
          </a:p>
          <a:p>
            <a:pPr lvl="1"/>
            <a:r>
              <a:rPr lang="zh-CN" altLang="en-US" dirty="0"/>
              <a:t>容错性</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传统关系型数据库的限制</a:t>
            </a:r>
            <a:endParaRPr lang="en-US" altLang="zh-CN" dirty="0"/>
          </a:p>
          <a:p>
            <a:pPr lvl="1"/>
            <a:r>
              <a:rPr lang="zh-CN" altLang="en-US" dirty="0"/>
              <a:t>扩展困难</a:t>
            </a:r>
            <a:endParaRPr lang="zh-CN" altLang="en-US" dirty="0"/>
          </a:p>
          <a:p>
            <a:pPr lvl="1"/>
            <a:endParaRPr lang="zh-CN" altLang="en-US" dirty="0"/>
          </a:p>
          <a:p>
            <a:pPr lvl="1"/>
            <a:r>
              <a:rPr lang="zh-CN" altLang="en-US" dirty="0"/>
              <a:t>读写速度慢</a:t>
            </a:r>
            <a:endParaRPr lang="zh-CN" altLang="en-US" dirty="0"/>
          </a:p>
          <a:p>
            <a:pPr lvl="1"/>
            <a:endParaRPr lang="zh-CN" altLang="en-US" dirty="0"/>
          </a:p>
          <a:p>
            <a:pPr lvl="1"/>
            <a:r>
              <a:rPr lang="zh-CN" altLang="en-US" dirty="0"/>
              <a:t>成本高</a:t>
            </a:r>
            <a:endParaRPr lang="zh-CN" altLang="en-US" dirty="0"/>
          </a:p>
          <a:p>
            <a:pPr lvl="1"/>
            <a:endParaRPr lang="zh-CN" altLang="en-US" dirty="0"/>
          </a:p>
          <a:p>
            <a:pPr lvl="1"/>
            <a:r>
              <a:rPr lang="zh-CN" altLang="en-US" dirty="0"/>
              <a:t>有限的支撑容量</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云数据管理的需求</a:t>
            </a:r>
            <a:endParaRPr lang="en-US" altLang="zh-CN" dirty="0"/>
          </a:p>
          <a:p>
            <a:pPr lvl="1"/>
            <a:r>
              <a:rPr lang="zh-CN" altLang="en-US" dirty="0"/>
              <a:t>低延迟的读写速度</a:t>
            </a:r>
            <a:endParaRPr lang="zh-CN" altLang="en-US" dirty="0"/>
          </a:p>
          <a:p>
            <a:pPr lvl="1"/>
            <a:endParaRPr lang="zh-CN" altLang="en-US" dirty="0"/>
          </a:p>
          <a:p>
            <a:pPr lvl="1"/>
            <a:r>
              <a:rPr lang="zh-CN" altLang="en-US" dirty="0"/>
              <a:t>支撑海量的数据和流量</a:t>
            </a:r>
            <a:endParaRPr lang="zh-CN" altLang="en-US" dirty="0"/>
          </a:p>
          <a:p>
            <a:pPr lvl="1"/>
            <a:endParaRPr lang="zh-CN" altLang="en-US" dirty="0"/>
          </a:p>
          <a:p>
            <a:pPr lvl="1"/>
            <a:r>
              <a:rPr lang="zh-CN" altLang="en-US" dirty="0"/>
              <a:t>大规模集群的管理</a:t>
            </a:r>
            <a:endParaRPr lang="zh-CN" altLang="en-US" dirty="0"/>
          </a:p>
          <a:p>
            <a:pPr lvl="1"/>
            <a:endParaRPr lang="zh-CN" altLang="en-US" dirty="0"/>
          </a:p>
          <a:p>
            <a:pPr lvl="1"/>
            <a:r>
              <a:rPr lang="zh-CN" altLang="en-US" dirty="0"/>
              <a:t>庞大运营成本的考量</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云数据管理准则</a:t>
            </a:r>
            <a:r>
              <a:rPr lang="en-US" altLang="zh-CN" dirty="0"/>
              <a:t>(1)</a:t>
            </a:r>
            <a:endParaRPr lang="en-US" altLang="zh-CN" dirty="0"/>
          </a:p>
          <a:p>
            <a:pPr lvl="1"/>
            <a:r>
              <a:rPr lang="zh-CN" altLang="en-US" dirty="0"/>
              <a:t>切分万物以治之</a:t>
            </a:r>
            <a:endParaRPr lang="zh-CN" altLang="en-US" dirty="0"/>
          </a:p>
          <a:p>
            <a:pPr lvl="1"/>
            <a:endParaRPr lang="zh-CN" altLang="en-US" dirty="0"/>
          </a:p>
          <a:p>
            <a:pPr lvl="1"/>
            <a:r>
              <a:rPr lang="en-US" altLang="zh-CN" dirty="0"/>
              <a:t>Partition Everything  and key-value storage</a:t>
            </a:r>
            <a:endParaRPr lang="en-US" altLang="zh-CN" dirty="0"/>
          </a:p>
          <a:p>
            <a:pPr lvl="1"/>
            <a:endParaRPr lang="en-US" altLang="zh-CN" dirty="0"/>
          </a:p>
          <a:p>
            <a:pPr lvl="1"/>
            <a:r>
              <a:rPr lang="zh-CN" altLang="en-US" dirty="0"/>
              <a:t>数据库的第一范式无法满足</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云数据管理准则</a:t>
            </a:r>
            <a:r>
              <a:rPr lang="en-US" altLang="zh-CN" dirty="0"/>
              <a:t>(2)</a:t>
            </a:r>
            <a:endParaRPr lang="en-US" altLang="zh-CN" dirty="0"/>
          </a:p>
          <a:p>
            <a:pPr lvl="1"/>
            <a:r>
              <a:rPr lang="zh-CN" altLang="en-US" dirty="0"/>
              <a:t>容不同乃成大同</a:t>
            </a:r>
            <a:endParaRPr lang="zh-CN" altLang="en-US" dirty="0"/>
          </a:p>
          <a:p>
            <a:pPr lvl="1"/>
            <a:endParaRPr lang="zh-CN" altLang="en-US" dirty="0"/>
          </a:p>
          <a:p>
            <a:pPr lvl="1"/>
            <a:r>
              <a:rPr lang="en-US" altLang="zh-CN" dirty="0"/>
              <a:t>Embrace Inconsistency </a:t>
            </a:r>
            <a:endParaRPr lang="en-US" altLang="zh-CN" dirty="0"/>
          </a:p>
          <a:p>
            <a:pPr lvl="1"/>
            <a:endParaRPr lang="en-US" altLang="zh-CN" dirty="0"/>
          </a:p>
          <a:p>
            <a:pPr lvl="1"/>
            <a:r>
              <a:rPr lang="zh-CN" altLang="en-US" dirty="0"/>
              <a:t>数据库的</a:t>
            </a:r>
            <a:r>
              <a:rPr lang="en-US" altLang="zh-CN" dirty="0"/>
              <a:t>ACID</a:t>
            </a:r>
            <a:r>
              <a:rPr lang="zh-CN" altLang="en-US" dirty="0"/>
              <a:t>属性无法满足。</a:t>
            </a:r>
            <a:endParaRPr lang="zh-CN" altLang="en-US" dirty="0"/>
          </a:p>
          <a:p>
            <a:pPr lvl="1"/>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云数据管理准则</a:t>
            </a:r>
            <a:r>
              <a:rPr lang="en-US" altLang="zh-CN" dirty="0"/>
              <a:t>(3)</a:t>
            </a:r>
            <a:endParaRPr lang="en-US" altLang="zh-CN" dirty="0"/>
          </a:p>
          <a:p>
            <a:pPr lvl="1"/>
            <a:r>
              <a:rPr lang="zh-CN" altLang="en-US" dirty="0"/>
              <a:t>狡兔三窟方高枕</a:t>
            </a:r>
            <a:endParaRPr lang="zh-CN" altLang="en-US" dirty="0"/>
          </a:p>
          <a:p>
            <a:pPr lvl="1"/>
            <a:endParaRPr lang="zh-CN" altLang="en-US" dirty="0"/>
          </a:p>
          <a:p>
            <a:pPr lvl="1"/>
            <a:r>
              <a:rPr lang="en-US" altLang="zh-CN" dirty="0"/>
              <a:t>Backup everything with three copies</a:t>
            </a:r>
            <a:endParaRPr lang="en-US" altLang="zh-CN" dirty="0"/>
          </a:p>
          <a:p>
            <a:pPr lvl="1"/>
            <a:endParaRPr lang="en-US" altLang="zh-CN" dirty="0"/>
          </a:p>
          <a:p>
            <a:pPr lvl="1"/>
            <a:r>
              <a:rPr lang="zh-CN" altLang="en-US" dirty="0"/>
              <a:t>每个数据都有三个备份，达到 </a:t>
            </a:r>
            <a:r>
              <a:rPr lang="en-US" altLang="zh-CN" dirty="0"/>
              <a:t>99.999%</a:t>
            </a:r>
            <a:r>
              <a:rPr lang="zh-CN" altLang="en-US" dirty="0"/>
              <a:t>的可用性。</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云数据管理准则</a:t>
            </a:r>
            <a:r>
              <a:rPr lang="en-US" altLang="zh-CN" dirty="0"/>
              <a:t>(4)</a:t>
            </a:r>
            <a:endParaRPr lang="en-US" altLang="zh-CN" dirty="0"/>
          </a:p>
          <a:p>
            <a:pPr lvl="1"/>
            <a:r>
              <a:rPr lang="zh-CN" altLang="en-US" dirty="0"/>
              <a:t>运筹沧海量兼容</a:t>
            </a:r>
            <a:endParaRPr lang="zh-CN" altLang="en-US" dirty="0"/>
          </a:p>
          <a:p>
            <a:pPr lvl="1"/>
            <a:endParaRPr lang="zh-CN" altLang="en-US" dirty="0"/>
          </a:p>
          <a:p>
            <a:pPr lvl="1"/>
            <a:r>
              <a:rPr lang="en-US" altLang="zh-CN" dirty="0"/>
              <a:t>Scalable and high performance</a:t>
            </a:r>
            <a:endParaRPr lang="en-US" altLang="zh-CN" dirty="0"/>
          </a:p>
          <a:p>
            <a:pPr lvl="1"/>
            <a:endParaRPr lang="en-US" altLang="zh-CN" dirty="0"/>
          </a:p>
          <a:p>
            <a:pPr lvl="1"/>
            <a:r>
              <a:rPr lang="zh-CN" altLang="en-US" dirty="0"/>
              <a:t>提供一个可伸缩的，处理和分析海量数据的平台。</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云数据管理的理论基础</a:t>
            </a:r>
            <a:endParaRPr lang="en-US" altLang="zh-CN" dirty="0"/>
          </a:p>
          <a:p>
            <a:pPr lvl="1"/>
            <a:r>
              <a:rPr lang="en-US" altLang="zh-CN" dirty="0"/>
              <a:t>CAP</a:t>
            </a:r>
            <a:r>
              <a:rPr lang="zh-CN" altLang="en-US" dirty="0"/>
              <a:t>定理</a:t>
            </a:r>
            <a:endParaRPr lang="zh-CN" altLang="en-US" dirty="0"/>
          </a:p>
          <a:p>
            <a:pPr lvl="1"/>
            <a:endParaRPr lang="zh-CN" altLang="en-US" dirty="0"/>
          </a:p>
          <a:p>
            <a:pPr lvl="1"/>
            <a:r>
              <a:rPr lang="en-US" altLang="zh-CN" dirty="0"/>
              <a:t>BASE</a:t>
            </a:r>
            <a:r>
              <a:rPr lang="zh-CN" altLang="en-US" dirty="0"/>
              <a:t>特性</a:t>
            </a:r>
            <a:endParaRPr lang="zh-CN" altLang="en-US" dirty="0"/>
          </a:p>
          <a:p>
            <a:pPr lvl="1"/>
            <a:endParaRPr lang="zh-CN" altLang="en-US" dirty="0"/>
          </a:p>
          <a:p>
            <a:pPr lvl="1"/>
            <a:r>
              <a:rPr lang="zh-CN" altLang="en-US" dirty="0"/>
              <a:t>一致性哈希</a:t>
            </a:r>
            <a:endParaRPr lang="zh-CN" altLang="en-US" dirty="0"/>
          </a:p>
          <a:p>
            <a:pPr lvl="1"/>
            <a:endParaRPr lang="zh-CN" altLang="en-US" dirty="0"/>
          </a:p>
          <a:p>
            <a:pPr lvl="1"/>
            <a:r>
              <a:rPr lang="en-US" altLang="zh-CN" dirty="0"/>
              <a:t>PAXOS</a:t>
            </a:r>
            <a:r>
              <a:rPr lang="zh-CN" altLang="en-US" dirty="0"/>
              <a:t>算法</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定理的起源</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
        <p:nvSpPr>
          <p:cNvPr id="64" name="Rectangle 3"/>
          <p:cNvSpPr>
            <a:spLocks noChangeArrowheads="1"/>
          </p:cNvSpPr>
          <p:nvPr/>
        </p:nvSpPr>
        <p:spPr bwMode="auto">
          <a:xfrm>
            <a:off x="3084727" y="3392255"/>
            <a:ext cx="63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65" name="Rectangle 4"/>
          <p:cNvSpPr>
            <a:spLocks noChangeArrowheads="1"/>
          </p:cNvSpPr>
          <p:nvPr/>
        </p:nvSpPr>
        <p:spPr bwMode="auto">
          <a:xfrm>
            <a:off x="4773827" y="3392255"/>
            <a:ext cx="63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66" name="Text Box 20"/>
          <p:cNvSpPr>
            <a:spLocks noChangeArrowheads="1"/>
          </p:cNvSpPr>
          <p:nvPr/>
        </p:nvSpPr>
        <p:spPr bwMode="auto">
          <a:xfrm>
            <a:off x="4240427" y="4757505"/>
            <a:ext cx="18415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b="1">
              <a:solidFill>
                <a:srgbClr val="000000"/>
              </a:solidFill>
              <a:sym typeface="微软雅黑" panose="020B0503020204020204" pitchFamily="34" charset="-122"/>
            </a:endParaRPr>
          </a:p>
        </p:txBody>
      </p:sp>
      <p:sp>
        <p:nvSpPr>
          <p:cNvPr id="67" name="Text Box 23"/>
          <p:cNvSpPr>
            <a:spLocks noChangeArrowheads="1"/>
          </p:cNvSpPr>
          <p:nvPr/>
        </p:nvSpPr>
        <p:spPr bwMode="auto">
          <a:xfrm>
            <a:off x="1973477" y="1730142"/>
            <a:ext cx="82804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Char char="•"/>
            </a:pPr>
            <a:endParaRPr lang="zh-CN" altLang="en-US"/>
          </a:p>
        </p:txBody>
      </p:sp>
      <p:sp>
        <p:nvSpPr>
          <p:cNvPr id="68" name="Rectangle 3"/>
          <p:cNvSpPr>
            <a:spLocks noChangeArrowheads="1"/>
          </p:cNvSpPr>
          <p:nvPr/>
        </p:nvSpPr>
        <p:spPr bwMode="auto">
          <a:xfrm>
            <a:off x="3448265" y="6025917"/>
            <a:ext cx="63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69" name="Rectangle 4"/>
          <p:cNvSpPr>
            <a:spLocks noChangeArrowheads="1"/>
          </p:cNvSpPr>
          <p:nvPr/>
        </p:nvSpPr>
        <p:spPr bwMode="auto">
          <a:xfrm>
            <a:off x="5137365" y="6025917"/>
            <a:ext cx="63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70" name="Text Box 11"/>
          <p:cNvSpPr txBox="1">
            <a:spLocks noChangeArrowheads="1"/>
          </p:cNvSpPr>
          <p:nvPr/>
        </p:nvSpPr>
        <p:spPr bwMode="auto">
          <a:xfrm>
            <a:off x="3989602" y="3243030"/>
            <a:ext cx="62658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p>
        </p:txBody>
      </p:sp>
      <p:sp>
        <p:nvSpPr>
          <p:cNvPr id="71" name="Text Box 12"/>
          <p:cNvSpPr txBox="1">
            <a:spLocks noChangeArrowheads="1"/>
          </p:cNvSpPr>
          <p:nvPr/>
        </p:nvSpPr>
        <p:spPr bwMode="auto">
          <a:xfrm>
            <a:off x="2287802" y="2198455"/>
            <a:ext cx="6311900"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p:txBody>
      </p:sp>
      <p:sp>
        <p:nvSpPr>
          <p:cNvPr id="72" name="Text Box 13"/>
          <p:cNvSpPr txBox="1">
            <a:spLocks noChangeArrowheads="1"/>
          </p:cNvSpPr>
          <p:nvPr/>
        </p:nvSpPr>
        <p:spPr bwMode="auto">
          <a:xfrm>
            <a:off x="2287802" y="2198455"/>
            <a:ext cx="746442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b="1"/>
          </a:p>
          <a:p>
            <a:pPr eaLnBrk="1" hangingPunct="1">
              <a:buFont typeface="Arial" panose="020B0604020202020204" pitchFamily="34" charset="0"/>
              <a:buNone/>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p:txBody>
      </p:sp>
      <p:cxnSp>
        <p:nvCxnSpPr>
          <p:cNvPr id="73" name="直接连接符 106"/>
          <p:cNvCxnSpPr>
            <a:cxnSpLocks noChangeShapeType="1"/>
          </p:cNvCxnSpPr>
          <p:nvPr/>
        </p:nvCxnSpPr>
        <p:spPr bwMode="auto">
          <a:xfrm>
            <a:off x="6078752" y="1153880"/>
            <a:ext cx="0" cy="6350000"/>
          </a:xfrm>
          <a:prstGeom prst="line">
            <a:avLst/>
          </a:prstGeom>
          <a:noFill/>
          <a:ln w="28575">
            <a:solidFill>
              <a:srgbClr val="595959"/>
            </a:solidFill>
            <a:prstDash val="sysDash"/>
            <a:bevel/>
          </a:ln>
          <a:extLst>
            <a:ext uri="{909E8E84-426E-40DD-AFC4-6F175D3DCCD1}">
              <a14:hiddenFill xmlns:a14="http://schemas.microsoft.com/office/drawing/2010/main">
                <a:noFill/>
              </a14:hiddenFill>
            </a:ext>
          </a:extLst>
        </p:spPr>
      </p:cxnSp>
      <p:grpSp>
        <p:nvGrpSpPr>
          <p:cNvPr id="74" name="椭圆 107"/>
          <p:cNvGrpSpPr/>
          <p:nvPr/>
        </p:nvGrpSpPr>
        <p:grpSpPr bwMode="auto">
          <a:xfrm>
            <a:off x="5945402" y="2133367"/>
            <a:ext cx="266700" cy="274638"/>
            <a:chOff x="0" y="0"/>
            <a:chExt cx="169" cy="173"/>
          </a:xfrm>
        </p:grpSpPr>
        <p:pic>
          <p:nvPicPr>
            <p:cNvPr id="75" name="椭圆 107"/>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Text Box 17"/>
            <p:cNvSpPr txBox="1">
              <a:spLocks noChangeArrowheads="1"/>
            </p:cNvSpPr>
            <p:nvPr/>
          </p:nvSpPr>
          <p:spPr bwMode="auto">
            <a:xfrm>
              <a:off x="36" y="39"/>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nvGrpSpPr>
          <p:cNvPr id="77" name="组合 108"/>
          <p:cNvGrpSpPr/>
          <p:nvPr/>
        </p:nvGrpSpPr>
        <p:grpSpPr bwMode="auto">
          <a:xfrm>
            <a:off x="6316877" y="1585680"/>
            <a:ext cx="3486150" cy="1368425"/>
            <a:chOff x="0" y="0"/>
            <a:chExt cx="3485521" cy="1368152"/>
          </a:xfrm>
        </p:grpSpPr>
        <p:grpSp>
          <p:nvGrpSpPr>
            <p:cNvPr id="78" name="组合 109"/>
            <p:cNvGrpSpPr/>
            <p:nvPr/>
          </p:nvGrpSpPr>
          <p:grpSpPr bwMode="auto">
            <a:xfrm rot="-5400000">
              <a:off x="-177003" y="244557"/>
              <a:ext cx="1259892" cy="905886"/>
              <a:chOff x="0" y="0"/>
              <a:chExt cx="1584236" cy="1236493"/>
            </a:xfrm>
          </p:grpSpPr>
          <p:sp>
            <p:nvSpPr>
              <p:cNvPr id="82" name="等腰三角形 111"/>
              <p:cNvSpPr>
                <a:spLocks noChangeArrowheads="1"/>
              </p:cNvSpPr>
              <p:nvPr/>
            </p:nvSpPr>
            <p:spPr bwMode="auto">
              <a:xfrm>
                <a:off x="60" y="12357"/>
                <a:ext cx="1584176" cy="1224136"/>
              </a:xfrm>
              <a:prstGeom prst="triangle">
                <a:avLst>
                  <a:gd name="adj" fmla="val 50000"/>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sp>
            <p:nvSpPr>
              <p:cNvPr id="83" name="等腰三角形 7"/>
              <p:cNvSpPr>
                <a:spLocks noChangeArrowheads="1"/>
              </p:cNvSpPr>
              <p:nvPr/>
            </p:nvSpPr>
            <p:spPr bwMode="auto">
              <a:xfrm>
                <a:off x="0" y="0"/>
                <a:ext cx="805701" cy="1224136"/>
              </a:xfrm>
              <a:custGeom>
                <a:avLst/>
                <a:gdLst>
                  <a:gd name="T0" fmla="*/ 0 w 805701"/>
                  <a:gd name="T1" fmla="*/ 1224136 h 1224136"/>
                  <a:gd name="T2" fmla="*/ 792088 w 805701"/>
                  <a:gd name="T3" fmla="*/ 0 h 1224136"/>
                  <a:gd name="T4" fmla="*/ 805701 w 805701"/>
                  <a:gd name="T5" fmla="*/ 1224136 h 1224136"/>
                  <a:gd name="T6" fmla="*/ 0 w 805701"/>
                  <a:gd name="T7" fmla="*/ 1224136 h 12241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05701" h="1224136">
                    <a:moveTo>
                      <a:pt x="0" y="1224136"/>
                    </a:moveTo>
                    <a:lnTo>
                      <a:pt x="792088" y="0"/>
                    </a:lnTo>
                    <a:lnTo>
                      <a:pt x="805701" y="1224136"/>
                    </a:lnTo>
                    <a:lnTo>
                      <a:pt x="0" y="1224136"/>
                    </a:lnTo>
                    <a:close/>
                  </a:path>
                </a:pathLst>
              </a:custGeom>
              <a:solidFill>
                <a:srgbClr val="007CA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79" name="矩形 4"/>
            <p:cNvGrpSpPr/>
            <p:nvPr/>
          </p:nvGrpSpPr>
          <p:grpSpPr bwMode="auto">
            <a:xfrm>
              <a:off x="528878" y="-7280"/>
              <a:ext cx="2962656" cy="1383792"/>
              <a:chOff x="0" y="0"/>
              <a:chExt cx="2962656" cy="1383792"/>
            </a:xfrm>
          </p:grpSpPr>
          <p:pic>
            <p:nvPicPr>
              <p:cNvPr id="80" name="矩形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962656" cy="138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24"/>
              <p:cNvSpPr txBox="1">
                <a:spLocks noChangeArrowheads="1"/>
              </p:cNvSpPr>
              <p:nvPr/>
            </p:nvSpPr>
            <p:spPr bwMode="auto">
              <a:xfrm>
                <a:off x="4315" y="7280"/>
                <a:ext cx="295232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grpSp>
        <p:nvGrpSpPr>
          <p:cNvPr id="84" name="椭圆 113"/>
          <p:cNvGrpSpPr/>
          <p:nvPr/>
        </p:nvGrpSpPr>
        <p:grpSpPr bwMode="auto">
          <a:xfrm>
            <a:off x="5934290" y="3458930"/>
            <a:ext cx="274637" cy="273050"/>
            <a:chOff x="0" y="0"/>
            <a:chExt cx="173" cy="172"/>
          </a:xfrm>
        </p:grpSpPr>
        <p:pic>
          <p:nvPicPr>
            <p:cNvPr id="85" name="椭圆 11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73"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Text Box 27"/>
            <p:cNvSpPr txBox="1">
              <a:spLocks noChangeArrowheads="1"/>
            </p:cNvSpPr>
            <p:nvPr/>
          </p:nvSpPr>
          <p:spPr bwMode="auto">
            <a:xfrm>
              <a:off x="39" y="38"/>
              <a:ext cx="9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nvGrpSpPr>
          <p:cNvPr id="87" name="组合 114"/>
          <p:cNvGrpSpPr/>
          <p:nvPr/>
        </p:nvGrpSpPr>
        <p:grpSpPr bwMode="auto">
          <a:xfrm flipH="1">
            <a:off x="2332252" y="2811230"/>
            <a:ext cx="3486150" cy="1584325"/>
            <a:chOff x="0" y="0"/>
            <a:chExt cx="3485521" cy="1368152"/>
          </a:xfrm>
        </p:grpSpPr>
        <p:grpSp>
          <p:nvGrpSpPr>
            <p:cNvPr id="88" name="组合 115"/>
            <p:cNvGrpSpPr/>
            <p:nvPr/>
          </p:nvGrpSpPr>
          <p:grpSpPr bwMode="auto">
            <a:xfrm rot="-5400000">
              <a:off x="-177003" y="244557"/>
              <a:ext cx="1259892" cy="905886"/>
              <a:chOff x="0" y="0"/>
              <a:chExt cx="1584236" cy="1236493"/>
            </a:xfrm>
          </p:grpSpPr>
          <p:sp>
            <p:nvSpPr>
              <p:cNvPr id="92" name="等腰三角形 117"/>
              <p:cNvSpPr>
                <a:spLocks noChangeArrowheads="1"/>
              </p:cNvSpPr>
              <p:nvPr/>
            </p:nvSpPr>
            <p:spPr bwMode="auto">
              <a:xfrm>
                <a:off x="60" y="12357"/>
                <a:ext cx="1584176" cy="1224136"/>
              </a:xfrm>
              <a:prstGeom prst="triangle">
                <a:avLst>
                  <a:gd name="adj" fmla="val 50000"/>
                </a:avLst>
              </a:prstGeom>
              <a:solidFill>
                <a:srgbClr val="F8A76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sp>
            <p:nvSpPr>
              <p:cNvPr id="93" name="等腰三角形 7"/>
              <p:cNvSpPr>
                <a:spLocks noChangeArrowheads="1"/>
              </p:cNvSpPr>
              <p:nvPr/>
            </p:nvSpPr>
            <p:spPr bwMode="auto">
              <a:xfrm>
                <a:off x="0" y="0"/>
                <a:ext cx="805701" cy="1224136"/>
              </a:xfrm>
              <a:custGeom>
                <a:avLst/>
                <a:gdLst>
                  <a:gd name="T0" fmla="*/ 0 w 805701"/>
                  <a:gd name="T1" fmla="*/ 1224136 h 1224136"/>
                  <a:gd name="T2" fmla="*/ 792088 w 805701"/>
                  <a:gd name="T3" fmla="*/ 0 h 1224136"/>
                  <a:gd name="T4" fmla="*/ 805701 w 805701"/>
                  <a:gd name="T5" fmla="*/ 1224136 h 1224136"/>
                  <a:gd name="T6" fmla="*/ 0 w 805701"/>
                  <a:gd name="T7" fmla="*/ 1224136 h 12241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05701" h="1224136">
                    <a:moveTo>
                      <a:pt x="0" y="1224136"/>
                    </a:moveTo>
                    <a:lnTo>
                      <a:pt x="792088" y="0"/>
                    </a:lnTo>
                    <a:lnTo>
                      <a:pt x="805701" y="1224136"/>
                    </a:lnTo>
                    <a:lnTo>
                      <a:pt x="0" y="1224136"/>
                    </a:lnTo>
                    <a:close/>
                  </a:path>
                </a:pathLst>
              </a:custGeom>
              <a:solidFill>
                <a:srgbClr val="E46C0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89" name="矩形 4"/>
            <p:cNvGrpSpPr/>
            <p:nvPr/>
          </p:nvGrpSpPr>
          <p:grpSpPr bwMode="auto">
            <a:xfrm flipH="1">
              <a:off x="525969" y="-6120"/>
              <a:ext cx="2962656" cy="1377696"/>
              <a:chOff x="0" y="0"/>
              <a:chExt cx="2962656" cy="1377696"/>
            </a:xfrm>
          </p:grpSpPr>
          <p:pic>
            <p:nvPicPr>
              <p:cNvPr id="90" name="矩形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62656" cy="13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Text Box 34"/>
              <p:cNvSpPr txBox="1">
                <a:spLocks noChangeArrowheads="1"/>
              </p:cNvSpPr>
              <p:nvPr/>
            </p:nvSpPr>
            <p:spPr bwMode="auto">
              <a:xfrm>
                <a:off x="3104" y="6120"/>
                <a:ext cx="295232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grpSp>
        <p:nvGrpSpPr>
          <p:cNvPr id="94" name="椭圆 119"/>
          <p:cNvGrpSpPr/>
          <p:nvPr/>
        </p:nvGrpSpPr>
        <p:grpSpPr bwMode="auto">
          <a:xfrm>
            <a:off x="5945402" y="4535255"/>
            <a:ext cx="266700" cy="274637"/>
            <a:chOff x="0" y="0"/>
            <a:chExt cx="169" cy="173"/>
          </a:xfrm>
        </p:grpSpPr>
        <p:pic>
          <p:nvPicPr>
            <p:cNvPr id="95" name="椭圆 119"/>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Text Box 37"/>
            <p:cNvSpPr txBox="1">
              <a:spLocks noChangeArrowheads="1"/>
            </p:cNvSpPr>
            <p:nvPr/>
          </p:nvSpPr>
          <p:spPr bwMode="auto">
            <a:xfrm>
              <a:off x="36" y="37"/>
              <a:ext cx="9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nvGrpSpPr>
          <p:cNvPr id="97" name="组合 120"/>
          <p:cNvGrpSpPr/>
          <p:nvPr/>
        </p:nvGrpSpPr>
        <p:grpSpPr bwMode="auto">
          <a:xfrm>
            <a:off x="6316877" y="4006617"/>
            <a:ext cx="3486150" cy="1368425"/>
            <a:chOff x="0" y="0"/>
            <a:chExt cx="3485521" cy="1368152"/>
          </a:xfrm>
        </p:grpSpPr>
        <p:grpSp>
          <p:nvGrpSpPr>
            <p:cNvPr id="98" name="组合 121"/>
            <p:cNvGrpSpPr/>
            <p:nvPr/>
          </p:nvGrpSpPr>
          <p:grpSpPr bwMode="auto">
            <a:xfrm rot="-5400000">
              <a:off x="-177003" y="244557"/>
              <a:ext cx="1259892" cy="905886"/>
              <a:chOff x="0" y="0"/>
              <a:chExt cx="1584236" cy="1236493"/>
            </a:xfrm>
          </p:grpSpPr>
          <p:sp>
            <p:nvSpPr>
              <p:cNvPr id="102" name="等腰三角形 123"/>
              <p:cNvSpPr>
                <a:spLocks noChangeArrowheads="1"/>
              </p:cNvSpPr>
              <p:nvPr/>
            </p:nvSpPr>
            <p:spPr bwMode="auto">
              <a:xfrm>
                <a:off x="60" y="12357"/>
                <a:ext cx="1584176" cy="1224136"/>
              </a:xfrm>
              <a:prstGeom prst="triangle">
                <a:avLst>
                  <a:gd name="adj" fmla="val 50000"/>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sp>
            <p:nvSpPr>
              <p:cNvPr id="103" name="等腰三角形 7"/>
              <p:cNvSpPr>
                <a:spLocks noChangeArrowheads="1"/>
              </p:cNvSpPr>
              <p:nvPr/>
            </p:nvSpPr>
            <p:spPr bwMode="auto">
              <a:xfrm>
                <a:off x="0" y="0"/>
                <a:ext cx="805701" cy="1224136"/>
              </a:xfrm>
              <a:custGeom>
                <a:avLst/>
                <a:gdLst>
                  <a:gd name="T0" fmla="*/ 0 w 805701"/>
                  <a:gd name="T1" fmla="*/ 1224136 h 1224136"/>
                  <a:gd name="T2" fmla="*/ 792088 w 805701"/>
                  <a:gd name="T3" fmla="*/ 0 h 1224136"/>
                  <a:gd name="T4" fmla="*/ 805701 w 805701"/>
                  <a:gd name="T5" fmla="*/ 1224136 h 1224136"/>
                  <a:gd name="T6" fmla="*/ 0 w 805701"/>
                  <a:gd name="T7" fmla="*/ 1224136 h 12241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05701" h="1224136">
                    <a:moveTo>
                      <a:pt x="0" y="1224136"/>
                    </a:moveTo>
                    <a:lnTo>
                      <a:pt x="792088" y="0"/>
                    </a:lnTo>
                    <a:lnTo>
                      <a:pt x="805701" y="1224136"/>
                    </a:lnTo>
                    <a:lnTo>
                      <a:pt x="0" y="1224136"/>
                    </a:lnTo>
                    <a:close/>
                  </a:path>
                </a:pathLst>
              </a:custGeom>
              <a:solidFill>
                <a:srgbClr val="007CA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99" name="矩形 4"/>
            <p:cNvGrpSpPr/>
            <p:nvPr/>
          </p:nvGrpSpPr>
          <p:grpSpPr bwMode="auto">
            <a:xfrm>
              <a:off x="528878" y="-7549"/>
              <a:ext cx="2962656" cy="1383792"/>
              <a:chOff x="0" y="0"/>
              <a:chExt cx="2962656" cy="1383792"/>
            </a:xfrm>
          </p:grpSpPr>
          <p:pic>
            <p:nvPicPr>
              <p:cNvPr id="100" name="矩形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962656" cy="138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Text Box 44"/>
              <p:cNvSpPr txBox="1">
                <a:spLocks noChangeArrowheads="1"/>
              </p:cNvSpPr>
              <p:nvPr/>
            </p:nvSpPr>
            <p:spPr bwMode="auto">
              <a:xfrm>
                <a:off x="4315" y="7549"/>
                <a:ext cx="295232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grpSp>
        <p:nvGrpSpPr>
          <p:cNvPr id="104" name="椭圆 125"/>
          <p:cNvGrpSpPr/>
          <p:nvPr/>
        </p:nvGrpSpPr>
        <p:grpSpPr bwMode="auto">
          <a:xfrm>
            <a:off x="5939052" y="5736992"/>
            <a:ext cx="273050" cy="268288"/>
            <a:chOff x="0" y="0"/>
            <a:chExt cx="173" cy="169"/>
          </a:xfrm>
        </p:grpSpPr>
        <p:pic>
          <p:nvPicPr>
            <p:cNvPr id="105" name="椭圆 12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73"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Text Box 47"/>
            <p:cNvSpPr txBox="1">
              <a:spLocks noChangeArrowheads="1"/>
            </p:cNvSpPr>
            <p:nvPr/>
          </p:nvSpPr>
          <p:spPr bwMode="auto">
            <a:xfrm>
              <a:off x="39" y="36"/>
              <a:ext cx="9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nvGrpSpPr>
          <p:cNvPr id="107" name="组合 126"/>
          <p:cNvGrpSpPr/>
          <p:nvPr/>
        </p:nvGrpSpPr>
        <p:grpSpPr bwMode="auto">
          <a:xfrm flipH="1">
            <a:off x="2478302" y="5114692"/>
            <a:ext cx="3486150" cy="1511300"/>
            <a:chOff x="0" y="0"/>
            <a:chExt cx="3485521" cy="1368152"/>
          </a:xfrm>
        </p:grpSpPr>
        <p:grpSp>
          <p:nvGrpSpPr>
            <p:cNvPr id="108" name="组合 127"/>
            <p:cNvGrpSpPr/>
            <p:nvPr/>
          </p:nvGrpSpPr>
          <p:grpSpPr bwMode="auto">
            <a:xfrm rot="-5400000">
              <a:off x="-177003" y="244557"/>
              <a:ext cx="1259892" cy="905886"/>
              <a:chOff x="0" y="0"/>
              <a:chExt cx="1584236" cy="1236493"/>
            </a:xfrm>
          </p:grpSpPr>
          <p:sp>
            <p:nvSpPr>
              <p:cNvPr id="112" name="等腰三角形 129"/>
              <p:cNvSpPr>
                <a:spLocks noChangeArrowheads="1"/>
              </p:cNvSpPr>
              <p:nvPr/>
            </p:nvSpPr>
            <p:spPr bwMode="auto">
              <a:xfrm>
                <a:off x="60" y="12357"/>
                <a:ext cx="1584176" cy="1224136"/>
              </a:xfrm>
              <a:prstGeom prst="triangle">
                <a:avLst>
                  <a:gd name="adj" fmla="val 50000"/>
                </a:avLst>
              </a:prstGeom>
              <a:solidFill>
                <a:srgbClr val="F8A764"/>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sp>
            <p:nvSpPr>
              <p:cNvPr id="113" name="等腰三角形 7"/>
              <p:cNvSpPr>
                <a:spLocks noChangeArrowheads="1"/>
              </p:cNvSpPr>
              <p:nvPr/>
            </p:nvSpPr>
            <p:spPr bwMode="auto">
              <a:xfrm>
                <a:off x="0" y="0"/>
                <a:ext cx="805701" cy="1224136"/>
              </a:xfrm>
              <a:custGeom>
                <a:avLst/>
                <a:gdLst>
                  <a:gd name="T0" fmla="*/ 0 w 805701"/>
                  <a:gd name="T1" fmla="*/ 1224136 h 1224136"/>
                  <a:gd name="T2" fmla="*/ 792088 w 805701"/>
                  <a:gd name="T3" fmla="*/ 0 h 1224136"/>
                  <a:gd name="T4" fmla="*/ 805701 w 805701"/>
                  <a:gd name="T5" fmla="*/ 1224136 h 1224136"/>
                  <a:gd name="T6" fmla="*/ 0 w 805701"/>
                  <a:gd name="T7" fmla="*/ 1224136 h 12241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05701" h="1224136">
                    <a:moveTo>
                      <a:pt x="0" y="1224136"/>
                    </a:moveTo>
                    <a:lnTo>
                      <a:pt x="792088" y="0"/>
                    </a:lnTo>
                    <a:lnTo>
                      <a:pt x="805701" y="1224136"/>
                    </a:lnTo>
                    <a:lnTo>
                      <a:pt x="0" y="1224136"/>
                    </a:lnTo>
                    <a:close/>
                  </a:path>
                </a:pathLst>
              </a:custGeom>
              <a:solidFill>
                <a:srgbClr val="E46C0A"/>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09" name="矩形 4"/>
            <p:cNvGrpSpPr/>
            <p:nvPr/>
          </p:nvGrpSpPr>
          <p:grpSpPr bwMode="auto">
            <a:xfrm flipH="1">
              <a:off x="525969" y="-4944"/>
              <a:ext cx="2962656" cy="1377696"/>
              <a:chOff x="0" y="0"/>
              <a:chExt cx="2962656" cy="1377696"/>
            </a:xfrm>
          </p:grpSpPr>
          <p:pic>
            <p:nvPicPr>
              <p:cNvPr id="110" name="矩形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62656" cy="137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 name="Text Box 54"/>
              <p:cNvSpPr txBox="1">
                <a:spLocks noChangeArrowheads="1"/>
              </p:cNvSpPr>
              <p:nvPr/>
            </p:nvSpPr>
            <p:spPr bwMode="auto">
              <a:xfrm>
                <a:off x="3104" y="4944"/>
                <a:ext cx="295232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latin typeface="Calibri" panose="020F0502020204030204" pitchFamily="34" charset="0"/>
                </a:endParaRPr>
              </a:p>
            </p:txBody>
          </p:sp>
        </p:grpSp>
      </p:grpSp>
      <p:sp>
        <p:nvSpPr>
          <p:cNvPr id="114" name="TextBox 131"/>
          <p:cNvSpPr txBox="1">
            <a:spLocks noChangeArrowheads="1"/>
          </p:cNvSpPr>
          <p:nvPr/>
        </p:nvSpPr>
        <p:spPr bwMode="auto">
          <a:xfrm>
            <a:off x="6223215" y="5475055"/>
            <a:ext cx="9858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zh-CN" altLang="en-US" sz="2800" b="1">
                <a:solidFill>
                  <a:srgbClr val="595959"/>
                </a:solidFill>
                <a:latin typeface="Bell MT" panose="02020503060305020303" pitchFamily="18" charset="0"/>
                <a:ea typeface="微软雅黑" panose="020B0503020204020204" pitchFamily="34" charset="-122"/>
                <a:sym typeface="Arial" panose="020B0604020202020204" pitchFamily="34" charset="0"/>
              </a:rPr>
              <a:t>now</a:t>
            </a:r>
            <a:endParaRPr lang="en-US" altLang="zh-CN" sz="2800" b="1">
              <a:solidFill>
                <a:srgbClr val="595959"/>
              </a:solidFill>
              <a:latin typeface="Bell MT" panose="02020503060305020303" pitchFamily="18" charset="0"/>
              <a:ea typeface="微软雅黑" panose="020B0503020204020204" pitchFamily="34" charset="-122"/>
              <a:sym typeface="Arial" panose="020B0604020202020204" pitchFamily="34" charset="0"/>
            </a:endParaRPr>
          </a:p>
        </p:txBody>
      </p:sp>
      <p:sp>
        <p:nvSpPr>
          <p:cNvPr id="115" name="TextBox 132"/>
          <p:cNvSpPr txBox="1">
            <a:spLocks noChangeArrowheads="1"/>
          </p:cNvSpPr>
          <p:nvPr/>
        </p:nvSpPr>
        <p:spPr bwMode="auto">
          <a:xfrm>
            <a:off x="5008777" y="4287605"/>
            <a:ext cx="9842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en-US" altLang="zh-CN" sz="2800" b="1">
                <a:solidFill>
                  <a:srgbClr val="595959"/>
                </a:solidFill>
                <a:latin typeface="Bell MT" panose="02020503060305020303" pitchFamily="18" charset="0"/>
                <a:ea typeface="微软雅黑" panose="020B0503020204020204" pitchFamily="34" charset="-122"/>
                <a:sym typeface="Arial" panose="020B0604020202020204" pitchFamily="34" charset="0"/>
              </a:rPr>
              <a:t>20</a:t>
            </a:r>
            <a:r>
              <a:rPr lang="zh-CN" altLang="en-US" sz="2800" b="1">
                <a:solidFill>
                  <a:srgbClr val="595959"/>
                </a:solidFill>
                <a:latin typeface="Bell MT" panose="02020503060305020303" pitchFamily="18" charset="0"/>
                <a:ea typeface="微软雅黑" panose="020B0503020204020204" pitchFamily="34" charset="-122"/>
                <a:sym typeface="Arial" panose="020B0604020202020204" pitchFamily="34" charset="0"/>
              </a:rPr>
              <a:t>02</a:t>
            </a:r>
            <a:endParaRPr lang="zh-CN" altLang="en-US" sz="2800" b="1">
              <a:solidFill>
                <a:srgbClr val="595959"/>
              </a:solidFill>
              <a:latin typeface="Bell MT" panose="02020503060305020303" pitchFamily="18" charset="0"/>
              <a:ea typeface="微软雅黑" panose="020B0503020204020204" pitchFamily="34" charset="-122"/>
              <a:sym typeface="Arial" panose="020B0604020202020204" pitchFamily="34" charset="0"/>
            </a:endParaRPr>
          </a:p>
        </p:txBody>
      </p:sp>
      <p:sp>
        <p:nvSpPr>
          <p:cNvPr id="116" name="TextBox 133"/>
          <p:cNvSpPr txBox="1">
            <a:spLocks noChangeArrowheads="1"/>
          </p:cNvSpPr>
          <p:nvPr/>
        </p:nvSpPr>
        <p:spPr bwMode="auto">
          <a:xfrm>
            <a:off x="6367677" y="3170005"/>
            <a:ext cx="9874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zh-CN" altLang="en-US" sz="2800" b="1">
                <a:solidFill>
                  <a:srgbClr val="595959"/>
                </a:solidFill>
                <a:latin typeface="Bell MT" panose="02020503060305020303" pitchFamily="18" charset="0"/>
                <a:ea typeface="微软雅黑" panose="020B0503020204020204" pitchFamily="34" charset="-122"/>
              </a:rPr>
              <a:t>2000</a:t>
            </a:r>
            <a:endParaRPr lang="en-US" altLang="zh-CN" sz="4800" b="1">
              <a:solidFill>
                <a:srgbClr val="595959"/>
              </a:solidFill>
              <a:latin typeface="Bell MT" panose="02020503060305020303" pitchFamily="18" charset="0"/>
              <a:ea typeface="微软雅黑" panose="020B0503020204020204" pitchFamily="34" charset="-122"/>
            </a:endParaRPr>
          </a:p>
        </p:txBody>
      </p:sp>
      <p:sp>
        <p:nvSpPr>
          <p:cNvPr id="117" name="TextBox 134"/>
          <p:cNvSpPr txBox="1">
            <a:spLocks noChangeArrowheads="1"/>
          </p:cNvSpPr>
          <p:nvPr/>
        </p:nvSpPr>
        <p:spPr bwMode="auto">
          <a:xfrm>
            <a:off x="5043702" y="1904767"/>
            <a:ext cx="987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zh-CN" altLang="en-US" sz="2800" b="1">
                <a:solidFill>
                  <a:srgbClr val="595959"/>
                </a:solidFill>
                <a:latin typeface="Bell MT" panose="02020503060305020303" pitchFamily="18" charset="0"/>
                <a:ea typeface="微软雅黑" panose="020B0503020204020204" pitchFamily="34" charset="-122"/>
              </a:rPr>
              <a:t>1985</a:t>
            </a:r>
            <a:endParaRPr lang="en-US" altLang="zh-CN" sz="4800" b="1">
              <a:solidFill>
                <a:srgbClr val="595959"/>
              </a:solidFill>
              <a:latin typeface="Bell MT" panose="02020503060305020303" pitchFamily="18" charset="0"/>
              <a:ea typeface="微软雅黑" panose="020B0503020204020204" pitchFamily="34" charset="-122"/>
            </a:endParaRPr>
          </a:p>
        </p:txBody>
      </p:sp>
      <p:sp>
        <p:nvSpPr>
          <p:cNvPr id="118" name="TextBox 135"/>
          <p:cNvSpPr txBox="1">
            <a:spLocks noChangeArrowheads="1"/>
          </p:cNvSpPr>
          <p:nvPr/>
        </p:nvSpPr>
        <p:spPr bwMode="auto">
          <a:xfrm>
            <a:off x="7177302" y="1690455"/>
            <a:ext cx="252730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zh-CN" altLang="en-US" b="1">
                <a:solidFill>
                  <a:srgbClr val="595959"/>
                </a:solidFill>
                <a:latin typeface="微软雅黑" panose="020B0503020204020204" pitchFamily="34" charset="-122"/>
                <a:ea typeface="微软雅黑" panose="020B0503020204020204" pitchFamily="34" charset="-122"/>
                <a:sym typeface="Arial" panose="020B0604020202020204" pitchFamily="34" charset="0"/>
              </a:rPr>
              <a:t>Lynch证明了异步通信中不存在任何一致性的分布式算法</a:t>
            </a:r>
            <a:endParaRPr lang="zh-CN" altLang="en-US" b="1">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9" name="TextBox 136"/>
          <p:cNvSpPr txBox="1">
            <a:spLocks noChangeArrowheads="1"/>
          </p:cNvSpPr>
          <p:nvPr/>
        </p:nvSpPr>
        <p:spPr bwMode="auto">
          <a:xfrm>
            <a:off x="2417977" y="2914417"/>
            <a:ext cx="25273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zh-CN" altLang="en-US" b="1">
                <a:solidFill>
                  <a:srgbClr val="595959"/>
                </a:solidFill>
                <a:latin typeface="微软雅黑" panose="020B0503020204020204" pitchFamily="34" charset="-122"/>
                <a:ea typeface="微软雅黑" panose="020B0503020204020204" pitchFamily="34" charset="-122"/>
                <a:sym typeface="Arial" panose="020B0604020202020204" pitchFamily="34" charset="0"/>
              </a:rPr>
              <a:t>Brewer教授在提出一致性、可用性和分区容错性</a:t>
            </a:r>
            <a:r>
              <a:rPr lang="en-US" altLang="zh-CN" b="1">
                <a:solidFill>
                  <a:srgbClr val="595959"/>
                </a:solidFill>
                <a:latin typeface="微软雅黑" panose="020B0503020204020204" pitchFamily="34" charset="-122"/>
                <a:ea typeface="微软雅黑" panose="020B0503020204020204" pitchFamily="34" charset="-122"/>
                <a:sym typeface="Arial" panose="020B0604020202020204" pitchFamily="34" charset="0"/>
              </a:rPr>
              <a:t>CAP</a:t>
            </a:r>
            <a:r>
              <a:rPr lang="zh-CN" altLang="en-US" b="1">
                <a:solidFill>
                  <a:srgbClr val="595959"/>
                </a:solidFill>
                <a:latin typeface="微软雅黑" panose="020B0503020204020204" pitchFamily="34" charset="-122"/>
                <a:ea typeface="微软雅黑" panose="020B0503020204020204" pitchFamily="34" charset="-122"/>
                <a:sym typeface="Arial" panose="020B0604020202020204" pitchFamily="34" charset="0"/>
              </a:rPr>
              <a:t>三者无法在分布式系统中被同时满足</a:t>
            </a:r>
            <a:endParaRPr lang="zh-CN" altLang="en-US" b="1">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20" name="TextBox 137"/>
          <p:cNvSpPr txBox="1">
            <a:spLocks noChangeArrowheads="1"/>
          </p:cNvSpPr>
          <p:nvPr/>
        </p:nvSpPr>
        <p:spPr bwMode="auto">
          <a:xfrm>
            <a:off x="2405277" y="4971817"/>
            <a:ext cx="25273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zh-CN" altLang="en-US" sz="1600" b="1">
                <a:solidFill>
                  <a:srgbClr val="595959"/>
                </a:solidFill>
                <a:latin typeface="微软雅黑" panose="020B0503020204020204" pitchFamily="34" charset="-122"/>
                <a:ea typeface="微软雅黑" panose="020B0503020204020204" pitchFamily="34" charset="-122"/>
              </a:rPr>
              <a:t>争论与质疑</a:t>
            </a:r>
            <a:endParaRPr lang="zh-CN" altLang="en-US" sz="1600" b="1">
              <a:solidFill>
                <a:srgbClr val="595959"/>
              </a:solidFill>
              <a:latin typeface="微软雅黑" panose="020B0503020204020204" pitchFamily="34" charset="-122"/>
              <a:ea typeface="微软雅黑" panose="020B0503020204020204" pitchFamily="34" charset="-122"/>
            </a:endParaRPr>
          </a:p>
          <a:p>
            <a:pPr algn="just" eaLnBrk="1" hangingPunct="1">
              <a:lnSpc>
                <a:spcPct val="130000"/>
              </a:lnSpc>
              <a:buFont typeface="Arial" panose="020B0604020202020204" pitchFamily="34" charset="0"/>
              <a:buNone/>
            </a:pPr>
            <a:r>
              <a:rPr lang="zh-CN" altLang="en-US" sz="1600" b="1">
                <a:solidFill>
                  <a:srgbClr val="595959"/>
                </a:solidFill>
                <a:latin typeface="微软雅黑" panose="020B0503020204020204" pitchFamily="34" charset="-122"/>
                <a:ea typeface="微软雅黑" panose="020B0503020204020204" pitchFamily="34" charset="-122"/>
              </a:rPr>
              <a:t>1.CA与CP中C定义不同</a:t>
            </a:r>
            <a:endParaRPr lang="zh-CN" altLang="en-US" sz="1600" b="1">
              <a:solidFill>
                <a:srgbClr val="595959"/>
              </a:solidFill>
              <a:latin typeface="微软雅黑" panose="020B0503020204020204" pitchFamily="34" charset="-122"/>
              <a:ea typeface="微软雅黑" panose="020B0503020204020204" pitchFamily="34" charset="-122"/>
            </a:endParaRPr>
          </a:p>
          <a:p>
            <a:pPr algn="just" eaLnBrk="1" hangingPunct="1">
              <a:lnSpc>
                <a:spcPct val="130000"/>
              </a:lnSpc>
              <a:buFont typeface="Arial" panose="020B0604020202020204" pitchFamily="34" charset="0"/>
              <a:buNone/>
            </a:pPr>
            <a:r>
              <a:rPr lang="zh-CN" altLang="en-US" sz="1600" b="1">
                <a:solidFill>
                  <a:srgbClr val="595959"/>
                </a:solidFill>
                <a:latin typeface="微软雅黑" panose="020B0503020204020204" pitchFamily="34" charset="-122"/>
                <a:ea typeface="微软雅黑" panose="020B0503020204020204" pitchFamily="34" charset="-122"/>
              </a:rPr>
              <a:t>2.不适应数据库事务</a:t>
            </a:r>
            <a:endParaRPr lang="zh-CN" altLang="en-US" sz="1600" b="1">
              <a:solidFill>
                <a:srgbClr val="595959"/>
              </a:solidFill>
              <a:latin typeface="微软雅黑" panose="020B0503020204020204" pitchFamily="34" charset="-122"/>
              <a:ea typeface="微软雅黑" panose="020B0503020204020204" pitchFamily="34" charset="-122"/>
            </a:endParaRPr>
          </a:p>
          <a:p>
            <a:pPr algn="just" eaLnBrk="1" hangingPunct="1">
              <a:lnSpc>
                <a:spcPct val="130000"/>
              </a:lnSpc>
              <a:buFont typeface="Arial" panose="020B0604020202020204" pitchFamily="34" charset="0"/>
              <a:buNone/>
            </a:pPr>
            <a:r>
              <a:rPr lang="zh-CN" altLang="en-US" sz="1600" b="1">
                <a:solidFill>
                  <a:srgbClr val="595959"/>
                </a:solidFill>
                <a:latin typeface="微软雅黑" panose="020B0503020204020204" pitchFamily="34" charset="-122"/>
                <a:ea typeface="微软雅黑" panose="020B0503020204020204" pitchFamily="34" charset="-122"/>
              </a:rPr>
              <a:t>3.分区容错概念模糊等</a:t>
            </a:r>
            <a:endParaRPr lang="zh-CN" altLang="en-US" sz="1600" b="1">
              <a:solidFill>
                <a:srgbClr val="595959"/>
              </a:solidFill>
              <a:latin typeface="微软雅黑" panose="020B0503020204020204" pitchFamily="34" charset="-122"/>
              <a:ea typeface="微软雅黑" panose="020B0503020204020204" pitchFamily="34" charset="-122"/>
            </a:endParaRPr>
          </a:p>
        </p:txBody>
      </p:sp>
      <p:sp>
        <p:nvSpPr>
          <p:cNvPr id="121" name="TextBox 138"/>
          <p:cNvSpPr txBox="1">
            <a:spLocks noChangeArrowheads="1"/>
          </p:cNvSpPr>
          <p:nvPr/>
        </p:nvSpPr>
        <p:spPr bwMode="auto">
          <a:xfrm>
            <a:off x="7212227" y="4111392"/>
            <a:ext cx="25273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r>
              <a:rPr lang="zh-CN" altLang="en-US" b="1">
                <a:solidFill>
                  <a:srgbClr val="595959"/>
                </a:solidFill>
                <a:latin typeface="微软雅黑" panose="020B0503020204020204" pitchFamily="34" charset="-122"/>
                <a:ea typeface="微软雅黑" panose="020B0503020204020204" pitchFamily="34" charset="-122"/>
                <a:sym typeface="Arial" panose="020B0604020202020204" pitchFamily="34" charset="0"/>
              </a:rPr>
              <a:t>Lynch与其他人证明了Brewer猜想，从而把CAP上升为一个定理</a:t>
            </a:r>
            <a:endParaRPr lang="zh-CN" altLang="en-US" b="1">
              <a:solidFill>
                <a:srgbClr val="595959"/>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定理：描述</a:t>
            </a:r>
            <a:endParaRPr lang="en-US" altLang="zh-CN" dirty="0"/>
          </a:p>
          <a:p>
            <a:pPr lvl="1"/>
            <a:r>
              <a:rPr lang="zh-CN" altLang="en-US" dirty="0"/>
              <a:t>一致性</a:t>
            </a:r>
            <a:r>
              <a:rPr lang="en-US" altLang="zh-CN" dirty="0"/>
              <a:t>(Consistency)</a:t>
            </a:r>
            <a:r>
              <a:rPr lang="zh-CN" altLang="en-US" dirty="0"/>
              <a:t>：在分布式系统中的所有数据备份，在同一时刻是否具有同样的值。</a:t>
            </a:r>
            <a:r>
              <a:rPr lang="en-US" altLang="zh-CN" dirty="0"/>
              <a:t>(</a:t>
            </a:r>
            <a:r>
              <a:rPr lang="zh-CN" altLang="en-US" dirty="0"/>
              <a:t>等同于所有节点访问同一份最新的数据副本</a:t>
            </a:r>
            <a:r>
              <a:rPr lang="en-US" altLang="zh-CN" dirty="0"/>
              <a:t>)</a:t>
            </a:r>
            <a:endParaRPr lang="en-US" altLang="zh-CN" dirty="0"/>
          </a:p>
          <a:p>
            <a:pPr lvl="1"/>
            <a:r>
              <a:rPr lang="zh-CN" altLang="en-US" dirty="0"/>
              <a:t>可用性</a:t>
            </a:r>
            <a:r>
              <a:rPr lang="en-US" altLang="zh-CN" dirty="0"/>
              <a:t>(Availability)</a:t>
            </a:r>
            <a:r>
              <a:rPr lang="zh-CN" altLang="en-US" dirty="0"/>
              <a:t>：在集群中一部分节点故障后，集群整体是否还能响应客户端的读写请求。</a:t>
            </a:r>
            <a:r>
              <a:rPr lang="en-US" altLang="zh-CN" dirty="0"/>
              <a:t>(</a:t>
            </a:r>
            <a:r>
              <a:rPr lang="zh-CN" altLang="en-US" dirty="0"/>
              <a:t>每一个操作总是能够在一定的时间内返回结果</a:t>
            </a:r>
            <a:r>
              <a:rPr lang="en-US" altLang="zh-CN" dirty="0"/>
              <a:t>)</a:t>
            </a:r>
            <a:endParaRPr lang="en-US" altLang="zh-CN" dirty="0"/>
          </a:p>
          <a:p>
            <a:pPr lvl="1"/>
            <a:r>
              <a:rPr lang="zh-CN" altLang="en-US" dirty="0"/>
              <a:t>分区容忍性</a:t>
            </a:r>
            <a:r>
              <a:rPr lang="en-US" altLang="zh-CN" dirty="0"/>
              <a:t>(Partition tolerance)</a:t>
            </a:r>
            <a:r>
              <a:rPr lang="zh-CN" altLang="en-US" dirty="0"/>
              <a:t>：允许节点之间丢失任意多的消息，当网络分区发生时，节点之间的消息可能会完全丢失</a:t>
            </a:r>
            <a:endParaRPr lang="zh-CN" altLang="en-US" dirty="0"/>
          </a:p>
          <a:p>
            <a:r>
              <a:rPr lang="zh-CN" altLang="en-US" dirty="0"/>
              <a:t>一个分布式系统不可能同时满足一致性，可用性和分区容错性这三个需求，三个要素中最多只能同时满足两点。三者不可兼顾</a:t>
            </a:r>
            <a:endParaRPr lang="zh-CN" altLang="en-US" dirty="0"/>
          </a:p>
          <a:p>
            <a:endParaRPr lang="zh-CN" altLang="en-US" dirty="0"/>
          </a:p>
          <a:p>
            <a:pPr lvl="1"/>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64058" y="1762243"/>
            <a:ext cx="4021137" cy="360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endParaRPr lang="en-US" altLang="zh-CN" dirty="0"/>
          </a:p>
          <a:p>
            <a:pPr lvl="1"/>
            <a:r>
              <a:rPr lang="en-US" altLang="zh-CN" dirty="0"/>
              <a:t>CAP</a:t>
            </a:r>
            <a:r>
              <a:rPr lang="zh-CN" altLang="en-US" dirty="0"/>
              <a:t>定理</a:t>
            </a:r>
            <a:r>
              <a:rPr lang="en-US" altLang="zh-CN" dirty="0"/>
              <a:t>(Brewer's CAP Theorem)</a:t>
            </a:r>
            <a:r>
              <a:rPr lang="zh-CN" altLang="en-US" dirty="0"/>
              <a:t>是云数据管理的理论基础之一。</a:t>
            </a:r>
            <a:endParaRPr lang="zh-CN" altLang="en-US" dirty="0"/>
          </a:p>
          <a:p>
            <a:pPr lvl="1"/>
            <a:r>
              <a:rPr lang="zh-CN" altLang="en-US" dirty="0"/>
              <a:t>它最初是由 </a:t>
            </a:r>
            <a:r>
              <a:rPr lang="en-US" altLang="zh-CN" dirty="0"/>
              <a:t>Eric Brewer</a:t>
            </a:r>
            <a:r>
              <a:rPr lang="zh-CN" altLang="en-US" dirty="0"/>
              <a:t>教授</a:t>
            </a:r>
            <a:r>
              <a:rPr lang="en-US" altLang="zh-CN" dirty="0"/>
              <a:t>(University of California</a:t>
            </a:r>
            <a:r>
              <a:rPr lang="zh-CN" altLang="en-US" dirty="0"/>
              <a:t>，</a:t>
            </a:r>
            <a:r>
              <a:rPr lang="en-US" altLang="zh-CN" dirty="0"/>
              <a:t>Berkeley)</a:t>
            </a:r>
            <a:r>
              <a:rPr lang="zh-CN" altLang="en-US" dirty="0"/>
              <a:t>提出的有关分布式数据共享系统性质一个猜想</a:t>
            </a:r>
            <a:r>
              <a:rPr lang="en-US" altLang="zh-CN" dirty="0"/>
              <a:t>, </a:t>
            </a:r>
            <a:r>
              <a:rPr lang="zh-CN" altLang="en-US" dirty="0"/>
              <a:t>后来</a:t>
            </a:r>
            <a:r>
              <a:rPr lang="en-US" altLang="zh-CN" dirty="0"/>
              <a:t>Seth Gilbert </a:t>
            </a:r>
            <a:r>
              <a:rPr lang="zh-CN" altLang="en-US" dirty="0"/>
              <a:t>和 </a:t>
            </a:r>
            <a:r>
              <a:rPr lang="en-US" altLang="zh-CN" dirty="0"/>
              <a:t>Nancy Lynch</a:t>
            </a:r>
            <a:r>
              <a:rPr lang="zh-CN" altLang="en-US" dirty="0"/>
              <a:t>证明了其正确性</a:t>
            </a:r>
            <a:r>
              <a:rPr lang="en-US" altLang="zh-CN" dirty="0"/>
              <a:t>, </a:t>
            </a:r>
            <a:r>
              <a:rPr lang="zh-CN" altLang="en-US" dirty="0"/>
              <a:t>因此成为定理。</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endParaRPr lang="en-US" altLang="zh-CN" dirty="0"/>
          </a:p>
          <a:p>
            <a:pPr lvl="1"/>
            <a:r>
              <a:rPr lang="zh-CN" altLang="en-US" dirty="0"/>
              <a:t>一个分布式系统有三个最重要的性质</a:t>
            </a:r>
            <a:r>
              <a:rPr lang="en-US" altLang="zh-CN" dirty="0"/>
              <a:t>:</a:t>
            </a:r>
            <a:endParaRPr lang="en-US" altLang="zh-CN" dirty="0"/>
          </a:p>
          <a:p>
            <a:pPr lvl="2"/>
            <a:r>
              <a:rPr lang="zh-CN" altLang="en-US" dirty="0"/>
              <a:t>一致性</a:t>
            </a:r>
            <a:r>
              <a:rPr lang="en-US" altLang="zh-CN" dirty="0"/>
              <a:t>(C)</a:t>
            </a:r>
            <a:endParaRPr lang="en-US" altLang="zh-CN" dirty="0"/>
          </a:p>
          <a:p>
            <a:pPr lvl="2"/>
            <a:r>
              <a:rPr lang="zh-CN" altLang="en-US" dirty="0"/>
              <a:t>可用性</a:t>
            </a:r>
            <a:r>
              <a:rPr lang="en-US" altLang="zh-CN" dirty="0"/>
              <a:t>(A) </a:t>
            </a:r>
            <a:endParaRPr lang="en-US" altLang="zh-CN" dirty="0"/>
          </a:p>
          <a:p>
            <a:pPr lvl="2"/>
            <a:r>
              <a:rPr lang="zh-CN" altLang="en-US" dirty="0"/>
              <a:t>分区容忍性</a:t>
            </a:r>
            <a:r>
              <a:rPr lang="en-US" altLang="zh-CN" dirty="0"/>
              <a:t>(P)</a:t>
            </a:r>
            <a:endParaRPr lang="en-US" altLang="zh-CN" dirty="0"/>
          </a:p>
          <a:p>
            <a:pPr lvl="3"/>
            <a:r>
              <a:rPr lang="en-US" altLang="zh-CN" dirty="0"/>
              <a:t>Consistency (all copies have same value)</a:t>
            </a:r>
            <a:endParaRPr lang="en-US" altLang="zh-CN" dirty="0"/>
          </a:p>
          <a:p>
            <a:pPr lvl="3"/>
            <a:r>
              <a:rPr lang="en-US" altLang="zh-CN" dirty="0"/>
              <a:t>Availability (system can run even if parts have failed)</a:t>
            </a:r>
            <a:endParaRPr lang="en-US" altLang="zh-CN" dirty="0"/>
          </a:p>
          <a:p>
            <a:pPr lvl="3"/>
            <a:r>
              <a:rPr lang="en-US" altLang="zh-CN" dirty="0"/>
              <a:t>Partitions (network can break into two or more parts, each with active systems that can’t talk to other parts)</a:t>
            </a:r>
            <a:endParaRPr lang="en-US" altLang="zh-CN" dirty="0"/>
          </a:p>
          <a:p>
            <a:pPr lvl="3"/>
            <a:endParaRPr lang="en-US" altLang="zh-CN"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图片 4"/>
          <p:cNvPicPr>
            <a:picLocks noChangeAspect="1" noChangeArrowheads="1"/>
          </p:cNvPicPr>
          <p:nvPr/>
        </p:nvPicPr>
        <p:blipFill>
          <a:blip r:embed="rId1">
            <a:extLst>
              <a:ext uri="{28A0092B-C50C-407E-A947-70E740481C1C}">
                <a14:useLocalDpi xmlns:a14="http://schemas.microsoft.com/office/drawing/2010/main" val="0"/>
              </a:ext>
            </a:extLst>
          </a:blip>
          <a:srcRect l="30159" t="45663" r="52216" b="32211"/>
          <a:stretch>
            <a:fillRect/>
          </a:stretch>
        </p:blipFill>
        <p:spPr bwMode="auto">
          <a:xfrm>
            <a:off x="8624380" y="1374458"/>
            <a:ext cx="2824162"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5"/>
          <p:cNvSpPr txBox="1">
            <a:spLocks noChangeArrowheads="1"/>
          </p:cNvSpPr>
          <p:nvPr/>
        </p:nvSpPr>
        <p:spPr bwMode="auto">
          <a:xfrm>
            <a:off x="8800592" y="2149158"/>
            <a:ext cx="1074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t>一致性</a:t>
            </a:r>
            <a:r>
              <a:rPr lang="en-US" altLang="zh-CN" sz="1600"/>
              <a:t>(C)</a:t>
            </a:r>
            <a:endParaRPr lang="en-US" altLang="zh-CN" sz="1600"/>
          </a:p>
        </p:txBody>
      </p:sp>
      <p:sp>
        <p:nvSpPr>
          <p:cNvPr id="8" name="TextBox 6"/>
          <p:cNvSpPr txBox="1">
            <a:spLocks noChangeArrowheads="1"/>
          </p:cNvSpPr>
          <p:nvPr/>
        </p:nvSpPr>
        <p:spPr bwMode="auto">
          <a:xfrm>
            <a:off x="9575292" y="3185795"/>
            <a:ext cx="1173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a:t>可用性</a:t>
            </a:r>
            <a:r>
              <a:rPr lang="en-US" altLang="zh-CN"/>
              <a:t>(A)</a:t>
            </a:r>
            <a:endParaRPr lang="zh-CN" altLang="en-US"/>
          </a:p>
        </p:txBody>
      </p:sp>
      <p:sp>
        <p:nvSpPr>
          <p:cNvPr id="9" name="TextBox 7"/>
          <p:cNvSpPr txBox="1">
            <a:spLocks noChangeArrowheads="1"/>
          </p:cNvSpPr>
          <p:nvPr/>
        </p:nvSpPr>
        <p:spPr bwMode="auto">
          <a:xfrm>
            <a:off x="10042017" y="2184083"/>
            <a:ext cx="1470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t>分区容忍性</a:t>
            </a:r>
            <a:r>
              <a:rPr lang="en-US" altLang="zh-CN" sz="1600"/>
              <a:t>(P)</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endParaRPr lang="en-US" altLang="zh-CN" dirty="0"/>
          </a:p>
          <a:p>
            <a:pPr lvl="1"/>
            <a:r>
              <a:rPr lang="en-US" altLang="zh-CN" dirty="0"/>
              <a:t>CAP</a:t>
            </a:r>
            <a:r>
              <a:rPr lang="zh-CN" altLang="en-US" dirty="0"/>
              <a:t>可以同时得到吗？</a:t>
            </a:r>
            <a:endParaRPr lang="en-US" altLang="zh-CN" dirty="0"/>
          </a:p>
          <a:p>
            <a:pPr lvl="1"/>
            <a:r>
              <a:rPr lang="zh-CN" altLang="en-US" dirty="0"/>
              <a:t>鱼与熊掌可以兼得吗</a:t>
            </a:r>
            <a:r>
              <a:rPr lang="en-US" altLang="zh-CN" dirty="0"/>
              <a:t>?</a:t>
            </a:r>
            <a:endParaRPr lang="en-US" altLang="zh-CN" dirty="0"/>
          </a:p>
          <a:p>
            <a:pPr lvl="1"/>
            <a:r>
              <a:rPr lang="zh-CN" altLang="en-US" dirty="0"/>
              <a:t>答案：</a:t>
            </a:r>
            <a:r>
              <a:rPr lang="en-US" altLang="zh-CN" dirty="0"/>
              <a:t>NO</a:t>
            </a:r>
            <a:r>
              <a:rPr lang="zh-CN" altLang="en-US" dirty="0"/>
              <a:t>！</a:t>
            </a:r>
            <a:endParaRPr lang="zh-CN" altLang="en-US" dirty="0"/>
          </a:p>
          <a:p>
            <a:pPr lvl="1"/>
            <a:r>
              <a:rPr lang="zh-CN" altLang="en-US" dirty="0"/>
              <a:t>一个分布式系统最多只能同时满足两个</a:t>
            </a:r>
            <a:endParaRPr lang="zh-CN" altLang="en-US" dirty="0"/>
          </a:p>
          <a:p>
            <a:pPr lvl="1"/>
            <a:r>
              <a:rPr lang="en-US" altLang="zh-CN" dirty="0"/>
              <a:t>Brewer’s CAP “Theorem”: You can have at most two of these three properties for any system</a:t>
            </a:r>
            <a:endParaRPr lang="en-US" altLang="zh-CN" dirty="0"/>
          </a:p>
          <a:p>
            <a:pPr lvl="1"/>
            <a:endParaRPr lang="en-US" altLang="zh-CN"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图片 4"/>
          <p:cNvPicPr>
            <a:picLocks noChangeAspect="1" noChangeArrowheads="1"/>
          </p:cNvPicPr>
          <p:nvPr/>
        </p:nvPicPr>
        <p:blipFill>
          <a:blip r:embed="rId1">
            <a:extLst>
              <a:ext uri="{28A0092B-C50C-407E-A947-70E740481C1C}">
                <a14:useLocalDpi xmlns:a14="http://schemas.microsoft.com/office/drawing/2010/main" val="0"/>
              </a:ext>
            </a:extLst>
          </a:blip>
          <a:srcRect l="30159" t="45663" r="52216" b="32211"/>
          <a:stretch>
            <a:fillRect/>
          </a:stretch>
        </p:blipFill>
        <p:spPr bwMode="auto">
          <a:xfrm>
            <a:off x="8146653" y="1243590"/>
            <a:ext cx="2540985" cy="254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5"/>
          <p:cNvSpPr txBox="1">
            <a:spLocks noChangeArrowheads="1"/>
          </p:cNvSpPr>
          <p:nvPr/>
        </p:nvSpPr>
        <p:spPr bwMode="auto">
          <a:xfrm>
            <a:off x="8175721" y="2040833"/>
            <a:ext cx="10747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t>一致性</a:t>
            </a:r>
            <a:r>
              <a:rPr lang="en-US" altLang="zh-CN" sz="1600"/>
              <a:t>(C)</a:t>
            </a:r>
            <a:endParaRPr lang="en-US" altLang="zh-CN" sz="1600"/>
          </a:p>
        </p:txBody>
      </p:sp>
      <p:sp>
        <p:nvSpPr>
          <p:cNvPr id="8" name="TextBox 6"/>
          <p:cNvSpPr txBox="1">
            <a:spLocks noChangeArrowheads="1"/>
          </p:cNvSpPr>
          <p:nvPr/>
        </p:nvSpPr>
        <p:spPr bwMode="auto">
          <a:xfrm>
            <a:off x="8950421" y="3077470"/>
            <a:ext cx="1173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a:t>可用性</a:t>
            </a:r>
            <a:r>
              <a:rPr lang="en-US" altLang="zh-CN"/>
              <a:t>(A)</a:t>
            </a:r>
            <a:endParaRPr lang="zh-CN" altLang="en-US"/>
          </a:p>
        </p:txBody>
      </p:sp>
      <p:sp>
        <p:nvSpPr>
          <p:cNvPr id="9" name="TextBox 7"/>
          <p:cNvSpPr txBox="1">
            <a:spLocks noChangeArrowheads="1"/>
          </p:cNvSpPr>
          <p:nvPr/>
        </p:nvSpPr>
        <p:spPr bwMode="auto">
          <a:xfrm>
            <a:off x="9417146" y="2075758"/>
            <a:ext cx="13081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400"/>
              <a:t>分区容忍性</a:t>
            </a:r>
            <a:r>
              <a:rPr lang="en-US" altLang="zh-CN" sz="1400"/>
              <a:t>(P)</a:t>
            </a:r>
            <a:endParaRPr lang="zh-CN" altLang="en-US" sz="1400"/>
          </a:p>
        </p:txBody>
      </p:sp>
      <p:pic>
        <p:nvPicPr>
          <p:cNvPr id="10" name="图片 3" descr="fis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0599" y="4074033"/>
            <a:ext cx="3933094" cy="2559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nodeType="clickEffect">
                                  <p:stCondLst>
                                    <p:cond delay="0"/>
                                  </p:stCondLst>
                                  <p:childTnLst>
                                    <p:set>
                                      <p:cBhvr>
                                        <p:cTn id="6" dur="1000">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endParaRPr lang="en-US" altLang="zh-CN" dirty="0"/>
          </a:p>
          <a:p>
            <a:pPr lvl="1"/>
            <a:r>
              <a:rPr lang="en-US" altLang="zh-CN" dirty="0"/>
              <a:t>CAP</a:t>
            </a:r>
            <a:r>
              <a:rPr lang="zh-CN" altLang="en-US" dirty="0"/>
              <a:t>定理告诉我们</a:t>
            </a:r>
            <a:r>
              <a:rPr lang="en-US" altLang="zh-CN" dirty="0"/>
              <a:t>:</a:t>
            </a:r>
            <a:r>
              <a:rPr lang="zh-CN" altLang="en-US" dirty="0"/>
              <a:t>在设计分布式数据共享系统时</a:t>
            </a:r>
            <a:r>
              <a:rPr lang="en-US" altLang="zh-CN" dirty="0"/>
              <a:t>, </a:t>
            </a:r>
            <a:r>
              <a:rPr lang="zh-CN" altLang="en-US" dirty="0"/>
              <a:t>熊掌与鱼不可兼得也</a:t>
            </a:r>
            <a:r>
              <a:rPr lang="en-US" altLang="zh-CN" dirty="0"/>
              <a:t>!  </a:t>
            </a:r>
            <a:endParaRPr lang="en-US" altLang="zh-CN" dirty="0"/>
          </a:p>
          <a:p>
            <a:pPr lvl="1"/>
            <a:r>
              <a:rPr lang="zh-CN" altLang="en-US" dirty="0"/>
              <a:t>因此</a:t>
            </a:r>
            <a:r>
              <a:rPr lang="en-US" altLang="zh-CN" dirty="0"/>
              <a:t>,</a:t>
            </a:r>
            <a:r>
              <a:rPr lang="zh-CN" altLang="en-US" dirty="0"/>
              <a:t>架构师不要将精力浪费在设计能满足三者的完美分布式系统，而是应该进行取舍。 </a:t>
            </a:r>
            <a:endParaRPr lang="zh-CN" altLang="en-US" dirty="0"/>
          </a:p>
          <a:p>
            <a:pPr lvl="1"/>
            <a:r>
              <a:rPr lang="zh-CN" altLang="en-US" dirty="0"/>
              <a:t>例如</a:t>
            </a:r>
            <a:r>
              <a:rPr lang="en-US" altLang="zh-CN" dirty="0"/>
              <a:t>, </a:t>
            </a:r>
            <a:r>
              <a:rPr lang="zh-CN" altLang="en-US" dirty="0"/>
              <a:t>如果关注的是一致性</a:t>
            </a:r>
            <a:r>
              <a:rPr lang="en-US" altLang="zh-CN" dirty="0"/>
              <a:t>(C)</a:t>
            </a:r>
            <a:r>
              <a:rPr lang="zh-CN" altLang="en-US" dirty="0"/>
              <a:t>，那么就需要处理因为系统不可用而导致的写操作失败的情况</a:t>
            </a:r>
            <a:r>
              <a:rPr lang="en-US" altLang="zh-CN" dirty="0"/>
              <a:t>;</a:t>
            </a:r>
            <a:endParaRPr lang="en-US" altLang="zh-CN" dirty="0"/>
          </a:p>
          <a:p>
            <a:pPr lvl="1"/>
            <a:r>
              <a:rPr lang="zh-CN" altLang="en-US" dirty="0"/>
              <a:t>而如果关注的是可用性</a:t>
            </a:r>
            <a:r>
              <a:rPr lang="en-US" altLang="zh-CN" dirty="0"/>
              <a:t>(A)</a:t>
            </a:r>
            <a:r>
              <a:rPr lang="zh-CN" altLang="en-US" dirty="0"/>
              <a:t>，那么就应该知道系统的</a:t>
            </a:r>
            <a:r>
              <a:rPr lang="en-US" altLang="zh-CN" dirty="0"/>
              <a:t>read</a:t>
            </a:r>
            <a:r>
              <a:rPr lang="zh-CN" altLang="en-US" dirty="0"/>
              <a:t>操作可能不能精确的读取到</a:t>
            </a:r>
            <a:r>
              <a:rPr lang="en-US" altLang="zh-CN" dirty="0"/>
              <a:t>write</a:t>
            </a:r>
            <a:r>
              <a:rPr lang="zh-CN" altLang="en-US" dirty="0"/>
              <a:t>操作写入的最新值。</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endParaRPr lang="en-US" altLang="zh-CN" dirty="0"/>
          </a:p>
          <a:p>
            <a:pPr lvl="1"/>
            <a:r>
              <a:rPr lang="zh-CN" altLang="en-US" dirty="0"/>
              <a:t>由于系统的关注点不同，相应的采用的策略也是不一样的，只有真正的理解了系统的需求，才有可能利用好 </a:t>
            </a:r>
            <a:r>
              <a:rPr lang="en-US" altLang="zh-CN" dirty="0"/>
              <a:t>CAP</a:t>
            </a:r>
            <a:r>
              <a:rPr lang="zh-CN" altLang="en-US" dirty="0"/>
              <a:t>理论。 </a:t>
            </a:r>
            <a:endParaRPr lang="zh-CN" altLang="en-US" dirty="0"/>
          </a:p>
          <a:p>
            <a:pPr lvl="2"/>
            <a:r>
              <a:rPr lang="en-US" altLang="zh-CN" dirty="0"/>
              <a:t>CA</a:t>
            </a:r>
            <a:r>
              <a:rPr lang="zh-CN" altLang="en-US" dirty="0"/>
              <a:t>：传统关系数据库 </a:t>
            </a:r>
            <a:endParaRPr lang="zh-CN" altLang="en-US" dirty="0"/>
          </a:p>
          <a:p>
            <a:pPr lvl="2"/>
            <a:r>
              <a:rPr lang="en-US" altLang="zh-CN" dirty="0"/>
              <a:t>AP</a:t>
            </a:r>
            <a:r>
              <a:rPr lang="zh-CN" altLang="en-US" dirty="0"/>
              <a:t>：</a:t>
            </a:r>
            <a:r>
              <a:rPr lang="en-US" altLang="zh-CN" dirty="0"/>
              <a:t>key-value</a:t>
            </a:r>
            <a:r>
              <a:rPr lang="zh-CN" altLang="en-US" dirty="0"/>
              <a:t>数据库 </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endParaRPr lang="en-US" altLang="zh-CN" dirty="0"/>
          </a:p>
          <a:p>
            <a:pPr lvl="1"/>
            <a:r>
              <a:rPr lang="zh-CN" altLang="en-US" dirty="0"/>
              <a:t>应用</a:t>
            </a:r>
            <a:r>
              <a:rPr lang="en-US" altLang="zh-CN" dirty="0"/>
              <a:t>CAP</a:t>
            </a:r>
            <a:r>
              <a:rPr lang="zh-CN" altLang="en-US" dirty="0"/>
              <a:t>定理时必须注意不同数据对于一致性的要求是不同的。</a:t>
            </a:r>
            <a:endParaRPr lang="zh-CN" altLang="en-US" dirty="0"/>
          </a:p>
          <a:p>
            <a:pPr lvl="1"/>
            <a:r>
              <a:rPr lang="zh-CN" altLang="en-US" dirty="0"/>
              <a:t>举例来讲，用户评论对不一致是不敏感的，可以容忍相对较长时间的不一致，这种不一致并不会影响交易和用户体验。</a:t>
            </a:r>
            <a:endParaRPr lang="zh-CN" altLang="en-US" dirty="0"/>
          </a:p>
          <a:p>
            <a:pPr lvl="1"/>
            <a:r>
              <a:rPr lang="zh-CN" altLang="en-US" dirty="0"/>
              <a:t>而产品价格数据则是非常敏感的，通常不能容忍超过</a:t>
            </a:r>
            <a:r>
              <a:rPr lang="en-US" altLang="zh-CN" dirty="0"/>
              <a:t>10</a:t>
            </a:r>
            <a:r>
              <a:rPr lang="zh-CN" altLang="en-US" dirty="0"/>
              <a:t>秒的价格不一致。</a:t>
            </a:r>
            <a:br>
              <a:rPr lang="zh-CN" altLang="en-US" dirty="0"/>
            </a:b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r>
              <a:rPr lang="en-US" altLang="zh-CN" dirty="0"/>
              <a:t>:</a:t>
            </a:r>
            <a:r>
              <a:rPr lang="zh-CN" altLang="en-US" dirty="0"/>
              <a:t>示例</a:t>
            </a:r>
            <a:endParaRPr lang="en-US" altLang="zh-CN" dirty="0"/>
          </a:p>
          <a:p>
            <a:pPr lvl="1"/>
            <a:r>
              <a:rPr lang="zh-CN" altLang="en-US" dirty="0"/>
              <a:t>在正常情况下，操作过程如下</a:t>
            </a:r>
            <a:r>
              <a:rPr lang="en-US" altLang="zh-CN" dirty="0"/>
              <a:t>(</a:t>
            </a:r>
            <a:r>
              <a:rPr lang="zh-CN" altLang="en-US" dirty="0"/>
              <a:t>如下图所示</a:t>
            </a:r>
            <a:r>
              <a:rPr lang="en-US" altLang="zh-CN" dirty="0"/>
              <a:t>)</a:t>
            </a:r>
            <a:r>
              <a:rPr lang="zh-CN" altLang="en-US" dirty="0"/>
              <a:t>：</a:t>
            </a:r>
            <a:endParaRPr lang="en-US" altLang="zh-CN" dirty="0"/>
          </a:p>
          <a:p>
            <a:pPr lvl="2"/>
            <a:r>
              <a:rPr lang="en-US" altLang="zh-CN" dirty="0"/>
              <a:t>A</a:t>
            </a:r>
            <a:r>
              <a:rPr lang="zh-CN" altLang="en-US" dirty="0"/>
              <a:t>将</a:t>
            </a:r>
            <a:r>
              <a:rPr lang="en-US" altLang="zh-CN" dirty="0"/>
              <a:t>V0</a:t>
            </a:r>
            <a:r>
              <a:rPr lang="zh-CN" altLang="en-US" dirty="0"/>
              <a:t>更新为</a:t>
            </a:r>
            <a:r>
              <a:rPr lang="en-US" altLang="zh-CN" dirty="0"/>
              <a:t>V1</a:t>
            </a:r>
            <a:endParaRPr lang="en-US" altLang="zh-CN" dirty="0"/>
          </a:p>
          <a:p>
            <a:pPr lvl="2"/>
            <a:r>
              <a:rPr lang="en-US" altLang="zh-CN" dirty="0"/>
              <a:t>G1</a:t>
            </a:r>
            <a:r>
              <a:rPr lang="zh-CN" altLang="en-US" dirty="0"/>
              <a:t>发送消息</a:t>
            </a:r>
            <a:r>
              <a:rPr lang="en-US" altLang="zh-CN" dirty="0"/>
              <a:t>m</a:t>
            </a:r>
            <a:r>
              <a:rPr lang="zh-CN" altLang="en-US" dirty="0"/>
              <a:t>给</a:t>
            </a:r>
            <a:r>
              <a:rPr lang="en-US" altLang="zh-CN" dirty="0"/>
              <a:t>G2</a:t>
            </a:r>
            <a:r>
              <a:rPr lang="zh-CN" altLang="en-US" dirty="0"/>
              <a:t>，数据</a:t>
            </a:r>
            <a:r>
              <a:rPr lang="en-US" altLang="zh-CN" dirty="0"/>
              <a:t>V0</a:t>
            </a:r>
            <a:r>
              <a:rPr lang="zh-CN" altLang="en-US" dirty="0"/>
              <a:t>更新为</a:t>
            </a:r>
            <a:r>
              <a:rPr lang="en-US" altLang="zh-CN" dirty="0"/>
              <a:t>V1</a:t>
            </a:r>
            <a:endParaRPr lang="en-US" altLang="zh-CN" dirty="0"/>
          </a:p>
          <a:p>
            <a:pPr lvl="2"/>
            <a:r>
              <a:rPr lang="en-US" altLang="zh-CN" dirty="0"/>
              <a:t>B</a:t>
            </a:r>
            <a:r>
              <a:rPr lang="zh-CN" altLang="en-US" dirty="0"/>
              <a:t>读取到</a:t>
            </a:r>
            <a:r>
              <a:rPr lang="en-US" altLang="zh-CN" dirty="0"/>
              <a:t>G2</a:t>
            </a:r>
            <a:r>
              <a:rPr lang="zh-CN" altLang="en-US" dirty="0"/>
              <a:t>中的数据</a:t>
            </a:r>
            <a:r>
              <a:rPr lang="en-US" altLang="zh-CN" dirty="0"/>
              <a:t>V1</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
        <p:nvSpPr>
          <p:cNvPr id="6" name="Rectangle 3"/>
          <p:cNvSpPr>
            <a:spLocks noChangeArrowheads="1"/>
          </p:cNvSpPr>
          <p:nvPr/>
        </p:nvSpPr>
        <p:spPr bwMode="auto">
          <a:xfrm>
            <a:off x="3142107" y="5447665"/>
            <a:ext cx="6350"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7" name="Rectangle 4"/>
          <p:cNvSpPr>
            <a:spLocks noChangeArrowheads="1"/>
          </p:cNvSpPr>
          <p:nvPr/>
        </p:nvSpPr>
        <p:spPr bwMode="auto">
          <a:xfrm>
            <a:off x="4831207" y="5447665"/>
            <a:ext cx="6350"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8" name="Text Box 20"/>
          <p:cNvSpPr>
            <a:spLocks noChangeArrowheads="1"/>
          </p:cNvSpPr>
          <p:nvPr/>
        </p:nvSpPr>
        <p:spPr bwMode="auto">
          <a:xfrm>
            <a:off x="4297807" y="6601778"/>
            <a:ext cx="18415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b="1">
              <a:solidFill>
                <a:srgbClr val="000000"/>
              </a:solidFill>
              <a:sym typeface="微软雅黑" panose="020B0503020204020204" pitchFamily="34" charset="-122"/>
            </a:endParaRPr>
          </a:p>
        </p:txBody>
      </p:sp>
      <p:sp>
        <p:nvSpPr>
          <p:cNvPr id="9" name="Text Box 23"/>
          <p:cNvSpPr>
            <a:spLocks noChangeArrowheads="1"/>
          </p:cNvSpPr>
          <p:nvPr/>
        </p:nvSpPr>
        <p:spPr bwMode="auto">
          <a:xfrm>
            <a:off x="2030857" y="3785553"/>
            <a:ext cx="82804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Char char="•"/>
            </a:pPr>
            <a:endParaRPr lang="zh-CN" altLang="en-US"/>
          </a:p>
        </p:txBody>
      </p:sp>
      <p:sp>
        <p:nvSpPr>
          <p:cNvPr id="10" name="Text Box 9"/>
          <p:cNvSpPr txBox="1">
            <a:spLocks noChangeArrowheads="1"/>
          </p:cNvSpPr>
          <p:nvPr/>
        </p:nvSpPr>
        <p:spPr bwMode="auto">
          <a:xfrm>
            <a:off x="1886395" y="3856990"/>
            <a:ext cx="88598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endParaRPr lang="zh-CN" altLang="en-US"/>
          </a:p>
          <a:p>
            <a:pPr eaLnBrk="1" hangingPunct="1">
              <a:buFont typeface="Arial" panose="020B0604020202020204" pitchFamily="34" charset="0"/>
              <a:buChar char="ü"/>
            </a:pPr>
            <a:endParaRPr lang="zh-CN" altLang="en-US"/>
          </a:p>
        </p:txBody>
      </p:sp>
      <p:sp>
        <p:nvSpPr>
          <p:cNvPr id="11" name="Text Box 11"/>
          <p:cNvSpPr txBox="1">
            <a:spLocks noChangeArrowheads="1"/>
          </p:cNvSpPr>
          <p:nvPr/>
        </p:nvSpPr>
        <p:spPr bwMode="auto">
          <a:xfrm>
            <a:off x="4046982" y="5298440"/>
            <a:ext cx="62658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p>
        </p:txBody>
      </p:sp>
      <p:sp>
        <p:nvSpPr>
          <p:cNvPr id="12" name="Text Box 12"/>
          <p:cNvSpPr txBox="1">
            <a:spLocks noChangeArrowheads="1"/>
          </p:cNvSpPr>
          <p:nvPr/>
        </p:nvSpPr>
        <p:spPr bwMode="auto">
          <a:xfrm>
            <a:off x="2345182" y="4253865"/>
            <a:ext cx="6311900" cy="25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p:txBody>
      </p:sp>
      <p:sp>
        <p:nvSpPr>
          <p:cNvPr id="13" name="Text Box 13"/>
          <p:cNvSpPr txBox="1">
            <a:spLocks noChangeArrowheads="1"/>
          </p:cNvSpPr>
          <p:nvPr/>
        </p:nvSpPr>
        <p:spPr bwMode="auto">
          <a:xfrm>
            <a:off x="2345182" y="4253865"/>
            <a:ext cx="74644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p>
          <a:p>
            <a:pPr eaLnBrk="1" hangingPunct="1">
              <a:buFont typeface="Arial" panose="020B0604020202020204" pitchFamily="34" charset="0"/>
              <a:buNone/>
            </a:pPr>
            <a:endParaRPr lang="zh-CN" altLang="zh-CN"/>
          </a:p>
          <a:p>
            <a:pPr eaLnBrk="1" hangingPunct="1">
              <a:buFont typeface="Arial" panose="020B0604020202020204" pitchFamily="34" charset="0"/>
              <a:buNone/>
            </a:pPr>
            <a:endParaRPr lang="zh-CN" altLang="zh-CN"/>
          </a:p>
        </p:txBody>
      </p:sp>
      <p:pic>
        <p:nvPicPr>
          <p:cNvPr id="14" name="Picture 14" descr="f7bae9d51a70402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9995" y="4001453"/>
            <a:ext cx="702945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r>
              <a:rPr lang="en-US" altLang="zh-CN" dirty="0"/>
              <a:t>:</a:t>
            </a:r>
            <a:r>
              <a:rPr lang="zh-CN" altLang="en-US" dirty="0"/>
              <a:t>示例</a:t>
            </a:r>
            <a:endParaRPr lang="zh-CN" altLang="en-US" dirty="0"/>
          </a:p>
          <a:p>
            <a:pPr lvl="1"/>
            <a:r>
              <a:rPr lang="zh-CN" altLang="en-US" dirty="0"/>
              <a:t>发生网络分区故障，</a:t>
            </a:r>
            <a:r>
              <a:rPr lang="en-US" altLang="zh-CN" dirty="0"/>
              <a:t>G1</a:t>
            </a:r>
            <a:r>
              <a:rPr lang="zh-CN" altLang="en-US" dirty="0"/>
              <a:t>发送的消息不能传送到</a:t>
            </a:r>
            <a:r>
              <a:rPr lang="en-US" altLang="zh-CN" dirty="0"/>
              <a:t>G2</a:t>
            </a:r>
            <a:r>
              <a:rPr lang="zh-CN" altLang="en-US" dirty="0"/>
              <a:t>上。</a:t>
            </a:r>
            <a:endParaRPr lang="zh-CN" altLang="en-US" dirty="0"/>
          </a:p>
          <a:p>
            <a:pPr lvl="1"/>
            <a:r>
              <a:rPr lang="zh-CN" altLang="en-US" dirty="0"/>
              <a:t>这样数据就处于不一致的状态，</a:t>
            </a:r>
            <a:r>
              <a:rPr lang="en-US" altLang="zh-CN" dirty="0"/>
              <a:t>B</a:t>
            </a:r>
            <a:r>
              <a:rPr lang="zh-CN" altLang="en-US" dirty="0"/>
              <a:t>读取到的就不是最新的数据。</a:t>
            </a:r>
            <a:endParaRPr lang="zh-CN" altLang="en-US" dirty="0"/>
          </a:p>
          <a:p>
            <a:pPr lvl="1"/>
            <a:r>
              <a:rPr lang="zh-CN" altLang="en-US" dirty="0"/>
              <a:t>如果采用阻塞，加锁等机制来保证数据一致性，就会影响系统可用性。</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
        <p:nvSpPr>
          <p:cNvPr id="8" name="Rectangle 3"/>
          <p:cNvSpPr>
            <a:spLocks noChangeArrowheads="1"/>
          </p:cNvSpPr>
          <p:nvPr/>
        </p:nvSpPr>
        <p:spPr bwMode="auto">
          <a:xfrm>
            <a:off x="2921793" y="5196102"/>
            <a:ext cx="63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9" name="Rectangle 4"/>
          <p:cNvSpPr>
            <a:spLocks noChangeArrowheads="1"/>
          </p:cNvSpPr>
          <p:nvPr/>
        </p:nvSpPr>
        <p:spPr bwMode="auto">
          <a:xfrm>
            <a:off x="4610893" y="5196102"/>
            <a:ext cx="63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solidFill>
                <a:srgbClr val="000000"/>
              </a:solidFill>
              <a:sym typeface="微软雅黑" panose="020B0503020204020204" pitchFamily="34" charset="-122"/>
            </a:endParaRPr>
          </a:p>
        </p:txBody>
      </p:sp>
      <p:sp>
        <p:nvSpPr>
          <p:cNvPr id="10" name="Text Box 23"/>
          <p:cNvSpPr>
            <a:spLocks noChangeArrowheads="1"/>
          </p:cNvSpPr>
          <p:nvPr/>
        </p:nvSpPr>
        <p:spPr bwMode="auto">
          <a:xfrm>
            <a:off x="1810543" y="3533989"/>
            <a:ext cx="82804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Char char="•"/>
            </a:pPr>
            <a:endParaRPr lang="zh-CN" altLang="en-US"/>
          </a:p>
        </p:txBody>
      </p:sp>
      <p:sp>
        <p:nvSpPr>
          <p:cNvPr id="11" name="Text Box 9"/>
          <p:cNvSpPr txBox="1">
            <a:spLocks noChangeArrowheads="1"/>
          </p:cNvSpPr>
          <p:nvPr/>
        </p:nvSpPr>
        <p:spPr bwMode="auto">
          <a:xfrm>
            <a:off x="1666081" y="3605427"/>
            <a:ext cx="8859837"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l"/>
            </a:pPr>
            <a:endParaRPr lang="zh-CN" altLang="en-US"/>
          </a:p>
          <a:p>
            <a:pPr eaLnBrk="1" hangingPunct="1">
              <a:buFont typeface="Arial" panose="020B0604020202020204" pitchFamily="34" charset="0"/>
              <a:buChar char="ü"/>
            </a:pPr>
            <a:endParaRPr lang="zh-CN" altLang="en-US"/>
          </a:p>
        </p:txBody>
      </p:sp>
      <p:sp>
        <p:nvSpPr>
          <p:cNvPr id="12" name="Text Box 11"/>
          <p:cNvSpPr txBox="1">
            <a:spLocks noChangeArrowheads="1"/>
          </p:cNvSpPr>
          <p:nvPr/>
        </p:nvSpPr>
        <p:spPr bwMode="auto">
          <a:xfrm>
            <a:off x="3826668" y="5046877"/>
            <a:ext cx="62658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p>
        </p:txBody>
      </p:sp>
      <p:sp>
        <p:nvSpPr>
          <p:cNvPr id="13" name="Text Box 12"/>
          <p:cNvSpPr txBox="1">
            <a:spLocks noChangeArrowheads="1"/>
          </p:cNvSpPr>
          <p:nvPr/>
        </p:nvSpPr>
        <p:spPr bwMode="auto">
          <a:xfrm>
            <a:off x="2124868" y="4002302"/>
            <a:ext cx="6311900"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AutoNum type="arabicPeriod"/>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a:p>
            <a:pPr eaLnBrk="1" hangingPunct="1">
              <a:buFont typeface="Arial" panose="020B0604020202020204" pitchFamily="34" charset="0"/>
              <a:buNone/>
            </a:pPr>
            <a:endParaRPr lang="zh-CN" altLang="en-US"/>
          </a:p>
        </p:txBody>
      </p:sp>
      <p:sp>
        <p:nvSpPr>
          <p:cNvPr id="14" name="Text Box 13"/>
          <p:cNvSpPr txBox="1">
            <a:spLocks noChangeArrowheads="1"/>
          </p:cNvSpPr>
          <p:nvPr/>
        </p:nvSpPr>
        <p:spPr bwMode="auto">
          <a:xfrm>
            <a:off x="2124868" y="4002302"/>
            <a:ext cx="74644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p>
          <a:p>
            <a:pPr eaLnBrk="1" hangingPunct="1">
              <a:buFont typeface="Arial" panose="020B0604020202020204" pitchFamily="34" charset="0"/>
              <a:buNone/>
            </a:pPr>
            <a:endParaRPr lang="zh-CN" altLang="zh-CN"/>
          </a:p>
          <a:p>
            <a:pPr eaLnBrk="1" hangingPunct="1">
              <a:buFont typeface="Arial" panose="020B0604020202020204" pitchFamily="34" charset="0"/>
              <a:buNone/>
            </a:pPr>
            <a:endParaRPr lang="zh-CN" altLang="zh-CN"/>
          </a:p>
        </p:txBody>
      </p:sp>
      <p:pic>
        <p:nvPicPr>
          <p:cNvPr id="15" name="Picture 15" descr="b971a0348af33be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86806" y="3749889"/>
            <a:ext cx="7202487"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r>
              <a:rPr lang="en-US" altLang="zh-CN" dirty="0"/>
              <a:t>:</a:t>
            </a:r>
            <a:r>
              <a:rPr lang="zh-CN" altLang="en-US" dirty="0"/>
              <a:t>示例</a:t>
            </a:r>
            <a:endParaRPr lang="en-US" altLang="zh-CN" dirty="0"/>
          </a:p>
          <a:p>
            <a:pPr lvl="1"/>
            <a:r>
              <a:rPr lang="zh-CN" altLang="en-US" dirty="0"/>
              <a:t>一个牺牲一致性来换取可用性的实例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
        <p:nvSpPr>
          <p:cNvPr id="6" name="文本框 4"/>
          <p:cNvSpPr txBox="1">
            <a:spLocks noChangeArrowheads="1"/>
          </p:cNvSpPr>
          <p:nvPr/>
        </p:nvSpPr>
        <p:spPr bwMode="auto">
          <a:xfrm>
            <a:off x="4797552" y="5714997"/>
            <a:ext cx="28956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000" b="1"/>
              <a:t>(</a:t>
            </a:r>
            <a:r>
              <a:rPr lang="en-US" altLang="zh-CN" sz="2000" b="1"/>
              <a:t>a</a:t>
            </a:r>
            <a:r>
              <a:rPr lang="zh-CN" altLang="en-US" sz="2000" b="1"/>
              <a:t>)初始状态</a:t>
            </a:r>
            <a:endParaRPr lang="zh-CN" altLang="en-US" sz="2000" b="1"/>
          </a:p>
        </p:txBody>
      </p:sp>
      <p:pic>
        <p:nvPicPr>
          <p:cNvPr id="7"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73752" y="2743197"/>
            <a:ext cx="270192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r>
              <a:rPr lang="en-US" altLang="zh-CN" dirty="0"/>
              <a:t>:</a:t>
            </a:r>
            <a:r>
              <a:rPr lang="zh-CN" altLang="en-US" dirty="0"/>
              <a:t>示例</a:t>
            </a:r>
            <a:endParaRPr lang="en-US" altLang="zh-CN" dirty="0"/>
          </a:p>
          <a:p>
            <a:pPr lvl="1"/>
            <a:r>
              <a:rPr lang="zh-CN" altLang="en-US" dirty="0"/>
              <a:t>一个牺牲一致性来换取可用性的实例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
        <p:nvSpPr>
          <p:cNvPr id="6" name="文本框 3"/>
          <p:cNvSpPr txBox="1">
            <a:spLocks noChangeArrowheads="1"/>
          </p:cNvSpPr>
          <p:nvPr/>
        </p:nvSpPr>
        <p:spPr bwMode="auto">
          <a:xfrm>
            <a:off x="4608576" y="6167437"/>
            <a:ext cx="28956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000" b="1"/>
              <a:t>(</a:t>
            </a:r>
            <a:r>
              <a:rPr lang="en-US" altLang="zh-CN" sz="2000" b="1"/>
              <a:t>b</a:t>
            </a:r>
            <a:r>
              <a:rPr lang="zh-CN" altLang="en-US" sz="2000" b="1"/>
              <a:t>)正常执行过程</a:t>
            </a:r>
            <a:endParaRPr lang="zh-CN" altLang="en-US" sz="2000" b="1"/>
          </a:p>
        </p:txBody>
      </p:sp>
      <p:pic>
        <p:nvPicPr>
          <p:cNvPr id="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1176" y="2586037"/>
            <a:ext cx="7510463"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a:t>
            </a:r>
            <a:r>
              <a:rPr lang="en-US" altLang="zh-CN" dirty="0"/>
              <a:t>:</a:t>
            </a:r>
            <a:r>
              <a:rPr lang="zh-CN" altLang="en-US" dirty="0"/>
              <a:t>示例</a:t>
            </a:r>
            <a:endParaRPr lang="en-US" altLang="zh-CN" dirty="0"/>
          </a:p>
          <a:p>
            <a:pPr lvl="1"/>
            <a:r>
              <a:rPr lang="zh-CN" altLang="en-US" dirty="0"/>
              <a:t>一个牺牲一致性来换取可用性的实例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8"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79865" y="2484582"/>
            <a:ext cx="7669213" cy="348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p:cNvSpPr>
            <a:spLocks noChangeArrowheads="1"/>
          </p:cNvSpPr>
          <p:nvPr/>
        </p:nvSpPr>
        <p:spPr bwMode="auto">
          <a:xfrm>
            <a:off x="4565865" y="6278707"/>
            <a:ext cx="3625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t>(c) </a:t>
            </a:r>
            <a:r>
              <a:rPr lang="zh-CN" altLang="en-US" sz="2000" b="1"/>
              <a:t>更新传播失败时的执行过程</a:t>
            </a:r>
            <a:r>
              <a:rPr lang="zh-CN" altLang="en-US"/>
              <a:t> </a:t>
            </a:r>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a:bodyPr>
          <a:lstStyle/>
          <a:p>
            <a:r>
              <a:rPr lang="en-US" altLang="zh-CN" dirty="0"/>
              <a:t>CAP</a:t>
            </a:r>
            <a:r>
              <a:rPr lang="zh-CN" altLang="en-US" dirty="0"/>
              <a:t>定理：选择放弃</a:t>
            </a:r>
            <a:endParaRPr lang="zh-CN" altLang="en-US" dirty="0"/>
          </a:p>
          <a:p>
            <a:pPr lvl="1"/>
            <a:r>
              <a:rPr lang="zh-CN" altLang="en-US" dirty="0"/>
              <a:t>放弃</a:t>
            </a:r>
            <a:r>
              <a:rPr lang="en-US" altLang="zh-CN" dirty="0"/>
              <a:t>P</a:t>
            </a:r>
            <a:r>
              <a:rPr lang="zh-CN" altLang="en-US" dirty="0"/>
              <a:t>：如果想避免分区容错性问题的发生，一种做法是将所有的数据</a:t>
            </a:r>
            <a:r>
              <a:rPr lang="en-US" altLang="zh-CN" dirty="0"/>
              <a:t>(</a:t>
            </a:r>
            <a:r>
              <a:rPr lang="zh-CN" altLang="en-US" dirty="0"/>
              <a:t>与事务相关的</a:t>
            </a:r>
            <a:r>
              <a:rPr lang="en-US" altLang="zh-CN" dirty="0"/>
              <a:t>)</a:t>
            </a:r>
            <a:r>
              <a:rPr lang="zh-CN" altLang="en-US" dirty="0"/>
              <a:t>都放到一台机器上。虽然无法</a:t>
            </a:r>
            <a:r>
              <a:rPr lang="en-US" altLang="zh-CN" dirty="0"/>
              <a:t>100%</a:t>
            </a:r>
            <a:r>
              <a:rPr lang="zh-CN" altLang="en-US" dirty="0"/>
              <a:t>地保证系统不会出错，但不会碰到由分区带来的负面效果。当然，这个选择会严重影响系统的扩展性。</a:t>
            </a:r>
            <a:endParaRPr lang="zh-CN" altLang="en-US" dirty="0"/>
          </a:p>
          <a:p>
            <a:pPr lvl="1"/>
            <a:r>
              <a:rPr lang="zh-CN" altLang="en-US" dirty="0"/>
              <a:t>放弃</a:t>
            </a:r>
            <a:r>
              <a:rPr lang="en-US" altLang="zh-CN" dirty="0"/>
              <a:t>A</a:t>
            </a:r>
            <a:r>
              <a:rPr lang="zh-CN" altLang="en-US" dirty="0"/>
              <a:t>：一旦遇到分区容错故障，那么受到影响的服务需要等待数据一致，因此在等待期间系统无法对外提供服务。</a:t>
            </a:r>
            <a:endParaRPr lang="zh-CN" altLang="en-US" dirty="0"/>
          </a:p>
          <a:p>
            <a:pPr lvl="1"/>
            <a:r>
              <a:rPr lang="zh-CN" altLang="en-US" dirty="0"/>
              <a:t>放弃</a:t>
            </a:r>
            <a:r>
              <a:rPr lang="en-US" altLang="zh-CN" dirty="0"/>
              <a:t>C</a:t>
            </a:r>
            <a:r>
              <a:rPr lang="zh-CN" altLang="en-US" dirty="0"/>
              <a:t>：这里所说的放弃一致性，并不是完全放弃数据的一致性，而是放弃数据的强一致性，而保留数据的最终一致性。以网络购物为例，对只剩最后一件库存的商品，如果同时接收到了两份订单，那么较晚的订单将被告知商品售罄。</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定理：选择放弃</a:t>
            </a:r>
            <a:endParaRPr lang="zh-CN" altLang="en-US" dirty="0"/>
          </a:p>
          <a:p>
            <a:pPr lvl="1"/>
            <a:r>
              <a:rPr lang="zh-CN" altLang="en-US" dirty="0"/>
              <a:t>为什么选择 </a:t>
            </a:r>
            <a:r>
              <a:rPr lang="en-US" altLang="zh-CN" dirty="0"/>
              <a:t>AP</a:t>
            </a:r>
            <a:r>
              <a:rPr lang="zh-CN" altLang="en-US" dirty="0"/>
              <a:t>，放弃</a:t>
            </a:r>
            <a:r>
              <a:rPr lang="en-US" altLang="zh-CN" dirty="0"/>
              <a:t>C</a:t>
            </a:r>
            <a:endParaRPr lang="en-US" altLang="zh-CN" dirty="0"/>
          </a:p>
          <a:p>
            <a:pPr lvl="2"/>
            <a:r>
              <a:rPr lang="zh-CN" altLang="en-US" dirty="0"/>
              <a:t>小的延迟</a:t>
            </a:r>
            <a:r>
              <a:rPr lang="en-US" altLang="zh-CN" dirty="0"/>
              <a:t>(</a:t>
            </a:r>
            <a:r>
              <a:rPr lang="zh-CN" altLang="en-US" dirty="0"/>
              <a:t>数据库达到一致的状态</a:t>
            </a:r>
            <a:r>
              <a:rPr lang="en-US" altLang="zh-CN" dirty="0"/>
              <a:t>)</a:t>
            </a:r>
            <a:r>
              <a:rPr lang="zh-CN" altLang="en-US" dirty="0"/>
              <a:t>不足以对总体性能或用户体验造成影响。</a:t>
            </a:r>
            <a:endParaRPr lang="zh-CN" altLang="en-US" dirty="0"/>
          </a:p>
          <a:p>
            <a:pPr lvl="2"/>
            <a:r>
              <a:rPr lang="zh-CN" altLang="en-US" dirty="0"/>
              <a:t>不好的用户体验，带来的影响</a:t>
            </a:r>
            <a:r>
              <a:rPr lang="en-US" altLang="zh-CN" dirty="0"/>
              <a:t>Amazon </a:t>
            </a:r>
            <a:r>
              <a:rPr lang="zh-CN" altLang="en-US" dirty="0"/>
              <a:t>每</a:t>
            </a:r>
            <a:r>
              <a:rPr lang="en-US" altLang="zh-CN" dirty="0"/>
              <a:t>0.1</a:t>
            </a:r>
            <a:r>
              <a:rPr lang="zh-CN" altLang="en-US" dirty="0"/>
              <a:t>秒的响应延迟都会导致</a:t>
            </a:r>
            <a:r>
              <a:rPr lang="en-US" altLang="zh-CN" dirty="0"/>
              <a:t>1</a:t>
            </a:r>
            <a:r>
              <a:rPr lang="zh-CN" altLang="en-US" dirty="0"/>
              <a:t>％的销售降低。</a:t>
            </a:r>
            <a:r>
              <a:rPr lang="en-US" altLang="zh-CN" dirty="0"/>
              <a:t>Google 0.5</a:t>
            </a:r>
            <a:r>
              <a:rPr lang="zh-CN" altLang="en-US" dirty="0"/>
              <a:t>秒的延迟会使流量减少</a:t>
            </a:r>
            <a:r>
              <a:rPr lang="en-US" altLang="zh-CN" dirty="0"/>
              <a:t>15%</a:t>
            </a:r>
            <a:r>
              <a:rPr lang="zh-CN" altLang="en-US" dirty="0"/>
              <a:t>。</a:t>
            </a:r>
            <a:endParaRPr lang="zh-CN" altLang="en-US" dirty="0"/>
          </a:p>
          <a:p>
            <a:pPr lvl="2"/>
            <a:endParaRPr lang="en-US" altLang="zh-CN" dirty="0"/>
          </a:p>
          <a:p>
            <a:pPr lvl="1"/>
            <a:r>
              <a:rPr lang="zh-CN" altLang="en-US" dirty="0"/>
              <a:t>其他选择</a:t>
            </a:r>
            <a:endParaRPr lang="en-US" altLang="zh-CN" dirty="0"/>
          </a:p>
          <a:p>
            <a:pPr lvl="2"/>
            <a:r>
              <a:rPr lang="zh-CN" altLang="en-US" dirty="0"/>
              <a:t>引入</a:t>
            </a:r>
            <a:r>
              <a:rPr lang="en-US" altLang="zh-CN" dirty="0"/>
              <a:t>BASE(Basically Available, Soft-state, Eventually consistent)</a:t>
            </a:r>
            <a:r>
              <a:rPr lang="zh-CN" altLang="en-US" dirty="0"/>
              <a:t>，该方法支持最终一致性，其实是放弃</a:t>
            </a:r>
            <a:r>
              <a:rPr lang="en-US" altLang="zh-CN" dirty="0"/>
              <a:t>C</a:t>
            </a:r>
            <a:r>
              <a:rPr lang="zh-CN" altLang="en-US" dirty="0"/>
              <a:t>的一个特例</a:t>
            </a:r>
            <a:endParaRPr lang="zh-CN" altLang="en-US" dirty="0"/>
          </a:p>
          <a:p>
            <a:pPr lvl="2"/>
            <a:endParaRPr lang="en-US" altLang="zh-CN"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CAP</a:t>
            </a:r>
            <a:r>
              <a:rPr lang="zh-CN" altLang="en-US" dirty="0"/>
              <a:t>定理：选择放弃</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01403" y="1761892"/>
            <a:ext cx="5329237"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3704590" y="6241787"/>
            <a:ext cx="49487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不同产品在</a:t>
            </a:r>
            <a:r>
              <a:rPr lang="en-US" altLang="zh-CN" sz="2000" dirty="0">
                <a:latin typeface="微软雅黑" panose="020B0503020204020204" pitchFamily="34" charset="-122"/>
                <a:ea typeface="微软雅黑" panose="020B0503020204020204" pitchFamily="34" charset="-122"/>
              </a:rPr>
              <a:t>CAP</a:t>
            </a:r>
            <a:r>
              <a:rPr lang="zh-CN" altLang="en-US" sz="2000" dirty="0">
                <a:latin typeface="微软雅黑" panose="020B0503020204020204" pitchFamily="34" charset="-122"/>
                <a:ea typeface="微软雅黑" panose="020B0503020204020204" pitchFamily="34" charset="-122"/>
              </a:rPr>
              <a:t>理论下的不同设计原则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一致性模型</a:t>
            </a:r>
            <a:r>
              <a:rPr lang="en-US" altLang="zh-CN" dirty="0"/>
              <a:t>--</a:t>
            </a:r>
            <a:r>
              <a:rPr lang="zh-CN" altLang="en-US" dirty="0"/>
              <a:t>背景</a:t>
            </a:r>
            <a:endParaRPr lang="en-US" altLang="zh-CN" dirty="0"/>
          </a:p>
          <a:p>
            <a:pPr lvl="1"/>
            <a:r>
              <a:rPr lang="zh-CN" altLang="en-US" dirty="0"/>
              <a:t>当我们在生产线上用一台服务器来提供数据服务的时候，会遇到如下两个问题：</a:t>
            </a:r>
            <a:endParaRPr lang="en-US" altLang="zh-CN" dirty="0"/>
          </a:p>
          <a:p>
            <a:pPr lvl="2"/>
            <a:r>
              <a:rPr lang="zh-CN" altLang="en-US" dirty="0"/>
              <a:t>一台服务器的性能不足以提供足够的能力服务所有的网络请求。</a:t>
            </a:r>
            <a:endParaRPr lang="zh-CN" altLang="en-US" dirty="0"/>
          </a:p>
          <a:p>
            <a:pPr lvl="2"/>
            <a:r>
              <a:rPr lang="zh-CN" altLang="en-US" dirty="0"/>
              <a:t>我们总是担心这台服务器停机，造成服务不可用或是数据丢失。</a:t>
            </a:r>
            <a:endParaRPr lang="zh-CN" altLang="en-US" dirty="0"/>
          </a:p>
          <a:p>
            <a:pPr lvl="1"/>
            <a:r>
              <a:rPr lang="zh-CN" altLang="en-US" dirty="0"/>
              <a:t>通常，我们会通过两种手段来扩展数据服务：</a:t>
            </a:r>
            <a:endParaRPr lang="en-US" altLang="zh-CN" dirty="0"/>
          </a:p>
          <a:p>
            <a:pPr lvl="2"/>
            <a:r>
              <a:rPr lang="zh-CN" altLang="en-US" dirty="0"/>
              <a:t>数据分区：就是把数据分块放在不同的服务器上</a:t>
            </a:r>
            <a:r>
              <a:rPr lang="en-US" altLang="zh-CN" dirty="0"/>
              <a:t>(</a:t>
            </a:r>
            <a:r>
              <a:rPr lang="zh-CN" altLang="en-US" dirty="0"/>
              <a:t>如：</a:t>
            </a:r>
            <a:r>
              <a:rPr lang="en-US" altLang="zh-CN" dirty="0" err="1"/>
              <a:t>uid</a:t>
            </a:r>
            <a:r>
              <a:rPr lang="en-US" altLang="zh-CN" dirty="0"/>
              <a:t> % 16</a:t>
            </a:r>
            <a:r>
              <a:rPr lang="zh-CN" altLang="en-US" dirty="0"/>
              <a:t>，一致性哈希等</a:t>
            </a:r>
            <a:r>
              <a:rPr lang="en-US" altLang="zh-CN" dirty="0"/>
              <a:t>).</a:t>
            </a:r>
            <a:endParaRPr lang="en-US" altLang="zh-CN" dirty="0"/>
          </a:p>
          <a:p>
            <a:pPr lvl="2"/>
            <a:r>
              <a:rPr lang="zh-CN" altLang="en-US" dirty="0"/>
              <a:t>数据镜像：让所有的服务器都有相同的数据，提供相当的服务。</a:t>
            </a:r>
            <a:endParaRPr lang="zh-CN" altLang="en-US" dirty="0"/>
          </a:p>
          <a:p>
            <a:pPr lvl="1"/>
            <a:r>
              <a:rPr lang="zh-CN" altLang="en-US" dirty="0"/>
              <a:t>那么问题来了：</a:t>
            </a:r>
            <a:endParaRPr lang="en-US" altLang="zh-CN" dirty="0"/>
          </a:p>
          <a:p>
            <a:pPr lvl="2"/>
            <a:r>
              <a:rPr lang="zh-CN" altLang="en-US" dirty="0"/>
              <a:t>在数据分区的方案中：如何支持分布式事务</a:t>
            </a:r>
            <a:r>
              <a:rPr lang="en-US" altLang="zh-CN" dirty="0"/>
              <a:t>(Two-Phrase Commit)</a:t>
            </a:r>
            <a:endParaRPr lang="en-US" altLang="zh-CN" dirty="0"/>
          </a:p>
          <a:p>
            <a:pPr lvl="2"/>
            <a:r>
              <a:rPr lang="zh-CN" altLang="en-US" dirty="0"/>
              <a:t>数据镜像方案中：如何保证数据的一致性</a:t>
            </a:r>
            <a:endParaRPr lang="zh-CN" altLang="en-US" dirty="0"/>
          </a:p>
          <a:p>
            <a:pPr lvl="2"/>
            <a:endParaRPr lang="zh-CN" altLang="en-US" dirty="0"/>
          </a:p>
          <a:p>
            <a:pPr lvl="1"/>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一致性模型</a:t>
            </a:r>
            <a:r>
              <a:rPr lang="en-US" altLang="zh-CN" dirty="0"/>
              <a:t>--</a:t>
            </a:r>
            <a:r>
              <a:rPr lang="zh-CN" altLang="en-US" dirty="0"/>
              <a:t>背景</a:t>
            </a:r>
            <a:endParaRPr lang="zh-CN" altLang="en-US" dirty="0"/>
          </a:p>
          <a:p>
            <a:pPr lvl="1"/>
            <a:r>
              <a:rPr lang="zh-CN" altLang="en-US" dirty="0"/>
              <a:t>我们只讨论在数据冗余情况下考虑数据的一致性和性能的问题。简单说来：</a:t>
            </a:r>
            <a:endParaRPr lang="zh-CN" altLang="en-US" dirty="0"/>
          </a:p>
          <a:p>
            <a:pPr lvl="2"/>
            <a:r>
              <a:rPr lang="zh-CN" altLang="en-US" dirty="0"/>
              <a:t>要想让数据有高可用性，就得写多份数据。</a:t>
            </a:r>
            <a:endParaRPr lang="zh-CN" altLang="en-US" dirty="0"/>
          </a:p>
          <a:p>
            <a:pPr lvl="2"/>
            <a:endParaRPr lang="zh-CN" altLang="en-US" dirty="0"/>
          </a:p>
          <a:p>
            <a:pPr lvl="2"/>
            <a:r>
              <a:rPr lang="zh-CN" altLang="en-US" dirty="0"/>
              <a:t>写多份的问题会导致数据一致性的问题。</a:t>
            </a:r>
            <a:endParaRPr lang="zh-CN" altLang="en-US" dirty="0"/>
          </a:p>
          <a:p>
            <a:pPr lvl="2"/>
            <a:endParaRPr lang="zh-CN" altLang="en-US" dirty="0"/>
          </a:p>
          <a:p>
            <a:pPr lvl="2"/>
            <a:r>
              <a:rPr lang="zh-CN" altLang="en-US" dirty="0"/>
              <a:t>数据一致性的问题又会引发性能问题。</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数据一致性</a:t>
            </a:r>
            <a:r>
              <a:rPr lang="en-US" altLang="zh-CN" dirty="0"/>
              <a:t>--</a:t>
            </a:r>
            <a:r>
              <a:rPr lang="zh-CN" altLang="en-US" dirty="0"/>
              <a:t>分类</a:t>
            </a:r>
            <a:endParaRPr lang="en-US" altLang="zh-CN" dirty="0"/>
          </a:p>
          <a:p>
            <a:pPr lvl="1"/>
            <a:r>
              <a:rPr lang="zh-CN" altLang="en-US" dirty="0"/>
              <a:t>强一致性</a:t>
            </a:r>
            <a:endParaRPr lang="en-US" altLang="zh-CN" dirty="0"/>
          </a:p>
          <a:p>
            <a:pPr lvl="2"/>
            <a:r>
              <a:rPr lang="zh-CN" altLang="en-US" dirty="0"/>
              <a:t>强一致性</a:t>
            </a:r>
            <a:r>
              <a:rPr lang="en-US" altLang="zh-CN" dirty="0"/>
              <a:t>(</a:t>
            </a:r>
            <a:r>
              <a:rPr lang="zh-CN" altLang="en-US" dirty="0"/>
              <a:t>即时一致性</a:t>
            </a:r>
            <a:r>
              <a:rPr lang="en-US" altLang="zh-CN" dirty="0"/>
              <a:t>)</a:t>
            </a:r>
            <a:r>
              <a:rPr lang="zh-CN" altLang="en-US" dirty="0"/>
              <a:t>假如</a:t>
            </a:r>
            <a:r>
              <a:rPr lang="en-US" altLang="zh-CN" dirty="0"/>
              <a:t>A</a:t>
            </a:r>
            <a:r>
              <a:rPr lang="zh-CN" altLang="en-US" dirty="0"/>
              <a:t>先写入一个值到存储系统，存储系统保证后续的读操作都返回最新值。</a:t>
            </a:r>
            <a:endParaRPr lang="zh-CN" altLang="en-US" dirty="0"/>
          </a:p>
          <a:p>
            <a:pPr lvl="2"/>
            <a:r>
              <a:rPr lang="zh-CN" altLang="en-US" dirty="0"/>
              <a:t>例如：文件系统，</a:t>
            </a:r>
            <a:r>
              <a:rPr lang="en-US" altLang="zh-CN" dirty="0"/>
              <a:t>RDBMS</a:t>
            </a:r>
            <a:r>
              <a:rPr lang="zh-CN" altLang="en-US" dirty="0"/>
              <a:t>都是强一致性的。</a:t>
            </a:r>
            <a:endParaRPr lang="zh-CN" altLang="en-US" dirty="0"/>
          </a:p>
          <a:p>
            <a:pPr lvl="1"/>
            <a:r>
              <a:rPr lang="zh-CN" altLang="en-US" dirty="0"/>
              <a:t>弱一致性</a:t>
            </a:r>
            <a:endParaRPr lang="zh-CN" altLang="en-US" dirty="0"/>
          </a:p>
          <a:p>
            <a:pPr lvl="2"/>
            <a:r>
              <a:rPr lang="zh-CN" altLang="en-US" dirty="0"/>
              <a:t>假如</a:t>
            </a:r>
            <a:r>
              <a:rPr lang="en-US" altLang="zh-CN" dirty="0"/>
              <a:t>A</a:t>
            </a:r>
            <a:r>
              <a:rPr lang="zh-CN" altLang="en-US" dirty="0"/>
              <a:t>先写入了一个值到存储系统，存储系统不能保证后续读取操作能够读到最新值。</a:t>
            </a:r>
            <a:endParaRPr lang="zh-CN" altLang="en-US" dirty="0"/>
          </a:p>
          <a:p>
            <a:pPr lvl="2"/>
            <a:r>
              <a:rPr lang="zh-CN" altLang="en-US" dirty="0"/>
              <a:t>这种情况下有一个“不一致性窗口”，它特指从</a:t>
            </a:r>
            <a:r>
              <a:rPr lang="en-US" altLang="zh-CN" dirty="0"/>
              <a:t>A</a:t>
            </a:r>
            <a:r>
              <a:rPr lang="zh-CN" altLang="en-US" dirty="0"/>
              <a:t>写入值，到后续操作</a:t>
            </a:r>
            <a:r>
              <a:rPr lang="en-US" altLang="zh-CN" dirty="0"/>
              <a:t>A,B,C</a:t>
            </a:r>
            <a:r>
              <a:rPr lang="zh-CN" altLang="en-US" dirty="0"/>
              <a:t>读取到最新值这一段时间。</a:t>
            </a:r>
            <a:endParaRPr lang="zh-CN" altLang="en-US" dirty="0"/>
          </a:p>
          <a:p>
            <a:pPr lvl="2"/>
            <a:r>
              <a:rPr lang="zh-CN" altLang="en-US" dirty="0"/>
              <a:t>例如：某些</a:t>
            </a:r>
            <a:r>
              <a:rPr lang="en-US" altLang="zh-CN" dirty="0"/>
              <a:t>cache</a:t>
            </a:r>
            <a:r>
              <a:rPr lang="zh-CN" altLang="en-US" dirty="0"/>
              <a:t>系统，网络游戏其它玩家的数据和你没什么关系，或是百度搜索引擎。</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数据一致性</a:t>
            </a:r>
            <a:r>
              <a:rPr lang="en-US" altLang="zh-CN" dirty="0"/>
              <a:t>--</a:t>
            </a:r>
            <a:r>
              <a:rPr lang="zh-CN" altLang="en-US" dirty="0"/>
              <a:t>分类</a:t>
            </a:r>
            <a:endParaRPr lang="en-US" altLang="zh-CN" dirty="0"/>
          </a:p>
          <a:p>
            <a:pPr lvl="1"/>
            <a:r>
              <a:rPr lang="zh-CN" altLang="en-US" dirty="0"/>
              <a:t>最终一致性</a:t>
            </a:r>
            <a:endParaRPr lang="zh-CN" altLang="en-US" dirty="0"/>
          </a:p>
          <a:p>
            <a:pPr lvl="2"/>
            <a:r>
              <a:rPr lang="zh-CN" altLang="en-US" dirty="0"/>
              <a:t>最终一致性是弱一致性的一种特例</a:t>
            </a:r>
            <a:endParaRPr lang="zh-CN" altLang="en-US" dirty="0"/>
          </a:p>
          <a:p>
            <a:pPr lvl="2"/>
            <a:r>
              <a:rPr lang="zh-CN" altLang="en-US" dirty="0"/>
              <a:t>假如</a:t>
            </a:r>
            <a:r>
              <a:rPr lang="en-US" altLang="zh-CN" dirty="0"/>
              <a:t>A</a:t>
            </a:r>
            <a:r>
              <a:rPr lang="zh-CN" altLang="en-US" dirty="0"/>
              <a:t>首先</a:t>
            </a:r>
            <a:r>
              <a:rPr lang="en-US" altLang="zh-CN" dirty="0"/>
              <a:t>write</a:t>
            </a:r>
            <a:r>
              <a:rPr lang="zh-CN" altLang="en-US" dirty="0"/>
              <a:t>了一个值到存储系统，存储系统保证，如果在</a:t>
            </a:r>
            <a:r>
              <a:rPr lang="en-US" altLang="zh-CN" dirty="0"/>
              <a:t>A,B,C</a:t>
            </a:r>
            <a:r>
              <a:rPr lang="zh-CN" altLang="en-US" dirty="0"/>
              <a:t>后续读取之前没有其他写操作更新同样的值的话，最终所有的读取操作都会读取到</a:t>
            </a:r>
            <a:r>
              <a:rPr lang="en-US" altLang="zh-CN" dirty="0"/>
              <a:t>A</a:t>
            </a:r>
            <a:r>
              <a:rPr lang="zh-CN" altLang="en-US" dirty="0"/>
              <a:t>写入的最新的值。</a:t>
            </a:r>
            <a:endParaRPr lang="zh-CN" altLang="en-US" dirty="0"/>
          </a:p>
          <a:p>
            <a:pPr lvl="2"/>
            <a:r>
              <a:rPr lang="zh-CN" altLang="en-US" dirty="0"/>
              <a:t>这种情况下，如果没有失败发生的话，“不一致性窗口”的大小依赖以下的几个因素：</a:t>
            </a:r>
            <a:endParaRPr lang="en-US" altLang="zh-CN" dirty="0"/>
          </a:p>
          <a:p>
            <a:pPr lvl="3"/>
            <a:r>
              <a:rPr lang="zh-CN" altLang="en-US" dirty="0"/>
              <a:t>交互延迟</a:t>
            </a:r>
            <a:endParaRPr lang="zh-CN" altLang="en-US" dirty="0"/>
          </a:p>
          <a:p>
            <a:pPr lvl="3"/>
            <a:r>
              <a:rPr lang="zh-CN" altLang="en-US" dirty="0"/>
              <a:t>系统的负载</a:t>
            </a:r>
            <a:endParaRPr lang="zh-CN" altLang="en-US" dirty="0"/>
          </a:p>
          <a:p>
            <a:pPr lvl="3"/>
            <a:r>
              <a:rPr lang="zh-CN" altLang="en-US" dirty="0"/>
              <a:t>复制架构中</a:t>
            </a:r>
            <a:r>
              <a:rPr lang="en-US" altLang="zh-CN" dirty="0"/>
              <a:t>replica</a:t>
            </a:r>
            <a:r>
              <a:rPr lang="zh-CN" altLang="en-US" dirty="0"/>
              <a:t>的个数</a:t>
            </a:r>
            <a:r>
              <a:rPr lang="en-US" altLang="zh-CN" dirty="0"/>
              <a:t>(</a:t>
            </a:r>
            <a:r>
              <a:rPr lang="zh-CN" altLang="en-US" dirty="0"/>
              <a:t>可以理解为</a:t>
            </a:r>
            <a:r>
              <a:rPr lang="en-US" altLang="zh-CN" dirty="0"/>
              <a:t>master/slave</a:t>
            </a:r>
            <a:r>
              <a:rPr lang="zh-CN" altLang="en-US" dirty="0"/>
              <a:t>模式中，</a:t>
            </a:r>
            <a:r>
              <a:rPr lang="en-US" altLang="zh-CN" dirty="0"/>
              <a:t>slave</a:t>
            </a:r>
            <a:r>
              <a:rPr lang="zh-CN" altLang="en-US" dirty="0"/>
              <a:t>的个数</a:t>
            </a:r>
            <a:r>
              <a:rPr lang="en-US" altLang="zh-CN" dirty="0"/>
              <a:t>)</a:t>
            </a:r>
            <a:endParaRPr lang="en-US" altLang="zh-CN" dirty="0"/>
          </a:p>
          <a:p>
            <a:pPr lvl="2"/>
            <a:r>
              <a:rPr lang="zh-CN" altLang="en-US" dirty="0"/>
              <a:t>例如：</a:t>
            </a:r>
            <a:r>
              <a:rPr lang="en-US" altLang="zh-CN" dirty="0"/>
              <a:t>DNS</a:t>
            </a:r>
            <a:r>
              <a:rPr lang="zh-CN" altLang="en-US" dirty="0"/>
              <a:t>，电子邮件。</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一致性模型</a:t>
            </a:r>
            <a:r>
              <a:rPr lang="en-US" altLang="zh-CN" dirty="0"/>
              <a:t>--</a:t>
            </a:r>
            <a:r>
              <a:rPr lang="zh-CN" altLang="en-US" dirty="0"/>
              <a:t>最终一致性</a:t>
            </a:r>
            <a:endParaRPr lang="zh-CN" altLang="en-US" dirty="0"/>
          </a:p>
          <a:p>
            <a:pPr lvl="1"/>
            <a:r>
              <a:rPr lang="en-US" altLang="zh-CN" dirty="0"/>
              <a:t>Master-Slave(</a:t>
            </a:r>
            <a:r>
              <a:rPr lang="en-US" altLang="zh-CN" dirty="0" err="1"/>
              <a:t>redis</a:t>
            </a:r>
            <a:r>
              <a:rPr lang="en-US" altLang="zh-CN" dirty="0"/>
              <a:t>):</a:t>
            </a:r>
            <a:endParaRPr lang="en-US" altLang="zh-CN" dirty="0"/>
          </a:p>
          <a:p>
            <a:pPr lvl="2"/>
            <a:r>
              <a:rPr lang="zh-CN" altLang="en-US" dirty="0"/>
              <a:t>读写请求都由</a:t>
            </a:r>
            <a:r>
              <a:rPr lang="en-US" altLang="zh-CN" dirty="0"/>
              <a:t>Master</a:t>
            </a:r>
            <a:r>
              <a:rPr lang="zh-CN" altLang="en-US" dirty="0"/>
              <a:t>负责。</a:t>
            </a:r>
            <a:endParaRPr lang="zh-CN" altLang="en-US" dirty="0"/>
          </a:p>
          <a:p>
            <a:pPr lvl="2"/>
            <a:r>
              <a:rPr lang="zh-CN" altLang="en-US" dirty="0"/>
              <a:t>写请求写到</a:t>
            </a:r>
            <a:r>
              <a:rPr lang="en-US" altLang="zh-CN" dirty="0"/>
              <a:t>Master</a:t>
            </a:r>
            <a:r>
              <a:rPr lang="zh-CN" altLang="en-US" dirty="0"/>
              <a:t>上，然后由</a:t>
            </a:r>
            <a:r>
              <a:rPr lang="en-US" altLang="zh-CN" dirty="0"/>
              <a:t>Master</a:t>
            </a:r>
            <a:r>
              <a:rPr lang="zh-CN" altLang="en-US" dirty="0"/>
              <a:t>同步到</a:t>
            </a:r>
            <a:r>
              <a:rPr lang="en-US" altLang="zh-CN" dirty="0"/>
              <a:t>Slave</a:t>
            </a:r>
            <a:r>
              <a:rPr lang="zh-CN" altLang="en-US" dirty="0"/>
              <a:t>上。</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51470" y="1684147"/>
            <a:ext cx="6410325" cy="43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92500" lnSpcReduction="10000"/>
          </a:bodyPr>
          <a:lstStyle/>
          <a:p>
            <a:r>
              <a:rPr lang="zh-CN" altLang="en-US" dirty="0"/>
              <a:t>一致性模型</a:t>
            </a:r>
            <a:r>
              <a:rPr lang="en-US" altLang="zh-CN" dirty="0"/>
              <a:t>--</a:t>
            </a:r>
            <a:r>
              <a:rPr lang="zh-CN" altLang="en-US" dirty="0"/>
              <a:t>最终一致性</a:t>
            </a:r>
            <a:endParaRPr lang="zh-CN" altLang="en-US" dirty="0"/>
          </a:p>
          <a:p>
            <a:pPr lvl="1"/>
            <a:r>
              <a:rPr lang="en-US" altLang="zh-CN" dirty="0"/>
              <a:t>Master-Master(Amazon Dynamo):</a:t>
            </a:r>
            <a:endParaRPr lang="en-US" altLang="zh-CN" dirty="0"/>
          </a:p>
          <a:p>
            <a:pPr lvl="2"/>
            <a:r>
              <a:rPr lang="zh-CN" altLang="en-US" dirty="0"/>
              <a:t>一个系统存在两个或多个</a:t>
            </a:r>
            <a:r>
              <a:rPr lang="en-US" altLang="zh-CN" dirty="0"/>
              <a:t>Master</a:t>
            </a:r>
            <a:r>
              <a:rPr lang="zh-CN" altLang="en-US" dirty="0"/>
              <a:t>。</a:t>
            </a:r>
            <a:endParaRPr lang="zh-CN" altLang="en-US" dirty="0"/>
          </a:p>
          <a:p>
            <a:pPr lvl="2"/>
            <a:r>
              <a:rPr lang="zh-CN" altLang="en-US" dirty="0"/>
              <a:t>每个</a:t>
            </a:r>
            <a:r>
              <a:rPr lang="en-US" altLang="zh-CN" dirty="0"/>
              <a:t>Master</a:t>
            </a:r>
            <a:r>
              <a:rPr lang="zh-CN" altLang="en-US" dirty="0"/>
              <a:t>都提供</a:t>
            </a:r>
            <a:r>
              <a:rPr lang="en-US" altLang="zh-CN" dirty="0"/>
              <a:t>read-write</a:t>
            </a:r>
            <a:r>
              <a:rPr lang="zh-CN" altLang="en-US" dirty="0"/>
              <a:t>服务。</a:t>
            </a:r>
            <a:endParaRPr lang="en-US" altLang="zh-CN" dirty="0"/>
          </a:p>
          <a:p>
            <a:pPr lvl="1"/>
            <a:r>
              <a:rPr lang="zh-CN" altLang="en-US" dirty="0"/>
              <a:t>假设某数据三个副本分别存在</a:t>
            </a:r>
            <a:r>
              <a:rPr lang="en-US" altLang="zh-CN" dirty="0"/>
              <a:t>node1,node2,node3</a:t>
            </a:r>
            <a:r>
              <a:rPr lang="zh-CN" altLang="en-US" dirty="0"/>
              <a:t>中</a:t>
            </a:r>
            <a:r>
              <a:rPr lang="en-US" altLang="zh-CN" dirty="0"/>
              <a:t>,(N=3</a:t>
            </a:r>
            <a:r>
              <a:rPr lang="zh-CN" altLang="en-US" dirty="0"/>
              <a:t>，</a:t>
            </a:r>
            <a:r>
              <a:rPr lang="en-US" altLang="zh-CN" dirty="0"/>
              <a:t>R=W=2)</a:t>
            </a:r>
            <a:endParaRPr lang="en-US" altLang="zh-CN" dirty="0"/>
          </a:p>
          <a:p>
            <a:pPr lvl="1"/>
            <a:r>
              <a:rPr lang="zh-CN" altLang="en-US" dirty="0"/>
              <a:t>第一次更新：</a:t>
            </a:r>
            <a:r>
              <a:rPr lang="en-US" altLang="zh-CN" dirty="0"/>
              <a:t>node1</a:t>
            </a:r>
            <a:r>
              <a:rPr lang="zh-CN" altLang="en-US" dirty="0"/>
              <a:t>失效，成功更新</a:t>
            </a:r>
            <a:r>
              <a:rPr lang="en-US" altLang="zh-CN" dirty="0"/>
              <a:t>node2</a:t>
            </a:r>
            <a:r>
              <a:rPr lang="zh-CN" altLang="en-US" dirty="0"/>
              <a:t>，</a:t>
            </a:r>
            <a:r>
              <a:rPr lang="en-US" altLang="zh-CN" dirty="0"/>
              <a:t>node3</a:t>
            </a:r>
            <a:r>
              <a:rPr lang="zh-CN" altLang="en-US" dirty="0"/>
              <a:t>，返回</a:t>
            </a:r>
            <a:endParaRPr lang="zh-CN" altLang="en-US" dirty="0"/>
          </a:p>
          <a:p>
            <a:pPr lvl="1"/>
            <a:r>
              <a:rPr lang="zh-CN" altLang="en-US" dirty="0"/>
              <a:t>第二次更新：</a:t>
            </a:r>
            <a:r>
              <a:rPr lang="en-US" altLang="zh-CN" dirty="0"/>
              <a:t>node3</a:t>
            </a:r>
            <a:r>
              <a:rPr lang="zh-CN" altLang="en-US" dirty="0"/>
              <a:t>失效，成功更新</a:t>
            </a:r>
            <a:r>
              <a:rPr lang="en-US" altLang="zh-CN" dirty="0"/>
              <a:t>node1</a:t>
            </a:r>
            <a:r>
              <a:rPr lang="zh-CN" altLang="en-US" dirty="0"/>
              <a:t>，</a:t>
            </a:r>
            <a:r>
              <a:rPr lang="en-US" altLang="zh-CN" dirty="0"/>
              <a:t>node2</a:t>
            </a:r>
            <a:r>
              <a:rPr lang="zh-CN" altLang="en-US" dirty="0"/>
              <a:t>，返回</a:t>
            </a:r>
            <a:endParaRPr lang="zh-CN" altLang="en-US" dirty="0"/>
          </a:p>
          <a:p>
            <a:pPr lvl="1"/>
            <a:r>
              <a:rPr lang="zh-CN" altLang="en-US" dirty="0"/>
              <a:t>这时候</a:t>
            </a:r>
            <a:r>
              <a:rPr lang="en-US" altLang="zh-CN" dirty="0"/>
              <a:t>node2</a:t>
            </a:r>
            <a:r>
              <a:rPr lang="zh-CN" altLang="en-US" dirty="0"/>
              <a:t>才是正确数据，</a:t>
            </a:r>
            <a:r>
              <a:rPr lang="en-US" altLang="zh-CN" dirty="0"/>
              <a:t>node1</a:t>
            </a:r>
            <a:r>
              <a:rPr lang="zh-CN" altLang="en-US" dirty="0"/>
              <a:t>和</a:t>
            </a:r>
            <a:r>
              <a:rPr lang="en-US" altLang="zh-CN" dirty="0"/>
              <a:t>node3</a:t>
            </a:r>
            <a:r>
              <a:rPr lang="zh-CN" altLang="en-US" dirty="0"/>
              <a:t>都只是部分更新</a:t>
            </a:r>
            <a:endParaRPr lang="zh-CN" altLang="en-US" dirty="0"/>
          </a:p>
          <a:p>
            <a:pPr lvl="1"/>
            <a:r>
              <a:rPr lang="zh-CN" altLang="en-US" dirty="0"/>
              <a:t>此时</a:t>
            </a:r>
            <a:r>
              <a:rPr lang="en-US" altLang="zh-CN" dirty="0"/>
              <a:t>node2</a:t>
            </a:r>
            <a:r>
              <a:rPr lang="zh-CN" altLang="en-US" dirty="0"/>
              <a:t>失效，发生读请求，读到</a:t>
            </a:r>
            <a:r>
              <a:rPr lang="en-US" altLang="zh-CN" dirty="0"/>
              <a:t>node1</a:t>
            </a:r>
            <a:r>
              <a:rPr lang="zh-CN" altLang="en-US" dirty="0"/>
              <a:t>和</a:t>
            </a:r>
            <a:r>
              <a:rPr lang="en-US" altLang="zh-CN" dirty="0"/>
              <a:t>node3</a:t>
            </a:r>
            <a:r>
              <a:rPr lang="zh-CN" altLang="en-US" dirty="0"/>
              <a:t>数据，返回</a:t>
            </a:r>
            <a:endParaRPr lang="zh-CN" altLang="en-US" dirty="0"/>
          </a:p>
          <a:p>
            <a:pPr lvl="1"/>
            <a:r>
              <a:rPr lang="zh-CN" altLang="en-US" dirty="0"/>
              <a:t>这时候读到的两个版本都只是部分更新，而且还有版本冲突的情况，只能依赖用户自己解决</a:t>
            </a:r>
            <a:r>
              <a:rPr lang="en-US" altLang="zh-CN" dirty="0"/>
              <a:t>(Vector Clock)</a:t>
            </a:r>
            <a:r>
              <a:rPr lang="zh-CN" altLang="en-US" dirty="0"/>
              <a:t>。</a:t>
            </a:r>
            <a:endParaRPr lang="zh-CN" altLang="en-US" dirty="0"/>
          </a:p>
          <a:p>
            <a:pPr lvl="1"/>
            <a:endParaRPr lang="en-US" altLang="zh-CN"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一致性模型</a:t>
            </a:r>
            <a:r>
              <a:rPr lang="en-US" altLang="zh-CN" dirty="0"/>
              <a:t>--</a:t>
            </a:r>
            <a:r>
              <a:rPr lang="zh-CN" altLang="en-US" dirty="0"/>
              <a:t>强一致性</a:t>
            </a:r>
            <a:endParaRPr lang="zh-CN" altLang="en-US" dirty="0"/>
          </a:p>
          <a:p>
            <a:pPr lvl="1"/>
            <a:r>
              <a:rPr lang="en-US" altLang="zh-CN" dirty="0"/>
              <a:t>Two Phase Commit:</a:t>
            </a:r>
            <a:endParaRPr lang="en-US" altLang="zh-CN" dirty="0"/>
          </a:p>
          <a:p>
            <a:pPr lvl="2"/>
            <a:r>
              <a:rPr lang="zh-CN" altLang="en-US" dirty="0"/>
              <a:t>在分布式系统中，为了保持事务的</a:t>
            </a:r>
            <a:r>
              <a:rPr lang="en-US" altLang="zh-CN" dirty="0"/>
              <a:t>ACID</a:t>
            </a:r>
            <a:r>
              <a:rPr lang="zh-CN" altLang="en-US" dirty="0"/>
              <a:t>特性，需要引入一个作为协调者的组件来统一掌控所有节点</a:t>
            </a:r>
            <a:r>
              <a:rPr lang="en-US" altLang="zh-CN" dirty="0"/>
              <a:t>(</a:t>
            </a:r>
            <a:r>
              <a:rPr lang="zh-CN" altLang="en-US" dirty="0"/>
              <a:t>称作参与者</a:t>
            </a:r>
            <a:r>
              <a:rPr lang="en-US" altLang="zh-CN" dirty="0"/>
              <a:t>)</a:t>
            </a:r>
            <a:r>
              <a:rPr lang="zh-CN" altLang="en-US" dirty="0"/>
              <a:t>的操作结果并最终指示这些节点是否要把操作结果进行真正的提交</a:t>
            </a:r>
            <a:r>
              <a:rPr lang="en-US" altLang="zh-CN" dirty="0"/>
              <a:t>(</a:t>
            </a:r>
            <a:r>
              <a:rPr lang="zh-CN" altLang="en-US" dirty="0"/>
              <a:t>比如将更新后的数据写入磁盘等等</a:t>
            </a:r>
            <a:r>
              <a:rPr lang="en-US" altLang="zh-CN" dirty="0"/>
              <a:t>)</a:t>
            </a:r>
            <a:r>
              <a:rPr lang="zh-CN" altLang="en-US" dirty="0"/>
              <a:t>。</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26204" y="3395673"/>
            <a:ext cx="6939592" cy="3283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lnSpcReduction="10000"/>
          </a:bodyPr>
          <a:lstStyle/>
          <a:p>
            <a:r>
              <a:rPr lang="zh-CN" altLang="en-US" dirty="0"/>
              <a:t>一致性模型</a:t>
            </a:r>
            <a:r>
              <a:rPr lang="en-US" altLang="zh-CN" dirty="0"/>
              <a:t>--</a:t>
            </a:r>
            <a:r>
              <a:rPr lang="zh-CN" altLang="en-US" dirty="0"/>
              <a:t>强一致性</a:t>
            </a:r>
            <a:endParaRPr lang="zh-CN" altLang="en-US" dirty="0"/>
          </a:p>
          <a:p>
            <a:pPr lvl="1"/>
            <a:r>
              <a:rPr lang="en-US" altLang="zh-CN" dirty="0"/>
              <a:t>Two Phase Commit:</a:t>
            </a:r>
            <a:endParaRPr lang="en-US" altLang="zh-CN" dirty="0"/>
          </a:p>
          <a:p>
            <a:pPr lvl="2"/>
            <a:r>
              <a:rPr lang="zh-CN" altLang="en-US" dirty="0"/>
              <a:t>第一阶段：</a:t>
            </a:r>
            <a:endParaRPr lang="en-US" altLang="zh-CN" dirty="0"/>
          </a:p>
          <a:p>
            <a:pPr lvl="3"/>
            <a:r>
              <a:rPr lang="zh-CN" altLang="en-US" dirty="0"/>
              <a:t>协调者会问所有的参与者结点，是否可以执行提交操作。</a:t>
            </a:r>
            <a:endParaRPr lang="zh-CN" altLang="en-US" dirty="0"/>
          </a:p>
          <a:p>
            <a:pPr lvl="3"/>
            <a:r>
              <a:rPr lang="zh-CN" altLang="en-US" dirty="0"/>
              <a:t>各个参与者开始事务执行的准备工作：如：为资源上锁，预留资源，写</a:t>
            </a:r>
            <a:r>
              <a:rPr lang="en-US" altLang="zh-CN" dirty="0"/>
              <a:t>undo/redo log……</a:t>
            </a:r>
            <a:endParaRPr lang="en-US" altLang="zh-CN" dirty="0"/>
          </a:p>
          <a:p>
            <a:pPr lvl="3"/>
            <a:r>
              <a:rPr lang="zh-CN" altLang="en-US" dirty="0"/>
              <a:t>参与者响应协调者，如果事务的准备工作成功，则回应“可以提交”，否则回应“拒绝提交”。</a:t>
            </a:r>
            <a:endParaRPr lang="zh-CN" altLang="en-US" dirty="0"/>
          </a:p>
          <a:p>
            <a:pPr lvl="2"/>
            <a:r>
              <a:rPr lang="zh-CN" altLang="en-US" dirty="0"/>
              <a:t>第二阶段：</a:t>
            </a:r>
            <a:endParaRPr lang="zh-CN" altLang="en-US" dirty="0"/>
          </a:p>
          <a:p>
            <a:pPr lvl="3"/>
            <a:r>
              <a:rPr lang="zh-CN" altLang="en-US" dirty="0"/>
              <a:t>如果所有的参与者都回应“可以提交”，那么，协调者向所有的参与者发送“正式提交”的命令。参与者完成正式提交，并释放所有资源，然后回应“完成”，协调者收集各结点的“完成”回应后结束这个</a:t>
            </a:r>
            <a:r>
              <a:rPr lang="en-US" altLang="zh-CN" dirty="0"/>
              <a:t>Global Transaction</a:t>
            </a:r>
            <a:r>
              <a:rPr lang="zh-CN" altLang="en-US" dirty="0"/>
              <a:t>。</a:t>
            </a:r>
            <a:endParaRPr lang="zh-CN" altLang="en-US" dirty="0"/>
          </a:p>
          <a:p>
            <a:pPr lvl="3"/>
            <a:r>
              <a:rPr lang="zh-CN" altLang="en-US" dirty="0"/>
              <a:t>如果有一个参与者回应“拒绝提交”，那么，协调者向所有的参与者发送“回滚操作”，并释放所有资源，然后回应“回滚完成”，协调者收集各结点的“回滚”回应后，取消这个</a:t>
            </a:r>
            <a:r>
              <a:rPr lang="en-US" altLang="zh-CN" dirty="0"/>
              <a:t>Global Transaction</a:t>
            </a:r>
            <a:r>
              <a:rPr lang="zh-CN" altLang="en-US" dirty="0"/>
              <a:t>。</a:t>
            </a:r>
            <a:endParaRPr lang="zh-CN" altLang="en-US" dirty="0"/>
          </a:p>
          <a:p>
            <a:pPr lvl="3"/>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85000" lnSpcReduction="20000"/>
          </a:bodyPr>
          <a:lstStyle/>
          <a:p>
            <a:r>
              <a:rPr lang="zh-CN" altLang="en-US" dirty="0"/>
              <a:t>其他数据一致性分类</a:t>
            </a:r>
            <a:endParaRPr lang="en-US" altLang="zh-CN" dirty="0"/>
          </a:p>
          <a:p>
            <a:pPr lvl="1"/>
            <a:r>
              <a:rPr lang="en-US" altLang="zh-CN" dirty="0"/>
              <a:t>Causal consistency(</a:t>
            </a:r>
            <a:r>
              <a:rPr lang="zh-CN" altLang="en-US" dirty="0"/>
              <a:t>因果一致性</a:t>
            </a:r>
            <a:r>
              <a:rPr lang="en-US" altLang="zh-CN" dirty="0"/>
              <a:t>)</a:t>
            </a:r>
            <a:endParaRPr lang="en-US" altLang="zh-CN" dirty="0"/>
          </a:p>
          <a:p>
            <a:pPr lvl="2"/>
            <a:r>
              <a:rPr lang="zh-CN" altLang="en-US" dirty="0"/>
              <a:t>如果</a:t>
            </a:r>
            <a:r>
              <a:rPr lang="en-US" altLang="zh-CN" dirty="0"/>
              <a:t>Process A</a:t>
            </a:r>
            <a:r>
              <a:rPr lang="zh-CN" altLang="en-US" dirty="0"/>
              <a:t>通知</a:t>
            </a:r>
            <a:r>
              <a:rPr lang="en-US" altLang="zh-CN" dirty="0"/>
              <a:t>Process B</a:t>
            </a:r>
            <a:r>
              <a:rPr lang="zh-CN" altLang="en-US" dirty="0"/>
              <a:t>它已经更新了数据，那么</a:t>
            </a:r>
            <a:r>
              <a:rPr lang="en-US" altLang="zh-CN" dirty="0"/>
              <a:t>Process B</a:t>
            </a:r>
            <a:r>
              <a:rPr lang="zh-CN" altLang="en-US" dirty="0"/>
              <a:t>的后续读取操作则读取</a:t>
            </a:r>
            <a:r>
              <a:rPr lang="en-US" altLang="zh-CN" dirty="0"/>
              <a:t>A</a:t>
            </a:r>
            <a:r>
              <a:rPr lang="zh-CN" altLang="en-US" dirty="0"/>
              <a:t>写入的最新值，而与</a:t>
            </a:r>
            <a:r>
              <a:rPr lang="en-US" altLang="zh-CN" dirty="0"/>
              <a:t>A</a:t>
            </a:r>
            <a:r>
              <a:rPr lang="zh-CN" altLang="en-US" dirty="0"/>
              <a:t>没有因果关系的</a:t>
            </a:r>
            <a:r>
              <a:rPr lang="en-US" altLang="zh-CN" dirty="0"/>
              <a:t>C</a:t>
            </a:r>
            <a:r>
              <a:rPr lang="zh-CN" altLang="en-US" dirty="0"/>
              <a:t>则可以最终一致性。 </a:t>
            </a:r>
            <a:endParaRPr lang="en-US" altLang="zh-CN" dirty="0"/>
          </a:p>
          <a:p>
            <a:pPr lvl="1"/>
            <a:r>
              <a:rPr lang="en-US" altLang="zh-CN" dirty="0"/>
              <a:t>Read-your-writes consistency(</a:t>
            </a:r>
            <a:r>
              <a:rPr lang="zh-CN" altLang="en-US" dirty="0"/>
              <a:t>过程一致性</a:t>
            </a:r>
            <a:r>
              <a:rPr lang="en-US" altLang="zh-CN" dirty="0"/>
              <a:t>)</a:t>
            </a:r>
            <a:endParaRPr lang="en-US" altLang="zh-CN" dirty="0"/>
          </a:p>
          <a:p>
            <a:pPr lvl="2"/>
            <a:r>
              <a:rPr lang="zh-CN" altLang="en-US" dirty="0"/>
              <a:t>如果</a:t>
            </a:r>
            <a:r>
              <a:rPr lang="en-US" altLang="zh-CN" dirty="0"/>
              <a:t>Process A</a:t>
            </a:r>
            <a:r>
              <a:rPr lang="zh-CN" altLang="en-US" dirty="0"/>
              <a:t>写入了最新的值，那么</a:t>
            </a:r>
            <a:r>
              <a:rPr lang="en-US" altLang="zh-CN" dirty="0"/>
              <a:t>Process A</a:t>
            </a:r>
            <a:r>
              <a:rPr lang="zh-CN" altLang="en-US" dirty="0"/>
              <a:t>的后续操作都会读取到最新值。但是其它用户可能要过一会才可以看到。 </a:t>
            </a:r>
            <a:endParaRPr lang="en-US" altLang="zh-CN" dirty="0"/>
          </a:p>
          <a:p>
            <a:pPr lvl="1"/>
            <a:r>
              <a:rPr lang="en-US" altLang="zh-CN" dirty="0"/>
              <a:t>Session consistency(</a:t>
            </a:r>
            <a:r>
              <a:rPr lang="zh-CN" altLang="en-US" dirty="0"/>
              <a:t>会话一致性</a:t>
            </a:r>
            <a:r>
              <a:rPr lang="en-US" altLang="zh-CN" dirty="0"/>
              <a:t>)</a:t>
            </a:r>
            <a:endParaRPr lang="en-US" altLang="zh-CN" dirty="0"/>
          </a:p>
          <a:p>
            <a:pPr lvl="2"/>
            <a:r>
              <a:rPr lang="zh-CN" altLang="en-US" dirty="0"/>
              <a:t>此种一致性要求客户端和存储系统交互的整个会话阶段保证</a:t>
            </a:r>
            <a:r>
              <a:rPr lang="en-US" altLang="zh-CN" dirty="0"/>
              <a:t>Read-your-writes consistency</a:t>
            </a:r>
            <a:endParaRPr lang="en-US" altLang="zh-CN" dirty="0"/>
          </a:p>
          <a:p>
            <a:pPr lvl="2"/>
            <a:r>
              <a:rPr lang="zh-CN" altLang="en-US" dirty="0"/>
              <a:t>例如：</a:t>
            </a:r>
            <a:r>
              <a:rPr lang="en-US" altLang="zh-CN" dirty="0"/>
              <a:t>Hibernate</a:t>
            </a:r>
            <a:r>
              <a:rPr lang="zh-CN" altLang="en-US" dirty="0"/>
              <a:t>的</a:t>
            </a:r>
            <a:r>
              <a:rPr lang="en-US" altLang="zh-CN" dirty="0"/>
              <a:t>session</a:t>
            </a:r>
            <a:r>
              <a:rPr lang="zh-CN" altLang="en-US" dirty="0"/>
              <a:t>提供的一致性保证就属于此种。 </a:t>
            </a:r>
            <a:endParaRPr lang="en-US" altLang="zh-CN" dirty="0"/>
          </a:p>
          <a:p>
            <a:pPr lvl="1"/>
            <a:r>
              <a:rPr lang="en-US" altLang="zh-CN" dirty="0"/>
              <a:t>Monotonic read consistency(</a:t>
            </a:r>
            <a:r>
              <a:rPr lang="zh-CN" altLang="en-US" dirty="0"/>
              <a:t>简单读一致性</a:t>
            </a:r>
            <a:r>
              <a:rPr lang="en-US" altLang="zh-CN" dirty="0"/>
              <a:t>)</a:t>
            </a:r>
            <a:endParaRPr lang="en-US" altLang="zh-CN" dirty="0"/>
          </a:p>
          <a:p>
            <a:pPr lvl="2"/>
            <a:r>
              <a:rPr lang="zh-CN" altLang="en-US" dirty="0"/>
              <a:t>此种一致性要求如果</a:t>
            </a:r>
            <a:r>
              <a:rPr lang="en-US" altLang="zh-CN" dirty="0"/>
              <a:t>Process A</a:t>
            </a:r>
            <a:r>
              <a:rPr lang="zh-CN" altLang="en-US" dirty="0"/>
              <a:t>已经读取了对象的某个值，那么后续操作将不会读取到更早的值。 </a:t>
            </a:r>
            <a:endParaRPr lang="en-US" altLang="zh-CN" dirty="0"/>
          </a:p>
          <a:p>
            <a:pPr lvl="1"/>
            <a:r>
              <a:rPr lang="en-US" altLang="zh-CN" dirty="0"/>
              <a:t>Monotonic write consistency(</a:t>
            </a:r>
            <a:r>
              <a:rPr lang="zh-CN" altLang="en-US" dirty="0"/>
              <a:t>简单写一致性</a:t>
            </a:r>
            <a:r>
              <a:rPr lang="en-US" altLang="zh-CN" dirty="0"/>
              <a:t>)</a:t>
            </a:r>
            <a:endParaRPr lang="en-US" altLang="zh-CN" dirty="0"/>
          </a:p>
          <a:p>
            <a:pPr lvl="2"/>
            <a:r>
              <a:rPr lang="zh-CN" altLang="en-US" dirty="0"/>
              <a:t>此种一致性保证系统会序列化执行一个</a:t>
            </a:r>
            <a:r>
              <a:rPr lang="en-US" altLang="zh-CN" dirty="0"/>
              <a:t>Process</a:t>
            </a:r>
            <a:r>
              <a:rPr lang="zh-CN" altLang="en-US" dirty="0"/>
              <a:t>中的所有写操作。 </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a:bodyPr>
          <a:lstStyle/>
          <a:p>
            <a:r>
              <a:rPr lang="zh-CN" altLang="en-US" dirty="0"/>
              <a:t>服务器一致性</a:t>
            </a:r>
            <a:endParaRPr lang="en-US" altLang="zh-CN" dirty="0"/>
          </a:p>
          <a:p>
            <a:pPr lvl="1"/>
            <a:r>
              <a:rPr lang="zh-CN" altLang="en-US" dirty="0"/>
              <a:t>概念：</a:t>
            </a:r>
            <a:endParaRPr lang="en-US" altLang="zh-CN" dirty="0"/>
          </a:p>
          <a:p>
            <a:pPr lvl="2"/>
            <a:r>
              <a:rPr lang="en-US" altLang="zh-CN" dirty="0"/>
              <a:t>N</a:t>
            </a:r>
            <a:r>
              <a:rPr lang="zh-CN" altLang="en-US" dirty="0"/>
              <a:t>：节点个数</a:t>
            </a:r>
            <a:endParaRPr lang="zh-CN" altLang="en-US" dirty="0"/>
          </a:p>
          <a:p>
            <a:pPr lvl="2"/>
            <a:r>
              <a:rPr lang="en-US" altLang="zh-CN" dirty="0"/>
              <a:t>W</a:t>
            </a:r>
            <a:r>
              <a:rPr lang="zh-CN" altLang="en-US" dirty="0"/>
              <a:t>：更新数据时需要确认已经被更新的节点个数</a:t>
            </a:r>
            <a:endParaRPr lang="zh-CN" altLang="en-US" dirty="0"/>
          </a:p>
          <a:p>
            <a:pPr lvl="2"/>
            <a:r>
              <a:rPr lang="en-US" altLang="zh-CN" dirty="0"/>
              <a:t>R</a:t>
            </a:r>
            <a:r>
              <a:rPr lang="zh-CN" altLang="en-US" dirty="0"/>
              <a:t>：读数据时需要 读取的节点个数</a:t>
            </a:r>
            <a:endParaRPr lang="zh-CN" altLang="en-US" dirty="0"/>
          </a:p>
          <a:p>
            <a:pPr lvl="1"/>
            <a:r>
              <a:rPr lang="zh-CN" altLang="en-US" dirty="0"/>
              <a:t>如果</a:t>
            </a:r>
            <a:r>
              <a:rPr lang="en-US" altLang="zh-CN" dirty="0"/>
              <a:t>W+R&gt;N</a:t>
            </a:r>
            <a:r>
              <a:rPr lang="zh-CN" altLang="en-US" dirty="0"/>
              <a:t>，那么分布式系统就会提供强一致性的保证，因为，读取数据节点和被写入的节点是有重叠的</a:t>
            </a:r>
            <a:endParaRPr lang="en-US" altLang="zh-CN" dirty="0"/>
          </a:p>
          <a:p>
            <a:pPr lvl="1"/>
            <a:r>
              <a:rPr lang="zh-CN" altLang="en-US" dirty="0"/>
              <a:t>在一个</a:t>
            </a:r>
            <a:r>
              <a:rPr lang="en-US" altLang="zh-CN" dirty="0"/>
              <a:t>RDBMS</a:t>
            </a:r>
            <a:r>
              <a:rPr lang="zh-CN" altLang="en-US" dirty="0"/>
              <a:t>的复制模型中</a:t>
            </a:r>
            <a:r>
              <a:rPr lang="en-US" altLang="zh-CN" dirty="0"/>
              <a:t>(Master/Slave)</a:t>
            </a:r>
            <a:r>
              <a:rPr lang="zh-CN" altLang="en-US" dirty="0"/>
              <a:t>，假如</a:t>
            </a:r>
            <a:r>
              <a:rPr lang="en-US" altLang="zh-CN" dirty="0"/>
              <a:t>N=2</a:t>
            </a:r>
            <a:r>
              <a:rPr lang="zh-CN" altLang="en-US" dirty="0"/>
              <a:t>，</a:t>
            </a:r>
            <a:r>
              <a:rPr lang="en-US" altLang="zh-CN" dirty="0"/>
              <a:t>W=2</a:t>
            </a:r>
            <a:r>
              <a:rPr lang="zh-CN" altLang="en-US" dirty="0"/>
              <a:t>，</a:t>
            </a:r>
            <a:r>
              <a:rPr lang="en-US" altLang="zh-CN" dirty="0"/>
              <a:t>R=1</a:t>
            </a:r>
            <a:r>
              <a:rPr lang="zh-CN" altLang="en-US" dirty="0"/>
              <a:t>，此时是一种强一致性，但是这样造成的问题就是可用性的减低，因为要想写操作成功，必须要等</a:t>
            </a:r>
            <a:r>
              <a:rPr lang="en-US" altLang="zh-CN" dirty="0"/>
              <a:t>2</a:t>
            </a:r>
            <a:r>
              <a:rPr lang="zh-CN" altLang="en-US" dirty="0"/>
              <a:t>个节点都完成以后才可以。</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服务器一致性</a:t>
            </a:r>
            <a:endParaRPr lang="en-US" altLang="zh-CN" dirty="0"/>
          </a:p>
          <a:p>
            <a:pPr lvl="1"/>
            <a:r>
              <a:rPr lang="zh-CN" altLang="en-US" dirty="0"/>
              <a:t>在分布式系统中，一般都要有容错性，因此一般</a:t>
            </a:r>
            <a:r>
              <a:rPr lang="en-US" altLang="zh-CN" dirty="0"/>
              <a:t>N</a:t>
            </a:r>
            <a:r>
              <a:rPr lang="zh-CN" altLang="en-US" dirty="0"/>
              <a:t>都大于</a:t>
            </a:r>
            <a:r>
              <a:rPr lang="en-US" altLang="zh-CN" dirty="0"/>
              <a:t>3</a:t>
            </a:r>
            <a:r>
              <a:rPr lang="zh-CN" altLang="en-US" dirty="0"/>
              <a:t>，此时根据</a:t>
            </a:r>
            <a:r>
              <a:rPr lang="en-US" altLang="zh-CN" dirty="0"/>
              <a:t>CAP</a:t>
            </a:r>
            <a:r>
              <a:rPr lang="zh-CN" altLang="en-US" dirty="0"/>
              <a:t>理论，一致性，可用性和分区容错性最多只能满足两个，因此我们需要在一致性和分区容错性之间做一个平衡。</a:t>
            </a:r>
            <a:endParaRPr lang="zh-CN" altLang="en-US" dirty="0"/>
          </a:p>
          <a:p>
            <a:pPr lvl="1"/>
            <a:r>
              <a:rPr lang="zh-CN" altLang="en-US" dirty="0"/>
              <a:t>如果要高的一致性，那么就配置为</a:t>
            </a:r>
            <a:r>
              <a:rPr lang="en-US" altLang="zh-CN" dirty="0"/>
              <a:t>W=N</a:t>
            </a:r>
            <a:r>
              <a:rPr lang="zh-CN" altLang="en-US" dirty="0"/>
              <a:t>，</a:t>
            </a:r>
            <a:r>
              <a:rPr lang="en-US" altLang="zh-CN" dirty="0"/>
              <a:t>R=1</a:t>
            </a:r>
            <a:r>
              <a:rPr lang="zh-CN" altLang="en-US" dirty="0"/>
              <a:t>，这个时候可用性就会大大降低。</a:t>
            </a:r>
            <a:endParaRPr lang="zh-CN" altLang="en-US" dirty="0"/>
          </a:p>
          <a:p>
            <a:pPr lvl="1"/>
            <a:r>
              <a:rPr lang="zh-CN" altLang="en-US" dirty="0"/>
              <a:t>如果想要高的可用性，那么此时就需要放松一致性的要求，此时可以配置</a:t>
            </a:r>
            <a:r>
              <a:rPr lang="en-US" altLang="zh-CN" dirty="0"/>
              <a:t>W=1</a:t>
            </a:r>
            <a:r>
              <a:rPr lang="zh-CN" altLang="en-US" dirty="0"/>
              <a:t>，这样使得写操作延迟最低。</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lnSpcReduction="10000"/>
          </a:bodyPr>
          <a:lstStyle/>
          <a:p>
            <a:r>
              <a:rPr lang="zh-CN" altLang="en-US" dirty="0"/>
              <a:t>服务器一致性</a:t>
            </a:r>
            <a:endParaRPr lang="en-US" altLang="zh-CN" dirty="0"/>
          </a:p>
          <a:p>
            <a:pPr lvl="1"/>
            <a:r>
              <a:rPr lang="zh-CN" altLang="en-US" dirty="0"/>
              <a:t>当存储系统保证最终一致性时，存储系统的配置一般是</a:t>
            </a:r>
            <a:r>
              <a:rPr lang="en-US" altLang="zh-CN" dirty="0"/>
              <a:t>W+R&lt;=N</a:t>
            </a:r>
            <a:r>
              <a:rPr lang="zh-CN" altLang="en-US" dirty="0"/>
              <a:t>，此时读取和写入操作是不重叠的。</a:t>
            </a:r>
            <a:endParaRPr lang="zh-CN" altLang="en-US" dirty="0"/>
          </a:p>
          <a:p>
            <a:pPr lvl="1"/>
            <a:r>
              <a:rPr lang="zh-CN" altLang="en-US" dirty="0"/>
              <a:t>不一致窗口就依赖存储系统的异步实现方式，不一致窗口大小也就等于从更新开始到所有节点都异步更新完成之间的时间。</a:t>
            </a:r>
            <a:endParaRPr lang="zh-CN" altLang="en-US" dirty="0"/>
          </a:p>
          <a:p>
            <a:pPr lvl="1"/>
            <a:r>
              <a:rPr lang="en-US" altLang="zh-CN" dirty="0"/>
              <a:t>N,R,W</a:t>
            </a:r>
            <a:r>
              <a:rPr lang="zh-CN" altLang="en-US" dirty="0"/>
              <a:t>的例子</a:t>
            </a:r>
            <a:endParaRPr lang="zh-CN" altLang="en-US" dirty="0"/>
          </a:p>
          <a:p>
            <a:pPr lvl="2"/>
            <a:r>
              <a:rPr lang="en-US" altLang="zh-CN" dirty="0"/>
              <a:t>(N,R,W) </a:t>
            </a:r>
            <a:r>
              <a:rPr lang="zh-CN" altLang="en-US" dirty="0"/>
              <a:t>的值典型设置为 </a:t>
            </a:r>
            <a:r>
              <a:rPr lang="en-US" altLang="zh-CN" dirty="0"/>
              <a:t>(3, 2 ,2),</a:t>
            </a:r>
            <a:r>
              <a:rPr lang="zh-CN" altLang="en-US" dirty="0"/>
              <a:t>兼顾性能与可用性</a:t>
            </a:r>
            <a:endParaRPr lang="zh-CN" altLang="en-US" dirty="0"/>
          </a:p>
          <a:p>
            <a:pPr lvl="2"/>
            <a:r>
              <a:rPr lang="en-US" altLang="zh-CN" dirty="0"/>
              <a:t>W = 1, R = N,</a:t>
            </a:r>
            <a:r>
              <a:rPr lang="zh-CN" altLang="en-US" dirty="0"/>
              <a:t>对写操作要求高性能</a:t>
            </a:r>
            <a:r>
              <a:rPr lang="en-US" altLang="zh-CN" dirty="0"/>
              <a:t>\</a:t>
            </a:r>
            <a:r>
              <a:rPr lang="zh-CN" altLang="en-US" dirty="0"/>
              <a:t>高可用。</a:t>
            </a:r>
            <a:endParaRPr lang="zh-CN" altLang="en-US" dirty="0"/>
          </a:p>
          <a:p>
            <a:pPr lvl="2"/>
            <a:r>
              <a:rPr lang="en-US" altLang="zh-CN" dirty="0"/>
              <a:t>R = 1, W = N , </a:t>
            </a:r>
            <a:r>
              <a:rPr lang="zh-CN" altLang="en-US" dirty="0"/>
              <a:t>对读操作要求高性能</a:t>
            </a:r>
            <a:r>
              <a:rPr lang="en-US" altLang="zh-CN" dirty="0"/>
              <a:t>\</a:t>
            </a:r>
            <a:r>
              <a:rPr lang="zh-CN" altLang="en-US" dirty="0"/>
              <a:t>高可用，比如类似</a:t>
            </a:r>
            <a:r>
              <a:rPr lang="en-US" altLang="zh-CN" dirty="0"/>
              <a:t>cache</a:t>
            </a:r>
            <a:r>
              <a:rPr lang="zh-CN" altLang="en-US" dirty="0"/>
              <a:t>之类业务。</a:t>
            </a:r>
            <a:endParaRPr lang="zh-CN" altLang="en-US" dirty="0"/>
          </a:p>
          <a:p>
            <a:pPr lvl="2"/>
            <a:r>
              <a:rPr lang="en-US" altLang="zh-CN" dirty="0"/>
              <a:t>W = Q, R = Q where Q = N / 2 + 1</a:t>
            </a:r>
            <a:r>
              <a:rPr lang="zh-CN" altLang="en-US" dirty="0"/>
              <a:t>适用一般应用，读写性能之间取得平衡。如</a:t>
            </a:r>
            <a:r>
              <a:rPr lang="en-US" altLang="zh-CN" dirty="0"/>
              <a:t>N=3,W=2,R=2</a:t>
            </a:r>
            <a:endParaRPr lang="en-US" altLang="zh-CN"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Base</a:t>
            </a:r>
            <a:r>
              <a:rPr lang="zh-CN" altLang="en-US" dirty="0"/>
              <a:t>性质</a:t>
            </a:r>
            <a:endParaRPr lang="en-US" altLang="zh-CN" dirty="0"/>
          </a:p>
          <a:p>
            <a:pPr lvl="1"/>
            <a:r>
              <a:rPr lang="en-US" altLang="zh-CN" dirty="0"/>
              <a:t>BASE(Basically Available </a:t>
            </a:r>
            <a:r>
              <a:rPr lang="zh-CN" altLang="en-US" dirty="0"/>
              <a:t>基本可用</a:t>
            </a:r>
            <a:r>
              <a:rPr lang="en-US" altLang="zh-CN" dirty="0"/>
              <a:t>,Soft state </a:t>
            </a:r>
            <a:r>
              <a:rPr lang="zh-CN" altLang="en-US" dirty="0"/>
              <a:t>软状态</a:t>
            </a:r>
            <a:r>
              <a:rPr lang="en-US" altLang="zh-CN" dirty="0"/>
              <a:t>,Eventually consistent </a:t>
            </a:r>
            <a:r>
              <a:rPr lang="zh-CN" altLang="en-US" dirty="0"/>
              <a:t>最终一致</a:t>
            </a:r>
            <a:r>
              <a:rPr lang="en-US" altLang="zh-CN" dirty="0"/>
              <a:t>)</a:t>
            </a:r>
            <a:r>
              <a:rPr lang="zh-CN" altLang="en-US" dirty="0"/>
              <a:t>是对</a:t>
            </a:r>
            <a:r>
              <a:rPr lang="en-US" altLang="zh-CN" dirty="0"/>
              <a:t>CAP</a:t>
            </a:r>
            <a:r>
              <a:rPr lang="zh-CN" altLang="en-US" dirty="0"/>
              <a:t>中的</a:t>
            </a:r>
            <a:r>
              <a:rPr lang="en-US" altLang="zh-CN" dirty="0"/>
              <a:t>C &amp; A</a:t>
            </a:r>
            <a:r>
              <a:rPr lang="zh-CN" altLang="en-US" dirty="0"/>
              <a:t>的衍生</a:t>
            </a:r>
            <a:endParaRPr lang="en-US" altLang="zh-CN" dirty="0"/>
          </a:p>
          <a:p>
            <a:pPr lvl="2"/>
            <a:r>
              <a:rPr lang="zh-CN" altLang="en-US" dirty="0"/>
              <a:t>在单机环境中，数据的属性是</a:t>
            </a:r>
            <a:r>
              <a:rPr lang="en-US" altLang="zh-CN" dirty="0"/>
              <a:t>ACID</a:t>
            </a:r>
            <a:endParaRPr lang="en-US" altLang="zh-CN" dirty="0"/>
          </a:p>
          <a:p>
            <a:pPr lvl="2"/>
            <a:r>
              <a:rPr lang="zh-CN" altLang="en-US" dirty="0"/>
              <a:t>而在分布式环境中，数据的属性就是</a:t>
            </a:r>
            <a:r>
              <a:rPr lang="en-US" altLang="zh-CN" dirty="0"/>
              <a:t>BASE</a:t>
            </a:r>
            <a:endParaRPr lang="en-US" altLang="zh-CN" dirty="0"/>
          </a:p>
          <a:p>
            <a:pPr lvl="2"/>
            <a:endParaRPr lang="en-US" altLang="zh-CN" dirty="0"/>
          </a:p>
          <a:p>
            <a:pPr lvl="1"/>
            <a:r>
              <a:rPr lang="en-US" altLang="zh-CN" dirty="0"/>
              <a:t>BASE</a:t>
            </a:r>
            <a:r>
              <a:rPr lang="zh-CN" altLang="en-US" dirty="0"/>
              <a:t>是为了解决关系数据库强一致性引起的问题而引起的可用性降低而提出的解决方案。</a:t>
            </a:r>
            <a:endParaRPr lang="zh-CN" altLang="en-US" dirty="0"/>
          </a:p>
          <a:p>
            <a:pPr lvl="1"/>
            <a:r>
              <a:rPr lang="en-US" altLang="zh-CN" dirty="0"/>
              <a:t>BASE</a:t>
            </a:r>
            <a:r>
              <a:rPr lang="zh-CN" altLang="en-US" dirty="0"/>
              <a:t>模型不同于</a:t>
            </a:r>
            <a:r>
              <a:rPr lang="en-US" altLang="zh-CN" dirty="0"/>
              <a:t>ACID</a:t>
            </a:r>
            <a:r>
              <a:rPr lang="zh-CN" altLang="en-US" dirty="0"/>
              <a:t>模型，它通过牺牲高一致性，获得可用性和可靠性</a:t>
            </a:r>
            <a:endParaRPr lang="zh-CN" altLang="en-US" dirty="0"/>
          </a:p>
          <a:p>
            <a:pPr lvl="1"/>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Base</a:t>
            </a:r>
            <a:r>
              <a:rPr lang="zh-CN" altLang="en-US" dirty="0"/>
              <a:t>性质</a:t>
            </a:r>
            <a:endParaRPr lang="zh-CN" altLang="en-US" dirty="0"/>
          </a:p>
          <a:p>
            <a:pPr lvl="1"/>
            <a:r>
              <a:rPr lang="zh-CN" altLang="en-US" dirty="0"/>
              <a:t>现在</a:t>
            </a:r>
            <a:r>
              <a:rPr lang="en-US" altLang="zh-CN" dirty="0"/>
              <a:t>NOSQL</a:t>
            </a:r>
            <a:r>
              <a:rPr lang="zh-CN" altLang="en-US" dirty="0"/>
              <a:t>运动丰富了拓展了</a:t>
            </a:r>
            <a:r>
              <a:rPr lang="en-US" altLang="zh-CN" dirty="0"/>
              <a:t>BASE</a:t>
            </a:r>
            <a:r>
              <a:rPr lang="zh-CN" altLang="en-US" dirty="0"/>
              <a:t>思想，可按照具体情况定制特别方案，比如忽视一致性，获得高可用性等等，</a:t>
            </a:r>
            <a:r>
              <a:rPr lang="en-US" altLang="zh-CN" dirty="0"/>
              <a:t>NOSQL</a:t>
            </a:r>
            <a:r>
              <a:rPr lang="zh-CN" altLang="en-US" dirty="0"/>
              <a:t>应该有下面两个流派</a:t>
            </a:r>
            <a:endParaRPr lang="en-US" altLang="zh-CN" dirty="0"/>
          </a:p>
          <a:p>
            <a:pPr lvl="2"/>
            <a:r>
              <a:rPr lang="en-US" altLang="zh-CN" dirty="0"/>
              <a:t>key-value</a:t>
            </a:r>
            <a:r>
              <a:rPr lang="zh-CN" altLang="en-US" dirty="0"/>
              <a:t>存储，如</a:t>
            </a:r>
            <a:r>
              <a:rPr lang="en-US" altLang="zh-CN" dirty="0"/>
              <a:t>Amaze Dynamo</a:t>
            </a:r>
            <a:r>
              <a:rPr lang="zh-CN" altLang="en-US" dirty="0"/>
              <a:t>等，可根据</a:t>
            </a:r>
            <a:r>
              <a:rPr lang="en-US" altLang="zh-CN" dirty="0"/>
              <a:t>CAP</a:t>
            </a:r>
            <a:r>
              <a:rPr lang="zh-CN" altLang="en-US" dirty="0"/>
              <a:t>三原则灵活选择不同倾向的数据库产品。</a:t>
            </a:r>
            <a:endParaRPr lang="zh-CN" altLang="en-US" dirty="0"/>
          </a:p>
          <a:p>
            <a:pPr lvl="2"/>
            <a:r>
              <a:rPr lang="zh-CN" altLang="en-US" dirty="0"/>
              <a:t>领域模型 </a:t>
            </a:r>
            <a:r>
              <a:rPr lang="en-US" altLang="zh-CN" dirty="0"/>
              <a:t>+ </a:t>
            </a:r>
            <a:r>
              <a:rPr lang="zh-CN" altLang="en-US" dirty="0"/>
              <a:t>分布式缓存 </a:t>
            </a:r>
            <a:r>
              <a:rPr lang="en-US" altLang="zh-CN" dirty="0"/>
              <a:t>+ </a:t>
            </a:r>
            <a:r>
              <a:rPr lang="zh-CN" altLang="en-US" dirty="0"/>
              <a:t>存储 ，可根据</a:t>
            </a:r>
            <a:r>
              <a:rPr lang="en-US" altLang="zh-CN" dirty="0"/>
              <a:t>CAP</a:t>
            </a:r>
            <a:r>
              <a:rPr lang="zh-CN" altLang="en-US" dirty="0"/>
              <a:t>三原则结合自己项目定制灵活的分布式方案，难度高。</a:t>
            </a:r>
            <a:endParaRPr lang="en-US" altLang="zh-CN" dirty="0"/>
          </a:p>
          <a:p>
            <a:pPr lvl="1"/>
            <a:r>
              <a:rPr lang="zh-CN" altLang="en-US" dirty="0"/>
              <a:t>共同点：都是关系数据库</a:t>
            </a:r>
            <a:r>
              <a:rPr lang="en-US" altLang="zh-CN" dirty="0"/>
              <a:t>SQL</a:t>
            </a:r>
            <a:r>
              <a:rPr lang="zh-CN" altLang="en-US" dirty="0"/>
              <a:t>以外的可选方案，逻辑随着数据分布，任何模型都可以自己持久化，将数据处理和数据存储分离，将读和写分离，存储可以是异步或同步，取决于对一致性的要求程度。</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Base</a:t>
            </a:r>
            <a:r>
              <a:rPr lang="zh-CN" altLang="en-US" dirty="0"/>
              <a:t>性质</a:t>
            </a:r>
            <a:endParaRPr lang="zh-CN" altLang="en-US" dirty="0"/>
          </a:p>
          <a:p>
            <a:pPr lvl="1"/>
            <a:r>
              <a:rPr lang="zh-CN" altLang="en-US" dirty="0"/>
              <a:t>不同点：</a:t>
            </a:r>
            <a:endParaRPr lang="zh-CN" altLang="en-US" dirty="0"/>
          </a:p>
          <a:p>
            <a:pPr lvl="2"/>
            <a:r>
              <a:rPr lang="en-US" altLang="zh-CN" dirty="0"/>
              <a:t>NOSQL</a:t>
            </a:r>
            <a:r>
              <a:rPr lang="zh-CN" altLang="en-US" dirty="0"/>
              <a:t>之类的</a:t>
            </a:r>
            <a:r>
              <a:rPr lang="en-US" altLang="zh-CN" dirty="0"/>
              <a:t>key-value</a:t>
            </a:r>
            <a:r>
              <a:rPr lang="zh-CN" altLang="en-US" dirty="0"/>
              <a:t>存储产品可以适合非</a:t>
            </a:r>
            <a:r>
              <a:rPr lang="en-US" altLang="zh-CN" dirty="0"/>
              <a:t>Java</a:t>
            </a:r>
            <a:r>
              <a:rPr lang="zh-CN" altLang="en-US" dirty="0"/>
              <a:t>如</a:t>
            </a:r>
            <a:r>
              <a:rPr lang="en-US" altLang="zh-CN" dirty="0"/>
              <a:t>PHP RUBY</a:t>
            </a:r>
            <a:r>
              <a:rPr lang="zh-CN" altLang="en-US" dirty="0"/>
              <a:t>等领域，是一种可以拿来就用的产品</a:t>
            </a:r>
            <a:endParaRPr lang="zh-CN" altLang="en-US" dirty="0"/>
          </a:p>
          <a:p>
            <a:pPr lvl="2"/>
            <a:r>
              <a:rPr lang="zh-CN" altLang="en-US" dirty="0"/>
              <a:t>领域模型 </a:t>
            </a:r>
            <a:r>
              <a:rPr lang="en-US" altLang="zh-CN" dirty="0"/>
              <a:t>+ </a:t>
            </a:r>
            <a:r>
              <a:rPr lang="zh-CN" altLang="en-US" dirty="0"/>
              <a:t>分布式缓存 </a:t>
            </a:r>
            <a:r>
              <a:rPr lang="en-US" altLang="zh-CN" dirty="0"/>
              <a:t>+ </a:t>
            </a:r>
            <a:r>
              <a:rPr lang="zh-CN" altLang="en-US" dirty="0"/>
              <a:t>存储是一种复杂的架构解决方案，不是产品</a:t>
            </a:r>
            <a:r>
              <a:rPr lang="en-US" altLang="zh-CN" dirty="0"/>
              <a:t>(</a:t>
            </a:r>
            <a:r>
              <a:rPr lang="zh-CN" altLang="en-US" dirty="0"/>
              <a:t>如下图</a:t>
            </a:r>
            <a:r>
              <a:rPr lang="en-US" altLang="zh-CN" dirty="0"/>
              <a:t>)</a:t>
            </a:r>
            <a:r>
              <a:rPr lang="zh-CN" altLang="en-US" dirty="0"/>
              <a:t>，但这种方式更灵活。</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95760" y="3693187"/>
            <a:ext cx="5822835" cy="293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ACID</a:t>
            </a:r>
            <a:r>
              <a:rPr lang="zh-CN" altLang="en-US" dirty="0"/>
              <a:t>性质</a:t>
            </a:r>
            <a:endParaRPr lang="zh-CN" altLang="en-US" dirty="0"/>
          </a:p>
          <a:p>
            <a:pPr lvl="1"/>
            <a:r>
              <a:rPr lang="zh-CN" altLang="en-US" dirty="0"/>
              <a:t>关系数据库的</a:t>
            </a:r>
            <a:r>
              <a:rPr lang="en-US" altLang="zh-CN" dirty="0"/>
              <a:t>ACID</a:t>
            </a:r>
            <a:r>
              <a:rPr lang="zh-CN" altLang="en-US" dirty="0"/>
              <a:t>模型拥有 高一致性 </a:t>
            </a:r>
            <a:r>
              <a:rPr lang="en-US" altLang="zh-CN" dirty="0"/>
              <a:t>+ </a:t>
            </a:r>
            <a:r>
              <a:rPr lang="zh-CN" altLang="en-US" dirty="0"/>
              <a:t>可靠性 丧失可用性</a:t>
            </a:r>
            <a:r>
              <a:rPr lang="en-US" altLang="zh-CN" dirty="0"/>
              <a:t>(</a:t>
            </a:r>
            <a:r>
              <a:rPr lang="zh-CN" altLang="en-US" dirty="0"/>
              <a:t>跨数据库事务下</a:t>
            </a:r>
            <a:r>
              <a:rPr lang="en-US" altLang="zh-CN" dirty="0"/>
              <a:t>)</a:t>
            </a:r>
            <a:r>
              <a:rPr lang="zh-CN" altLang="en-US" dirty="0"/>
              <a:t>：</a:t>
            </a:r>
            <a:endParaRPr lang="zh-CN" altLang="en-US" dirty="0"/>
          </a:p>
          <a:p>
            <a:pPr lvl="2"/>
            <a:r>
              <a:rPr lang="en-US" altLang="zh-CN" dirty="0"/>
              <a:t>Atomicity</a:t>
            </a:r>
            <a:r>
              <a:rPr lang="zh-CN" altLang="en-US" dirty="0"/>
              <a:t>原子性</a:t>
            </a:r>
            <a:r>
              <a:rPr lang="en-US" altLang="zh-CN" dirty="0"/>
              <a:t>.</a:t>
            </a:r>
            <a:r>
              <a:rPr lang="zh-CN" altLang="en-US" dirty="0"/>
              <a:t>一个事务中所有操作都必须全部完成，要么全部不完成。</a:t>
            </a:r>
            <a:endParaRPr lang="zh-CN" altLang="en-US" dirty="0"/>
          </a:p>
          <a:p>
            <a:pPr lvl="2"/>
            <a:r>
              <a:rPr lang="en-US" altLang="zh-CN" dirty="0"/>
              <a:t>Consistency</a:t>
            </a:r>
            <a:r>
              <a:rPr lang="zh-CN" altLang="en-US" dirty="0"/>
              <a:t>一致性</a:t>
            </a:r>
            <a:r>
              <a:rPr lang="en-US" altLang="zh-CN" dirty="0"/>
              <a:t>. </a:t>
            </a:r>
            <a:r>
              <a:rPr lang="zh-CN" altLang="en-US" dirty="0"/>
              <a:t>在事务开始或结束时，数据库应该在一致状态。</a:t>
            </a:r>
            <a:endParaRPr lang="zh-CN" altLang="en-US" dirty="0"/>
          </a:p>
          <a:p>
            <a:pPr lvl="2"/>
            <a:r>
              <a:rPr lang="en-US" altLang="zh-CN" dirty="0"/>
              <a:t>Isolation</a:t>
            </a:r>
            <a:r>
              <a:rPr lang="zh-CN" altLang="en-US" dirty="0"/>
              <a:t>隔离性 事务将假定只有它自己在操作数据库，彼此不知晓。</a:t>
            </a:r>
            <a:endParaRPr lang="zh-CN" altLang="en-US" dirty="0"/>
          </a:p>
          <a:p>
            <a:pPr lvl="2"/>
            <a:r>
              <a:rPr lang="en-US" altLang="zh-CN" dirty="0"/>
              <a:t>Durability. </a:t>
            </a:r>
            <a:r>
              <a:rPr lang="zh-CN" altLang="en-US" dirty="0"/>
              <a:t>持久性 一旦事务完成，就不能返回。</a:t>
            </a:r>
            <a:endParaRPr lang="zh-CN" altLang="en-US" dirty="0"/>
          </a:p>
          <a:p>
            <a:pPr lvl="2"/>
            <a:r>
              <a:rPr lang="zh-CN" altLang="en-US" dirty="0"/>
              <a:t>跨数据库事务：</a:t>
            </a:r>
            <a:r>
              <a:rPr lang="en-US" altLang="zh-CN" dirty="0"/>
              <a:t>2PC (two-phase commit)</a:t>
            </a:r>
            <a:r>
              <a:rPr lang="zh-CN" altLang="en-US" dirty="0"/>
              <a:t>， </a:t>
            </a:r>
            <a:r>
              <a:rPr lang="en-US" altLang="zh-CN" dirty="0"/>
              <a:t>2PC is the anti-scalability pattern (Pat Helland) </a:t>
            </a:r>
            <a:r>
              <a:rPr lang="zh-CN" altLang="en-US" dirty="0"/>
              <a:t>是反可伸缩模式的，</a:t>
            </a:r>
            <a:r>
              <a:rPr lang="en-US" altLang="zh-CN" dirty="0" err="1"/>
              <a:t>JavaEE</a:t>
            </a:r>
            <a:r>
              <a:rPr lang="zh-CN" altLang="en-US" dirty="0"/>
              <a:t>中的</a:t>
            </a:r>
            <a:r>
              <a:rPr lang="en-US" altLang="zh-CN" dirty="0"/>
              <a:t>JTA</a:t>
            </a:r>
            <a:r>
              <a:rPr lang="zh-CN" altLang="en-US" dirty="0"/>
              <a:t>事务可以支持</a:t>
            </a:r>
            <a:r>
              <a:rPr lang="en-US" altLang="zh-CN" dirty="0"/>
              <a:t>2PC</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ACID VS BASE</a:t>
            </a:r>
            <a:endParaRPr lang="en-US" altLang="zh-CN"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4749" y="1887697"/>
            <a:ext cx="7182341" cy="437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分布式缓存</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图片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53297" y="1219203"/>
            <a:ext cx="6918325"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a:t>
            </a:r>
            <a:endParaRPr lang="en-US" altLang="zh-CN" dirty="0"/>
          </a:p>
          <a:p>
            <a:pPr lvl="1"/>
            <a:r>
              <a:rPr lang="zh-CN" altLang="en-US" dirty="0"/>
              <a:t>一致性哈希是一种哈希算法，简单地说在移除或者添加一个服务器时，此算法能够尽可能小地改变已存在的服务请求与处理请求服务器之间的映射关系</a:t>
            </a:r>
            <a:r>
              <a:rPr lang="en-US" altLang="zh-CN" dirty="0"/>
              <a:t>,</a:t>
            </a:r>
            <a:r>
              <a:rPr lang="zh-CN" altLang="en-US" dirty="0"/>
              <a:t>，并尽可能满足单调性要求</a:t>
            </a:r>
            <a:r>
              <a:rPr lang="en-US" altLang="zh-CN" dirty="0"/>
              <a:t>, </a:t>
            </a:r>
            <a:r>
              <a:rPr lang="zh-CN" altLang="en-US" dirty="0"/>
              <a:t>，从而使得分布式哈希</a:t>
            </a:r>
            <a:r>
              <a:rPr lang="en-US" altLang="zh-CN" dirty="0"/>
              <a:t>(DHT)</a:t>
            </a:r>
            <a:r>
              <a:rPr lang="zh-CN" altLang="en-US" dirty="0"/>
              <a:t>可以在</a:t>
            </a:r>
            <a:r>
              <a:rPr lang="en-US" altLang="zh-CN" dirty="0"/>
              <a:t>P2P</a:t>
            </a:r>
            <a:r>
              <a:rPr lang="zh-CN" altLang="en-US" dirty="0"/>
              <a:t>环境中得到应用。 </a:t>
            </a:r>
            <a:endParaRPr lang="zh-CN" altLang="en-US" dirty="0"/>
          </a:p>
          <a:p>
            <a:pPr lvl="1"/>
            <a:r>
              <a:rPr lang="zh-CN" altLang="en-US" dirty="0"/>
              <a:t>具体的说，在一致性哈希所构成的存储拓扑中，每个存储节点仅需维护少量相邻节点的信息，并且在新</a:t>
            </a:r>
            <a:r>
              <a:rPr lang="en-US" altLang="zh-CN" dirty="0"/>
              <a:t>/</a:t>
            </a:r>
            <a:r>
              <a:rPr lang="zh-CN" altLang="en-US" dirty="0"/>
              <a:t>旧节点加入</a:t>
            </a:r>
            <a:r>
              <a:rPr lang="en-US" altLang="zh-CN" dirty="0"/>
              <a:t>/</a:t>
            </a:r>
            <a:r>
              <a:rPr lang="zh-CN" altLang="en-US" dirty="0"/>
              <a:t>退出系统时 ，仅有相关的少量节点参与到拓扑的维护中， 这使得一致性哈希算法成为一个具有实用意义的 </a:t>
            </a:r>
            <a:r>
              <a:rPr lang="en-US" altLang="zh-CN" dirty="0"/>
              <a:t>DHT(</a:t>
            </a:r>
            <a:r>
              <a:rPr lang="en-US" altLang="zh-CN" dirty="0" err="1"/>
              <a:t>DistributedHash</a:t>
            </a:r>
            <a:r>
              <a:rPr lang="en-US" altLang="zh-CN" dirty="0"/>
              <a:t> Table</a:t>
            </a:r>
            <a:r>
              <a:rPr lang="zh-CN" altLang="en-US" dirty="0"/>
              <a:t>，分布式哈希表</a:t>
            </a:r>
            <a:r>
              <a:rPr lang="en-US" altLang="zh-CN" dirty="0"/>
              <a:t>)</a:t>
            </a:r>
            <a:r>
              <a:rPr lang="zh-CN" altLang="en-US" dirty="0"/>
              <a:t>算法。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a:t>
            </a:r>
            <a:endParaRPr lang="en-US" altLang="zh-CN" dirty="0"/>
          </a:p>
          <a:p>
            <a:pPr lvl="1"/>
            <a:r>
              <a:rPr lang="zh-CN" altLang="en-US" dirty="0"/>
              <a:t>在动态变化的</a:t>
            </a:r>
            <a:r>
              <a:rPr lang="en-US" altLang="zh-CN" dirty="0"/>
              <a:t>Cache</a:t>
            </a:r>
            <a:r>
              <a:rPr lang="zh-CN" altLang="en-US" dirty="0"/>
              <a:t>环境中，判定哈希算法好坏的</a:t>
            </a:r>
            <a:r>
              <a:rPr lang="en-US" altLang="zh-CN" dirty="0"/>
              <a:t>4</a:t>
            </a:r>
            <a:r>
              <a:rPr lang="zh-CN" altLang="en-US" dirty="0"/>
              <a:t>个性质： </a:t>
            </a:r>
            <a:endParaRPr lang="zh-CN" altLang="en-US" dirty="0"/>
          </a:p>
          <a:p>
            <a:pPr lvl="1"/>
            <a:r>
              <a:rPr lang="zh-CN" altLang="en-US" dirty="0"/>
              <a:t>平衡性</a:t>
            </a:r>
            <a:r>
              <a:rPr lang="en-US" altLang="zh-CN" dirty="0"/>
              <a:t>(Balance) </a:t>
            </a:r>
            <a:r>
              <a:rPr lang="zh-CN" altLang="en-US" dirty="0"/>
              <a:t>：平衡性是指哈希的结果能够尽可能分布到所有的缓冲中去，这样可以使得所有的缓冲空间都得到利用。大多数哈希算法都能够满足这一条件。 </a:t>
            </a:r>
            <a:endParaRPr lang="zh-CN" altLang="en-US" dirty="0"/>
          </a:p>
          <a:p>
            <a:pPr lvl="1"/>
            <a:r>
              <a:rPr lang="zh-CN" altLang="en-US" dirty="0"/>
              <a:t>单调性</a:t>
            </a:r>
            <a:r>
              <a:rPr lang="en-US" altLang="zh-CN" dirty="0"/>
              <a:t>(Monotonicity) </a:t>
            </a:r>
            <a:r>
              <a:rPr lang="zh-CN" altLang="en-US" dirty="0"/>
              <a:t>：单调性是指如果已经有一些内容通过哈希分派到了相应的缓冲中，又有新的缓冲加入到系统中，则哈希的结果应能够保证：原有已分配的内容可以被映射到原有的或者新的缓冲中去，而不会被映射到旧的缓冲集合中的其他缓冲区。 </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453091" cy="4957760"/>
              </a:xfrm>
            </p:spPr>
            <p:txBody>
              <a:bodyPr/>
              <a:lstStyle/>
              <a:p>
                <a:r>
                  <a:rPr lang="zh-CN" altLang="en-US" dirty="0"/>
                  <a:t>一致性哈希</a:t>
                </a:r>
                <a:endParaRPr lang="en-US" altLang="zh-CN" dirty="0"/>
              </a:p>
              <a:p>
                <a:pPr lvl="1"/>
                <a:r>
                  <a:rPr lang="zh-CN" altLang="en-US" dirty="0"/>
                  <a:t>单调性</a:t>
                </a:r>
                <a:r>
                  <a:rPr lang="en-US" altLang="zh-CN" dirty="0"/>
                  <a:t>(Monotonicity) ——</a:t>
                </a:r>
                <a:r>
                  <a:rPr lang="zh-CN" altLang="en-US" dirty="0"/>
                  <a:t>续</a:t>
                </a:r>
                <a:endParaRPr lang="zh-CN" altLang="en-US" dirty="0"/>
              </a:p>
              <a:p>
                <a:pPr lvl="2"/>
                <a:r>
                  <a:rPr lang="zh-CN" altLang="en-US" dirty="0"/>
                  <a:t>简单哈希算法往往不能满足单调性的要求，如最简单的线性哈希：</a:t>
                </a:r>
                <a:endParaRPr lang="en-US" altLang="zh-CN" dirty="0"/>
              </a:p>
              <a:p>
                <a:pPr lvl="3"/>
                <a14:m>
                  <m:oMath xmlns:m="http://schemas.openxmlformats.org/officeDocument/2006/math">
                    <m:r>
                      <m:rPr>
                        <m:sty m:val="p"/>
                      </m:rPr>
                      <a:rPr lang="en-US" altLang="zh-CN" smtClean="0">
                        <a:latin typeface="Cambria Math" panose="02040503050406030204" pitchFamily="18" charset="0"/>
                      </a:rPr>
                      <m:t>x</m:t>
                    </m:r>
                    <m:r>
                      <a:rPr lang="zh-CN" altLang="en-US" smtClean="0">
                        <a:latin typeface="Cambria Math" panose="02040503050406030204" pitchFamily="18" charset="0"/>
                      </a:rPr>
                      <m:t>→</m:t>
                    </m:r>
                    <m:d>
                      <m:dPr>
                        <m:ctrlPr>
                          <a:rPr lang="en-US" altLang="zh-CN" i="1" smtClean="0">
                            <a:latin typeface="Cambria Math" panose="02040503050406030204" pitchFamily="18" charset="0"/>
                          </a:rPr>
                        </m:ctrlPr>
                      </m:dPr>
                      <m:e>
                        <m:r>
                          <a:rPr lang="en-US" altLang="zh-CN" smtClean="0">
                            <a:latin typeface="Cambria Math" panose="02040503050406030204" pitchFamily="18" charset="0"/>
                          </a:rPr>
                          <m:t>𝑎𝑥</m:t>
                        </m:r>
                        <m:r>
                          <a:rPr lang="en-US" altLang="zh-CN" smtClean="0">
                            <a:latin typeface="Cambria Math" panose="02040503050406030204" pitchFamily="18" charset="0"/>
                          </a:rPr>
                          <m:t>+</m:t>
                        </m:r>
                        <m:r>
                          <a:rPr lang="en-US" altLang="zh-CN" smtClean="0">
                            <a:latin typeface="Cambria Math" panose="02040503050406030204" pitchFamily="18" charset="0"/>
                          </a:rPr>
                          <m:t>𝑏</m:t>
                        </m:r>
                      </m:e>
                    </m:d>
                    <m:r>
                      <a:rPr lang="en-US" altLang="zh-CN" smtClean="0">
                        <a:latin typeface="Cambria Math" panose="02040503050406030204" pitchFamily="18" charset="0"/>
                      </a:rPr>
                      <m:t>𝑚𝑜𝑑</m:t>
                    </m:r>
                    <m:r>
                      <a:rPr lang="en-US" altLang="zh-CN" smtClean="0">
                        <a:latin typeface="Cambria Math" panose="02040503050406030204" pitchFamily="18" charset="0"/>
                      </a:rPr>
                      <m:t>(</m:t>
                    </m:r>
                    <m:r>
                      <a:rPr lang="en-US" altLang="zh-CN" smtClean="0">
                        <a:latin typeface="Cambria Math" panose="02040503050406030204" pitchFamily="18" charset="0"/>
                      </a:rPr>
                      <m:t>𝑁</m:t>
                    </m:r>
                    <m:r>
                      <a:rPr lang="en-US" altLang="zh-CN" smtClean="0">
                        <a:latin typeface="Cambria Math" panose="02040503050406030204" pitchFamily="18" charset="0"/>
                      </a:rPr>
                      <m:t>)</m:t>
                    </m:r>
                  </m:oMath>
                </a14:m>
                <a:endParaRPr lang="en-US" altLang="zh-CN" dirty="0"/>
              </a:p>
              <a:p>
                <a:pPr lvl="2"/>
                <a:r>
                  <a:rPr lang="zh-CN" altLang="en-US" dirty="0"/>
                  <a:t>在上式中，</a:t>
                </a:r>
                <a:r>
                  <a:rPr lang="en-US" altLang="zh-CN" dirty="0"/>
                  <a:t>N</a:t>
                </a:r>
                <a:r>
                  <a:rPr lang="zh-CN" altLang="en-US" dirty="0"/>
                  <a:t>表示全部缓冲的数目。不难看出，当缓冲大小发生变化时</a:t>
                </a:r>
                <a:r>
                  <a:rPr lang="en-US" altLang="zh-CN" dirty="0"/>
                  <a:t>(</a:t>
                </a:r>
                <a:r>
                  <a:rPr lang="zh-CN" altLang="en-US" dirty="0"/>
                  <a:t>从</a:t>
                </a:r>
                <a:r>
                  <a:rPr lang="en-US" altLang="zh-CN" dirty="0"/>
                  <a:t>N1</a:t>
                </a:r>
                <a:r>
                  <a:rPr lang="zh-CN" altLang="en-US" dirty="0"/>
                  <a:t>到</a:t>
                </a:r>
                <a:r>
                  <a:rPr lang="en-US" altLang="zh-CN" dirty="0"/>
                  <a:t>N2)</a:t>
                </a:r>
                <a:r>
                  <a:rPr lang="zh-CN" altLang="en-US" dirty="0"/>
                  <a:t>，原来所有的哈希结果均会发生变化，从而不满足单调性的要求。 </a:t>
                </a:r>
                <a:endParaRPr lang="zh-CN" altLang="en-US" dirty="0"/>
              </a:p>
              <a:p>
                <a:pPr lvl="2"/>
                <a:r>
                  <a:rPr lang="zh-CN" altLang="en-US" dirty="0"/>
                  <a:t>哈希结果的变化意味着当缓冲空间发生变化时，所有的映射关系需要在系统内全部更新。</a:t>
                </a:r>
                <a:endParaRPr lang="zh-CN" altLang="en-US" dirty="0"/>
              </a:p>
              <a:p>
                <a:pPr lvl="2"/>
                <a:r>
                  <a:rPr lang="zh-CN" altLang="en-US" dirty="0"/>
                  <a:t>而在</a:t>
                </a:r>
                <a:r>
                  <a:rPr lang="en-US" altLang="zh-CN" dirty="0"/>
                  <a:t>P2P</a:t>
                </a:r>
                <a:r>
                  <a:rPr lang="zh-CN" altLang="en-US" dirty="0"/>
                  <a:t>系统内，缓冲的变化等价于</a:t>
                </a:r>
                <a:r>
                  <a:rPr lang="en-US" altLang="zh-CN" dirty="0"/>
                  <a:t>Peer</a:t>
                </a:r>
                <a:r>
                  <a:rPr lang="zh-CN" altLang="en-US" dirty="0"/>
                  <a:t>加入或退出系统，这一情况在</a:t>
                </a:r>
                <a:r>
                  <a:rPr lang="en-US" altLang="zh-CN" dirty="0"/>
                  <a:t>P2P</a:t>
                </a:r>
                <a:r>
                  <a:rPr lang="zh-CN" altLang="en-US" dirty="0"/>
                  <a:t>系统中会频繁发生，因此会带来极大计算和传输负荷。单调性就是要求哈希算法能够避免这一情况的发生。 </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453091" cy="4957760"/>
              </a:xfrm>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lnSpcReduction="10000"/>
          </a:bodyPr>
          <a:lstStyle/>
          <a:p>
            <a:r>
              <a:rPr lang="zh-CN" altLang="en-US" dirty="0"/>
              <a:t>一致性哈希</a:t>
            </a:r>
            <a:endParaRPr lang="en-US" altLang="zh-CN" dirty="0"/>
          </a:p>
          <a:p>
            <a:pPr lvl="1"/>
            <a:r>
              <a:rPr lang="zh-CN" altLang="en-US" dirty="0"/>
              <a:t>分散性</a:t>
            </a:r>
            <a:r>
              <a:rPr lang="en-US" altLang="zh-CN" dirty="0"/>
              <a:t>(Spread) </a:t>
            </a:r>
            <a:endParaRPr lang="en-US" altLang="zh-CN" dirty="0"/>
          </a:p>
          <a:p>
            <a:pPr lvl="2"/>
            <a:r>
              <a:rPr lang="zh-CN" altLang="en-US" dirty="0"/>
              <a:t>在分布式环境中，终端有可能看不到所有的缓冲，而是只能看到其中的一部分。当终端希望通过哈希过程将内容映射到缓冲上时，由于不同终端所见的缓冲范围有可能不同，从而导致哈希的结果不一致，最终的结果是相同的内容被不同的终端映射到不同的缓冲区 中。这种情况显然是应该避免的，因为它导致相同内容被存储到不同缓冲中去，降低了系统存储的效率。分散性的定义就是上述情况发生的严重程度。好的哈希算法应能够尽量避免不一致的情况发生，也就是尽量降低分散性。 </a:t>
            </a:r>
            <a:endParaRPr lang="en-US" altLang="zh-CN" dirty="0"/>
          </a:p>
          <a:p>
            <a:pPr lvl="1"/>
            <a:r>
              <a:rPr lang="zh-CN" altLang="en-US" dirty="0"/>
              <a:t>负载</a:t>
            </a:r>
            <a:r>
              <a:rPr lang="en-US" altLang="zh-CN" dirty="0"/>
              <a:t>(Load) </a:t>
            </a:r>
            <a:r>
              <a:rPr lang="zh-CN" altLang="en-US" dirty="0"/>
              <a:t>问题</a:t>
            </a:r>
            <a:endParaRPr lang="en-US" altLang="zh-CN" dirty="0"/>
          </a:p>
          <a:p>
            <a:pPr lvl="2"/>
            <a:r>
              <a:rPr lang="zh-CN" altLang="en-US" dirty="0"/>
              <a:t>负载问题实际上是从另一个角度看待分散性问题。既然不同的终端可能将相同的内容映射到不同的缓冲区中，那么对于一个特定的缓冲区而言，也可能被不同的用户映射为不同的内容。与分散性一样，这种情况也是应当避免的，因此好的哈希算法应能够尽量降低缓冲的负荷。 </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a:t>
            </a:r>
            <a:endParaRPr lang="zh-CN" altLang="en-US" dirty="0"/>
          </a:p>
          <a:p>
            <a:pPr lvl="1"/>
            <a:r>
              <a:rPr lang="zh-CN" altLang="en-US" dirty="0"/>
              <a:t>从表面上看，一致性哈希针对的是分布式缓冲的问题，但是如果将缓冲看作</a:t>
            </a:r>
            <a:r>
              <a:rPr lang="en-US" altLang="zh-CN" dirty="0"/>
              <a:t>P2P</a:t>
            </a:r>
            <a:r>
              <a:rPr lang="zh-CN" altLang="en-US" dirty="0"/>
              <a:t>系统中的</a:t>
            </a:r>
            <a:r>
              <a:rPr lang="en-US" altLang="zh-CN" dirty="0"/>
              <a:t>Peer</a:t>
            </a:r>
            <a:r>
              <a:rPr lang="zh-CN" altLang="en-US" dirty="0"/>
              <a:t>，将映射的内容看作各种共享的资源</a:t>
            </a:r>
            <a:r>
              <a:rPr lang="en-US" altLang="zh-CN" dirty="0"/>
              <a:t>(</a:t>
            </a:r>
            <a:r>
              <a:rPr lang="zh-CN" altLang="en-US" dirty="0"/>
              <a:t>数据，文件，媒体流等</a:t>
            </a:r>
            <a:r>
              <a:rPr lang="en-US" altLang="zh-CN" dirty="0"/>
              <a:t>)</a:t>
            </a:r>
            <a:r>
              <a:rPr lang="zh-CN" altLang="en-US" dirty="0"/>
              <a:t>，就会发现两者实际上是在描述同一问题。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a:t>
            </a:r>
            <a:r>
              <a:rPr lang="en-US" altLang="zh-CN" dirty="0"/>
              <a:t>:</a:t>
            </a:r>
            <a:r>
              <a:rPr lang="zh-CN" altLang="en-US" dirty="0"/>
              <a:t>例</a:t>
            </a:r>
            <a:endParaRPr lang="zh-CN" altLang="en-US" dirty="0"/>
          </a:p>
          <a:p>
            <a:pPr lvl="1"/>
            <a:r>
              <a:rPr lang="zh-CN" altLang="en-US" dirty="0"/>
              <a:t>例：假定有一个分布式</a:t>
            </a:r>
            <a:r>
              <a:rPr lang="en-US" altLang="zh-CN" dirty="0"/>
              <a:t>WEB</a:t>
            </a:r>
            <a:r>
              <a:rPr lang="zh-CN" altLang="en-US" dirty="0"/>
              <a:t>缓存系统，那么其数据缓存的算法可以有两种。</a:t>
            </a:r>
            <a:endParaRPr lang="zh-CN" altLang="en-US" dirty="0"/>
          </a:p>
          <a:p>
            <a:pPr lvl="1"/>
            <a:r>
              <a:rPr lang="en-US" altLang="zh-CN" dirty="0"/>
              <a:t>hash</a:t>
            </a:r>
            <a:r>
              <a:rPr lang="zh-CN" altLang="en-US" dirty="0"/>
              <a:t>模余算法：</a:t>
            </a:r>
            <a:endParaRPr lang="en-US" altLang="zh-CN" dirty="0"/>
          </a:p>
          <a:p>
            <a:pPr lvl="2"/>
            <a:r>
              <a:rPr lang="zh-CN" altLang="en-US" dirty="0"/>
              <a:t>根据</a:t>
            </a:r>
            <a:r>
              <a:rPr lang="en-US" altLang="zh-CN" dirty="0"/>
              <a:t>hash(key)% N</a:t>
            </a:r>
            <a:r>
              <a:rPr lang="zh-CN" altLang="en-US" dirty="0"/>
              <a:t>的结果决定存储到哪个节点</a:t>
            </a:r>
            <a:r>
              <a:rPr lang="en-US" altLang="zh-CN" dirty="0"/>
              <a:t>(key:</a:t>
            </a:r>
            <a:r>
              <a:rPr lang="zh-CN" altLang="en-US" dirty="0"/>
              <a:t>数据的关键字键值，</a:t>
            </a:r>
            <a:r>
              <a:rPr lang="en-US" altLang="zh-CN" dirty="0"/>
              <a:t>N:</a:t>
            </a:r>
            <a:r>
              <a:rPr lang="zh-CN" altLang="en-US" dirty="0"/>
              <a:t>服务器个数</a:t>
            </a:r>
            <a:r>
              <a:rPr lang="en-US" altLang="zh-CN" dirty="0"/>
              <a:t>)</a:t>
            </a:r>
            <a:r>
              <a:rPr lang="zh-CN" altLang="en-US" dirty="0"/>
              <a:t>，此计算方法简单，数据的分散性也相当优秀。</a:t>
            </a:r>
            <a:endParaRPr lang="zh-CN" altLang="en-US" dirty="0"/>
          </a:p>
          <a:p>
            <a:pPr lvl="2"/>
            <a:r>
              <a:rPr lang="zh-CN" altLang="en-US" dirty="0"/>
              <a:t>其缺点是当添加或移除服务器时，缓存重组的代价巨大。添加</a:t>
            </a:r>
            <a:r>
              <a:rPr lang="en-US" altLang="zh-CN" dirty="0"/>
              <a:t>/</a:t>
            </a:r>
            <a:r>
              <a:rPr lang="zh-CN" altLang="en-US" dirty="0"/>
              <a:t>删除服务器后</a:t>
            </a:r>
            <a:r>
              <a:rPr lang="en-US" altLang="zh-CN" dirty="0"/>
              <a:t>(</a:t>
            </a:r>
            <a:r>
              <a:rPr lang="zh-CN" altLang="en-US" dirty="0"/>
              <a:t>或者是某台服务器出现故障之后</a:t>
            </a:r>
            <a:r>
              <a:rPr lang="en-US" altLang="zh-CN" dirty="0"/>
              <a:t>)</a:t>
            </a:r>
            <a:r>
              <a:rPr lang="zh-CN" altLang="en-US" dirty="0"/>
              <a:t>，余数就会产生巨变，这样就无法保证获取时计算的服务器节点与保存时相同，从而影响缓存的命中率</a:t>
            </a:r>
            <a:r>
              <a:rPr lang="en-US" altLang="zh-CN" dirty="0"/>
              <a:t>——</a:t>
            </a:r>
            <a:r>
              <a:rPr lang="zh-CN" altLang="en-US" dirty="0"/>
              <a:t>造成原有的缓存数据大规模失效。</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453091" cy="4957760"/>
              </a:xfrm>
            </p:spPr>
            <p:txBody>
              <a:bodyPr/>
              <a:lstStyle/>
              <a:p>
                <a:r>
                  <a:rPr lang="zh-CN" altLang="en-US" dirty="0"/>
                  <a:t>一致性哈希</a:t>
                </a:r>
                <a:r>
                  <a:rPr lang="en-US" altLang="zh-CN" dirty="0"/>
                  <a:t>:</a:t>
                </a:r>
                <a:r>
                  <a:rPr lang="zh-CN" altLang="en-US" dirty="0"/>
                  <a:t>例</a:t>
                </a:r>
                <a:endParaRPr lang="en-US" altLang="zh-CN" dirty="0"/>
              </a:p>
              <a:p>
                <a:pPr lvl="1"/>
                <a:r>
                  <a:rPr lang="zh-CN" altLang="en-US" dirty="0"/>
                  <a:t>一致性哈希方法</a:t>
                </a:r>
                <a:endParaRPr lang="en-US" altLang="zh-CN" dirty="0"/>
              </a:p>
              <a:p>
                <a:pPr lvl="2"/>
                <a:r>
                  <a:rPr lang="zh-CN" altLang="en-US" dirty="0"/>
                  <a:t>我们采用了一种新的方式来解决问题，处理服务器的选择不再仅仅依赖</a:t>
                </a:r>
                <a:r>
                  <a:rPr lang="en-US" altLang="zh-CN" dirty="0"/>
                  <a:t>key</a:t>
                </a:r>
                <a:r>
                  <a:rPr lang="zh-CN" altLang="en-US" dirty="0"/>
                  <a:t>的</a:t>
                </a:r>
                <a:r>
                  <a:rPr lang="en-US" altLang="zh-CN" dirty="0"/>
                  <a:t>hash</a:t>
                </a:r>
                <a:r>
                  <a:rPr lang="zh-CN" altLang="en-US" dirty="0"/>
                  <a:t>本身而是将服务实例</a:t>
                </a:r>
                <a:r>
                  <a:rPr lang="en-US" altLang="zh-CN" dirty="0"/>
                  <a:t>(</a:t>
                </a:r>
                <a:r>
                  <a:rPr lang="zh-CN" altLang="en-US" dirty="0"/>
                  <a:t>节点</a:t>
                </a:r>
                <a:r>
                  <a:rPr lang="en-US" altLang="zh-CN" dirty="0"/>
                  <a:t>)</a:t>
                </a:r>
                <a:r>
                  <a:rPr lang="zh-CN" altLang="en-US" dirty="0"/>
                  <a:t>的配置也进行</a:t>
                </a:r>
                <a:r>
                  <a:rPr lang="en-US" altLang="zh-CN" dirty="0"/>
                  <a:t>hash</a:t>
                </a:r>
                <a:r>
                  <a:rPr lang="zh-CN" altLang="en-US" dirty="0"/>
                  <a:t>运算。 </a:t>
                </a:r>
                <a:endParaRPr lang="en-US" altLang="zh-CN" dirty="0"/>
              </a:p>
              <a:p>
                <a:pPr lvl="2"/>
                <a:r>
                  <a:rPr lang="zh-CN" altLang="en-US" dirty="0"/>
                  <a:t>首先，求出每个服务节点的</a:t>
                </a:r>
                <a:r>
                  <a:rPr lang="en-US" altLang="zh-CN" dirty="0"/>
                  <a:t>hash</a:t>
                </a:r>
                <a:r>
                  <a:rPr lang="zh-CN" altLang="en-US" dirty="0"/>
                  <a:t>，并将其配置到一个</a:t>
                </a:r>
                <a14:m>
                  <m:oMath xmlns:m="http://schemas.openxmlformats.org/officeDocument/2006/math">
                    <m:sSup>
                      <m:sSupPr>
                        <m:ctrlPr>
                          <a:rPr lang="en-US" altLang="zh-CN" i="1" smtClean="0">
                            <a:latin typeface="Cambria Math" panose="02040503050406030204" pitchFamily="18" charset="0"/>
                          </a:rPr>
                        </m:ctrlPr>
                      </m:sSupPr>
                      <m:e>
                        <m:r>
                          <a:rPr lang="en-US" altLang="zh-CN" smtClean="0">
                            <a:latin typeface="Cambria Math" panose="02040503050406030204" pitchFamily="18" charset="0"/>
                          </a:rPr>
                          <m:t>0</m:t>
                        </m:r>
                        <m:r>
                          <a:rPr lang="en-US" altLang="zh-CN" smtClean="0">
                            <a:latin typeface="Cambria Math" panose="02040503050406030204" pitchFamily="18" charset="0"/>
                          </a:rPr>
                          <m:t>∼</m:t>
                        </m:r>
                        <m:r>
                          <a:rPr lang="en-US" altLang="zh-CN" smtClean="0">
                            <a:latin typeface="Cambria Math" panose="02040503050406030204" pitchFamily="18" charset="0"/>
                          </a:rPr>
                          <m:t>2</m:t>
                        </m:r>
                      </m:e>
                      <m:sup>
                        <m:r>
                          <a:rPr lang="en-US" altLang="zh-CN" smtClean="0">
                            <a:latin typeface="Cambria Math" panose="02040503050406030204" pitchFamily="18" charset="0"/>
                          </a:rPr>
                          <m:t>32</m:t>
                        </m:r>
                      </m:sup>
                    </m:sSup>
                    <m:r>
                      <a:rPr lang="en-US" altLang="zh-CN" smtClean="0">
                        <a:latin typeface="Cambria Math" panose="02040503050406030204" pitchFamily="18" charset="0"/>
                      </a:rPr>
                      <m:t>−</m:t>
                    </m:r>
                    <m:r>
                      <a:rPr lang="en-US" altLang="zh-CN" smtClean="0">
                        <a:latin typeface="Cambria Math" panose="02040503050406030204" pitchFamily="18" charset="0"/>
                      </a:rPr>
                      <m:t>1</m:t>
                    </m:r>
                  </m:oMath>
                </a14:m>
                <a:r>
                  <a:rPr lang="zh-CN" altLang="en-US" dirty="0"/>
                  <a:t>的圆环区间</a:t>
                </a:r>
                <a:r>
                  <a:rPr lang="en-US" altLang="zh-CN" dirty="0"/>
                  <a:t>(continuum)</a:t>
                </a:r>
                <a:r>
                  <a:rPr lang="zh-CN" altLang="en-US" dirty="0"/>
                  <a:t>上。</a:t>
                </a:r>
                <a:endParaRPr lang="zh-CN" altLang="en-US" dirty="0"/>
              </a:p>
              <a:p>
                <a:pPr lvl="2"/>
                <a:r>
                  <a:rPr lang="zh-CN" altLang="en-US" dirty="0"/>
                  <a:t>其次，使用同样的方法求出所需要存储的</a:t>
                </a:r>
                <a:r>
                  <a:rPr lang="en-US" altLang="zh-CN" dirty="0"/>
                  <a:t>key</a:t>
                </a:r>
                <a:r>
                  <a:rPr lang="zh-CN" altLang="en-US" dirty="0"/>
                  <a:t>的</a:t>
                </a:r>
                <a:r>
                  <a:rPr lang="en-US" altLang="zh-CN" dirty="0"/>
                  <a:t>hash</a:t>
                </a:r>
                <a:r>
                  <a:rPr lang="zh-CN" altLang="en-US" dirty="0"/>
                  <a:t>，也将其配置到这个圆环区间</a:t>
                </a:r>
                <a:r>
                  <a:rPr lang="en-US" altLang="zh-CN" dirty="0"/>
                  <a:t>(continuum)</a:t>
                </a:r>
                <a:r>
                  <a:rPr lang="zh-CN" altLang="en-US" dirty="0"/>
                  <a:t>上。</a:t>
                </a:r>
                <a:endParaRPr lang="zh-CN" altLang="en-US" dirty="0"/>
              </a:p>
              <a:p>
                <a:pPr lvl="2"/>
                <a:r>
                  <a:rPr lang="zh-CN" altLang="en-US" dirty="0"/>
                  <a:t>然后，从数据映射到的位置开始顺时针查找，将数据保存到找到的第一个服务节点上。如果超过</a:t>
                </a:r>
                <a14:m>
                  <m:oMath xmlns:m="http://schemas.openxmlformats.org/officeDocument/2006/math">
                    <m:sSup>
                      <m:sSupPr>
                        <m:ctrlPr>
                          <a:rPr lang="en-US" altLang="zh-CN" i="1" smtClean="0">
                            <a:latin typeface="Cambria Math" panose="02040503050406030204" pitchFamily="18" charset="0"/>
                          </a:rPr>
                        </m:ctrlPr>
                      </m:sSupPr>
                      <m:e>
                        <m:r>
                          <a:rPr lang="en-US" altLang="zh-CN" smtClean="0">
                            <a:latin typeface="Cambria Math" panose="02040503050406030204" pitchFamily="18" charset="0"/>
                          </a:rPr>
                          <m:t>2</m:t>
                        </m:r>
                      </m:e>
                      <m:sup>
                        <m:r>
                          <a:rPr lang="en-US" altLang="zh-CN" smtClean="0">
                            <a:latin typeface="Cambria Math" panose="02040503050406030204" pitchFamily="18" charset="0"/>
                          </a:rPr>
                          <m:t>32</m:t>
                        </m:r>
                      </m:sup>
                    </m:sSup>
                    <m:r>
                      <a:rPr lang="en-US" altLang="zh-CN" smtClean="0">
                        <a:latin typeface="Cambria Math" panose="02040503050406030204" pitchFamily="18" charset="0"/>
                      </a:rPr>
                      <m:t>−</m:t>
                    </m:r>
                    <m:r>
                      <a:rPr lang="en-US" altLang="zh-CN" smtClean="0">
                        <a:latin typeface="Cambria Math" panose="02040503050406030204" pitchFamily="18" charset="0"/>
                      </a:rPr>
                      <m:t>1</m:t>
                    </m:r>
                  </m:oMath>
                </a14:m>
                <a:r>
                  <a:rPr lang="zh-CN" altLang="en-US" dirty="0"/>
                  <a:t>仍然找不到服务节点，就会保存到第一个服务节点上。 </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453091" cy="4957760"/>
              </a:xfrm>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a:t>
            </a:r>
            <a:r>
              <a:rPr lang="en-US" altLang="zh-CN" dirty="0"/>
              <a:t>:</a:t>
            </a:r>
            <a:r>
              <a:rPr lang="zh-CN" altLang="en-US" dirty="0"/>
              <a:t>示意图</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6" descr="consistent has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36094" y="1857519"/>
            <a:ext cx="6119812" cy="482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a:t>
            </a:r>
            <a:r>
              <a:rPr lang="en-US" altLang="zh-CN" dirty="0"/>
              <a:t>:</a:t>
            </a:r>
            <a:r>
              <a:rPr lang="zh-CN" altLang="en-US" dirty="0"/>
              <a:t>示意图</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7" name="Picture 5" descr="consistent hash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54375" y="1809517"/>
            <a:ext cx="5683250"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一致性哈希的改进</a:t>
            </a:r>
            <a:r>
              <a:rPr lang="en-US" altLang="zh-CN" dirty="0"/>
              <a:t>:</a:t>
            </a:r>
            <a:r>
              <a:rPr lang="zh-CN" altLang="en-US" dirty="0"/>
              <a:t>虚拟节点</a:t>
            </a:r>
            <a:endParaRPr lang="en-US" altLang="zh-CN" dirty="0"/>
          </a:p>
          <a:p>
            <a:pPr lvl="1"/>
            <a:r>
              <a:rPr lang="zh-CN" altLang="en-US" dirty="0"/>
              <a:t>一致性哈希具有随机性，当节点数量较少时节点在环上分布不够均匀，对于节点可能存在的性能差异也没有考虑。</a:t>
            </a:r>
            <a:endParaRPr lang="zh-CN" altLang="en-US" dirty="0"/>
          </a:p>
          <a:p>
            <a:pPr lvl="1"/>
            <a:r>
              <a:rPr lang="zh-CN" altLang="en-US" dirty="0"/>
              <a:t>为解决这个问题，以 </a:t>
            </a:r>
            <a:r>
              <a:rPr lang="en-US" altLang="zh-CN" dirty="0"/>
              <a:t>Dynamo </a:t>
            </a:r>
            <a:r>
              <a:rPr lang="zh-CN" altLang="en-US" dirty="0"/>
              <a:t>为代表，提出了基于虚拟节点的改进算法，其核心思路是引入虚拟节点，每个虚拟节点都有一个对应的物理节点，而每个物理节点可以对应若干个虚拟节点。</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虚拟节点的</a:t>
            </a:r>
            <a:r>
              <a:rPr lang="en-US" altLang="zh-CN" dirty="0"/>
              <a:t>hash</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5857" y="2095754"/>
            <a:ext cx="7140286" cy="4175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一致性哈希的改进</a:t>
            </a:r>
            <a:r>
              <a:rPr lang="en-US" altLang="zh-CN" dirty="0"/>
              <a:t>:</a:t>
            </a:r>
            <a:r>
              <a:rPr lang="zh-CN" altLang="en-US" dirty="0"/>
              <a:t>虚拟节点</a:t>
            </a:r>
            <a:endParaRPr lang="en-US" altLang="zh-CN" dirty="0"/>
          </a:p>
          <a:p>
            <a:pPr lvl="1"/>
            <a:r>
              <a:rPr lang="en-US" altLang="zh-CN" dirty="0"/>
              <a:t>Dynamo </a:t>
            </a:r>
            <a:r>
              <a:rPr lang="zh-CN" altLang="en-US" dirty="0"/>
              <a:t>将圆环划分成了</a:t>
            </a:r>
            <a:r>
              <a:rPr lang="en-US" altLang="zh-CN" dirty="0"/>
              <a:t>M </a:t>
            </a:r>
            <a:r>
              <a:rPr lang="zh-CN" altLang="en-US" dirty="0"/>
              <a:t>等分，若加入物理节点为 </a:t>
            </a:r>
            <a:r>
              <a:rPr lang="en-US" altLang="zh-CN" dirty="0"/>
              <a:t>N </a:t>
            </a:r>
            <a:r>
              <a:rPr lang="zh-CN" altLang="en-US" dirty="0"/>
              <a:t>个</a:t>
            </a:r>
            <a:r>
              <a:rPr lang="en-US" altLang="zh-CN" dirty="0"/>
              <a:t>(N&lt;M)</a:t>
            </a:r>
            <a:r>
              <a:rPr lang="zh-CN" altLang="en-US" dirty="0"/>
              <a:t>，则每个物理节点拥有 </a:t>
            </a:r>
            <a:r>
              <a:rPr lang="en-US" altLang="zh-CN" dirty="0"/>
              <a:t>V=M/N </a:t>
            </a:r>
            <a:r>
              <a:rPr lang="zh-CN" altLang="en-US" dirty="0"/>
              <a:t>个节点数。 </a:t>
            </a:r>
            <a:endParaRPr lang="zh-CN" altLang="en-US" dirty="0"/>
          </a:p>
          <a:p>
            <a:pPr lvl="1"/>
            <a:r>
              <a:rPr lang="zh-CN" altLang="en-US" dirty="0"/>
              <a:t>当有物理节点离线时，由于该节点对应的虚拟节点均匀地分布在环上，其附近的节点将会均匀地分担这个节点的原有负载，当有新节点加入时，同理，其他节点的负担也将均匀转移到其上。</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一致性哈希的改进</a:t>
            </a:r>
            <a:r>
              <a:rPr lang="en-US" altLang="zh-CN" dirty="0"/>
              <a:t>:</a:t>
            </a:r>
            <a:r>
              <a:rPr lang="zh-CN" altLang="en-US" dirty="0"/>
              <a:t>其他</a:t>
            </a:r>
            <a:endParaRPr lang="en-US" altLang="zh-CN" dirty="0"/>
          </a:p>
          <a:p>
            <a:pPr lvl="1"/>
            <a:r>
              <a:rPr lang="zh-CN" altLang="en-US" dirty="0"/>
              <a:t>此外，依据物理节点的实际性能为权值分配环上的虚拟节点数目给物理节点，可以解决存储节点性能差异的问题。</a:t>
            </a:r>
            <a:endParaRPr lang="zh-CN" altLang="en-US" dirty="0"/>
          </a:p>
          <a:p>
            <a:pPr lvl="1"/>
            <a:r>
              <a:rPr lang="zh-CN" altLang="en-US" dirty="0"/>
              <a:t>为解决数据迁移带来的效率降低问题，可以将新增节点完成的数据迁移分布在每一次的查询任务中去，相当于每一次查询都可以迁移一小部分数据，此外，还可以在系统闲暇时间进行数据迁移，这样可以有效地提高效率。</a:t>
            </a:r>
            <a:endParaRPr lang="zh-CN" altLang="en-US" dirty="0"/>
          </a:p>
          <a:p>
            <a:pPr lvl="1"/>
            <a:r>
              <a:rPr lang="zh-CN" altLang="en-US" dirty="0"/>
              <a:t>优点：发生单点故障时负载会均衡分散到其他所有节点，程序实现也比较优雅。</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一致性哈希的应用</a:t>
            </a:r>
            <a:r>
              <a:rPr lang="en-US" altLang="zh-CN" dirty="0"/>
              <a:t>:</a:t>
            </a:r>
            <a:r>
              <a:rPr lang="zh-CN" altLang="en-US" dirty="0"/>
              <a:t>路由算法</a:t>
            </a:r>
            <a:endParaRPr lang="en-US" altLang="zh-CN" dirty="0"/>
          </a:p>
          <a:p>
            <a:pPr lvl="1"/>
            <a:r>
              <a:rPr lang="zh-CN" altLang="en-US" dirty="0"/>
              <a:t>为了构建查询所需的路由，一致性哈希要求每个节点存储其上行节点</a:t>
            </a:r>
            <a:r>
              <a:rPr lang="en-US" altLang="zh-CN" dirty="0"/>
              <a:t>(ID</a:t>
            </a:r>
            <a:r>
              <a:rPr lang="zh-CN" altLang="en-US" dirty="0"/>
              <a:t>值大于自身的节点中最小的</a:t>
            </a:r>
            <a:r>
              <a:rPr lang="en-US" altLang="zh-CN" dirty="0"/>
              <a:t>)</a:t>
            </a:r>
            <a:r>
              <a:rPr lang="zh-CN" altLang="en-US" dirty="0"/>
              <a:t>和下行节点</a:t>
            </a:r>
            <a:r>
              <a:rPr lang="en-US" altLang="zh-CN" dirty="0"/>
              <a:t>(ID</a:t>
            </a:r>
            <a:r>
              <a:rPr lang="zh-CN" altLang="en-US" dirty="0"/>
              <a:t>值小于自身的节点中最大的</a:t>
            </a:r>
            <a:r>
              <a:rPr lang="en-US" altLang="zh-CN" dirty="0"/>
              <a:t>)</a:t>
            </a:r>
            <a:r>
              <a:rPr lang="zh-CN" altLang="en-US" dirty="0"/>
              <a:t>的位置信息 </a:t>
            </a:r>
            <a:r>
              <a:rPr lang="en-US" altLang="zh-CN" dirty="0"/>
              <a:t>(IP</a:t>
            </a:r>
            <a:r>
              <a:rPr lang="zh-CN" altLang="en-US" dirty="0"/>
              <a:t>地址</a:t>
            </a:r>
            <a:r>
              <a:rPr lang="en-US" altLang="zh-CN" dirty="0"/>
              <a:t>)</a:t>
            </a:r>
            <a:r>
              <a:rPr lang="zh-CN" altLang="en-US" dirty="0"/>
              <a:t>。</a:t>
            </a:r>
            <a:endParaRPr lang="zh-CN" altLang="en-US" dirty="0"/>
          </a:p>
          <a:p>
            <a:pPr lvl="1"/>
            <a:r>
              <a:rPr lang="zh-CN" altLang="en-US" dirty="0"/>
              <a:t>当节点需要查找内容时，就可以根据内容的键值决定向上行或下行节点发起查询请求。</a:t>
            </a:r>
            <a:endParaRPr lang="zh-CN" altLang="en-US" dirty="0"/>
          </a:p>
          <a:p>
            <a:pPr lvl="1"/>
            <a:r>
              <a:rPr lang="zh-CN" altLang="en-US" dirty="0"/>
              <a:t>收到查询请求的节点如果发现自己拥有被请求的目标，可以直接向发起查询请求的节点返回确认；</a:t>
            </a:r>
            <a:endParaRPr lang="zh-CN" altLang="en-US" dirty="0"/>
          </a:p>
          <a:p>
            <a:pPr lvl="1"/>
            <a:r>
              <a:rPr lang="zh-CN" altLang="en-US" dirty="0"/>
              <a:t>如果发现不属于自身的范围，可以转发请求到自己的上行</a:t>
            </a:r>
            <a:r>
              <a:rPr lang="en-US" altLang="zh-CN" dirty="0"/>
              <a:t>/</a:t>
            </a:r>
            <a:r>
              <a:rPr lang="zh-CN" altLang="en-US" dirty="0"/>
              <a:t>下行节点。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一致性哈希的应用</a:t>
            </a:r>
            <a:r>
              <a:rPr lang="en-US" altLang="zh-CN" dirty="0"/>
              <a:t>:</a:t>
            </a:r>
            <a:r>
              <a:rPr lang="zh-CN" altLang="en-US" dirty="0"/>
              <a:t>路由算法</a:t>
            </a:r>
            <a:endParaRPr lang="en-US" altLang="zh-CN" dirty="0"/>
          </a:p>
          <a:p>
            <a:pPr lvl="1"/>
            <a:r>
              <a:rPr lang="zh-CN" altLang="en-US" dirty="0"/>
              <a:t>为了维护上述路由信息，在节点加入</a:t>
            </a:r>
            <a:r>
              <a:rPr lang="en-US" altLang="zh-CN" dirty="0"/>
              <a:t>/</a:t>
            </a:r>
            <a:r>
              <a:rPr lang="zh-CN" altLang="en-US" dirty="0"/>
              <a:t>退出系统时，相邻的节点必须及时更新路由信息。</a:t>
            </a:r>
            <a:endParaRPr lang="zh-CN" altLang="en-US" dirty="0"/>
          </a:p>
          <a:p>
            <a:pPr lvl="1"/>
            <a:r>
              <a:rPr lang="zh-CN" altLang="en-US" dirty="0"/>
              <a:t>这就要求节点不仅存储直接相连的下行节点位置信息，还要知道一定深度 </a:t>
            </a:r>
            <a:r>
              <a:rPr lang="en-US" altLang="zh-CN" dirty="0"/>
              <a:t>(n</a:t>
            </a:r>
            <a:r>
              <a:rPr lang="zh-CN" altLang="en-US" dirty="0"/>
              <a:t>跳</a:t>
            </a:r>
            <a:r>
              <a:rPr lang="en-US" altLang="zh-CN" dirty="0"/>
              <a:t>)</a:t>
            </a:r>
            <a:r>
              <a:rPr lang="zh-CN" altLang="en-US" dirty="0"/>
              <a:t>的间接下行节点信息，并且动态地维护节点列表。</a:t>
            </a:r>
            <a:endParaRPr lang="zh-CN" altLang="en-US" dirty="0"/>
          </a:p>
          <a:p>
            <a:pPr lvl="1"/>
            <a:r>
              <a:rPr lang="zh-CN" altLang="en-US" dirty="0"/>
              <a:t>当节点退出系统时，它的上行节点将尝试直接连接到最近的下行节点，连接成功后，从新的下行节点获得下行节点列表并更新自身的节点列表。</a:t>
            </a:r>
            <a:endParaRPr lang="zh-CN" altLang="en-US" dirty="0"/>
          </a:p>
          <a:p>
            <a:pPr lvl="1"/>
            <a:r>
              <a:rPr lang="zh-CN" altLang="en-US" dirty="0"/>
              <a:t>同样的，当新的节点加入到系统中时，首先根据自身的</a:t>
            </a:r>
            <a:r>
              <a:rPr lang="en-US" altLang="zh-CN" dirty="0"/>
              <a:t>ID</a:t>
            </a:r>
            <a:r>
              <a:rPr lang="zh-CN" altLang="en-US" dirty="0"/>
              <a:t>找到下行节点并获得下行节点列表，然后要求上行节点修改其下行节点列表，这样就恢复了路由关系。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一致性哈希的应用</a:t>
            </a:r>
            <a:r>
              <a:rPr lang="en-US" altLang="zh-CN" dirty="0"/>
              <a:t>:</a:t>
            </a:r>
            <a:r>
              <a:rPr lang="zh-CN" altLang="en-US" dirty="0"/>
              <a:t>分布式哈希表</a:t>
            </a:r>
            <a:r>
              <a:rPr lang="en-US" altLang="zh-CN" dirty="0"/>
              <a:t>(DHT)</a:t>
            </a:r>
            <a:endParaRPr lang="en-US" altLang="zh-CN" dirty="0"/>
          </a:p>
          <a:p>
            <a:pPr lvl="1"/>
            <a:r>
              <a:rPr lang="zh-CN" altLang="en-US" dirty="0"/>
              <a:t>分布式哈希表技术</a:t>
            </a:r>
            <a:r>
              <a:rPr lang="en-US" altLang="zh-CN" dirty="0"/>
              <a:t>(Distributed Hash </a:t>
            </a:r>
            <a:r>
              <a:rPr lang="en-US" altLang="zh-CN" dirty="0" err="1"/>
              <a:t>Table,DHT</a:t>
            </a:r>
            <a:r>
              <a:rPr lang="en-US" altLang="zh-CN" dirty="0"/>
              <a:t>)</a:t>
            </a:r>
            <a:r>
              <a:rPr lang="zh-CN" altLang="en-US" dirty="0"/>
              <a:t>是一种分布式存储技术。</a:t>
            </a:r>
            <a:endParaRPr lang="zh-CN" altLang="en-US" dirty="0"/>
          </a:p>
          <a:p>
            <a:pPr lvl="1"/>
            <a:r>
              <a:rPr lang="zh-CN" altLang="en-US" dirty="0"/>
              <a:t>在不需要服务器的情况下，每个客户端负责一个小范围的路由，并负责存储一小部分数据，从而实现整个</a:t>
            </a:r>
            <a:r>
              <a:rPr lang="en-US" altLang="zh-CN" dirty="0"/>
              <a:t>DHT</a:t>
            </a:r>
            <a:r>
              <a:rPr lang="zh-CN" altLang="en-US" dirty="0"/>
              <a:t>网络的寻址和存储。</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DHT</a:t>
            </a:r>
            <a:r>
              <a:rPr lang="zh-CN" altLang="en-US" dirty="0"/>
              <a:t>主要思想</a:t>
            </a:r>
            <a:endParaRPr lang="zh-CN" altLang="en-US" dirty="0"/>
          </a:p>
          <a:p>
            <a:pPr lvl="1"/>
            <a:r>
              <a:rPr lang="zh-CN" altLang="en-US" dirty="0"/>
              <a:t>首先，每条文件索引被表示成一个</a:t>
            </a:r>
            <a:r>
              <a:rPr lang="en-US" altLang="zh-CN" dirty="0"/>
              <a:t>(K, V)</a:t>
            </a:r>
            <a:r>
              <a:rPr lang="zh-CN" altLang="en-US" dirty="0"/>
              <a:t>对，</a:t>
            </a:r>
            <a:r>
              <a:rPr lang="en-US" altLang="zh-CN" dirty="0"/>
              <a:t>K </a:t>
            </a:r>
            <a:r>
              <a:rPr lang="zh-CN" altLang="en-US" dirty="0"/>
              <a:t>称为关键字，可以是文件名</a:t>
            </a:r>
            <a:r>
              <a:rPr lang="en-US" altLang="zh-CN" dirty="0"/>
              <a:t>(</a:t>
            </a:r>
            <a:r>
              <a:rPr lang="zh-CN" altLang="en-US" dirty="0"/>
              <a:t>或文件的其他描述信息</a:t>
            </a:r>
            <a:r>
              <a:rPr lang="en-US" altLang="zh-CN" dirty="0"/>
              <a:t>)</a:t>
            </a:r>
            <a:r>
              <a:rPr lang="zh-CN" altLang="en-US" dirty="0"/>
              <a:t>的哈希值，</a:t>
            </a:r>
            <a:r>
              <a:rPr lang="en-US" altLang="zh-CN" dirty="0"/>
              <a:t>V </a:t>
            </a:r>
            <a:r>
              <a:rPr lang="zh-CN" altLang="en-US" dirty="0"/>
              <a:t>是实际存储文件的节点的</a:t>
            </a:r>
            <a:r>
              <a:rPr lang="en-US" altLang="zh-CN" dirty="0"/>
              <a:t>IP </a:t>
            </a:r>
            <a:r>
              <a:rPr lang="zh-CN" altLang="en-US" dirty="0"/>
              <a:t>地址</a:t>
            </a:r>
            <a:r>
              <a:rPr lang="en-US" altLang="zh-CN" dirty="0"/>
              <a:t>(</a:t>
            </a:r>
            <a:r>
              <a:rPr lang="zh-CN" altLang="en-US" dirty="0"/>
              <a:t>或节点的其他描述信息</a:t>
            </a:r>
            <a:r>
              <a:rPr lang="en-US" altLang="zh-CN" dirty="0"/>
              <a:t>)</a:t>
            </a:r>
            <a:r>
              <a:rPr lang="zh-CN" altLang="en-US" dirty="0"/>
              <a:t>。</a:t>
            </a:r>
            <a:endParaRPr lang="zh-CN" altLang="en-US" dirty="0"/>
          </a:p>
          <a:p>
            <a:pPr lvl="1"/>
            <a:r>
              <a:rPr lang="zh-CN" altLang="en-US" dirty="0"/>
              <a:t>其次，所有的文件索引条目</a:t>
            </a:r>
            <a:r>
              <a:rPr lang="en-US" altLang="zh-CN" dirty="0"/>
              <a:t>(</a:t>
            </a:r>
            <a:r>
              <a:rPr lang="zh-CN" altLang="en-US" dirty="0"/>
              <a:t>即所有的</a:t>
            </a:r>
            <a:r>
              <a:rPr lang="en-US" altLang="zh-CN" dirty="0"/>
              <a:t>(K, V)</a:t>
            </a:r>
            <a:r>
              <a:rPr lang="zh-CN" altLang="en-US" dirty="0"/>
              <a:t>对</a:t>
            </a:r>
            <a:r>
              <a:rPr lang="en-US" altLang="zh-CN" dirty="0"/>
              <a:t>)</a:t>
            </a:r>
            <a:r>
              <a:rPr lang="zh-CN" altLang="en-US" dirty="0"/>
              <a:t>组成一张大的文件索引哈希表，只要输入目标文件的</a:t>
            </a:r>
            <a:r>
              <a:rPr lang="en-US" altLang="zh-CN" dirty="0"/>
              <a:t>K </a:t>
            </a:r>
            <a:r>
              <a:rPr lang="zh-CN" altLang="en-US" dirty="0"/>
              <a:t>值，就可以从这张表中查出所有存储该文件的节点地址。</a:t>
            </a:r>
            <a:endParaRPr lang="zh-CN" altLang="en-US" dirty="0"/>
          </a:p>
          <a:p>
            <a:pPr lvl="1"/>
            <a:r>
              <a:rPr lang="zh-CN" altLang="en-US" dirty="0"/>
              <a:t>然后，再将上面的大文件哈希表分割成很多局部小块，按照特定的规则把这些小块的局部哈希表分布到系统中的所有参与节点上，使得每个节点负责维护其中的一块。</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DHT</a:t>
            </a:r>
            <a:r>
              <a:rPr lang="zh-CN" altLang="en-US" dirty="0"/>
              <a:t>主要思想</a:t>
            </a:r>
            <a:endParaRPr lang="zh-CN" altLang="en-US" dirty="0"/>
          </a:p>
          <a:p>
            <a:pPr lvl="1"/>
            <a:r>
              <a:rPr lang="zh-CN" altLang="en-US" dirty="0"/>
              <a:t>这样，当节点查询文件时，只要把查询报文路由到相应的节点即可</a:t>
            </a:r>
            <a:r>
              <a:rPr lang="en-US" altLang="zh-CN" dirty="0"/>
              <a:t>(</a:t>
            </a:r>
            <a:r>
              <a:rPr lang="zh-CN" altLang="en-US" dirty="0"/>
              <a:t>该节点维护的哈希表分块中含有要查找的</a:t>
            </a:r>
            <a:r>
              <a:rPr lang="en-US" altLang="zh-CN" dirty="0"/>
              <a:t>(K,V)</a:t>
            </a:r>
            <a:r>
              <a:rPr lang="zh-CN" altLang="en-US" dirty="0"/>
              <a:t>对</a:t>
            </a:r>
            <a:r>
              <a:rPr lang="en-US" altLang="zh-CN" dirty="0"/>
              <a:t>)</a:t>
            </a:r>
            <a:r>
              <a:rPr lang="zh-CN" altLang="en-US" dirty="0"/>
              <a:t>。</a:t>
            </a:r>
            <a:endParaRPr lang="zh-CN" altLang="en-US" dirty="0"/>
          </a:p>
          <a:p>
            <a:pPr lvl="1"/>
            <a:r>
              <a:rPr lang="zh-CN" altLang="en-US" dirty="0"/>
              <a:t>这里面有个很重要的问题，就是节点要按照一定的规则来分割整体的哈希表，进而也就决定了节点要维护特定的邻居节点，以便路由能顺利进行。</a:t>
            </a:r>
            <a:endParaRPr lang="zh-CN" altLang="en-US" dirty="0"/>
          </a:p>
          <a:p>
            <a:pPr lvl="1"/>
            <a:r>
              <a:rPr lang="zh-CN" altLang="en-US" dirty="0"/>
              <a:t>这个规则因具体系统的不同而不同，例如，</a:t>
            </a:r>
            <a:r>
              <a:rPr lang="en-US" altLang="zh-CN" dirty="0"/>
              <a:t>CAN</a:t>
            </a:r>
            <a:r>
              <a:rPr lang="zh-CN" altLang="en-US" dirty="0"/>
              <a:t>，</a:t>
            </a:r>
            <a:r>
              <a:rPr lang="en-US" altLang="zh-CN" dirty="0"/>
              <a:t>Chord</a:t>
            </a:r>
            <a:r>
              <a:rPr lang="zh-CN" altLang="en-US" dirty="0"/>
              <a:t>，</a:t>
            </a:r>
            <a:r>
              <a:rPr lang="en-US" altLang="zh-CN" dirty="0"/>
              <a:t>Pastry</a:t>
            </a:r>
            <a:r>
              <a:rPr lang="zh-CN" altLang="en-US" dirty="0"/>
              <a:t>和</a:t>
            </a:r>
            <a:r>
              <a:rPr lang="en-US" altLang="zh-CN" dirty="0"/>
              <a:t>Tapestry </a:t>
            </a:r>
            <a:r>
              <a:rPr lang="zh-CN" altLang="en-US" dirty="0"/>
              <a:t>都有自己的规则，也就呈现出不同的特性有查找可确定性、简单性和分布性等优点，正成为国际上结构化</a:t>
            </a:r>
            <a:r>
              <a:rPr lang="en-US" altLang="zh-CN" dirty="0"/>
              <a:t>P2P </a:t>
            </a:r>
            <a:r>
              <a:rPr lang="zh-CN" altLang="en-US" dirty="0"/>
              <a:t>网络研究和应用的热点。</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lnSpcReduction="10000"/>
          </a:bodyPr>
          <a:lstStyle/>
          <a:p>
            <a:r>
              <a:rPr lang="en-US" altLang="zh-CN" dirty="0"/>
              <a:t>DHT</a:t>
            </a:r>
            <a:r>
              <a:rPr lang="zh-CN" altLang="en-US" dirty="0"/>
              <a:t>具体步骤</a:t>
            </a:r>
            <a:endParaRPr lang="zh-CN" altLang="en-US" dirty="0"/>
          </a:p>
          <a:p>
            <a:pPr lvl="1"/>
            <a:r>
              <a:rPr lang="zh-CN" altLang="en-US" dirty="0"/>
              <a:t>将内容索引抽象为</a:t>
            </a:r>
            <a:r>
              <a:rPr lang="en-US" altLang="zh-CN" dirty="0"/>
              <a:t>&lt;K, V&gt;</a:t>
            </a:r>
            <a:r>
              <a:rPr lang="zh-CN" altLang="en-US" dirty="0"/>
              <a:t>对</a:t>
            </a:r>
            <a:r>
              <a:rPr lang="en-US" altLang="zh-CN" dirty="0"/>
              <a:t>:</a:t>
            </a:r>
            <a:endParaRPr lang="en-US" altLang="zh-CN" dirty="0"/>
          </a:p>
          <a:p>
            <a:pPr lvl="2"/>
            <a:r>
              <a:rPr lang="en-US" altLang="zh-CN" dirty="0"/>
              <a:t>K</a:t>
            </a:r>
            <a:r>
              <a:rPr lang="zh-CN" altLang="en-US" dirty="0"/>
              <a:t>是内容关键字的</a:t>
            </a:r>
            <a:r>
              <a:rPr lang="en-US" altLang="zh-CN" dirty="0"/>
              <a:t>Hash</a:t>
            </a:r>
            <a:r>
              <a:rPr lang="zh-CN" altLang="en-US" dirty="0"/>
              <a:t>摘要</a:t>
            </a:r>
            <a:endParaRPr lang="zh-CN" altLang="en-US" dirty="0"/>
          </a:p>
          <a:p>
            <a:pPr lvl="2"/>
            <a:r>
              <a:rPr lang="en-US" altLang="zh-CN" dirty="0"/>
              <a:t>	K = Hash(key)</a:t>
            </a:r>
            <a:endParaRPr lang="en-US" altLang="zh-CN" dirty="0"/>
          </a:p>
          <a:p>
            <a:pPr lvl="2"/>
            <a:r>
              <a:rPr lang="en-US" altLang="zh-CN" dirty="0"/>
              <a:t>V</a:t>
            </a:r>
            <a:r>
              <a:rPr lang="zh-CN" altLang="en-US" dirty="0"/>
              <a:t>是存放内容的实际位置，例如节点</a:t>
            </a:r>
            <a:r>
              <a:rPr lang="en-US" altLang="zh-CN" dirty="0"/>
              <a:t>IP</a:t>
            </a:r>
            <a:r>
              <a:rPr lang="zh-CN" altLang="en-US" dirty="0"/>
              <a:t>地址等</a:t>
            </a:r>
            <a:endParaRPr lang="en-US" altLang="zh-CN" dirty="0"/>
          </a:p>
          <a:p>
            <a:pPr lvl="1"/>
            <a:r>
              <a:rPr lang="zh-CN" altLang="en-US" dirty="0"/>
              <a:t>所有的</a:t>
            </a:r>
            <a:r>
              <a:rPr lang="en-US" altLang="zh-CN" dirty="0"/>
              <a:t>&lt;K, V&gt;</a:t>
            </a:r>
            <a:r>
              <a:rPr lang="zh-CN" altLang="en-US" dirty="0"/>
              <a:t>对组成一张大的</a:t>
            </a:r>
            <a:r>
              <a:rPr lang="en-US" altLang="zh-CN" dirty="0"/>
              <a:t>Hash</a:t>
            </a:r>
            <a:r>
              <a:rPr lang="zh-CN" altLang="en-US" dirty="0"/>
              <a:t>表，因此该表存储了所有内容的信息</a:t>
            </a:r>
            <a:endParaRPr lang="en-US" altLang="zh-CN" dirty="0"/>
          </a:p>
          <a:p>
            <a:pPr lvl="1"/>
            <a:r>
              <a:rPr lang="zh-CN" altLang="en-US" dirty="0"/>
              <a:t>每个节点都随机生成一个标识</a:t>
            </a:r>
            <a:r>
              <a:rPr lang="en-US" altLang="zh-CN" dirty="0"/>
              <a:t>(ID)</a:t>
            </a:r>
            <a:r>
              <a:rPr lang="zh-CN" altLang="en-US" dirty="0"/>
              <a:t>，把</a:t>
            </a:r>
            <a:r>
              <a:rPr lang="en-US" altLang="zh-CN" dirty="0"/>
              <a:t>Hash</a:t>
            </a:r>
            <a:r>
              <a:rPr lang="zh-CN" altLang="en-US" dirty="0"/>
              <a:t>表分割成许多小块，按特定规则</a:t>
            </a:r>
            <a:r>
              <a:rPr lang="en-US" altLang="zh-CN" dirty="0"/>
              <a:t>(</a:t>
            </a:r>
            <a:r>
              <a:rPr lang="zh-CN" altLang="en-US" dirty="0"/>
              <a:t>即</a:t>
            </a:r>
            <a:r>
              <a:rPr lang="en-US" altLang="zh-CN" dirty="0"/>
              <a:t>K</a:t>
            </a:r>
            <a:r>
              <a:rPr lang="zh-CN" altLang="en-US" dirty="0"/>
              <a:t>和节点</a:t>
            </a:r>
            <a:r>
              <a:rPr lang="en-US" altLang="zh-CN" dirty="0"/>
              <a:t>ID</a:t>
            </a:r>
            <a:r>
              <a:rPr lang="zh-CN" altLang="en-US" dirty="0"/>
              <a:t>之间的映射关系</a:t>
            </a:r>
            <a:r>
              <a:rPr lang="en-US" altLang="zh-CN" dirty="0"/>
              <a:t>)</a:t>
            </a:r>
            <a:r>
              <a:rPr lang="zh-CN" altLang="en-US" dirty="0"/>
              <a:t>分布到网络中，节点按这个规则在应用层上形成一个结构化的重叠网络</a:t>
            </a:r>
            <a:r>
              <a:rPr lang="en-US" altLang="zh-CN" dirty="0"/>
              <a:t>(Overlay)</a:t>
            </a:r>
            <a:endParaRPr lang="en-US" altLang="zh-CN" dirty="0"/>
          </a:p>
          <a:p>
            <a:pPr lvl="1"/>
            <a:r>
              <a:rPr lang="zh-CN" altLang="en-US" dirty="0"/>
              <a:t>给定查询内容的</a:t>
            </a:r>
            <a:r>
              <a:rPr lang="en-US" altLang="zh-CN" dirty="0"/>
              <a:t>K</a:t>
            </a:r>
            <a:r>
              <a:rPr lang="zh-CN" altLang="en-US" dirty="0"/>
              <a:t>值，可以根据</a:t>
            </a:r>
            <a:r>
              <a:rPr lang="en-US" altLang="zh-CN" dirty="0"/>
              <a:t>K</a:t>
            </a:r>
            <a:r>
              <a:rPr lang="zh-CN" altLang="en-US" dirty="0"/>
              <a:t>和节点</a:t>
            </a:r>
            <a:r>
              <a:rPr lang="en-US" altLang="zh-CN" dirty="0"/>
              <a:t>ID</a:t>
            </a:r>
            <a:r>
              <a:rPr lang="zh-CN" altLang="en-US" dirty="0"/>
              <a:t>之间的映射关系在重叠网络上找到相应的</a:t>
            </a:r>
            <a:r>
              <a:rPr lang="en-US" altLang="zh-CN" dirty="0"/>
              <a:t>V</a:t>
            </a:r>
            <a:r>
              <a:rPr lang="zh-CN" altLang="en-US" dirty="0"/>
              <a:t>值，从而获得存储文件的节点</a:t>
            </a:r>
            <a:r>
              <a:rPr lang="en-US" altLang="zh-CN" dirty="0"/>
              <a:t>IP</a:t>
            </a:r>
            <a:r>
              <a:rPr lang="zh-CN" altLang="en-US" dirty="0"/>
              <a:t>地址</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DHT</a:t>
            </a:r>
            <a:r>
              <a:rPr lang="zh-CN" altLang="en-US" dirty="0"/>
              <a:t>具体实现</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
        <p:nvSpPr>
          <p:cNvPr id="6" name="Rectangle 3"/>
          <p:cNvSpPr>
            <a:spLocks noChangeArrowheads="1"/>
          </p:cNvSpPr>
          <p:nvPr/>
        </p:nvSpPr>
        <p:spPr bwMode="auto">
          <a:xfrm>
            <a:off x="4538091" y="1915879"/>
            <a:ext cx="2438400" cy="2057400"/>
          </a:xfrm>
          <a:prstGeom prst="rect">
            <a:avLst/>
          </a:prstGeom>
          <a:solidFill>
            <a:schemeClr val="accent1">
              <a:lumMod val="60000"/>
              <a:lumOff val="4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b="1"/>
          </a:p>
        </p:txBody>
      </p:sp>
      <p:sp>
        <p:nvSpPr>
          <p:cNvPr id="7" name="Rectangle 4"/>
          <p:cNvSpPr>
            <a:spLocks noChangeArrowheads="1"/>
          </p:cNvSpPr>
          <p:nvPr/>
        </p:nvSpPr>
        <p:spPr bwMode="auto">
          <a:xfrm>
            <a:off x="3142679" y="2373079"/>
            <a:ext cx="685800" cy="990600"/>
          </a:xfrm>
          <a:prstGeom prst="rect">
            <a:avLst/>
          </a:prstGeom>
          <a:solidFill>
            <a:schemeClr val="accent1">
              <a:lumMod val="60000"/>
              <a:lumOff val="4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t>内容</a:t>
            </a:r>
            <a:endParaRPr lang="zh-CN" altLang="en-US" b="1"/>
          </a:p>
        </p:txBody>
      </p:sp>
      <p:sp>
        <p:nvSpPr>
          <p:cNvPr id="8" name="Oval 5"/>
          <p:cNvSpPr>
            <a:spLocks noChangeArrowheads="1"/>
          </p:cNvSpPr>
          <p:nvPr/>
        </p:nvSpPr>
        <p:spPr bwMode="auto">
          <a:xfrm>
            <a:off x="4666679" y="2449279"/>
            <a:ext cx="2209800" cy="533400"/>
          </a:xfrm>
          <a:prstGeom prst="ellipse">
            <a:avLst/>
          </a:prstGeom>
          <a:solidFill>
            <a:srgbClr val="FFFF99"/>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t>内容关键字</a:t>
            </a:r>
            <a:r>
              <a:rPr lang="en-US" altLang="zh-CN" b="1"/>
              <a:t>key</a:t>
            </a:r>
            <a:endParaRPr lang="en-US" altLang="zh-CN" b="1"/>
          </a:p>
        </p:txBody>
      </p:sp>
      <p:sp>
        <p:nvSpPr>
          <p:cNvPr id="9" name="Oval 6"/>
          <p:cNvSpPr>
            <a:spLocks noChangeArrowheads="1"/>
          </p:cNvSpPr>
          <p:nvPr/>
        </p:nvSpPr>
        <p:spPr bwMode="auto">
          <a:xfrm>
            <a:off x="4666679" y="3058879"/>
            <a:ext cx="2209800" cy="914400"/>
          </a:xfrm>
          <a:prstGeom prst="ellipse">
            <a:avLst/>
          </a:prstGeom>
          <a:solidFill>
            <a:srgbClr val="FFFF99"/>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t>内容存储位置等信息</a:t>
            </a:r>
            <a:endParaRPr lang="zh-CN" altLang="en-US" b="1"/>
          </a:p>
          <a:p>
            <a:pPr algn="ctr" eaLnBrk="1" hangingPunct="1">
              <a:buFont typeface="Arial" panose="020B0604020202020204" pitchFamily="34" charset="0"/>
              <a:buNone/>
            </a:pPr>
            <a:r>
              <a:rPr lang="en-US" altLang="zh-CN" b="1"/>
              <a:t>value</a:t>
            </a:r>
            <a:endParaRPr lang="en-US" altLang="zh-CN" b="1"/>
          </a:p>
        </p:txBody>
      </p:sp>
      <p:sp>
        <p:nvSpPr>
          <p:cNvPr id="10" name="Text Box 7"/>
          <p:cNvSpPr txBox="1">
            <a:spLocks noChangeArrowheads="1"/>
          </p:cNvSpPr>
          <p:nvPr/>
        </p:nvSpPr>
        <p:spPr bwMode="auto">
          <a:xfrm>
            <a:off x="4919091" y="2068279"/>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zh-CN" altLang="en-US" b="1"/>
              <a:t>内容索引</a:t>
            </a:r>
            <a:endParaRPr lang="zh-CN" altLang="en-US" b="1"/>
          </a:p>
        </p:txBody>
      </p:sp>
      <p:sp>
        <p:nvSpPr>
          <p:cNvPr id="11" name="AutoShape 8"/>
          <p:cNvSpPr>
            <a:spLocks noChangeArrowheads="1"/>
          </p:cNvSpPr>
          <p:nvPr/>
        </p:nvSpPr>
        <p:spPr bwMode="auto">
          <a:xfrm>
            <a:off x="3904679" y="2754079"/>
            <a:ext cx="685800" cy="228600"/>
          </a:xfrm>
          <a:prstGeom prst="rightArrow">
            <a:avLst>
              <a:gd name="adj1" fmla="val 50000"/>
              <a:gd name="adj2" fmla="val 75000"/>
            </a:avLst>
          </a:prstGeom>
          <a:solidFill>
            <a:schemeClr val="folHlink"/>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2" name="AutoShape 9"/>
          <p:cNvSpPr>
            <a:spLocks noChangeArrowheads="1"/>
          </p:cNvSpPr>
          <p:nvPr/>
        </p:nvSpPr>
        <p:spPr bwMode="auto">
          <a:xfrm>
            <a:off x="7028879" y="2830279"/>
            <a:ext cx="1752600" cy="228600"/>
          </a:xfrm>
          <a:prstGeom prst="rightArrow">
            <a:avLst>
              <a:gd name="adj1" fmla="val 50000"/>
              <a:gd name="adj2" fmla="val 191347"/>
            </a:avLst>
          </a:prstGeom>
          <a:solidFill>
            <a:schemeClr val="folHlink"/>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3" name="Text Box 10"/>
          <p:cNvSpPr txBox="1">
            <a:spLocks noChangeArrowheads="1"/>
          </p:cNvSpPr>
          <p:nvPr/>
        </p:nvSpPr>
        <p:spPr bwMode="auto">
          <a:xfrm>
            <a:off x="7105079" y="2373079"/>
            <a:ext cx="1700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t>K=Hash(key)</a:t>
            </a:r>
            <a:endParaRPr lang="en-US" altLang="zh-CN" b="1"/>
          </a:p>
        </p:txBody>
      </p:sp>
      <p:sp>
        <p:nvSpPr>
          <p:cNvPr id="14" name="Text Box 11"/>
          <p:cNvSpPr txBox="1">
            <a:spLocks noChangeArrowheads="1"/>
          </p:cNvSpPr>
          <p:nvPr/>
        </p:nvSpPr>
        <p:spPr bwMode="auto">
          <a:xfrm>
            <a:off x="3828479" y="2373079"/>
            <a:ext cx="709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zh-CN" altLang="en-US" b="1"/>
              <a:t>提取</a:t>
            </a:r>
            <a:endParaRPr lang="zh-CN" altLang="en-US" b="1"/>
          </a:p>
        </p:txBody>
      </p:sp>
      <p:sp>
        <p:nvSpPr>
          <p:cNvPr id="15" name="Text Box 12"/>
          <p:cNvSpPr txBox="1">
            <a:spLocks noChangeArrowheads="1"/>
          </p:cNvSpPr>
          <p:nvPr/>
        </p:nvSpPr>
        <p:spPr bwMode="auto">
          <a:xfrm>
            <a:off x="8878316" y="1680929"/>
            <a:ext cx="533400" cy="336550"/>
          </a:xfrm>
          <a:prstGeom prst="rect">
            <a:avLst/>
          </a:prstGeom>
          <a:solidFill>
            <a:schemeClr val="accent1">
              <a:lumMod val="60000"/>
              <a:lumOff val="40000"/>
            </a:schemeClr>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1600" b="1">
                <a:solidFill>
                  <a:srgbClr val="000000"/>
                </a:solidFill>
                <a:latin typeface="Times New Roman" panose="02020603050405020304" pitchFamily="18" charset="0"/>
              </a:rPr>
              <a:t>k v</a:t>
            </a:r>
            <a:endParaRPr lang="en-US" altLang="zh-CN" sz="1600" b="1">
              <a:solidFill>
                <a:srgbClr val="000000"/>
              </a:solidFill>
              <a:latin typeface="Times New Roman" panose="02020603050405020304" pitchFamily="18" charset="0"/>
            </a:endParaRPr>
          </a:p>
        </p:txBody>
      </p:sp>
      <p:sp>
        <p:nvSpPr>
          <p:cNvPr id="16" name="Text Box 13"/>
          <p:cNvSpPr txBox="1">
            <a:spLocks noChangeArrowheads="1"/>
          </p:cNvSpPr>
          <p:nvPr/>
        </p:nvSpPr>
        <p:spPr bwMode="auto">
          <a:xfrm>
            <a:off x="8271891" y="4735279"/>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b="1">
                <a:latin typeface="Times New Roman" panose="02020603050405020304" pitchFamily="18" charset="0"/>
              </a:rPr>
              <a:t>Hash</a:t>
            </a:r>
            <a:r>
              <a:rPr lang="zh-CN" altLang="en-US" b="1">
                <a:latin typeface="Times New Roman" panose="02020603050405020304" pitchFamily="18" charset="0"/>
              </a:rPr>
              <a:t>表</a:t>
            </a:r>
            <a:endParaRPr lang="zh-CN" altLang="en-US" b="1">
              <a:latin typeface="Times New Roman" panose="02020603050405020304" pitchFamily="18" charset="0"/>
            </a:endParaRPr>
          </a:p>
        </p:txBody>
      </p:sp>
      <p:sp>
        <p:nvSpPr>
          <p:cNvPr id="17" name="Rectangle 14"/>
          <p:cNvSpPr>
            <a:spLocks noChangeArrowheads="1"/>
          </p:cNvSpPr>
          <p:nvPr/>
        </p:nvSpPr>
        <p:spPr bwMode="auto">
          <a:xfrm>
            <a:off x="2099691" y="5254392"/>
            <a:ext cx="838200" cy="914400"/>
          </a:xfrm>
          <a:prstGeom prst="rect">
            <a:avLst/>
          </a:prstGeom>
          <a:solidFill>
            <a:schemeClr val="accent1">
              <a:lumMod val="60000"/>
              <a:lumOff val="4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t>电影</a:t>
            </a:r>
            <a:endParaRPr lang="zh-CN" altLang="en-US" b="1"/>
          </a:p>
          <a:p>
            <a:pPr algn="ctr" eaLnBrk="1" hangingPunct="1">
              <a:buFont typeface="Arial" panose="020B0604020202020204" pitchFamily="34" charset="0"/>
              <a:buNone/>
            </a:pPr>
            <a:r>
              <a:rPr lang="zh-CN" altLang="en-US" b="1"/>
              <a:t>夜宴</a:t>
            </a:r>
            <a:endParaRPr lang="zh-CN" altLang="en-US" b="1"/>
          </a:p>
        </p:txBody>
      </p:sp>
      <p:sp>
        <p:nvSpPr>
          <p:cNvPr id="18" name="AutoShape 15"/>
          <p:cNvSpPr>
            <a:spLocks noChangeArrowheads="1"/>
          </p:cNvSpPr>
          <p:nvPr/>
        </p:nvSpPr>
        <p:spPr bwMode="auto">
          <a:xfrm>
            <a:off x="3014091" y="5559192"/>
            <a:ext cx="685800" cy="228600"/>
          </a:xfrm>
          <a:prstGeom prst="rightArrow">
            <a:avLst>
              <a:gd name="adj1" fmla="val 50000"/>
              <a:gd name="adj2" fmla="val 75000"/>
            </a:avLst>
          </a:prstGeom>
          <a:solidFill>
            <a:schemeClr val="folHlink"/>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9" name="Rectangle 16"/>
          <p:cNvSpPr>
            <a:spLocks noChangeArrowheads="1"/>
          </p:cNvSpPr>
          <p:nvPr/>
        </p:nvSpPr>
        <p:spPr bwMode="auto">
          <a:xfrm>
            <a:off x="3852291" y="4720992"/>
            <a:ext cx="2438400" cy="1905000"/>
          </a:xfrm>
          <a:prstGeom prst="rect">
            <a:avLst/>
          </a:prstGeom>
          <a:solidFill>
            <a:schemeClr val="accent1">
              <a:lumMod val="60000"/>
              <a:lumOff val="4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b="1"/>
          </a:p>
        </p:txBody>
      </p:sp>
      <p:sp>
        <p:nvSpPr>
          <p:cNvPr id="20" name="Oval 17"/>
          <p:cNvSpPr>
            <a:spLocks noChangeArrowheads="1"/>
          </p:cNvSpPr>
          <p:nvPr/>
        </p:nvSpPr>
        <p:spPr bwMode="auto">
          <a:xfrm>
            <a:off x="3980879" y="5101992"/>
            <a:ext cx="2209800" cy="533400"/>
          </a:xfrm>
          <a:prstGeom prst="ellipse">
            <a:avLst/>
          </a:prstGeom>
          <a:solidFill>
            <a:srgbClr val="FFFF99"/>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b="1"/>
              <a:t>电影、夜宴</a:t>
            </a:r>
            <a:endParaRPr lang="zh-CN" altLang="en-US" b="1"/>
          </a:p>
        </p:txBody>
      </p:sp>
      <p:sp>
        <p:nvSpPr>
          <p:cNvPr id="21" name="Oval 18"/>
          <p:cNvSpPr>
            <a:spLocks noChangeArrowheads="1"/>
          </p:cNvSpPr>
          <p:nvPr/>
        </p:nvSpPr>
        <p:spPr bwMode="auto">
          <a:xfrm>
            <a:off x="3980879" y="5711592"/>
            <a:ext cx="2209800" cy="914400"/>
          </a:xfrm>
          <a:prstGeom prst="ellipse">
            <a:avLst/>
          </a:prstGeom>
          <a:solidFill>
            <a:srgbClr val="FFFF99"/>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1200" b="1"/>
              <a:t>http://video.com.cn/</a:t>
            </a:r>
            <a:endParaRPr lang="en-US" altLang="zh-CN" sz="1200" b="1"/>
          </a:p>
          <a:p>
            <a:pPr algn="ctr" eaLnBrk="1" hangingPunct="1">
              <a:buFont typeface="Arial" panose="020B0604020202020204" pitchFamily="34" charset="0"/>
              <a:buNone/>
            </a:pPr>
            <a:r>
              <a:rPr lang="en-US" altLang="zh-CN" sz="1200" b="1"/>
              <a:t>yeyan.avi</a:t>
            </a:r>
            <a:endParaRPr lang="en-US" altLang="zh-CN" sz="1200" b="1"/>
          </a:p>
        </p:txBody>
      </p:sp>
      <p:sp>
        <p:nvSpPr>
          <p:cNvPr id="22" name="Text Box 19"/>
          <p:cNvSpPr txBox="1">
            <a:spLocks noChangeArrowheads="1"/>
          </p:cNvSpPr>
          <p:nvPr/>
        </p:nvSpPr>
        <p:spPr bwMode="auto">
          <a:xfrm>
            <a:off x="4233291" y="4720992"/>
            <a:ext cx="1676400" cy="366712"/>
          </a:xfrm>
          <a:prstGeom prst="rect">
            <a:avLst/>
          </a:prstGeom>
          <a:solidFill>
            <a:schemeClr val="accent1">
              <a:lumMod val="60000"/>
              <a:lumOff val="40000"/>
            </a:schemeClr>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zh-CN" altLang="en-US" b="1"/>
              <a:t>内容索引</a:t>
            </a:r>
            <a:endParaRPr lang="zh-CN" altLang="en-US" b="1"/>
          </a:p>
        </p:txBody>
      </p:sp>
      <p:sp>
        <p:nvSpPr>
          <p:cNvPr id="23" name="AutoShape 20"/>
          <p:cNvSpPr>
            <a:spLocks noChangeArrowheads="1"/>
          </p:cNvSpPr>
          <p:nvPr/>
        </p:nvSpPr>
        <p:spPr bwMode="auto">
          <a:xfrm>
            <a:off x="6366891" y="5482992"/>
            <a:ext cx="1219200" cy="304800"/>
          </a:xfrm>
          <a:prstGeom prst="rightArrow">
            <a:avLst>
              <a:gd name="adj1" fmla="val 50000"/>
              <a:gd name="adj2" fmla="val 100000"/>
            </a:avLst>
          </a:prstGeom>
          <a:solidFill>
            <a:schemeClr val="folHlink"/>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24" name="Rectangle 21"/>
          <p:cNvSpPr>
            <a:spLocks noChangeArrowheads="1"/>
          </p:cNvSpPr>
          <p:nvPr/>
        </p:nvSpPr>
        <p:spPr bwMode="auto">
          <a:xfrm>
            <a:off x="7586091" y="5101992"/>
            <a:ext cx="2362200" cy="1295400"/>
          </a:xfrm>
          <a:prstGeom prst="rect">
            <a:avLst/>
          </a:prstGeom>
          <a:solidFill>
            <a:schemeClr val="accent1">
              <a:lumMod val="60000"/>
              <a:lumOff val="4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b="1"/>
              <a:t>K=hash(</a:t>
            </a:r>
            <a:r>
              <a:rPr lang="zh-CN" altLang="en-US" b="1"/>
              <a:t>电影</a:t>
            </a:r>
            <a:r>
              <a:rPr lang="en-US" altLang="zh-CN" b="1"/>
              <a:t>, </a:t>
            </a:r>
            <a:r>
              <a:rPr lang="zh-CN" altLang="en-US" b="1"/>
              <a:t>夜宴</a:t>
            </a:r>
            <a:r>
              <a:rPr lang="en-US" altLang="zh-CN" b="1"/>
              <a:t>)</a:t>
            </a:r>
            <a:endParaRPr lang="en-US" altLang="zh-CN" b="1"/>
          </a:p>
          <a:p>
            <a:pPr algn="ctr" eaLnBrk="1" hangingPunct="1">
              <a:buFont typeface="Arial" panose="020B0604020202020204" pitchFamily="34" charset="0"/>
              <a:buNone/>
            </a:pPr>
            <a:r>
              <a:rPr lang="en-US" altLang="zh-CN" b="1"/>
              <a:t>V = </a:t>
            </a:r>
            <a:r>
              <a:rPr lang="en-US" altLang="zh-CN" sz="1200" b="1"/>
              <a:t>http://video.com.cn/</a:t>
            </a:r>
            <a:endParaRPr lang="en-US" altLang="zh-CN" sz="1200" b="1"/>
          </a:p>
          <a:p>
            <a:pPr algn="ctr" eaLnBrk="1" hangingPunct="1">
              <a:buFont typeface="Arial" panose="020B0604020202020204" pitchFamily="34" charset="0"/>
              <a:buNone/>
            </a:pPr>
            <a:r>
              <a:rPr lang="en-US" altLang="zh-CN" sz="1200" b="1"/>
              <a:t>yeyan.avi</a:t>
            </a:r>
            <a:endParaRPr lang="en-US" altLang="zh-CN" sz="1200" b="1"/>
          </a:p>
        </p:txBody>
      </p:sp>
      <p:grpSp>
        <p:nvGrpSpPr>
          <p:cNvPr id="25" name="Group 22"/>
          <p:cNvGrpSpPr/>
          <p:nvPr/>
        </p:nvGrpSpPr>
        <p:grpSpPr bwMode="auto">
          <a:xfrm>
            <a:off x="8881491" y="2120667"/>
            <a:ext cx="533400" cy="2416175"/>
            <a:chOff x="4560" y="816"/>
            <a:chExt cx="336" cy="2121"/>
          </a:xfrm>
          <a:solidFill>
            <a:schemeClr val="accent1">
              <a:lumMod val="60000"/>
              <a:lumOff val="40000"/>
            </a:schemeClr>
          </a:solidFill>
        </p:grpSpPr>
        <p:grpSp>
          <p:nvGrpSpPr>
            <p:cNvPr id="26" name="Group 23"/>
            <p:cNvGrpSpPr/>
            <p:nvPr/>
          </p:nvGrpSpPr>
          <p:grpSpPr bwMode="auto">
            <a:xfrm>
              <a:off x="4560" y="825"/>
              <a:ext cx="336" cy="2112"/>
              <a:chOff x="576" y="1728"/>
              <a:chExt cx="336" cy="2112"/>
            </a:xfrm>
            <a:grpFill/>
          </p:grpSpPr>
          <p:sp>
            <p:nvSpPr>
              <p:cNvPr id="28" name="Rectangle 24"/>
              <p:cNvSpPr>
                <a:spLocks noChangeArrowheads="1"/>
              </p:cNvSpPr>
              <p:nvPr/>
            </p:nvSpPr>
            <p:spPr bwMode="auto">
              <a:xfrm>
                <a:off x="576" y="1728"/>
                <a:ext cx="336" cy="2112"/>
              </a:xfrm>
              <a:prstGeom prst="rect">
                <a:avLst/>
              </a:prstGeom>
              <a:grp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29" name="Line 25"/>
              <p:cNvSpPr>
                <a:spLocks noChangeShapeType="1"/>
              </p:cNvSpPr>
              <p:nvPr/>
            </p:nvSpPr>
            <p:spPr bwMode="auto">
              <a:xfrm>
                <a:off x="576" y="1824"/>
                <a:ext cx="336" cy="0"/>
              </a:xfrm>
              <a:prstGeom prst="line">
                <a:avLst/>
              </a:prstGeom>
              <a:grpFill/>
              <a:ln w="9525">
                <a:solidFill>
                  <a:schemeClr val="tx1"/>
                </a:solidFill>
                <a:miter lim="800000"/>
              </a:ln>
            </p:spPr>
            <p:txBody>
              <a:bodyPr/>
              <a:lstStyle/>
              <a:p>
                <a:endParaRPr lang="zh-CN" altLang="en-US"/>
              </a:p>
            </p:txBody>
          </p:sp>
          <p:sp>
            <p:nvSpPr>
              <p:cNvPr id="30" name="Line 26"/>
              <p:cNvSpPr>
                <a:spLocks noChangeShapeType="1"/>
              </p:cNvSpPr>
              <p:nvPr/>
            </p:nvSpPr>
            <p:spPr bwMode="auto">
              <a:xfrm>
                <a:off x="576" y="1920"/>
                <a:ext cx="336" cy="0"/>
              </a:xfrm>
              <a:prstGeom prst="line">
                <a:avLst/>
              </a:prstGeom>
              <a:grpFill/>
              <a:ln w="9525">
                <a:solidFill>
                  <a:schemeClr val="tx1"/>
                </a:solidFill>
                <a:miter lim="800000"/>
              </a:ln>
            </p:spPr>
            <p:txBody>
              <a:bodyPr/>
              <a:lstStyle/>
              <a:p>
                <a:endParaRPr lang="zh-CN" altLang="en-US"/>
              </a:p>
            </p:txBody>
          </p:sp>
          <p:sp>
            <p:nvSpPr>
              <p:cNvPr id="31" name="Line 27"/>
              <p:cNvSpPr>
                <a:spLocks noChangeShapeType="1"/>
              </p:cNvSpPr>
              <p:nvPr/>
            </p:nvSpPr>
            <p:spPr bwMode="auto">
              <a:xfrm>
                <a:off x="576" y="2016"/>
                <a:ext cx="336" cy="0"/>
              </a:xfrm>
              <a:prstGeom prst="line">
                <a:avLst/>
              </a:prstGeom>
              <a:grpFill/>
              <a:ln w="9525">
                <a:solidFill>
                  <a:schemeClr val="tx1"/>
                </a:solidFill>
                <a:miter lim="800000"/>
              </a:ln>
            </p:spPr>
            <p:txBody>
              <a:bodyPr/>
              <a:lstStyle/>
              <a:p>
                <a:endParaRPr lang="zh-CN" altLang="en-US"/>
              </a:p>
            </p:txBody>
          </p:sp>
          <p:sp>
            <p:nvSpPr>
              <p:cNvPr id="32" name="Line 28"/>
              <p:cNvSpPr>
                <a:spLocks noChangeShapeType="1"/>
              </p:cNvSpPr>
              <p:nvPr/>
            </p:nvSpPr>
            <p:spPr bwMode="auto">
              <a:xfrm>
                <a:off x="576" y="2112"/>
                <a:ext cx="336" cy="0"/>
              </a:xfrm>
              <a:prstGeom prst="line">
                <a:avLst/>
              </a:prstGeom>
              <a:grpFill/>
              <a:ln w="9525">
                <a:solidFill>
                  <a:schemeClr val="tx1"/>
                </a:solidFill>
                <a:miter lim="800000"/>
              </a:ln>
            </p:spPr>
            <p:txBody>
              <a:bodyPr/>
              <a:lstStyle/>
              <a:p>
                <a:endParaRPr lang="zh-CN" altLang="en-US"/>
              </a:p>
            </p:txBody>
          </p:sp>
          <p:sp>
            <p:nvSpPr>
              <p:cNvPr id="33" name="Line 29"/>
              <p:cNvSpPr>
                <a:spLocks noChangeShapeType="1"/>
              </p:cNvSpPr>
              <p:nvPr/>
            </p:nvSpPr>
            <p:spPr bwMode="auto">
              <a:xfrm>
                <a:off x="576" y="2208"/>
                <a:ext cx="336" cy="0"/>
              </a:xfrm>
              <a:prstGeom prst="line">
                <a:avLst/>
              </a:prstGeom>
              <a:grpFill/>
              <a:ln w="9525">
                <a:solidFill>
                  <a:schemeClr val="tx1"/>
                </a:solidFill>
                <a:miter lim="800000"/>
              </a:ln>
            </p:spPr>
            <p:txBody>
              <a:bodyPr/>
              <a:lstStyle/>
              <a:p>
                <a:endParaRPr lang="zh-CN" altLang="en-US"/>
              </a:p>
            </p:txBody>
          </p:sp>
          <p:sp>
            <p:nvSpPr>
              <p:cNvPr id="34" name="Line 30"/>
              <p:cNvSpPr>
                <a:spLocks noChangeShapeType="1"/>
              </p:cNvSpPr>
              <p:nvPr/>
            </p:nvSpPr>
            <p:spPr bwMode="auto">
              <a:xfrm>
                <a:off x="576" y="2304"/>
                <a:ext cx="336" cy="0"/>
              </a:xfrm>
              <a:prstGeom prst="line">
                <a:avLst/>
              </a:prstGeom>
              <a:grpFill/>
              <a:ln w="9525">
                <a:solidFill>
                  <a:schemeClr val="tx1"/>
                </a:solidFill>
                <a:miter lim="800000"/>
              </a:ln>
            </p:spPr>
            <p:txBody>
              <a:bodyPr/>
              <a:lstStyle/>
              <a:p>
                <a:endParaRPr lang="zh-CN" altLang="en-US"/>
              </a:p>
            </p:txBody>
          </p:sp>
          <p:sp>
            <p:nvSpPr>
              <p:cNvPr id="35" name="Line 31"/>
              <p:cNvSpPr>
                <a:spLocks noChangeShapeType="1"/>
              </p:cNvSpPr>
              <p:nvPr/>
            </p:nvSpPr>
            <p:spPr bwMode="auto">
              <a:xfrm>
                <a:off x="576" y="2400"/>
                <a:ext cx="336" cy="0"/>
              </a:xfrm>
              <a:prstGeom prst="line">
                <a:avLst/>
              </a:prstGeom>
              <a:grpFill/>
              <a:ln w="9525">
                <a:solidFill>
                  <a:schemeClr val="tx1"/>
                </a:solidFill>
                <a:miter lim="800000"/>
              </a:ln>
            </p:spPr>
            <p:txBody>
              <a:bodyPr/>
              <a:lstStyle/>
              <a:p>
                <a:endParaRPr lang="zh-CN" altLang="en-US"/>
              </a:p>
            </p:txBody>
          </p:sp>
          <p:sp>
            <p:nvSpPr>
              <p:cNvPr id="36" name="Line 32"/>
              <p:cNvSpPr>
                <a:spLocks noChangeShapeType="1"/>
              </p:cNvSpPr>
              <p:nvPr/>
            </p:nvSpPr>
            <p:spPr bwMode="auto">
              <a:xfrm>
                <a:off x="576" y="2496"/>
                <a:ext cx="336" cy="0"/>
              </a:xfrm>
              <a:prstGeom prst="line">
                <a:avLst/>
              </a:prstGeom>
              <a:grpFill/>
              <a:ln w="9525">
                <a:solidFill>
                  <a:schemeClr val="tx1"/>
                </a:solidFill>
                <a:miter lim="800000"/>
              </a:ln>
            </p:spPr>
            <p:txBody>
              <a:bodyPr/>
              <a:lstStyle/>
              <a:p>
                <a:endParaRPr lang="zh-CN" altLang="en-US"/>
              </a:p>
            </p:txBody>
          </p:sp>
          <p:sp>
            <p:nvSpPr>
              <p:cNvPr id="37" name="Line 33"/>
              <p:cNvSpPr>
                <a:spLocks noChangeShapeType="1"/>
              </p:cNvSpPr>
              <p:nvPr/>
            </p:nvSpPr>
            <p:spPr bwMode="auto">
              <a:xfrm>
                <a:off x="576" y="2592"/>
                <a:ext cx="336" cy="0"/>
              </a:xfrm>
              <a:prstGeom prst="line">
                <a:avLst/>
              </a:prstGeom>
              <a:grpFill/>
              <a:ln w="9525">
                <a:solidFill>
                  <a:schemeClr val="tx1"/>
                </a:solidFill>
                <a:miter lim="800000"/>
              </a:ln>
            </p:spPr>
            <p:txBody>
              <a:bodyPr/>
              <a:lstStyle/>
              <a:p>
                <a:endParaRPr lang="zh-CN" altLang="en-US"/>
              </a:p>
            </p:txBody>
          </p:sp>
          <p:sp>
            <p:nvSpPr>
              <p:cNvPr id="38" name="Line 34"/>
              <p:cNvSpPr>
                <a:spLocks noChangeShapeType="1"/>
              </p:cNvSpPr>
              <p:nvPr/>
            </p:nvSpPr>
            <p:spPr bwMode="auto">
              <a:xfrm>
                <a:off x="576" y="2688"/>
                <a:ext cx="336" cy="0"/>
              </a:xfrm>
              <a:prstGeom prst="line">
                <a:avLst/>
              </a:prstGeom>
              <a:grpFill/>
              <a:ln w="9525">
                <a:solidFill>
                  <a:schemeClr val="tx1"/>
                </a:solidFill>
                <a:miter lim="800000"/>
              </a:ln>
            </p:spPr>
            <p:txBody>
              <a:bodyPr/>
              <a:lstStyle/>
              <a:p>
                <a:endParaRPr lang="zh-CN" altLang="en-US"/>
              </a:p>
            </p:txBody>
          </p:sp>
          <p:sp>
            <p:nvSpPr>
              <p:cNvPr id="39" name="Line 35"/>
              <p:cNvSpPr>
                <a:spLocks noChangeShapeType="1"/>
              </p:cNvSpPr>
              <p:nvPr/>
            </p:nvSpPr>
            <p:spPr bwMode="auto">
              <a:xfrm>
                <a:off x="576" y="2784"/>
                <a:ext cx="336" cy="0"/>
              </a:xfrm>
              <a:prstGeom prst="line">
                <a:avLst/>
              </a:prstGeom>
              <a:grpFill/>
              <a:ln w="9525">
                <a:solidFill>
                  <a:schemeClr val="tx1"/>
                </a:solidFill>
                <a:miter lim="800000"/>
              </a:ln>
            </p:spPr>
            <p:txBody>
              <a:bodyPr/>
              <a:lstStyle/>
              <a:p>
                <a:endParaRPr lang="zh-CN" altLang="en-US"/>
              </a:p>
            </p:txBody>
          </p:sp>
          <p:sp>
            <p:nvSpPr>
              <p:cNvPr id="40" name="Line 36"/>
              <p:cNvSpPr>
                <a:spLocks noChangeShapeType="1"/>
              </p:cNvSpPr>
              <p:nvPr/>
            </p:nvSpPr>
            <p:spPr bwMode="auto">
              <a:xfrm>
                <a:off x="576" y="2880"/>
                <a:ext cx="336" cy="0"/>
              </a:xfrm>
              <a:prstGeom prst="line">
                <a:avLst/>
              </a:prstGeom>
              <a:grpFill/>
              <a:ln w="9525">
                <a:solidFill>
                  <a:schemeClr val="tx1"/>
                </a:solidFill>
                <a:miter lim="800000"/>
              </a:ln>
            </p:spPr>
            <p:txBody>
              <a:bodyPr/>
              <a:lstStyle/>
              <a:p>
                <a:endParaRPr lang="zh-CN" altLang="en-US"/>
              </a:p>
            </p:txBody>
          </p:sp>
          <p:sp>
            <p:nvSpPr>
              <p:cNvPr id="41" name="Line 37"/>
              <p:cNvSpPr>
                <a:spLocks noChangeShapeType="1"/>
              </p:cNvSpPr>
              <p:nvPr/>
            </p:nvSpPr>
            <p:spPr bwMode="auto">
              <a:xfrm>
                <a:off x="576" y="2976"/>
                <a:ext cx="336" cy="0"/>
              </a:xfrm>
              <a:prstGeom prst="line">
                <a:avLst/>
              </a:prstGeom>
              <a:grpFill/>
              <a:ln w="9525">
                <a:solidFill>
                  <a:schemeClr val="tx1"/>
                </a:solidFill>
                <a:miter lim="800000"/>
              </a:ln>
            </p:spPr>
            <p:txBody>
              <a:bodyPr/>
              <a:lstStyle/>
              <a:p>
                <a:endParaRPr lang="zh-CN" altLang="en-US"/>
              </a:p>
            </p:txBody>
          </p:sp>
          <p:sp>
            <p:nvSpPr>
              <p:cNvPr id="42" name="Line 38"/>
              <p:cNvSpPr>
                <a:spLocks noChangeShapeType="1"/>
              </p:cNvSpPr>
              <p:nvPr/>
            </p:nvSpPr>
            <p:spPr bwMode="auto">
              <a:xfrm>
                <a:off x="576" y="3072"/>
                <a:ext cx="336" cy="0"/>
              </a:xfrm>
              <a:prstGeom prst="line">
                <a:avLst/>
              </a:prstGeom>
              <a:grpFill/>
              <a:ln w="9525">
                <a:solidFill>
                  <a:schemeClr val="tx1"/>
                </a:solidFill>
                <a:miter lim="800000"/>
              </a:ln>
            </p:spPr>
            <p:txBody>
              <a:bodyPr/>
              <a:lstStyle/>
              <a:p>
                <a:endParaRPr lang="zh-CN" altLang="en-US"/>
              </a:p>
            </p:txBody>
          </p:sp>
          <p:sp>
            <p:nvSpPr>
              <p:cNvPr id="43" name="Line 39"/>
              <p:cNvSpPr>
                <a:spLocks noChangeShapeType="1"/>
              </p:cNvSpPr>
              <p:nvPr/>
            </p:nvSpPr>
            <p:spPr bwMode="auto">
              <a:xfrm>
                <a:off x="576" y="3168"/>
                <a:ext cx="336" cy="0"/>
              </a:xfrm>
              <a:prstGeom prst="line">
                <a:avLst/>
              </a:prstGeom>
              <a:grpFill/>
              <a:ln w="9525">
                <a:solidFill>
                  <a:schemeClr val="tx1"/>
                </a:solidFill>
                <a:miter lim="800000"/>
              </a:ln>
            </p:spPr>
            <p:txBody>
              <a:bodyPr/>
              <a:lstStyle/>
              <a:p>
                <a:endParaRPr lang="zh-CN" altLang="en-US"/>
              </a:p>
            </p:txBody>
          </p:sp>
          <p:sp>
            <p:nvSpPr>
              <p:cNvPr id="44" name="Line 40"/>
              <p:cNvSpPr>
                <a:spLocks noChangeShapeType="1"/>
              </p:cNvSpPr>
              <p:nvPr/>
            </p:nvSpPr>
            <p:spPr bwMode="auto">
              <a:xfrm>
                <a:off x="576" y="3264"/>
                <a:ext cx="336" cy="0"/>
              </a:xfrm>
              <a:prstGeom prst="line">
                <a:avLst/>
              </a:prstGeom>
              <a:grpFill/>
              <a:ln w="9525">
                <a:solidFill>
                  <a:schemeClr val="tx1"/>
                </a:solidFill>
                <a:miter lim="800000"/>
              </a:ln>
            </p:spPr>
            <p:txBody>
              <a:bodyPr/>
              <a:lstStyle/>
              <a:p>
                <a:endParaRPr lang="zh-CN" altLang="en-US"/>
              </a:p>
            </p:txBody>
          </p:sp>
          <p:sp>
            <p:nvSpPr>
              <p:cNvPr id="45" name="Line 41"/>
              <p:cNvSpPr>
                <a:spLocks noChangeShapeType="1"/>
              </p:cNvSpPr>
              <p:nvPr/>
            </p:nvSpPr>
            <p:spPr bwMode="auto">
              <a:xfrm>
                <a:off x="576" y="3360"/>
                <a:ext cx="336" cy="0"/>
              </a:xfrm>
              <a:prstGeom prst="line">
                <a:avLst/>
              </a:prstGeom>
              <a:grpFill/>
              <a:ln w="9525">
                <a:solidFill>
                  <a:schemeClr val="tx1"/>
                </a:solidFill>
                <a:miter lim="800000"/>
              </a:ln>
            </p:spPr>
            <p:txBody>
              <a:bodyPr/>
              <a:lstStyle/>
              <a:p>
                <a:endParaRPr lang="zh-CN" altLang="en-US"/>
              </a:p>
            </p:txBody>
          </p:sp>
          <p:sp>
            <p:nvSpPr>
              <p:cNvPr id="46" name="Line 42"/>
              <p:cNvSpPr>
                <a:spLocks noChangeShapeType="1"/>
              </p:cNvSpPr>
              <p:nvPr/>
            </p:nvSpPr>
            <p:spPr bwMode="auto">
              <a:xfrm>
                <a:off x="576" y="3456"/>
                <a:ext cx="336" cy="0"/>
              </a:xfrm>
              <a:prstGeom prst="line">
                <a:avLst/>
              </a:prstGeom>
              <a:grpFill/>
              <a:ln w="9525">
                <a:solidFill>
                  <a:schemeClr val="tx1"/>
                </a:solidFill>
                <a:miter lim="800000"/>
              </a:ln>
            </p:spPr>
            <p:txBody>
              <a:bodyPr/>
              <a:lstStyle/>
              <a:p>
                <a:endParaRPr lang="zh-CN" altLang="en-US"/>
              </a:p>
            </p:txBody>
          </p:sp>
          <p:sp>
            <p:nvSpPr>
              <p:cNvPr id="47" name="Line 43"/>
              <p:cNvSpPr>
                <a:spLocks noChangeShapeType="1"/>
              </p:cNvSpPr>
              <p:nvPr/>
            </p:nvSpPr>
            <p:spPr bwMode="auto">
              <a:xfrm>
                <a:off x="576" y="3552"/>
                <a:ext cx="336" cy="0"/>
              </a:xfrm>
              <a:prstGeom prst="line">
                <a:avLst/>
              </a:prstGeom>
              <a:grpFill/>
              <a:ln w="9525">
                <a:solidFill>
                  <a:schemeClr val="tx1"/>
                </a:solidFill>
                <a:miter lim="800000"/>
              </a:ln>
            </p:spPr>
            <p:txBody>
              <a:bodyPr/>
              <a:lstStyle/>
              <a:p>
                <a:endParaRPr lang="zh-CN" altLang="en-US"/>
              </a:p>
            </p:txBody>
          </p:sp>
          <p:sp>
            <p:nvSpPr>
              <p:cNvPr id="48" name="Line 44"/>
              <p:cNvSpPr>
                <a:spLocks noChangeShapeType="1"/>
              </p:cNvSpPr>
              <p:nvPr/>
            </p:nvSpPr>
            <p:spPr bwMode="auto">
              <a:xfrm>
                <a:off x="576" y="3648"/>
                <a:ext cx="336" cy="0"/>
              </a:xfrm>
              <a:prstGeom prst="line">
                <a:avLst/>
              </a:prstGeom>
              <a:grpFill/>
              <a:ln w="9525">
                <a:solidFill>
                  <a:schemeClr val="tx1"/>
                </a:solidFill>
                <a:miter lim="800000"/>
              </a:ln>
            </p:spPr>
            <p:txBody>
              <a:bodyPr/>
              <a:lstStyle/>
              <a:p>
                <a:endParaRPr lang="zh-CN" altLang="en-US"/>
              </a:p>
            </p:txBody>
          </p:sp>
          <p:sp>
            <p:nvSpPr>
              <p:cNvPr id="49" name="Line 45"/>
              <p:cNvSpPr>
                <a:spLocks noChangeShapeType="1"/>
              </p:cNvSpPr>
              <p:nvPr/>
            </p:nvSpPr>
            <p:spPr bwMode="auto">
              <a:xfrm>
                <a:off x="576" y="3744"/>
                <a:ext cx="336" cy="0"/>
              </a:xfrm>
              <a:prstGeom prst="line">
                <a:avLst/>
              </a:prstGeom>
              <a:grpFill/>
              <a:ln w="9525">
                <a:solidFill>
                  <a:schemeClr val="tx1"/>
                </a:solidFill>
                <a:miter lim="800000"/>
              </a:ln>
            </p:spPr>
            <p:txBody>
              <a:bodyPr/>
              <a:lstStyle/>
              <a:p>
                <a:endParaRPr lang="zh-CN" altLang="en-US"/>
              </a:p>
            </p:txBody>
          </p:sp>
        </p:grpSp>
        <p:sp>
          <p:nvSpPr>
            <p:cNvPr id="27" name="Line 46"/>
            <p:cNvSpPr>
              <a:spLocks noChangeShapeType="1"/>
            </p:cNvSpPr>
            <p:nvPr/>
          </p:nvSpPr>
          <p:spPr bwMode="auto">
            <a:xfrm>
              <a:off x="4728" y="816"/>
              <a:ext cx="0" cy="2112"/>
            </a:xfrm>
            <a:prstGeom prst="line">
              <a:avLst/>
            </a:prstGeom>
            <a:grpFill/>
            <a:ln w="9525">
              <a:solidFill>
                <a:schemeClr val="tx1"/>
              </a:solidFill>
              <a:rou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linds(horizontal)">
                                      <p:cBhvr>
                                        <p:cTn id="29" dur="500"/>
                                        <p:tgtEl>
                                          <p:spTgt spid="1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linds(horizontal)">
                                      <p:cBhvr>
                                        <p:cTn id="42" dur="500"/>
                                        <p:tgtEl>
                                          <p:spTgt spid="25"/>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linds(horizontal)">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blinds(horizontal)">
                                      <p:cBhvr>
                                        <p:cTn id="50" dur="500"/>
                                        <p:tgtEl>
                                          <p:spTgt spid="17"/>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blinds(horizontal)">
                                      <p:cBhvr>
                                        <p:cTn id="56" dur="500"/>
                                        <p:tgtEl>
                                          <p:spTgt spid="19"/>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blinds(horizontal)">
                                      <p:cBhvr>
                                        <p:cTn id="59" dur="500"/>
                                        <p:tgtEl>
                                          <p:spTgt spid="20"/>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blinds(horizontal)">
                                      <p:cBhvr>
                                        <p:cTn id="62" dur="500"/>
                                        <p:tgtEl>
                                          <p:spTgt spid="21"/>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blinds(horizontal)">
                                      <p:cBhvr>
                                        <p:cTn id="65" dur="500"/>
                                        <p:tgtEl>
                                          <p:spTgt spid="22"/>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blinds(horizontal)">
                                      <p:cBhvr>
                                        <p:cTn id="68" dur="500"/>
                                        <p:tgtEl>
                                          <p:spTgt spid="23"/>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blinds(horizontal)">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bldLvl="0" animBg="1"/>
      <p:bldP spid="10" grpId="0"/>
      <p:bldP spid="11" grpId="0" bldLvl="0" animBg="1"/>
      <p:bldP spid="12" grpId="0" bldLvl="0" animBg="1"/>
      <p:bldP spid="13" grpId="0"/>
      <p:bldP spid="14" grpId="0"/>
      <p:bldP spid="15" grpId="0" bldLvl="0" animBg="1"/>
      <p:bldP spid="16" grpId="0"/>
      <p:bldP spid="17" grpId="0" bldLvl="0" animBg="1"/>
      <p:bldP spid="18" grpId="0" bldLvl="0" animBg="1"/>
      <p:bldP spid="19" grpId="0" bldLvl="0" animBg="1"/>
      <p:bldP spid="20" grpId="0" bldLvl="0" animBg="1"/>
      <p:bldP spid="21" grpId="0" bldLvl="0" animBg="1"/>
      <p:bldP spid="22" grpId="0" animBg="1"/>
      <p:bldP spid="23" grpId="0" bldLvl="0" animBg="1"/>
      <p:bldP spid="24" grpId="0" bldLvl="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DHT</a:t>
            </a:r>
            <a:r>
              <a:rPr lang="zh-CN" altLang="en-US" dirty="0"/>
              <a:t>具体实现</a:t>
            </a:r>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3"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93630" y="2976329"/>
            <a:ext cx="935037"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05155" y="2247667"/>
            <a:ext cx="6350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73580" y="2263542"/>
            <a:ext cx="6350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08617" y="3271604"/>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84655" y="4568592"/>
            <a:ext cx="6350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05155" y="3704992"/>
            <a:ext cx="6350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9"/>
          <p:cNvGrpSpPr/>
          <p:nvPr/>
        </p:nvGrpSpPr>
        <p:grpSpPr bwMode="auto">
          <a:xfrm>
            <a:off x="3123692" y="1968267"/>
            <a:ext cx="533400" cy="3352800"/>
            <a:chOff x="576" y="1728"/>
            <a:chExt cx="336" cy="2112"/>
          </a:xfrm>
          <a:solidFill>
            <a:schemeClr val="accent1">
              <a:lumMod val="60000"/>
              <a:lumOff val="40000"/>
            </a:schemeClr>
          </a:solidFill>
        </p:grpSpPr>
        <p:sp>
          <p:nvSpPr>
            <p:cNvPr id="13" name="Rectangle 10"/>
            <p:cNvSpPr>
              <a:spLocks noChangeArrowheads="1"/>
            </p:cNvSpPr>
            <p:nvPr/>
          </p:nvSpPr>
          <p:spPr bwMode="auto">
            <a:xfrm>
              <a:off x="576" y="1728"/>
              <a:ext cx="336" cy="2112"/>
            </a:xfrm>
            <a:prstGeom prst="rect">
              <a:avLst/>
            </a:prstGeom>
            <a:grp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
          <p:nvSpPr>
            <p:cNvPr id="14" name="Line 11"/>
            <p:cNvSpPr>
              <a:spLocks noChangeShapeType="1"/>
            </p:cNvSpPr>
            <p:nvPr/>
          </p:nvSpPr>
          <p:spPr bwMode="auto">
            <a:xfrm>
              <a:off x="576" y="1824"/>
              <a:ext cx="336" cy="0"/>
            </a:xfrm>
            <a:prstGeom prst="line">
              <a:avLst/>
            </a:prstGeom>
            <a:grpFill/>
            <a:ln w="9525">
              <a:solidFill>
                <a:schemeClr val="tx1"/>
              </a:solidFill>
              <a:miter lim="800000"/>
            </a:ln>
          </p:spPr>
          <p:txBody>
            <a:bodyPr/>
            <a:lstStyle/>
            <a:p>
              <a:endParaRPr lang="zh-CN" altLang="en-US"/>
            </a:p>
          </p:txBody>
        </p:sp>
        <p:sp>
          <p:nvSpPr>
            <p:cNvPr id="15" name="Line 12"/>
            <p:cNvSpPr>
              <a:spLocks noChangeShapeType="1"/>
            </p:cNvSpPr>
            <p:nvPr/>
          </p:nvSpPr>
          <p:spPr bwMode="auto">
            <a:xfrm>
              <a:off x="576" y="1920"/>
              <a:ext cx="336" cy="0"/>
            </a:xfrm>
            <a:prstGeom prst="line">
              <a:avLst/>
            </a:prstGeom>
            <a:grpFill/>
            <a:ln w="9525">
              <a:solidFill>
                <a:schemeClr val="tx1"/>
              </a:solidFill>
              <a:miter lim="800000"/>
            </a:ln>
          </p:spPr>
          <p:txBody>
            <a:bodyPr/>
            <a:lstStyle/>
            <a:p>
              <a:endParaRPr lang="zh-CN" altLang="en-US"/>
            </a:p>
          </p:txBody>
        </p:sp>
        <p:sp>
          <p:nvSpPr>
            <p:cNvPr id="16" name="Line 13"/>
            <p:cNvSpPr>
              <a:spLocks noChangeShapeType="1"/>
            </p:cNvSpPr>
            <p:nvPr/>
          </p:nvSpPr>
          <p:spPr bwMode="auto">
            <a:xfrm>
              <a:off x="576" y="2016"/>
              <a:ext cx="336" cy="0"/>
            </a:xfrm>
            <a:prstGeom prst="line">
              <a:avLst/>
            </a:prstGeom>
            <a:grpFill/>
            <a:ln w="9525">
              <a:solidFill>
                <a:schemeClr val="tx1"/>
              </a:solidFill>
              <a:miter lim="800000"/>
            </a:ln>
          </p:spPr>
          <p:txBody>
            <a:bodyPr/>
            <a:lstStyle/>
            <a:p>
              <a:endParaRPr lang="zh-CN" altLang="en-US"/>
            </a:p>
          </p:txBody>
        </p:sp>
        <p:sp>
          <p:nvSpPr>
            <p:cNvPr id="17" name="Line 14"/>
            <p:cNvSpPr>
              <a:spLocks noChangeShapeType="1"/>
            </p:cNvSpPr>
            <p:nvPr/>
          </p:nvSpPr>
          <p:spPr bwMode="auto">
            <a:xfrm>
              <a:off x="576" y="2112"/>
              <a:ext cx="336" cy="0"/>
            </a:xfrm>
            <a:prstGeom prst="line">
              <a:avLst/>
            </a:prstGeom>
            <a:grpFill/>
            <a:ln w="9525">
              <a:solidFill>
                <a:schemeClr val="tx1"/>
              </a:solidFill>
              <a:miter lim="800000"/>
            </a:ln>
          </p:spPr>
          <p:txBody>
            <a:bodyPr/>
            <a:lstStyle/>
            <a:p>
              <a:endParaRPr lang="zh-CN" altLang="en-US"/>
            </a:p>
          </p:txBody>
        </p:sp>
        <p:sp>
          <p:nvSpPr>
            <p:cNvPr id="18" name="Line 15"/>
            <p:cNvSpPr>
              <a:spLocks noChangeShapeType="1"/>
            </p:cNvSpPr>
            <p:nvPr/>
          </p:nvSpPr>
          <p:spPr bwMode="auto">
            <a:xfrm>
              <a:off x="576" y="2208"/>
              <a:ext cx="336" cy="0"/>
            </a:xfrm>
            <a:prstGeom prst="line">
              <a:avLst/>
            </a:prstGeom>
            <a:grpFill/>
            <a:ln w="9525">
              <a:solidFill>
                <a:schemeClr val="tx1"/>
              </a:solidFill>
              <a:miter lim="800000"/>
            </a:ln>
          </p:spPr>
          <p:txBody>
            <a:bodyPr/>
            <a:lstStyle/>
            <a:p>
              <a:endParaRPr lang="zh-CN" altLang="en-US"/>
            </a:p>
          </p:txBody>
        </p:sp>
        <p:sp>
          <p:nvSpPr>
            <p:cNvPr id="19" name="Line 16"/>
            <p:cNvSpPr>
              <a:spLocks noChangeShapeType="1"/>
            </p:cNvSpPr>
            <p:nvPr/>
          </p:nvSpPr>
          <p:spPr bwMode="auto">
            <a:xfrm>
              <a:off x="576" y="2304"/>
              <a:ext cx="336" cy="0"/>
            </a:xfrm>
            <a:prstGeom prst="line">
              <a:avLst/>
            </a:prstGeom>
            <a:grpFill/>
            <a:ln w="9525">
              <a:solidFill>
                <a:schemeClr val="tx1"/>
              </a:solidFill>
              <a:miter lim="800000"/>
            </a:ln>
          </p:spPr>
          <p:txBody>
            <a:bodyPr/>
            <a:lstStyle/>
            <a:p>
              <a:endParaRPr lang="zh-CN" altLang="en-US"/>
            </a:p>
          </p:txBody>
        </p:sp>
        <p:sp>
          <p:nvSpPr>
            <p:cNvPr id="20" name="Line 17"/>
            <p:cNvSpPr>
              <a:spLocks noChangeShapeType="1"/>
            </p:cNvSpPr>
            <p:nvPr/>
          </p:nvSpPr>
          <p:spPr bwMode="auto">
            <a:xfrm>
              <a:off x="576" y="2400"/>
              <a:ext cx="336" cy="0"/>
            </a:xfrm>
            <a:prstGeom prst="line">
              <a:avLst/>
            </a:prstGeom>
            <a:grpFill/>
            <a:ln w="9525">
              <a:solidFill>
                <a:schemeClr val="tx1"/>
              </a:solidFill>
              <a:miter lim="800000"/>
            </a:ln>
          </p:spPr>
          <p:txBody>
            <a:bodyPr/>
            <a:lstStyle/>
            <a:p>
              <a:endParaRPr lang="zh-CN" altLang="en-US"/>
            </a:p>
          </p:txBody>
        </p:sp>
        <p:sp>
          <p:nvSpPr>
            <p:cNvPr id="21" name="Line 18"/>
            <p:cNvSpPr>
              <a:spLocks noChangeShapeType="1"/>
            </p:cNvSpPr>
            <p:nvPr/>
          </p:nvSpPr>
          <p:spPr bwMode="auto">
            <a:xfrm>
              <a:off x="576" y="2496"/>
              <a:ext cx="336" cy="0"/>
            </a:xfrm>
            <a:prstGeom prst="line">
              <a:avLst/>
            </a:prstGeom>
            <a:grpFill/>
            <a:ln w="9525">
              <a:solidFill>
                <a:schemeClr val="tx1"/>
              </a:solidFill>
              <a:miter lim="800000"/>
            </a:ln>
          </p:spPr>
          <p:txBody>
            <a:bodyPr/>
            <a:lstStyle/>
            <a:p>
              <a:endParaRPr lang="zh-CN" altLang="en-US"/>
            </a:p>
          </p:txBody>
        </p:sp>
        <p:sp>
          <p:nvSpPr>
            <p:cNvPr id="22" name="Line 19"/>
            <p:cNvSpPr>
              <a:spLocks noChangeShapeType="1"/>
            </p:cNvSpPr>
            <p:nvPr/>
          </p:nvSpPr>
          <p:spPr bwMode="auto">
            <a:xfrm>
              <a:off x="576" y="2592"/>
              <a:ext cx="336" cy="0"/>
            </a:xfrm>
            <a:prstGeom prst="line">
              <a:avLst/>
            </a:prstGeom>
            <a:grpFill/>
            <a:ln w="9525">
              <a:solidFill>
                <a:schemeClr val="tx1"/>
              </a:solidFill>
              <a:miter lim="800000"/>
            </a:ln>
          </p:spPr>
          <p:txBody>
            <a:bodyPr/>
            <a:lstStyle/>
            <a:p>
              <a:endParaRPr lang="zh-CN" altLang="en-US"/>
            </a:p>
          </p:txBody>
        </p:sp>
        <p:sp>
          <p:nvSpPr>
            <p:cNvPr id="23" name="Line 20"/>
            <p:cNvSpPr>
              <a:spLocks noChangeShapeType="1"/>
            </p:cNvSpPr>
            <p:nvPr/>
          </p:nvSpPr>
          <p:spPr bwMode="auto">
            <a:xfrm>
              <a:off x="576" y="2688"/>
              <a:ext cx="336" cy="0"/>
            </a:xfrm>
            <a:prstGeom prst="line">
              <a:avLst/>
            </a:prstGeom>
            <a:grpFill/>
            <a:ln w="9525">
              <a:solidFill>
                <a:schemeClr val="tx1"/>
              </a:solidFill>
              <a:miter lim="800000"/>
            </a:ln>
          </p:spPr>
          <p:txBody>
            <a:bodyPr/>
            <a:lstStyle/>
            <a:p>
              <a:endParaRPr lang="zh-CN" altLang="en-US"/>
            </a:p>
          </p:txBody>
        </p:sp>
        <p:sp>
          <p:nvSpPr>
            <p:cNvPr id="24" name="Line 21"/>
            <p:cNvSpPr>
              <a:spLocks noChangeShapeType="1"/>
            </p:cNvSpPr>
            <p:nvPr/>
          </p:nvSpPr>
          <p:spPr bwMode="auto">
            <a:xfrm>
              <a:off x="576" y="2784"/>
              <a:ext cx="336" cy="0"/>
            </a:xfrm>
            <a:prstGeom prst="line">
              <a:avLst/>
            </a:prstGeom>
            <a:grpFill/>
            <a:ln w="9525">
              <a:solidFill>
                <a:schemeClr val="tx1"/>
              </a:solidFill>
              <a:miter lim="800000"/>
            </a:ln>
          </p:spPr>
          <p:txBody>
            <a:bodyPr/>
            <a:lstStyle/>
            <a:p>
              <a:endParaRPr lang="zh-CN" altLang="en-US"/>
            </a:p>
          </p:txBody>
        </p:sp>
        <p:sp>
          <p:nvSpPr>
            <p:cNvPr id="25" name="Line 22"/>
            <p:cNvSpPr>
              <a:spLocks noChangeShapeType="1"/>
            </p:cNvSpPr>
            <p:nvPr/>
          </p:nvSpPr>
          <p:spPr bwMode="auto">
            <a:xfrm>
              <a:off x="576" y="2880"/>
              <a:ext cx="336" cy="0"/>
            </a:xfrm>
            <a:prstGeom prst="line">
              <a:avLst/>
            </a:prstGeom>
            <a:grpFill/>
            <a:ln w="9525">
              <a:solidFill>
                <a:schemeClr val="tx1"/>
              </a:solidFill>
              <a:miter lim="800000"/>
            </a:ln>
          </p:spPr>
          <p:txBody>
            <a:bodyPr/>
            <a:lstStyle/>
            <a:p>
              <a:endParaRPr lang="zh-CN" altLang="en-US"/>
            </a:p>
          </p:txBody>
        </p:sp>
        <p:sp>
          <p:nvSpPr>
            <p:cNvPr id="26" name="Line 23"/>
            <p:cNvSpPr>
              <a:spLocks noChangeShapeType="1"/>
            </p:cNvSpPr>
            <p:nvPr/>
          </p:nvSpPr>
          <p:spPr bwMode="auto">
            <a:xfrm>
              <a:off x="576" y="2976"/>
              <a:ext cx="336" cy="0"/>
            </a:xfrm>
            <a:prstGeom prst="line">
              <a:avLst/>
            </a:prstGeom>
            <a:grpFill/>
            <a:ln w="9525">
              <a:solidFill>
                <a:schemeClr val="tx1"/>
              </a:solidFill>
              <a:miter lim="800000"/>
            </a:ln>
          </p:spPr>
          <p:txBody>
            <a:bodyPr/>
            <a:lstStyle/>
            <a:p>
              <a:endParaRPr lang="zh-CN" altLang="en-US"/>
            </a:p>
          </p:txBody>
        </p:sp>
        <p:sp>
          <p:nvSpPr>
            <p:cNvPr id="27" name="Line 24"/>
            <p:cNvSpPr>
              <a:spLocks noChangeShapeType="1"/>
            </p:cNvSpPr>
            <p:nvPr/>
          </p:nvSpPr>
          <p:spPr bwMode="auto">
            <a:xfrm>
              <a:off x="576" y="3072"/>
              <a:ext cx="336" cy="0"/>
            </a:xfrm>
            <a:prstGeom prst="line">
              <a:avLst/>
            </a:prstGeom>
            <a:grpFill/>
            <a:ln w="9525">
              <a:solidFill>
                <a:schemeClr val="tx1"/>
              </a:solidFill>
              <a:miter lim="800000"/>
            </a:ln>
          </p:spPr>
          <p:txBody>
            <a:bodyPr/>
            <a:lstStyle/>
            <a:p>
              <a:endParaRPr lang="zh-CN" altLang="en-US"/>
            </a:p>
          </p:txBody>
        </p:sp>
        <p:sp>
          <p:nvSpPr>
            <p:cNvPr id="28" name="Line 25"/>
            <p:cNvSpPr>
              <a:spLocks noChangeShapeType="1"/>
            </p:cNvSpPr>
            <p:nvPr/>
          </p:nvSpPr>
          <p:spPr bwMode="auto">
            <a:xfrm>
              <a:off x="576" y="3168"/>
              <a:ext cx="336" cy="0"/>
            </a:xfrm>
            <a:prstGeom prst="line">
              <a:avLst/>
            </a:prstGeom>
            <a:grpFill/>
            <a:ln w="9525">
              <a:solidFill>
                <a:schemeClr val="tx1"/>
              </a:solidFill>
              <a:miter lim="800000"/>
            </a:ln>
          </p:spPr>
          <p:txBody>
            <a:bodyPr/>
            <a:lstStyle/>
            <a:p>
              <a:endParaRPr lang="zh-CN" altLang="en-US"/>
            </a:p>
          </p:txBody>
        </p:sp>
        <p:sp>
          <p:nvSpPr>
            <p:cNvPr id="29" name="Line 26"/>
            <p:cNvSpPr>
              <a:spLocks noChangeShapeType="1"/>
            </p:cNvSpPr>
            <p:nvPr/>
          </p:nvSpPr>
          <p:spPr bwMode="auto">
            <a:xfrm>
              <a:off x="576" y="3264"/>
              <a:ext cx="336" cy="0"/>
            </a:xfrm>
            <a:prstGeom prst="line">
              <a:avLst/>
            </a:prstGeom>
            <a:grpFill/>
            <a:ln w="9525">
              <a:solidFill>
                <a:schemeClr val="tx1"/>
              </a:solidFill>
              <a:miter lim="800000"/>
            </a:ln>
          </p:spPr>
          <p:txBody>
            <a:bodyPr/>
            <a:lstStyle/>
            <a:p>
              <a:endParaRPr lang="zh-CN" altLang="en-US"/>
            </a:p>
          </p:txBody>
        </p:sp>
        <p:sp>
          <p:nvSpPr>
            <p:cNvPr id="30" name="Line 27"/>
            <p:cNvSpPr>
              <a:spLocks noChangeShapeType="1"/>
            </p:cNvSpPr>
            <p:nvPr/>
          </p:nvSpPr>
          <p:spPr bwMode="auto">
            <a:xfrm>
              <a:off x="576" y="3360"/>
              <a:ext cx="336" cy="0"/>
            </a:xfrm>
            <a:prstGeom prst="line">
              <a:avLst/>
            </a:prstGeom>
            <a:grpFill/>
            <a:ln w="9525">
              <a:solidFill>
                <a:schemeClr val="tx1"/>
              </a:solidFill>
              <a:miter lim="800000"/>
            </a:ln>
          </p:spPr>
          <p:txBody>
            <a:bodyPr/>
            <a:lstStyle/>
            <a:p>
              <a:endParaRPr lang="zh-CN" altLang="en-US"/>
            </a:p>
          </p:txBody>
        </p:sp>
        <p:sp>
          <p:nvSpPr>
            <p:cNvPr id="31" name="Line 28"/>
            <p:cNvSpPr>
              <a:spLocks noChangeShapeType="1"/>
            </p:cNvSpPr>
            <p:nvPr/>
          </p:nvSpPr>
          <p:spPr bwMode="auto">
            <a:xfrm>
              <a:off x="576" y="3456"/>
              <a:ext cx="336" cy="0"/>
            </a:xfrm>
            <a:prstGeom prst="line">
              <a:avLst/>
            </a:prstGeom>
            <a:grpFill/>
            <a:ln w="9525">
              <a:solidFill>
                <a:schemeClr val="tx1"/>
              </a:solidFill>
              <a:miter lim="800000"/>
            </a:ln>
          </p:spPr>
          <p:txBody>
            <a:bodyPr/>
            <a:lstStyle/>
            <a:p>
              <a:endParaRPr lang="zh-CN" altLang="en-US"/>
            </a:p>
          </p:txBody>
        </p:sp>
        <p:sp>
          <p:nvSpPr>
            <p:cNvPr id="32" name="Line 29"/>
            <p:cNvSpPr>
              <a:spLocks noChangeShapeType="1"/>
            </p:cNvSpPr>
            <p:nvPr/>
          </p:nvSpPr>
          <p:spPr bwMode="auto">
            <a:xfrm>
              <a:off x="576" y="3552"/>
              <a:ext cx="336" cy="0"/>
            </a:xfrm>
            <a:prstGeom prst="line">
              <a:avLst/>
            </a:prstGeom>
            <a:grpFill/>
            <a:ln w="9525">
              <a:solidFill>
                <a:schemeClr val="tx1"/>
              </a:solidFill>
              <a:miter lim="800000"/>
            </a:ln>
          </p:spPr>
          <p:txBody>
            <a:bodyPr/>
            <a:lstStyle/>
            <a:p>
              <a:endParaRPr lang="zh-CN" altLang="en-US"/>
            </a:p>
          </p:txBody>
        </p:sp>
        <p:sp>
          <p:nvSpPr>
            <p:cNvPr id="33" name="Line 30"/>
            <p:cNvSpPr>
              <a:spLocks noChangeShapeType="1"/>
            </p:cNvSpPr>
            <p:nvPr/>
          </p:nvSpPr>
          <p:spPr bwMode="auto">
            <a:xfrm>
              <a:off x="576" y="3648"/>
              <a:ext cx="336" cy="0"/>
            </a:xfrm>
            <a:prstGeom prst="line">
              <a:avLst/>
            </a:prstGeom>
            <a:grpFill/>
            <a:ln w="9525">
              <a:solidFill>
                <a:schemeClr val="tx1"/>
              </a:solidFill>
              <a:miter lim="800000"/>
            </a:ln>
          </p:spPr>
          <p:txBody>
            <a:bodyPr/>
            <a:lstStyle/>
            <a:p>
              <a:endParaRPr lang="zh-CN" altLang="en-US"/>
            </a:p>
          </p:txBody>
        </p:sp>
        <p:sp>
          <p:nvSpPr>
            <p:cNvPr id="34" name="Line 31"/>
            <p:cNvSpPr>
              <a:spLocks noChangeShapeType="1"/>
            </p:cNvSpPr>
            <p:nvPr/>
          </p:nvSpPr>
          <p:spPr bwMode="auto">
            <a:xfrm>
              <a:off x="576" y="3744"/>
              <a:ext cx="336" cy="0"/>
            </a:xfrm>
            <a:prstGeom prst="line">
              <a:avLst/>
            </a:prstGeom>
            <a:grpFill/>
            <a:ln w="9525">
              <a:solidFill>
                <a:schemeClr val="tx1"/>
              </a:solidFill>
              <a:miter lim="800000"/>
            </a:ln>
          </p:spPr>
          <p:txBody>
            <a:bodyPr/>
            <a:lstStyle/>
            <a:p>
              <a:endParaRPr lang="zh-CN" altLang="en-US"/>
            </a:p>
          </p:txBody>
        </p:sp>
      </p:grpSp>
      <p:sp>
        <p:nvSpPr>
          <p:cNvPr id="35" name="Text Box 32"/>
          <p:cNvSpPr txBox="1">
            <a:spLocks noChangeArrowheads="1"/>
          </p:cNvSpPr>
          <p:nvPr/>
        </p:nvSpPr>
        <p:spPr bwMode="auto">
          <a:xfrm>
            <a:off x="3099880" y="1587267"/>
            <a:ext cx="533400" cy="336550"/>
          </a:xfrm>
          <a:prstGeom prst="rect">
            <a:avLst/>
          </a:prstGeom>
          <a:solidFill>
            <a:schemeClr val="accent1">
              <a:lumMod val="60000"/>
              <a:lumOff val="40000"/>
            </a:schemeClr>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1600" b="1" dirty="0">
                <a:solidFill>
                  <a:srgbClr val="000000"/>
                </a:solidFill>
                <a:latin typeface="Times New Roman" panose="02020603050405020304" pitchFamily="18" charset="0"/>
              </a:rPr>
              <a:t>k v</a:t>
            </a:r>
            <a:endParaRPr lang="en-US" altLang="zh-CN" sz="1600" b="1" dirty="0">
              <a:solidFill>
                <a:srgbClr val="000000"/>
              </a:solidFill>
              <a:latin typeface="Times New Roman" panose="02020603050405020304" pitchFamily="18" charset="0"/>
            </a:endParaRPr>
          </a:p>
        </p:txBody>
      </p:sp>
      <p:sp>
        <p:nvSpPr>
          <p:cNvPr id="36" name="Line 33"/>
          <p:cNvSpPr>
            <a:spLocks noChangeShapeType="1"/>
          </p:cNvSpPr>
          <p:nvPr/>
        </p:nvSpPr>
        <p:spPr bwMode="auto">
          <a:xfrm>
            <a:off x="3352292" y="1968267"/>
            <a:ext cx="1588" cy="33528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7" name="Text Box 34"/>
          <p:cNvSpPr txBox="1">
            <a:spLocks noChangeArrowheads="1"/>
          </p:cNvSpPr>
          <p:nvPr/>
        </p:nvSpPr>
        <p:spPr bwMode="auto">
          <a:xfrm>
            <a:off x="2818892" y="5702067"/>
            <a:ext cx="2133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latin typeface="Times New Roman" panose="02020603050405020304" pitchFamily="18" charset="0"/>
              </a:rPr>
              <a:t>a. Hash</a:t>
            </a:r>
            <a:r>
              <a:rPr lang="zh-CN" altLang="en-US" b="1">
                <a:latin typeface="Times New Roman" panose="02020603050405020304" pitchFamily="18" charset="0"/>
              </a:rPr>
              <a:t>表</a:t>
            </a:r>
            <a:endParaRPr lang="zh-CN" altLang="en-US" b="1">
              <a:latin typeface="Times New Roman" panose="02020603050405020304" pitchFamily="18" charset="0"/>
            </a:endParaRPr>
          </a:p>
        </p:txBody>
      </p:sp>
      <p:sp>
        <p:nvSpPr>
          <p:cNvPr id="38" name="Text Box 35"/>
          <p:cNvSpPr txBox="1">
            <a:spLocks noChangeArrowheads="1"/>
          </p:cNvSpPr>
          <p:nvPr/>
        </p:nvSpPr>
        <p:spPr bwMode="auto">
          <a:xfrm>
            <a:off x="6705092" y="5702067"/>
            <a:ext cx="3733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latin typeface="Times New Roman" panose="02020603050405020304" pitchFamily="18" charset="0"/>
              </a:rPr>
              <a:t>b. </a:t>
            </a:r>
            <a:r>
              <a:rPr lang="zh-CN" altLang="en-US" b="1">
                <a:latin typeface="Times New Roman" panose="02020603050405020304" pitchFamily="18" charset="0"/>
              </a:rPr>
              <a:t>分布式</a:t>
            </a:r>
            <a:r>
              <a:rPr lang="en-US" altLang="zh-CN" b="1">
                <a:latin typeface="Times New Roman" panose="02020603050405020304" pitchFamily="18" charset="0"/>
              </a:rPr>
              <a:t>Hash</a:t>
            </a:r>
            <a:r>
              <a:rPr lang="zh-CN" altLang="en-US" b="1">
                <a:latin typeface="Times New Roman" panose="02020603050405020304" pitchFamily="18" charset="0"/>
              </a:rPr>
              <a:t>表</a:t>
            </a:r>
            <a:endParaRPr lang="zh-CN" altLang="en-US" b="1">
              <a:latin typeface="Times New Roman" panose="02020603050405020304" pitchFamily="18" charset="0"/>
            </a:endParaRPr>
          </a:p>
        </p:txBody>
      </p:sp>
      <p:sp>
        <p:nvSpPr>
          <p:cNvPr id="39" name="Line 36"/>
          <p:cNvSpPr>
            <a:spLocks noChangeShapeType="1"/>
          </p:cNvSpPr>
          <p:nvPr/>
        </p:nvSpPr>
        <p:spPr bwMode="auto">
          <a:xfrm>
            <a:off x="5189030" y="3416067"/>
            <a:ext cx="1223962" cy="1587"/>
          </a:xfrm>
          <a:prstGeom prst="line">
            <a:avLst/>
          </a:prstGeom>
          <a:noFill/>
          <a:ln w="762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Text Box 37"/>
          <p:cNvSpPr txBox="1">
            <a:spLocks noChangeArrowheads="1"/>
          </p:cNvSpPr>
          <p:nvPr/>
        </p:nvSpPr>
        <p:spPr bwMode="auto">
          <a:xfrm>
            <a:off x="5189030" y="2425467"/>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zh-CN" altLang="en-US" sz="2400" b="1">
                <a:latin typeface="宋体" panose="02010600030101010101" pitchFamily="2" charset="-122"/>
              </a:rPr>
              <a:t>规则</a:t>
            </a:r>
            <a:r>
              <a:rPr lang="en-US" altLang="zh-CN" sz="2400" b="1">
                <a:latin typeface="宋体" panose="02010600030101010101" pitchFamily="2" charset="-122"/>
              </a:rPr>
              <a:t>?</a:t>
            </a:r>
            <a:endParaRPr lang="en-US" altLang="zh-CN" sz="2400" b="1">
              <a:latin typeface="宋体" panose="02010600030101010101" pitchFamily="2" charset="-122"/>
            </a:endParaRPr>
          </a:p>
        </p:txBody>
      </p:sp>
      <p:grpSp>
        <p:nvGrpSpPr>
          <p:cNvPr id="41" name="Group 38"/>
          <p:cNvGrpSpPr/>
          <p:nvPr/>
        </p:nvGrpSpPr>
        <p:grpSpPr bwMode="auto">
          <a:xfrm>
            <a:off x="6773355" y="3631967"/>
            <a:ext cx="514350" cy="609600"/>
            <a:chOff x="240" y="1392"/>
            <a:chExt cx="324" cy="384"/>
          </a:xfrm>
        </p:grpSpPr>
        <p:grpSp>
          <p:nvGrpSpPr>
            <p:cNvPr id="42" name="Group 39"/>
            <p:cNvGrpSpPr/>
            <p:nvPr/>
          </p:nvGrpSpPr>
          <p:grpSpPr bwMode="auto">
            <a:xfrm>
              <a:off x="282" y="1530"/>
              <a:ext cx="198" cy="246"/>
              <a:chOff x="282" y="1530"/>
              <a:chExt cx="252" cy="300"/>
            </a:xfrm>
          </p:grpSpPr>
          <p:sp>
            <p:nvSpPr>
              <p:cNvPr id="44" name="Rectangle 4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45" name="AutoShape 41"/>
              <p:cNvCxnSpPr>
                <a:cxnSpLocks noChangeShapeType="1"/>
                <a:stCxn id="44" idx="0"/>
                <a:endCxn id="4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46" name="AutoShape 42"/>
              <p:cNvCxnSpPr>
                <a:cxnSpLocks noChangeShapeType="1"/>
                <a:stCxn id="44" idx="1"/>
                <a:endCxn id="4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47" name="Line 4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4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4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4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3" name="Text Box 4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sp>
        <p:nvSpPr>
          <p:cNvPr id="51" name="Line 48"/>
          <p:cNvSpPr>
            <a:spLocks noChangeShapeType="1"/>
          </p:cNvSpPr>
          <p:nvPr/>
        </p:nvSpPr>
        <p:spPr bwMode="auto">
          <a:xfrm flipV="1">
            <a:off x="7421055" y="2695342"/>
            <a:ext cx="1587"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 name="Line 49"/>
          <p:cNvSpPr>
            <a:spLocks noChangeShapeType="1"/>
          </p:cNvSpPr>
          <p:nvPr/>
        </p:nvSpPr>
        <p:spPr bwMode="auto">
          <a:xfrm flipV="1">
            <a:off x="7636955" y="3631967"/>
            <a:ext cx="1944687" cy="431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 name="Line 50"/>
          <p:cNvSpPr>
            <a:spLocks noChangeShapeType="1"/>
          </p:cNvSpPr>
          <p:nvPr/>
        </p:nvSpPr>
        <p:spPr bwMode="auto">
          <a:xfrm>
            <a:off x="7636955" y="2623904"/>
            <a:ext cx="1223962" cy="714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 name="Line 51"/>
          <p:cNvSpPr>
            <a:spLocks noChangeShapeType="1"/>
          </p:cNvSpPr>
          <p:nvPr/>
        </p:nvSpPr>
        <p:spPr bwMode="auto">
          <a:xfrm>
            <a:off x="9005380" y="2768367"/>
            <a:ext cx="647700" cy="6477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 name="Line 52"/>
          <p:cNvSpPr>
            <a:spLocks noChangeShapeType="1"/>
          </p:cNvSpPr>
          <p:nvPr/>
        </p:nvSpPr>
        <p:spPr bwMode="auto">
          <a:xfrm>
            <a:off x="7565517" y="4136792"/>
            <a:ext cx="792163" cy="6477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 name="Text Box 53"/>
          <p:cNvSpPr txBox="1">
            <a:spLocks noChangeArrowheads="1"/>
          </p:cNvSpPr>
          <p:nvPr/>
        </p:nvSpPr>
        <p:spPr bwMode="auto">
          <a:xfrm>
            <a:off x="7421055" y="2762017"/>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latin typeface="Times New Roman" panose="02020603050405020304" pitchFamily="18" charset="0"/>
              </a:rPr>
              <a:t>N1</a:t>
            </a:r>
            <a:endParaRPr lang="en-US" altLang="zh-CN" b="1">
              <a:latin typeface="Times New Roman" panose="02020603050405020304" pitchFamily="18" charset="0"/>
            </a:endParaRPr>
          </a:p>
        </p:txBody>
      </p:sp>
      <p:sp>
        <p:nvSpPr>
          <p:cNvPr id="57" name="Text Box 54"/>
          <p:cNvSpPr txBox="1">
            <a:spLocks noChangeArrowheads="1"/>
          </p:cNvSpPr>
          <p:nvPr/>
        </p:nvSpPr>
        <p:spPr bwMode="auto">
          <a:xfrm>
            <a:off x="7132130" y="4208229"/>
            <a:ext cx="649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latin typeface="Times New Roman" panose="02020603050405020304" pitchFamily="18" charset="0"/>
              </a:rPr>
              <a:t>N48</a:t>
            </a:r>
            <a:endParaRPr lang="en-US" altLang="zh-CN" b="1">
              <a:latin typeface="Times New Roman" panose="02020603050405020304" pitchFamily="18" charset="0"/>
            </a:endParaRPr>
          </a:p>
        </p:txBody>
      </p:sp>
      <p:sp>
        <p:nvSpPr>
          <p:cNvPr id="58" name="Text Box 55"/>
          <p:cNvSpPr txBox="1">
            <a:spLocks noChangeArrowheads="1"/>
          </p:cNvSpPr>
          <p:nvPr/>
        </p:nvSpPr>
        <p:spPr bwMode="auto">
          <a:xfrm>
            <a:off x="8286242" y="5071829"/>
            <a:ext cx="719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latin typeface="Times New Roman" panose="02020603050405020304" pitchFamily="18" charset="0"/>
              </a:rPr>
              <a:t>N16</a:t>
            </a:r>
            <a:endParaRPr lang="en-US" altLang="zh-CN" b="1">
              <a:latin typeface="Times New Roman" panose="02020603050405020304" pitchFamily="18" charset="0"/>
            </a:endParaRPr>
          </a:p>
        </p:txBody>
      </p:sp>
      <p:sp>
        <p:nvSpPr>
          <p:cNvPr id="59" name="Text Box 56"/>
          <p:cNvSpPr txBox="1">
            <a:spLocks noChangeArrowheads="1"/>
          </p:cNvSpPr>
          <p:nvPr/>
        </p:nvSpPr>
        <p:spPr bwMode="auto">
          <a:xfrm>
            <a:off x="8645017" y="2768367"/>
            <a:ext cx="7191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latin typeface="Times New Roman" panose="02020603050405020304" pitchFamily="18" charset="0"/>
              </a:rPr>
              <a:t>N32</a:t>
            </a:r>
            <a:endParaRPr lang="en-US" altLang="zh-CN" b="1">
              <a:latin typeface="Times New Roman" panose="02020603050405020304" pitchFamily="18" charset="0"/>
            </a:endParaRPr>
          </a:p>
        </p:txBody>
      </p:sp>
      <p:sp>
        <p:nvSpPr>
          <p:cNvPr id="60" name="Text Box 57"/>
          <p:cNvSpPr txBox="1">
            <a:spLocks noChangeArrowheads="1"/>
          </p:cNvSpPr>
          <p:nvPr/>
        </p:nvSpPr>
        <p:spPr bwMode="auto">
          <a:xfrm>
            <a:off x="9510205" y="3841517"/>
            <a:ext cx="719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1">
                <a:latin typeface="Times New Roman" panose="02020603050405020304" pitchFamily="18" charset="0"/>
              </a:rPr>
              <a:t>N8</a:t>
            </a:r>
            <a:endParaRPr lang="en-US" altLang="zh-CN" b="1">
              <a:latin typeface="Times New Roman" panose="02020603050405020304" pitchFamily="18" charset="0"/>
            </a:endParaRPr>
          </a:p>
        </p:txBody>
      </p:sp>
      <p:grpSp>
        <p:nvGrpSpPr>
          <p:cNvPr id="61" name="Group 58"/>
          <p:cNvGrpSpPr/>
          <p:nvPr/>
        </p:nvGrpSpPr>
        <p:grpSpPr bwMode="auto">
          <a:xfrm>
            <a:off x="7708392" y="1976204"/>
            <a:ext cx="514350" cy="609600"/>
            <a:chOff x="240" y="1392"/>
            <a:chExt cx="324" cy="384"/>
          </a:xfrm>
        </p:grpSpPr>
        <p:grpSp>
          <p:nvGrpSpPr>
            <p:cNvPr id="62" name="Group 59"/>
            <p:cNvGrpSpPr/>
            <p:nvPr/>
          </p:nvGrpSpPr>
          <p:grpSpPr bwMode="auto">
            <a:xfrm>
              <a:off x="282" y="1530"/>
              <a:ext cx="198" cy="246"/>
              <a:chOff x="282" y="1530"/>
              <a:chExt cx="252" cy="300"/>
            </a:xfrm>
          </p:grpSpPr>
          <p:sp>
            <p:nvSpPr>
              <p:cNvPr id="64" name="Rectangle 6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65" name="AutoShape 61"/>
              <p:cNvCxnSpPr>
                <a:cxnSpLocks noChangeShapeType="1"/>
                <a:stCxn id="64" idx="0"/>
                <a:endCxn id="6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66" name="AutoShape 62"/>
              <p:cNvCxnSpPr>
                <a:cxnSpLocks noChangeShapeType="1"/>
                <a:stCxn id="64" idx="1"/>
                <a:endCxn id="6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67" name="Line 6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6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6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 name="Line 6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3" name="Text Box 6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71" name="Group 68"/>
          <p:cNvGrpSpPr/>
          <p:nvPr/>
        </p:nvGrpSpPr>
        <p:grpSpPr bwMode="auto">
          <a:xfrm>
            <a:off x="10075355" y="3271604"/>
            <a:ext cx="514350" cy="609600"/>
            <a:chOff x="240" y="1392"/>
            <a:chExt cx="324" cy="384"/>
          </a:xfrm>
        </p:grpSpPr>
        <p:grpSp>
          <p:nvGrpSpPr>
            <p:cNvPr id="72" name="Group 69"/>
            <p:cNvGrpSpPr/>
            <p:nvPr/>
          </p:nvGrpSpPr>
          <p:grpSpPr bwMode="auto">
            <a:xfrm>
              <a:off x="282" y="1530"/>
              <a:ext cx="198" cy="246"/>
              <a:chOff x="282" y="1530"/>
              <a:chExt cx="252" cy="300"/>
            </a:xfrm>
          </p:grpSpPr>
          <p:sp>
            <p:nvSpPr>
              <p:cNvPr id="74" name="Rectangle 7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75" name="AutoShape 71"/>
              <p:cNvCxnSpPr>
                <a:cxnSpLocks noChangeShapeType="1"/>
                <a:stCxn id="74" idx="0"/>
                <a:endCxn id="7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76" name="AutoShape 72"/>
              <p:cNvCxnSpPr>
                <a:cxnSpLocks noChangeShapeType="1"/>
                <a:stCxn id="74" idx="1"/>
                <a:endCxn id="7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77" name="Line 7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 name="Line 7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 name="Line 7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0" name="Line 7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3" name="Text Box 7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81" name="Group 78"/>
          <p:cNvGrpSpPr/>
          <p:nvPr/>
        </p:nvGrpSpPr>
        <p:grpSpPr bwMode="auto">
          <a:xfrm>
            <a:off x="8860917" y="4495567"/>
            <a:ext cx="514350" cy="609600"/>
            <a:chOff x="240" y="1392"/>
            <a:chExt cx="324" cy="384"/>
          </a:xfrm>
        </p:grpSpPr>
        <p:grpSp>
          <p:nvGrpSpPr>
            <p:cNvPr id="82" name="Group 79"/>
            <p:cNvGrpSpPr/>
            <p:nvPr/>
          </p:nvGrpSpPr>
          <p:grpSpPr bwMode="auto">
            <a:xfrm>
              <a:off x="282" y="1530"/>
              <a:ext cx="198" cy="246"/>
              <a:chOff x="282" y="1530"/>
              <a:chExt cx="252" cy="300"/>
            </a:xfrm>
          </p:grpSpPr>
          <p:sp>
            <p:nvSpPr>
              <p:cNvPr id="84" name="Rectangle 8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85" name="AutoShape 81"/>
              <p:cNvCxnSpPr>
                <a:cxnSpLocks noChangeShapeType="1"/>
                <a:stCxn id="84" idx="0"/>
                <a:endCxn id="8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86" name="AutoShape 82"/>
              <p:cNvCxnSpPr>
                <a:cxnSpLocks noChangeShapeType="1"/>
                <a:stCxn id="84" idx="1"/>
                <a:endCxn id="8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87" name="Line 8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 name="Line 8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9" name="Line 8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 name="Line 8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3" name="Text Box 8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91" name="Group 88"/>
          <p:cNvGrpSpPr/>
          <p:nvPr/>
        </p:nvGrpSpPr>
        <p:grpSpPr bwMode="auto">
          <a:xfrm>
            <a:off x="9076817" y="1903179"/>
            <a:ext cx="514350" cy="609600"/>
            <a:chOff x="240" y="1392"/>
            <a:chExt cx="324" cy="384"/>
          </a:xfrm>
        </p:grpSpPr>
        <p:grpSp>
          <p:nvGrpSpPr>
            <p:cNvPr id="92" name="Group 89"/>
            <p:cNvGrpSpPr/>
            <p:nvPr/>
          </p:nvGrpSpPr>
          <p:grpSpPr bwMode="auto">
            <a:xfrm>
              <a:off x="282" y="1530"/>
              <a:ext cx="198" cy="246"/>
              <a:chOff x="282" y="1530"/>
              <a:chExt cx="252" cy="300"/>
            </a:xfrm>
          </p:grpSpPr>
          <p:sp>
            <p:nvSpPr>
              <p:cNvPr id="94" name="Rectangle 9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95" name="AutoShape 91"/>
              <p:cNvCxnSpPr>
                <a:cxnSpLocks noChangeShapeType="1"/>
                <a:stCxn id="94" idx="0"/>
                <a:endCxn id="9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96" name="AutoShape 92"/>
              <p:cNvCxnSpPr>
                <a:cxnSpLocks noChangeShapeType="1"/>
                <a:stCxn id="94" idx="1"/>
                <a:endCxn id="9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97" name="Line 9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8" name="Line 9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 name="Line 9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0" name="Line 9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3" name="Text Box 9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sp>
        <p:nvSpPr>
          <p:cNvPr id="101" name="Text Box 98"/>
          <p:cNvSpPr txBox="1">
            <a:spLocks noChangeArrowheads="1"/>
          </p:cNvSpPr>
          <p:nvPr/>
        </p:nvSpPr>
        <p:spPr bwMode="auto">
          <a:xfrm>
            <a:off x="4965192" y="4025667"/>
            <a:ext cx="194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b="1">
                <a:latin typeface="Times New Roman" panose="02020603050405020304" pitchFamily="18" charset="0"/>
              </a:rPr>
              <a:t>Chord</a:t>
            </a:r>
            <a:r>
              <a:rPr lang="zh-CN" altLang="en-US" b="1">
                <a:latin typeface="Times New Roman" panose="02020603050405020304" pitchFamily="18" charset="0"/>
              </a:rPr>
              <a:t>、</a:t>
            </a:r>
            <a:r>
              <a:rPr lang="en-US" altLang="zh-CN" b="1">
                <a:latin typeface="Times New Roman" panose="02020603050405020304" pitchFamily="18" charset="0"/>
              </a:rPr>
              <a:t>CAN</a:t>
            </a:r>
            <a:r>
              <a:rPr lang="zh-CN" altLang="en-US" b="1">
                <a:latin typeface="Times New Roman" panose="02020603050405020304" pitchFamily="18" charset="0"/>
              </a:rPr>
              <a:t>、</a:t>
            </a:r>
            <a:r>
              <a:rPr lang="en-US" altLang="zh-CN" b="1">
                <a:latin typeface="Times New Roman" panose="02020603050405020304" pitchFamily="18" charset="0"/>
              </a:rPr>
              <a:t>Tapestry</a:t>
            </a:r>
            <a:r>
              <a:rPr lang="zh-CN" altLang="en-US" b="1">
                <a:latin typeface="Times New Roman" panose="02020603050405020304" pitchFamily="18" charset="0"/>
              </a:rPr>
              <a:t>、</a:t>
            </a:r>
            <a:r>
              <a:rPr lang="en-US" altLang="zh-CN" b="1">
                <a:latin typeface="Times New Roman" panose="02020603050405020304" pitchFamily="18" charset="0"/>
              </a:rPr>
              <a:t>Pastry</a:t>
            </a:r>
            <a:endParaRPr lang="en-US" altLang="zh-CN" b="1">
              <a:latin typeface="Times New Roman" panose="02020603050405020304" pitchFamily="18" charset="0"/>
            </a:endParaRPr>
          </a:p>
        </p:txBody>
      </p:sp>
      <p:sp>
        <p:nvSpPr>
          <p:cNvPr id="102" name="Rectangle 99"/>
          <p:cNvSpPr>
            <a:spLocks noChangeArrowheads="1"/>
          </p:cNvSpPr>
          <p:nvPr/>
        </p:nvSpPr>
        <p:spPr bwMode="auto">
          <a:xfrm>
            <a:off x="3533267" y="6168792"/>
            <a:ext cx="5486400" cy="457200"/>
          </a:xfrm>
          <a:prstGeom prst="rect">
            <a:avLst/>
          </a:prstGeom>
          <a:solidFill>
            <a:schemeClr val="accent1">
              <a:lumMod val="60000"/>
              <a:lumOff val="4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000" b="1" dirty="0"/>
              <a:t>在许多情况下</a:t>
            </a:r>
            <a:r>
              <a:rPr lang="en-US" altLang="zh-CN" sz="2000" b="1" dirty="0"/>
              <a:t>,</a:t>
            </a:r>
            <a:r>
              <a:rPr lang="zh-CN" altLang="en-US" sz="2000" b="1" dirty="0"/>
              <a:t>节点</a:t>
            </a:r>
            <a:r>
              <a:rPr lang="en-US" altLang="zh-CN" sz="2000" b="1" dirty="0"/>
              <a:t>ID</a:t>
            </a:r>
            <a:r>
              <a:rPr lang="zh-CN" altLang="en-US" sz="2000" b="1" dirty="0"/>
              <a:t>为节点</a:t>
            </a:r>
            <a:r>
              <a:rPr lang="en-US" altLang="zh-CN" sz="2000" b="1" dirty="0"/>
              <a:t>IP</a:t>
            </a:r>
            <a:r>
              <a:rPr lang="zh-CN" altLang="en-US" sz="2000" b="1" dirty="0"/>
              <a:t>地址的</a:t>
            </a:r>
            <a:r>
              <a:rPr lang="en-US" altLang="zh-CN" sz="2000" b="1" dirty="0"/>
              <a:t>Hash</a:t>
            </a:r>
            <a:r>
              <a:rPr lang="zh-CN" altLang="en-US" sz="2000" b="1" dirty="0"/>
              <a:t>摘要</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linds(horizontal)">
                                      <p:cBhvr>
                                        <p:cTn id="7" dur="500"/>
                                        <p:tgtEl>
                                          <p:spTgt spid="5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blinds(horizontal)">
                                      <p:cBhvr>
                                        <p:cTn id="10" dur="500"/>
                                        <p:tgtEl>
                                          <p:spTgt spid="5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blinds(horizontal)">
                                      <p:cBhvr>
                                        <p:cTn id="13" dur="500"/>
                                        <p:tgtEl>
                                          <p:spTgt spid="6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blinds(horizontal)">
                                      <p:cBhvr>
                                        <p:cTn id="16" dur="500"/>
                                        <p:tgtEl>
                                          <p:spTgt spid="5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blinds(horizontal)">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p:cTn id="24" dur="500" fill="hold"/>
                                        <p:tgtEl>
                                          <p:spTgt spid="39"/>
                                        </p:tgtEl>
                                        <p:attrNameLst>
                                          <p:attrName>ppt_w</p:attrName>
                                        </p:attrNameLst>
                                      </p:cBhvr>
                                      <p:tavLst>
                                        <p:tav tm="0">
                                          <p:val>
                                            <p:fltVal val="0"/>
                                          </p:val>
                                        </p:tav>
                                        <p:tav tm="100000">
                                          <p:val>
                                            <p:strVal val="#ppt_w"/>
                                          </p:val>
                                        </p:tav>
                                      </p:tavLst>
                                    </p:anim>
                                    <p:anim calcmode="lin" valueType="num">
                                      <p:cBhvr>
                                        <p:cTn id="25"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p:cTn id="30" dur="500" fill="hold"/>
                                        <p:tgtEl>
                                          <p:spTgt spid="41"/>
                                        </p:tgtEl>
                                        <p:attrNameLst>
                                          <p:attrName>ppt_x</p:attrName>
                                        </p:attrNameLst>
                                      </p:cBhvr>
                                      <p:tavLst>
                                        <p:tav tm="0">
                                          <p:val>
                                            <p:strVal val="0-#ppt_w/2"/>
                                          </p:val>
                                        </p:tav>
                                        <p:tav tm="100000">
                                          <p:val>
                                            <p:strVal val="#ppt_x"/>
                                          </p:val>
                                        </p:tav>
                                      </p:tavLst>
                                    </p:anim>
                                    <p:anim calcmode="lin" valueType="num">
                                      <p:cBhvr>
                                        <p:cTn id="31" dur="500" fill="hold"/>
                                        <p:tgtEl>
                                          <p:spTgt spid="41"/>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61"/>
                                        </p:tgtEl>
                                        <p:attrNameLst>
                                          <p:attrName>style.visibility</p:attrName>
                                        </p:attrNameLst>
                                      </p:cBhvr>
                                      <p:to>
                                        <p:strVal val="visible"/>
                                      </p:to>
                                    </p:set>
                                    <p:anim calcmode="lin" valueType="num">
                                      <p:cBhvr>
                                        <p:cTn id="34" dur="500" fill="hold"/>
                                        <p:tgtEl>
                                          <p:spTgt spid="61"/>
                                        </p:tgtEl>
                                        <p:attrNameLst>
                                          <p:attrName>ppt_x</p:attrName>
                                        </p:attrNameLst>
                                      </p:cBhvr>
                                      <p:tavLst>
                                        <p:tav tm="0">
                                          <p:val>
                                            <p:strVal val="0-#ppt_w/2"/>
                                          </p:val>
                                        </p:tav>
                                        <p:tav tm="100000">
                                          <p:val>
                                            <p:strVal val="#ppt_x"/>
                                          </p:val>
                                        </p:tav>
                                      </p:tavLst>
                                    </p:anim>
                                    <p:anim calcmode="lin" valueType="num">
                                      <p:cBhvr>
                                        <p:cTn id="35" dur="500" fill="hold"/>
                                        <p:tgtEl>
                                          <p:spTgt spid="61"/>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91"/>
                                        </p:tgtEl>
                                        <p:attrNameLst>
                                          <p:attrName>style.visibility</p:attrName>
                                        </p:attrNameLst>
                                      </p:cBhvr>
                                      <p:to>
                                        <p:strVal val="visible"/>
                                      </p:to>
                                    </p:set>
                                    <p:anim calcmode="lin" valueType="num">
                                      <p:cBhvr>
                                        <p:cTn id="38" dur="500" fill="hold"/>
                                        <p:tgtEl>
                                          <p:spTgt spid="91"/>
                                        </p:tgtEl>
                                        <p:attrNameLst>
                                          <p:attrName>ppt_x</p:attrName>
                                        </p:attrNameLst>
                                      </p:cBhvr>
                                      <p:tavLst>
                                        <p:tav tm="0">
                                          <p:val>
                                            <p:strVal val="0-#ppt_w/2"/>
                                          </p:val>
                                        </p:tav>
                                        <p:tav tm="100000">
                                          <p:val>
                                            <p:strVal val="#ppt_x"/>
                                          </p:val>
                                        </p:tav>
                                      </p:tavLst>
                                    </p:anim>
                                    <p:anim calcmode="lin" valueType="num">
                                      <p:cBhvr>
                                        <p:cTn id="39" dur="500" fill="hold"/>
                                        <p:tgtEl>
                                          <p:spTgt spid="91"/>
                                        </p:tgtEl>
                                        <p:attrNameLst>
                                          <p:attrName>ppt_y</p:attrName>
                                        </p:attrNameLst>
                                      </p:cBhvr>
                                      <p:tavLst>
                                        <p:tav tm="0">
                                          <p:val>
                                            <p:strVal val="#ppt_y"/>
                                          </p:val>
                                        </p:tav>
                                        <p:tav tm="100000">
                                          <p:val>
                                            <p:strVal val="#ppt_y"/>
                                          </p:val>
                                        </p:tav>
                                      </p:tavLst>
                                    </p:anim>
                                  </p:childTnLst>
                                </p:cTn>
                              </p:par>
                              <p:par>
                                <p:cTn id="40" presetID="2" presetClass="entr" presetSubtype="8" fill="hold" nodeType="withEffect">
                                  <p:stCondLst>
                                    <p:cond delay="0"/>
                                  </p:stCondLst>
                                  <p:childTnLst>
                                    <p:set>
                                      <p:cBhvr>
                                        <p:cTn id="41" dur="1" fill="hold">
                                          <p:stCondLst>
                                            <p:cond delay="0"/>
                                          </p:stCondLst>
                                        </p:cTn>
                                        <p:tgtEl>
                                          <p:spTgt spid="71"/>
                                        </p:tgtEl>
                                        <p:attrNameLst>
                                          <p:attrName>style.visibility</p:attrName>
                                        </p:attrNameLst>
                                      </p:cBhvr>
                                      <p:to>
                                        <p:strVal val="visible"/>
                                      </p:to>
                                    </p:set>
                                    <p:anim calcmode="lin" valueType="num">
                                      <p:cBhvr>
                                        <p:cTn id="42" dur="500" fill="hold"/>
                                        <p:tgtEl>
                                          <p:spTgt spid="71"/>
                                        </p:tgtEl>
                                        <p:attrNameLst>
                                          <p:attrName>ppt_x</p:attrName>
                                        </p:attrNameLst>
                                      </p:cBhvr>
                                      <p:tavLst>
                                        <p:tav tm="0">
                                          <p:val>
                                            <p:strVal val="0-#ppt_w/2"/>
                                          </p:val>
                                        </p:tav>
                                        <p:tav tm="100000">
                                          <p:val>
                                            <p:strVal val="#ppt_x"/>
                                          </p:val>
                                        </p:tav>
                                      </p:tavLst>
                                    </p:anim>
                                    <p:anim calcmode="lin" valueType="num">
                                      <p:cBhvr>
                                        <p:cTn id="43" dur="500" fill="hold"/>
                                        <p:tgtEl>
                                          <p:spTgt spid="71"/>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81"/>
                                        </p:tgtEl>
                                        <p:attrNameLst>
                                          <p:attrName>style.visibility</p:attrName>
                                        </p:attrNameLst>
                                      </p:cBhvr>
                                      <p:to>
                                        <p:strVal val="visible"/>
                                      </p:to>
                                    </p:set>
                                    <p:anim calcmode="lin" valueType="num">
                                      <p:cBhvr>
                                        <p:cTn id="46" dur="500" fill="hold"/>
                                        <p:tgtEl>
                                          <p:spTgt spid="81"/>
                                        </p:tgtEl>
                                        <p:attrNameLst>
                                          <p:attrName>ppt_x</p:attrName>
                                        </p:attrNameLst>
                                      </p:cBhvr>
                                      <p:tavLst>
                                        <p:tav tm="0">
                                          <p:val>
                                            <p:strVal val="0-#ppt_w/2"/>
                                          </p:val>
                                        </p:tav>
                                        <p:tav tm="100000">
                                          <p:val>
                                            <p:strVal val="#ppt_x"/>
                                          </p:val>
                                        </p:tav>
                                      </p:tavLst>
                                    </p:anim>
                                    <p:anim calcmode="lin" valueType="num">
                                      <p:cBhvr>
                                        <p:cTn id="47" dur="500" fill="hold"/>
                                        <p:tgtEl>
                                          <p:spTgt spid="81"/>
                                        </p:tgtEl>
                                        <p:attrNameLst>
                                          <p:attrName>ppt_y</p:attrName>
                                        </p:attrNameLst>
                                      </p:cBhvr>
                                      <p:tavLst>
                                        <p:tav tm="0">
                                          <p:val>
                                            <p:strVal val="#ppt_y"/>
                                          </p:val>
                                        </p:tav>
                                        <p:tav tm="100000">
                                          <p:val>
                                            <p:strVal val="#ppt_y"/>
                                          </p:val>
                                        </p:tav>
                                      </p:tavLst>
                                    </p:anim>
                                  </p:childTnLst>
                                </p:cTn>
                              </p:par>
                              <p:par>
                                <p:cTn id="48" presetID="3" presetClass="entr" presetSubtype="1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blinds(horizontal)">
                                      <p:cBhvr>
                                        <p:cTn id="50" dur="500"/>
                                        <p:tgtEl>
                                          <p:spTgt spid="40"/>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01"/>
                                        </p:tgtEl>
                                        <p:attrNameLst>
                                          <p:attrName>style.visibility</p:attrName>
                                        </p:attrNameLst>
                                      </p:cBhvr>
                                      <p:to>
                                        <p:strVal val="visible"/>
                                      </p:to>
                                    </p:set>
                                    <p:animEffect transition="in" filter="blinds(horizontal)">
                                      <p:cBhvr>
                                        <p:cTn id="55" dur="500"/>
                                        <p:tgtEl>
                                          <p:spTgt spid="10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02"/>
                                        </p:tgtEl>
                                        <p:attrNameLst>
                                          <p:attrName>style.visibility</p:attrName>
                                        </p:attrNameLst>
                                      </p:cBhvr>
                                      <p:to>
                                        <p:strVal val="visible"/>
                                      </p:to>
                                    </p:set>
                                    <p:animEffect transition="in" filter="blinds(horizontal)">
                                      <p:cBhvr>
                                        <p:cTn id="60"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56" grpId="0"/>
      <p:bldP spid="57" grpId="0"/>
      <p:bldP spid="58" grpId="0"/>
      <p:bldP spid="59" grpId="0"/>
      <p:bldP spid="60" grpId="0"/>
      <p:bldP spid="101" grpId="0"/>
      <p:bldP spid="102"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DHT </a:t>
            </a:r>
            <a:r>
              <a:rPr lang="zh-CN" altLang="en-US" dirty="0"/>
              <a:t>具体实现</a:t>
            </a:r>
            <a:endParaRPr lang="en-US" altLang="zh-CN" dirty="0"/>
          </a:p>
          <a:p>
            <a:pPr lvl="1"/>
            <a:r>
              <a:rPr lang="zh-CN" altLang="en-US" dirty="0"/>
              <a:t>索引发布和内容定位</a:t>
            </a:r>
            <a:endParaRPr lang="zh-CN" altLang="en-US" dirty="0"/>
          </a:p>
          <a:p>
            <a:pPr lvl="1"/>
            <a:endParaRPr lang="zh-CN" altLang="en-US"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pic>
        <p:nvPicPr>
          <p:cNvPr id="6" name="Picture 2"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72256" y="41243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3256" y="57245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4856" y="5132388"/>
            <a:ext cx="6350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6"/>
          <p:cNvSpPr>
            <a:spLocks noChangeShapeType="1"/>
          </p:cNvSpPr>
          <p:nvPr/>
        </p:nvSpPr>
        <p:spPr bwMode="auto">
          <a:xfrm>
            <a:off x="3865944" y="3667125"/>
            <a:ext cx="76200" cy="457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7"/>
          <p:cNvSpPr>
            <a:spLocks noChangeShapeType="1"/>
          </p:cNvSpPr>
          <p:nvPr/>
        </p:nvSpPr>
        <p:spPr bwMode="auto">
          <a:xfrm flipV="1">
            <a:off x="4018344" y="2676525"/>
            <a:ext cx="18288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8"/>
          <p:cNvSpPr>
            <a:spLocks noChangeShapeType="1"/>
          </p:cNvSpPr>
          <p:nvPr/>
        </p:nvSpPr>
        <p:spPr bwMode="auto">
          <a:xfrm flipH="1">
            <a:off x="5847144" y="2981325"/>
            <a:ext cx="152400" cy="1143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9"/>
          <p:cNvSpPr>
            <a:spLocks noChangeShapeType="1"/>
          </p:cNvSpPr>
          <p:nvPr/>
        </p:nvSpPr>
        <p:spPr bwMode="auto">
          <a:xfrm>
            <a:off x="3865944" y="4657725"/>
            <a:ext cx="290512" cy="13731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0"/>
          <p:cNvSpPr>
            <a:spLocks noChangeShapeType="1"/>
          </p:cNvSpPr>
          <p:nvPr/>
        </p:nvSpPr>
        <p:spPr bwMode="auto">
          <a:xfrm flipH="1">
            <a:off x="4229481" y="4581525"/>
            <a:ext cx="1465263" cy="14493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1"/>
          <p:cNvSpPr>
            <a:spLocks noChangeShapeType="1"/>
          </p:cNvSpPr>
          <p:nvPr/>
        </p:nvSpPr>
        <p:spPr bwMode="auto">
          <a:xfrm>
            <a:off x="6228144" y="2676525"/>
            <a:ext cx="91440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2"/>
          <p:cNvSpPr>
            <a:spLocks noChangeShapeType="1"/>
          </p:cNvSpPr>
          <p:nvPr/>
        </p:nvSpPr>
        <p:spPr bwMode="auto">
          <a:xfrm flipV="1">
            <a:off x="5999544" y="3590925"/>
            <a:ext cx="10668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3"/>
          <p:cNvSpPr>
            <a:spLocks noChangeShapeType="1"/>
          </p:cNvSpPr>
          <p:nvPr/>
        </p:nvSpPr>
        <p:spPr bwMode="auto">
          <a:xfrm flipH="1">
            <a:off x="6913944" y="3819525"/>
            <a:ext cx="304800" cy="1219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4"/>
          <p:cNvSpPr>
            <a:spLocks noChangeShapeType="1"/>
          </p:cNvSpPr>
          <p:nvPr/>
        </p:nvSpPr>
        <p:spPr bwMode="auto">
          <a:xfrm flipV="1">
            <a:off x="4300919" y="5343525"/>
            <a:ext cx="2384425" cy="7588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15"/>
          <p:cNvSpPr>
            <a:spLocks noChangeShapeType="1"/>
          </p:cNvSpPr>
          <p:nvPr/>
        </p:nvSpPr>
        <p:spPr bwMode="auto">
          <a:xfrm>
            <a:off x="5999544" y="4505325"/>
            <a:ext cx="7620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6"/>
          <p:cNvSpPr>
            <a:spLocks noChangeShapeType="1"/>
          </p:cNvSpPr>
          <p:nvPr/>
        </p:nvSpPr>
        <p:spPr bwMode="auto">
          <a:xfrm>
            <a:off x="6228144" y="2600325"/>
            <a:ext cx="21336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17"/>
          <p:cNvSpPr>
            <a:spLocks noChangeShapeType="1"/>
          </p:cNvSpPr>
          <p:nvPr/>
        </p:nvSpPr>
        <p:spPr bwMode="auto">
          <a:xfrm>
            <a:off x="8590344" y="3133725"/>
            <a:ext cx="533400" cy="1219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18"/>
          <p:cNvSpPr>
            <a:spLocks noChangeShapeType="1"/>
          </p:cNvSpPr>
          <p:nvPr/>
        </p:nvSpPr>
        <p:spPr bwMode="auto">
          <a:xfrm>
            <a:off x="7447344" y="3743325"/>
            <a:ext cx="15240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19"/>
          <p:cNvSpPr>
            <a:spLocks noChangeShapeType="1"/>
          </p:cNvSpPr>
          <p:nvPr/>
        </p:nvSpPr>
        <p:spPr bwMode="auto">
          <a:xfrm flipV="1">
            <a:off x="7066344" y="4657725"/>
            <a:ext cx="19050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0"/>
          <p:cNvSpPr>
            <a:spLocks noChangeShapeType="1"/>
          </p:cNvSpPr>
          <p:nvPr/>
        </p:nvSpPr>
        <p:spPr bwMode="auto">
          <a:xfrm>
            <a:off x="4170744" y="3514725"/>
            <a:ext cx="144780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21"/>
          <p:cNvSpPr>
            <a:spLocks noChangeShapeType="1"/>
          </p:cNvSpPr>
          <p:nvPr/>
        </p:nvSpPr>
        <p:spPr bwMode="auto">
          <a:xfrm flipH="1">
            <a:off x="3180144" y="4657725"/>
            <a:ext cx="6096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22"/>
          <p:cNvSpPr>
            <a:spLocks noChangeShapeType="1"/>
          </p:cNvSpPr>
          <p:nvPr/>
        </p:nvSpPr>
        <p:spPr bwMode="auto">
          <a:xfrm>
            <a:off x="3180144" y="5419725"/>
            <a:ext cx="831850" cy="6826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23"/>
          <p:cNvSpPr>
            <a:spLocks noChangeShapeType="1"/>
          </p:cNvSpPr>
          <p:nvPr/>
        </p:nvSpPr>
        <p:spPr bwMode="auto">
          <a:xfrm>
            <a:off x="9199944" y="4810125"/>
            <a:ext cx="7620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24"/>
          <p:cNvSpPr>
            <a:spLocks noChangeShapeType="1"/>
          </p:cNvSpPr>
          <p:nvPr/>
        </p:nvSpPr>
        <p:spPr bwMode="auto">
          <a:xfrm>
            <a:off x="7066344" y="5343525"/>
            <a:ext cx="198120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25"/>
          <p:cNvSpPr>
            <a:spLocks noChangeShapeType="1"/>
          </p:cNvSpPr>
          <p:nvPr/>
        </p:nvSpPr>
        <p:spPr bwMode="auto">
          <a:xfrm flipV="1">
            <a:off x="3027744" y="4657725"/>
            <a:ext cx="609600" cy="609600"/>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26"/>
          <p:cNvSpPr>
            <a:spLocks noChangeShapeType="1"/>
          </p:cNvSpPr>
          <p:nvPr/>
        </p:nvSpPr>
        <p:spPr bwMode="auto">
          <a:xfrm flipV="1">
            <a:off x="3789744" y="3667125"/>
            <a:ext cx="0" cy="457200"/>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27"/>
          <p:cNvSpPr>
            <a:spLocks noChangeShapeType="1"/>
          </p:cNvSpPr>
          <p:nvPr/>
        </p:nvSpPr>
        <p:spPr bwMode="auto">
          <a:xfrm flipV="1">
            <a:off x="4094544" y="2828925"/>
            <a:ext cx="1676400" cy="533400"/>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Text Box 28"/>
          <p:cNvSpPr txBox="1">
            <a:spLocks noChangeArrowheads="1"/>
          </p:cNvSpPr>
          <p:nvPr/>
        </p:nvSpPr>
        <p:spPr bwMode="auto">
          <a:xfrm>
            <a:off x="3107119" y="5022850"/>
            <a:ext cx="9255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b="1">
                <a:solidFill>
                  <a:srgbClr val="FF3300"/>
                </a:solidFill>
                <a:latin typeface="Comic Sans MS" panose="030F0702030302020204" pitchFamily="66" charset="0"/>
              </a:rPr>
              <a:t>插入</a:t>
            </a:r>
            <a:br>
              <a:rPr lang="zh-CN" altLang="en-US" b="1">
                <a:solidFill>
                  <a:srgbClr val="FF3300"/>
                </a:solidFill>
                <a:latin typeface="Comic Sans MS" panose="030F0702030302020204" pitchFamily="66" charset="0"/>
              </a:rPr>
            </a:br>
            <a:r>
              <a:rPr lang="en-US" altLang="zh-CN" b="1">
                <a:solidFill>
                  <a:srgbClr val="FF3300"/>
                </a:solidFill>
                <a:latin typeface="Comic Sans MS" panose="030F0702030302020204" pitchFamily="66" charset="0"/>
              </a:rPr>
              <a:t>(K</a:t>
            </a:r>
            <a:r>
              <a:rPr lang="en-US" altLang="zh-CN" b="1" baseline="-25000">
                <a:solidFill>
                  <a:srgbClr val="FF3300"/>
                </a:solidFill>
                <a:latin typeface="Comic Sans MS" panose="030F0702030302020204" pitchFamily="66" charset="0"/>
              </a:rPr>
              <a:t>1</a:t>
            </a:r>
            <a:r>
              <a:rPr lang="en-US" altLang="zh-CN" b="1">
                <a:solidFill>
                  <a:srgbClr val="FF3300"/>
                </a:solidFill>
                <a:latin typeface="Comic Sans MS" panose="030F0702030302020204" pitchFamily="66" charset="0"/>
              </a:rPr>
              <a:t>,V</a:t>
            </a:r>
            <a:r>
              <a:rPr lang="en-US" altLang="zh-CN" b="1" baseline="-25000">
                <a:solidFill>
                  <a:srgbClr val="FF3300"/>
                </a:solidFill>
                <a:latin typeface="Comic Sans MS" panose="030F0702030302020204" pitchFamily="66" charset="0"/>
              </a:rPr>
              <a:t>1</a:t>
            </a:r>
            <a:r>
              <a:rPr lang="en-US" altLang="zh-CN" b="1">
                <a:solidFill>
                  <a:srgbClr val="FF3300"/>
                </a:solidFill>
                <a:latin typeface="Comic Sans MS" panose="030F0702030302020204" pitchFamily="66" charset="0"/>
              </a:rPr>
              <a:t>)</a:t>
            </a:r>
            <a:endParaRPr lang="en-US" altLang="zh-CN" b="1">
              <a:solidFill>
                <a:srgbClr val="FF3300"/>
              </a:solidFill>
              <a:latin typeface="Comic Sans MS" panose="030F0702030302020204" pitchFamily="66" charset="0"/>
            </a:endParaRPr>
          </a:p>
        </p:txBody>
      </p:sp>
      <p:grpSp>
        <p:nvGrpSpPr>
          <p:cNvPr id="32" name="Group 29"/>
          <p:cNvGrpSpPr/>
          <p:nvPr/>
        </p:nvGrpSpPr>
        <p:grpSpPr bwMode="auto">
          <a:xfrm>
            <a:off x="7037769" y="5454650"/>
            <a:ext cx="514350" cy="609600"/>
            <a:chOff x="240" y="1392"/>
            <a:chExt cx="324" cy="384"/>
          </a:xfrm>
        </p:grpSpPr>
        <p:grpSp>
          <p:nvGrpSpPr>
            <p:cNvPr id="33" name="Group 30"/>
            <p:cNvGrpSpPr/>
            <p:nvPr/>
          </p:nvGrpSpPr>
          <p:grpSpPr bwMode="auto">
            <a:xfrm>
              <a:off x="282" y="1530"/>
              <a:ext cx="198" cy="246"/>
              <a:chOff x="282" y="1530"/>
              <a:chExt cx="252" cy="300"/>
            </a:xfrm>
          </p:grpSpPr>
          <p:sp>
            <p:nvSpPr>
              <p:cNvPr id="35" name="Rectangle 31"/>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36" name="AutoShape 32"/>
              <p:cNvCxnSpPr>
                <a:cxnSpLocks noChangeShapeType="1"/>
                <a:stCxn id="35" idx="0"/>
                <a:endCxn id="35"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37" name="AutoShape 33"/>
              <p:cNvCxnSpPr>
                <a:cxnSpLocks noChangeShapeType="1"/>
                <a:stCxn id="35" idx="1"/>
                <a:endCxn id="35"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38" name="Line 34"/>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35"/>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36"/>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37"/>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 name="Text Box 38"/>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42" name="Group 39"/>
          <p:cNvGrpSpPr/>
          <p:nvPr/>
        </p:nvGrpSpPr>
        <p:grpSpPr bwMode="auto">
          <a:xfrm>
            <a:off x="3256344" y="2828925"/>
            <a:ext cx="514350" cy="609600"/>
            <a:chOff x="240" y="1392"/>
            <a:chExt cx="324" cy="384"/>
          </a:xfrm>
        </p:grpSpPr>
        <p:grpSp>
          <p:nvGrpSpPr>
            <p:cNvPr id="43" name="Group 40"/>
            <p:cNvGrpSpPr/>
            <p:nvPr/>
          </p:nvGrpSpPr>
          <p:grpSpPr bwMode="auto">
            <a:xfrm>
              <a:off x="282" y="1530"/>
              <a:ext cx="198" cy="246"/>
              <a:chOff x="282" y="1530"/>
              <a:chExt cx="252" cy="300"/>
            </a:xfrm>
          </p:grpSpPr>
          <p:sp>
            <p:nvSpPr>
              <p:cNvPr id="45" name="Rectangle 41"/>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46" name="AutoShape 42"/>
              <p:cNvCxnSpPr>
                <a:cxnSpLocks noChangeShapeType="1"/>
                <a:stCxn id="45" idx="0"/>
                <a:endCxn id="45"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47" name="AutoShape 43"/>
              <p:cNvCxnSpPr>
                <a:cxnSpLocks noChangeShapeType="1"/>
                <a:stCxn id="45" idx="1"/>
                <a:endCxn id="45"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48" name="Line 44"/>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45"/>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46"/>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47"/>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4" name="Text Box 48"/>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52" name="Group 49"/>
          <p:cNvGrpSpPr/>
          <p:nvPr/>
        </p:nvGrpSpPr>
        <p:grpSpPr bwMode="auto">
          <a:xfrm>
            <a:off x="5389944" y="2143125"/>
            <a:ext cx="514350" cy="609600"/>
            <a:chOff x="2160" y="1344"/>
            <a:chExt cx="324" cy="384"/>
          </a:xfrm>
        </p:grpSpPr>
        <p:sp>
          <p:nvSpPr>
            <p:cNvPr id="53" name="Rectangle 50"/>
            <p:cNvSpPr>
              <a:spLocks noChangeArrowheads="1"/>
            </p:cNvSpPr>
            <p:nvPr/>
          </p:nvSpPr>
          <p:spPr bwMode="auto">
            <a:xfrm>
              <a:off x="2207" y="1487"/>
              <a:ext cx="188" cy="236"/>
            </a:xfrm>
            <a:prstGeom prst="rect">
              <a:avLst/>
            </a:prstGeom>
            <a:noFill/>
            <a:ln w="19050">
              <a:solidFill>
                <a:srgbClr val="FF3300"/>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54" name="AutoShape 51"/>
            <p:cNvCxnSpPr>
              <a:cxnSpLocks noChangeShapeType="1"/>
              <a:stCxn id="53" idx="0"/>
              <a:endCxn id="53" idx="2"/>
            </p:cNvCxnSpPr>
            <p:nvPr/>
          </p:nvCxnSpPr>
          <p:spPr bwMode="auto">
            <a:xfrm>
              <a:off x="2301" y="1482"/>
              <a:ext cx="0" cy="246"/>
            </a:xfrm>
            <a:prstGeom prst="straightConnector1">
              <a:avLst/>
            </a:prstGeom>
            <a:noFill/>
            <a:ln w="9525">
              <a:solidFill>
                <a:srgbClr val="FF3300"/>
              </a:solidFill>
              <a:round/>
            </a:ln>
            <a:extLst>
              <a:ext uri="{909E8E84-426E-40DD-AFC4-6F175D3DCCD1}">
                <a14:hiddenFill xmlns:a14="http://schemas.microsoft.com/office/drawing/2010/main">
                  <a:noFill/>
                </a14:hiddenFill>
              </a:ext>
            </a:extLst>
          </p:spPr>
        </p:cxnSp>
        <p:cxnSp>
          <p:nvCxnSpPr>
            <p:cNvPr id="55" name="AutoShape 52"/>
            <p:cNvCxnSpPr>
              <a:cxnSpLocks noChangeShapeType="1"/>
              <a:stCxn id="53" idx="1"/>
              <a:endCxn id="53" idx="3"/>
            </p:cNvCxnSpPr>
            <p:nvPr/>
          </p:nvCxnSpPr>
          <p:spPr bwMode="auto">
            <a:xfrm>
              <a:off x="2202" y="1605"/>
              <a:ext cx="198" cy="0"/>
            </a:xfrm>
            <a:prstGeom prst="straightConnector1">
              <a:avLst/>
            </a:prstGeom>
            <a:noFill/>
            <a:ln w="9525">
              <a:solidFill>
                <a:srgbClr val="FF3300"/>
              </a:solidFill>
              <a:round/>
            </a:ln>
            <a:extLst>
              <a:ext uri="{909E8E84-426E-40DD-AFC4-6F175D3DCCD1}">
                <a14:hiddenFill xmlns:a14="http://schemas.microsoft.com/office/drawing/2010/main">
                  <a:noFill/>
                </a14:hiddenFill>
              </a:ext>
            </a:extLst>
          </p:spPr>
        </p:cxnSp>
        <p:sp>
          <p:nvSpPr>
            <p:cNvPr id="56" name="Line 53"/>
            <p:cNvSpPr>
              <a:spLocks noChangeShapeType="1"/>
            </p:cNvSpPr>
            <p:nvPr/>
          </p:nvSpPr>
          <p:spPr bwMode="auto">
            <a:xfrm>
              <a:off x="2207" y="1526"/>
              <a:ext cx="188"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54"/>
            <p:cNvSpPr>
              <a:spLocks noChangeShapeType="1"/>
            </p:cNvSpPr>
            <p:nvPr/>
          </p:nvSpPr>
          <p:spPr bwMode="auto">
            <a:xfrm>
              <a:off x="2207" y="1566"/>
              <a:ext cx="188"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55"/>
            <p:cNvSpPr>
              <a:spLocks noChangeShapeType="1"/>
            </p:cNvSpPr>
            <p:nvPr/>
          </p:nvSpPr>
          <p:spPr bwMode="auto">
            <a:xfrm>
              <a:off x="2207" y="1644"/>
              <a:ext cx="188" cy="0"/>
            </a:xfrm>
            <a:prstGeom prst="line">
              <a:avLst/>
            </a:prstGeom>
            <a:noFill/>
            <a:ln w="9525">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56"/>
            <p:cNvSpPr>
              <a:spLocks noChangeShapeType="1"/>
            </p:cNvSpPr>
            <p:nvPr/>
          </p:nvSpPr>
          <p:spPr bwMode="auto">
            <a:xfrm>
              <a:off x="2207" y="1684"/>
              <a:ext cx="1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 name="Text Box 57"/>
            <p:cNvSpPr txBox="1">
              <a:spLocks noChangeArrowheads="1"/>
            </p:cNvSpPr>
            <p:nvPr/>
          </p:nvSpPr>
          <p:spPr bwMode="auto">
            <a:xfrm>
              <a:off x="2160" y="1344"/>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61" name="Group 58"/>
          <p:cNvGrpSpPr/>
          <p:nvPr/>
        </p:nvGrpSpPr>
        <p:grpSpPr bwMode="auto">
          <a:xfrm>
            <a:off x="7447344" y="3057525"/>
            <a:ext cx="514350" cy="609600"/>
            <a:chOff x="240" y="1392"/>
            <a:chExt cx="324" cy="384"/>
          </a:xfrm>
        </p:grpSpPr>
        <p:grpSp>
          <p:nvGrpSpPr>
            <p:cNvPr id="62" name="Group 59"/>
            <p:cNvGrpSpPr/>
            <p:nvPr/>
          </p:nvGrpSpPr>
          <p:grpSpPr bwMode="auto">
            <a:xfrm>
              <a:off x="282" y="1530"/>
              <a:ext cx="198" cy="246"/>
              <a:chOff x="282" y="1530"/>
              <a:chExt cx="252" cy="300"/>
            </a:xfrm>
          </p:grpSpPr>
          <p:sp>
            <p:nvSpPr>
              <p:cNvPr id="64" name="Rectangle 6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65" name="AutoShape 61"/>
              <p:cNvCxnSpPr>
                <a:cxnSpLocks noChangeShapeType="1"/>
                <a:stCxn id="64" idx="0"/>
                <a:endCxn id="6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66" name="AutoShape 62"/>
              <p:cNvCxnSpPr>
                <a:cxnSpLocks noChangeShapeType="1"/>
                <a:stCxn id="64" idx="1"/>
                <a:endCxn id="6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67" name="Line 6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6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6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 name="Line 6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3" name="Text Box 6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71" name="Group 68"/>
          <p:cNvGrpSpPr/>
          <p:nvPr/>
        </p:nvGrpSpPr>
        <p:grpSpPr bwMode="auto">
          <a:xfrm>
            <a:off x="9352344" y="3971925"/>
            <a:ext cx="514350" cy="609600"/>
            <a:chOff x="240" y="1392"/>
            <a:chExt cx="324" cy="384"/>
          </a:xfrm>
        </p:grpSpPr>
        <p:grpSp>
          <p:nvGrpSpPr>
            <p:cNvPr id="72" name="Group 69"/>
            <p:cNvGrpSpPr/>
            <p:nvPr/>
          </p:nvGrpSpPr>
          <p:grpSpPr bwMode="auto">
            <a:xfrm>
              <a:off x="282" y="1530"/>
              <a:ext cx="198" cy="246"/>
              <a:chOff x="282" y="1530"/>
              <a:chExt cx="252" cy="300"/>
            </a:xfrm>
          </p:grpSpPr>
          <p:sp>
            <p:nvSpPr>
              <p:cNvPr id="74" name="Rectangle 7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75" name="AutoShape 71"/>
              <p:cNvCxnSpPr>
                <a:cxnSpLocks noChangeShapeType="1"/>
                <a:stCxn id="74" idx="0"/>
                <a:endCxn id="7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76" name="AutoShape 72"/>
              <p:cNvCxnSpPr>
                <a:cxnSpLocks noChangeShapeType="1"/>
                <a:stCxn id="74" idx="1"/>
                <a:endCxn id="7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77" name="Line 7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 name="Line 7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 name="Line 7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0" name="Line 7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3" name="Text Box 7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81" name="Group 78"/>
          <p:cNvGrpSpPr/>
          <p:nvPr/>
        </p:nvGrpSpPr>
        <p:grpSpPr bwMode="auto">
          <a:xfrm>
            <a:off x="8742744" y="2295525"/>
            <a:ext cx="514350" cy="609600"/>
            <a:chOff x="240" y="1392"/>
            <a:chExt cx="324" cy="384"/>
          </a:xfrm>
        </p:grpSpPr>
        <p:grpSp>
          <p:nvGrpSpPr>
            <p:cNvPr id="82" name="Group 79"/>
            <p:cNvGrpSpPr/>
            <p:nvPr/>
          </p:nvGrpSpPr>
          <p:grpSpPr bwMode="auto">
            <a:xfrm>
              <a:off x="282" y="1530"/>
              <a:ext cx="198" cy="246"/>
              <a:chOff x="282" y="1530"/>
              <a:chExt cx="252" cy="300"/>
            </a:xfrm>
          </p:grpSpPr>
          <p:sp>
            <p:nvSpPr>
              <p:cNvPr id="84" name="Rectangle 8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85" name="AutoShape 81"/>
              <p:cNvCxnSpPr>
                <a:cxnSpLocks noChangeShapeType="1"/>
                <a:stCxn id="84" idx="0"/>
                <a:endCxn id="8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86" name="AutoShape 82"/>
              <p:cNvCxnSpPr>
                <a:cxnSpLocks noChangeShapeType="1"/>
                <a:stCxn id="84" idx="1"/>
                <a:endCxn id="8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87" name="Line 8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 name="Line 8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9" name="Line 8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 name="Line 8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3" name="Text Box 8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91" name="Group 88"/>
          <p:cNvGrpSpPr/>
          <p:nvPr/>
        </p:nvGrpSpPr>
        <p:grpSpPr bwMode="auto">
          <a:xfrm>
            <a:off x="4372356" y="5886450"/>
            <a:ext cx="514350" cy="619125"/>
            <a:chOff x="1584" y="3552"/>
            <a:chExt cx="324" cy="390"/>
          </a:xfrm>
        </p:grpSpPr>
        <p:grpSp>
          <p:nvGrpSpPr>
            <p:cNvPr id="92" name="Group 89"/>
            <p:cNvGrpSpPr/>
            <p:nvPr/>
          </p:nvGrpSpPr>
          <p:grpSpPr bwMode="auto">
            <a:xfrm>
              <a:off x="1632" y="3696"/>
              <a:ext cx="198" cy="246"/>
              <a:chOff x="282" y="1530"/>
              <a:chExt cx="252" cy="300"/>
            </a:xfrm>
          </p:grpSpPr>
          <p:sp>
            <p:nvSpPr>
              <p:cNvPr id="94" name="Rectangle 9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95" name="AutoShape 91"/>
              <p:cNvCxnSpPr>
                <a:cxnSpLocks noChangeShapeType="1"/>
                <a:stCxn id="94" idx="0"/>
                <a:endCxn id="9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96" name="AutoShape 92"/>
              <p:cNvCxnSpPr>
                <a:cxnSpLocks noChangeShapeType="1"/>
                <a:stCxn id="94" idx="1"/>
                <a:endCxn id="9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97" name="Line 9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8" name="Line 9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 name="Line 9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0" name="Line 9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3" name="Text Box 97"/>
            <p:cNvSpPr txBox="1">
              <a:spLocks noChangeArrowheads="1"/>
            </p:cNvSpPr>
            <p:nvPr/>
          </p:nvSpPr>
          <p:spPr bwMode="auto">
            <a:xfrm>
              <a:off x="1584" y="355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latin typeface="Comic Sans MS" panose="030F0702030302020204" pitchFamily="66" charset="0"/>
                </a:rPr>
                <a:t>K  V</a:t>
              </a:r>
              <a:endParaRPr lang="en-US" altLang="zh-CN" sz="1200" b="1">
                <a:latin typeface="Comic Sans MS" panose="030F0702030302020204" pitchFamily="66" charset="0"/>
              </a:endParaRPr>
            </a:p>
          </p:txBody>
        </p:sp>
      </p:grpSp>
      <p:grpSp>
        <p:nvGrpSpPr>
          <p:cNvPr id="101" name="Group 98"/>
          <p:cNvGrpSpPr/>
          <p:nvPr/>
        </p:nvGrpSpPr>
        <p:grpSpPr bwMode="auto">
          <a:xfrm>
            <a:off x="9428544" y="5267325"/>
            <a:ext cx="514350" cy="609600"/>
            <a:chOff x="240" y="1392"/>
            <a:chExt cx="324" cy="384"/>
          </a:xfrm>
        </p:grpSpPr>
        <p:grpSp>
          <p:nvGrpSpPr>
            <p:cNvPr id="102" name="Group 99"/>
            <p:cNvGrpSpPr/>
            <p:nvPr/>
          </p:nvGrpSpPr>
          <p:grpSpPr bwMode="auto">
            <a:xfrm>
              <a:off x="282" y="1530"/>
              <a:ext cx="198" cy="246"/>
              <a:chOff x="282" y="1530"/>
              <a:chExt cx="252" cy="300"/>
            </a:xfrm>
          </p:grpSpPr>
          <p:sp>
            <p:nvSpPr>
              <p:cNvPr id="104" name="Rectangle 10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105" name="AutoShape 101"/>
              <p:cNvCxnSpPr>
                <a:cxnSpLocks noChangeShapeType="1"/>
                <a:stCxn id="104" idx="0"/>
                <a:endCxn id="10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106" name="AutoShape 102"/>
              <p:cNvCxnSpPr>
                <a:cxnSpLocks noChangeShapeType="1"/>
                <a:stCxn id="104" idx="1"/>
                <a:endCxn id="10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107" name="Line 10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8" name="Line 10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9" name="Line 10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 name="Line 10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3" name="Text Box 10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111" name="Group 108"/>
          <p:cNvGrpSpPr/>
          <p:nvPr/>
        </p:nvGrpSpPr>
        <p:grpSpPr bwMode="auto">
          <a:xfrm>
            <a:off x="2265744" y="4810125"/>
            <a:ext cx="514350" cy="609600"/>
            <a:chOff x="240" y="1392"/>
            <a:chExt cx="324" cy="384"/>
          </a:xfrm>
        </p:grpSpPr>
        <p:grpSp>
          <p:nvGrpSpPr>
            <p:cNvPr id="112" name="Group 109"/>
            <p:cNvGrpSpPr/>
            <p:nvPr/>
          </p:nvGrpSpPr>
          <p:grpSpPr bwMode="auto">
            <a:xfrm>
              <a:off x="282" y="1530"/>
              <a:ext cx="198" cy="246"/>
              <a:chOff x="282" y="1530"/>
              <a:chExt cx="252" cy="300"/>
            </a:xfrm>
          </p:grpSpPr>
          <p:sp>
            <p:nvSpPr>
              <p:cNvPr id="114" name="Rectangle 11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115" name="AutoShape 111"/>
              <p:cNvCxnSpPr>
                <a:cxnSpLocks noChangeShapeType="1"/>
                <a:stCxn id="114" idx="0"/>
                <a:endCxn id="11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116" name="AutoShape 112"/>
              <p:cNvCxnSpPr>
                <a:cxnSpLocks noChangeShapeType="1"/>
                <a:stCxn id="114" idx="1"/>
                <a:endCxn id="11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117" name="Line 11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 name="Line 11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 name="Line 11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 name="Line 11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13" name="Text Box 11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121" name="Group 118"/>
          <p:cNvGrpSpPr/>
          <p:nvPr/>
        </p:nvGrpSpPr>
        <p:grpSpPr bwMode="auto">
          <a:xfrm>
            <a:off x="5389944" y="3514725"/>
            <a:ext cx="514350" cy="609600"/>
            <a:chOff x="240" y="1392"/>
            <a:chExt cx="324" cy="384"/>
          </a:xfrm>
        </p:grpSpPr>
        <p:grpSp>
          <p:nvGrpSpPr>
            <p:cNvPr id="122" name="Group 119"/>
            <p:cNvGrpSpPr/>
            <p:nvPr/>
          </p:nvGrpSpPr>
          <p:grpSpPr bwMode="auto">
            <a:xfrm>
              <a:off x="282" y="1530"/>
              <a:ext cx="198" cy="246"/>
              <a:chOff x="282" y="1530"/>
              <a:chExt cx="252" cy="300"/>
            </a:xfrm>
          </p:grpSpPr>
          <p:sp>
            <p:nvSpPr>
              <p:cNvPr id="124" name="Rectangle 12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125" name="AutoShape 121"/>
              <p:cNvCxnSpPr>
                <a:cxnSpLocks noChangeShapeType="1"/>
                <a:stCxn id="124" idx="0"/>
                <a:endCxn id="12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126" name="AutoShape 122"/>
              <p:cNvCxnSpPr>
                <a:cxnSpLocks noChangeShapeType="1"/>
                <a:stCxn id="124" idx="1"/>
                <a:endCxn id="12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127" name="Line 12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 name="Line 12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9" name="Line 12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0" name="Line 12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23" name="Text Box 12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grpSp>
        <p:nvGrpSpPr>
          <p:cNvPr id="131" name="Group 128"/>
          <p:cNvGrpSpPr/>
          <p:nvPr/>
        </p:nvGrpSpPr>
        <p:grpSpPr bwMode="auto">
          <a:xfrm>
            <a:off x="4094544" y="4048125"/>
            <a:ext cx="514350" cy="609600"/>
            <a:chOff x="240" y="1392"/>
            <a:chExt cx="324" cy="384"/>
          </a:xfrm>
        </p:grpSpPr>
        <p:grpSp>
          <p:nvGrpSpPr>
            <p:cNvPr id="132" name="Group 129"/>
            <p:cNvGrpSpPr/>
            <p:nvPr/>
          </p:nvGrpSpPr>
          <p:grpSpPr bwMode="auto">
            <a:xfrm>
              <a:off x="282" y="1530"/>
              <a:ext cx="198" cy="246"/>
              <a:chOff x="282" y="1530"/>
              <a:chExt cx="252" cy="300"/>
            </a:xfrm>
          </p:grpSpPr>
          <p:sp>
            <p:nvSpPr>
              <p:cNvPr id="134" name="Rectangle 130"/>
              <p:cNvSpPr>
                <a:spLocks noChangeArrowheads="1"/>
              </p:cNvSpPr>
              <p:nvPr/>
            </p:nvSpPr>
            <p:spPr bwMode="auto">
              <a:xfrm>
                <a:off x="288" y="1536"/>
                <a:ext cx="239" cy="288"/>
              </a:xfrm>
              <a:prstGeom prst="rect">
                <a:avLst/>
              </a:prstGeom>
              <a:noFill/>
              <a:ln w="19050">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cxnSp>
            <p:nvCxnSpPr>
              <p:cNvPr id="135" name="AutoShape 131"/>
              <p:cNvCxnSpPr>
                <a:cxnSpLocks noChangeShapeType="1"/>
                <a:stCxn id="134" idx="0"/>
                <a:endCxn id="134" idx="2"/>
              </p:cNvCxnSpPr>
              <p:nvPr/>
            </p:nvCxnSpPr>
            <p:spPr bwMode="auto">
              <a:xfrm>
                <a:off x="408" y="1530"/>
                <a:ext cx="0" cy="3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136" name="AutoShape 132"/>
              <p:cNvCxnSpPr>
                <a:cxnSpLocks noChangeShapeType="1"/>
                <a:stCxn id="134" idx="1"/>
                <a:endCxn id="134" idx="3"/>
              </p:cNvCxnSpPr>
              <p:nvPr/>
            </p:nvCxnSpPr>
            <p:spPr bwMode="auto">
              <a:xfrm>
                <a:off x="282" y="1680"/>
                <a:ext cx="252"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137" name="Line 133"/>
              <p:cNvSpPr>
                <a:spLocks noChangeShapeType="1"/>
              </p:cNvSpPr>
              <p:nvPr/>
            </p:nvSpPr>
            <p:spPr bwMode="auto">
              <a:xfrm>
                <a:off x="288" y="1584"/>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 name="Line 134"/>
              <p:cNvSpPr>
                <a:spLocks noChangeShapeType="1"/>
              </p:cNvSpPr>
              <p:nvPr/>
            </p:nvSpPr>
            <p:spPr bwMode="auto">
              <a:xfrm>
                <a:off x="288" y="1632"/>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9" name="Line 135"/>
              <p:cNvSpPr>
                <a:spLocks noChangeShapeType="1"/>
              </p:cNvSpPr>
              <p:nvPr/>
            </p:nvSpPr>
            <p:spPr bwMode="auto">
              <a:xfrm>
                <a:off x="288" y="1728"/>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0" name="Line 136"/>
              <p:cNvSpPr>
                <a:spLocks noChangeShapeType="1"/>
              </p:cNvSpPr>
              <p:nvPr/>
            </p:nvSpPr>
            <p:spPr bwMode="auto">
              <a:xfrm>
                <a:off x="288" y="1776"/>
                <a:ext cx="24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33" name="Text Box 137"/>
            <p:cNvSpPr txBox="1">
              <a:spLocks noChangeArrowheads="1"/>
            </p:cNvSpPr>
            <p:nvPr/>
          </p:nvSpPr>
          <p:spPr bwMode="auto">
            <a:xfrm>
              <a:off x="240" y="1392"/>
              <a:ext cx="3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200" b="1">
                  <a:solidFill>
                    <a:schemeClr val="tx2"/>
                  </a:solidFill>
                  <a:latin typeface="Comic Sans MS" panose="030F0702030302020204" pitchFamily="66" charset="0"/>
                </a:rPr>
                <a:t>K  V</a:t>
              </a:r>
              <a:endParaRPr lang="en-US" altLang="zh-CN" sz="1200" b="1">
                <a:solidFill>
                  <a:schemeClr val="tx2"/>
                </a:solidFill>
                <a:latin typeface="Comic Sans MS" panose="030F0702030302020204" pitchFamily="66" charset="0"/>
              </a:endParaRPr>
            </a:p>
          </p:txBody>
        </p:sp>
      </p:grpSp>
      <p:sp>
        <p:nvSpPr>
          <p:cNvPr id="141" name="Text Box 138"/>
          <p:cNvSpPr txBox="1">
            <a:spLocks noChangeArrowheads="1"/>
          </p:cNvSpPr>
          <p:nvPr/>
        </p:nvSpPr>
        <p:spPr bwMode="auto">
          <a:xfrm>
            <a:off x="4434269" y="1990725"/>
            <a:ext cx="9255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solidFill>
                  <a:srgbClr val="FF3300"/>
                </a:solidFill>
                <a:latin typeface="Comic Sans MS" panose="030F0702030302020204" pitchFamily="66" charset="0"/>
              </a:rPr>
              <a:t>(K</a:t>
            </a:r>
            <a:r>
              <a:rPr lang="en-US" altLang="zh-CN" b="1" baseline="-25000">
                <a:solidFill>
                  <a:srgbClr val="FF3300"/>
                </a:solidFill>
                <a:latin typeface="Comic Sans MS" panose="030F0702030302020204" pitchFamily="66" charset="0"/>
              </a:rPr>
              <a:t>1</a:t>
            </a:r>
            <a:r>
              <a:rPr lang="en-US" altLang="zh-CN" b="1">
                <a:solidFill>
                  <a:srgbClr val="FF3300"/>
                </a:solidFill>
                <a:latin typeface="Comic Sans MS" panose="030F0702030302020204" pitchFamily="66" charset="0"/>
              </a:rPr>
              <a:t>,V</a:t>
            </a:r>
            <a:r>
              <a:rPr lang="en-US" altLang="zh-CN" b="1" baseline="-25000">
                <a:solidFill>
                  <a:srgbClr val="FF3300"/>
                </a:solidFill>
                <a:latin typeface="Comic Sans MS" panose="030F0702030302020204" pitchFamily="66" charset="0"/>
              </a:rPr>
              <a:t>1</a:t>
            </a:r>
            <a:r>
              <a:rPr lang="en-US" altLang="zh-CN" b="1">
                <a:solidFill>
                  <a:srgbClr val="FF3300"/>
                </a:solidFill>
                <a:latin typeface="Comic Sans MS" panose="030F0702030302020204" pitchFamily="66" charset="0"/>
              </a:rPr>
              <a:t>)</a:t>
            </a:r>
            <a:endParaRPr lang="en-US" altLang="zh-CN" b="1">
              <a:solidFill>
                <a:srgbClr val="FF3300"/>
              </a:solidFill>
              <a:latin typeface="Comic Sans MS" panose="030F0702030302020204" pitchFamily="66" charset="0"/>
            </a:endParaRPr>
          </a:p>
        </p:txBody>
      </p:sp>
      <p:cxnSp>
        <p:nvCxnSpPr>
          <p:cNvPr id="142" name="AutoShape 139"/>
          <p:cNvCxnSpPr>
            <a:cxnSpLocks noChangeShapeType="1"/>
            <a:stCxn id="134" idx="1"/>
            <a:endCxn id="134" idx="3"/>
          </p:cNvCxnSpPr>
          <p:nvPr/>
        </p:nvCxnSpPr>
        <p:spPr bwMode="auto">
          <a:xfrm rot="16200000" flipH="1">
            <a:off x="5075618" y="2178051"/>
            <a:ext cx="200025" cy="558800"/>
          </a:xfrm>
          <a:prstGeom prst="curvedConnector2">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43" name="Line 140"/>
          <p:cNvSpPr>
            <a:spLocks noChangeShapeType="1"/>
          </p:cNvSpPr>
          <p:nvPr/>
        </p:nvSpPr>
        <p:spPr bwMode="auto">
          <a:xfrm flipH="1" flipV="1">
            <a:off x="9125331" y="4951413"/>
            <a:ext cx="71438" cy="574675"/>
          </a:xfrm>
          <a:prstGeom prst="line">
            <a:avLst/>
          </a:prstGeom>
          <a:noFill/>
          <a:ln w="9525">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4" name="Line 141"/>
          <p:cNvSpPr>
            <a:spLocks noChangeShapeType="1"/>
          </p:cNvSpPr>
          <p:nvPr/>
        </p:nvSpPr>
        <p:spPr bwMode="auto">
          <a:xfrm flipH="1" flipV="1">
            <a:off x="7756906" y="4086225"/>
            <a:ext cx="647700" cy="360363"/>
          </a:xfrm>
          <a:prstGeom prst="line">
            <a:avLst/>
          </a:prstGeom>
          <a:noFill/>
          <a:ln w="9525">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5" name="Line 142"/>
          <p:cNvSpPr>
            <a:spLocks noChangeShapeType="1"/>
          </p:cNvSpPr>
          <p:nvPr/>
        </p:nvSpPr>
        <p:spPr bwMode="auto">
          <a:xfrm flipH="1" flipV="1">
            <a:off x="6532944" y="3078163"/>
            <a:ext cx="360362" cy="360362"/>
          </a:xfrm>
          <a:prstGeom prst="line">
            <a:avLst/>
          </a:prstGeom>
          <a:noFill/>
          <a:ln w="9525">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 name="Text Box 143"/>
          <p:cNvSpPr txBox="1">
            <a:spLocks noChangeArrowheads="1"/>
          </p:cNvSpPr>
          <p:nvPr/>
        </p:nvSpPr>
        <p:spPr bwMode="auto">
          <a:xfrm>
            <a:off x="8223631" y="5238750"/>
            <a:ext cx="1039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b="1">
                <a:latin typeface="Comic Sans MS" panose="030F0702030302020204" pitchFamily="66" charset="0"/>
              </a:rPr>
              <a:t>查询</a:t>
            </a:r>
            <a:r>
              <a:rPr lang="en-US" altLang="zh-CN" b="1">
                <a:latin typeface="Comic Sans MS" panose="030F0702030302020204" pitchFamily="66" charset="0"/>
              </a:rPr>
              <a:t>(K</a:t>
            </a:r>
            <a:r>
              <a:rPr lang="en-US" altLang="zh-CN" b="1" baseline="-25000">
                <a:latin typeface="Comic Sans MS" panose="030F0702030302020204" pitchFamily="66" charset="0"/>
              </a:rPr>
              <a:t>1</a:t>
            </a:r>
            <a:r>
              <a:rPr lang="en-US" altLang="zh-CN" b="1">
                <a:latin typeface="Comic Sans MS" panose="030F0702030302020204" pitchFamily="66" charset="0"/>
              </a:rPr>
              <a:t>)</a:t>
            </a:r>
            <a:endParaRPr lang="en-US" altLang="zh-CN" b="1">
              <a:latin typeface="Comic Sans MS" panose="030F0702030302020204" pitchFamily="66" charset="0"/>
            </a:endParaRPr>
          </a:p>
        </p:txBody>
      </p:sp>
      <p:sp>
        <p:nvSpPr>
          <p:cNvPr id="147" name="Line 144"/>
          <p:cNvSpPr>
            <a:spLocks noChangeShapeType="1"/>
          </p:cNvSpPr>
          <p:nvPr/>
        </p:nvSpPr>
        <p:spPr bwMode="auto">
          <a:xfrm>
            <a:off x="3148394" y="5670550"/>
            <a:ext cx="5832475" cy="21590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 name="Text Box 145"/>
          <p:cNvSpPr txBox="1">
            <a:spLocks noChangeArrowheads="1"/>
          </p:cNvSpPr>
          <p:nvPr/>
        </p:nvSpPr>
        <p:spPr bwMode="auto">
          <a:xfrm>
            <a:off x="1960944" y="5526088"/>
            <a:ext cx="1041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b="1">
                <a:latin typeface="Times New Roman" panose="02020603050405020304" pitchFamily="18" charset="0"/>
              </a:rPr>
              <a:t>A</a:t>
            </a:r>
            <a:endParaRPr lang="en-US" altLang="zh-CN" b="1">
              <a:latin typeface="Times New Roman" panose="02020603050405020304" pitchFamily="18" charset="0"/>
            </a:endParaRPr>
          </a:p>
          <a:p>
            <a:pPr algn="ctr" eaLnBrk="1" hangingPunct="1">
              <a:buFont typeface="Arial" panose="020B0604020202020204" pitchFamily="34" charset="0"/>
              <a:buNone/>
            </a:pPr>
            <a:r>
              <a:rPr lang="en-US" altLang="zh-CN" b="1">
                <a:latin typeface="Times New Roman" panose="02020603050405020304" pitchFamily="18" charset="0"/>
              </a:rPr>
              <a:t>128.1.2.3</a:t>
            </a:r>
            <a:endParaRPr lang="en-US" altLang="zh-CN" b="1">
              <a:latin typeface="Times New Roman" panose="02020603050405020304" pitchFamily="18" charset="0"/>
            </a:endParaRPr>
          </a:p>
        </p:txBody>
      </p:sp>
      <p:sp>
        <p:nvSpPr>
          <p:cNvPr id="149" name="Text Box 146"/>
          <p:cNvSpPr txBox="1">
            <a:spLocks noChangeArrowheads="1"/>
          </p:cNvSpPr>
          <p:nvPr/>
        </p:nvSpPr>
        <p:spPr bwMode="auto">
          <a:xfrm>
            <a:off x="9103106" y="61198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b="1">
                <a:latin typeface="Times New Roman" panose="02020603050405020304" pitchFamily="18" charset="0"/>
              </a:rPr>
              <a:t>B</a:t>
            </a:r>
            <a:endParaRPr lang="en-US" altLang="zh-CN" b="1">
              <a:latin typeface="Times New Roman" panose="02020603050405020304" pitchFamily="18" charset="0"/>
            </a:endParaRPr>
          </a:p>
        </p:txBody>
      </p:sp>
      <p:sp>
        <p:nvSpPr>
          <p:cNvPr id="150" name="Text Box 147"/>
          <p:cNvSpPr txBox="1">
            <a:spLocks noChangeArrowheads="1"/>
          </p:cNvSpPr>
          <p:nvPr/>
        </p:nvSpPr>
        <p:spPr bwMode="auto">
          <a:xfrm>
            <a:off x="1819656" y="4124325"/>
            <a:ext cx="17700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1400" b="1">
                <a:solidFill>
                  <a:srgbClr val="FF3300"/>
                </a:solidFill>
              </a:rPr>
              <a:t>K1=Hash(xyz.mp3)</a:t>
            </a:r>
            <a:endParaRPr lang="en-US" altLang="zh-CN" sz="1400" b="1">
              <a:solidFill>
                <a:srgbClr val="FF3300"/>
              </a:solidFill>
            </a:endParaRPr>
          </a:p>
          <a:p>
            <a:pPr eaLnBrk="1" hangingPunct="1">
              <a:buFont typeface="Arial" panose="020B0604020202020204" pitchFamily="34" charset="0"/>
              <a:buNone/>
            </a:pPr>
            <a:r>
              <a:rPr lang="en-US" altLang="zh-CN" sz="1400" b="1">
                <a:solidFill>
                  <a:srgbClr val="FF3300"/>
                </a:solidFill>
              </a:rPr>
              <a:t>V1=128.1.2.3</a:t>
            </a:r>
            <a:endParaRPr lang="en-US" altLang="zh-CN" sz="1400" b="1">
              <a:solidFill>
                <a:srgbClr val="FF3300"/>
              </a:solidFill>
            </a:endParaRPr>
          </a:p>
        </p:txBody>
      </p:sp>
      <p:sp>
        <p:nvSpPr>
          <p:cNvPr id="151" name="Text Box 148"/>
          <p:cNvSpPr txBox="1">
            <a:spLocks noChangeArrowheads="1"/>
          </p:cNvSpPr>
          <p:nvPr/>
        </p:nvSpPr>
        <p:spPr bwMode="auto">
          <a:xfrm rot="236834">
            <a:off x="5596319" y="5819775"/>
            <a:ext cx="11541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b="1"/>
              <a:t>xyz.mp3</a:t>
            </a:r>
            <a:endParaRPr lang="en-US" altLang="zh-CN" b="1"/>
          </a:p>
        </p:txBody>
      </p:sp>
      <p:sp>
        <p:nvSpPr>
          <p:cNvPr id="152" name="Text Box 149"/>
          <p:cNvSpPr txBox="1">
            <a:spLocks noChangeArrowheads="1"/>
          </p:cNvSpPr>
          <p:nvPr/>
        </p:nvSpPr>
        <p:spPr bwMode="auto">
          <a:xfrm>
            <a:off x="5826506" y="215741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b="1">
                <a:latin typeface="Times New Roman" panose="02020603050405020304" pitchFamily="18" charset="0"/>
              </a:rPr>
              <a:t>C</a:t>
            </a:r>
            <a:endParaRPr lang="en-US" altLang="zh-CN" b="1">
              <a:latin typeface="Times New Roman" panose="02020603050405020304" pitchFamily="18" charset="0"/>
            </a:endParaRPr>
          </a:p>
        </p:txBody>
      </p:sp>
      <p:pic>
        <p:nvPicPr>
          <p:cNvPr id="153" name="Picture 151"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8056" y="25241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152"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8256" y="2465388"/>
            <a:ext cx="6350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 name="Picture 153"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8456" y="30575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 name="Picture 154"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80856" y="5589588"/>
            <a:ext cx="6350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 name="Picture 155"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728456" y="42767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 name="Picture 156"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44056" y="48863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 name="Picture 157"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53456" y="41243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0" name="Picture 158" descr="co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99656" y="3362325"/>
            <a:ext cx="6350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par>
                                <p:cTn id="8" presetID="3" presetClass="entr" presetSubtype="1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blinds(horizontal)">
                                      <p:cBhvr>
                                        <p:cTn id="10" dur="500"/>
                                        <p:tgtEl>
                                          <p:spTgt spid="28"/>
                                        </p:tgtEl>
                                      </p:cBhvr>
                                    </p:animEffect>
                                  </p:childTnLst>
                                </p:cTn>
                              </p:par>
                              <p:par>
                                <p:cTn id="11" presetID="3" presetClass="entr" presetSubtype="1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blinds(horizontal)">
                                      <p:cBhvr>
                                        <p:cTn id="13" dur="500"/>
                                        <p:tgtEl>
                                          <p:spTgt spid="29"/>
                                        </p:tgtEl>
                                      </p:cBhvr>
                                    </p:animEffect>
                                  </p:childTnLst>
                                </p:cTn>
                              </p:par>
                              <p:par>
                                <p:cTn id="14" presetID="3" presetClass="entr" presetSubtype="1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linds(horizontal)">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41"/>
                                        </p:tgtEl>
                                        <p:attrNameLst>
                                          <p:attrName>style.visibility</p:attrName>
                                        </p:attrNameLst>
                                      </p:cBhvr>
                                      <p:to>
                                        <p:strVal val="visible"/>
                                      </p:to>
                                    </p:set>
                                    <p:animEffect transition="in" filter="blinds(horizontal)">
                                      <p:cBhvr>
                                        <p:cTn id="21" dur="500"/>
                                        <p:tgtEl>
                                          <p:spTgt spid="141"/>
                                        </p:tgtEl>
                                      </p:cBhvr>
                                    </p:animEffect>
                                  </p:childTnLst>
                                </p:cTn>
                              </p:par>
                              <p:par>
                                <p:cTn id="22" presetID="3" presetClass="entr" presetSubtype="10" fill="hold" nodeType="withEffect">
                                  <p:stCondLst>
                                    <p:cond delay="0"/>
                                  </p:stCondLst>
                                  <p:childTnLst>
                                    <p:set>
                                      <p:cBhvr>
                                        <p:cTn id="23" dur="1" fill="hold">
                                          <p:stCondLst>
                                            <p:cond delay="0"/>
                                          </p:stCondLst>
                                        </p:cTn>
                                        <p:tgtEl>
                                          <p:spTgt spid="142"/>
                                        </p:tgtEl>
                                        <p:attrNameLst>
                                          <p:attrName>style.visibility</p:attrName>
                                        </p:attrNameLst>
                                      </p:cBhvr>
                                      <p:to>
                                        <p:strVal val="visible"/>
                                      </p:to>
                                    </p:set>
                                    <p:animEffect transition="in" filter="blinds(horizontal)">
                                      <p:cBhvr>
                                        <p:cTn id="24" dur="500"/>
                                        <p:tgtEl>
                                          <p:spTgt spid="14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46"/>
                                        </p:tgtEl>
                                        <p:attrNameLst>
                                          <p:attrName>style.visibility</p:attrName>
                                        </p:attrNameLst>
                                      </p:cBhvr>
                                      <p:to>
                                        <p:strVal val="visible"/>
                                      </p:to>
                                    </p:set>
                                    <p:animEffect transition="in" filter="blinds(horizontal)">
                                      <p:cBhvr>
                                        <p:cTn id="29" dur="500"/>
                                        <p:tgtEl>
                                          <p:spTgt spid="146"/>
                                        </p:tgtEl>
                                      </p:cBhvr>
                                    </p:animEffect>
                                  </p:childTnLst>
                                </p:cTn>
                              </p:par>
                              <p:par>
                                <p:cTn id="30" presetID="3" presetClass="entr" presetSubtype="10" fill="hold" nodeType="withEffect">
                                  <p:stCondLst>
                                    <p:cond delay="0"/>
                                  </p:stCondLst>
                                  <p:childTnLst>
                                    <p:set>
                                      <p:cBhvr>
                                        <p:cTn id="31" dur="1" fill="hold">
                                          <p:stCondLst>
                                            <p:cond delay="0"/>
                                          </p:stCondLst>
                                        </p:cTn>
                                        <p:tgtEl>
                                          <p:spTgt spid="143"/>
                                        </p:tgtEl>
                                        <p:attrNameLst>
                                          <p:attrName>style.visibility</p:attrName>
                                        </p:attrNameLst>
                                      </p:cBhvr>
                                      <p:to>
                                        <p:strVal val="visible"/>
                                      </p:to>
                                    </p:set>
                                    <p:animEffect transition="in" filter="blinds(horizontal)">
                                      <p:cBhvr>
                                        <p:cTn id="32" dur="500"/>
                                        <p:tgtEl>
                                          <p:spTgt spid="143"/>
                                        </p:tgtEl>
                                      </p:cBhvr>
                                    </p:animEffect>
                                  </p:childTnLst>
                                </p:cTn>
                              </p:par>
                              <p:par>
                                <p:cTn id="33" presetID="3" presetClass="entr" presetSubtype="10" fill="hold" nodeType="withEffect">
                                  <p:stCondLst>
                                    <p:cond delay="0"/>
                                  </p:stCondLst>
                                  <p:childTnLst>
                                    <p:set>
                                      <p:cBhvr>
                                        <p:cTn id="34" dur="1" fill="hold">
                                          <p:stCondLst>
                                            <p:cond delay="0"/>
                                          </p:stCondLst>
                                        </p:cTn>
                                        <p:tgtEl>
                                          <p:spTgt spid="144"/>
                                        </p:tgtEl>
                                        <p:attrNameLst>
                                          <p:attrName>style.visibility</p:attrName>
                                        </p:attrNameLst>
                                      </p:cBhvr>
                                      <p:to>
                                        <p:strVal val="visible"/>
                                      </p:to>
                                    </p:set>
                                    <p:animEffect transition="in" filter="blinds(horizontal)">
                                      <p:cBhvr>
                                        <p:cTn id="35" dur="500"/>
                                        <p:tgtEl>
                                          <p:spTgt spid="144"/>
                                        </p:tgtEl>
                                      </p:cBhvr>
                                    </p:animEffect>
                                  </p:childTnLst>
                                </p:cTn>
                              </p:par>
                              <p:par>
                                <p:cTn id="36" presetID="3" presetClass="entr" presetSubtype="10" fill="hold" nodeType="withEffect">
                                  <p:stCondLst>
                                    <p:cond delay="0"/>
                                  </p:stCondLst>
                                  <p:childTnLst>
                                    <p:set>
                                      <p:cBhvr>
                                        <p:cTn id="37" dur="1" fill="hold">
                                          <p:stCondLst>
                                            <p:cond delay="0"/>
                                          </p:stCondLst>
                                        </p:cTn>
                                        <p:tgtEl>
                                          <p:spTgt spid="145"/>
                                        </p:tgtEl>
                                        <p:attrNameLst>
                                          <p:attrName>style.visibility</p:attrName>
                                        </p:attrNameLst>
                                      </p:cBhvr>
                                      <p:to>
                                        <p:strVal val="visible"/>
                                      </p:to>
                                    </p:set>
                                    <p:animEffect transition="in" filter="blinds(horizontal)">
                                      <p:cBhvr>
                                        <p:cTn id="38" dur="500"/>
                                        <p:tgtEl>
                                          <p:spTgt spid="145"/>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51"/>
                                        </p:tgtEl>
                                        <p:attrNameLst>
                                          <p:attrName>style.visibility</p:attrName>
                                        </p:attrNameLst>
                                      </p:cBhvr>
                                      <p:to>
                                        <p:strVal val="visible"/>
                                      </p:to>
                                    </p:set>
                                    <p:animEffect transition="in" filter="blinds(horizontal)">
                                      <p:cBhvr>
                                        <p:cTn id="43" dur="500"/>
                                        <p:tgtEl>
                                          <p:spTgt spid="151"/>
                                        </p:tgtEl>
                                      </p:cBhvr>
                                    </p:animEffect>
                                  </p:childTnLst>
                                </p:cTn>
                              </p:par>
                              <p:par>
                                <p:cTn id="44" presetID="3" presetClass="entr" presetSubtype="10" fill="hold" nodeType="withEffect">
                                  <p:stCondLst>
                                    <p:cond delay="0"/>
                                  </p:stCondLst>
                                  <p:childTnLst>
                                    <p:set>
                                      <p:cBhvr>
                                        <p:cTn id="45" dur="1" fill="hold">
                                          <p:stCondLst>
                                            <p:cond delay="0"/>
                                          </p:stCondLst>
                                        </p:cTn>
                                        <p:tgtEl>
                                          <p:spTgt spid="147"/>
                                        </p:tgtEl>
                                        <p:attrNameLst>
                                          <p:attrName>style.visibility</p:attrName>
                                        </p:attrNameLst>
                                      </p:cBhvr>
                                      <p:to>
                                        <p:strVal val="visible"/>
                                      </p:to>
                                    </p:set>
                                    <p:animEffect transition="in" filter="blinds(horizontal)">
                                      <p:cBhvr>
                                        <p:cTn id="46"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141" grpId="0"/>
      <p:bldP spid="146" grpId="0"/>
      <p:bldP spid="151"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DHT</a:t>
            </a:r>
            <a:r>
              <a:rPr lang="zh-CN" altLang="en-US" dirty="0"/>
              <a:t>具体实现</a:t>
            </a:r>
            <a:endParaRPr lang="zh-CN" altLang="en-US" dirty="0"/>
          </a:p>
          <a:p>
            <a:pPr lvl="1"/>
            <a:r>
              <a:rPr lang="zh-CN" altLang="en-US" dirty="0"/>
              <a:t>定位</a:t>
            </a:r>
            <a:r>
              <a:rPr lang="en-US" altLang="zh-CN" dirty="0"/>
              <a:t>(Locating)</a:t>
            </a:r>
            <a:endParaRPr lang="en-US" altLang="zh-CN" dirty="0"/>
          </a:p>
          <a:p>
            <a:pPr lvl="2"/>
            <a:r>
              <a:rPr lang="zh-CN" altLang="en-US" dirty="0"/>
              <a:t>节点</a:t>
            </a:r>
            <a:r>
              <a:rPr lang="en-US" altLang="zh-CN" dirty="0"/>
              <a:t>ID</a:t>
            </a:r>
            <a:r>
              <a:rPr lang="zh-CN" altLang="en-US" dirty="0"/>
              <a:t>和其存放的</a:t>
            </a:r>
            <a:r>
              <a:rPr lang="en-US" altLang="zh-CN" dirty="0"/>
              <a:t>&lt;K, V&gt;</a:t>
            </a:r>
            <a:r>
              <a:rPr lang="zh-CN" altLang="en-US" dirty="0"/>
              <a:t>对中的</a:t>
            </a:r>
            <a:r>
              <a:rPr lang="en-US" altLang="zh-CN" dirty="0"/>
              <a:t>K</a:t>
            </a:r>
            <a:r>
              <a:rPr lang="zh-CN" altLang="en-US" dirty="0"/>
              <a:t>存在着映射关系，因此可以由</a:t>
            </a:r>
            <a:r>
              <a:rPr lang="en-US" altLang="zh-CN" dirty="0"/>
              <a:t>K</a:t>
            </a:r>
            <a:r>
              <a:rPr lang="zh-CN" altLang="en-US" dirty="0"/>
              <a:t>获得存放该</a:t>
            </a:r>
            <a:r>
              <a:rPr lang="en-US" altLang="zh-CN" dirty="0"/>
              <a:t>&lt;K, V&gt;</a:t>
            </a:r>
            <a:r>
              <a:rPr lang="zh-CN" altLang="en-US" dirty="0"/>
              <a:t>对的节点</a:t>
            </a:r>
            <a:r>
              <a:rPr lang="en-US" altLang="zh-CN" dirty="0"/>
              <a:t>ID</a:t>
            </a:r>
            <a:r>
              <a:rPr lang="zh-CN" altLang="en-US" dirty="0"/>
              <a:t>。</a:t>
            </a:r>
            <a:endParaRPr lang="en-US" altLang="zh-CN" dirty="0"/>
          </a:p>
          <a:p>
            <a:pPr lvl="1"/>
            <a:r>
              <a:rPr lang="zh-CN" altLang="en-US" dirty="0"/>
              <a:t>路由</a:t>
            </a:r>
            <a:r>
              <a:rPr lang="en-US" altLang="zh-CN" dirty="0"/>
              <a:t>(Routing)</a:t>
            </a:r>
            <a:endParaRPr lang="en-US" altLang="zh-CN" dirty="0"/>
          </a:p>
          <a:p>
            <a:pPr lvl="2"/>
            <a:r>
              <a:rPr lang="zh-CN" altLang="en-US" dirty="0"/>
              <a:t>在重叠网上根据节点</a:t>
            </a:r>
            <a:r>
              <a:rPr lang="en-US" altLang="zh-CN" dirty="0"/>
              <a:t>ID</a:t>
            </a:r>
            <a:r>
              <a:rPr lang="zh-CN" altLang="en-US" dirty="0"/>
              <a:t>进行路由，将查询消息最终发送到目的节点。每个节点需要有到其邻近节点的路由信息，包括节点</a:t>
            </a:r>
            <a:r>
              <a:rPr lang="en-US" altLang="zh-CN" dirty="0"/>
              <a:t>ID</a:t>
            </a:r>
            <a:r>
              <a:rPr lang="zh-CN" altLang="en-US" dirty="0"/>
              <a:t>、</a:t>
            </a:r>
            <a:r>
              <a:rPr lang="en-US" altLang="zh-CN" dirty="0"/>
              <a:t>IP</a:t>
            </a:r>
            <a:r>
              <a:rPr lang="zh-CN" altLang="en-US" dirty="0"/>
              <a:t>等。</a:t>
            </a:r>
            <a:endParaRPr lang="en-US" altLang="zh-CN" dirty="0"/>
          </a:p>
          <a:p>
            <a:pPr lvl="1"/>
            <a:r>
              <a:rPr lang="zh-CN" altLang="en-US" dirty="0"/>
              <a:t>网络拓扑</a:t>
            </a:r>
            <a:endParaRPr lang="en-US" altLang="zh-CN" dirty="0"/>
          </a:p>
          <a:p>
            <a:pPr lvl="2"/>
            <a:r>
              <a:rPr lang="zh-CN" altLang="en-US" dirty="0"/>
              <a:t>拓扑结构由节点</a:t>
            </a:r>
            <a:r>
              <a:rPr lang="en-US" altLang="zh-CN" dirty="0"/>
              <a:t>ID</a:t>
            </a:r>
            <a:r>
              <a:rPr lang="zh-CN" altLang="en-US" dirty="0"/>
              <a:t>和其存放的</a:t>
            </a:r>
            <a:r>
              <a:rPr lang="en-US" altLang="zh-CN" dirty="0"/>
              <a:t>&lt;K, V&gt;</a:t>
            </a:r>
            <a:r>
              <a:rPr lang="zh-CN" altLang="en-US" dirty="0"/>
              <a:t>对中的</a:t>
            </a:r>
            <a:r>
              <a:rPr lang="en-US" altLang="zh-CN" dirty="0"/>
              <a:t>K</a:t>
            </a:r>
            <a:r>
              <a:rPr lang="zh-CN" altLang="en-US" dirty="0"/>
              <a:t>之间的映射关系决定。</a:t>
            </a:r>
            <a:endParaRPr lang="zh-CN" altLang="en-US" dirty="0"/>
          </a:p>
          <a:p>
            <a:pPr lvl="2"/>
            <a:r>
              <a:rPr lang="zh-CN" altLang="en-US" dirty="0"/>
              <a:t>拓扑动态变化，需要处理节点加入</a:t>
            </a:r>
            <a:r>
              <a:rPr lang="en-US" altLang="zh-CN" dirty="0"/>
              <a:t>/</a:t>
            </a:r>
            <a:r>
              <a:rPr lang="zh-CN" altLang="en-US" dirty="0"/>
              <a:t>退出</a:t>
            </a:r>
            <a:r>
              <a:rPr lang="en-US" altLang="zh-CN" dirty="0"/>
              <a:t>/</a:t>
            </a:r>
            <a:r>
              <a:rPr lang="zh-CN" altLang="en-US" dirty="0"/>
              <a:t>失效的情况。</a:t>
            </a:r>
            <a:endParaRPr lang="zh-CN" altLang="en-US" dirty="0"/>
          </a:p>
          <a:p>
            <a:pPr lvl="2"/>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11.3 </a:t>
            </a:r>
            <a:r>
              <a:rPr lang="zh-CN" altLang="en-US" dirty="0"/>
              <a:t>云数据管理</a:t>
            </a:r>
            <a:endParaRPr lang="zh-CN" altLang="en-US" dirty="0"/>
          </a:p>
        </p:txBody>
      </p:sp>
      <p:sp>
        <p:nvSpPr>
          <p:cNvPr id="6" name="Rectangle 4"/>
          <p:cNvSpPr>
            <a:spLocks noChangeArrowheads="1"/>
          </p:cNvSpPr>
          <p:nvPr/>
        </p:nvSpPr>
        <p:spPr bwMode="auto">
          <a:xfrm>
            <a:off x="2161308" y="5970998"/>
            <a:ext cx="7924800" cy="457200"/>
          </a:xfrm>
          <a:prstGeom prst="rect">
            <a:avLst/>
          </a:prstGeom>
          <a:solidFill>
            <a:schemeClr val="accent1">
              <a:lumMod val="60000"/>
              <a:lumOff val="40000"/>
            </a:schemeClr>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dirty="0"/>
              <a:t>在重叠网上节点始终由节点</a:t>
            </a:r>
            <a:r>
              <a:rPr lang="en-US" altLang="zh-CN" sz="2400" b="1" dirty="0"/>
              <a:t>ID</a:t>
            </a:r>
            <a:r>
              <a:rPr lang="zh-CN" altLang="en-US" sz="2400" b="1" dirty="0"/>
              <a:t>标识，并且根据</a:t>
            </a:r>
            <a:r>
              <a:rPr lang="en-US" altLang="zh-CN" sz="2400" b="1" dirty="0"/>
              <a:t>ID</a:t>
            </a:r>
            <a:r>
              <a:rPr lang="zh-CN" altLang="en-US" sz="2400" b="1" dirty="0"/>
              <a:t>进行路由</a:t>
            </a:r>
            <a:endParaRPr lang="zh-CN" altLang="en-US" sz="2400" b="1"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概述</a:t>
            </a:r>
            <a:endParaRPr lang="en-US" altLang="zh-CN" dirty="0"/>
          </a:p>
          <a:p>
            <a:endParaRPr lang="en-US" altLang="zh-CN" dirty="0"/>
          </a:p>
          <a:p>
            <a:endParaRPr lang="en-US" altLang="zh-CN" dirty="0"/>
          </a:p>
          <a:p>
            <a:endParaRPr lang="en-US" altLang="zh-CN" dirty="0"/>
          </a:p>
          <a:p>
            <a:pPr lvl="1"/>
            <a:r>
              <a:rPr lang="zh-CN" altLang="en-US" dirty="0"/>
              <a:t>通常，</a:t>
            </a:r>
            <a:r>
              <a:rPr lang="en-US" altLang="zh-CN" dirty="0"/>
              <a:t>NoSQL</a:t>
            </a:r>
            <a:r>
              <a:rPr lang="zh-CN" altLang="en-US" dirty="0"/>
              <a:t>数据库具有以下几个特点：</a:t>
            </a:r>
            <a:endParaRPr lang="zh-CN" altLang="en-US" dirty="0"/>
          </a:p>
          <a:p>
            <a:pPr lvl="2"/>
            <a:r>
              <a:rPr lang="zh-CN" altLang="en-US" dirty="0"/>
              <a:t>灵活的可扩展性</a:t>
            </a:r>
            <a:endParaRPr lang="zh-CN" altLang="en-US" dirty="0"/>
          </a:p>
          <a:p>
            <a:pPr lvl="2"/>
            <a:r>
              <a:rPr lang="zh-CN" altLang="en-US" dirty="0"/>
              <a:t>灵活的数据模型</a:t>
            </a:r>
            <a:endParaRPr lang="zh-CN" altLang="en-US" dirty="0"/>
          </a:p>
          <a:p>
            <a:pPr lvl="2"/>
            <a:r>
              <a:rPr lang="zh-CN" altLang="en-US" dirty="0"/>
              <a:t>与云计算紧密融合</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705100" y="1895031"/>
            <a:ext cx="67818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兴起的原因</a:t>
            </a:r>
            <a:endParaRPr lang="en-US" altLang="zh-CN" dirty="0"/>
          </a:p>
          <a:p>
            <a:pPr lvl="1"/>
            <a:r>
              <a:rPr lang="zh-CN" altLang="en-US" dirty="0"/>
              <a:t>关系数据库已经无法满足</a:t>
            </a:r>
            <a:r>
              <a:rPr lang="en-US" altLang="zh-CN" dirty="0"/>
              <a:t>Web2.0</a:t>
            </a:r>
            <a:r>
              <a:rPr lang="zh-CN" altLang="en-US" dirty="0"/>
              <a:t>的需求。主要表现在以下几个方面：</a:t>
            </a:r>
            <a:endParaRPr lang="zh-CN" altLang="en-US" dirty="0"/>
          </a:p>
          <a:p>
            <a:pPr lvl="2"/>
            <a:r>
              <a:rPr lang="zh-CN" altLang="en-US" dirty="0"/>
              <a:t>无法满足海量数据的管理需求</a:t>
            </a:r>
            <a:endParaRPr lang="zh-CN" altLang="en-US" dirty="0"/>
          </a:p>
          <a:p>
            <a:pPr lvl="2"/>
            <a:r>
              <a:rPr lang="zh-CN" altLang="en-US" dirty="0"/>
              <a:t>无法满足数据高并发的需求</a:t>
            </a:r>
            <a:endParaRPr lang="zh-CN" altLang="en-US" dirty="0"/>
          </a:p>
          <a:p>
            <a:pPr lvl="2"/>
            <a:r>
              <a:rPr lang="zh-CN" altLang="en-US" dirty="0"/>
              <a:t>无法满足高可扩展性和高可用性的需求</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与关系数据库的比较</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表格 5"/>
          <p:cNvGraphicFramePr>
            <a:graphicFrameLocks noGrp="1"/>
          </p:cNvGraphicFramePr>
          <p:nvPr/>
        </p:nvGraphicFramePr>
        <p:xfrm>
          <a:off x="1432766" y="2296254"/>
          <a:ext cx="9558482" cy="4242658"/>
        </p:xfrm>
        <a:graphic>
          <a:graphicData uri="http://schemas.openxmlformats.org/drawingml/2006/table">
            <a:tbl>
              <a:tblPr>
                <a:tableStyleId>{2D5ABB26-0587-4C30-8999-92F81FD0307C}</a:tableStyleId>
              </a:tblPr>
              <a:tblGrid>
                <a:gridCol w="1608853"/>
                <a:gridCol w="1610826"/>
                <a:gridCol w="1608853"/>
                <a:gridCol w="4729950"/>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比较标准</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备注</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r>
              <a:tr h="45902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数据库原理</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完全支持</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部分支持</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有关系代数理论作为基础</a:t>
                      </a:r>
                      <a:endPar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没有统一的理论基础</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7526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数据规模</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大</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超大</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很难实现横向扩展，纵向扩展的空间也比较有限，性能会随着数据规模的增大而降低</a:t>
                      </a:r>
                      <a:endPar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可以很容易通过添加更多设备来支持更大规模的数据</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1690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数据库模式</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固定</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灵活</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需要定义数据库模式，严格遵守数据定义和相关约束条件</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不存在数据库模式，可以自由灵活定义并存储各种不同类型的数据</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6041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查询效率</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快</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可以实现高效的简单查询，但是不具备高度结构化查询等特性，复杂查询的性能不尽人意</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借助于索引机制可以实现快速查询(包括记录查询和范围查询)</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没有索引，虽然</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可以使用</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MapReduce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来加速查询，但是，在复杂查询方面的性能仍然不如</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Rectangle 36"/>
          <p:cNvSpPr>
            <a:spLocks noChangeArrowheads="1"/>
          </p:cNvSpPr>
          <p:nvPr/>
        </p:nvSpPr>
        <p:spPr bwMode="auto">
          <a:xfrm>
            <a:off x="3869859" y="1792966"/>
            <a:ext cx="46842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表</a:t>
            </a:r>
            <a:r>
              <a:rPr lang="en-US" altLang="zh-CN" sz="2000" dirty="0">
                <a:latin typeface="微软雅黑" panose="020B0503020204020204" pitchFamily="34" charset="-122"/>
                <a:ea typeface="微软雅黑" panose="020B0503020204020204" pitchFamily="34" charset="-122"/>
              </a:rPr>
              <a:t>5-1 NoSQL</a:t>
            </a:r>
            <a:r>
              <a:rPr lang="zh-CN" altLang="en-US" sz="2000" dirty="0">
                <a:latin typeface="微软雅黑" panose="020B0503020204020204" pitchFamily="34" charset="-122"/>
                <a:ea typeface="微软雅黑" panose="020B0503020204020204" pitchFamily="34" charset="-122"/>
              </a:rPr>
              <a:t>和关系数据库的简单比较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与关系数据库的比较</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表格 5"/>
          <p:cNvGraphicFramePr>
            <a:graphicFrameLocks noGrp="1"/>
          </p:cNvGraphicFramePr>
          <p:nvPr/>
        </p:nvGraphicFramePr>
        <p:xfrm>
          <a:off x="582444" y="2206909"/>
          <a:ext cx="11082527" cy="4181554"/>
        </p:xfrm>
        <a:graphic>
          <a:graphicData uri="http://schemas.openxmlformats.org/drawingml/2006/table">
            <a:tbl>
              <a:tblPr>
                <a:tableStyleId>{2D5ABB26-0587-4C30-8999-92F81FD0307C}</a:tableStyleId>
              </a:tblPr>
              <a:tblGrid>
                <a:gridCol w="1864991"/>
                <a:gridCol w="1864991"/>
                <a:gridCol w="1867277"/>
                <a:gridCol w="5485268"/>
              </a:tblGrid>
              <a:tr h="28179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比较标准</a:t>
                      </a:r>
                      <a:endParaRPr kumimoji="0" lang="zh-CN" altLang="zh-CN" sz="16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RDBMS</a:t>
                      </a:r>
                      <a:endParaRPr kumimoji="0" lang="zh-CN" altLang="zh-CN" sz="16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mn-cs"/>
                        </a:rPr>
                        <a:t>NoSQL</a:t>
                      </a:r>
                      <a:endParaRPr kumimoji="0" lang="zh-CN" altLang="zh-CN" sz="1600" b="1"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rPr>
                        <a:t>备注</a:t>
                      </a:r>
                      <a:endParaRPr kumimoji="0" lang="zh-CN" altLang="zh-CN" sz="1600" b="1"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mn-cs"/>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r>
              <a:tr h="67629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一致性</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强一致性</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弱一致性</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严格遵守事务</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ACID</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模型，可以保证事务强一致性</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放松对事务</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ACID</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四性的要求，而是遵守</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BASE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模型，只能保证最终一致性</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074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数据完整性</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容易实现</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很难实现</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任何一个</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都可以很容易实现数据完整性，比如通过主键或者非空约束来实现实体完整性，通过主键、外键来实现参照完整性，通过约束或者触发器来实现用户自定义完整性</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但是，在</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数据库却无法实现</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9937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扩展性</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一般</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好</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很难实现横向扩展，纵向扩展的空间也比较有限</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在设计之初就充分考虑了横向扩展的需求，可以很容易通过添加廉价设备实现扩展</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4966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可用性</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好</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很好</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在任何时候都以保证数据一致性为优先目标，其次才是优化系统性能，随着数据规模的增大，</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为了保证严格的一致性，只能提供相对较弱的可用性</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任何时候都能提供较高的可用性</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Rectangle 36"/>
          <p:cNvSpPr>
            <a:spLocks noChangeArrowheads="1"/>
          </p:cNvSpPr>
          <p:nvPr/>
        </p:nvSpPr>
        <p:spPr bwMode="auto">
          <a:xfrm>
            <a:off x="3806952" y="1806799"/>
            <a:ext cx="51106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表</a:t>
            </a:r>
            <a:r>
              <a:rPr lang="en-US" altLang="zh-CN" sz="2000" dirty="0">
                <a:latin typeface="微软雅黑" panose="020B0503020204020204" pitchFamily="34" charset="-122"/>
                <a:ea typeface="微软雅黑" panose="020B0503020204020204" pitchFamily="34" charset="-122"/>
              </a:rPr>
              <a:t>5-1 NoSQL</a:t>
            </a:r>
            <a:r>
              <a:rPr lang="zh-CN" altLang="en-US" sz="2000" dirty="0">
                <a:latin typeface="微软雅黑" panose="020B0503020204020204" pitchFamily="34" charset="-122"/>
                <a:ea typeface="微软雅黑" panose="020B0503020204020204" pitchFamily="34" charset="-122"/>
              </a:rPr>
              <a:t>和关系数据库的简单比较(续)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与关系数据库的比较</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
        <p:nvSpPr>
          <p:cNvPr id="6" name="Rectangle 36"/>
          <p:cNvSpPr>
            <a:spLocks noChangeArrowheads="1"/>
          </p:cNvSpPr>
          <p:nvPr/>
        </p:nvSpPr>
        <p:spPr bwMode="auto">
          <a:xfrm>
            <a:off x="3806952" y="1806799"/>
            <a:ext cx="51106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表</a:t>
            </a:r>
            <a:r>
              <a:rPr lang="en-US" altLang="zh-CN" sz="2000" dirty="0">
                <a:latin typeface="微软雅黑" panose="020B0503020204020204" pitchFamily="34" charset="-122"/>
                <a:ea typeface="微软雅黑" panose="020B0503020204020204" pitchFamily="34" charset="-122"/>
              </a:rPr>
              <a:t>5-1 NoSQL</a:t>
            </a:r>
            <a:r>
              <a:rPr lang="zh-CN" altLang="en-US" sz="2000" dirty="0">
                <a:latin typeface="微软雅黑" panose="020B0503020204020204" pitchFamily="34" charset="-122"/>
                <a:ea typeface="微软雅黑" panose="020B0503020204020204" pitchFamily="34" charset="-122"/>
              </a:rPr>
              <a:t>和关系数据库的简单比较(续) </a:t>
            </a:r>
            <a:endParaRPr lang="zh-CN" altLang="en-US" sz="2000" dirty="0">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nvGraphicFramePr>
        <p:xfrm>
          <a:off x="1917261" y="2386296"/>
          <a:ext cx="8670470" cy="3794549"/>
        </p:xfrm>
        <a:graphic>
          <a:graphicData uri="http://schemas.openxmlformats.org/drawingml/2006/table">
            <a:tbl>
              <a:tblPr>
                <a:tableStyleId>{2D5ABB26-0587-4C30-8999-92F81FD0307C}</a:tableStyleId>
              </a:tblPr>
              <a:tblGrid>
                <a:gridCol w="1459386"/>
                <a:gridCol w="1461175"/>
                <a:gridCol w="1459386"/>
                <a:gridCol w="4290523"/>
              </a:tblGrid>
              <a:tr h="32404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比较标准</a:t>
                      </a:r>
                      <a:endParaRPr kumimoji="0" lang="zh-CN" alt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RDBMS</a:t>
                      </a:r>
                      <a:endParaRPr kumimoji="0" lang="zh-CN" alt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NoSQL</a:t>
                      </a:r>
                      <a:endParaRPr kumimoji="0" lang="zh-CN" alt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备注</a:t>
                      </a:r>
                      <a:endParaRPr kumimoji="0" lang="zh-CN" alt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2955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标准化</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是</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否</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已经标准化(</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SQL</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endPar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还没有行业标准，不同的</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数据库都有自己的查询语言，很难规范应用程序接口</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4757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技术支持</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高</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低</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经过几十年的发展，已经非常成熟，</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Oracle</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等大型厂商都可以提供很好的技术支持</a:t>
                      </a:r>
                      <a:endPar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在技术支持方面仍然处于起步阶段，还不成熟，缺乏有力的技术支持</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4757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可维护性</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复杂</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复杂</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需要专门的数据库管理员</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(DBA)</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维护</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NoSQL</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数据库虽然没有</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DBMS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复杂，也难以维护</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与关系数据库的比较</a:t>
            </a:r>
            <a:endParaRPr lang="en-US" altLang="zh-CN" dirty="0"/>
          </a:p>
          <a:p>
            <a:pPr lvl="1"/>
            <a:r>
              <a:rPr lang="zh-CN" altLang="en-US" dirty="0"/>
              <a:t>总结：</a:t>
            </a:r>
            <a:endParaRPr lang="en-US" altLang="zh-CN" dirty="0"/>
          </a:p>
          <a:p>
            <a:pPr lvl="2"/>
            <a:r>
              <a:rPr lang="zh-CN" altLang="en-US" dirty="0"/>
              <a:t>关系数据库和</a:t>
            </a:r>
            <a:r>
              <a:rPr lang="en-US" altLang="zh-CN" dirty="0"/>
              <a:t>NoSQL</a:t>
            </a:r>
            <a:r>
              <a:rPr lang="zh-CN" altLang="en-US" dirty="0"/>
              <a:t>数据库各有优缺点，彼此无法取代</a:t>
            </a:r>
            <a:endParaRPr lang="zh-CN" altLang="en-US" dirty="0"/>
          </a:p>
          <a:p>
            <a:pPr lvl="3"/>
            <a:r>
              <a:rPr lang="zh-CN" altLang="en-US" dirty="0"/>
              <a:t>关系数据库应用场景：电信、银行等领域的关键业务系统，需要保证强事务一致性</a:t>
            </a:r>
            <a:endParaRPr lang="zh-CN" altLang="en-US" dirty="0"/>
          </a:p>
          <a:p>
            <a:pPr lvl="3"/>
            <a:r>
              <a:rPr lang="en-US" altLang="zh-CN" dirty="0"/>
              <a:t>NoSQL</a:t>
            </a:r>
            <a:r>
              <a:rPr lang="zh-CN" altLang="en-US" dirty="0"/>
              <a:t>数据库应用场景：互联网企业、传统企业的非关键业务</a:t>
            </a:r>
            <a:r>
              <a:rPr lang="en-US" altLang="zh-CN" dirty="0"/>
              <a:t>(</a:t>
            </a:r>
            <a:r>
              <a:rPr lang="zh-CN" altLang="en-US" dirty="0"/>
              <a:t>比如数据分析</a:t>
            </a:r>
            <a:r>
              <a:rPr lang="en-US" altLang="zh-CN" dirty="0"/>
              <a:t>)</a:t>
            </a:r>
            <a:endParaRPr lang="en-US" altLang="zh-CN" dirty="0"/>
          </a:p>
          <a:p>
            <a:pPr lvl="2"/>
            <a:r>
              <a:rPr lang="zh-CN" altLang="en-US" dirty="0"/>
              <a:t>采用混合结构</a:t>
            </a:r>
            <a:endParaRPr lang="en-US" altLang="zh-CN" dirty="0"/>
          </a:p>
          <a:p>
            <a:pPr lvl="3"/>
            <a:r>
              <a:rPr lang="zh-CN" altLang="en-US" dirty="0"/>
              <a:t>案例：亚马逊公司就使用不同类型的数据库来支撑它的电子商务应用</a:t>
            </a:r>
            <a:endParaRPr lang="zh-CN" altLang="en-US" dirty="0"/>
          </a:p>
          <a:p>
            <a:pPr lvl="3"/>
            <a:r>
              <a:rPr lang="zh-CN" altLang="en-US" dirty="0"/>
              <a:t>对于“购物篮”这种临时性数据，采用键值存储会更加高效</a:t>
            </a:r>
            <a:endParaRPr lang="zh-CN" altLang="en-US" dirty="0"/>
          </a:p>
          <a:p>
            <a:pPr lvl="3"/>
            <a:r>
              <a:rPr lang="zh-CN" altLang="en-US" dirty="0"/>
              <a:t>当前的产品和订单信息则适合存放在关系数据库中。</a:t>
            </a:r>
            <a:endParaRPr lang="zh-CN" altLang="en-US" dirty="0"/>
          </a:p>
          <a:p>
            <a:pPr lvl="3"/>
            <a:r>
              <a:rPr lang="zh-CN" altLang="en-US" dirty="0"/>
              <a:t>大量的历史订单信息则适合保存在类似</a:t>
            </a:r>
            <a:r>
              <a:rPr lang="en-US" altLang="zh-CN" dirty="0"/>
              <a:t>MongoDB</a:t>
            </a:r>
            <a:r>
              <a:rPr lang="zh-CN" altLang="en-US" dirty="0"/>
              <a:t>的文档数据库中</a:t>
            </a:r>
            <a:endParaRPr lang="zh-CN" altLang="en-US" dirty="0"/>
          </a:p>
          <a:p>
            <a:pPr lvl="3"/>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的类型</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表格 5"/>
          <p:cNvGraphicFramePr>
            <a:graphicFrameLocks noGrp="1"/>
          </p:cNvGraphicFramePr>
          <p:nvPr/>
        </p:nvGraphicFramePr>
        <p:xfrm>
          <a:off x="865632" y="1862201"/>
          <a:ext cx="10728961" cy="4457459"/>
        </p:xfrm>
        <a:graphic>
          <a:graphicData uri="http://schemas.openxmlformats.org/drawingml/2006/table">
            <a:tbl>
              <a:tblPr>
                <a:tableStyleId>{2D5ABB26-0587-4C30-8999-92F81FD0307C}</a:tableStyleId>
              </a:tblPr>
              <a:tblGrid>
                <a:gridCol w="2401824"/>
                <a:gridCol w="2718816"/>
                <a:gridCol w="5608321"/>
              </a:tblGrid>
              <a:tr h="210955">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类型</a:t>
                      </a:r>
                      <a:endParaRPr kumimoji="0" 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部分代表</a:t>
                      </a:r>
                      <a:endParaRPr kumimoji="0" 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特点</a:t>
                      </a:r>
                      <a:endParaRPr kumimoji="0" 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r>
              <a:tr h="799859">
                <a:tc>
                  <a:txBody>
                    <a:bodyPr/>
                    <a:lstStyle/>
                    <a:p>
                      <a:pPr marL="76200" marR="0" lvl="0" indent="0" algn="l" defTabSz="914400" rtl="0" eaLnBrk="1" fontAlgn="base" latinLnBrk="0" hangingPunct="1">
                        <a:lnSpc>
                          <a:spcPct val="100000"/>
                        </a:lnSpc>
                        <a:spcBef>
                          <a:spcPct val="0"/>
                        </a:spcBef>
                        <a:spcAft>
                          <a:spcPct val="0"/>
                        </a:spcAft>
                        <a:buClrTx/>
                        <a:buSzTx/>
                        <a:buFontTx/>
                        <a:buNone/>
                      </a:pPr>
                      <a:endParaRPr kumimoji="0" lang="en-US"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列存储</a:t>
                      </a:r>
                      <a:endParaRPr kumimoji="0" 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Hbase</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Cassandra</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Hypertable</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顾名思义，是按列存储数据的。最大的特点是方便存储结构化和半结构化数据，方便做数据压缩，对针对某一列或者某几列的查询有非常大的</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IO</a:t>
                      </a: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优势。</a:t>
                      </a:r>
                      <a:endParaRPr kumimoji="0" 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2070">
                <a:tc>
                  <a:txBody>
                    <a:bodyPr/>
                    <a:lstStyle/>
                    <a:p>
                      <a:pPr marL="76200" marR="0" lvl="0" indent="0" algn="l" defTabSz="914400" rtl="0" eaLnBrk="1" fontAlgn="base" latinLnBrk="0" hangingPunct="1">
                        <a:lnSpc>
                          <a:spcPct val="100000"/>
                        </a:lnSpc>
                        <a:spcBef>
                          <a:spcPct val="0"/>
                        </a:spcBef>
                        <a:spcAft>
                          <a:spcPct val="0"/>
                        </a:spcAft>
                        <a:buClrTx/>
                        <a:buSzTx/>
                        <a:buFontTx/>
                        <a:buNone/>
                      </a:pPr>
                      <a:endParaRPr kumimoji="0" lang="en-US"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文档存储</a:t>
                      </a:r>
                      <a:endParaRPr kumimoji="0" 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MongoDB</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CouchDB</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文档存储一般用类似</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json</a:t>
                      </a: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的格式存储，存储的内容是文档型的。这样也就有有机会对某些字段建立索引，实现关系数据库的某些功能。</a:t>
                      </a:r>
                      <a:endParaRPr kumimoji="0" 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43822">
                <a:tc>
                  <a:txBody>
                    <a:bodyPr/>
                    <a:lstStyle/>
                    <a:p>
                      <a:pPr marL="76200" marR="0" lvl="0" indent="0" algn="l" defTabSz="914400" rtl="0" eaLnBrk="1" fontAlgn="base" latinLnBrk="0" hangingPunct="1">
                        <a:lnSpc>
                          <a:spcPct val="100000"/>
                        </a:lnSpc>
                        <a:spcBef>
                          <a:spcPct val="0"/>
                        </a:spcBef>
                        <a:spcAft>
                          <a:spcPct val="0"/>
                        </a:spcAft>
                        <a:buClrTx/>
                        <a:buSzTx/>
                        <a:buFontTx/>
                        <a:buNone/>
                      </a:pPr>
                      <a:endPar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key-value</a:t>
                      </a:r>
                      <a:r>
                        <a:rPr kumimoji="0" 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存储</a:t>
                      </a:r>
                      <a:endParaRPr kumimoji="0" 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Tokyo Cabinet / Tyrant</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Berkeley DB</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MemcacheDB</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Redis</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可以通过</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key</a:t>
                      </a: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快速查询到其</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value</a:t>
                      </a: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。一般来说，存储不管</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value</a:t>
                      </a: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的格式，照单全收。(</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Redis</a:t>
                      </a:r>
                      <a:r>
                        <a:rPr kumimoji="0" 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包含了其他功能)</a:t>
                      </a:r>
                      <a:endParaRPr kumimoji="0" 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32866">
                <a:tc>
                  <a:txBody>
                    <a:bodyPr/>
                    <a:lstStyle/>
                    <a:p>
                      <a:pPr marL="76200" marR="0" lvl="0" indent="0" algn="l" defTabSz="914400" rtl="0" eaLnBrk="1" fontAlgn="base" latinLnBrk="0" hangingPunct="1">
                        <a:lnSpc>
                          <a:spcPct val="100000"/>
                        </a:lnSpc>
                        <a:spcBef>
                          <a:spcPct val="0"/>
                        </a:spcBef>
                        <a:spcAft>
                          <a:spcPct val="0"/>
                        </a:spcAft>
                        <a:buClrTx/>
                        <a:buSzTx/>
                        <a:buFontTx/>
                        <a:buNone/>
                      </a:pPr>
                      <a:endPar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图存储</a:t>
                      </a:r>
                      <a:endParaRPr kumimoji="0" 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Neo4J</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FlockDB</a:t>
                      </a:r>
                      <a:endPar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InfoGrid</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图形关系的最佳存储。使用传统关系数据库来解决的话性能低下，而且设计使用不方便。</a:t>
                      </a:r>
                      <a:endParaRPr kumimoji="0" 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1911">
                <a:tc>
                  <a:txBody>
                    <a:bodyPr/>
                    <a:lstStyle/>
                    <a:p>
                      <a:pPr marL="76200" marR="0" lvl="0" indent="0" algn="l" defTabSz="914400" rtl="0" eaLnBrk="1" fontAlgn="base" latinLnBrk="0" hangingPunct="1">
                        <a:lnSpc>
                          <a:spcPct val="100000"/>
                        </a:lnSpc>
                        <a:spcBef>
                          <a:spcPct val="0"/>
                        </a:spcBef>
                        <a:spcAft>
                          <a:spcPct val="0"/>
                        </a:spcAft>
                        <a:buClrTx/>
                        <a:buSzTx/>
                        <a:buFontTx/>
                        <a:buNone/>
                      </a:pPr>
                      <a:endPar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对象存储</a:t>
                      </a:r>
                      <a:endParaRPr kumimoji="0" 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db4o</a:t>
                      </a:r>
                      <a:endPar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Versant</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通过类似面向对象语言的语法操作数据库，通过对象的方式存取数据。</a:t>
                      </a:r>
                      <a:endParaRPr kumimoji="0" 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53820">
                <a:tc>
                  <a:txBody>
                    <a:bodyPr/>
                    <a:lstStyle/>
                    <a:p>
                      <a:pPr marL="76200" marR="0" lvl="0" indent="0" algn="l" defTabSz="914400" rtl="0" eaLnBrk="1" fontAlgn="base" latinLnBrk="0" hangingPunct="1">
                        <a:lnSpc>
                          <a:spcPct val="100000"/>
                        </a:lnSpc>
                        <a:spcBef>
                          <a:spcPct val="0"/>
                        </a:spcBef>
                        <a:spcAft>
                          <a:spcPct val="0"/>
                        </a:spcAft>
                        <a:buClrTx/>
                        <a:buSzTx/>
                        <a:buFontTx/>
                        <a:buNone/>
                      </a:pPr>
                      <a:endPar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xml</a:t>
                      </a:r>
                      <a:r>
                        <a:rPr kumimoji="0" 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数据库</a:t>
                      </a:r>
                      <a:endParaRPr kumimoji="0" 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Berkeley DB XML</a:t>
                      </a:r>
                      <a:endPar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76200" marR="0" lvl="0" indent="0" algn="l"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BaseX</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6200" marR="0" lvl="0" indent="0" algn="l" defTabSz="914400" rtl="0" eaLnBrk="1" fontAlgn="base" latinLnBrk="0" hangingPunct="1">
                        <a:lnSpc>
                          <a:spcPct val="100000"/>
                        </a:lnSpc>
                        <a:spcBef>
                          <a:spcPct val="0"/>
                        </a:spcBef>
                        <a:spcAft>
                          <a:spcPct val="0"/>
                        </a:spcAft>
                        <a:buClrTx/>
                        <a:buSzTx/>
                        <a:buFontTx/>
                        <a:buNone/>
                      </a:pPr>
                      <a:r>
                        <a:rPr kumimoji="0" 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高效的存储</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XML</a:t>
                      </a:r>
                      <a:r>
                        <a:rPr kumimoji="0" 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数据，并支持</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XML</a:t>
                      </a:r>
                      <a:r>
                        <a:rPr kumimoji="0" 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的内部查询语法，比如</a:t>
                      </a: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XQuery,Xpath</a:t>
                      </a:r>
                      <a:r>
                        <a:rPr kumimoji="0" 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键值存储</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表格 5"/>
          <p:cNvGraphicFramePr>
            <a:graphicFrameLocks noGrp="1"/>
          </p:cNvGraphicFramePr>
          <p:nvPr/>
        </p:nvGraphicFramePr>
        <p:xfrm>
          <a:off x="2292096" y="2024137"/>
          <a:ext cx="8424672" cy="4242520"/>
        </p:xfrm>
        <a:graphic>
          <a:graphicData uri="http://schemas.openxmlformats.org/drawingml/2006/table">
            <a:tbl>
              <a:tblPr>
                <a:tableStyleId>{2D5ABB26-0587-4C30-8999-92F81FD0307C}</a:tableStyleId>
              </a:tblPr>
              <a:tblGrid>
                <a:gridCol w="2206115"/>
                <a:gridCol w="6218557"/>
              </a:tblGrid>
              <a:tr h="65343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相关产品</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Redis</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Riak</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SimpleDB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Chordless</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Scalaris</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Memcached</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343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数据模型</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键</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值对</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343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典型应用</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内容缓存，比如会话、配置文件、参数、购物车等</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343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优点</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扩展性好，灵活性好，大量写操作时性能高</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343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缺点</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无法存储结构化信息，条件查询效率较低</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4618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使用者</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百度云数据库(</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Redis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GitHub</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Riak</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BestBuy</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Riak</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Twitter</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Redis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和</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Memcached</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StackOverFlow</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Redis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Instagram </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Redis</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Youtube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Memcached</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Wikipedia</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Memcached</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列族数据库</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表格 5"/>
          <p:cNvGraphicFramePr>
            <a:graphicFrameLocks noGrp="1"/>
          </p:cNvGraphicFramePr>
          <p:nvPr/>
        </p:nvGraphicFramePr>
        <p:xfrm>
          <a:off x="2808478" y="1762124"/>
          <a:ext cx="7359650" cy="4776788"/>
        </p:xfrm>
        <a:graphic>
          <a:graphicData uri="http://schemas.openxmlformats.org/drawingml/2006/table">
            <a:tbl>
              <a:tblPr>
                <a:tableStyleId>{2D5ABB26-0587-4C30-8999-92F81FD0307C}</a:tableStyleId>
              </a:tblPr>
              <a:tblGrid>
                <a:gridCol w="1927225"/>
                <a:gridCol w="5432425"/>
              </a:tblGrid>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相关产品</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BigTable</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HBase</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Cassandra</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HadoopDB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GreenPlum</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PNUTS</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数据模型</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列族</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典型应用</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分布式数据存储与管理</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优点</a:t>
                      </a:r>
                      <a:endParaRPr kumimoji="0" lang="zh-CN" altLang="zh-CN"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查找速度快，可扩展性强，容易进行分布式扩展，复杂性低</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缺点</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功能较少，大都不支持强事务一致性</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826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使用者</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Ebay</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Cassandra</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Instagram</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Cassandra</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NASA</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Cassandra</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Twitter</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Cassandra and HBase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Facebook</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HBase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Yahoo!</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HBase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文档数据库</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表格 5"/>
          <p:cNvGraphicFramePr>
            <a:graphicFrameLocks noGrp="1"/>
          </p:cNvGraphicFramePr>
          <p:nvPr/>
        </p:nvGraphicFramePr>
        <p:xfrm>
          <a:off x="2443883" y="1762124"/>
          <a:ext cx="7359650" cy="4776788"/>
        </p:xfrm>
        <a:graphic>
          <a:graphicData uri="http://schemas.openxmlformats.org/drawingml/2006/table">
            <a:tbl>
              <a:tblPr>
                <a:tableStyleId>{2D5ABB26-0587-4C30-8999-92F81FD0307C}</a:tableStyleId>
              </a:tblPr>
              <a:tblGrid>
                <a:gridCol w="1927225"/>
                <a:gridCol w="5432425"/>
              </a:tblGrid>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相关产品</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CouchDB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MongoDB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Terrastore</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ThruDB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RavenDB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SisoDB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RaptorDB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CloudKit</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Perservere</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Jackrabbit</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数据模型</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版本化的文档</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典型应用</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存储、索引并管理面向文档的数据或者类似的半结构化数据</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优点</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性能好，灵活性高，复杂性低，数据结构灵活</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缺点</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缺乏统一的查询语法</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826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使用者</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百度云数据库(</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MongoDB</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SAP </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MongoDB</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Codecademy</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MongoDB</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Foursquare </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MongoDB</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NBC News </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rPr>
                        <a:t>RavenDB</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图数据库</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表格 5"/>
          <p:cNvGraphicFramePr>
            <a:graphicFrameLocks noGrp="1"/>
          </p:cNvGraphicFramePr>
          <p:nvPr/>
        </p:nvGraphicFramePr>
        <p:xfrm>
          <a:off x="2443883" y="1762124"/>
          <a:ext cx="7359650" cy="4776788"/>
        </p:xfrm>
        <a:graphic>
          <a:graphicData uri="http://schemas.openxmlformats.org/drawingml/2006/table">
            <a:tbl>
              <a:tblPr>
                <a:tableStyleId>{2D5ABB26-0587-4C30-8999-92F81FD0307C}</a:tableStyleId>
              </a:tblPr>
              <a:tblGrid>
                <a:gridCol w="1927225"/>
                <a:gridCol w="5432425"/>
              </a:tblGrid>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相关产品</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Neo4J</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OrientDB</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InfoGrid</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Infinite Graph</a:t>
                      </a: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GraphDB</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数据模型</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图结构</a:t>
                      </a:r>
                      <a:endParaRPr kumimoji="0" lang="zh-CN"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典型应用</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应用于大量复杂、互连接、低结构化的图结构场合，比如社交网络、推荐系统等</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优点</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灵活性高，支持复杂的图形算法，可用于构建复杂的关系图谱</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8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缺点</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复杂性高，只能支持一定的数据规模</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826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1"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使用者</a:t>
                      </a:r>
                      <a:endParaRPr kumimoji="0" lang="zh-CN" altLang="zh-CN"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Adobe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Neo4J</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Cisco</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Neo4J</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T-Mobile</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en-US"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Neo4J</a:t>
                      </a:r>
                      <a:r>
                        <a:rPr kumimoji="0" lang="zh-CN" altLang="zh-CN" sz="1600" b="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NoSQL</a:t>
            </a:r>
            <a:r>
              <a:rPr lang="zh-CN" altLang="en-US" dirty="0"/>
              <a:t>的整体架构</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内容占位符 3" descr="NoSQL Architecture.PNG"/>
          <p:cNvPicPr>
            <a:picLocks noRot="1"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643569" y="1763715"/>
            <a:ext cx="7334298" cy="495776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92500" lnSpcReduction="20000"/>
          </a:bodyPr>
          <a:lstStyle/>
          <a:p>
            <a:r>
              <a:rPr lang="zh-CN" altLang="en-US" dirty="0"/>
              <a:t>接口层</a:t>
            </a:r>
            <a:r>
              <a:rPr lang="en-US" altLang="zh-CN" dirty="0"/>
              <a:t>(Interfaces)</a:t>
            </a:r>
            <a:endParaRPr lang="en-US" altLang="zh-CN" dirty="0"/>
          </a:p>
          <a:p>
            <a:pPr lvl="1"/>
            <a:r>
              <a:rPr lang="zh-CN" altLang="en-US" dirty="0"/>
              <a:t>这层的主要作用是为上层应用提供合适和方便的数据调用接口，而且提供的选择远多于传统的关系型数据库，主要有六大类接口：</a:t>
            </a:r>
            <a:endParaRPr lang="zh-CN" altLang="en-US" dirty="0"/>
          </a:p>
          <a:p>
            <a:pPr lvl="1"/>
            <a:r>
              <a:rPr lang="zh-CN" altLang="en-US" dirty="0"/>
              <a:t>其一是常见的 </a:t>
            </a:r>
            <a:r>
              <a:rPr lang="en-US" altLang="zh-CN" dirty="0"/>
              <a:t>REST(Representational State Transfer)</a:t>
            </a:r>
            <a:r>
              <a:rPr lang="zh-CN" altLang="en-US" dirty="0"/>
              <a:t>，采用</a:t>
            </a:r>
            <a:r>
              <a:rPr lang="en-US" altLang="zh-CN" dirty="0"/>
              <a:t>REST</a:t>
            </a:r>
            <a:r>
              <a:rPr lang="zh-CN" altLang="en-US" dirty="0"/>
              <a:t>的产品有</a:t>
            </a:r>
            <a:r>
              <a:rPr lang="en-US" altLang="zh-CN" dirty="0"/>
              <a:t>HBase</a:t>
            </a:r>
            <a:r>
              <a:rPr lang="zh-CN" altLang="en-US" dirty="0"/>
              <a:t>和</a:t>
            </a:r>
            <a:r>
              <a:rPr lang="en-US" altLang="zh-CN" dirty="0"/>
              <a:t>CouchDB</a:t>
            </a:r>
            <a:r>
              <a:rPr lang="zh-CN" altLang="en-US" dirty="0"/>
              <a:t>等。</a:t>
            </a:r>
            <a:endParaRPr lang="zh-CN" altLang="en-US" dirty="0"/>
          </a:p>
          <a:p>
            <a:pPr lvl="1"/>
            <a:r>
              <a:rPr lang="zh-CN" altLang="en-US" dirty="0"/>
              <a:t>其二是源自</a:t>
            </a:r>
            <a:r>
              <a:rPr lang="en-US" altLang="zh-CN" dirty="0"/>
              <a:t>Facebook</a:t>
            </a:r>
            <a:r>
              <a:rPr lang="zh-CN" altLang="en-US" dirty="0"/>
              <a:t>的</a:t>
            </a:r>
            <a:r>
              <a:rPr lang="en-US" altLang="zh-CN" dirty="0"/>
              <a:t>RPC</a:t>
            </a:r>
            <a:r>
              <a:rPr lang="zh-CN" altLang="en-US" dirty="0"/>
              <a:t>协议</a:t>
            </a:r>
            <a:r>
              <a:rPr lang="en-US" altLang="zh-CN" dirty="0"/>
              <a:t>Thrift</a:t>
            </a:r>
            <a:r>
              <a:rPr lang="zh-CN" altLang="en-US" dirty="0"/>
              <a:t>，支持</a:t>
            </a:r>
            <a:r>
              <a:rPr lang="en-US" altLang="zh-CN" dirty="0"/>
              <a:t>Thrift</a:t>
            </a:r>
            <a:r>
              <a:rPr lang="zh-CN" altLang="en-US" dirty="0"/>
              <a:t>的产品 有</a:t>
            </a:r>
            <a:r>
              <a:rPr lang="en-US" altLang="zh-CN" dirty="0"/>
              <a:t>HBase</a:t>
            </a:r>
            <a:r>
              <a:rPr lang="zh-CN" altLang="en-US" dirty="0"/>
              <a:t>和</a:t>
            </a:r>
            <a:r>
              <a:rPr lang="en-US" altLang="zh-CN" dirty="0"/>
              <a:t>Cassandra</a:t>
            </a:r>
            <a:r>
              <a:rPr lang="zh-CN" altLang="en-US" dirty="0"/>
              <a:t>等。</a:t>
            </a:r>
            <a:endParaRPr lang="zh-CN" altLang="en-US" dirty="0"/>
          </a:p>
          <a:p>
            <a:pPr lvl="1"/>
            <a:r>
              <a:rPr lang="zh-CN" altLang="en-US" dirty="0"/>
              <a:t>其三是用于大规模数据处理的</a:t>
            </a:r>
            <a:r>
              <a:rPr lang="en-US" altLang="zh-CN" dirty="0"/>
              <a:t>Map Reduce</a:t>
            </a:r>
            <a:r>
              <a:rPr lang="zh-CN" altLang="en-US" dirty="0"/>
              <a:t>，其相关产品有</a:t>
            </a:r>
            <a:r>
              <a:rPr lang="en-US" altLang="zh-CN" dirty="0"/>
              <a:t>HBase</a:t>
            </a:r>
            <a:r>
              <a:rPr lang="zh-CN" altLang="en-US" dirty="0"/>
              <a:t>，</a:t>
            </a:r>
            <a:r>
              <a:rPr lang="en-US" altLang="zh-CN" dirty="0"/>
              <a:t>CouchDB</a:t>
            </a:r>
            <a:r>
              <a:rPr lang="zh-CN" altLang="en-US" dirty="0"/>
              <a:t>和</a:t>
            </a:r>
            <a:r>
              <a:rPr lang="en-US" altLang="zh-CN" dirty="0"/>
              <a:t>MongoDB</a:t>
            </a:r>
            <a:r>
              <a:rPr lang="zh-CN" altLang="en-US" dirty="0"/>
              <a:t>等。</a:t>
            </a:r>
            <a:endParaRPr lang="zh-CN" altLang="en-US" dirty="0"/>
          </a:p>
          <a:p>
            <a:pPr lvl="1"/>
            <a:r>
              <a:rPr lang="zh-CN" altLang="en-US" dirty="0"/>
              <a:t>其四是类似于</a:t>
            </a:r>
            <a:r>
              <a:rPr lang="en-US" altLang="zh-CN" dirty="0"/>
              <a:t>Memcached</a:t>
            </a:r>
            <a:r>
              <a:rPr lang="zh-CN" altLang="en-US" dirty="0"/>
              <a:t>的</a:t>
            </a:r>
            <a:r>
              <a:rPr lang="en-US" altLang="zh-CN" dirty="0"/>
              <a:t>Get/Put</a:t>
            </a:r>
            <a:r>
              <a:rPr lang="zh-CN" altLang="en-US" dirty="0"/>
              <a:t>方式，采用</a:t>
            </a:r>
            <a:r>
              <a:rPr lang="en-US" altLang="zh-CN" dirty="0"/>
              <a:t>Get/Put</a:t>
            </a:r>
            <a:r>
              <a:rPr lang="zh-CN" altLang="en-US" dirty="0"/>
              <a:t>的 产品有</a:t>
            </a:r>
            <a:r>
              <a:rPr lang="en-US" altLang="zh-CN" dirty="0"/>
              <a:t>Voldemort</a:t>
            </a:r>
            <a:r>
              <a:rPr lang="zh-CN" altLang="en-US" dirty="0"/>
              <a:t>等。</a:t>
            </a:r>
            <a:endParaRPr lang="zh-CN" altLang="en-US" dirty="0"/>
          </a:p>
          <a:p>
            <a:pPr lvl="1"/>
            <a:r>
              <a:rPr lang="zh-CN" altLang="en-US" dirty="0"/>
              <a:t>其五是提供语言特定</a:t>
            </a:r>
            <a:r>
              <a:rPr lang="en-US" altLang="zh-CN" dirty="0"/>
              <a:t>(Language Specific)</a:t>
            </a:r>
            <a:r>
              <a:rPr lang="zh-CN" altLang="en-US" dirty="0"/>
              <a:t>的</a:t>
            </a:r>
            <a:r>
              <a:rPr lang="en-US" altLang="zh-CN" dirty="0"/>
              <a:t>API</a:t>
            </a:r>
            <a:r>
              <a:rPr lang="zh-CN" altLang="en-US" dirty="0"/>
              <a:t>，比如</a:t>
            </a:r>
            <a:r>
              <a:rPr lang="en-US" altLang="zh-CN" dirty="0"/>
              <a:t>Java</a:t>
            </a:r>
            <a:r>
              <a:rPr lang="zh-CN" altLang="en-US" dirty="0"/>
              <a:t>，在这方面做的不错是</a:t>
            </a:r>
            <a:r>
              <a:rPr lang="en-US" altLang="zh-CN" dirty="0"/>
              <a:t>MongoDB</a:t>
            </a:r>
            <a:r>
              <a:rPr lang="zh-CN" altLang="en-US" dirty="0"/>
              <a:t>。</a:t>
            </a:r>
            <a:endParaRPr lang="zh-CN" altLang="en-US" dirty="0"/>
          </a:p>
          <a:p>
            <a:pPr lvl="1"/>
            <a:r>
              <a:rPr lang="zh-CN" altLang="en-US" dirty="0"/>
              <a:t>最后一个是提供</a:t>
            </a:r>
            <a:r>
              <a:rPr lang="en-US" altLang="zh-CN" dirty="0"/>
              <a:t>SQL</a:t>
            </a:r>
            <a:r>
              <a:rPr lang="zh-CN" altLang="en-US" dirty="0"/>
              <a:t>的子集，虽然“</a:t>
            </a:r>
            <a:r>
              <a:rPr lang="en-US" altLang="zh-CN" dirty="0"/>
              <a:t>Join”</a:t>
            </a:r>
            <a:r>
              <a:rPr lang="zh-CN" altLang="en-US" dirty="0"/>
              <a:t>在</a:t>
            </a:r>
            <a:r>
              <a:rPr lang="en-US" altLang="zh-CN" dirty="0"/>
              <a:t>NoSQL</a:t>
            </a:r>
            <a:r>
              <a:rPr lang="zh-CN" altLang="en-US" dirty="0"/>
              <a:t>属于禁忌，但 是提供一个</a:t>
            </a:r>
            <a:r>
              <a:rPr lang="en-US" altLang="zh-CN" dirty="0"/>
              <a:t>SQL</a:t>
            </a:r>
            <a:r>
              <a:rPr lang="zh-CN" altLang="en-US" dirty="0"/>
              <a:t>的基本子集来方便用户也是一个不错的想法。 </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92500" lnSpcReduction="20000"/>
          </a:bodyPr>
          <a:lstStyle/>
          <a:p>
            <a:r>
              <a:rPr lang="zh-CN" altLang="en-US" dirty="0"/>
              <a:t>逻辑数据模型层</a:t>
            </a:r>
            <a:r>
              <a:rPr lang="en-US" altLang="zh-CN" dirty="0"/>
              <a:t>(Logical Data Model)</a:t>
            </a:r>
            <a:endParaRPr lang="en-US" altLang="zh-CN" dirty="0"/>
          </a:p>
          <a:p>
            <a:pPr lvl="1"/>
            <a:r>
              <a:rPr lang="zh-CN" altLang="en-US" dirty="0"/>
              <a:t>这层的主要作用是描述数据的逻辑表现形式，而且与关系型数据库相比</a:t>
            </a:r>
            <a:r>
              <a:rPr lang="en-US" altLang="zh-CN" dirty="0"/>
              <a:t>NoSQL</a:t>
            </a:r>
            <a:r>
              <a:rPr lang="zh-CN" altLang="en-US" dirty="0"/>
              <a:t>在逻辑表现形式方面相当灵活，主要有四种形式：</a:t>
            </a:r>
            <a:endParaRPr lang="zh-CN" altLang="en-US" dirty="0"/>
          </a:p>
          <a:p>
            <a:pPr lvl="1"/>
            <a:r>
              <a:rPr lang="zh-CN" altLang="en-US" dirty="0"/>
              <a:t>最普通的</a:t>
            </a:r>
            <a:r>
              <a:rPr lang="en-US" altLang="zh-CN" dirty="0"/>
              <a:t>Key- Value</a:t>
            </a:r>
            <a:r>
              <a:rPr lang="zh-CN" altLang="en-US" dirty="0"/>
              <a:t>形式，这种形式在表现形式是比较单一，但是在扩展方面很有优势，采用</a:t>
            </a:r>
            <a:r>
              <a:rPr lang="en-US" altLang="zh-CN" dirty="0"/>
              <a:t>Key-Value</a:t>
            </a:r>
            <a:r>
              <a:rPr lang="zh-CN" altLang="en-US" dirty="0"/>
              <a:t>形式产品的有</a:t>
            </a:r>
            <a:r>
              <a:rPr lang="en-US" altLang="zh-CN" dirty="0"/>
              <a:t>Voldemort</a:t>
            </a:r>
            <a:r>
              <a:rPr lang="zh-CN" altLang="en-US" dirty="0"/>
              <a:t>等。</a:t>
            </a:r>
            <a:endParaRPr lang="zh-CN" altLang="en-US" dirty="0"/>
          </a:p>
          <a:p>
            <a:pPr lvl="1"/>
            <a:r>
              <a:rPr lang="zh-CN" altLang="en-US" dirty="0"/>
              <a:t>列式 </a:t>
            </a:r>
            <a:r>
              <a:rPr lang="en-US" altLang="zh-CN" dirty="0"/>
              <a:t>(Column Family)</a:t>
            </a:r>
            <a:r>
              <a:rPr lang="zh-CN" altLang="en-US" dirty="0"/>
              <a:t>，这种形式与</a:t>
            </a:r>
            <a:r>
              <a:rPr lang="en-US" altLang="zh-CN" dirty="0"/>
              <a:t>Key-Value</a:t>
            </a:r>
            <a:r>
              <a:rPr lang="zh-CN" altLang="en-US" dirty="0"/>
              <a:t>相比其能支持更复杂的数据，但是在扩展方面稍逊一筹，其相关产品有</a:t>
            </a:r>
            <a:r>
              <a:rPr lang="en-US" altLang="zh-CN" dirty="0" err="1"/>
              <a:t>BigTable</a:t>
            </a:r>
            <a:r>
              <a:rPr lang="zh-CN" altLang="en-US" dirty="0"/>
              <a:t>，</a:t>
            </a:r>
            <a:r>
              <a:rPr lang="en-US" altLang="zh-CN" dirty="0"/>
              <a:t>HBase</a:t>
            </a:r>
            <a:r>
              <a:rPr lang="zh-CN" altLang="en-US" dirty="0"/>
              <a:t>和 </a:t>
            </a:r>
            <a:r>
              <a:rPr lang="en-US" altLang="zh-CN" dirty="0" err="1"/>
              <a:t>Cassnadra</a:t>
            </a:r>
            <a:r>
              <a:rPr lang="zh-CN" altLang="en-US" dirty="0"/>
              <a:t>等。</a:t>
            </a:r>
            <a:endParaRPr lang="zh-CN" altLang="en-US" dirty="0"/>
          </a:p>
          <a:p>
            <a:pPr lvl="1"/>
            <a:r>
              <a:rPr lang="zh-CN" altLang="en-US" dirty="0"/>
              <a:t>文档</a:t>
            </a:r>
            <a:r>
              <a:rPr lang="en-US" altLang="zh-CN" dirty="0"/>
              <a:t>(</a:t>
            </a:r>
            <a:r>
              <a:rPr lang="en-US" altLang="zh-CN" dirty="0" err="1"/>
              <a:t>Doucument</a:t>
            </a:r>
            <a:r>
              <a:rPr lang="en-US" altLang="zh-CN" dirty="0"/>
              <a:t>)</a:t>
            </a:r>
            <a:r>
              <a:rPr lang="zh-CN" altLang="en-US" dirty="0"/>
              <a:t>形式，文档形式源自于著名协作软件</a:t>
            </a:r>
            <a:r>
              <a:rPr lang="en-US" altLang="zh-CN" dirty="0"/>
              <a:t>Lotus Notes</a:t>
            </a:r>
            <a:r>
              <a:rPr lang="zh-CN" altLang="en-US" dirty="0"/>
              <a:t>，并且本质上与</a:t>
            </a:r>
            <a:r>
              <a:rPr lang="en-US" altLang="zh-CN" dirty="0"/>
              <a:t>Key-Value</a:t>
            </a:r>
            <a:r>
              <a:rPr lang="zh-CN" altLang="en-US" dirty="0"/>
              <a:t>形式非常相似，主要区别在于是那个</a:t>
            </a:r>
            <a:r>
              <a:rPr lang="en-US" altLang="zh-CN" dirty="0"/>
              <a:t>Value</a:t>
            </a:r>
            <a:r>
              <a:rPr lang="zh-CN" altLang="en-US" dirty="0"/>
              <a:t>只能存储文档形式的数据，同时文档形式在对复杂数据的支持和扩展 这两方面表现都还可以，采用文档形式的产品有</a:t>
            </a:r>
            <a:r>
              <a:rPr lang="en-US" altLang="zh-CN" dirty="0"/>
              <a:t>Couch DB</a:t>
            </a:r>
            <a:r>
              <a:rPr lang="zh-CN" altLang="en-US" dirty="0"/>
              <a:t>和</a:t>
            </a:r>
            <a:r>
              <a:rPr lang="en-US" altLang="zh-CN" dirty="0"/>
              <a:t>MongoDB</a:t>
            </a:r>
            <a:r>
              <a:rPr lang="zh-CN" altLang="en-US" dirty="0"/>
              <a:t>等。</a:t>
            </a:r>
            <a:endParaRPr lang="zh-CN" altLang="en-US" dirty="0"/>
          </a:p>
          <a:p>
            <a:pPr lvl="1"/>
            <a:r>
              <a:rPr lang="zh-CN" altLang="en-US" dirty="0"/>
              <a:t>图</a:t>
            </a:r>
            <a:r>
              <a:rPr lang="en-US" altLang="zh-CN" dirty="0"/>
              <a:t>(Graph)</a:t>
            </a:r>
            <a:r>
              <a:rPr lang="zh-CN" altLang="en-US" dirty="0"/>
              <a:t>式，图式的使用场景不是很广，主要是为基于图数据结构的数据“度身定做”的，比如</a:t>
            </a:r>
            <a:r>
              <a:rPr lang="en-US" altLang="zh-CN" dirty="0"/>
              <a:t>SNS</a:t>
            </a:r>
            <a:r>
              <a:rPr lang="zh-CN" altLang="en-US" dirty="0"/>
              <a:t>应用中的关系等，其最知名的产品就是 </a:t>
            </a:r>
            <a:r>
              <a:rPr lang="en-US" altLang="zh-CN" dirty="0"/>
              <a:t>Neo4j</a:t>
            </a:r>
            <a:r>
              <a:rPr lang="zh-CN" altLang="en-US" dirty="0"/>
              <a:t>。</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数据分布层</a:t>
            </a:r>
            <a:r>
              <a:rPr lang="en-US" altLang="zh-CN" dirty="0"/>
              <a:t>(Data Distribution Model)</a:t>
            </a:r>
            <a:endParaRPr lang="en-US" altLang="zh-CN" dirty="0"/>
          </a:p>
          <a:p>
            <a:pPr lvl="1"/>
            <a:r>
              <a:rPr lang="zh-CN" altLang="en-US" dirty="0"/>
              <a:t>这层的主要作用是定义了数据是如何分布的，和关系型数据库不同的是</a:t>
            </a:r>
            <a:r>
              <a:rPr lang="en-US" altLang="zh-CN" dirty="0"/>
              <a:t>NoSQL</a:t>
            </a:r>
            <a:r>
              <a:rPr lang="zh-CN" altLang="en-US" dirty="0"/>
              <a:t>数据库可选择的机制比较多，主要有三种：</a:t>
            </a:r>
            <a:endParaRPr lang="zh-CN" altLang="en-US" dirty="0"/>
          </a:p>
          <a:p>
            <a:pPr lvl="1"/>
            <a:r>
              <a:rPr lang="zh-CN" altLang="en-US" dirty="0"/>
              <a:t>其一是用于水平扩展的</a:t>
            </a:r>
            <a:r>
              <a:rPr lang="en-US" altLang="zh-CN" dirty="0"/>
              <a:t>CAP</a:t>
            </a:r>
            <a:r>
              <a:rPr lang="zh-CN" altLang="en-US" dirty="0"/>
              <a:t>机制，支 持</a:t>
            </a:r>
            <a:r>
              <a:rPr lang="en-US" altLang="zh-CN" dirty="0"/>
              <a:t>CAP</a:t>
            </a:r>
            <a:r>
              <a:rPr lang="zh-CN" altLang="en-US" dirty="0"/>
              <a:t>的产品有</a:t>
            </a:r>
            <a:r>
              <a:rPr lang="en-US" altLang="zh-CN" dirty="0"/>
              <a:t>HBase</a:t>
            </a:r>
            <a:r>
              <a:rPr lang="zh-CN" altLang="en-US" dirty="0"/>
              <a:t>，</a:t>
            </a:r>
            <a:r>
              <a:rPr lang="en-US" altLang="zh-CN" dirty="0"/>
              <a:t>MongoDB</a:t>
            </a:r>
            <a:r>
              <a:rPr lang="zh-CN" altLang="en-US" dirty="0"/>
              <a:t>和</a:t>
            </a:r>
            <a:r>
              <a:rPr lang="en-US" altLang="zh-CN" dirty="0"/>
              <a:t>Cassandra</a:t>
            </a:r>
            <a:r>
              <a:rPr lang="zh-CN" altLang="en-US" dirty="0"/>
              <a:t>等。</a:t>
            </a:r>
            <a:endParaRPr lang="zh-CN" altLang="en-US" dirty="0"/>
          </a:p>
          <a:p>
            <a:pPr lvl="1"/>
            <a:r>
              <a:rPr lang="zh-CN" altLang="en-US" dirty="0"/>
              <a:t>其二是对多数据中心的支持，通过这个机制能够保证横跨多数据中心的</a:t>
            </a:r>
            <a:r>
              <a:rPr lang="en-US" altLang="zh-CN" dirty="0"/>
              <a:t>NoSQL</a:t>
            </a:r>
            <a:r>
              <a:rPr lang="zh-CN" altLang="en-US" dirty="0"/>
              <a:t>数据库 能非常平稳地运行，相关的产品有</a:t>
            </a:r>
            <a:r>
              <a:rPr lang="en-US" altLang="zh-CN" dirty="0"/>
              <a:t>Cassandra</a:t>
            </a:r>
            <a:r>
              <a:rPr lang="zh-CN" altLang="en-US" dirty="0"/>
              <a:t>等。</a:t>
            </a:r>
            <a:endParaRPr lang="zh-CN" altLang="en-US" dirty="0"/>
          </a:p>
          <a:p>
            <a:pPr lvl="1"/>
            <a:r>
              <a:rPr lang="zh-CN" altLang="en-US" dirty="0"/>
              <a:t>其三是支持动态部署，也就是能在一个生产集群中能动态并且平滑地添加或者删去一个节点</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数据持久层</a:t>
            </a:r>
            <a:r>
              <a:rPr lang="en-US" altLang="zh-CN" dirty="0"/>
              <a:t>(Data Persistence)</a:t>
            </a:r>
            <a:endParaRPr lang="en-US" altLang="zh-CN" dirty="0"/>
          </a:p>
          <a:p>
            <a:pPr lvl="1"/>
            <a:r>
              <a:rPr lang="zh-CN" altLang="en-US" dirty="0"/>
              <a:t>这层主要作用是定义了数据的存储形式，主要有四种形式：</a:t>
            </a:r>
            <a:endParaRPr lang="zh-CN" altLang="en-US" dirty="0"/>
          </a:p>
          <a:p>
            <a:pPr lvl="1"/>
            <a:r>
              <a:rPr lang="zh-CN" altLang="en-US" dirty="0"/>
              <a:t>基于内存形式，这种形式速度最快，但是存在丢失数据的可能性，采 用内存的有</a:t>
            </a:r>
            <a:r>
              <a:rPr lang="en-US" altLang="zh-CN" dirty="0"/>
              <a:t>Redis</a:t>
            </a:r>
            <a:r>
              <a:rPr lang="zh-CN" altLang="en-US" dirty="0"/>
              <a:t>等。</a:t>
            </a:r>
            <a:endParaRPr lang="zh-CN" altLang="en-US" dirty="0"/>
          </a:p>
          <a:p>
            <a:pPr lvl="1"/>
            <a:r>
              <a:rPr lang="zh-CN" altLang="en-US" dirty="0"/>
              <a:t>基于硬盘形式，这种形式，在数据耐久性方面表现不错，但是在速度方面远不如基于内存，其相关产品有</a:t>
            </a:r>
            <a:r>
              <a:rPr lang="en-US" altLang="zh-CN" dirty="0"/>
              <a:t>MongoDB</a:t>
            </a:r>
            <a:r>
              <a:rPr lang="zh-CN" altLang="en-US" dirty="0"/>
              <a:t>等。</a:t>
            </a:r>
            <a:endParaRPr lang="zh-CN" altLang="en-US" dirty="0"/>
          </a:p>
          <a:p>
            <a:pPr lvl="1"/>
            <a:r>
              <a:rPr lang="zh-CN" altLang="en-US" dirty="0"/>
              <a:t>基于内存和硬盘混合形式，因为这种形式主要结合前面两者的优点，所以其在速度上表现不错，同时数据也不会丢失，而且常被认为是最合适的方案，采用这种形式的产品 有</a:t>
            </a:r>
            <a:r>
              <a:rPr lang="en-US" altLang="zh-CN" dirty="0"/>
              <a:t>HBase</a:t>
            </a:r>
            <a:r>
              <a:rPr lang="zh-CN" altLang="en-US" dirty="0"/>
              <a:t>和</a:t>
            </a:r>
            <a:r>
              <a:rPr lang="en-US" altLang="zh-CN" dirty="0"/>
              <a:t>Cassandra</a:t>
            </a:r>
            <a:r>
              <a:rPr lang="zh-CN" altLang="en-US" dirty="0"/>
              <a:t>等。</a:t>
            </a:r>
            <a:endParaRPr lang="zh-CN" altLang="en-US" dirty="0"/>
          </a:p>
          <a:p>
            <a:pPr lvl="1"/>
            <a:r>
              <a:rPr lang="zh-CN" altLang="en-US" dirty="0"/>
              <a:t>定制可插拔</a:t>
            </a:r>
            <a:r>
              <a:rPr lang="en-US" altLang="zh-CN" dirty="0"/>
              <a:t>(Custom Pluggable)</a:t>
            </a:r>
            <a:r>
              <a:rPr lang="zh-CN" altLang="en-US" dirty="0"/>
              <a:t>形式，这种形式以灵活著称。</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从</a:t>
            </a:r>
            <a:r>
              <a:rPr lang="en-US" altLang="zh-CN" dirty="0"/>
              <a:t>NoSQL</a:t>
            </a:r>
            <a:r>
              <a:rPr lang="zh-CN" altLang="en-US" dirty="0"/>
              <a:t>到</a:t>
            </a:r>
            <a:r>
              <a:rPr lang="en-US" altLang="zh-CN" dirty="0"/>
              <a:t>NewSQL</a:t>
            </a:r>
            <a:r>
              <a:rPr lang="zh-CN" altLang="en-US" dirty="0"/>
              <a:t>数据库</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18360" y="2167128"/>
            <a:ext cx="7543800"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4023360" y="5578636"/>
            <a:ext cx="4488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11-6 </a:t>
            </a:r>
            <a:r>
              <a:rPr lang="zh-CN" altLang="en-US" sz="2000" dirty="0">
                <a:latin typeface="微软雅黑" panose="020B0503020204020204" pitchFamily="34" charset="-122"/>
                <a:ea typeface="微软雅黑" panose="020B0503020204020204" pitchFamily="34" charset="-122"/>
              </a:rPr>
              <a:t>大数据引发数据处理架构变革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从</a:t>
            </a:r>
            <a:r>
              <a:rPr lang="en-US" altLang="zh-CN" dirty="0"/>
              <a:t>NoSQL</a:t>
            </a:r>
            <a:r>
              <a:rPr lang="zh-CN" altLang="en-US" dirty="0"/>
              <a:t>到</a:t>
            </a:r>
            <a:r>
              <a:rPr lang="en-US" altLang="zh-CN" dirty="0"/>
              <a:t>NewSQL</a:t>
            </a:r>
            <a:r>
              <a:rPr lang="zh-CN" altLang="en-US" dirty="0"/>
              <a:t>数据库</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456871" y="1233488"/>
            <a:ext cx="731520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2689915" y="6156295"/>
            <a:ext cx="68675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11-7 </a:t>
            </a:r>
            <a:r>
              <a:rPr lang="zh-CN" altLang="en-US" sz="2000" dirty="0">
                <a:latin typeface="微软雅黑" panose="020B0503020204020204" pitchFamily="34" charset="-122"/>
                <a:ea typeface="微软雅黑" panose="020B0503020204020204" pitchFamily="34" charset="-122"/>
              </a:rPr>
              <a:t>关系数据库、</a:t>
            </a:r>
            <a:r>
              <a:rPr lang="en-US" altLang="zh-CN" sz="2000" dirty="0">
                <a:latin typeface="微软雅黑" panose="020B0503020204020204" pitchFamily="34" charset="-122"/>
                <a:ea typeface="微软雅黑" panose="020B0503020204020204" pitchFamily="34" charset="-122"/>
              </a:rPr>
              <a:t>NoSQL</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NewSQL</a:t>
            </a:r>
            <a:r>
              <a:rPr lang="zh-CN" altLang="en-US" sz="2000" dirty="0">
                <a:latin typeface="微软雅黑" panose="020B0503020204020204" pitchFamily="34" charset="-122"/>
                <a:ea typeface="微软雅黑" panose="020B0503020204020204" pitchFamily="34" charset="-122"/>
              </a:rPr>
              <a:t>数据库产品分类</a:t>
            </a:r>
            <a:r>
              <a:rPr lang="zh-CN" altLang="en-US" dirty="0"/>
              <a:t>图 </a:t>
            </a:r>
            <a:endParaRPr lang="zh-CN" alt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主要的</a:t>
            </a:r>
            <a:r>
              <a:rPr lang="en-US" altLang="zh-CN" dirty="0"/>
              <a:t>NoSQL</a:t>
            </a:r>
            <a:r>
              <a:rPr lang="zh-CN" altLang="en-US" dirty="0"/>
              <a:t>数据库</a:t>
            </a:r>
            <a:endParaRPr lang="en-US" altLang="zh-CN" dirty="0"/>
          </a:p>
          <a:p>
            <a:pPr lvl="1"/>
            <a:r>
              <a:rPr lang="en-US" altLang="zh-CN" dirty="0" err="1"/>
              <a:t>BigTable</a:t>
            </a:r>
            <a:r>
              <a:rPr lang="en-US" altLang="zh-CN" dirty="0"/>
              <a:t>/HBase</a:t>
            </a:r>
            <a:r>
              <a:rPr lang="zh-CN" altLang="en-US" dirty="0"/>
              <a:t>：在数据模型上面属于</a:t>
            </a:r>
            <a:r>
              <a:rPr lang="en-US" altLang="zh-CN" dirty="0"/>
              <a:t>Column-Family</a:t>
            </a:r>
            <a:r>
              <a:rPr lang="zh-CN" altLang="en-US" dirty="0"/>
              <a:t>，采用了</a:t>
            </a:r>
            <a:r>
              <a:rPr lang="en-US" altLang="zh-CN" dirty="0"/>
              <a:t>Single Master</a:t>
            </a:r>
            <a:r>
              <a:rPr lang="zh-CN" altLang="en-US" dirty="0"/>
              <a:t>的分布式架构，主要为了存储海量的数据，不强调低延迟。</a:t>
            </a:r>
            <a:endParaRPr lang="zh-CN" altLang="en-US" dirty="0"/>
          </a:p>
          <a:p>
            <a:pPr lvl="1"/>
            <a:r>
              <a:rPr lang="en-US" altLang="zh-CN" dirty="0"/>
              <a:t>Cassandra</a:t>
            </a:r>
            <a:r>
              <a:rPr lang="zh-CN" altLang="en-US" dirty="0"/>
              <a:t>：在数据模型方面继承</a:t>
            </a:r>
            <a:r>
              <a:rPr lang="en-US" altLang="zh-CN" dirty="0" err="1"/>
              <a:t>BigTable</a:t>
            </a:r>
            <a:r>
              <a:rPr lang="zh-CN" altLang="en-US" dirty="0"/>
              <a:t>，也是</a:t>
            </a:r>
            <a:r>
              <a:rPr lang="en-US" altLang="zh-CN" dirty="0"/>
              <a:t>Column-Family </a:t>
            </a:r>
            <a:r>
              <a:rPr lang="zh-CN" altLang="en-US" dirty="0"/>
              <a:t>，采用</a:t>
            </a:r>
            <a:r>
              <a:rPr lang="en-US" altLang="zh-CN" dirty="0"/>
              <a:t>Dynamo</a:t>
            </a:r>
            <a:r>
              <a:rPr lang="zh-CN" altLang="en-US" dirty="0"/>
              <a:t>的机制，其分布式架构类似</a:t>
            </a:r>
            <a:r>
              <a:rPr lang="en-US" altLang="zh-CN" dirty="0"/>
              <a:t>P2P</a:t>
            </a:r>
            <a:r>
              <a:rPr lang="zh-CN" altLang="en-US" dirty="0"/>
              <a:t>。</a:t>
            </a:r>
            <a:endParaRPr lang="zh-CN" altLang="en-US" dirty="0"/>
          </a:p>
          <a:p>
            <a:pPr lvl="1"/>
            <a:r>
              <a:rPr lang="en-US" altLang="zh-CN" dirty="0"/>
              <a:t>Redis</a:t>
            </a:r>
            <a:r>
              <a:rPr lang="zh-CN" altLang="en-US" dirty="0"/>
              <a:t>：是</a:t>
            </a:r>
            <a:r>
              <a:rPr lang="en-US" altLang="zh-CN" dirty="0"/>
              <a:t>Key-Value</a:t>
            </a:r>
            <a:r>
              <a:rPr lang="zh-CN" altLang="en-US" dirty="0"/>
              <a:t>的，对</a:t>
            </a:r>
            <a:r>
              <a:rPr lang="en-US" altLang="zh-CN" dirty="0"/>
              <a:t>List</a:t>
            </a:r>
            <a:r>
              <a:rPr lang="zh-CN" altLang="en-US" dirty="0"/>
              <a:t>和</a:t>
            </a:r>
            <a:r>
              <a:rPr lang="en-US" altLang="zh-CN" dirty="0"/>
              <a:t>Set</a:t>
            </a:r>
            <a:r>
              <a:rPr lang="zh-CN" altLang="en-US" dirty="0"/>
              <a:t>这些操作有原生的支持，由于数据集都是放置于内存中，所以读写速度非常快，但是对分布式支持非常有限。</a:t>
            </a:r>
            <a:endParaRPr lang="zh-CN" altLang="en-US" dirty="0"/>
          </a:p>
          <a:p>
            <a:pPr lvl="1"/>
            <a:r>
              <a:rPr lang="en-US" altLang="zh-CN" dirty="0"/>
              <a:t>MongoDB</a:t>
            </a:r>
            <a:r>
              <a:rPr lang="zh-CN" altLang="en-US" dirty="0"/>
              <a:t>：是</a:t>
            </a:r>
            <a:r>
              <a:rPr lang="en-US" altLang="zh-CN" dirty="0"/>
              <a:t>Document DB</a:t>
            </a:r>
            <a:r>
              <a:rPr lang="zh-CN" altLang="en-US" dirty="0"/>
              <a:t>，提供功能相对而言，比较完善，在分布式方面，有</a:t>
            </a:r>
            <a:r>
              <a:rPr lang="en-US" altLang="zh-CN" dirty="0"/>
              <a:t>Replica Sets</a:t>
            </a:r>
            <a:r>
              <a:rPr lang="zh-CN" altLang="en-US" dirty="0"/>
              <a:t>这样的新一代</a:t>
            </a:r>
            <a:r>
              <a:rPr lang="en-US" altLang="zh-CN" dirty="0"/>
              <a:t>Master/Slave Replication</a:t>
            </a:r>
            <a:r>
              <a:rPr lang="zh-CN" altLang="en-US" dirty="0"/>
              <a:t>机制。</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92500" lnSpcReduction="10000"/>
          </a:bodyPr>
          <a:lstStyle/>
          <a:p>
            <a:r>
              <a:rPr lang="en-US" altLang="zh-CN" dirty="0" err="1"/>
              <a:t>BigTable</a:t>
            </a:r>
            <a:endParaRPr lang="en-US" altLang="zh-CN" dirty="0"/>
          </a:p>
          <a:p>
            <a:pPr lvl="1"/>
            <a:r>
              <a:rPr lang="zh-CN" altLang="en-US" dirty="0"/>
              <a:t>简介</a:t>
            </a:r>
            <a:endParaRPr lang="en-US" altLang="zh-CN" dirty="0"/>
          </a:p>
          <a:p>
            <a:pPr lvl="2"/>
            <a:r>
              <a:rPr lang="en-US" altLang="zh-CN" dirty="0"/>
              <a:t>Bigtable</a:t>
            </a:r>
            <a:r>
              <a:rPr lang="zh-CN" altLang="en-US" dirty="0"/>
              <a:t>是一个分布式的结构化数据存储系统，它被设计用来处理海量数据：通常是分布在数千台普通服务器上的</a:t>
            </a:r>
            <a:r>
              <a:rPr lang="en-US" altLang="zh-CN" dirty="0"/>
              <a:t>PB</a:t>
            </a:r>
            <a:r>
              <a:rPr lang="zh-CN" altLang="en-US" dirty="0"/>
              <a:t>级的数据。</a:t>
            </a:r>
            <a:r>
              <a:rPr lang="en-US" altLang="zh-CN" dirty="0"/>
              <a:t>Google</a:t>
            </a:r>
            <a:r>
              <a:rPr lang="zh-CN" altLang="en-US" dirty="0"/>
              <a:t>的很多项目使用</a:t>
            </a:r>
            <a:r>
              <a:rPr lang="en-US" altLang="zh-CN" dirty="0"/>
              <a:t>Bigtable</a:t>
            </a:r>
            <a:r>
              <a:rPr lang="zh-CN" altLang="en-US" dirty="0"/>
              <a:t>存储数据，包括</a:t>
            </a:r>
            <a:r>
              <a:rPr lang="en-US" altLang="zh-CN" dirty="0"/>
              <a:t>Web</a:t>
            </a:r>
            <a:r>
              <a:rPr lang="zh-CN" altLang="en-US" dirty="0"/>
              <a:t>索引、</a:t>
            </a:r>
            <a:r>
              <a:rPr lang="en-US" altLang="zh-CN" dirty="0"/>
              <a:t>Google Earth</a:t>
            </a:r>
            <a:r>
              <a:rPr lang="zh-CN" altLang="en-US" dirty="0"/>
              <a:t>等</a:t>
            </a:r>
            <a:endParaRPr lang="en-US" altLang="zh-CN" dirty="0"/>
          </a:p>
          <a:p>
            <a:pPr lvl="1"/>
            <a:r>
              <a:rPr lang="zh-CN" altLang="en-US" dirty="0"/>
              <a:t>应用场景</a:t>
            </a:r>
            <a:endParaRPr lang="en-US" altLang="zh-CN" dirty="0"/>
          </a:p>
          <a:p>
            <a:pPr lvl="2"/>
            <a:r>
              <a:rPr lang="zh-CN" altLang="en-US" dirty="0"/>
              <a:t>建立互联网索引</a:t>
            </a:r>
            <a:endParaRPr lang="en-US" altLang="zh-CN" dirty="0"/>
          </a:p>
          <a:p>
            <a:pPr lvl="3"/>
            <a:r>
              <a:rPr lang="zh-CN" altLang="en-US" dirty="0"/>
              <a:t>爬虫持续不断地抓取新页面，这些页面每页一行地存储到</a:t>
            </a:r>
            <a:r>
              <a:rPr lang="en-US" altLang="zh-CN" dirty="0" err="1"/>
              <a:t>BigTable</a:t>
            </a:r>
            <a:r>
              <a:rPr lang="zh-CN" altLang="en-US" dirty="0"/>
              <a:t>里</a:t>
            </a:r>
            <a:endParaRPr lang="zh-CN" altLang="en-US" dirty="0"/>
          </a:p>
          <a:p>
            <a:pPr lvl="3"/>
            <a:r>
              <a:rPr lang="en-US" altLang="zh-CN" dirty="0"/>
              <a:t>MapReduce</a:t>
            </a:r>
            <a:r>
              <a:rPr lang="zh-CN" altLang="en-US" dirty="0"/>
              <a:t>计算作业运行在整张表上，生成索引，为网络搜索应用做准备</a:t>
            </a:r>
            <a:endParaRPr lang="zh-CN" altLang="en-US" dirty="0"/>
          </a:p>
          <a:p>
            <a:pPr lvl="2"/>
            <a:r>
              <a:rPr lang="zh-CN" altLang="en-US" dirty="0"/>
              <a:t>搜索互联网</a:t>
            </a:r>
            <a:endParaRPr lang="en-US" altLang="zh-CN" dirty="0"/>
          </a:p>
          <a:p>
            <a:pPr lvl="3"/>
            <a:r>
              <a:rPr lang="zh-CN" altLang="en-US" dirty="0"/>
              <a:t>用户发起网络搜索请求</a:t>
            </a:r>
            <a:endParaRPr lang="zh-CN" altLang="en-US" dirty="0"/>
          </a:p>
          <a:p>
            <a:pPr lvl="3"/>
            <a:r>
              <a:rPr lang="zh-CN" altLang="en-US" dirty="0"/>
              <a:t>网络搜索应用查询建立好的索引，从</a:t>
            </a:r>
            <a:r>
              <a:rPr lang="en-US" altLang="zh-CN" dirty="0" err="1"/>
              <a:t>BigTable</a:t>
            </a:r>
            <a:r>
              <a:rPr lang="zh-CN" altLang="en-US" dirty="0"/>
              <a:t>得到网页</a:t>
            </a:r>
            <a:endParaRPr lang="zh-CN" altLang="en-US" dirty="0"/>
          </a:p>
          <a:p>
            <a:pPr lvl="3"/>
            <a:r>
              <a:rPr lang="zh-CN" altLang="en-US" dirty="0"/>
              <a:t>搜索结果提交给用户</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err="1"/>
              <a:t>BigTable</a:t>
            </a:r>
            <a:endParaRPr lang="en-US" altLang="zh-CN" dirty="0"/>
          </a:p>
          <a:p>
            <a:pPr lvl="1"/>
            <a:r>
              <a:rPr lang="zh-CN" altLang="en-US" dirty="0"/>
              <a:t>数据模型</a:t>
            </a:r>
            <a:endParaRPr lang="en-US" altLang="zh-CN" dirty="0"/>
          </a:p>
          <a:p>
            <a:pPr lvl="2"/>
            <a:r>
              <a:rPr lang="en-US" altLang="zh-CN" dirty="0"/>
              <a:t>Bigtable</a:t>
            </a:r>
            <a:r>
              <a:rPr lang="zh-CN" altLang="en-US" dirty="0"/>
              <a:t>是一个稀疏的、分布式的、持久化存储的多维度排序</a:t>
            </a:r>
            <a:r>
              <a:rPr lang="en-US" altLang="zh-CN" dirty="0"/>
              <a:t>Map</a:t>
            </a:r>
            <a:r>
              <a:rPr lang="zh-CN" altLang="en-US" dirty="0"/>
              <a:t>。</a:t>
            </a:r>
            <a:endParaRPr lang="zh-CN" altLang="en-US" dirty="0"/>
          </a:p>
          <a:p>
            <a:pPr lvl="2"/>
            <a:r>
              <a:rPr lang="en-US" altLang="zh-CN" dirty="0"/>
              <a:t>Map</a:t>
            </a:r>
            <a:r>
              <a:rPr lang="zh-CN" altLang="en-US" dirty="0"/>
              <a:t>的索引是行关键字、列关键字以及时间戳；</a:t>
            </a:r>
            <a:r>
              <a:rPr lang="en-US" altLang="zh-CN" dirty="0"/>
              <a:t>Map</a:t>
            </a:r>
            <a:r>
              <a:rPr lang="zh-CN" altLang="en-US" dirty="0"/>
              <a:t>中的每个</a:t>
            </a:r>
            <a:r>
              <a:rPr lang="en-US" altLang="zh-CN" dirty="0"/>
              <a:t>value</a:t>
            </a:r>
            <a:r>
              <a:rPr lang="zh-CN" altLang="en-US" dirty="0"/>
              <a:t>都是一个未经解析的</a:t>
            </a:r>
            <a:r>
              <a:rPr lang="en-US" altLang="zh-CN" dirty="0"/>
              <a:t>byte</a:t>
            </a:r>
            <a:r>
              <a:rPr lang="zh-CN" altLang="en-US" dirty="0"/>
              <a:t>数组</a:t>
            </a:r>
            <a:endParaRPr lang="zh-CN" altLang="en-US" dirty="0"/>
          </a:p>
          <a:p>
            <a:pPr lvl="1"/>
            <a:r>
              <a:rPr lang="en-US" altLang="zh-CN" dirty="0"/>
              <a:t>(</a:t>
            </a:r>
            <a:r>
              <a:rPr lang="en-US" altLang="zh-CN" dirty="0" err="1"/>
              <a:t>row:string</a:t>
            </a:r>
            <a:r>
              <a:rPr lang="en-US" altLang="zh-CN" dirty="0"/>
              <a:t>, column:string,time:int64)-&gt;string</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err="1"/>
              <a:t>BigTable</a:t>
            </a:r>
            <a:endParaRPr lang="en-US" altLang="zh-CN" dirty="0"/>
          </a:p>
          <a:p>
            <a:pPr lvl="1"/>
            <a:r>
              <a:rPr lang="zh-CN" altLang="en-US" dirty="0"/>
              <a:t>数据模型</a:t>
            </a:r>
            <a:endParaRPr lang="zh-CN" altLang="en-US" dirty="0"/>
          </a:p>
          <a:p>
            <a:pPr lvl="2"/>
            <a:r>
              <a:rPr lang="zh-CN" altLang="en-US" dirty="0"/>
              <a:t>一个存储</a:t>
            </a:r>
            <a:r>
              <a:rPr lang="en-US" altLang="zh-CN" dirty="0"/>
              <a:t>Web</a:t>
            </a:r>
            <a:r>
              <a:rPr lang="zh-CN" altLang="en-US" dirty="0"/>
              <a:t>网页的例子的表的片断</a:t>
            </a:r>
            <a:endParaRPr lang="en-US" altLang="zh-CN" dirty="0"/>
          </a:p>
          <a:p>
            <a:pPr lvl="2"/>
            <a:r>
              <a:rPr lang="zh-CN" altLang="en-US" dirty="0"/>
              <a:t>行名：”</a:t>
            </a:r>
            <a:r>
              <a:rPr lang="en-US" altLang="zh-CN" dirty="0" err="1"/>
              <a:t>com.cnn.www</a:t>
            </a:r>
            <a:r>
              <a:rPr lang="en-US" altLang="zh-CN" dirty="0"/>
              <a:t>”</a:t>
            </a:r>
            <a:endParaRPr lang="en-US" altLang="zh-CN" dirty="0"/>
          </a:p>
          <a:p>
            <a:pPr lvl="2"/>
            <a:r>
              <a:rPr lang="en-US" altLang="zh-CN" dirty="0"/>
              <a:t>  contents</a:t>
            </a:r>
            <a:r>
              <a:rPr lang="zh-CN" altLang="en-US" dirty="0"/>
              <a:t>列族：存放的是网页的内容</a:t>
            </a:r>
            <a:endParaRPr lang="zh-CN" altLang="en-US" dirty="0"/>
          </a:p>
          <a:p>
            <a:pPr lvl="2"/>
            <a:r>
              <a:rPr lang="zh-CN" altLang="en-US" dirty="0"/>
              <a:t>  </a:t>
            </a:r>
            <a:r>
              <a:rPr lang="en-US" altLang="zh-CN" dirty="0"/>
              <a:t>anchor</a:t>
            </a:r>
            <a:r>
              <a:rPr lang="zh-CN" altLang="en-US" dirty="0"/>
              <a:t>列族：存放引用该网页的锚链接文本。</a:t>
            </a:r>
            <a:endParaRPr lang="zh-CN" altLang="en-US" dirty="0"/>
          </a:p>
          <a:p>
            <a:pPr lvl="2"/>
            <a:r>
              <a:rPr lang="zh-CN" altLang="en-US" dirty="0"/>
              <a:t> “</a:t>
            </a:r>
            <a:r>
              <a:rPr lang="en-US" altLang="zh-CN" dirty="0" err="1"/>
              <a:t>anchor:cnnsi.com</a:t>
            </a:r>
            <a:r>
              <a:rPr lang="en-US" altLang="zh-CN" dirty="0"/>
              <a:t>”</a:t>
            </a:r>
            <a:r>
              <a:rPr lang="zh-CN" altLang="en-US" dirty="0"/>
              <a:t>列表示被</a:t>
            </a:r>
            <a:r>
              <a:rPr lang="en-US" altLang="zh-CN" dirty="0"/>
              <a:t>cnnsi.com</a:t>
            </a:r>
            <a:r>
              <a:rPr lang="zh-CN" altLang="en-US" dirty="0"/>
              <a:t>引用</a:t>
            </a:r>
            <a:endParaRPr lang="zh-CN" altLang="en-US" dirty="0"/>
          </a:p>
          <a:p>
            <a:pPr lvl="2"/>
            <a:r>
              <a:rPr lang="zh-CN" altLang="en-US" dirty="0"/>
              <a:t> “</a:t>
            </a:r>
            <a:r>
              <a:rPr lang="en-US" altLang="zh-CN" dirty="0" err="1"/>
              <a:t>anchhor:my.look.ca</a:t>
            </a:r>
            <a:r>
              <a:rPr lang="en-US" altLang="zh-CN" dirty="0"/>
              <a:t>”</a:t>
            </a:r>
            <a:r>
              <a:rPr lang="zh-CN" altLang="en-US" dirty="0"/>
              <a:t>列表示被</a:t>
            </a:r>
            <a:r>
              <a:rPr lang="en-US" altLang="zh-CN" dirty="0"/>
              <a:t>my.look.ca</a:t>
            </a:r>
            <a:r>
              <a:rPr lang="zh-CN" altLang="en-US" dirty="0"/>
              <a:t>引用</a:t>
            </a:r>
            <a:endParaRPr lang="zh-CN" altLang="en-US" dirty="0"/>
          </a:p>
          <a:p>
            <a:pPr lvl="2"/>
            <a:r>
              <a:rPr lang="zh-CN" altLang="en-US" dirty="0"/>
              <a:t>  </a:t>
            </a:r>
            <a:r>
              <a:rPr lang="en-US" altLang="zh-CN" dirty="0"/>
              <a:t>(”</a:t>
            </a:r>
            <a:r>
              <a:rPr lang="en-US" altLang="zh-CN" dirty="0" err="1"/>
              <a:t>com.cnn.www</a:t>
            </a:r>
            <a:r>
              <a:rPr lang="en-US" altLang="zh-CN" dirty="0"/>
              <a:t>”,” anchor: my.look.ca”,t8)-&gt;”CNN.com”</a:t>
            </a:r>
            <a:endParaRPr lang="en-US" altLang="zh-CN"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图片 3" descr="C:\Documents and Settings\cxw\桌面\Alex &amp;&amp; OpenCould » Bigtable：一个分布式的结构化数据存储系统[中文版]_files\290765020100327153234048_64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1338580"/>
            <a:ext cx="5430838"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err="1"/>
              <a:t>BigTable</a:t>
            </a:r>
            <a:endParaRPr lang="en-US" altLang="zh-CN" dirty="0"/>
          </a:p>
          <a:p>
            <a:pPr lvl="1"/>
            <a:r>
              <a:rPr lang="zh-CN" altLang="en-US" dirty="0"/>
              <a:t>技术要点</a:t>
            </a:r>
            <a:endParaRPr lang="zh-CN" altLang="en-US" dirty="0"/>
          </a:p>
          <a:p>
            <a:pPr lvl="2"/>
            <a:r>
              <a:rPr lang="zh-CN" altLang="en-US" dirty="0"/>
              <a:t>基础：</a:t>
            </a:r>
            <a:r>
              <a:rPr lang="en-US" altLang="zh-CN" dirty="0"/>
              <a:t>GFS, Chubby, </a:t>
            </a:r>
            <a:r>
              <a:rPr lang="en-US" altLang="zh-CN" dirty="0" err="1"/>
              <a:t>SSTable</a:t>
            </a:r>
            <a:r>
              <a:rPr lang="zh-CN" altLang="en-US" dirty="0"/>
              <a:t>。</a:t>
            </a:r>
            <a:endParaRPr lang="zh-CN" altLang="en-US" dirty="0"/>
          </a:p>
          <a:p>
            <a:pPr lvl="2"/>
            <a:r>
              <a:rPr lang="en-US" altLang="zh-CN" dirty="0" err="1"/>
              <a:t>BigTable</a:t>
            </a:r>
            <a:r>
              <a:rPr lang="zh-CN" altLang="en-US" dirty="0"/>
              <a:t>使用</a:t>
            </a:r>
            <a:r>
              <a:rPr lang="en-US" altLang="zh-CN" dirty="0"/>
              <a:t>Google</a:t>
            </a:r>
            <a:r>
              <a:rPr lang="zh-CN" altLang="en-US" dirty="0"/>
              <a:t>的分布式文件系统</a:t>
            </a:r>
            <a:r>
              <a:rPr lang="en-US" altLang="zh-CN" dirty="0"/>
              <a:t>(GFS)</a:t>
            </a:r>
            <a:r>
              <a:rPr lang="zh-CN" altLang="en-US" dirty="0"/>
              <a:t>存储日志文件和数据文件</a:t>
            </a:r>
            <a:endParaRPr lang="zh-CN" altLang="en-US" dirty="0"/>
          </a:p>
          <a:p>
            <a:pPr lvl="2"/>
            <a:r>
              <a:rPr lang="en-US" altLang="zh-CN" dirty="0"/>
              <a:t>Chubby</a:t>
            </a:r>
            <a:r>
              <a:rPr lang="zh-CN" altLang="en-US" dirty="0"/>
              <a:t>是一个高可用的、序列化的分布式锁服务组件</a:t>
            </a:r>
            <a:endParaRPr lang="zh-CN" altLang="en-US" dirty="0"/>
          </a:p>
          <a:p>
            <a:pPr lvl="2"/>
            <a:r>
              <a:rPr lang="en-US" altLang="zh-CN" dirty="0" err="1"/>
              <a:t>BigTable</a:t>
            </a:r>
            <a:r>
              <a:rPr lang="zh-CN" altLang="en-US" dirty="0"/>
              <a:t>内部存储数据的文件是</a:t>
            </a:r>
            <a:r>
              <a:rPr lang="en-US" altLang="zh-CN" dirty="0"/>
              <a:t>Google </a:t>
            </a:r>
            <a:r>
              <a:rPr lang="en-US" altLang="zh-CN" dirty="0" err="1"/>
              <a:t>SSTable</a:t>
            </a:r>
            <a:r>
              <a:rPr lang="zh-CN" altLang="en-US" dirty="0"/>
              <a:t>格式的。</a:t>
            </a:r>
            <a:endParaRPr lang="zh-CN" altLang="en-US" dirty="0"/>
          </a:p>
          <a:p>
            <a:pPr lvl="2"/>
            <a:r>
              <a:rPr lang="zh-CN" altLang="en-US" dirty="0"/>
              <a:t>元数据组织：</a:t>
            </a:r>
            <a:r>
              <a:rPr lang="en-US" altLang="zh-CN" dirty="0"/>
              <a:t>chubby-&gt;metadata-&gt;tablet</a:t>
            </a:r>
            <a:r>
              <a:rPr lang="zh-CN" altLang="en-US" dirty="0"/>
              <a:t>。</a:t>
            </a:r>
            <a:endParaRPr lang="zh-CN" altLang="en-US" dirty="0"/>
          </a:p>
          <a:p>
            <a:pPr lvl="2"/>
            <a:r>
              <a:rPr lang="zh-CN" altLang="en-US" dirty="0"/>
              <a:t>元数据与数据都保存在 </a:t>
            </a:r>
            <a:r>
              <a:rPr lang="en-US" altLang="zh-CN" dirty="0"/>
              <a:t>Google FS </a:t>
            </a:r>
            <a:r>
              <a:rPr lang="zh-CN" altLang="en-US" dirty="0"/>
              <a:t>中，客户端通过 </a:t>
            </a:r>
            <a:r>
              <a:rPr lang="en-US" altLang="zh-CN" dirty="0"/>
              <a:t>Chubby </a:t>
            </a:r>
            <a:r>
              <a:rPr lang="zh-CN" altLang="en-US" dirty="0"/>
              <a:t>服务获得表格元数据的位置。</a:t>
            </a:r>
            <a:endParaRPr lang="zh-CN" altLang="en-US" dirty="0"/>
          </a:p>
          <a:p>
            <a:pPr lvl="2"/>
            <a:endParaRPr lang="en-US" altLang="zh-CN"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err="1"/>
              <a:t>BigTable</a:t>
            </a:r>
            <a:endParaRPr lang="en-US" altLang="zh-CN" dirty="0"/>
          </a:p>
          <a:p>
            <a:pPr lvl="1"/>
            <a:r>
              <a:rPr lang="zh-CN" altLang="en-US" dirty="0"/>
              <a:t>技术要点</a:t>
            </a:r>
            <a:endParaRPr lang="zh-CN" altLang="en-US" dirty="0"/>
          </a:p>
          <a:p>
            <a:pPr lvl="2"/>
            <a:r>
              <a:rPr lang="zh-CN" altLang="en-US" dirty="0"/>
              <a:t>数据维护与访问：</a:t>
            </a:r>
            <a:r>
              <a:rPr lang="en-US" altLang="zh-CN" dirty="0"/>
              <a:t>master server </a:t>
            </a:r>
            <a:r>
              <a:rPr lang="zh-CN" altLang="en-US" dirty="0"/>
              <a:t>将每个 </a:t>
            </a:r>
            <a:r>
              <a:rPr lang="en-US" altLang="zh-CN" dirty="0"/>
              <a:t>tablet </a:t>
            </a:r>
            <a:r>
              <a:rPr lang="zh-CN" altLang="en-US" dirty="0"/>
              <a:t>的管理责任分配给各个 </a:t>
            </a:r>
            <a:r>
              <a:rPr lang="en-US" altLang="zh-CN" dirty="0"/>
              <a:t>tablet server</a:t>
            </a:r>
            <a:r>
              <a:rPr lang="zh-CN" altLang="en-US" dirty="0"/>
              <a:t>，</a:t>
            </a:r>
            <a:r>
              <a:rPr lang="en-US" altLang="zh-CN" dirty="0"/>
              <a:t>tablet </a:t>
            </a:r>
            <a:r>
              <a:rPr lang="zh-CN" altLang="en-US" dirty="0"/>
              <a:t>的分布信息都保存在元数据中，所以客户端无须通过 </a:t>
            </a:r>
            <a:r>
              <a:rPr lang="en-US" altLang="zh-CN" dirty="0"/>
              <a:t>master </a:t>
            </a:r>
            <a:r>
              <a:rPr lang="zh-CN" altLang="en-US" dirty="0"/>
              <a:t>来访问数据，只需要直接跟 </a:t>
            </a:r>
            <a:r>
              <a:rPr lang="en-US" altLang="zh-CN" dirty="0"/>
              <a:t>tablet server </a:t>
            </a:r>
            <a:r>
              <a:rPr lang="zh-CN" altLang="en-US" dirty="0"/>
              <a:t>通信。</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图片 5" descr="bigtable.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76445" y="3608387"/>
            <a:ext cx="5294525" cy="30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err="1"/>
              <a:t>BigTable</a:t>
            </a:r>
            <a:endParaRPr lang="en-US" altLang="zh-CN" dirty="0"/>
          </a:p>
          <a:p>
            <a:pPr lvl="1"/>
            <a:r>
              <a:rPr lang="zh-CN" altLang="en-US" dirty="0"/>
              <a:t>技术要点</a:t>
            </a:r>
            <a:endParaRPr lang="zh-CN" altLang="en-US" dirty="0"/>
          </a:p>
          <a:p>
            <a:pPr lvl="2"/>
            <a:r>
              <a:rPr lang="en-US" altLang="zh-CN" dirty="0"/>
              <a:t>Log-structured </a:t>
            </a:r>
            <a:r>
              <a:rPr lang="zh-CN" altLang="en-US" dirty="0"/>
              <a:t>数据组织：写操作不直接修改原有的数据，而只是将一条记录添加到 </a:t>
            </a:r>
            <a:r>
              <a:rPr lang="en-US" altLang="zh-CN" dirty="0"/>
              <a:t>commit log </a:t>
            </a:r>
            <a:r>
              <a:rPr lang="zh-CN" altLang="en-US" dirty="0"/>
              <a:t>的末尾，读操作需要从 </a:t>
            </a:r>
            <a:r>
              <a:rPr lang="en-US" altLang="zh-CN" dirty="0"/>
              <a:t>log </a:t>
            </a:r>
            <a:r>
              <a:rPr lang="zh-CN" altLang="en-US" dirty="0"/>
              <a:t>中 </a:t>
            </a:r>
            <a:r>
              <a:rPr lang="en-US" altLang="zh-CN" dirty="0"/>
              <a:t>merge </a:t>
            </a:r>
            <a:r>
              <a:rPr lang="zh-CN" altLang="en-US" dirty="0"/>
              <a:t>出当前的数据版本。</a:t>
            </a:r>
            <a:endParaRPr lang="zh-CN" altLang="en-US" dirty="0"/>
          </a:p>
          <a:p>
            <a:pPr lvl="2"/>
            <a:r>
              <a:rPr lang="zh-CN" altLang="en-US" dirty="0"/>
              <a:t>具体实现：</a:t>
            </a:r>
            <a:r>
              <a:rPr lang="en-US" altLang="zh-CN" dirty="0" err="1"/>
              <a:t>SSTable</a:t>
            </a:r>
            <a:r>
              <a:rPr lang="en-US" altLang="zh-CN" dirty="0"/>
              <a:t>, </a:t>
            </a:r>
            <a:r>
              <a:rPr lang="en-US" altLang="zh-CN" dirty="0" err="1"/>
              <a:t>Memtable</a:t>
            </a:r>
            <a:r>
              <a:rPr lang="zh-CN" altLang="en-US" dirty="0"/>
              <a:t>。 </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err="1"/>
              <a:t>BigTable</a:t>
            </a:r>
            <a:endParaRPr lang="en-US" altLang="zh-CN" dirty="0"/>
          </a:p>
          <a:p>
            <a:pPr lvl="1"/>
            <a:r>
              <a:rPr lang="zh-CN" altLang="en-US" dirty="0"/>
              <a:t>特点：</a:t>
            </a:r>
            <a:endParaRPr lang="zh-CN" altLang="en-US" dirty="0"/>
          </a:p>
          <a:p>
            <a:pPr lvl="2"/>
            <a:r>
              <a:rPr lang="zh-CN" altLang="en-US" dirty="0"/>
              <a:t>适合大规模海量数据，</a:t>
            </a:r>
            <a:r>
              <a:rPr lang="en-US" altLang="zh-CN" dirty="0"/>
              <a:t>PB</a:t>
            </a:r>
            <a:r>
              <a:rPr lang="zh-CN" altLang="en-US" dirty="0"/>
              <a:t>级数据； </a:t>
            </a:r>
            <a:endParaRPr lang="zh-CN" altLang="en-US" dirty="0"/>
          </a:p>
          <a:p>
            <a:pPr lvl="2"/>
            <a:r>
              <a:rPr lang="zh-CN" altLang="en-US" dirty="0"/>
              <a:t>分布式、并发数据处理，效率极高； </a:t>
            </a:r>
            <a:endParaRPr lang="zh-CN" altLang="en-US" dirty="0"/>
          </a:p>
          <a:p>
            <a:pPr lvl="2"/>
            <a:r>
              <a:rPr lang="zh-CN" altLang="en-US" dirty="0"/>
              <a:t>易于扩展，支持动态伸缩； </a:t>
            </a:r>
            <a:endParaRPr lang="zh-CN" altLang="en-US" dirty="0"/>
          </a:p>
          <a:p>
            <a:pPr lvl="2"/>
            <a:r>
              <a:rPr lang="zh-CN" altLang="en-US" dirty="0"/>
              <a:t>适用于廉价设备； </a:t>
            </a:r>
            <a:endParaRPr lang="zh-CN" altLang="en-US" dirty="0"/>
          </a:p>
          <a:p>
            <a:pPr lvl="2"/>
            <a:r>
              <a:rPr lang="zh-CN" altLang="en-US" dirty="0"/>
              <a:t>适合于读操作，不适合写操作。 </a:t>
            </a:r>
            <a:endParaRPr lang="zh-CN" altLang="en-US" dirty="0"/>
          </a:p>
          <a:p>
            <a:pPr lvl="2"/>
            <a:r>
              <a:rPr lang="zh-CN" altLang="en-US" dirty="0"/>
              <a:t>不适用于传统关系数据库；</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Dynamo</a:t>
            </a:r>
            <a:endParaRPr lang="en-US" altLang="zh-CN" dirty="0"/>
          </a:p>
          <a:p>
            <a:pPr lvl="1"/>
            <a:r>
              <a:rPr lang="zh-CN" altLang="en-US" dirty="0"/>
              <a:t>简介</a:t>
            </a:r>
            <a:endParaRPr lang="en-US" altLang="zh-CN" dirty="0"/>
          </a:p>
          <a:p>
            <a:pPr lvl="2"/>
            <a:r>
              <a:rPr lang="en-US" altLang="zh-CN" dirty="0"/>
              <a:t>Dynamo </a:t>
            </a:r>
            <a:r>
              <a:rPr lang="zh-CN" altLang="en-US" dirty="0"/>
              <a:t>最初是 </a:t>
            </a:r>
            <a:r>
              <a:rPr lang="en-US" altLang="zh-CN" dirty="0"/>
              <a:t>Amazon </a:t>
            </a:r>
            <a:r>
              <a:rPr lang="zh-CN" altLang="en-US" dirty="0"/>
              <a:t>所使用的一个私有的分布式存储系统。</a:t>
            </a:r>
            <a:endParaRPr lang="zh-CN" altLang="en-US" dirty="0"/>
          </a:p>
          <a:p>
            <a:pPr lvl="1"/>
            <a:r>
              <a:rPr lang="zh-CN" altLang="en-US" dirty="0"/>
              <a:t>设计要点</a:t>
            </a:r>
            <a:endParaRPr lang="en-US" altLang="zh-CN" dirty="0"/>
          </a:p>
          <a:p>
            <a:pPr lvl="2"/>
            <a:r>
              <a:rPr lang="en-US" altLang="zh-CN" dirty="0"/>
              <a:t>P2P </a:t>
            </a:r>
            <a:r>
              <a:rPr lang="zh-CN" altLang="en-US" dirty="0"/>
              <a:t>的架构：这区别于 </a:t>
            </a:r>
            <a:r>
              <a:rPr lang="en-US" altLang="zh-CN" dirty="0"/>
              <a:t>Google FS </a:t>
            </a:r>
            <a:r>
              <a:rPr lang="zh-CN" altLang="en-US" dirty="0"/>
              <a:t>的 </a:t>
            </a:r>
            <a:r>
              <a:rPr lang="en-US" altLang="zh-CN" dirty="0"/>
              <a:t>Single Master </a:t>
            </a:r>
            <a:r>
              <a:rPr lang="zh-CN" altLang="en-US" dirty="0"/>
              <a:t>架构，无须一个中心服务器来记录系统的元数据</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97303" y="1388918"/>
            <a:ext cx="3987366" cy="496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Dynamo</a:t>
            </a:r>
            <a:endParaRPr lang="en-US" altLang="zh-CN" dirty="0"/>
          </a:p>
          <a:p>
            <a:pPr lvl="1"/>
            <a:r>
              <a:rPr lang="zh-CN" altLang="en-US" dirty="0"/>
              <a:t>设计要点</a:t>
            </a:r>
            <a:endParaRPr lang="zh-CN" altLang="en-US" dirty="0"/>
          </a:p>
          <a:p>
            <a:pPr lvl="2"/>
            <a:r>
              <a:rPr lang="en-US" altLang="zh-CN" dirty="0"/>
              <a:t>Performance(</a:t>
            </a:r>
            <a:r>
              <a:rPr lang="zh-CN" altLang="en-US" dirty="0"/>
              <a:t>性能</a:t>
            </a:r>
            <a:r>
              <a:rPr lang="en-US" altLang="zh-CN" dirty="0"/>
              <a:t>), Availability(</a:t>
            </a:r>
            <a:r>
              <a:rPr lang="zh-CN" altLang="en-US" dirty="0"/>
              <a:t>可用性</a:t>
            </a:r>
            <a:r>
              <a:rPr lang="en-US" altLang="zh-CN" dirty="0"/>
              <a:t>), Durability(</a:t>
            </a:r>
            <a:r>
              <a:rPr lang="zh-CN" altLang="en-US" dirty="0"/>
              <a:t>数据持久性</a:t>
            </a:r>
            <a:r>
              <a:rPr lang="en-US" altLang="zh-CN" dirty="0"/>
              <a:t>) </a:t>
            </a:r>
            <a:r>
              <a:rPr lang="zh-CN" altLang="en-US" dirty="0"/>
              <a:t>三者的折衷，可以根据应用的需求自由调整三者比例。</a:t>
            </a:r>
            <a:endParaRPr lang="zh-CN" altLang="en-US" dirty="0"/>
          </a:p>
          <a:p>
            <a:pPr lvl="2"/>
            <a:r>
              <a:rPr lang="zh-CN" altLang="en-US" dirty="0"/>
              <a:t>数据定位使用一致性哈希； </a:t>
            </a:r>
            <a:endParaRPr lang="zh-CN" altLang="en-US" dirty="0"/>
          </a:p>
          <a:p>
            <a:pPr lvl="2"/>
            <a:r>
              <a:rPr lang="en-US" altLang="zh-CN" dirty="0"/>
              <a:t>Vector lock</a:t>
            </a:r>
            <a:r>
              <a:rPr lang="zh-CN" altLang="en-US" dirty="0"/>
              <a:t>，允许数据的多个备份存在多个版本，提高写操作的可用性</a:t>
            </a:r>
            <a:r>
              <a:rPr lang="en-US" altLang="zh-CN" dirty="0"/>
              <a:t>(</a:t>
            </a:r>
            <a:r>
              <a:rPr lang="zh-CN" altLang="en-US" dirty="0"/>
              <a:t>用弱一致性来换取高的可用性</a:t>
            </a:r>
            <a:r>
              <a:rPr lang="en-US" altLang="zh-CN" dirty="0"/>
              <a:t>)</a:t>
            </a:r>
            <a:endParaRPr lang="en-US" altLang="zh-CN" dirty="0"/>
          </a:p>
          <a:p>
            <a:pPr lvl="2"/>
            <a:r>
              <a:rPr lang="zh-CN" altLang="en-US" dirty="0"/>
              <a:t>容错：</a:t>
            </a:r>
            <a:r>
              <a:rPr lang="en-US" altLang="zh-CN" dirty="0"/>
              <a:t>Sloppy Quorum, hinted handoff, Merkle tree </a:t>
            </a:r>
            <a:endParaRPr lang="en-US" altLang="zh-CN" dirty="0"/>
          </a:p>
          <a:p>
            <a:pPr lvl="2"/>
            <a:r>
              <a:rPr lang="en-US" altLang="zh-CN" dirty="0"/>
              <a:t> Sloppy Quorum</a:t>
            </a:r>
            <a:r>
              <a:rPr lang="zh-CN" altLang="en-US" dirty="0"/>
              <a:t>马虎仲裁，并非采用严格的数据一致性检查，用于实现最终一致性</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Dynamo</a:t>
            </a:r>
            <a:endParaRPr lang="en-US" altLang="zh-CN" dirty="0"/>
          </a:p>
          <a:p>
            <a:pPr lvl="1"/>
            <a:r>
              <a:rPr lang="zh-CN" altLang="en-US" dirty="0"/>
              <a:t>技术要点</a:t>
            </a:r>
            <a:endParaRPr lang="zh-CN" altLang="en-US" dirty="0"/>
          </a:p>
          <a:p>
            <a:pPr lvl="2"/>
            <a:r>
              <a:rPr lang="en-US" altLang="zh-CN" dirty="0"/>
              <a:t>hinted handoff(</a:t>
            </a:r>
            <a:r>
              <a:rPr lang="zh-CN" altLang="en-US" dirty="0"/>
              <a:t>提示移交</a:t>
            </a:r>
            <a:r>
              <a:rPr lang="en-US" altLang="zh-CN" dirty="0"/>
              <a:t>)</a:t>
            </a:r>
            <a:r>
              <a:rPr lang="zh-CN" altLang="en-US" dirty="0"/>
              <a:t>节点故障会恢复时，可动态维护系统可用性，使系统的写入成功率大大提升。</a:t>
            </a:r>
            <a:endParaRPr lang="zh-CN" altLang="en-US" dirty="0"/>
          </a:p>
          <a:p>
            <a:pPr lvl="2"/>
            <a:r>
              <a:rPr lang="zh-CN" altLang="en-US" dirty="0"/>
              <a:t>使用</a:t>
            </a:r>
            <a:r>
              <a:rPr lang="en-US" altLang="zh-CN" dirty="0"/>
              <a:t>Merkle tree</a:t>
            </a:r>
            <a:r>
              <a:rPr lang="zh-CN" altLang="en-US" dirty="0"/>
              <a:t>为数据建立索引，只要任意数据有变动，都将快速反馈出来。</a:t>
            </a:r>
            <a:endParaRPr lang="zh-CN" altLang="en-US" dirty="0"/>
          </a:p>
          <a:p>
            <a:pPr lvl="2"/>
            <a:r>
              <a:rPr lang="zh-CN" altLang="en-US" dirty="0"/>
              <a:t>网络互联</a:t>
            </a:r>
            <a:r>
              <a:rPr lang="en-US" altLang="zh-CN" dirty="0"/>
              <a:t>: Gossip-based membership protocol </a:t>
            </a:r>
            <a:r>
              <a:rPr lang="zh-CN" altLang="en-US" dirty="0"/>
              <a:t>，一种通讯协议，目标是让节点与节点之间通信，实现去中心化。</a:t>
            </a:r>
            <a:endParaRPr lang="zh-CN" altLang="en-US" dirty="0"/>
          </a:p>
          <a:p>
            <a:pPr lvl="2"/>
            <a:r>
              <a:rPr lang="en-US" altLang="zh-CN" dirty="0"/>
              <a:t>Storage load balancing </a:t>
            </a:r>
            <a:endParaRPr lang="en-US" altLang="zh-CN" dirty="0"/>
          </a:p>
          <a:p>
            <a:pPr lvl="2"/>
            <a:r>
              <a:rPr lang="en-US" altLang="zh-CN" dirty="0"/>
              <a:t>Client-driven Coordination </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Dynamo</a:t>
            </a:r>
            <a:endParaRPr lang="en-US" altLang="zh-CN" dirty="0"/>
          </a:p>
          <a:p>
            <a:pPr lvl="1"/>
            <a:r>
              <a:rPr lang="zh-CN" altLang="en-US" dirty="0"/>
              <a:t>特点</a:t>
            </a:r>
            <a:endParaRPr lang="zh-CN" altLang="en-US" dirty="0"/>
          </a:p>
          <a:p>
            <a:pPr lvl="2"/>
            <a:r>
              <a:rPr lang="zh-CN" altLang="en-US" dirty="0"/>
              <a:t>高可用：设计上天然没有单点，每个实例由一组节点组成，从应用的角度看，实例提供 </a:t>
            </a:r>
            <a:r>
              <a:rPr lang="en-US" altLang="zh-CN" dirty="0"/>
              <a:t>IO </a:t>
            </a:r>
            <a:r>
              <a:rPr lang="zh-CN" altLang="en-US" dirty="0"/>
              <a:t>能力。一个实例上的节点可能位于不同的数据中心内</a:t>
            </a:r>
            <a:r>
              <a:rPr lang="en-US" altLang="zh-CN" dirty="0"/>
              <a:t>, </a:t>
            </a:r>
            <a:r>
              <a:rPr lang="zh-CN" altLang="en-US" dirty="0"/>
              <a:t>这样一个数据中心出问题也不会导致数据丢失。 </a:t>
            </a:r>
            <a:endParaRPr lang="zh-CN" altLang="en-US" dirty="0"/>
          </a:p>
          <a:p>
            <a:pPr lvl="2"/>
            <a:r>
              <a:rPr lang="zh-CN" altLang="en-US" dirty="0"/>
              <a:t>总是可写：</a:t>
            </a:r>
            <a:r>
              <a:rPr lang="en-US" altLang="zh-CN" dirty="0"/>
              <a:t>hinted handoff</a:t>
            </a:r>
            <a:r>
              <a:rPr lang="zh-CN" altLang="en-US" dirty="0"/>
              <a:t>确保在系统节点出现故障或节点恢复时，能灵活处理</a:t>
            </a:r>
            <a:endParaRPr lang="zh-CN" altLang="en-US" dirty="0"/>
          </a:p>
          <a:p>
            <a:pPr lvl="2"/>
            <a:r>
              <a:rPr lang="zh-CN" altLang="en-US" dirty="0"/>
              <a:t>可根据应用类型优化可用性、容错性和高效性配置</a:t>
            </a:r>
            <a:endParaRPr lang="zh-CN" altLang="en-US" dirty="0"/>
          </a:p>
          <a:p>
            <a:pPr lvl="2"/>
            <a:r>
              <a:rPr lang="zh-CN" altLang="en-US" dirty="0"/>
              <a:t>去中心化，人工管理工作少</a:t>
            </a:r>
            <a:endParaRPr lang="zh-CN" altLang="en-US" dirty="0"/>
          </a:p>
          <a:p>
            <a:pPr lvl="2"/>
            <a:r>
              <a:rPr lang="zh-CN" altLang="en-US" dirty="0"/>
              <a:t>可扩展性较差：由于增加机器需要给机器分配</a:t>
            </a:r>
            <a:r>
              <a:rPr lang="en-US" altLang="zh-CN" dirty="0"/>
              <a:t>DHT(</a:t>
            </a:r>
            <a:r>
              <a:rPr lang="zh-CN" altLang="en-US" dirty="0"/>
              <a:t>分布式</a:t>
            </a:r>
            <a:r>
              <a:rPr lang="en-US" altLang="zh-CN" dirty="0"/>
              <a:t>hash table)</a:t>
            </a:r>
            <a:r>
              <a:rPr lang="zh-CN" altLang="en-US" dirty="0"/>
              <a:t>算法所需的编号，操作复杂度较高，且每台机器存储了整个集群的机器信息及数据文件的</a:t>
            </a:r>
            <a:r>
              <a:rPr lang="en-US" altLang="zh-CN" dirty="0"/>
              <a:t>Merkle Tree</a:t>
            </a:r>
            <a:r>
              <a:rPr lang="zh-CN" altLang="en-US" dirty="0"/>
              <a:t>信息，机器最大规模只能到几千台。</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Cassandra</a:t>
            </a:r>
            <a:endParaRPr lang="en-US" altLang="zh-CN" dirty="0"/>
          </a:p>
          <a:p>
            <a:pPr lvl="1"/>
            <a:r>
              <a:rPr lang="zh-CN" altLang="en-US" dirty="0"/>
              <a:t>简介</a:t>
            </a:r>
            <a:endParaRPr lang="zh-CN" altLang="en-US" dirty="0"/>
          </a:p>
          <a:p>
            <a:pPr lvl="2"/>
            <a:r>
              <a:rPr lang="en-US" altLang="zh-CN" dirty="0"/>
              <a:t>Apache Cassandra </a:t>
            </a:r>
            <a:r>
              <a:rPr lang="zh-CN" altLang="en-US" dirty="0"/>
              <a:t>是一套开源分布式</a:t>
            </a:r>
            <a:r>
              <a:rPr lang="en-US" altLang="zh-CN" dirty="0"/>
              <a:t>NoSQL</a:t>
            </a:r>
            <a:r>
              <a:rPr lang="zh-CN" altLang="en-US" dirty="0"/>
              <a:t>数据库系统</a:t>
            </a:r>
            <a:endParaRPr lang="zh-CN" altLang="en-US" dirty="0"/>
          </a:p>
          <a:p>
            <a:pPr lvl="2"/>
            <a:r>
              <a:rPr lang="zh-CN" altLang="en-US" dirty="0"/>
              <a:t>它最初由</a:t>
            </a:r>
            <a:r>
              <a:rPr lang="en-US" altLang="zh-CN" dirty="0"/>
              <a:t>Facebook</a:t>
            </a:r>
            <a:r>
              <a:rPr lang="zh-CN" altLang="en-US" dirty="0"/>
              <a:t>开发，用于储存收件箱等简单格式数据，集</a:t>
            </a:r>
            <a:r>
              <a:rPr lang="en-US" altLang="zh-CN" dirty="0"/>
              <a:t>Google </a:t>
            </a:r>
            <a:r>
              <a:rPr lang="en-US" altLang="zh-CN" dirty="0" err="1"/>
              <a:t>BigTable</a:t>
            </a:r>
            <a:r>
              <a:rPr lang="zh-CN" altLang="en-US" dirty="0"/>
              <a:t>的数据模型与</a:t>
            </a:r>
            <a:r>
              <a:rPr lang="en-US" altLang="zh-CN" dirty="0"/>
              <a:t>Amazon Dynamo</a:t>
            </a:r>
            <a:r>
              <a:rPr lang="zh-CN" altLang="en-US" dirty="0"/>
              <a:t>的完全分布式的架构于一身。</a:t>
            </a:r>
            <a:endParaRPr lang="zh-CN" altLang="en-US" dirty="0"/>
          </a:p>
          <a:p>
            <a:pPr lvl="2"/>
            <a:r>
              <a:rPr lang="en-US" altLang="zh-CN" dirty="0"/>
              <a:t>Facebook</a:t>
            </a:r>
            <a:r>
              <a:rPr lang="zh-CN" altLang="en-US" dirty="0"/>
              <a:t>于</a:t>
            </a:r>
            <a:r>
              <a:rPr lang="en-US" altLang="zh-CN" dirty="0"/>
              <a:t>2008</a:t>
            </a:r>
            <a:r>
              <a:rPr lang="zh-CN" altLang="en-US" dirty="0"/>
              <a:t>将 </a:t>
            </a:r>
            <a:r>
              <a:rPr lang="en-US" altLang="zh-CN" dirty="0"/>
              <a:t>Cassandra </a:t>
            </a:r>
            <a:r>
              <a:rPr lang="zh-CN" altLang="en-US" dirty="0"/>
              <a:t>开源，此后，由于</a:t>
            </a:r>
            <a:r>
              <a:rPr lang="en-US" altLang="zh-CN" dirty="0"/>
              <a:t>Cassandra</a:t>
            </a:r>
            <a:r>
              <a:rPr lang="zh-CN" altLang="en-US" dirty="0"/>
              <a:t>良好的可扩放性，被</a:t>
            </a:r>
            <a:r>
              <a:rPr lang="en-US" altLang="zh-CN" dirty="0"/>
              <a:t>Digg</a:t>
            </a:r>
            <a:r>
              <a:rPr lang="zh-CN" altLang="en-US" dirty="0"/>
              <a:t>、</a:t>
            </a:r>
            <a:r>
              <a:rPr lang="en-US" altLang="zh-CN" dirty="0"/>
              <a:t>Twitter</a:t>
            </a:r>
            <a:r>
              <a:rPr lang="zh-CN" altLang="en-US" dirty="0"/>
              <a:t>等知名</a:t>
            </a:r>
            <a:r>
              <a:rPr lang="en-US" altLang="zh-CN" dirty="0"/>
              <a:t>Web 2.0</a:t>
            </a:r>
            <a:r>
              <a:rPr lang="zh-CN" altLang="en-US" dirty="0"/>
              <a:t>网站所采纳，成为了一种流行的分布式结构化数据存储方案。</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Cassandra</a:t>
            </a:r>
            <a:endParaRPr lang="en-US" altLang="zh-CN" dirty="0"/>
          </a:p>
          <a:p>
            <a:pPr lvl="1"/>
            <a:r>
              <a:rPr lang="zh-CN" altLang="en-US" dirty="0"/>
              <a:t>架构要点</a:t>
            </a:r>
            <a:endParaRPr lang="zh-CN" altLang="en-US" dirty="0"/>
          </a:p>
          <a:p>
            <a:pPr lvl="2"/>
            <a:r>
              <a:rPr lang="zh-CN" altLang="en-US" dirty="0"/>
              <a:t>使用了</a:t>
            </a:r>
            <a:r>
              <a:rPr lang="en-US" altLang="zh-CN" dirty="0"/>
              <a:t>Google </a:t>
            </a:r>
            <a:r>
              <a:rPr lang="en-US" altLang="zh-CN" dirty="0" err="1"/>
              <a:t>BigTable</a:t>
            </a:r>
            <a:r>
              <a:rPr lang="zh-CN" altLang="en-US" dirty="0"/>
              <a:t>的数据模型   这是一种面向列的数据库，列被组织成为列族</a:t>
            </a:r>
            <a:r>
              <a:rPr lang="en-US" altLang="zh-CN" dirty="0"/>
              <a:t>(Column Family)</a:t>
            </a:r>
            <a:r>
              <a:rPr lang="zh-CN" altLang="en-US" dirty="0"/>
              <a:t>，在数据库中增加一列非常方便。对于搜索和一般的结构化数据存储，这个结构足够丰富和有效。</a:t>
            </a:r>
            <a:endParaRPr lang="zh-CN" altLang="en-US" dirty="0"/>
          </a:p>
          <a:p>
            <a:pPr lvl="2"/>
            <a:r>
              <a:rPr lang="zh-CN" altLang="en-US" dirty="0"/>
              <a:t>系统架构与</a:t>
            </a:r>
            <a:r>
              <a:rPr lang="en-US" altLang="zh-CN" dirty="0"/>
              <a:t>Dynamo</a:t>
            </a:r>
            <a:r>
              <a:rPr lang="zh-CN" altLang="en-US" dirty="0"/>
              <a:t>一脉相承   是基于</a:t>
            </a:r>
            <a:r>
              <a:rPr lang="en-US" altLang="zh-CN" dirty="0"/>
              <a:t>O(1)DHT(</a:t>
            </a:r>
            <a:r>
              <a:rPr lang="zh-CN" altLang="en-US" dirty="0"/>
              <a:t>分布式哈希表</a:t>
            </a:r>
            <a:r>
              <a:rPr lang="en-US" altLang="zh-CN" dirty="0"/>
              <a:t>)</a:t>
            </a:r>
            <a:r>
              <a:rPr lang="zh-CN" altLang="en-US" dirty="0"/>
              <a:t>的完全</a:t>
            </a:r>
            <a:r>
              <a:rPr lang="en-US" altLang="zh-CN" dirty="0"/>
              <a:t>P2P</a:t>
            </a:r>
            <a:r>
              <a:rPr lang="zh-CN" altLang="en-US" dirty="0"/>
              <a:t>架构，与传统的基于</a:t>
            </a:r>
            <a:r>
              <a:rPr lang="en-US" altLang="zh-CN" dirty="0"/>
              <a:t>Sharding</a:t>
            </a:r>
            <a:r>
              <a:rPr lang="zh-CN" altLang="en-US" dirty="0"/>
              <a:t>的数据库集群相比，</a:t>
            </a:r>
            <a:r>
              <a:rPr lang="en-US" altLang="zh-CN" dirty="0"/>
              <a:t>Cassandra</a:t>
            </a:r>
            <a:r>
              <a:rPr lang="zh-CN" altLang="en-US" dirty="0"/>
              <a:t>可以几乎无缝地加入或删除节点，非常适于对于节点规模变化比较快的应用场景。</a:t>
            </a:r>
            <a:endParaRPr lang="zh-CN" altLang="en-US" dirty="0"/>
          </a:p>
          <a:p>
            <a:pPr lvl="2"/>
            <a:r>
              <a:rPr lang="en-US" altLang="zh-CN" dirty="0"/>
              <a:t>Cassandra</a:t>
            </a:r>
            <a:r>
              <a:rPr lang="zh-CN" altLang="en-US" dirty="0"/>
              <a:t>的数据会写入多个节点   保证数据的可靠性，在一致性、可用性和网络分区耐受能力</a:t>
            </a:r>
            <a:r>
              <a:rPr lang="en-US" altLang="zh-CN" dirty="0"/>
              <a:t>(CAP)</a:t>
            </a:r>
            <a:r>
              <a:rPr lang="zh-CN" altLang="en-US" dirty="0"/>
              <a:t>的折衷问题上，</a:t>
            </a:r>
            <a:r>
              <a:rPr lang="en-US" altLang="zh-CN" dirty="0"/>
              <a:t>Cassandra</a:t>
            </a:r>
            <a:r>
              <a:rPr lang="zh-CN" altLang="en-US" dirty="0"/>
              <a:t>比较灵活，用户在读取时可以指定要求所有副本一致</a:t>
            </a:r>
            <a:r>
              <a:rPr lang="en-US" altLang="zh-CN" dirty="0"/>
              <a:t>(</a:t>
            </a:r>
            <a:r>
              <a:rPr lang="zh-CN" altLang="en-US" dirty="0"/>
              <a:t>高一致性</a:t>
            </a:r>
            <a:r>
              <a:rPr lang="en-US" altLang="zh-CN" dirty="0"/>
              <a:t>)</a:t>
            </a:r>
            <a:r>
              <a:rPr lang="zh-CN" altLang="en-US" dirty="0"/>
              <a:t>、读到一个副本即可</a:t>
            </a:r>
            <a:r>
              <a:rPr lang="en-US" altLang="zh-CN" dirty="0"/>
              <a:t>(</a:t>
            </a:r>
            <a:r>
              <a:rPr lang="zh-CN" altLang="en-US" dirty="0"/>
              <a:t>高可用性</a:t>
            </a:r>
            <a:r>
              <a:rPr lang="en-US" altLang="zh-CN" dirty="0"/>
              <a:t>)</a:t>
            </a:r>
            <a:r>
              <a:rPr lang="zh-CN" altLang="en-US" dirty="0"/>
              <a:t>或是通过选举来确认多数副本一致即可</a:t>
            </a:r>
            <a:r>
              <a:rPr lang="en-US" altLang="zh-CN" dirty="0"/>
              <a:t>(</a:t>
            </a:r>
            <a:r>
              <a:rPr lang="zh-CN" altLang="en-US" dirty="0"/>
              <a:t>折衷</a:t>
            </a:r>
            <a:r>
              <a:rPr lang="en-US" altLang="zh-CN" dirty="0"/>
              <a:t>)</a:t>
            </a:r>
            <a:r>
              <a:rPr lang="zh-CN" altLang="en-US" dirty="0"/>
              <a:t>。这样，</a:t>
            </a:r>
            <a:r>
              <a:rPr lang="en-US" altLang="zh-CN" dirty="0"/>
              <a:t>Cassandra</a:t>
            </a:r>
            <a:r>
              <a:rPr lang="zh-CN" altLang="en-US" dirty="0"/>
              <a:t>可以适用于有节点、网络失效，以及多数据中心的场景。</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Cassandra</a:t>
            </a:r>
            <a:endParaRPr lang="en-US" altLang="zh-CN" dirty="0"/>
          </a:p>
          <a:p>
            <a:pPr lvl="1"/>
            <a:r>
              <a:rPr lang="zh-CN" altLang="en-US" dirty="0"/>
              <a:t>特点</a:t>
            </a:r>
            <a:endParaRPr lang="zh-CN" altLang="en-US" dirty="0"/>
          </a:p>
          <a:p>
            <a:pPr lvl="2"/>
            <a:r>
              <a:rPr lang="zh-CN" altLang="en-US" dirty="0"/>
              <a:t>模式灵活 ：使用</a:t>
            </a:r>
            <a:r>
              <a:rPr lang="en-US" altLang="zh-CN" dirty="0"/>
              <a:t>Cassandra</a:t>
            </a:r>
            <a:r>
              <a:rPr lang="zh-CN" altLang="en-US" dirty="0"/>
              <a:t>，像文档存储，你不必提前解决记录中的字段。你可以在系统运行时随意的添加或移除字段。这是一个惊人的效率提升，特别是在大型部署上。 </a:t>
            </a:r>
            <a:endParaRPr lang="zh-CN" altLang="en-US" dirty="0"/>
          </a:p>
          <a:p>
            <a:pPr lvl="2"/>
            <a:r>
              <a:rPr lang="zh-CN" altLang="en-US" dirty="0"/>
              <a:t>真正的可扩展性 ：</a:t>
            </a:r>
            <a:r>
              <a:rPr lang="en-US" altLang="zh-CN" dirty="0"/>
              <a:t>Cassandra</a:t>
            </a:r>
            <a:r>
              <a:rPr lang="zh-CN" altLang="en-US" dirty="0"/>
              <a:t>是纯粹意义上的水平扩展。为给集群添加更多容量，可以指向另一台电脑。你不必重启任何进程，改变应用查询，或手动迁移任何数据。</a:t>
            </a:r>
            <a:endParaRPr lang="zh-CN" altLang="en-US" dirty="0"/>
          </a:p>
          <a:p>
            <a:pPr lvl="2"/>
            <a:r>
              <a:rPr lang="zh-CN" altLang="en-US" dirty="0"/>
              <a:t>多数据中心识别 ：你可以调整你的节点布局来避免某一个数据中心起火，一个备用的数据中心将至少有每条记录的完全复制。</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85000" lnSpcReduction="10000"/>
          </a:bodyPr>
          <a:lstStyle/>
          <a:p>
            <a:r>
              <a:rPr lang="en-US" altLang="zh-CN" dirty="0"/>
              <a:t>Redis</a:t>
            </a:r>
            <a:endParaRPr lang="en-US" altLang="zh-CN" dirty="0"/>
          </a:p>
          <a:p>
            <a:pPr lvl="1"/>
            <a:r>
              <a:rPr lang="zh-CN" altLang="en-US" dirty="0"/>
              <a:t>简介</a:t>
            </a:r>
            <a:endParaRPr lang="en-US" altLang="zh-CN" dirty="0"/>
          </a:p>
          <a:p>
            <a:pPr lvl="2"/>
            <a:r>
              <a:rPr lang="en-US" altLang="zh-CN" dirty="0" err="1"/>
              <a:t>redis</a:t>
            </a:r>
            <a:r>
              <a:rPr lang="zh-CN" altLang="en-US" dirty="0"/>
              <a:t>是一个</a:t>
            </a:r>
            <a:r>
              <a:rPr lang="en-US" altLang="zh-CN" dirty="0"/>
              <a:t>key-value</a:t>
            </a:r>
            <a:r>
              <a:rPr lang="zh-CN" altLang="en-US" dirty="0"/>
              <a:t>存储系统。 </a:t>
            </a:r>
            <a:endParaRPr lang="zh-CN" altLang="en-US" dirty="0"/>
          </a:p>
          <a:p>
            <a:pPr lvl="2"/>
            <a:r>
              <a:rPr lang="zh-CN" altLang="en-US" dirty="0"/>
              <a:t>和</a:t>
            </a:r>
            <a:r>
              <a:rPr lang="en-US" altLang="zh-CN" dirty="0"/>
              <a:t>Memcached</a:t>
            </a:r>
            <a:r>
              <a:rPr lang="zh-CN" altLang="en-US" dirty="0"/>
              <a:t>类似，它支持存储的</a:t>
            </a:r>
            <a:r>
              <a:rPr lang="en-US" altLang="zh-CN" dirty="0"/>
              <a:t>value</a:t>
            </a:r>
            <a:r>
              <a:rPr lang="zh-CN" altLang="en-US" dirty="0"/>
              <a:t>类型相对更多，包括</a:t>
            </a:r>
            <a:r>
              <a:rPr lang="en-US" altLang="zh-CN" dirty="0"/>
              <a:t>string(</a:t>
            </a:r>
            <a:r>
              <a:rPr lang="zh-CN" altLang="en-US" dirty="0"/>
              <a:t>字符串</a:t>
            </a:r>
            <a:r>
              <a:rPr lang="en-US" altLang="zh-CN" dirty="0"/>
              <a:t>)</a:t>
            </a:r>
            <a:r>
              <a:rPr lang="zh-CN" altLang="en-US" dirty="0"/>
              <a:t>、</a:t>
            </a:r>
            <a:r>
              <a:rPr lang="en-US" altLang="zh-CN" dirty="0"/>
              <a:t>list(</a:t>
            </a:r>
            <a:r>
              <a:rPr lang="zh-CN" altLang="en-US" dirty="0"/>
              <a:t>链表</a:t>
            </a:r>
            <a:r>
              <a:rPr lang="en-US" altLang="zh-CN" dirty="0"/>
              <a:t>)</a:t>
            </a:r>
            <a:r>
              <a:rPr lang="zh-CN" altLang="en-US" dirty="0"/>
              <a:t>、</a:t>
            </a:r>
            <a:r>
              <a:rPr lang="en-US" altLang="zh-CN" dirty="0"/>
              <a:t>set(</a:t>
            </a:r>
            <a:r>
              <a:rPr lang="zh-CN" altLang="en-US" dirty="0"/>
              <a:t>集合</a:t>
            </a:r>
            <a:r>
              <a:rPr lang="en-US" altLang="zh-CN" dirty="0"/>
              <a:t>)</a:t>
            </a:r>
            <a:r>
              <a:rPr lang="zh-CN" altLang="en-US" dirty="0"/>
              <a:t>和</a:t>
            </a:r>
            <a:r>
              <a:rPr lang="en-US" altLang="zh-CN" dirty="0" err="1"/>
              <a:t>zset</a:t>
            </a:r>
            <a:r>
              <a:rPr lang="en-US" altLang="zh-CN" dirty="0"/>
              <a:t>(</a:t>
            </a:r>
            <a:r>
              <a:rPr lang="zh-CN" altLang="en-US" dirty="0"/>
              <a:t>有序集合</a:t>
            </a:r>
            <a:r>
              <a:rPr lang="en-US" altLang="zh-CN" dirty="0"/>
              <a:t>)</a:t>
            </a:r>
            <a:r>
              <a:rPr lang="zh-CN" altLang="en-US" dirty="0"/>
              <a:t>。</a:t>
            </a:r>
            <a:endParaRPr lang="zh-CN" altLang="en-US" dirty="0"/>
          </a:p>
          <a:p>
            <a:pPr lvl="2"/>
            <a:r>
              <a:rPr lang="zh-CN" altLang="en-US" dirty="0"/>
              <a:t>这些数据类型都支持</a:t>
            </a:r>
            <a:r>
              <a:rPr lang="en-US" altLang="zh-CN" dirty="0"/>
              <a:t>push/pop</a:t>
            </a:r>
            <a:r>
              <a:rPr lang="zh-CN" altLang="en-US" dirty="0"/>
              <a:t>、</a:t>
            </a:r>
            <a:r>
              <a:rPr lang="en-US" altLang="zh-CN" dirty="0"/>
              <a:t>add/remove</a:t>
            </a:r>
            <a:r>
              <a:rPr lang="zh-CN" altLang="en-US" dirty="0"/>
              <a:t>及取交集并集和差集及更丰富的操作，而且这些操作都是原子性的。</a:t>
            </a:r>
            <a:endParaRPr lang="zh-CN" altLang="en-US" dirty="0"/>
          </a:p>
          <a:p>
            <a:pPr lvl="2"/>
            <a:r>
              <a:rPr lang="zh-CN" altLang="en-US" dirty="0"/>
              <a:t>在此基础上，</a:t>
            </a:r>
            <a:r>
              <a:rPr lang="en-US" altLang="zh-CN" dirty="0" err="1"/>
              <a:t>redis</a:t>
            </a:r>
            <a:r>
              <a:rPr lang="en-US" altLang="zh-CN" dirty="0"/>
              <a:t> </a:t>
            </a:r>
            <a:r>
              <a:rPr lang="zh-CN" altLang="en-US" dirty="0"/>
              <a:t>支持各种不同方式的排序。与</a:t>
            </a:r>
            <a:r>
              <a:rPr lang="en-US" altLang="zh-CN" dirty="0" err="1"/>
              <a:t>memcached</a:t>
            </a:r>
            <a:r>
              <a:rPr lang="zh-CN" altLang="en-US" dirty="0"/>
              <a:t>一样，为保证效率，数据都是缓存在内存中。</a:t>
            </a:r>
            <a:endParaRPr lang="zh-CN" altLang="en-US" dirty="0"/>
          </a:p>
          <a:p>
            <a:pPr lvl="2"/>
            <a:r>
              <a:rPr lang="zh-CN" altLang="en-US" dirty="0"/>
              <a:t>区别是</a:t>
            </a:r>
            <a:r>
              <a:rPr lang="en-US" altLang="zh-CN" dirty="0" err="1"/>
              <a:t>redis</a:t>
            </a:r>
            <a:r>
              <a:rPr lang="zh-CN" altLang="en-US" dirty="0"/>
              <a:t>会周期性的把更新的数据写入磁盘或者把修改 操作写入追加的记录文件，并且在此基础上实现了</a:t>
            </a:r>
            <a:r>
              <a:rPr lang="en-US" altLang="zh-CN" dirty="0"/>
              <a:t>master-slave(</a:t>
            </a:r>
            <a:r>
              <a:rPr lang="zh-CN" altLang="en-US" dirty="0"/>
              <a:t>主从</a:t>
            </a:r>
            <a:r>
              <a:rPr lang="en-US" altLang="zh-CN" dirty="0"/>
              <a:t>)</a:t>
            </a:r>
            <a:r>
              <a:rPr lang="zh-CN" altLang="en-US" dirty="0"/>
              <a:t>同步。</a:t>
            </a:r>
            <a:endParaRPr lang="zh-CN" altLang="en-US" dirty="0"/>
          </a:p>
          <a:p>
            <a:pPr lvl="1"/>
            <a:r>
              <a:rPr lang="zh-CN" altLang="en-US" dirty="0"/>
              <a:t>相比</a:t>
            </a:r>
            <a:r>
              <a:rPr lang="en-US" altLang="zh-CN" dirty="0" err="1"/>
              <a:t>memcached</a:t>
            </a:r>
            <a:r>
              <a:rPr lang="zh-CN" altLang="en-US" dirty="0"/>
              <a:t>的优势：</a:t>
            </a:r>
            <a:endParaRPr lang="en-US" altLang="zh-CN" dirty="0"/>
          </a:p>
          <a:p>
            <a:pPr lvl="2"/>
            <a:r>
              <a:rPr lang="en-US" altLang="zh-CN" dirty="0"/>
              <a:t>value</a:t>
            </a:r>
            <a:r>
              <a:rPr lang="zh-CN" altLang="en-US" dirty="0"/>
              <a:t>类型更丰富</a:t>
            </a:r>
            <a:endParaRPr lang="zh-CN" altLang="en-US" dirty="0"/>
          </a:p>
          <a:p>
            <a:pPr lvl="2"/>
            <a:r>
              <a:rPr lang="zh-CN" altLang="en-US" dirty="0"/>
              <a:t>数据操作方法更多</a:t>
            </a:r>
            <a:endParaRPr lang="zh-CN" altLang="en-US" dirty="0"/>
          </a:p>
          <a:p>
            <a:pPr lvl="2"/>
            <a:r>
              <a:rPr lang="zh-CN" altLang="en-US" dirty="0"/>
              <a:t>可将内存数据持久化</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MongoDB</a:t>
            </a:r>
            <a:endParaRPr lang="en-US" altLang="zh-CN" dirty="0"/>
          </a:p>
          <a:p>
            <a:pPr lvl="1"/>
            <a:r>
              <a:rPr lang="zh-CN" altLang="en-US" dirty="0"/>
              <a:t>简介</a:t>
            </a:r>
            <a:endParaRPr lang="zh-CN" altLang="en-US" dirty="0"/>
          </a:p>
          <a:p>
            <a:pPr lvl="2"/>
            <a:r>
              <a:rPr lang="en-US" altLang="zh-CN" dirty="0"/>
              <a:t>MongoDB</a:t>
            </a:r>
            <a:r>
              <a:rPr lang="zh-CN" altLang="en-US" dirty="0"/>
              <a:t>是一个基于分布式文件存储的数据库。</a:t>
            </a:r>
            <a:endParaRPr lang="zh-CN" altLang="en-US" dirty="0"/>
          </a:p>
          <a:p>
            <a:pPr lvl="2"/>
            <a:r>
              <a:rPr lang="zh-CN" altLang="en-US" dirty="0"/>
              <a:t>由</a:t>
            </a:r>
            <a:r>
              <a:rPr lang="en-US" altLang="zh-CN" dirty="0"/>
              <a:t>C++</a:t>
            </a:r>
            <a:r>
              <a:rPr lang="zh-CN" altLang="en-US" dirty="0"/>
              <a:t>语言编写</a:t>
            </a:r>
            <a:r>
              <a:rPr lang="en-US" altLang="zh-CN" dirty="0"/>
              <a:t>,</a:t>
            </a:r>
            <a:r>
              <a:rPr lang="zh-CN" altLang="en-US" dirty="0"/>
              <a:t>旨在为</a:t>
            </a:r>
            <a:r>
              <a:rPr lang="en-US" altLang="zh-CN" dirty="0"/>
              <a:t>WEB</a:t>
            </a:r>
            <a:r>
              <a:rPr lang="zh-CN" altLang="en-US" dirty="0"/>
              <a:t>应用提供可扩展的高性能数据存储解决方案。</a:t>
            </a:r>
            <a:endParaRPr lang="zh-CN" altLang="en-US" dirty="0"/>
          </a:p>
          <a:p>
            <a:pPr lvl="2"/>
            <a:r>
              <a:rPr lang="zh-CN" altLang="en-US" dirty="0"/>
              <a:t>特点是高性能、易部署、易使用，存储数据方便。</a:t>
            </a:r>
            <a:endParaRPr lang="zh-CN" altLang="en-US" dirty="0"/>
          </a:p>
          <a:p>
            <a:pPr lvl="2"/>
            <a:r>
              <a:rPr lang="zh-CN" altLang="en-US" dirty="0"/>
              <a:t> </a:t>
            </a:r>
            <a:r>
              <a:rPr lang="en-US" altLang="zh-CN" dirty="0"/>
              <a:t>MongoDB</a:t>
            </a:r>
            <a:r>
              <a:rPr lang="zh-CN" altLang="en-US" dirty="0"/>
              <a:t>是一个介于关系数据库和非关系数据库之间的产品，是非关系数据库当中功能最丰富，最像关系数据库的。</a:t>
            </a:r>
            <a:endParaRPr lang="zh-CN" altLang="en-US" dirty="0"/>
          </a:p>
          <a:p>
            <a:pPr lvl="2"/>
            <a:r>
              <a:rPr lang="en-US" altLang="zh-CN" dirty="0"/>
              <a:t>MongoDB</a:t>
            </a:r>
            <a:r>
              <a:rPr lang="zh-CN" altLang="en-US" dirty="0"/>
              <a:t>支持的数据结构非常松散，是类似</a:t>
            </a:r>
            <a:r>
              <a:rPr lang="en-US" altLang="zh-CN" dirty="0" err="1"/>
              <a:t>json</a:t>
            </a:r>
            <a:r>
              <a:rPr lang="zh-CN" altLang="en-US" dirty="0"/>
              <a:t>的</a:t>
            </a:r>
            <a:r>
              <a:rPr lang="en-US" altLang="zh-CN" dirty="0" err="1"/>
              <a:t>bjson</a:t>
            </a:r>
            <a:r>
              <a:rPr lang="zh-CN" altLang="en-US" dirty="0"/>
              <a:t>格式，因此可以存储比较复杂的数据类型。</a:t>
            </a:r>
            <a:endParaRPr lang="zh-CN" altLang="en-US" dirty="0"/>
          </a:p>
          <a:p>
            <a:pPr lvl="2"/>
            <a:r>
              <a:rPr lang="en-US" altLang="zh-CN" dirty="0"/>
              <a:t>Mongo</a:t>
            </a:r>
            <a:r>
              <a:rPr lang="zh-CN" altLang="en-US" dirty="0"/>
              <a:t>最大的特点是支持的查询语言非常强大，其语法有点类似于面向对象的查询语言，几乎可以实现类似关系数据库单表查询的绝大部分功能，而且还支持对数据建立索引。</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MongoDB</a:t>
            </a:r>
            <a:endParaRPr lang="en-US" altLang="zh-CN" dirty="0"/>
          </a:p>
          <a:p>
            <a:pPr lvl="1"/>
            <a:r>
              <a:rPr lang="zh-CN" altLang="en-US" dirty="0"/>
              <a:t>主要特点</a:t>
            </a:r>
            <a:endParaRPr lang="zh-CN" altLang="en-US" dirty="0"/>
          </a:p>
          <a:p>
            <a:pPr lvl="2"/>
            <a:r>
              <a:rPr lang="zh-CN" altLang="en-US" dirty="0"/>
              <a:t>面向集合存储：易存储对象类型的数据，包括文档内嵌对象及数组。</a:t>
            </a:r>
            <a:endParaRPr lang="zh-CN" altLang="en-US" dirty="0"/>
          </a:p>
          <a:p>
            <a:pPr lvl="2"/>
            <a:r>
              <a:rPr lang="zh-CN" altLang="en-US" dirty="0"/>
              <a:t>模式自由：无需知道存储数据的任何结构定义，支持动态查询、完全索引，可轻易查询文档中内嵌的对象和数组</a:t>
            </a:r>
            <a:endParaRPr lang="zh-CN" altLang="en-US" dirty="0"/>
          </a:p>
          <a:p>
            <a:pPr lvl="2"/>
            <a:r>
              <a:rPr lang="zh-CN" altLang="en-US" dirty="0"/>
              <a:t>文档型：存储在集合中的文档，被存储为键</a:t>
            </a:r>
            <a:r>
              <a:rPr lang="en-US" altLang="zh-CN" dirty="0"/>
              <a:t>-</a:t>
            </a:r>
            <a:r>
              <a:rPr lang="zh-CN" altLang="en-US" dirty="0"/>
              <a:t>值对的形式。键用于唯一标识一个文档，为字符串类型，而值则可以是各种复杂的文件类型。</a:t>
            </a:r>
            <a:endParaRPr lang="zh-CN" altLang="en-US" dirty="0"/>
          </a:p>
          <a:p>
            <a:pPr lvl="2"/>
            <a:r>
              <a:rPr lang="zh-CN" altLang="en-US" dirty="0"/>
              <a:t>高效的数据存储：支持二进制数据及大型对象</a:t>
            </a:r>
            <a:endParaRPr lang="zh-CN" altLang="en-US" dirty="0"/>
          </a:p>
          <a:p>
            <a:pPr lvl="2"/>
            <a:r>
              <a:rPr lang="zh-CN" altLang="en-US" dirty="0"/>
              <a:t>支持复制和故障恢复：提供</a:t>
            </a:r>
            <a:r>
              <a:rPr lang="en-US" altLang="zh-CN" dirty="0"/>
              <a:t>Master-Master</a:t>
            </a:r>
            <a:r>
              <a:rPr lang="zh-CN" altLang="en-US" dirty="0"/>
              <a:t>、</a:t>
            </a:r>
            <a:r>
              <a:rPr lang="en-US" altLang="zh-CN" dirty="0"/>
              <a:t>Master-Slave</a:t>
            </a:r>
            <a:r>
              <a:rPr lang="zh-CN" altLang="en-US" dirty="0"/>
              <a:t>模式的数据复制及服务器之间的数据复制 </a:t>
            </a:r>
            <a:endParaRPr lang="zh-CN" altLang="en-US" dirty="0"/>
          </a:p>
          <a:p>
            <a:pPr lvl="2"/>
            <a:r>
              <a:rPr lang="zh-CN" altLang="en-US" dirty="0"/>
              <a:t>自动分片：以支持云级别的伸缩性，支持水平的数据库集群，可动态添加额外的服务器</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92500" lnSpcReduction="20000"/>
          </a:bodyPr>
          <a:lstStyle/>
          <a:p>
            <a:r>
              <a:rPr lang="zh-CN" altLang="en-US" dirty="0"/>
              <a:t>功能</a:t>
            </a:r>
            <a:endParaRPr lang="zh-CN" altLang="en-US" dirty="0"/>
          </a:p>
          <a:p>
            <a:pPr lvl="1"/>
            <a:r>
              <a:rPr lang="zh-CN" altLang="en-US" dirty="0"/>
              <a:t>面向集合的存储：适合存储对象及</a:t>
            </a:r>
            <a:r>
              <a:rPr lang="en-US" altLang="zh-CN" dirty="0"/>
              <a:t>JSON</a:t>
            </a:r>
            <a:r>
              <a:rPr lang="zh-CN" altLang="en-US" dirty="0"/>
              <a:t>形式的数据。</a:t>
            </a:r>
            <a:endParaRPr lang="zh-CN" altLang="en-US" dirty="0"/>
          </a:p>
          <a:p>
            <a:pPr lvl="1"/>
            <a:r>
              <a:rPr lang="zh-CN" altLang="en-US" dirty="0"/>
              <a:t>动态查询：</a:t>
            </a:r>
            <a:r>
              <a:rPr lang="en-US" altLang="zh-CN" dirty="0"/>
              <a:t>Mongo</a:t>
            </a:r>
            <a:r>
              <a:rPr lang="zh-CN" altLang="en-US" dirty="0"/>
              <a:t>支持丰富的查询表达式。查询指令使用</a:t>
            </a:r>
            <a:r>
              <a:rPr lang="en-US" altLang="zh-CN" dirty="0"/>
              <a:t>JSON</a:t>
            </a:r>
            <a:r>
              <a:rPr lang="zh-CN" altLang="en-US" dirty="0"/>
              <a:t>形式的标记，可轻易查询文档中内嵌的对象及数组。</a:t>
            </a:r>
            <a:endParaRPr lang="zh-CN" altLang="en-US" dirty="0"/>
          </a:p>
          <a:p>
            <a:pPr lvl="1"/>
            <a:r>
              <a:rPr lang="zh-CN" altLang="en-US" dirty="0"/>
              <a:t>完整的索引支持：包括文档内嵌对象及数组。</a:t>
            </a:r>
            <a:r>
              <a:rPr lang="en-US" altLang="zh-CN" dirty="0"/>
              <a:t>Mongo</a:t>
            </a:r>
            <a:r>
              <a:rPr lang="zh-CN" altLang="en-US" dirty="0"/>
              <a:t>的查询优化器会分析查询表达式，并生成一个高效的查询计划。</a:t>
            </a:r>
            <a:endParaRPr lang="zh-CN" altLang="en-US" dirty="0"/>
          </a:p>
          <a:p>
            <a:pPr lvl="1"/>
            <a:r>
              <a:rPr lang="zh-CN" altLang="en-US" dirty="0"/>
              <a:t>查询监视：</a:t>
            </a:r>
            <a:r>
              <a:rPr lang="en-US" altLang="zh-CN" dirty="0"/>
              <a:t>Mongo</a:t>
            </a:r>
            <a:r>
              <a:rPr lang="zh-CN" altLang="en-US" dirty="0"/>
              <a:t>包含一个监视工具用于分析数据库操作的性能。</a:t>
            </a:r>
            <a:endParaRPr lang="zh-CN" altLang="en-US" dirty="0"/>
          </a:p>
          <a:p>
            <a:pPr lvl="1"/>
            <a:r>
              <a:rPr lang="zh-CN" altLang="en-US" dirty="0"/>
              <a:t>复制及自动故障转移：</a:t>
            </a:r>
            <a:r>
              <a:rPr lang="en-US" altLang="zh-CN" dirty="0"/>
              <a:t>Mongo</a:t>
            </a:r>
            <a:r>
              <a:rPr lang="zh-CN" altLang="en-US" dirty="0"/>
              <a:t>数据库支持服务器之间的数据复制，支持主</a:t>
            </a:r>
            <a:r>
              <a:rPr lang="en-US" altLang="zh-CN" dirty="0"/>
              <a:t>-</a:t>
            </a:r>
            <a:r>
              <a:rPr lang="zh-CN" altLang="en-US" dirty="0"/>
              <a:t>从模式及服务器之间的相互复制。复制的主要目标是提供冗余及自动故障转移。</a:t>
            </a:r>
            <a:endParaRPr lang="zh-CN" altLang="en-US" dirty="0"/>
          </a:p>
          <a:p>
            <a:pPr lvl="1"/>
            <a:r>
              <a:rPr lang="zh-CN" altLang="en-US" dirty="0"/>
              <a:t>高效的传统存储方式：支持二进制数据及大型对象</a:t>
            </a:r>
            <a:r>
              <a:rPr lang="en-US" altLang="zh-CN" dirty="0"/>
              <a:t>(</a:t>
            </a:r>
            <a:r>
              <a:rPr lang="zh-CN" altLang="en-US" dirty="0"/>
              <a:t>如照片或图片</a:t>
            </a:r>
            <a:r>
              <a:rPr lang="en-US" altLang="zh-CN" dirty="0"/>
              <a:t>)</a:t>
            </a:r>
            <a:endParaRPr lang="en-US" altLang="zh-CN" dirty="0"/>
          </a:p>
          <a:p>
            <a:pPr lvl="1"/>
            <a:r>
              <a:rPr lang="zh-CN" altLang="en-US" dirty="0"/>
              <a:t>自动分片以支持云级别的伸缩性：自动分片功能支持水平的数据库集群，可动态添加额外的机器。 </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MongoDB</a:t>
            </a:r>
            <a:endParaRPr lang="en-US" altLang="zh-CN" dirty="0"/>
          </a:p>
          <a:p>
            <a:pPr lvl="1"/>
            <a:r>
              <a:rPr lang="zh-CN" altLang="en-US" dirty="0"/>
              <a:t>不适用场景</a:t>
            </a:r>
            <a:endParaRPr lang="zh-CN" altLang="en-US" dirty="0"/>
          </a:p>
          <a:p>
            <a:pPr lvl="2"/>
            <a:r>
              <a:rPr lang="zh-CN" altLang="en-US" dirty="0"/>
              <a:t>要求高度事务性的系统</a:t>
            </a:r>
            <a:endParaRPr lang="zh-CN" altLang="en-US" dirty="0"/>
          </a:p>
          <a:p>
            <a:pPr lvl="2"/>
            <a:r>
              <a:rPr lang="zh-CN" altLang="en-US" dirty="0"/>
              <a:t>传统的商业智能应用</a:t>
            </a:r>
            <a:endParaRPr lang="zh-CN" altLang="en-US" dirty="0"/>
          </a:p>
          <a:p>
            <a:pPr lvl="2"/>
            <a:r>
              <a:rPr lang="zh-CN" altLang="en-US" dirty="0"/>
              <a:t>复杂的跨文档</a:t>
            </a:r>
            <a:r>
              <a:rPr lang="en-US" altLang="zh-CN" dirty="0"/>
              <a:t>(</a:t>
            </a:r>
            <a:r>
              <a:rPr lang="zh-CN" altLang="en-US" dirty="0"/>
              <a:t>表</a:t>
            </a:r>
            <a:r>
              <a:rPr lang="en-US" altLang="zh-CN" dirty="0"/>
              <a:t>)</a:t>
            </a:r>
            <a:r>
              <a:rPr lang="zh-CN" altLang="en-US" dirty="0"/>
              <a:t>级联查询</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zh-CN" altLang="en-US" dirty="0"/>
              <a:t>简介</a:t>
            </a:r>
            <a:endParaRPr lang="zh-CN" altLang="en-US" dirty="0"/>
          </a:p>
          <a:p>
            <a:pPr lvl="2"/>
            <a:r>
              <a:rPr lang="en-US" altLang="zh-CN" dirty="0"/>
              <a:t>HBase</a:t>
            </a:r>
            <a:r>
              <a:rPr lang="zh-CN" altLang="en-US" dirty="0"/>
              <a:t>是一个高可靠、高性能、面向列、可伸缩的分布式数据库，是谷歌</a:t>
            </a:r>
            <a:r>
              <a:rPr lang="en-US" altLang="zh-CN" dirty="0" err="1"/>
              <a:t>BigTable</a:t>
            </a:r>
            <a:r>
              <a:rPr lang="zh-CN" altLang="en-US" dirty="0"/>
              <a:t>的开源实现，主要用来存储非结构化和半结构化的松散数据。</a:t>
            </a:r>
            <a:endParaRPr lang="zh-CN" altLang="en-US" dirty="0"/>
          </a:p>
          <a:p>
            <a:pPr lvl="2"/>
            <a:r>
              <a:rPr lang="en-US" altLang="zh-CN" dirty="0"/>
              <a:t>HBase</a:t>
            </a:r>
            <a:r>
              <a:rPr lang="zh-CN" altLang="en-US" dirty="0"/>
              <a:t>的目标是处理非常庞大的表，可以通过水平扩展的方式，利用廉价计算机集群处理由超过</a:t>
            </a:r>
            <a:r>
              <a:rPr lang="en-US" altLang="zh-CN" dirty="0"/>
              <a:t>10</a:t>
            </a:r>
            <a:r>
              <a:rPr lang="zh-CN" altLang="en-US" dirty="0"/>
              <a:t>亿行数据和数百万列元素组成的数据表</a:t>
            </a:r>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771733" y="2181621"/>
            <a:ext cx="5023104" cy="2824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en-US" altLang="zh-CN" dirty="0"/>
              <a:t>HBase</a:t>
            </a:r>
            <a:r>
              <a:rPr lang="zh-CN" altLang="en-US" dirty="0"/>
              <a:t>和</a:t>
            </a:r>
            <a:r>
              <a:rPr lang="en-US" altLang="zh-CN" dirty="0" err="1"/>
              <a:t>BigTable</a:t>
            </a:r>
            <a:r>
              <a:rPr lang="zh-CN" altLang="en-US" dirty="0"/>
              <a:t>的底层技术对应关系</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Group 83"/>
          <p:cNvGraphicFramePr>
            <a:graphicFrameLocks noGrp="1"/>
          </p:cNvGraphicFramePr>
          <p:nvPr/>
        </p:nvGraphicFramePr>
        <p:xfrm>
          <a:off x="3110347" y="3018469"/>
          <a:ext cx="6045204" cy="2327720"/>
        </p:xfrm>
        <a:graphic>
          <a:graphicData uri="http://schemas.openxmlformats.org/drawingml/2006/table">
            <a:tbl>
              <a:tblPr/>
              <a:tblGrid>
                <a:gridCol w="2015068"/>
                <a:gridCol w="2015068"/>
                <a:gridCol w="2015068"/>
              </a:tblGrid>
              <a:tr h="488054">
                <a:tc>
                  <a:txBody>
                    <a:body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BigTable</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HBase</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805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文件存储系统</a:t>
                      </a: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GFS</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HDFS</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63558">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海量数据处理</a:t>
                      </a: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MapReduce</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Hadoop MapReduce</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805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协同服务管理</a:t>
                      </a: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Chubby</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Zookeeper</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9" marB="456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en-US" altLang="zh-CN" dirty="0"/>
              <a:t>HBase</a:t>
            </a:r>
            <a:r>
              <a:rPr lang="zh-CN" altLang="en-US" dirty="0"/>
              <a:t>与传统的关系数据库的区别：</a:t>
            </a:r>
            <a:endParaRPr lang="zh-CN" altLang="en-US" dirty="0"/>
          </a:p>
          <a:p>
            <a:pPr lvl="2"/>
            <a:r>
              <a:rPr lang="zh-CN" altLang="en-US" dirty="0"/>
              <a:t>数据类型：关系数据库采用关系模型，具有丰富的数据类型和存储方式，</a:t>
            </a:r>
            <a:r>
              <a:rPr lang="en-US" altLang="zh-CN" dirty="0"/>
              <a:t>HBase</a:t>
            </a:r>
            <a:r>
              <a:rPr lang="zh-CN" altLang="en-US" dirty="0"/>
              <a:t>则采用了更加简单的数据模型，它把数据存储为未经解释的字符串</a:t>
            </a:r>
            <a:endParaRPr lang="zh-CN" altLang="en-US" dirty="0"/>
          </a:p>
          <a:p>
            <a:pPr lvl="2"/>
            <a:r>
              <a:rPr lang="zh-CN" altLang="en-US" dirty="0"/>
              <a:t>数据操作：关系数据库中包含了丰富的操作，其中会涉及复杂的多表连接。</a:t>
            </a:r>
            <a:r>
              <a:rPr lang="en-US" altLang="zh-CN" dirty="0"/>
              <a:t>HBase</a:t>
            </a:r>
            <a:r>
              <a:rPr lang="zh-CN" altLang="en-US" dirty="0"/>
              <a:t>操作则不存在复杂的表与表之间的关系，只有简单的插入、查询、删除、清空等，因为</a:t>
            </a:r>
            <a:r>
              <a:rPr lang="en-US" altLang="zh-CN" dirty="0"/>
              <a:t>HBase</a:t>
            </a:r>
            <a:r>
              <a:rPr lang="zh-CN" altLang="en-US" dirty="0"/>
              <a:t>在设计上就避免了复杂的表和表之间的关系</a:t>
            </a:r>
            <a:endParaRPr lang="zh-CN" altLang="en-US" dirty="0"/>
          </a:p>
          <a:p>
            <a:pPr lvl="2"/>
            <a:r>
              <a:rPr lang="zh-CN" altLang="en-US" dirty="0"/>
              <a:t>存储模式：关系数据库是基于行模式存储的。</a:t>
            </a:r>
            <a:r>
              <a:rPr lang="en-US" altLang="zh-CN" dirty="0"/>
              <a:t>HBase</a:t>
            </a:r>
            <a:r>
              <a:rPr lang="zh-CN" altLang="en-US" dirty="0"/>
              <a:t>是基于列存储的，每个列族都由几个文件保存，不同列族的文件是分离的</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en-US" altLang="zh-CN" dirty="0"/>
              <a:t>HBase</a:t>
            </a:r>
            <a:r>
              <a:rPr lang="zh-CN" altLang="en-US" dirty="0"/>
              <a:t>与传统的关系数据库的区别：</a:t>
            </a:r>
            <a:endParaRPr lang="zh-CN" altLang="en-US" dirty="0"/>
          </a:p>
          <a:p>
            <a:pPr lvl="2"/>
            <a:r>
              <a:rPr lang="zh-CN" altLang="en-US" dirty="0"/>
              <a:t>数据索引：关系数据库通常可以针对不同列构建复杂的多个索引，以提高数据访问性能。</a:t>
            </a:r>
            <a:r>
              <a:rPr lang="en-US" altLang="zh-CN" dirty="0"/>
              <a:t>HBase</a:t>
            </a:r>
            <a:r>
              <a:rPr lang="zh-CN" altLang="en-US" dirty="0"/>
              <a:t>只有一个索引</a:t>
            </a:r>
            <a:r>
              <a:rPr lang="en-US" altLang="zh-CN" dirty="0"/>
              <a:t>——</a:t>
            </a:r>
            <a:r>
              <a:rPr lang="zh-CN" altLang="en-US" dirty="0"/>
              <a:t>行键，通过巧妙的设计，</a:t>
            </a:r>
            <a:r>
              <a:rPr lang="en-US" altLang="zh-CN" dirty="0"/>
              <a:t>HBase</a:t>
            </a:r>
            <a:r>
              <a:rPr lang="zh-CN" altLang="en-US" dirty="0"/>
              <a:t>中的所有访问方法，或者通过行键访问，或者通过行键扫描，从而使得整个系统不会慢下来。</a:t>
            </a:r>
            <a:endParaRPr lang="zh-CN" altLang="en-US" dirty="0"/>
          </a:p>
          <a:p>
            <a:pPr lvl="2"/>
            <a:r>
              <a:rPr lang="zh-CN" altLang="en-US" dirty="0"/>
              <a:t>数据维护：在关系数据库中，更新操作会用最新的当前值去替换记录中原来的旧值，旧值被覆盖后就不会存在。而在</a:t>
            </a:r>
            <a:r>
              <a:rPr lang="en-US" altLang="zh-CN" dirty="0"/>
              <a:t>HBase</a:t>
            </a:r>
            <a:r>
              <a:rPr lang="zh-CN" altLang="en-US" dirty="0"/>
              <a:t>中执行更新操作时，并不会删除数据旧的版本，而是生成一个新的版本，旧有的版本仍然保留。</a:t>
            </a:r>
            <a:endParaRPr lang="zh-CN" altLang="en-US" dirty="0"/>
          </a:p>
          <a:p>
            <a:pPr lvl="2"/>
            <a:r>
              <a:rPr lang="zh-CN" altLang="en-US" dirty="0"/>
              <a:t>可伸缩性：关系数据库很难实现横向扩展，纵向扩展的空间也比较有限。相反，</a:t>
            </a:r>
            <a:r>
              <a:rPr lang="en-US" altLang="zh-CN" dirty="0"/>
              <a:t>HBase</a:t>
            </a:r>
            <a:r>
              <a:rPr lang="zh-CN" altLang="en-US" dirty="0"/>
              <a:t>和</a:t>
            </a:r>
            <a:r>
              <a:rPr lang="en-US" altLang="zh-CN" dirty="0" err="1"/>
              <a:t>BigTable</a:t>
            </a:r>
            <a:r>
              <a:rPr lang="zh-CN" altLang="en-US" dirty="0"/>
              <a:t>这些分布式数据库就是为了实现灵活的水平扩展而开发的，能够轻易地通过在集群中增加或者减少硬件数量来实现性能的伸缩。</a:t>
            </a:r>
            <a:endParaRPr lang="zh-CN" altLang="en-US" dirty="0"/>
          </a:p>
          <a:p>
            <a:pPr lvl="2"/>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lnSpcReduction="10000"/>
          </a:bodyPr>
          <a:lstStyle/>
          <a:p>
            <a:r>
              <a:rPr lang="en-US" altLang="zh-CN" dirty="0"/>
              <a:t>HBase</a:t>
            </a:r>
            <a:endParaRPr lang="en-US" altLang="zh-CN" dirty="0"/>
          </a:p>
          <a:p>
            <a:pPr lvl="1"/>
            <a:r>
              <a:rPr lang="zh-CN" altLang="en-US" dirty="0"/>
              <a:t>数据模型概述</a:t>
            </a:r>
            <a:endParaRPr lang="zh-CN" altLang="en-US" dirty="0"/>
          </a:p>
          <a:p>
            <a:pPr lvl="2"/>
            <a:r>
              <a:rPr lang="en-US" altLang="zh-CN" dirty="0"/>
              <a:t>HBase</a:t>
            </a:r>
            <a:r>
              <a:rPr lang="zh-CN" altLang="en-US" dirty="0"/>
              <a:t>是一个稀疏、多维度、排序的映射表，这张表的索引是行键、列族、列限定符和时间戳。</a:t>
            </a:r>
            <a:endParaRPr lang="zh-CN" altLang="en-US" dirty="0"/>
          </a:p>
          <a:p>
            <a:pPr lvl="2"/>
            <a:r>
              <a:rPr lang="zh-CN" altLang="en-US" dirty="0"/>
              <a:t>每个值是一个未经解释的字符串，没有数据类型。</a:t>
            </a:r>
            <a:endParaRPr lang="zh-CN" altLang="en-US" dirty="0"/>
          </a:p>
          <a:p>
            <a:pPr lvl="2"/>
            <a:r>
              <a:rPr lang="zh-CN" altLang="en-US" dirty="0"/>
              <a:t>用户在表中存储数据，每一行都有一个可排序的行键和任意多的列。</a:t>
            </a:r>
            <a:endParaRPr lang="zh-CN" altLang="en-US" dirty="0"/>
          </a:p>
          <a:p>
            <a:pPr lvl="2"/>
            <a:r>
              <a:rPr lang="zh-CN" altLang="en-US" dirty="0"/>
              <a:t>表在水平方向由一个或者多个列族组成，一个列族中可以包含任意多个列，同一个列族里面的数据存储在一起。</a:t>
            </a:r>
            <a:endParaRPr lang="zh-CN" altLang="en-US" dirty="0"/>
          </a:p>
          <a:p>
            <a:pPr lvl="2"/>
            <a:r>
              <a:rPr lang="zh-CN" altLang="en-US" dirty="0"/>
              <a:t>列族支持动态扩展，可以很轻松地添加一个列族或列，无需预先定义列的数量以及类型，所有列均以字符串形式存储，用户需要自行进行数据类型转换。</a:t>
            </a:r>
            <a:endParaRPr lang="zh-CN" altLang="en-US" dirty="0"/>
          </a:p>
          <a:p>
            <a:pPr lvl="2"/>
            <a:r>
              <a:rPr lang="en-US" altLang="zh-CN" dirty="0"/>
              <a:t>HBase</a:t>
            </a:r>
            <a:r>
              <a:rPr lang="zh-CN" altLang="en-US" dirty="0"/>
              <a:t>中执行更新操作时，并不会删除数据旧的版本，而是生成一个新的版本，旧有的版本仍然保留</a:t>
            </a:r>
            <a:r>
              <a:rPr lang="en-US" altLang="zh-CN" dirty="0"/>
              <a:t>(</a:t>
            </a:r>
            <a:r>
              <a:rPr lang="zh-CN" altLang="en-US" dirty="0"/>
              <a:t>这是和</a:t>
            </a:r>
            <a:r>
              <a:rPr lang="en-US" altLang="zh-CN" dirty="0"/>
              <a:t>HDFS</a:t>
            </a:r>
            <a:r>
              <a:rPr lang="zh-CN" altLang="en-US" dirty="0"/>
              <a:t>只允许追加不允许修改的特性相关的</a:t>
            </a:r>
            <a:r>
              <a:rPr lang="en-US" altLang="zh-CN" dirty="0"/>
              <a:t>)</a:t>
            </a:r>
            <a:r>
              <a:rPr lang="zh-CN" altLang="en-US" dirty="0"/>
              <a:t>。</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a:bodyPr>
          <a:lstStyle/>
          <a:p>
            <a:r>
              <a:rPr lang="en-US" altLang="zh-CN" dirty="0"/>
              <a:t>HBase</a:t>
            </a:r>
            <a:endParaRPr lang="en-US" altLang="zh-CN" dirty="0"/>
          </a:p>
          <a:p>
            <a:pPr lvl="1"/>
            <a:r>
              <a:rPr lang="zh-CN" altLang="en-US" dirty="0"/>
              <a:t>数据模型相关概念</a:t>
            </a:r>
            <a:endParaRPr lang="zh-CN" altLang="en-US" dirty="0"/>
          </a:p>
          <a:p>
            <a:pPr lvl="2"/>
            <a:r>
              <a:rPr lang="zh-CN" altLang="en-US" dirty="0"/>
              <a:t>表：</a:t>
            </a:r>
            <a:r>
              <a:rPr lang="en-US" altLang="zh-CN" dirty="0"/>
              <a:t>HBase</a:t>
            </a:r>
            <a:r>
              <a:rPr lang="zh-CN" altLang="en-US" dirty="0"/>
              <a:t>采用表来组织数据，表由行和列组成，列划分为若干个列族。</a:t>
            </a:r>
            <a:endParaRPr lang="zh-CN" altLang="en-US" dirty="0"/>
          </a:p>
          <a:p>
            <a:pPr lvl="2"/>
            <a:r>
              <a:rPr lang="zh-CN" altLang="en-US" dirty="0"/>
              <a:t>行：每个</a:t>
            </a:r>
            <a:r>
              <a:rPr lang="en-US" altLang="zh-CN" dirty="0"/>
              <a:t>HBase</a:t>
            </a:r>
            <a:r>
              <a:rPr lang="zh-CN" altLang="en-US" dirty="0"/>
              <a:t>表都由若干行组成，每个行由行键</a:t>
            </a:r>
            <a:r>
              <a:rPr lang="en-US" altLang="zh-CN" dirty="0"/>
              <a:t>(row key)</a:t>
            </a:r>
            <a:r>
              <a:rPr lang="zh-CN" altLang="en-US" dirty="0"/>
              <a:t>来标识。</a:t>
            </a:r>
            <a:endParaRPr lang="zh-CN" altLang="en-US" dirty="0"/>
          </a:p>
          <a:p>
            <a:pPr lvl="2"/>
            <a:r>
              <a:rPr lang="zh-CN" altLang="en-US" dirty="0"/>
              <a:t>列族：一个</a:t>
            </a:r>
            <a:r>
              <a:rPr lang="en-US" altLang="zh-CN" dirty="0"/>
              <a:t>HBase</a:t>
            </a:r>
            <a:r>
              <a:rPr lang="zh-CN" altLang="en-US" dirty="0"/>
              <a:t>表被分组成许多“列族”</a:t>
            </a:r>
            <a:r>
              <a:rPr lang="en-US" altLang="zh-CN" dirty="0"/>
              <a:t>(Column Family)</a:t>
            </a:r>
            <a:r>
              <a:rPr lang="zh-CN" altLang="en-US" dirty="0"/>
              <a:t>的集合，它是基本的访问控制单元。</a:t>
            </a:r>
            <a:endParaRPr lang="zh-CN" altLang="en-US" dirty="0"/>
          </a:p>
          <a:p>
            <a:pPr lvl="2"/>
            <a:r>
              <a:rPr lang="zh-CN" altLang="en-US" dirty="0"/>
              <a:t>列限定符：列族里的数据通过列限定符</a:t>
            </a:r>
            <a:r>
              <a:rPr lang="en-US" altLang="zh-CN" dirty="0"/>
              <a:t>(</a:t>
            </a:r>
            <a:r>
              <a:rPr lang="zh-CN" altLang="en-US" dirty="0"/>
              <a:t>或列</a:t>
            </a:r>
            <a:r>
              <a:rPr lang="en-US" altLang="zh-CN" dirty="0"/>
              <a:t>)</a:t>
            </a:r>
            <a:r>
              <a:rPr lang="zh-CN" altLang="en-US" dirty="0"/>
              <a:t>来定位。</a:t>
            </a:r>
            <a:endParaRPr lang="zh-CN" altLang="en-US" dirty="0"/>
          </a:p>
          <a:p>
            <a:pPr lvl="2"/>
            <a:r>
              <a:rPr lang="zh-CN" altLang="en-US" dirty="0"/>
              <a:t>单元格：在</a:t>
            </a:r>
            <a:r>
              <a:rPr lang="en-US" altLang="zh-CN" dirty="0"/>
              <a:t>HBase</a:t>
            </a:r>
            <a:r>
              <a:rPr lang="zh-CN" altLang="en-US" dirty="0"/>
              <a:t>表中，通过行、列族和列限定符确定一个“单元格”</a:t>
            </a:r>
            <a:r>
              <a:rPr lang="en-US" altLang="zh-CN" dirty="0"/>
              <a:t>(cell)</a:t>
            </a:r>
            <a:r>
              <a:rPr lang="zh-CN" altLang="en-US" dirty="0"/>
              <a:t>，单元格中存储的数据没有数据类型，总被视为字节数组</a:t>
            </a:r>
            <a:r>
              <a:rPr lang="en-US" altLang="zh-CN" dirty="0"/>
              <a:t>byte[]</a:t>
            </a:r>
            <a:r>
              <a:rPr lang="zh-CN" altLang="en-US" dirty="0"/>
              <a:t>。</a:t>
            </a:r>
            <a:endParaRPr lang="zh-CN" altLang="en-US" dirty="0"/>
          </a:p>
          <a:p>
            <a:pPr lvl="2"/>
            <a:r>
              <a:rPr lang="zh-CN" altLang="en-US" dirty="0"/>
              <a:t>时间戳：每个单元格都保存着同一份数据的多个版本，这些版本采用时间戳进行索引。</a:t>
            </a:r>
            <a:endParaRPr lang="zh-CN" altLang="en-US" dirty="0"/>
          </a:p>
          <a:p>
            <a:pPr lvl="2"/>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84995" y="2092326"/>
            <a:ext cx="4876800" cy="321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en-US" altLang="zh-CN" dirty="0"/>
              <a:t>HBASE</a:t>
            </a:r>
            <a:r>
              <a:rPr lang="zh-CN" altLang="en-US" dirty="0"/>
              <a:t>数据坐标</a:t>
            </a:r>
            <a:endParaRPr lang="en-US" altLang="zh-CN" dirty="0"/>
          </a:p>
          <a:p>
            <a:pPr lvl="2"/>
            <a:r>
              <a:rPr lang="en-US" altLang="zh-CN" dirty="0"/>
              <a:t>HBase</a:t>
            </a:r>
            <a:r>
              <a:rPr lang="zh-CN" altLang="en-US" dirty="0"/>
              <a:t>中需要根据行键、列族、列限定符和时间戳来确定一个单元格，因此，可以视为一个“四维坐标”，即</a:t>
            </a:r>
            <a:r>
              <a:rPr lang="en-US" altLang="zh-CN" dirty="0"/>
              <a:t>[</a:t>
            </a:r>
            <a:r>
              <a:rPr lang="zh-CN" altLang="en-US" dirty="0"/>
              <a:t>行键</a:t>
            </a:r>
            <a:r>
              <a:rPr lang="en-US" altLang="zh-CN" dirty="0"/>
              <a:t>, </a:t>
            </a:r>
            <a:r>
              <a:rPr lang="zh-CN" altLang="en-US" dirty="0"/>
              <a:t>列族</a:t>
            </a:r>
            <a:r>
              <a:rPr lang="en-US" altLang="zh-CN" dirty="0"/>
              <a:t>, </a:t>
            </a:r>
            <a:r>
              <a:rPr lang="zh-CN" altLang="en-US" dirty="0"/>
              <a:t>列限定符</a:t>
            </a:r>
            <a:r>
              <a:rPr lang="en-US" altLang="zh-CN" dirty="0"/>
              <a:t>, </a:t>
            </a:r>
            <a:r>
              <a:rPr lang="zh-CN" altLang="en-US" dirty="0"/>
              <a:t>时间戳</a:t>
            </a:r>
            <a:r>
              <a:rPr lang="en-US" altLang="zh-CN" dirty="0"/>
              <a:t>]</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graphicFrame>
        <p:nvGraphicFramePr>
          <p:cNvPr id="6" name="Group 45"/>
          <p:cNvGraphicFramePr/>
          <p:nvPr/>
        </p:nvGraphicFramePr>
        <p:xfrm>
          <a:off x="188791" y="3671986"/>
          <a:ext cx="6595872" cy="1798440"/>
        </p:xfrm>
        <a:graphic>
          <a:graphicData uri="http://schemas.openxmlformats.org/drawingml/2006/table">
            <a:tbl>
              <a:tblPr/>
              <a:tblGrid>
                <a:gridCol w="4262427"/>
                <a:gridCol w="2333445"/>
              </a:tblGrid>
              <a:tr h="308636">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键</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值</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88522">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201505003</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Info</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email</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1174184619081]</a:t>
                      </a:r>
                      <a:endParaRPr kumimoji="0" lang="fr-FR"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fr-FR"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xie@qq.com</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0" lang="fr-FR"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6246">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201505003</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Info</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email</a:t>
                      </a:r>
                      <a:r>
                        <a:rPr kumimoji="0" lang="fr-FR" altLang="zh-CN" sz="2000" b="0"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1174184620720]</a:t>
                      </a:r>
                      <a:endParaRPr kumimoji="0" lang="fr-FR"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fr-FR" sz="2000" b="0" i="0" u="none" strike="noStrike" cap="none" normalizeH="0" baseline="0" dirty="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you@163.com</a:t>
                      </a:r>
                      <a:r>
                        <a:rPr kumimoji="0" lang="en-US" altLang="zh-CN" sz="2000" b="0" i="0" u="none" strike="noStrike" cap="none" normalizeH="0" baseline="0" dirty="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79058" y="2965449"/>
            <a:ext cx="4876800" cy="321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
        <p:nvSpPr>
          <p:cNvPr id="6" name="Rectangle 4"/>
          <p:cNvSpPr>
            <a:spLocks noChangeArrowheads="1"/>
          </p:cNvSpPr>
          <p:nvPr/>
        </p:nvSpPr>
        <p:spPr bwMode="auto">
          <a:xfrm>
            <a:off x="3984816" y="1804906"/>
            <a:ext cx="3897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ctr"/>
            <a:r>
              <a:rPr lang="zh-CN" altLang="en-US" sz="2000" dirty="0">
                <a:latin typeface="微软雅黑" panose="020B0503020204020204" pitchFamily="34" charset="-122"/>
                <a:ea typeface="微软雅黑" panose="020B0503020204020204" pitchFamily="34" charset="-122"/>
              </a:rPr>
              <a:t>表</a:t>
            </a:r>
            <a:r>
              <a:rPr lang="zh-CN" altLang="zh-CN" sz="2000" dirty="0">
                <a:latin typeface="微软雅黑" panose="020B0503020204020204" pitchFamily="34" charset="-122"/>
                <a:ea typeface="微软雅黑" panose="020B0503020204020204" pitchFamily="34" charset="-122"/>
              </a:rPr>
              <a:t>4-4 HBase</a:t>
            </a:r>
            <a:r>
              <a:rPr lang="zh-CN" altLang="en-US" sz="2000" dirty="0">
                <a:latin typeface="微软雅黑" panose="020B0503020204020204" pitchFamily="34" charset="-122"/>
                <a:ea typeface="微软雅黑" panose="020B0503020204020204" pitchFamily="34" charset="-122"/>
              </a:rPr>
              <a:t>数据的概念视图</a:t>
            </a:r>
            <a:endParaRPr lang="zh-CN" altLang="en-US" sz="2000" dirty="0">
              <a:latin typeface="微软雅黑" panose="020B0503020204020204" pitchFamily="34" charset="-122"/>
              <a:ea typeface="微软雅黑" panose="020B0503020204020204" pitchFamily="34" charset="-122"/>
            </a:endParaRPr>
          </a:p>
        </p:txBody>
      </p:sp>
      <p:graphicFrame>
        <p:nvGraphicFramePr>
          <p:cNvPr id="7" name="Group 153"/>
          <p:cNvGraphicFramePr>
            <a:graphicFrameLocks noGrp="1"/>
          </p:cNvGraphicFramePr>
          <p:nvPr/>
        </p:nvGraphicFramePr>
        <p:xfrm>
          <a:off x="2167128" y="2419268"/>
          <a:ext cx="7543800" cy="4206724"/>
        </p:xfrm>
        <a:graphic>
          <a:graphicData uri="http://schemas.openxmlformats.org/drawingml/2006/table">
            <a:tbl>
              <a:tblPr/>
              <a:tblGrid>
                <a:gridCol w="1203325"/>
                <a:gridCol w="593725"/>
                <a:gridCol w="1987550"/>
                <a:gridCol w="3759200"/>
              </a:tblGrid>
              <a:tr h="100600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行键</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时间戳</a:t>
                      </a: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列族</a:t>
                      </a: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列族</a:t>
                      </a: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anchor</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304">
                <a:tc rowSpan="5">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"com.cnn.www"</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t5</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anchor:cnnsi.com</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=”CNN”</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304">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t4</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anchor:my.look.ca</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="CNN.com"</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154">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t3</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contents:html</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="&lt;html&gt;..." </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154">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t2</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contents:html</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="&lt;html&gt;..." </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6650">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contents:html</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="&lt;html&gt;..." </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
        <p:nvSpPr>
          <p:cNvPr id="6" name="Rectangle 4"/>
          <p:cNvSpPr/>
          <p:nvPr/>
        </p:nvSpPr>
        <p:spPr>
          <a:xfrm>
            <a:off x="4038600" y="1882543"/>
            <a:ext cx="4114800" cy="706437"/>
          </a:xfrm>
          <a:prstGeom prst="rect">
            <a:avLst/>
          </a:prstGeom>
          <a:noFill/>
          <a:ln w="9525">
            <a:noFill/>
          </a:ln>
        </p:spPr>
        <p:txBody>
          <a:bodyPr anchor="ctr">
            <a:spAutoFit/>
          </a:bodyPr>
          <a:lstStyle/>
          <a:p>
            <a:pPr algn="ctr">
              <a:defRPr/>
            </a:pPr>
            <a:r>
              <a:rPr lang="zh-CN" altLang="en-US" sz="2000" noProof="1">
                <a:latin typeface="微软雅黑" panose="020B0503020204020204" pitchFamily="34" charset="-122"/>
                <a:ea typeface="微软雅黑" panose="020B0503020204020204" pitchFamily="34" charset="-122"/>
                <a:cs typeface="Times New Roman" panose="02020603050405020304" pitchFamily="18" charset="0"/>
              </a:rPr>
              <a:t>表</a:t>
            </a:r>
            <a:r>
              <a:rPr lang="zh-CN" altLang="zh-CN" sz="2000" noProof="1">
                <a:latin typeface="微软雅黑" panose="020B0503020204020204" pitchFamily="34" charset="-122"/>
                <a:ea typeface="微软雅黑" panose="020B0503020204020204" pitchFamily="34" charset="-122"/>
                <a:cs typeface="Times New Roman" panose="02020603050405020304" pitchFamily="18" charset="0"/>
              </a:rPr>
              <a:t>4-5 HBase</a:t>
            </a:r>
            <a:r>
              <a:rPr lang="zh-CN" altLang="en-US" sz="2000" noProof="1">
                <a:latin typeface="微软雅黑" panose="020B0503020204020204" pitchFamily="34" charset="-122"/>
                <a:ea typeface="微软雅黑" panose="020B0503020204020204" pitchFamily="34" charset="-122"/>
                <a:cs typeface="Times New Roman" panose="02020603050405020304" pitchFamily="18" charset="0"/>
              </a:rPr>
              <a:t>数据的物理视图</a:t>
            </a:r>
            <a:endParaRPr lang="zh-CN" altLang="en-US" sz="2000" noProof="1">
              <a:latin typeface="微软雅黑" panose="020B0503020204020204" pitchFamily="34" charset="-122"/>
              <a:ea typeface="微软雅黑" panose="020B0503020204020204" pitchFamily="34" charset="-122"/>
            </a:endParaRPr>
          </a:p>
          <a:p>
            <a:pPr algn="ctr">
              <a:buFont typeface="Arial" panose="020B0604020202020204" pitchFamily="34" charset="0"/>
              <a:buNone/>
              <a:defRPr/>
            </a:pPr>
            <a:r>
              <a:rPr lang="zh-CN" altLang="en-US" sz="2000" noProof="1">
                <a:latin typeface="微软雅黑" panose="020B0503020204020204" pitchFamily="34" charset="-122"/>
                <a:ea typeface="微软雅黑" panose="020B0503020204020204" pitchFamily="34" charset="-122"/>
                <a:cs typeface="Times New Roman" panose="02020603050405020304" pitchFamily="18" charset="0"/>
              </a:rPr>
              <a:t>列族</a:t>
            </a:r>
            <a:r>
              <a:rPr lang="zh-CN" altLang="zh-CN" sz="2000" noProof="1">
                <a:latin typeface="微软雅黑" panose="020B0503020204020204" pitchFamily="34" charset="-122"/>
                <a:ea typeface="微软雅黑" panose="020B0503020204020204" pitchFamily="34" charset="-122"/>
                <a:cs typeface="Times New Roman" panose="02020603050405020304" pitchFamily="18" charset="0"/>
              </a:rPr>
              <a:t>contents</a:t>
            </a:r>
            <a:endParaRPr lang="zh-CN" altLang="zh-CN" sz="2000" noProof="1">
              <a:latin typeface="微软雅黑" panose="020B0503020204020204" pitchFamily="34" charset="-122"/>
              <a:ea typeface="微软雅黑" panose="020B0503020204020204" pitchFamily="34" charset="-122"/>
            </a:endParaRPr>
          </a:p>
        </p:txBody>
      </p:sp>
      <p:graphicFrame>
        <p:nvGraphicFramePr>
          <p:cNvPr id="7" name="Group 137"/>
          <p:cNvGraphicFramePr>
            <a:graphicFrameLocks noGrp="1"/>
          </p:cNvGraphicFramePr>
          <p:nvPr/>
        </p:nvGraphicFramePr>
        <p:xfrm>
          <a:off x="2401173" y="2587393"/>
          <a:ext cx="7200027" cy="1889290"/>
        </p:xfrm>
        <a:graphic>
          <a:graphicData uri="http://schemas.openxmlformats.org/drawingml/2006/table">
            <a:tbl>
              <a:tblPr/>
              <a:tblGrid>
                <a:gridCol w="2070008"/>
                <a:gridCol w="1092001"/>
                <a:gridCol w="4038018"/>
              </a:tblGrid>
              <a:tr h="70084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行键</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时间戳</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列族</a:t>
                      </a: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095">
                <a:tc rowSpan="3">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com.cnn.www</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t3</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contents:html</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="&lt;html&gt;..."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09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t2</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contents:html</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="&lt;html&gt;..."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09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t1</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contents:html</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="&lt;html&gt;..."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675" marB="4567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 name="Rectangle 78"/>
          <p:cNvSpPr>
            <a:spLocks noChangeArrowheads="1"/>
          </p:cNvSpPr>
          <p:nvPr/>
        </p:nvSpPr>
        <p:spPr bwMode="auto">
          <a:xfrm>
            <a:off x="5562600" y="4627301"/>
            <a:ext cx="15456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rPr>
              <a:t>列族</a:t>
            </a:r>
            <a:r>
              <a:rPr lang="en-US" altLang="zh-CN" sz="2000" dirty="0">
                <a:latin typeface="微软雅黑" panose="020B0503020204020204" pitchFamily="34" charset="-122"/>
                <a:ea typeface="微软雅黑" panose="020B0503020204020204" pitchFamily="34" charset="-122"/>
              </a:rPr>
              <a:t>anchor</a:t>
            </a:r>
            <a:endParaRPr lang="en-US" altLang="zh-CN" sz="2000" dirty="0">
              <a:latin typeface="微软雅黑" panose="020B0503020204020204" pitchFamily="34" charset="-122"/>
              <a:ea typeface="微软雅黑" panose="020B0503020204020204" pitchFamily="34" charset="-122"/>
            </a:endParaRPr>
          </a:p>
        </p:txBody>
      </p:sp>
      <p:graphicFrame>
        <p:nvGraphicFramePr>
          <p:cNvPr id="9" name="Group 139"/>
          <p:cNvGraphicFramePr>
            <a:graphicFrameLocks noGrp="1"/>
          </p:cNvGraphicFramePr>
          <p:nvPr/>
        </p:nvGraphicFramePr>
        <p:xfrm>
          <a:off x="1713882" y="5098067"/>
          <a:ext cx="9135275" cy="1383143"/>
        </p:xfrm>
        <a:graphic>
          <a:graphicData uri="http://schemas.openxmlformats.org/drawingml/2006/table">
            <a:tbl>
              <a:tblPr/>
              <a:tblGrid>
                <a:gridCol w="3802392"/>
                <a:gridCol w="1201136"/>
                <a:gridCol w="4131747"/>
              </a:tblGrid>
              <a:tr h="59062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行键</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时间戳</a:t>
                      </a:r>
                      <a:endPar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列族</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anchor</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3830">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com.cnn.www</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t5</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anchor:cnnsi.com</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=”CNN”</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3830">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t4</a:t>
                      </a:r>
                      <a:endPar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anchor:my.look.ca</a:t>
                      </a:r>
                      <a:r>
                        <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="CNN.com"</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T="45730" marB="4573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zh-CN" altLang="en-US" dirty="0"/>
              <a:t>架构图</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73406" y="1784350"/>
            <a:ext cx="64008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92500" lnSpcReduction="10000"/>
          </a:bodyPr>
          <a:lstStyle/>
          <a:p>
            <a:r>
              <a:rPr lang="en-US" altLang="zh-CN" dirty="0"/>
              <a:t>HBase</a:t>
            </a:r>
            <a:endParaRPr lang="en-US" altLang="zh-CN" dirty="0"/>
          </a:p>
          <a:p>
            <a:pPr lvl="1"/>
            <a:r>
              <a:rPr lang="zh-CN" altLang="en-US" dirty="0"/>
              <a:t>架构图</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en-US" altLang="zh-CN" dirty="0"/>
              <a:t>Hadoop </a:t>
            </a:r>
            <a:r>
              <a:rPr lang="en-US" altLang="zh-CN" dirty="0" err="1"/>
              <a:t>EcoSystem</a:t>
            </a:r>
            <a:r>
              <a:rPr lang="zh-CN" altLang="en-US" dirty="0"/>
              <a:t>中的各层系统，其中</a:t>
            </a:r>
            <a:r>
              <a:rPr lang="en-US" altLang="zh-CN" dirty="0"/>
              <a:t>HBase</a:t>
            </a:r>
            <a:r>
              <a:rPr lang="zh-CN" altLang="en-US" dirty="0"/>
              <a:t>位于结构化存储层，</a:t>
            </a:r>
            <a:r>
              <a:rPr lang="en-US" altLang="zh-CN" dirty="0"/>
              <a:t>Hadoop HDFS</a:t>
            </a:r>
            <a:r>
              <a:rPr lang="zh-CN" altLang="en-US" dirty="0"/>
              <a:t>为</a:t>
            </a:r>
            <a:r>
              <a:rPr lang="en-US" altLang="zh-CN" dirty="0"/>
              <a:t>HBase</a:t>
            </a:r>
            <a:r>
              <a:rPr lang="zh-CN" altLang="en-US" dirty="0"/>
              <a:t>提供了高可靠性的底层存储支持，</a:t>
            </a:r>
            <a:r>
              <a:rPr lang="en-US" altLang="zh-CN" dirty="0"/>
              <a:t>Hadoop MapReduce</a:t>
            </a:r>
            <a:r>
              <a:rPr lang="zh-CN" altLang="en-US" dirty="0"/>
              <a:t>为</a:t>
            </a:r>
            <a:r>
              <a:rPr lang="en-US" altLang="zh-CN" dirty="0"/>
              <a:t>HBase</a:t>
            </a:r>
            <a:r>
              <a:rPr lang="zh-CN" altLang="en-US" dirty="0"/>
              <a:t>提供了高性能的计算能力，</a:t>
            </a:r>
            <a:r>
              <a:rPr lang="en-US" altLang="zh-CN" dirty="0"/>
              <a:t>Zookeeper</a:t>
            </a:r>
            <a:r>
              <a:rPr lang="zh-CN" altLang="en-US" dirty="0"/>
              <a:t>为</a:t>
            </a:r>
            <a:r>
              <a:rPr lang="en-US" altLang="zh-CN" dirty="0"/>
              <a:t>HBase</a:t>
            </a:r>
            <a:r>
              <a:rPr lang="zh-CN" altLang="en-US" dirty="0"/>
              <a:t>提供了稳定服务和</a:t>
            </a:r>
            <a:r>
              <a:rPr lang="en-US" altLang="zh-CN" dirty="0"/>
              <a:t>failover</a:t>
            </a:r>
            <a:r>
              <a:rPr lang="zh-CN" altLang="en-US" dirty="0"/>
              <a:t>机制。 </a:t>
            </a:r>
            <a:endParaRPr lang="zh-CN" altLang="en-US"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图片 3"/>
          <p:cNvPicPr>
            <a:picLocks noChangeAspect="1" noChangeArrowheads="1"/>
          </p:cNvPicPr>
          <p:nvPr/>
        </p:nvPicPr>
        <p:blipFill rotWithShape="1">
          <a:blip r:embed="rId1">
            <a:extLst>
              <a:ext uri="{28A0092B-C50C-407E-A947-70E740481C1C}">
                <a14:useLocalDpi xmlns:a14="http://schemas.microsoft.com/office/drawing/2010/main" val="0"/>
              </a:ext>
            </a:extLst>
          </a:blip>
          <a:srcRect b="9046"/>
          <a:stretch>
            <a:fillRect/>
          </a:stretch>
        </p:blipFill>
        <p:spPr bwMode="auto">
          <a:xfrm>
            <a:off x="3456708" y="1734281"/>
            <a:ext cx="5334000" cy="2910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zh-CN" altLang="en-US" dirty="0"/>
              <a:t>物理存储</a:t>
            </a:r>
            <a:endParaRPr lang="en-US" altLang="zh-CN" dirty="0"/>
          </a:p>
          <a:p>
            <a:pPr lvl="2"/>
            <a:r>
              <a:rPr lang="zh-CN" altLang="en-US" dirty="0"/>
              <a:t>每个</a:t>
            </a:r>
            <a:r>
              <a:rPr lang="en-US" altLang="zh-CN" dirty="0" err="1"/>
              <a:t>HRegion</a:t>
            </a:r>
            <a:r>
              <a:rPr lang="zh-CN" altLang="en-US" dirty="0"/>
              <a:t>由多个</a:t>
            </a:r>
            <a:r>
              <a:rPr lang="en-US" altLang="zh-CN" dirty="0"/>
              <a:t>Store</a:t>
            </a:r>
            <a:r>
              <a:rPr lang="zh-CN" altLang="en-US" dirty="0"/>
              <a:t>构成，每个</a:t>
            </a:r>
            <a:r>
              <a:rPr lang="en-US" altLang="zh-CN" dirty="0"/>
              <a:t>Store</a:t>
            </a:r>
            <a:r>
              <a:rPr lang="zh-CN" altLang="en-US" dirty="0"/>
              <a:t>由一个</a:t>
            </a:r>
            <a:r>
              <a:rPr lang="en-US" altLang="zh-CN" dirty="0" err="1"/>
              <a:t>memStore</a:t>
            </a:r>
            <a:r>
              <a:rPr lang="zh-CN" altLang="en-US" dirty="0"/>
              <a:t>和</a:t>
            </a:r>
            <a:r>
              <a:rPr lang="en-US" altLang="zh-CN" dirty="0"/>
              <a:t>0</a:t>
            </a:r>
            <a:r>
              <a:rPr lang="zh-CN" altLang="en-US" dirty="0"/>
              <a:t>或多个</a:t>
            </a:r>
            <a:r>
              <a:rPr lang="en-US" altLang="zh-CN" dirty="0" err="1"/>
              <a:t>StoreFile</a:t>
            </a:r>
            <a:r>
              <a:rPr lang="zh-CN" altLang="en-US" dirty="0"/>
              <a:t>组成，每个</a:t>
            </a:r>
            <a:r>
              <a:rPr lang="en-US" altLang="zh-CN" dirty="0"/>
              <a:t>Store</a:t>
            </a:r>
            <a:r>
              <a:rPr lang="zh-CN" altLang="en-US" dirty="0"/>
              <a:t>保存一个</a:t>
            </a:r>
            <a:r>
              <a:rPr lang="en-US" altLang="zh-CN" dirty="0"/>
              <a:t>Columns Family</a:t>
            </a:r>
            <a:r>
              <a:rPr lang="zh-CN" altLang="en-US" dirty="0"/>
              <a:t>。</a:t>
            </a:r>
            <a:endParaRPr lang="zh-CN" altLang="en-US" dirty="0"/>
          </a:p>
          <a:p>
            <a:pPr lvl="2"/>
            <a:r>
              <a:rPr lang="en-US" altLang="zh-CN" dirty="0" err="1"/>
              <a:t>StoreFile</a:t>
            </a:r>
            <a:r>
              <a:rPr lang="zh-CN" altLang="en-US" dirty="0"/>
              <a:t>以</a:t>
            </a:r>
            <a:r>
              <a:rPr lang="en-US" altLang="zh-CN" dirty="0" err="1"/>
              <a:t>HFile</a:t>
            </a:r>
            <a:r>
              <a:rPr lang="zh-CN" altLang="en-US" dirty="0"/>
              <a:t>格式存储在</a:t>
            </a:r>
            <a:r>
              <a:rPr lang="en-US" altLang="zh-CN" dirty="0"/>
              <a:t>HDFS</a:t>
            </a:r>
            <a:r>
              <a:rPr lang="zh-CN" altLang="en-US" dirty="0"/>
              <a:t>中。</a:t>
            </a:r>
            <a:endParaRPr lang="zh-CN" altLang="en-US" dirty="0"/>
          </a:p>
          <a:p>
            <a:pPr lvl="2"/>
            <a:endParaRPr lang="zh-CN" altLang="en-US" dirty="0"/>
          </a:p>
          <a:p>
            <a:pPr lvl="1"/>
            <a:endParaRPr lang="en-US" altLang="zh-CN" dirty="0"/>
          </a:p>
          <a:p>
            <a:pPr lvl="1"/>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pic>
        <p:nvPicPr>
          <p:cNvPr id="6"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87496" y="3635500"/>
            <a:ext cx="5494159" cy="2990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normAutofit fontScale="85000" lnSpcReduction="20000"/>
          </a:bodyPr>
          <a:lstStyle/>
          <a:p>
            <a:r>
              <a:rPr lang="en-US" altLang="zh-CN" dirty="0"/>
              <a:t>HBase</a:t>
            </a:r>
            <a:endParaRPr lang="en-US" altLang="zh-CN" dirty="0"/>
          </a:p>
          <a:p>
            <a:pPr lvl="1"/>
            <a:r>
              <a:rPr lang="en-US" altLang="zh-CN" dirty="0"/>
              <a:t>Client  </a:t>
            </a:r>
            <a:r>
              <a:rPr lang="zh-CN" altLang="en-US" dirty="0"/>
              <a:t>包含访问</a:t>
            </a:r>
            <a:r>
              <a:rPr lang="en-US" altLang="zh-CN" dirty="0" err="1"/>
              <a:t>hbase</a:t>
            </a:r>
            <a:r>
              <a:rPr lang="en-US" altLang="zh-CN" dirty="0"/>
              <a:t> </a:t>
            </a:r>
            <a:r>
              <a:rPr lang="zh-CN" altLang="en-US" dirty="0"/>
              <a:t>的接口，</a:t>
            </a:r>
            <a:r>
              <a:rPr lang="en-US" altLang="zh-CN" dirty="0"/>
              <a:t>client </a:t>
            </a:r>
            <a:r>
              <a:rPr lang="zh-CN" altLang="en-US" dirty="0"/>
              <a:t>维护着一些</a:t>
            </a:r>
            <a:r>
              <a:rPr lang="en-US" altLang="zh-CN" dirty="0"/>
              <a:t>cache </a:t>
            </a:r>
            <a:r>
              <a:rPr lang="zh-CN" altLang="en-US" dirty="0"/>
              <a:t>来加快对</a:t>
            </a:r>
            <a:r>
              <a:rPr lang="en-US" altLang="zh-CN" dirty="0" err="1"/>
              <a:t>hbase</a:t>
            </a:r>
            <a:r>
              <a:rPr lang="en-US" altLang="zh-CN" dirty="0"/>
              <a:t> </a:t>
            </a:r>
            <a:r>
              <a:rPr lang="zh-CN" altLang="en-US" dirty="0"/>
              <a:t>的访问，比如</a:t>
            </a:r>
            <a:r>
              <a:rPr lang="en-US" altLang="zh-CN" dirty="0" err="1"/>
              <a:t>regione</a:t>
            </a:r>
            <a:r>
              <a:rPr lang="en-US" altLang="zh-CN" dirty="0"/>
              <a:t> </a:t>
            </a:r>
            <a:r>
              <a:rPr lang="zh-CN" altLang="en-US" dirty="0"/>
              <a:t>的位置信息。</a:t>
            </a:r>
            <a:endParaRPr lang="zh-CN" altLang="en-US" dirty="0"/>
          </a:p>
          <a:p>
            <a:pPr lvl="1"/>
            <a:r>
              <a:rPr lang="en-US" altLang="zh-CN" dirty="0"/>
              <a:t>Zookeeper</a:t>
            </a:r>
            <a:endParaRPr lang="en-US" altLang="zh-CN" dirty="0"/>
          </a:p>
          <a:p>
            <a:pPr lvl="2"/>
            <a:r>
              <a:rPr lang="zh-CN" altLang="en-US" dirty="0"/>
              <a:t>保证任何时候，集群中只有一个</a:t>
            </a:r>
            <a:r>
              <a:rPr lang="en-US" altLang="zh-CN" dirty="0"/>
              <a:t>master</a:t>
            </a:r>
            <a:endParaRPr lang="en-US" altLang="zh-CN" dirty="0"/>
          </a:p>
          <a:p>
            <a:pPr lvl="2"/>
            <a:r>
              <a:rPr lang="en-US" altLang="zh-CN" dirty="0"/>
              <a:t> </a:t>
            </a:r>
            <a:r>
              <a:rPr lang="zh-CN" altLang="en-US" dirty="0"/>
              <a:t>存贮所有</a:t>
            </a:r>
            <a:r>
              <a:rPr lang="en-US" altLang="zh-CN" dirty="0"/>
              <a:t>Region </a:t>
            </a:r>
            <a:r>
              <a:rPr lang="zh-CN" altLang="en-US" dirty="0"/>
              <a:t>的寻址入口</a:t>
            </a:r>
            <a:endParaRPr lang="zh-CN" altLang="en-US" dirty="0"/>
          </a:p>
          <a:p>
            <a:pPr lvl="2"/>
            <a:r>
              <a:rPr lang="zh-CN" altLang="en-US" dirty="0"/>
              <a:t> 实时监控</a:t>
            </a:r>
            <a:r>
              <a:rPr lang="en-US" altLang="zh-CN" dirty="0"/>
              <a:t>Region Server </a:t>
            </a:r>
            <a:r>
              <a:rPr lang="zh-CN" altLang="en-US" dirty="0"/>
              <a:t>的状态，将</a:t>
            </a:r>
            <a:r>
              <a:rPr lang="en-US" altLang="zh-CN" dirty="0"/>
              <a:t>Region server </a:t>
            </a:r>
            <a:r>
              <a:rPr lang="zh-CN" altLang="en-US" dirty="0"/>
              <a:t>的上线和下线信息，实时通知给</a:t>
            </a:r>
            <a:r>
              <a:rPr lang="en-US" altLang="zh-CN" dirty="0"/>
              <a:t>Master</a:t>
            </a:r>
            <a:endParaRPr lang="en-US" altLang="zh-CN" dirty="0"/>
          </a:p>
          <a:p>
            <a:pPr lvl="2"/>
            <a:r>
              <a:rPr lang="en-US" altLang="zh-CN" dirty="0"/>
              <a:t> </a:t>
            </a:r>
            <a:r>
              <a:rPr lang="zh-CN" altLang="en-US" dirty="0"/>
              <a:t>存储</a:t>
            </a:r>
            <a:r>
              <a:rPr lang="en-US" altLang="zh-CN" dirty="0" err="1"/>
              <a:t>Hbase</a:t>
            </a:r>
            <a:r>
              <a:rPr lang="en-US" altLang="zh-CN" dirty="0"/>
              <a:t> </a:t>
            </a:r>
            <a:r>
              <a:rPr lang="zh-CN" altLang="en-US" dirty="0"/>
              <a:t>的</a:t>
            </a:r>
            <a:r>
              <a:rPr lang="en-US" altLang="zh-CN" dirty="0"/>
              <a:t>schema,</a:t>
            </a:r>
            <a:r>
              <a:rPr lang="zh-CN" altLang="en-US" dirty="0"/>
              <a:t>包括有哪些</a:t>
            </a:r>
            <a:r>
              <a:rPr lang="en-US" altLang="zh-CN" dirty="0"/>
              <a:t>table</a:t>
            </a:r>
            <a:r>
              <a:rPr lang="zh-CN" altLang="en-US" dirty="0"/>
              <a:t>，每个</a:t>
            </a:r>
            <a:r>
              <a:rPr lang="en-US" altLang="zh-CN" dirty="0"/>
              <a:t>table </a:t>
            </a:r>
            <a:r>
              <a:rPr lang="zh-CN" altLang="en-US" dirty="0"/>
              <a:t>有哪些</a:t>
            </a:r>
            <a:r>
              <a:rPr lang="en-US" altLang="zh-CN" dirty="0"/>
              <a:t>column family</a:t>
            </a:r>
            <a:endParaRPr lang="en-US" altLang="zh-CN" dirty="0"/>
          </a:p>
          <a:p>
            <a:pPr lvl="1"/>
            <a:r>
              <a:rPr lang="en-US" altLang="zh-CN" dirty="0"/>
              <a:t>Master</a:t>
            </a:r>
            <a:endParaRPr lang="en-US" altLang="zh-CN" dirty="0"/>
          </a:p>
          <a:p>
            <a:pPr lvl="2"/>
            <a:r>
              <a:rPr lang="zh-CN" altLang="en-US" dirty="0"/>
              <a:t>为</a:t>
            </a:r>
            <a:r>
              <a:rPr lang="en-US" altLang="zh-CN" dirty="0"/>
              <a:t>Region server </a:t>
            </a:r>
            <a:r>
              <a:rPr lang="zh-CN" altLang="en-US" dirty="0"/>
              <a:t>分配</a:t>
            </a:r>
            <a:r>
              <a:rPr lang="en-US" altLang="zh-CN" dirty="0"/>
              <a:t>region</a:t>
            </a:r>
            <a:endParaRPr lang="en-US" altLang="zh-CN" dirty="0"/>
          </a:p>
          <a:p>
            <a:pPr lvl="2"/>
            <a:r>
              <a:rPr lang="zh-CN" altLang="en-US" dirty="0"/>
              <a:t>负责</a:t>
            </a:r>
            <a:r>
              <a:rPr lang="en-US" altLang="zh-CN" dirty="0"/>
              <a:t>region server </a:t>
            </a:r>
            <a:r>
              <a:rPr lang="zh-CN" altLang="en-US" dirty="0"/>
              <a:t>的负载均衡</a:t>
            </a:r>
            <a:endParaRPr lang="zh-CN" altLang="en-US" dirty="0"/>
          </a:p>
          <a:p>
            <a:pPr lvl="2"/>
            <a:r>
              <a:rPr lang="zh-CN" altLang="en-US" dirty="0"/>
              <a:t>发现失效的</a:t>
            </a:r>
            <a:r>
              <a:rPr lang="en-US" altLang="zh-CN" dirty="0"/>
              <a:t>region server </a:t>
            </a:r>
            <a:r>
              <a:rPr lang="zh-CN" altLang="en-US" dirty="0"/>
              <a:t>并重新分配其上的</a:t>
            </a:r>
            <a:r>
              <a:rPr lang="en-US" altLang="zh-CN" dirty="0"/>
              <a:t>region</a:t>
            </a:r>
            <a:endParaRPr lang="en-US" altLang="zh-CN" dirty="0"/>
          </a:p>
          <a:p>
            <a:pPr lvl="2"/>
            <a:r>
              <a:rPr lang="en-US" altLang="zh-CN" dirty="0"/>
              <a:t>GFS </a:t>
            </a:r>
            <a:r>
              <a:rPr lang="zh-CN" altLang="en-US" dirty="0"/>
              <a:t>上的垃圾文件回收</a:t>
            </a:r>
            <a:endParaRPr lang="zh-CN" altLang="en-US" dirty="0"/>
          </a:p>
          <a:p>
            <a:pPr lvl="2"/>
            <a:r>
              <a:rPr lang="zh-CN" altLang="en-US" dirty="0"/>
              <a:t>处理</a:t>
            </a:r>
            <a:r>
              <a:rPr lang="en-US" altLang="zh-CN" dirty="0"/>
              <a:t>schema </a:t>
            </a:r>
            <a:r>
              <a:rPr lang="zh-CN" altLang="en-US" dirty="0"/>
              <a:t>更新请求</a:t>
            </a:r>
            <a:endParaRPr lang="en-US" altLang="zh-CN" dirty="0"/>
          </a:p>
          <a:p>
            <a:pPr lvl="2"/>
            <a:endParaRPr lang="en-US" altLang="zh-CN" dirty="0"/>
          </a:p>
          <a:p>
            <a:pPr lvl="1"/>
            <a:endParaRPr lang="en-US" altLang="zh-CN"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en-US" altLang="zh-CN" dirty="0"/>
              <a:t>HBase</a:t>
            </a:r>
            <a:endParaRPr lang="en-US" altLang="zh-CN" dirty="0"/>
          </a:p>
          <a:p>
            <a:pPr lvl="1"/>
            <a:r>
              <a:rPr lang="en-US" altLang="zh-CN" dirty="0"/>
              <a:t>Region Server</a:t>
            </a:r>
            <a:endParaRPr lang="en-US" altLang="zh-CN" dirty="0"/>
          </a:p>
          <a:p>
            <a:pPr lvl="2"/>
            <a:r>
              <a:rPr lang="zh-CN" altLang="en-US" dirty="0"/>
              <a:t>维护</a:t>
            </a:r>
            <a:r>
              <a:rPr lang="en-US" altLang="zh-CN" dirty="0"/>
              <a:t>Master </a:t>
            </a:r>
            <a:r>
              <a:rPr lang="zh-CN" altLang="en-US" dirty="0"/>
              <a:t>分配给它的</a:t>
            </a:r>
            <a:r>
              <a:rPr lang="en-US" altLang="zh-CN" dirty="0"/>
              <a:t>region</a:t>
            </a:r>
            <a:r>
              <a:rPr lang="zh-CN" altLang="en-US" dirty="0"/>
              <a:t>，处理对这些</a:t>
            </a:r>
            <a:r>
              <a:rPr lang="en-US" altLang="zh-CN" dirty="0"/>
              <a:t>region </a:t>
            </a:r>
            <a:r>
              <a:rPr lang="zh-CN" altLang="en-US" dirty="0"/>
              <a:t>的</a:t>
            </a:r>
            <a:r>
              <a:rPr lang="en-US" altLang="zh-CN" dirty="0"/>
              <a:t>IO </a:t>
            </a:r>
            <a:r>
              <a:rPr lang="zh-CN" altLang="en-US" dirty="0"/>
              <a:t>请求。</a:t>
            </a:r>
            <a:endParaRPr lang="zh-CN" altLang="en-US" dirty="0"/>
          </a:p>
          <a:p>
            <a:pPr lvl="2"/>
            <a:r>
              <a:rPr lang="zh-CN" altLang="en-US" dirty="0"/>
              <a:t>负责切分在运行过程中变得过大的</a:t>
            </a:r>
            <a:r>
              <a:rPr lang="en-US" altLang="zh-CN" dirty="0"/>
              <a:t>region</a:t>
            </a:r>
            <a:r>
              <a:rPr lang="zh-CN" altLang="en-US" dirty="0"/>
              <a:t>。</a:t>
            </a:r>
            <a:endParaRPr lang="zh-CN" altLang="en-US" dirty="0"/>
          </a:p>
          <a:p>
            <a:pPr lvl="2"/>
            <a:r>
              <a:rPr lang="zh-CN" altLang="en-US" dirty="0"/>
              <a:t> 可以看出，</a:t>
            </a:r>
            <a:r>
              <a:rPr lang="en-US" altLang="zh-CN" dirty="0"/>
              <a:t>client </a:t>
            </a:r>
            <a:r>
              <a:rPr lang="zh-CN" altLang="en-US" dirty="0"/>
              <a:t>访问</a:t>
            </a:r>
            <a:r>
              <a:rPr lang="en-US" altLang="zh-CN" dirty="0" err="1"/>
              <a:t>hbase</a:t>
            </a:r>
            <a:r>
              <a:rPr lang="en-US" altLang="zh-CN" dirty="0"/>
              <a:t> </a:t>
            </a:r>
            <a:r>
              <a:rPr lang="zh-CN" altLang="en-US" dirty="0"/>
              <a:t>上数据的过程并不需要</a:t>
            </a:r>
            <a:r>
              <a:rPr lang="en-US" altLang="zh-CN" dirty="0"/>
              <a:t>master </a:t>
            </a:r>
            <a:r>
              <a:rPr lang="zh-CN" altLang="en-US" dirty="0"/>
              <a:t>参与，寻址访问</a:t>
            </a:r>
            <a:r>
              <a:rPr lang="en-US" altLang="zh-CN" dirty="0"/>
              <a:t>zookeeper </a:t>
            </a:r>
            <a:r>
              <a:rPr lang="zh-CN" altLang="en-US" dirty="0"/>
              <a:t>和</a:t>
            </a:r>
            <a:r>
              <a:rPr lang="en-US" altLang="zh-CN" dirty="0"/>
              <a:t>region server</a:t>
            </a:r>
            <a:r>
              <a:rPr lang="zh-CN" altLang="en-US" dirty="0"/>
              <a:t>，数据读写访问</a:t>
            </a:r>
            <a:r>
              <a:rPr lang="en-US" altLang="zh-CN" dirty="0" err="1"/>
              <a:t>regione</a:t>
            </a:r>
            <a:r>
              <a:rPr lang="en-US" altLang="zh-CN" dirty="0"/>
              <a:t> server</a:t>
            </a:r>
            <a:r>
              <a:rPr lang="zh-CN" altLang="en-US" dirty="0"/>
              <a:t>，</a:t>
            </a:r>
            <a:r>
              <a:rPr lang="en-US" altLang="zh-CN" dirty="0"/>
              <a:t>master</a:t>
            </a:r>
            <a:r>
              <a:rPr lang="zh-CN" altLang="en-US" dirty="0"/>
              <a:t>仅仅维护者</a:t>
            </a:r>
            <a:r>
              <a:rPr lang="en-US" altLang="zh-CN" dirty="0"/>
              <a:t>table </a:t>
            </a:r>
            <a:r>
              <a:rPr lang="zh-CN" altLang="en-US" dirty="0"/>
              <a:t>和</a:t>
            </a:r>
            <a:r>
              <a:rPr lang="en-US" altLang="zh-CN" dirty="0"/>
              <a:t>region </a:t>
            </a:r>
            <a:r>
              <a:rPr lang="zh-CN" altLang="en-US" dirty="0"/>
              <a:t>的元数据信息，负载很低。	</a:t>
            </a:r>
            <a:endParaRPr lang="zh-CN" altLang="en-US" dirty="0"/>
          </a:p>
          <a:p>
            <a:pPr lvl="2"/>
            <a:endParaRPr lang="en-US" altLang="zh-CN" dirty="0"/>
          </a:p>
          <a:p>
            <a:endParaRPr lang="zh-CN" altLang="en-US" dirty="0"/>
          </a:p>
        </p:txBody>
      </p:sp>
      <p:sp>
        <p:nvSpPr>
          <p:cNvPr id="4" name="灯片编号占位符 3"/>
          <p:cNvSpPr>
            <a:spLocks noGrp="1"/>
          </p:cNvSpPr>
          <p:nvPr>
            <p:ph type="sldNum" sz="quarter" idx="12"/>
          </p:nvPr>
        </p:nvSpPr>
        <p:spPr>
          <a:xfrm>
            <a:off x="9118595" y="6356350"/>
            <a:ext cx="2743200" cy="365125"/>
          </a:xfrm>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11.4 NoSQL</a:t>
            </a:r>
            <a:r>
              <a:rPr lang="zh-CN" altLang="en-US" dirty="0"/>
              <a:t>数据库</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31238</Words>
  <Application>WPS 演示</Application>
  <PresentationFormat>宽屏</PresentationFormat>
  <Paragraphs>2805</Paragraphs>
  <Slides>176</Slides>
  <Notes>163</Notes>
  <HiddenSlides>2</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3</vt:i4>
      </vt:variant>
      <vt:variant>
        <vt:lpstr>幻灯片标题</vt:lpstr>
      </vt:variant>
      <vt:variant>
        <vt:i4>176</vt:i4>
      </vt:variant>
    </vt:vector>
  </HeadingPairs>
  <TitlesOfParts>
    <vt:vector size="203" baseType="lpstr">
      <vt:lpstr>Arial</vt:lpstr>
      <vt:lpstr>宋体</vt:lpstr>
      <vt:lpstr>Wingdings</vt:lpstr>
      <vt:lpstr>黑体</vt:lpstr>
      <vt:lpstr>微软雅黑</vt:lpstr>
      <vt:lpstr>Arial Narrow</vt:lpstr>
      <vt:lpstr>Arial Unicode MS</vt:lpstr>
      <vt:lpstr>等线 Light</vt:lpstr>
      <vt:lpstr>等线</vt:lpstr>
      <vt:lpstr>Times New Roman</vt:lpstr>
      <vt:lpstr>仿宋</vt:lpstr>
      <vt:lpstr>Lucida Sans Unicode</vt:lpstr>
      <vt:lpstr>Verdana</vt:lpstr>
      <vt:lpstr>楷体_GB2312</vt:lpstr>
      <vt:lpstr>新宋体</vt:lpstr>
      <vt:lpstr>Tahoma</vt:lpstr>
      <vt:lpstr>华文细黑</vt:lpstr>
      <vt:lpstr>Wingdings 2</vt:lpstr>
      <vt:lpstr>Calibri</vt:lpstr>
      <vt:lpstr>Bell MT</vt:lpstr>
      <vt:lpstr>Cambria Math</vt:lpstr>
      <vt:lpstr>Comic Sans MS</vt:lpstr>
      <vt:lpstr>Arial</vt:lpstr>
      <vt:lpstr>Office 主题​​</vt:lpstr>
      <vt:lpstr>Paint.Picture</vt:lpstr>
      <vt:lpstr>Word.Picture.8</vt:lpstr>
      <vt:lpstr>Visio.Drawing.11</vt:lpstr>
      <vt:lpstr>第11章 大数据与云数据管理</vt:lpstr>
      <vt:lpstr>目录</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11.1 大数据</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11.2 云计算</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11.3 云数据管理</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lpstr>11.4 NoSQL数据库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24</cp:revision>
  <dcterms:created xsi:type="dcterms:W3CDTF">2024-11-02T12:31:00Z</dcterms:created>
  <dcterms:modified xsi:type="dcterms:W3CDTF">2025-07-28T03:07:05Z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562160C2657F4286B60BEF690E141FFC_12</vt:lpwstr>
  </property>
  <property fmtid="{D5CDD505-2E9C-101B-9397-08002B2CF9AE}" pid="3" name="KSOProductBuildVer">
    <vt:lpwstr>2052-12.1.0.21915</vt:lpwstr>
  </property>
</Properties>
</file>