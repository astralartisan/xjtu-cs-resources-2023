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3"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 id="342" r:id="rId80"/>
    <p:sldId id="343"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362" r:id="rId100"/>
    <p:sldId id="363" r:id="rId101"/>
    <p:sldId id="364" r:id="rId102"/>
    <p:sldId id="365" r:id="rId103"/>
    <p:sldId id="366" r:id="rId104"/>
    <p:sldId id="367" r:id="rId105"/>
    <p:sldId id="368" r:id="rId106"/>
    <p:sldId id="369" r:id="rId107"/>
    <p:sldId id="370" r:id="rId108"/>
    <p:sldId id="371" r:id="rId109"/>
    <p:sldId id="372" r:id="rId110"/>
    <p:sldId id="373" r:id="rId111"/>
    <p:sldId id="374" r:id="rId112"/>
    <p:sldId id="375" r:id="rId113"/>
    <p:sldId id="376" r:id="rId114"/>
    <p:sldId id="377" r:id="rId115"/>
    <p:sldId id="378" r:id="rId116"/>
    <p:sldId id="379" r:id="rId117"/>
    <p:sldId id="380" r:id="rId118"/>
    <p:sldId id="381" r:id="rId119"/>
    <p:sldId id="382" r:id="rId120"/>
    <p:sldId id="383" r:id="rId121"/>
    <p:sldId id="384" r:id="rId122"/>
    <p:sldId id="385" r:id="rId123"/>
    <p:sldId id="386" r:id="rId124"/>
    <p:sldId id="387" r:id="rId125"/>
    <p:sldId id="388" r:id="rId126"/>
    <p:sldId id="389" r:id="rId127"/>
    <p:sldId id="390" r:id="rId128"/>
    <p:sldId id="391" r:id="rId129"/>
    <p:sldId id="393" r:id="rId130"/>
    <p:sldId id="392" r:id="rId131"/>
    <p:sldId id="394" r:id="rId132"/>
    <p:sldId id="395" r:id="rId133"/>
    <p:sldId id="396" r:id="rId134"/>
    <p:sldId id="397" r:id="rId135"/>
    <p:sldId id="398" r:id="rId136"/>
    <p:sldId id="399" r:id="rId137"/>
    <p:sldId id="400" r:id="rId138"/>
    <p:sldId id="401" r:id="rId139"/>
    <p:sldId id="402" r:id="rId140"/>
    <p:sldId id="403" r:id="rId141"/>
    <p:sldId id="404" r:id="rId142"/>
    <p:sldId id="405" r:id="rId143"/>
    <p:sldId id="406" r:id="rId144"/>
    <p:sldId id="407" r:id="rId145"/>
    <p:sldId id="408" r:id="rId146"/>
    <p:sldId id="409" r:id="rId147"/>
    <p:sldId id="410" r:id="rId148"/>
    <p:sldId id="411" r:id="rId149"/>
    <p:sldId id="412" r:id="rId150"/>
    <p:sldId id="413" r:id="rId151"/>
    <p:sldId id="414" r:id="rId152"/>
    <p:sldId id="415" r:id="rId153"/>
    <p:sldId id="416" r:id="rId154"/>
    <p:sldId id="417" r:id="rId155"/>
    <p:sldId id="418" r:id="rId156"/>
    <p:sldId id="419" r:id="rId157"/>
    <p:sldId id="420" r:id="rId158"/>
    <p:sldId id="421" r:id="rId159"/>
    <p:sldId id="422" r:id="rId160"/>
    <p:sldId id="423" r:id="rId161"/>
    <p:sldId id="424" r:id="rId162"/>
    <p:sldId id="425" r:id="rId163"/>
    <p:sldId id="426" r:id="rId164"/>
    <p:sldId id="427" r:id="rId165"/>
    <p:sldId id="428" r:id="rId166"/>
    <p:sldId id="429" r:id="rId167"/>
    <p:sldId id="430" r:id="rId168"/>
    <p:sldId id="431" r:id="rId169"/>
    <p:sldId id="432" r:id="rId170"/>
    <p:sldId id="433" r:id="rId171"/>
    <p:sldId id="434" r:id="rId172"/>
    <p:sldId id="435" r:id="rId173"/>
    <p:sldId id="436" r:id="rId174"/>
    <p:sldId id="437" r:id="rId175"/>
    <p:sldId id="438" r:id="rId176"/>
    <p:sldId id="439" r:id="rId177"/>
    <p:sldId id="440" r:id="rId178"/>
    <p:sldId id="441" r:id="rId179"/>
    <p:sldId id="442" r:id="rId180"/>
    <p:sldId id="443" r:id="rId181"/>
    <p:sldId id="444" r:id="rId182"/>
    <p:sldId id="445" r:id="rId183"/>
    <p:sldId id="446" r:id="rId184"/>
    <p:sldId id="447" r:id="rId185"/>
    <p:sldId id="448" r:id="rId186"/>
    <p:sldId id="449" r:id="rId187"/>
    <p:sldId id="450" r:id="rId1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8" autoAdjust="0"/>
    <p:restoredTop sz="86452" autoAdjust="0"/>
  </p:normalViewPr>
  <p:slideViewPr>
    <p:cSldViewPr snapToGrid="0">
      <p:cViewPr varScale="1">
        <p:scale>
          <a:sx n="103" d="100"/>
          <a:sy n="103" d="100"/>
        </p:scale>
        <p:origin x="1027" y="86"/>
      </p:cViewPr>
      <p:guideLst/>
    </p:cSldViewPr>
  </p:slideViewPr>
  <p:outlineViewPr>
    <p:cViewPr>
      <p:scale>
        <a:sx n="33" d="100"/>
        <a:sy n="33" d="100"/>
      </p:scale>
      <p:origin x="0" y="-198656"/>
    </p:cViewPr>
  </p:outlineViewPr>
  <p:notesTextViewPr>
    <p:cViewPr>
      <p:scale>
        <a:sx n="1" d="1"/>
        <a:sy n="1" d="1"/>
      </p:scale>
      <p:origin x="0" y="0"/>
    </p:cViewPr>
  </p:notesTextViewPr>
  <p:sorterViewPr>
    <p:cViewPr>
      <p:scale>
        <a:sx n="141" d="100"/>
        <a:sy n="141"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1" Type="http://schemas.openxmlformats.org/officeDocument/2006/relationships/tableStyles" Target="tableStyles.xml"/><Relationship Id="rId190" Type="http://schemas.openxmlformats.org/officeDocument/2006/relationships/viewProps" Target="viewProps.xml"/><Relationship Id="rId19" Type="http://schemas.openxmlformats.org/officeDocument/2006/relationships/slide" Target="slides/slide16.xml"/><Relationship Id="rId189" Type="http://schemas.openxmlformats.org/officeDocument/2006/relationships/presProps" Target="presProps.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oleObject" Target="../embeddings/oleObject3.bin"/><Relationship Id="rId2" Type="http://schemas.openxmlformats.org/officeDocument/2006/relationships/image" Target="../media/image5.png"/><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oleObject" Target="../embeddings/oleObject4.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629676"/>
            <a:ext cx="9144000" cy="2387600"/>
          </a:xfrm>
        </p:spPr>
        <p:txBody>
          <a:bodyPr>
            <a:normAutofit/>
          </a:bodyPr>
          <a:lstStyle/>
          <a:p>
            <a:r>
              <a:rPr lang="zh-CN" altLang="en-US" dirty="0"/>
              <a:t>第</a:t>
            </a:r>
            <a:r>
              <a:rPr lang="en-US" altLang="zh-CN" dirty="0"/>
              <a:t>3</a:t>
            </a:r>
            <a:r>
              <a:rPr lang="zh-CN" altLang="en-US" dirty="0"/>
              <a:t>章 关系数据库语言</a:t>
            </a:r>
            <a:r>
              <a:rPr lang="en-US" altLang="zh-CN" dirty="0"/>
              <a:t>SQL</a:t>
            </a:r>
            <a:endParaRPr lang="zh-CN" altLang="en-US" dirty="0"/>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a:t>xuebinren</a:t>
            </a:r>
            <a:r>
              <a:rPr lang="en-US" altLang="zh-CN" dirty="0" err="1"/>
              <a:t>@mail.xjtu.edu.cn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第</a:t>
            </a:r>
            <a:r>
              <a:rPr kumimoji="1" lang="en-US" altLang="zh-CN" dirty="0"/>
              <a:t>3</a:t>
            </a:r>
            <a:r>
              <a:rPr kumimoji="1" lang="zh-CN" altLang="en-US" dirty="0"/>
              <a:t>章 关系数据库语言</a:t>
            </a:r>
            <a:r>
              <a:rPr kumimoji="1" lang="en-US" altLang="zh-CN" dirty="0"/>
              <a:t>SQL</a:t>
            </a:r>
            <a:endParaRPr kumimoji="1" lang="zh-CN" altLang="en-US" dirty="0"/>
          </a:p>
        </p:txBody>
      </p:sp>
      <p:sp>
        <p:nvSpPr>
          <p:cNvPr id="3" name="内容占位符 2"/>
          <p:cNvSpPr>
            <a:spLocks noGrp="1"/>
          </p:cNvSpPr>
          <p:nvPr>
            <p:ph idx="1"/>
          </p:nvPr>
        </p:nvSpPr>
        <p:spPr>
          <a:xfrm>
            <a:off x="1053424" y="1247338"/>
            <a:ext cx="4334503" cy="4957760"/>
          </a:xfrm>
        </p:spPr>
        <p:txBody>
          <a:bodyPr>
            <a:normAutofit/>
          </a:bodyPr>
          <a:lstStyle/>
          <a:p>
            <a:pPr>
              <a:buClr>
                <a:srgbClr val="FFFF00"/>
              </a:buClr>
            </a:pPr>
            <a:r>
              <a:rPr lang="en-US" altLang="zh-CN" dirty="0"/>
              <a:t>3.1 SQL</a:t>
            </a:r>
            <a:r>
              <a:rPr lang="zh-CN" altLang="en-US" dirty="0"/>
              <a:t>语言概述</a:t>
            </a:r>
            <a:endParaRPr lang="zh-CN" altLang="en-US" dirty="0"/>
          </a:p>
          <a:p>
            <a:pPr>
              <a:buClr>
                <a:srgbClr val="FFFF00"/>
              </a:buClr>
            </a:pPr>
            <a:r>
              <a:rPr lang="en-US" altLang="zh-CN" dirty="0"/>
              <a:t>3.2 SQL</a:t>
            </a:r>
            <a:r>
              <a:rPr lang="zh-CN" altLang="en-US" dirty="0"/>
              <a:t>数据定义功能</a:t>
            </a:r>
            <a:endParaRPr lang="zh-CN" altLang="en-US" dirty="0"/>
          </a:p>
          <a:p>
            <a:pPr>
              <a:buClr>
                <a:srgbClr val="FFFF00"/>
              </a:buClr>
            </a:pPr>
            <a:r>
              <a:rPr lang="en-US" altLang="zh-CN" dirty="0"/>
              <a:t>3.3 SQL</a:t>
            </a:r>
            <a:r>
              <a:rPr lang="zh-CN" altLang="en-US" dirty="0"/>
              <a:t>数据查询功能</a:t>
            </a:r>
            <a:endParaRPr lang="zh-CN" altLang="en-US" dirty="0"/>
          </a:p>
          <a:p>
            <a:pPr>
              <a:buClr>
                <a:srgbClr val="FFFF00"/>
              </a:buClr>
            </a:pPr>
            <a:r>
              <a:rPr lang="en-US" altLang="zh-CN" dirty="0"/>
              <a:t>3.4 SQL</a:t>
            </a:r>
            <a:r>
              <a:rPr lang="zh-CN" altLang="en-US" dirty="0"/>
              <a:t>数据操纵功能</a:t>
            </a:r>
            <a:endParaRPr lang="zh-CN" altLang="en-US" dirty="0"/>
          </a:p>
          <a:p>
            <a:endParaRPr kumimoji="1" lang="en-US" altLang="zh-CN" dirty="0"/>
          </a:p>
          <a:p>
            <a:endParaRPr kumimoji="1"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6" name="内容占位符 2"/>
          <p:cNvSpPr txBox="1"/>
          <p:nvPr/>
        </p:nvSpPr>
        <p:spPr>
          <a:xfrm>
            <a:off x="6467141" y="1247338"/>
            <a:ext cx="4334503" cy="4957760"/>
          </a:xfrm>
          <a:prstGeom prst="rect">
            <a:avLst/>
          </a:prstGeom>
        </p:spPr>
        <p:txBody>
          <a:bodyPr vert="horz" lIns="91440" tIns="45720" rIns="91440" bIns="45720" rtlCol="0">
            <a:normAutofit/>
          </a:bodyPr>
          <a:lstStyle>
            <a:lvl1pPr marL="0" indent="0" algn="l" defTabSz="914400" rtl="0" eaLnBrk="1" latinLnBrk="0" hangingPunct="1">
              <a:lnSpc>
                <a:spcPct val="200000"/>
              </a:lnSpc>
              <a:spcBef>
                <a:spcPts val="1000"/>
              </a:spcBef>
              <a:buFont typeface="Wingdings" panose="05000000000000000000" pitchFamily="2" charset="2"/>
              <a:buNone/>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FF00"/>
              </a:buClr>
            </a:pPr>
            <a:r>
              <a:rPr lang="en-US" altLang="zh-CN" dirty="0"/>
              <a:t>3.5 </a:t>
            </a:r>
            <a:r>
              <a:rPr lang="zh-CN" altLang="en-US" dirty="0"/>
              <a:t>视图</a:t>
            </a:r>
            <a:endParaRPr lang="zh-CN" altLang="en-US" dirty="0"/>
          </a:p>
          <a:p>
            <a:pPr>
              <a:buClr>
                <a:srgbClr val="FFFF00"/>
              </a:buClr>
            </a:pPr>
            <a:r>
              <a:rPr lang="en-US" altLang="zh-CN" dirty="0"/>
              <a:t>3.6 SQL</a:t>
            </a:r>
            <a:r>
              <a:rPr lang="zh-CN" altLang="en-US" dirty="0"/>
              <a:t>数据控制功能</a:t>
            </a:r>
            <a:endParaRPr lang="zh-CN" altLang="en-US" dirty="0"/>
          </a:p>
          <a:p>
            <a:pPr>
              <a:buClr>
                <a:srgbClr val="FFFF00"/>
              </a:buClr>
            </a:pPr>
            <a:r>
              <a:rPr lang="en-US" altLang="zh-CN" dirty="0"/>
              <a:t>3.7 </a:t>
            </a:r>
            <a:r>
              <a:rPr lang="zh-CN" altLang="en-US" dirty="0"/>
              <a:t>嵌入式</a:t>
            </a:r>
            <a:r>
              <a:rPr lang="en-US" altLang="zh-CN" dirty="0"/>
              <a:t>SQL</a:t>
            </a:r>
            <a:endParaRPr lang="en-US" altLang="zh-CN" dirty="0"/>
          </a:p>
          <a:p>
            <a:endParaRPr kumimoji="1" lang="en-US" altLang="zh-CN" dirty="0"/>
          </a:p>
          <a:p>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just">
              <a:lnSpc>
                <a:spcPct val="150000"/>
              </a:lnSpc>
            </a:pPr>
            <a:r>
              <a:rPr kumimoji="1" lang="zh-CN" altLang="en-US" b="0" dirty="0"/>
              <a:t>结构化查询语言</a:t>
            </a:r>
            <a:r>
              <a:rPr kumimoji="1" lang="en-GB" altLang="zh-CN" b="0" dirty="0"/>
              <a:t>SQL</a:t>
            </a:r>
            <a:r>
              <a:rPr kumimoji="1" lang="zh-CN" altLang="en-GB" b="0" dirty="0"/>
              <a:t>（</a:t>
            </a:r>
            <a:r>
              <a:rPr kumimoji="1" lang="en-GB" altLang="zh-CN" b="0" dirty="0"/>
              <a:t>Structured Query Language</a:t>
            </a:r>
            <a:r>
              <a:rPr kumimoji="1" lang="zh-CN" altLang="en-GB" b="0" dirty="0"/>
              <a:t>）</a:t>
            </a:r>
            <a:r>
              <a:rPr kumimoji="1" lang="zh-CN" altLang="en-US" b="0" dirty="0"/>
              <a:t>是一种介于关系代数与关系演算之间的语言，其功能包括查询、操纵、定义和控制四个方面，是一个通用的的关系数据库语言</a:t>
            </a:r>
            <a:endParaRPr kumimoji="1" lang="zh-CN" altLang="en-US" b="0" dirty="0"/>
          </a:p>
          <a:p>
            <a:pPr algn="just">
              <a:lnSpc>
                <a:spcPct val="150000"/>
              </a:lnSpc>
            </a:pPr>
            <a:r>
              <a:rPr kumimoji="1" lang="en-GB" altLang="zh-CN" b="0" dirty="0"/>
              <a:t>SQL</a:t>
            </a:r>
            <a:r>
              <a:rPr kumimoji="1" lang="zh-CN" altLang="en-US" b="0" dirty="0"/>
              <a:t>于</a:t>
            </a:r>
            <a:r>
              <a:rPr kumimoji="1" lang="en-US" altLang="zh-CN" b="0" dirty="0"/>
              <a:t>1974</a:t>
            </a:r>
            <a:r>
              <a:rPr kumimoji="1" lang="zh-CN" altLang="en-US" b="0" dirty="0"/>
              <a:t>年由</a:t>
            </a:r>
            <a:r>
              <a:rPr kumimoji="1" lang="en-GB" altLang="zh-CN" b="0" dirty="0"/>
              <a:t>Donald D. Chamberlin </a:t>
            </a:r>
            <a:r>
              <a:rPr kumimoji="1" lang="zh-CN" altLang="en-US" b="0" dirty="0"/>
              <a:t>和 </a:t>
            </a:r>
            <a:r>
              <a:rPr kumimoji="1" lang="en-GB" altLang="zh-CN" b="0" dirty="0"/>
              <a:t>Raymond F. Boyce(IBM)</a:t>
            </a:r>
            <a:r>
              <a:rPr kumimoji="1" lang="zh-CN" altLang="en-US" b="0" dirty="0"/>
              <a:t>提出，并在</a:t>
            </a:r>
            <a:r>
              <a:rPr kumimoji="1" lang="en-GB" altLang="zh-CN" b="0" dirty="0"/>
              <a:t>IBM</a:t>
            </a:r>
            <a:r>
              <a:rPr kumimoji="1" lang="zh-CN" altLang="en-US" b="0" dirty="0"/>
              <a:t>公司的</a:t>
            </a:r>
            <a:r>
              <a:rPr kumimoji="1" lang="en-GB" altLang="zh-CN" b="0" dirty="0"/>
              <a:t>System R</a:t>
            </a:r>
            <a:r>
              <a:rPr kumimoji="1" lang="zh-CN" altLang="en-US" b="0" dirty="0"/>
              <a:t>上实现</a:t>
            </a:r>
            <a:endParaRPr kumimoji="1" lang="zh-CN" altLang="en-US" b="0" dirty="0"/>
          </a:p>
          <a:p>
            <a:pPr algn="just">
              <a:lnSpc>
                <a:spcPct val="150000"/>
              </a:lnSpc>
            </a:pPr>
            <a:r>
              <a:rPr kumimoji="1" lang="zh-CN" altLang="en-US" b="0" dirty="0"/>
              <a:t>目前，</a:t>
            </a:r>
            <a:r>
              <a:rPr kumimoji="1" lang="en-GB" altLang="zh-CN" b="0" dirty="0"/>
              <a:t>SQL</a:t>
            </a:r>
            <a:r>
              <a:rPr kumimoji="1" lang="zh-CN" altLang="en-US" b="0" dirty="0"/>
              <a:t>已成为关系数据库的标准语言</a:t>
            </a:r>
            <a:endParaRPr kumimoji="1" lang="zh-CN" altLang="en-US" b="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kumimoji="1" lang="en-US" altLang="zh-CN" dirty="0"/>
              <a:t>SQL</a:t>
            </a:r>
            <a:r>
              <a:rPr kumimoji="1" lang="zh-CN" altLang="en-US" dirty="0"/>
              <a:t>语言的版本</a:t>
            </a:r>
            <a:endParaRPr kumimoji="1" lang="en-US" altLang="zh-CN" dirty="0"/>
          </a:p>
          <a:p>
            <a:pPr lvl="1"/>
            <a:r>
              <a:rPr kumimoji="1" lang="en-US" altLang="zh-CN" dirty="0"/>
              <a:t>1986</a:t>
            </a:r>
            <a:r>
              <a:rPr kumimoji="1" lang="zh-CN" altLang="en-US" dirty="0"/>
              <a:t>年，</a:t>
            </a:r>
            <a:r>
              <a:rPr kumimoji="1" lang="en-GB" altLang="zh-CN" dirty="0"/>
              <a:t>ANSI X3.135-1986</a:t>
            </a:r>
            <a:r>
              <a:rPr kumimoji="1" lang="zh-CN" altLang="en-GB" dirty="0"/>
              <a:t>，</a:t>
            </a:r>
            <a:r>
              <a:rPr kumimoji="1" lang="en-GB" altLang="zh-CN" dirty="0"/>
              <a:t>ISO/IEC 9075:1986</a:t>
            </a:r>
            <a:r>
              <a:rPr kumimoji="1" lang="zh-CN" altLang="en-GB" dirty="0"/>
              <a:t>，</a:t>
            </a:r>
            <a:r>
              <a:rPr kumimoji="1" lang="en-GB" altLang="zh-CN" dirty="0"/>
              <a:t>SQL-86 </a:t>
            </a:r>
            <a:endParaRPr kumimoji="1" lang="en-GB" altLang="zh-CN" dirty="0"/>
          </a:p>
          <a:p>
            <a:pPr lvl="1"/>
            <a:r>
              <a:rPr kumimoji="1" lang="en-GB" altLang="zh-CN" dirty="0"/>
              <a:t>1989</a:t>
            </a:r>
            <a:r>
              <a:rPr kumimoji="1" lang="zh-CN" altLang="en-US" dirty="0"/>
              <a:t>年，</a:t>
            </a:r>
            <a:r>
              <a:rPr kumimoji="1" lang="en-GB" altLang="zh-CN" dirty="0"/>
              <a:t>ANSI X3.135-1989</a:t>
            </a:r>
            <a:r>
              <a:rPr kumimoji="1" lang="zh-CN" altLang="en-GB" dirty="0"/>
              <a:t>，</a:t>
            </a:r>
            <a:r>
              <a:rPr kumimoji="1" lang="en-GB" altLang="zh-CN" dirty="0"/>
              <a:t>ISO/IEC 9075:1989</a:t>
            </a:r>
            <a:r>
              <a:rPr kumimoji="1" lang="zh-CN" altLang="en-GB" dirty="0"/>
              <a:t>，</a:t>
            </a:r>
            <a:r>
              <a:rPr kumimoji="1" lang="en-GB" altLang="zh-CN" dirty="0"/>
              <a:t>SQL-89 (SQL1) (About 156 pages)</a:t>
            </a:r>
            <a:endParaRPr kumimoji="1" lang="en-GB" altLang="zh-CN" dirty="0"/>
          </a:p>
          <a:p>
            <a:pPr lvl="1"/>
            <a:r>
              <a:rPr kumimoji="1" lang="en-GB" altLang="zh-CN" dirty="0"/>
              <a:t>1992</a:t>
            </a:r>
            <a:r>
              <a:rPr kumimoji="1" lang="zh-CN" altLang="en-US" dirty="0"/>
              <a:t>年，</a:t>
            </a:r>
            <a:r>
              <a:rPr kumimoji="1" lang="en-GB" altLang="zh-CN" dirty="0"/>
              <a:t>ANSI X3.135-1992, ISO/IEC 9075:1992</a:t>
            </a:r>
            <a:r>
              <a:rPr kumimoji="1" lang="zh-CN" altLang="en-GB" dirty="0"/>
              <a:t>，</a:t>
            </a:r>
            <a:r>
              <a:rPr kumimoji="1" lang="en-GB" altLang="zh-CN" dirty="0"/>
              <a:t>SQL-92</a:t>
            </a:r>
            <a:r>
              <a:rPr kumimoji="1" lang="zh-CN" altLang="en-GB" dirty="0"/>
              <a:t>（</a:t>
            </a:r>
            <a:r>
              <a:rPr kumimoji="1" lang="en-GB" altLang="zh-CN" dirty="0"/>
              <a:t>SQL2</a:t>
            </a:r>
            <a:r>
              <a:rPr kumimoji="1" lang="zh-CN" altLang="en-GB" dirty="0"/>
              <a:t>）</a:t>
            </a:r>
            <a:r>
              <a:rPr kumimoji="1" lang="en-GB" altLang="zh-CN" dirty="0"/>
              <a:t>(&gt;600 pages)</a:t>
            </a:r>
            <a:endParaRPr kumimoji="1" lang="en-GB" altLang="zh-CN" dirty="0"/>
          </a:p>
          <a:p>
            <a:pPr lvl="1"/>
            <a:r>
              <a:rPr kumimoji="1" lang="en-GB" altLang="zh-CN" dirty="0"/>
              <a:t>1999</a:t>
            </a:r>
            <a:r>
              <a:rPr kumimoji="1" lang="zh-CN" altLang="en-US" dirty="0"/>
              <a:t>年，</a:t>
            </a:r>
            <a:r>
              <a:rPr kumimoji="1" lang="en-GB" altLang="zh-CN" dirty="0"/>
              <a:t>ISO/IEC 9075:1999, SQL:1999</a:t>
            </a:r>
            <a:r>
              <a:rPr kumimoji="1" lang="zh-CN" altLang="en-GB" dirty="0"/>
              <a:t>（</a:t>
            </a:r>
            <a:r>
              <a:rPr kumimoji="1" lang="en-GB" altLang="zh-CN" dirty="0"/>
              <a:t>SQL3</a:t>
            </a:r>
            <a:r>
              <a:rPr kumimoji="1" lang="zh-CN" altLang="en-GB" dirty="0"/>
              <a:t>）</a:t>
            </a:r>
            <a:r>
              <a:rPr kumimoji="1" lang="en-GB" altLang="zh-CN" dirty="0"/>
              <a:t>(1700 pages)</a:t>
            </a:r>
            <a:endParaRPr kumimoji="1" lang="en-GB" altLang="zh-CN" dirty="0"/>
          </a:p>
          <a:p>
            <a:pPr lvl="1"/>
            <a:r>
              <a:rPr kumimoji="1" lang="en-GB" altLang="zh-CN" dirty="0"/>
              <a:t>2003</a:t>
            </a:r>
            <a:r>
              <a:rPr kumimoji="1" lang="zh-CN" altLang="en-US" dirty="0"/>
              <a:t>年，</a:t>
            </a:r>
            <a:r>
              <a:rPr kumimoji="1" lang="en-GB" altLang="zh-CN" dirty="0"/>
              <a:t>ISO/IEC 9075:2003, SQL:2003</a:t>
            </a:r>
            <a:r>
              <a:rPr kumimoji="1" lang="zh-CN" altLang="en-GB" dirty="0"/>
              <a:t>（</a:t>
            </a:r>
            <a:r>
              <a:rPr kumimoji="1" lang="en-GB" altLang="zh-CN" dirty="0"/>
              <a:t>SQL4</a:t>
            </a:r>
            <a:r>
              <a:rPr kumimoji="1" lang="zh-CN" altLang="en-GB" dirty="0"/>
              <a:t>） </a:t>
            </a:r>
            <a:endParaRPr kumimoji="1" lang="zh-CN" altLang="en-GB" dirty="0"/>
          </a:p>
          <a:p>
            <a:pPr lvl="1"/>
            <a:r>
              <a:rPr kumimoji="1" lang="en-GB" altLang="zh-CN" dirty="0"/>
              <a:t>2006</a:t>
            </a:r>
            <a:r>
              <a:rPr kumimoji="1" lang="zh-CN" altLang="en-US" dirty="0"/>
              <a:t>年，</a:t>
            </a:r>
            <a:r>
              <a:rPr kumimoji="1" lang="en-GB" altLang="zh-CN" dirty="0"/>
              <a:t>ISO/IEC 9075-14:2006</a:t>
            </a:r>
            <a:r>
              <a:rPr kumimoji="1" lang="zh-CN" altLang="en-GB" dirty="0"/>
              <a:t>，</a:t>
            </a:r>
            <a:r>
              <a:rPr kumimoji="1" lang="en-GB" altLang="zh-CN" dirty="0"/>
              <a:t>SQL:2006</a:t>
            </a:r>
            <a:endParaRPr kumimoji="1" lang="en-GB" altLang="zh-CN" dirty="0"/>
          </a:p>
          <a:p>
            <a:pPr lvl="1"/>
            <a:r>
              <a:rPr kumimoji="1" lang="en-GB" altLang="zh-CN" dirty="0"/>
              <a:t>SQL 2008(3777 pages)</a:t>
            </a:r>
            <a:r>
              <a:rPr kumimoji="1" lang="zh-CN" altLang="en-GB" dirty="0"/>
              <a:t>， </a:t>
            </a:r>
            <a:r>
              <a:rPr kumimoji="1" lang="en-GB" altLang="zh-CN" dirty="0"/>
              <a:t>SQL 2011</a:t>
            </a:r>
            <a:r>
              <a:rPr kumimoji="1" lang="zh-CN" altLang="en-GB" dirty="0"/>
              <a:t>，</a:t>
            </a:r>
            <a:r>
              <a:rPr kumimoji="1" lang="en-GB" altLang="zh-CN" dirty="0"/>
              <a:t>SQL 2016 ……</a:t>
            </a:r>
            <a:endParaRPr kumimoji="1" lang="en-GB"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en-US" altLang="zh-CN" dirty="0"/>
              <a:t>SQL</a:t>
            </a:r>
            <a:r>
              <a:rPr kumimoji="1" lang="zh-CN" altLang="en-US" dirty="0"/>
              <a:t>的特点</a:t>
            </a:r>
            <a:endParaRPr kumimoji="1" lang="en-US" altLang="zh-CN" dirty="0"/>
          </a:p>
          <a:p>
            <a:pPr marL="514350" indent="-514350">
              <a:buFont typeface="+mj-lt"/>
              <a:buAutoNum type="arabicPeriod"/>
            </a:pPr>
            <a:r>
              <a:rPr kumimoji="1" lang="zh-CN" altLang="en-US" dirty="0"/>
              <a:t>综合统一</a:t>
            </a:r>
            <a:endParaRPr kumimoji="1" lang="en-US" altLang="zh-CN" dirty="0"/>
          </a:p>
          <a:p>
            <a:pPr lvl="1"/>
            <a:r>
              <a:rPr kumimoji="1" lang="zh-CN" altLang="en-US" dirty="0"/>
              <a:t>集数据定义语言（</a:t>
            </a:r>
            <a:r>
              <a:rPr kumimoji="1" lang="en-US" altLang="zh-CN" dirty="0"/>
              <a:t>DDL</a:t>
            </a:r>
            <a:r>
              <a:rPr kumimoji="1" lang="zh-CN" altLang="en-US" dirty="0"/>
              <a:t>），数据查询语言（</a:t>
            </a:r>
            <a:r>
              <a:rPr kumimoji="1" lang="en-US" altLang="zh-CN" dirty="0"/>
              <a:t>QL</a:t>
            </a:r>
            <a:r>
              <a:rPr kumimoji="1" lang="zh-CN" altLang="en-US" dirty="0"/>
              <a:t>）数据操纵语言（</a:t>
            </a:r>
            <a:r>
              <a:rPr kumimoji="1" lang="en-US" altLang="zh-CN" dirty="0"/>
              <a:t>DML</a:t>
            </a:r>
            <a:r>
              <a:rPr kumimoji="1" lang="zh-CN" altLang="en-US" dirty="0"/>
              <a:t>），数据控制语言（</a:t>
            </a:r>
            <a:r>
              <a:rPr kumimoji="1" lang="en-US" altLang="zh-CN" dirty="0"/>
              <a:t>DCL</a:t>
            </a:r>
            <a:r>
              <a:rPr kumimoji="1" lang="zh-CN" altLang="en-US" dirty="0"/>
              <a:t>）功能于一体</a:t>
            </a:r>
            <a:endParaRPr kumimoji="1" lang="zh-CN" altLang="en-US" dirty="0"/>
          </a:p>
          <a:p>
            <a:pPr lvl="1"/>
            <a:r>
              <a:rPr kumimoji="1" lang="zh-CN" altLang="en-US" dirty="0"/>
              <a:t>可以独立完成数据库生命周期中的全部活动：</a:t>
            </a:r>
            <a:endParaRPr kumimoji="1" lang="zh-CN" altLang="en-US" dirty="0"/>
          </a:p>
          <a:p>
            <a:pPr lvl="2"/>
            <a:r>
              <a:rPr kumimoji="1" lang="zh-CN" altLang="en-US" dirty="0"/>
              <a:t>定义关系模式，插入数据，建立数据库；</a:t>
            </a:r>
            <a:endParaRPr kumimoji="1" lang="zh-CN" altLang="en-US" dirty="0"/>
          </a:p>
          <a:p>
            <a:pPr lvl="2"/>
            <a:r>
              <a:rPr kumimoji="1" lang="zh-CN" altLang="en-US" dirty="0"/>
              <a:t>对数据库中的数据进行查询和更新；</a:t>
            </a:r>
            <a:endParaRPr kumimoji="1" lang="zh-CN" altLang="en-US" dirty="0"/>
          </a:p>
          <a:p>
            <a:pPr lvl="2"/>
            <a:r>
              <a:rPr kumimoji="1" lang="zh-CN" altLang="en-US" dirty="0"/>
              <a:t>数据库重构和维护</a:t>
            </a:r>
            <a:endParaRPr kumimoji="1" lang="zh-CN" altLang="en-US" dirty="0"/>
          </a:p>
          <a:p>
            <a:pPr lvl="2"/>
            <a:r>
              <a:rPr kumimoji="1" lang="zh-CN" altLang="en-US" dirty="0"/>
              <a:t>数据库安全性、完整性控制等</a:t>
            </a:r>
            <a:endParaRPr kumimoji="1" lang="zh-CN" altLang="en-US" dirty="0"/>
          </a:p>
          <a:p>
            <a:pPr lvl="1"/>
            <a:r>
              <a:rPr kumimoji="1" lang="zh-CN" altLang="en-US" dirty="0"/>
              <a:t>用户数据库投入运行后，可根据需要随时逐步修改模式，不影响数据的运行</a:t>
            </a:r>
            <a:endParaRPr kumimoji="1" lang="zh-CN" altLang="en-US" dirty="0"/>
          </a:p>
          <a:p>
            <a:pPr lvl="1"/>
            <a:r>
              <a:rPr kumimoji="1" lang="zh-CN" altLang="en-US" dirty="0"/>
              <a:t>数据操作符统一</a:t>
            </a:r>
            <a:endParaRPr kumimoji="1" lang="zh-CN" altLang="en-US" dirty="0"/>
          </a:p>
          <a:p>
            <a:pPr lvl="1"/>
            <a:endParaRPr kumimoji="1" lang="en-US" altLang="zh-CN" dirty="0"/>
          </a:p>
          <a:p>
            <a:pPr marL="0" indent="0">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的特点</a:t>
            </a:r>
            <a:endParaRPr kumimoji="1" lang="en-US" altLang="zh-CN" dirty="0"/>
          </a:p>
          <a:p>
            <a:pPr marL="514350" indent="-514350">
              <a:buFont typeface="+mj-lt"/>
              <a:buAutoNum type="arabicPeriod" startAt="2"/>
            </a:pPr>
            <a:r>
              <a:rPr kumimoji="1" lang="zh-CN" altLang="en-US" dirty="0"/>
              <a:t>高度非过程化</a:t>
            </a:r>
            <a:endParaRPr kumimoji="1" lang="en-US" altLang="zh-CN" dirty="0"/>
          </a:p>
          <a:p>
            <a:pPr lvl="1">
              <a:lnSpc>
                <a:spcPct val="200000"/>
              </a:lnSpc>
            </a:pPr>
            <a:r>
              <a:rPr kumimoji="1" lang="zh-CN" altLang="en-US" sz="2800" dirty="0"/>
              <a:t>非关系数据模型的数据操纵语言“</a:t>
            </a:r>
            <a:r>
              <a:rPr kumimoji="1" lang="zh-CN" altLang="en-US" sz="2800" dirty="0">
                <a:solidFill>
                  <a:srgbClr val="C00000"/>
                </a:solidFill>
              </a:rPr>
              <a:t>面向过程</a:t>
            </a:r>
            <a:r>
              <a:rPr kumimoji="1" lang="zh-CN" altLang="en-US" sz="2800" dirty="0"/>
              <a:t>”，必须指定存取路径</a:t>
            </a:r>
            <a:endParaRPr kumimoji="1" lang="zh-CN" altLang="en-US" sz="2800" dirty="0"/>
          </a:p>
          <a:p>
            <a:pPr lvl="1">
              <a:lnSpc>
                <a:spcPct val="200000"/>
              </a:lnSpc>
            </a:pPr>
            <a:r>
              <a:rPr kumimoji="1" lang="en-US" altLang="zh-CN" sz="2800" dirty="0"/>
              <a:t>SQL</a:t>
            </a:r>
            <a:r>
              <a:rPr kumimoji="1" lang="zh-CN" altLang="en-US" sz="2800" dirty="0"/>
              <a:t>只要提出“做什么”，无须了解存取路径</a:t>
            </a:r>
            <a:endParaRPr kumimoji="1" lang="zh-CN" altLang="en-US" sz="2800" dirty="0"/>
          </a:p>
          <a:p>
            <a:pPr lvl="1">
              <a:lnSpc>
                <a:spcPct val="200000"/>
              </a:lnSpc>
            </a:pPr>
            <a:r>
              <a:rPr kumimoji="1" lang="zh-CN" altLang="en-US" sz="2800" dirty="0"/>
              <a:t>存取路径的选择以及</a:t>
            </a:r>
            <a:r>
              <a:rPr kumimoji="1" lang="en-US" altLang="zh-CN" sz="2800" dirty="0"/>
              <a:t>SQL</a:t>
            </a:r>
            <a:r>
              <a:rPr kumimoji="1" lang="zh-CN" altLang="en-US" sz="2800" dirty="0"/>
              <a:t>的操作过程由系统自动完成</a:t>
            </a:r>
            <a:endParaRPr kumimoji="1" lang="en-US" altLang="zh-CN" sz="2800" dirty="0"/>
          </a:p>
          <a:p>
            <a:pPr marL="0" indent="0">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的特点</a:t>
            </a:r>
            <a:endParaRPr kumimoji="1" lang="en-US" altLang="zh-CN" dirty="0"/>
          </a:p>
          <a:p>
            <a:pPr marL="514350" indent="-514350">
              <a:buFont typeface="+mj-lt"/>
              <a:buAutoNum type="arabicPeriod" startAt="3"/>
            </a:pPr>
            <a:r>
              <a:rPr kumimoji="1" lang="zh-CN" altLang="en-US" dirty="0"/>
              <a:t>面向集合的操作方式</a:t>
            </a:r>
            <a:endParaRPr kumimoji="1" lang="en-US" altLang="zh-CN" dirty="0"/>
          </a:p>
          <a:p>
            <a:pPr lvl="1">
              <a:lnSpc>
                <a:spcPct val="200000"/>
              </a:lnSpc>
            </a:pPr>
            <a:r>
              <a:rPr kumimoji="1" lang="zh-CN" altLang="en-US" sz="2800" dirty="0"/>
              <a:t>非关系数据模型采用面向记录的操作方式，操作对象是一条记录</a:t>
            </a:r>
            <a:endParaRPr kumimoji="1" lang="zh-CN" altLang="en-US" sz="2800" dirty="0"/>
          </a:p>
          <a:p>
            <a:pPr lvl="1">
              <a:lnSpc>
                <a:spcPct val="200000"/>
              </a:lnSpc>
            </a:pPr>
            <a:r>
              <a:rPr kumimoji="1" lang="en-GB" altLang="zh-CN" sz="2800" dirty="0"/>
              <a:t>SQL</a:t>
            </a:r>
            <a:r>
              <a:rPr kumimoji="1" lang="zh-CN" altLang="en-US" sz="2800" dirty="0"/>
              <a:t>采用集合操作方式</a:t>
            </a:r>
            <a:endParaRPr kumimoji="1" lang="en-US" altLang="zh-CN" sz="2800" dirty="0"/>
          </a:p>
          <a:p>
            <a:pPr lvl="2">
              <a:lnSpc>
                <a:spcPct val="200000"/>
              </a:lnSpc>
            </a:pPr>
            <a:r>
              <a:rPr kumimoji="1" lang="zh-CN" altLang="en-US" sz="2600" dirty="0"/>
              <a:t>操作对象、查找结果可以是元组的集合</a:t>
            </a:r>
            <a:endParaRPr kumimoji="1" lang="en-US" altLang="zh-CN" sz="2600" dirty="0"/>
          </a:p>
          <a:p>
            <a:pPr lvl="2">
              <a:lnSpc>
                <a:spcPct val="200000"/>
              </a:lnSpc>
            </a:pPr>
            <a:r>
              <a:rPr kumimoji="1" lang="zh-CN" altLang="en-US" sz="2600" dirty="0"/>
              <a:t>一次插入、删除、更新操作的对象可以是元组的集合</a:t>
            </a:r>
            <a:endParaRPr kumimoji="1" lang="zh-CN" altLang="en-US" sz="2600" dirty="0"/>
          </a:p>
          <a:p>
            <a:pPr marL="457200" lvl="1" indent="0">
              <a:lnSpc>
                <a:spcPct val="150000"/>
              </a:lnSpc>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的特点</a:t>
            </a:r>
            <a:endParaRPr kumimoji="1" lang="en-US" altLang="zh-CN" dirty="0"/>
          </a:p>
          <a:p>
            <a:pPr marL="514350" indent="-514350">
              <a:buFont typeface="+mj-lt"/>
              <a:buAutoNum type="arabicPeriod" startAt="4"/>
            </a:pPr>
            <a:r>
              <a:rPr kumimoji="1" lang="zh-CN" altLang="en-US" dirty="0"/>
              <a:t>以同一种语法结构提供多种使用方式</a:t>
            </a:r>
            <a:endParaRPr kumimoji="1" lang="en-US" altLang="zh-CN" sz="2800" dirty="0"/>
          </a:p>
          <a:p>
            <a:pPr lvl="1">
              <a:lnSpc>
                <a:spcPct val="200000"/>
              </a:lnSpc>
            </a:pPr>
            <a:r>
              <a:rPr kumimoji="1" lang="en-GB" altLang="zh-CN" dirty="0"/>
              <a:t>SQL</a:t>
            </a:r>
            <a:r>
              <a:rPr kumimoji="1" lang="zh-CN" altLang="en-US" dirty="0"/>
              <a:t>是独立的语言</a:t>
            </a:r>
            <a:endParaRPr kumimoji="1" lang="en-US" altLang="zh-CN" dirty="0"/>
          </a:p>
          <a:p>
            <a:pPr marL="457200" lvl="1" indent="0">
              <a:lnSpc>
                <a:spcPct val="200000"/>
              </a:lnSpc>
              <a:buNone/>
            </a:pPr>
            <a:r>
              <a:rPr kumimoji="1" lang="zh-CN" altLang="en-US" dirty="0"/>
              <a:t>  能够独立地用于联机交互的使用方式</a:t>
            </a:r>
            <a:endParaRPr kumimoji="1" lang="zh-CN" altLang="en-US" dirty="0"/>
          </a:p>
          <a:p>
            <a:pPr lvl="1">
              <a:lnSpc>
                <a:spcPct val="200000"/>
              </a:lnSpc>
            </a:pPr>
            <a:r>
              <a:rPr kumimoji="1" lang="en-GB" altLang="zh-CN" dirty="0"/>
              <a:t>SQL</a:t>
            </a:r>
            <a:r>
              <a:rPr kumimoji="1" lang="zh-CN" altLang="en-US" dirty="0"/>
              <a:t>又是嵌入式语言</a:t>
            </a:r>
            <a:endParaRPr kumimoji="1" lang="zh-CN" altLang="en-US" dirty="0"/>
          </a:p>
          <a:p>
            <a:pPr marL="457200" lvl="1" indent="0">
              <a:lnSpc>
                <a:spcPct val="200000"/>
              </a:lnSpc>
              <a:buNone/>
            </a:pPr>
            <a:r>
              <a:rPr kumimoji="1" lang="zh-CN" altLang="en-US" dirty="0"/>
              <a:t>  </a:t>
            </a:r>
            <a:r>
              <a:rPr kumimoji="1" lang="en-GB" altLang="zh-CN" dirty="0"/>
              <a:t>SQL</a:t>
            </a:r>
            <a:r>
              <a:rPr kumimoji="1" lang="zh-CN" altLang="en-US" dirty="0"/>
              <a:t>能够嵌入到高级语言（例如</a:t>
            </a:r>
            <a:r>
              <a:rPr kumimoji="1" lang="en-GB" altLang="zh-CN" dirty="0" err="1"/>
              <a:t>Python,C</a:t>
            </a:r>
            <a:r>
              <a:rPr kumimoji="1" lang="zh-CN" altLang="en-GB" dirty="0"/>
              <a:t>，</a:t>
            </a:r>
            <a:r>
              <a:rPr kumimoji="1" lang="en-GB" altLang="zh-CN" dirty="0"/>
              <a:t>C++</a:t>
            </a:r>
            <a:r>
              <a:rPr kumimoji="1" lang="zh-CN" altLang="en-GB" dirty="0"/>
              <a:t>，</a:t>
            </a:r>
            <a:r>
              <a:rPr kumimoji="1" lang="en-GB" altLang="zh-CN" dirty="0"/>
              <a:t>Java</a:t>
            </a:r>
            <a:r>
              <a:rPr kumimoji="1" lang="zh-CN" altLang="en-GB" dirty="0"/>
              <a:t>）</a:t>
            </a:r>
            <a:r>
              <a:rPr kumimoji="1" lang="zh-CN" altLang="en-US" dirty="0"/>
              <a:t>程序中，供程序员</a:t>
            </a:r>
            <a:endParaRPr kumimoji="1" lang="en-US" altLang="zh-CN" dirty="0"/>
          </a:p>
          <a:p>
            <a:pPr marL="457200" lvl="1" indent="0">
              <a:lnSpc>
                <a:spcPct val="200000"/>
              </a:lnSpc>
              <a:buNone/>
            </a:pPr>
            <a:r>
              <a:rPr kumimoji="1" lang="zh-CN" altLang="en-US" dirty="0"/>
              <a:t>  设计程序时使用</a:t>
            </a:r>
            <a:endParaRPr kumimoji="1" lang="zh-CN" altLang="en-US" dirty="0"/>
          </a:p>
          <a:p>
            <a:pPr lvl="1">
              <a:lnSpc>
                <a:spcPct val="20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的特点</a:t>
            </a:r>
            <a:endParaRPr kumimoji="1" lang="en-US" altLang="zh-CN" dirty="0"/>
          </a:p>
          <a:p>
            <a:pPr marL="514350" indent="-514350">
              <a:buFont typeface="+mj-lt"/>
              <a:buAutoNum type="arabicPeriod" startAt="5"/>
            </a:pPr>
            <a:r>
              <a:rPr lang="zh-CN" altLang="en-US" dirty="0"/>
              <a:t>语言简洁，易学易用</a:t>
            </a:r>
            <a:endParaRPr kumimoji="1" lang="en-US" altLang="zh-CN" sz="2800" dirty="0"/>
          </a:p>
          <a:p>
            <a:pPr lvl="1">
              <a:lnSpc>
                <a:spcPct val="200000"/>
              </a:lnSpc>
            </a:pPr>
            <a:r>
              <a:rPr kumimoji="1" lang="en-GB" altLang="zh-CN" dirty="0"/>
              <a:t>SQL</a:t>
            </a:r>
            <a:r>
              <a:rPr kumimoji="1" lang="zh-CN" altLang="en-US" dirty="0"/>
              <a:t>功能极强，完成核心功能只用了</a:t>
            </a:r>
            <a:r>
              <a:rPr kumimoji="1" lang="en-US" altLang="zh-CN" dirty="0"/>
              <a:t>9</a:t>
            </a:r>
            <a:r>
              <a:rPr kumimoji="1" lang="zh-CN" altLang="en-US" dirty="0"/>
              <a:t>个动词</a:t>
            </a:r>
            <a:endParaRPr kumimoji="1" lang="en-US" altLang="zh-CN" dirty="0"/>
          </a:p>
          <a:p>
            <a:pPr marL="457200" lvl="1" indent="0">
              <a:lnSpc>
                <a:spcPct val="200000"/>
              </a:lnSpc>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pic>
        <p:nvPicPr>
          <p:cNvPr id="7" name="图片 6" descr="形状&#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20059" y="3221503"/>
            <a:ext cx="8874938" cy="39811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SQL2011</a:t>
            </a:r>
            <a:r>
              <a:rPr kumimoji="1" lang="zh-CN" altLang="en-US" dirty="0"/>
              <a:t>语句分类</a:t>
            </a:r>
            <a:endParaRPr kumimoji="1" lang="en-US" altLang="zh-CN" dirty="0"/>
          </a:p>
          <a:p>
            <a:pPr marL="457200" lvl="1" indent="0">
              <a:lnSpc>
                <a:spcPct val="200000"/>
              </a:lnSpc>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graphicFrame>
        <p:nvGraphicFramePr>
          <p:cNvPr id="6" name="Group 480"/>
          <p:cNvGraphicFramePr/>
          <p:nvPr/>
        </p:nvGraphicFramePr>
        <p:xfrm>
          <a:off x="1167618" y="1910923"/>
          <a:ext cx="10424161" cy="4699452"/>
        </p:xfrm>
        <a:graphic>
          <a:graphicData uri="http://schemas.openxmlformats.org/drawingml/2006/table">
            <a:tbl>
              <a:tblPr/>
              <a:tblGrid>
                <a:gridCol w="2072691"/>
                <a:gridCol w="5081995"/>
                <a:gridCol w="3269475"/>
              </a:tblGrid>
              <a:tr h="475204">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类型</a:t>
                      </a:r>
                      <a:endParaRPr kumimoji="0"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简介</a:t>
                      </a:r>
                      <a:endParaRPr kumimoji="0"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举例</a:t>
                      </a:r>
                      <a:endParaRPr kumimoji="0"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4402">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连接语句</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开始和结束一个访问连接</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CONNECT</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DISCONNECT</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68215">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控制语句</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控制一组</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语句的执行</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CALL</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RETURN</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0923">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数据语句</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直接对数据产生持续性作用</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SELECT</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INSERT</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UPDATE</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DELETE</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4531">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诊断语句</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提供诊断信息并抛出异常或错误</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GET DIAGNOSTIC</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06485">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模式语句</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对数据库模式及其内的对象产生持续性作用</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CREATE</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DROP</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ALTER,</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GRANT,REVOKE</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0721">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会话语句</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控制会话中的缺省操作及其它参数</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SET</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8971">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SQL</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事务语句</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设置一个事务处理的开始和结束点</a:t>
                      </a:r>
                      <a:endPar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COMMIT</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ROLLBACK</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85000" lnSpcReduction="20000"/>
          </a:bodyPr>
          <a:lstStyle/>
          <a:p>
            <a:r>
              <a:rPr kumimoji="1" lang="en-US" altLang="zh-CN" dirty="0"/>
              <a:t>SQL</a:t>
            </a:r>
            <a:r>
              <a:rPr kumimoji="1" lang="zh-CN" altLang="en-US" dirty="0"/>
              <a:t>的基本概念</a:t>
            </a:r>
            <a:endParaRPr kumimoji="1" lang="en-US" altLang="zh-CN" dirty="0"/>
          </a:p>
          <a:p>
            <a:pPr lvl="1">
              <a:lnSpc>
                <a:spcPct val="130000"/>
              </a:lnSpc>
            </a:pPr>
            <a:r>
              <a:rPr kumimoji="1" lang="zh-CN" altLang="en-US" b="1" dirty="0"/>
              <a:t>基本表</a:t>
            </a:r>
            <a:endParaRPr kumimoji="1" lang="zh-CN" altLang="en-US" b="1" dirty="0"/>
          </a:p>
          <a:p>
            <a:pPr lvl="2">
              <a:lnSpc>
                <a:spcPct val="130000"/>
              </a:lnSpc>
            </a:pPr>
            <a:r>
              <a:rPr kumimoji="1" lang="zh-CN" altLang="en-US" dirty="0"/>
              <a:t>本身独立存在的表</a:t>
            </a:r>
            <a:endParaRPr kumimoji="1" lang="zh-CN" altLang="en-US" dirty="0"/>
          </a:p>
          <a:p>
            <a:pPr lvl="2">
              <a:lnSpc>
                <a:spcPct val="130000"/>
              </a:lnSpc>
            </a:pPr>
            <a:r>
              <a:rPr kumimoji="1" lang="en-GB" altLang="zh-CN" dirty="0"/>
              <a:t>SQL</a:t>
            </a:r>
            <a:r>
              <a:rPr kumimoji="1" lang="zh-CN" altLang="en-US" dirty="0"/>
              <a:t>中一个关系就对应一个基本表</a:t>
            </a:r>
            <a:endParaRPr kumimoji="1" lang="zh-CN" altLang="en-US" dirty="0"/>
          </a:p>
          <a:p>
            <a:pPr lvl="2">
              <a:lnSpc>
                <a:spcPct val="130000"/>
              </a:lnSpc>
            </a:pPr>
            <a:r>
              <a:rPr kumimoji="1" lang="zh-CN" altLang="en-US" dirty="0"/>
              <a:t>一个</a:t>
            </a:r>
            <a:r>
              <a:rPr kumimoji="1" lang="en-US" altLang="zh-CN" dirty="0"/>
              <a:t>(</a:t>
            </a:r>
            <a:r>
              <a:rPr kumimoji="1" lang="zh-CN" altLang="en-US" dirty="0"/>
              <a:t>或多个</a:t>
            </a:r>
            <a:r>
              <a:rPr kumimoji="1" lang="en-US" altLang="zh-CN" dirty="0"/>
              <a:t>)</a:t>
            </a:r>
            <a:r>
              <a:rPr kumimoji="1" lang="zh-CN" altLang="en-US" dirty="0"/>
              <a:t>基本表对应一个存储文件</a:t>
            </a:r>
            <a:endParaRPr kumimoji="1" lang="zh-CN" altLang="en-US" dirty="0"/>
          </a:p>
          <a:p>
            <a:pPr lvl="2">
              <a:lnSpc>
                <a:spcPct val="130000"/>
              </a:lnSpc>
            </a:pPr>
            <a:r>
              <a:rPr kumimoji="1" lang="zh-CN" altLang="en-US" dirty="0"/>
              <a:t>一个表可以带若干索引</a:t>
            </a:r>
            <a:endParaRPr kumimoji="1" lang="zh-CN" altLang="en-US" dirty="0"/>
          </a:p>
          <a:p>
            <a:pPr lvl="1">
              <a:lnSpc>
                <a:spcPct val="130000"/>
              </a:lnSpc>
            </a:pPr>
            <a:r>
              <a:rPr kumimoji="1" lang="zh-CN" altLang="en-US" b="1" dirty="0"/>
              <a:t>存储文件</a:t>
            </a:r>
            <a:endParaRPr kumimoji="1" lang="zh-CN" altLang="en-US" b="1" dirty="0"/>
          </a:p>
          <a:p>
            <a:pPr lvl="2">
              <a:lnSpc>
                <a:spcPct val="130000"/>
              </a:lnSpc>
            </a:pPr>
            <a:r>
              <a:rPr kumimoji="1" lang="zh-CN" altLang="en-US" dirty="0"/>
              <a:t>逻辑结构组成了关系数据库的内模式</a:t>
            </a:r>
            <a:endParaRPr kumimoji="1" lang="zh-CN" altLang="en-US" dirty="0"/>
          </a:p>
          <a:p>
            <a:pPr lvl="2">
              <a:lnSpc>
                <a:spcPct val="130000"/>
              </a:lnSpc>
            </a:pPr>
            <a:r>
              <a:rPr kumimoji="1" lang="zh-CN" altLang="en-US" dirty="0"/>
              <a:t>物理结构是任意的，对用户透明</a:t>
            </a:r>
            <a:endParaRPr kumimoji="1" lang="zh-CN" altLang="en-US" dirty="0"/>
          </a:p>
          <a:p>
            <a:pPr lvl="1">
              <a:lnSpc>
                <a:spcPct val="130000"/>
              </a:lnSpc>
            </a:pPr>
            <a:r>
              <a:rPr kumimoji="1" lang="zh-CN" altLang="en-US" b="1" dirty="0"/>
              <a:t>视图</a:t>
            </a:r>
            <a:endParaRPr kumimoji="1" lang="zh-CN" altLang="en-US" b="1" dirty="0"/>
          </a:p>
          <a:p>
            <a:pPr lvl="2">
              <a:lnSpc>
                <a:spcPct val="130000"/>
              </a:lnSpc>
            </a:pPr>
            <a:r>
              <a:rPr kumimoji="1" lang="zh-CN" altLang="en-US" dirty="0"/>
              <a:t>从一个或几个基本表导出的表</a:t>
            </a:r>
            <a:endParaRPr kumimoji="1" lang="zh-CN" altLang="en-US" dirty="0"/>
          </a:p>
          <a:p>
            <a:pPr lvl="2">
              <a:lnSpc>
                <a:spcPct val="130000"/>
              </a:lnSpc>
            </a:pPr>
            <a:r>
              <a:rPr kumimoji="1" lang="zh-CN" altLang="en-US" dirty="0"/>
              <a:t>数据库中只存放视图的定义而不存放视图对应的数据</a:t>
            </a:r>
            <a:endParaRPr kumimoji="1" lang="zh-CN" altLang="en-US" dirty="0"/>
          </a:p>
          <a:p>
            <a:pPr lvl="2">
              <a:lnSpc>
                <a:spcPct val="130000"/>
              </a:lnSpc>
            </a:pPr>
            <a:r>
              <a:rPr kumimoji="1" lang="zh-CN" altLang="en-US" dirty="0"/>
              <a:t>视图是一个虚表</a:t>
            </a:r>
            <a:endParaRPr kumimoji="1" lang="zh-CN" altLang="en-US" dirty="0"/>
          </a:p>
          <a:p>
            <a:pPr lvl="2">
              <a:lnSpc>
                <a:spcPct val="130000"/>
              </a:lnSpc>
            </a:pPr>
            <a:r>
              <a:rPr kumimoji="1" lang="zh-CN" altLang="en-US" dirty="0"/>
              <a:t>用户可以在视图上再定义视图</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的基本概念</a:t>
            </a:r>
            <a:endParaRPr kumimoji="1" lang="en-US" altLang="zh-CN" dirty="0"/>
          </a:p>
          <a:p>
            <a:pPr lvl="1">
              <a:lnSpc>
                <a:spcPct val="130000"/>
              </a:lnSpc>
            </a:pPr>
            <a:r>
              <a:rPr kumimoji="1" lang="en-GB" altLang="zh-CN" dirty="0"/>
              <a:t>SQL</a:t>
            </a:r>
            <a:r>
              <a:rPr kumimoji="1" lang="zh-CN" altLang="en-US" dirty="0"/>
              <a:t>的数据库系统支持</a:t>
            </a:r>
            <a:r>
              <a:rPr kumimoji="1" lang="en-GB" altLang="zh-CN" dirty="0"/>
              <a:t>X3/SPARC</a:t>
            </a:r>
            <a:r>
              <a:rPr kumimoji="1" lang="zh-CN" altLang="en-US" dirty="0"/>
              <a:t>标准的三级模式体系结构</a:t>
            </a:r>
            <a:endParaRPr kumimoji="1" lang="zh-CN" altLang="en-US" dirty="0"/>
          </a:p>
          <a:p>
            <a:pPr lvl="1">
              <a:lnSpc>
                <a:spcPct val="130000"/>
              </a:lnSpc>
            </a:pPr>
            <a:endParaRPr kumimoji="1" lang="zh-CN" altLang="en-US" b="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grpSp>
        <p:nvGrpSpPr>
          <p:cNvPr id="6" name="Group 6"/>
          <p:cNvGrpSpPr/>
          <p:nvPr/>
        </p:nvGrpSpPr>
        <p:grpSpPr bwMode="auto">
          <a:xfrm>
            <a:off x="2667587" y="2321171"/>
            <a:ext cx="6996918" cy="4547553"/>
            <a:chOff x="2700" y="2220"/>
            <a:chExt cx="7140" cy="4836"/>
          </a:xfrm>
        </p:grpSpPr>
        <p:sp>
          <p:nvSpPr>
            <p:cNvPr id="7" name="Text Box 7"/>
            <p:cNvSpPr txBox="1">
              <a:spLocks noChangeArrowheads="1"/>
            </p:cNvSpPr>
            <p:nvPr/>
          </p:nvSpPr>
          <p:spPr bwMode="auto">
            <a:xfrm>
              <a:off x="3240" y="2220"/>
              <a:ext cx="1080" cy="468"/>
            </a:xfrm>
            <a:prstGeom prst="rect">
              <a:avLst/>
            </a:prstGeom>
            <a:solidFill>
              <a:srgbClr val="FFFFFF"/>
            </a:solidFill>
            <a:ln w="9525">
              <a:solidFill>
                <a:srgbClr val="000000"/>
              </a:solidFill>
              <a:miter lim="800000"/>
            </a:ln>
          </p:spPr>
          <p:txBody>
            <a:bodyPr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b="0">
                  <a:latin typeface="Times New Roman" panose="02020603050405020304" pitchFamily="18" charset="0"/>
                </a:rPr>
                <a:t>SQL1</a:t>
              </a:r>
              <a:endParaRPr lang="en-US" altLang="zh-CN" sz="1800" b="0">
                <a:latin typeface="Arial" panose="020B0604020202020204" pitchFamily="34" charset="0"/>
              </a:endParaRPr>
            </a:p>
          </p:txBody>
        </p:sp>
        <p:sp>
          <p:nvSpPr>
            <p:cNvPr id="8" name="Text Box 8"/>
            <p:cNvSpPr txBox="1">
              <a:spLocks noChangeArrowheads="1"/>
            </p:cNvSpPr>
            <p:nvPr/>
          </p:nvSpPr>
          <p:spPr bwMode="auto">
            <a:xfrm>
              <a:off x="4500" y="3356"/>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视图</a:t>
              </a:r>
              <a:r>
                <a:rPr lang="en-US" altLang="zh-CN" sz="1000" b="0">
                  <a:latin typeface="Times New Roman" panose="02020603050405020304" pitchFamily="18" charset="0"/>
                </a:rPr>
                <a:t>1</a:t>
              </a:r>
              <a:endParaRPr lang="en-US" altLang="zh-CN" sz="1800" b="0">
                <a:latin typeface="Arial" panose="020B0604020202020204" pitchFamily="34" charset="0"/>
              </a:endParaRPr>
            </a:p>
          </p:txBody>
        </p:sp>
        <p:sp>
          <p:nvSpPr>
            <p:cNvPr id="9" name="Line 9"/>
            <p:cNvSpPr>
              <a:spLocks noChangeShapeType="1"/>
            </p:cNvSpPr>
            <p:nvPr/>
          </p:nvSpPr>
          <p:spPr bwMode="auto">
            <a:xfrm>
              <a:off x="2700" y="3000"/>
              <a:ext cx="666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0" name="Text Box 10"/>
            <p:cNvSpPr txBox="1">
              <a:spLocks noChangeArrowheads="1"/>
            </p:cNvSpPr>
            <p:nvPr/>
          </p:nvSpPr>
          <p:spPr bwMode="auto">
            <a:xfrm>
              <a:off x="6660" y="3356"/>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视图</a:t>
              </a:r>
              <a:r>
                <a:rPr lang="en-US" altLang="zh-CN" sz="1000" b="0">
                  <a:latin typeface="Times New Roman" panose="02020603050405020304" pitchFamily="18" charset="0"/>
                </a:rPr>
                <a:t>2</a:t>
              </a:r>
              <a:endParaRPr lang="en-US" altLang="zh-CN" sz="1800" b="0">
                <a:latin typeface="Arial" panose="020B0604020202020204" pitchFamily="34" charset="0"/>
              </a:endParaRPr>
            </a:p>
          </p:txBody>
        </p:sp>
        <p:sp>
          <p:nvSpPr>
            <p:cNvPr id="11" name="Text Box 11"/>
            <p:cNvSpPr txBox="1">
              <a:spLocks noChangeArrowheads="1"/>
            </p:cNvSpPr>
            <p:nvPr/>
          </p:nvSpPr>
          <p:spPr bwMode="auto">
            <a:xfrm>
              <a:off x="5223" y="2220"/>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b="0">
                  <a:latin typeface="Times New Roman" panose="02020603050405020304" pitchFamily="18" charset="0"/>
                </a:rPr>
                <a:t>SQL2</a:t>
              </a:r>
              <a:endParaRPr lang="en-US" altLang="zh-CN" sz="1800" b="0">
                <a:latin typeface="Arial" panose="020B0604020202020204" pitchFamily="34" charset="0"/>
              </a:endParaRPr>
            </a:p>
          </p:txBody>
        </p:sp>
        <p:sp>
          <p:nvSpPr>
            <p:cNvPr id="12" name="Text Box 12"/>
            <p:cNvSpPr txBox="1">
              <a:spLocks noChangeArrowheads="1"/>
            </p:cNvSpPr>
            <p:nvPr/>
          </p:nvSpPr>
          <p:spPr bwMode="auto">
            <a:xfrm>
              <a:off x="7023" y="2220"/>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b="0">
                  <a:latin typeface="Times New Roman" panose="02020603050405020304" pitchFamily="18" charset="0"/>
                </a:rPr>
                <a:t>SQL3</a:t>
              </a:r>
              <a:endParaRPr lang="en-US" altLang="zh-CN" sz="1800" b="0">
                <a:latin typeface="Arial" panose="020B0604020202020204" pitchFamily="34" charset="0"/>
              </a:endParaRPr>
            </a:p>
          </p:txBody>
        </p:sp>
        <p:sp>
          <p:nvSpPr>
            <p:cNvPr id="13" name="Text Box 13"/>
            <p:cNvSpPr txBox="1">
              <a:spLocks noChangeArrowheads="1"/>
            </p:cNvSpPr>
            <p:nvPr/>
          </p:nvSpPr>
          <p:spPr bwMode="auto">
            <a:xfrm>
              <a:off x="7380" y="4404"/>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基本表</a:t>
              </a:r>
              <a:r>
                <a:rPr lang="en-US" altLang="zh-CN" sz="1000" b="0">
                  <a:latin typeface="Times New Roman" panose="02020603050405020304" pitchFamily="18" charset="0"/>
                </a:rPr>
                <a:t>4</a:t>
              </a:r>
              <a:endParaRPr lang="en-US" altLang="zh-CN" sz="1800" b="0">
                <a:latin typeface="Arial" panose="020B0604020202020204" pitchFamily="34" charset="0"/>
              </a:endParaRPr>
            </a:p>
          </p:txBody>
        </p:sp>
        <p:sp>
          <p:nvSpPr>
            <p:cNvPr id="14" name="Text Box 14"/>
            <p:cNvSpPr txBox="1">
              <a:spLocks noChangeArrowheads="1"/>
            </p:cNvSpPr>
            <p:nvPr/>
          </p:nvSpPr>
          <p:spPr bwMode="auto">
            <a:xfrm>
              <a:off x="5760" y="4404"/>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基本表</a:t>
              </a:r>
              <a:r>
                <a:rPr lang="en-US" altLang="zh-CN" sz="1000" b="0">
                  <a:latin typeface="Times New Roman" panose="02020603050405020304" pitchFamily="18" charset="0"/>
                </a:rPr>
                <a:t>3</a:t>
              </a:r>
              <a:endParaRPr lang="en-US" altLang="zh-CN" sz="1800" b="0">
                <a:latin typeface="Arial" panose="020B0604020202020204" pitchFamily="34" charset="0"/>
              </a:endParaRPr>
            </a:p>
          </p:txBody>
        </p:sp>
        <p:sp>
          <p:nvSpPr>
            <p:cNvPr id="15" name="Text Box 15"/>
            <p:cNvSpPr txBox="1">
              <a:spLocks noChangeArrowheads="1"/>
            </p:cNvSpPr>
            <p:nvPr/>
          </p:nvSpPr>
          <p:spPr bwMode="auto">
            <a:xfrm>
              <a:off x="4320" y="4404"/>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基本表</a:t>
              </a:r>
              <a:r>
                <a:rPr lang="en-US" altLang="zh-CN" sz="1000" b="0">
                  <a:latin typeface="Times New Roman" panose="02020603050405020304" pitchFamily="18" charset="0"/>
                </a:rPr>
                <a:t>2</a:t>
              </a:r>
              <a:endParaRPr lang="en-US" altLang="zh-CN" sz="1800" b="0">
                <a:latin typeface="Arial" panose="020B0604020202020204" pitchFamily="34" charset="0"/>
              </a:endParaRPr>
            </a:p>
          </p:txBody>
        </p:sp>
        <p:sp>
          <p:nvSpPr>
            <p:cNvPr id="16" name="Text Box 16"/>
            <p:cNvSpPr txBox="1">
              <a:spLocks noChangeArrowheads="1"/>
            </p:cNvSpPr>
            <p:nvPr/>
          </p:nvSpPr>
          <p:spPr bwMode="auto">
            <a:xfrm>
              <a:off x="2700" y="4404"/>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基本表</a:t>
              </a:r>
              <a:r>
                <a:rPr lang="en-US" altLang="zh-CN" sz="1000" b="0">
                  <a:latin typeface="Times New Roman" panose="02020603050405020304" pitchFamily="18" charset="0"/>
                </a:rPr>
                <a:t>1</a:t>
              </a:r>
              <a:endParaRPr lang="en-US" altLang="zh-CN" sz="1800" b="0">
                <a:latin typeface="Arial" panose="020B0604020202020204" pitchFamily="34" charset="0"/>
              </a:endParaRPr>
            </a:p>
          </p:txBody>
        </p:sp>
        <p:sp>
          <p:nvSpPr>
            <p:cNvPr id="17" name="Line 17"/>
            <p:cNvSpPr>
              <a:spLocks noChangeShapeType="1"/>
            </p:cNvSpPr>
            <p:nvPr/>
          </p:nvSpPr>
          <p:spPr bwMode="auto">
            <a:xfrm>
              <a:off x="2716" y="4182"/>
              <a:ext cx="666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a:off x="2700" y="5184"/>
              <a:ext cx="666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9" name="Text Box 19"/>
            <p:cNvSpPr txBox="1">
              <a:spLocks noChangeArrowheads="1"/>
            </p:cNvSpPr>
            <p:nvPr/>
          </p:nvSpPr>
          <p:spPr bwMode="auto">
            <a:xfrm>
              <a:off x="3240" y="5652"/>
              <a:ext cx="1080"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存储文件</a:t>
              </a:r>
              <a:r>
                <a:rPr lang="en-US" altLang="zh-CN" sz="1000" b="0">
                  <a:latin typeface="Times New Roman" panose="02020603050405020304" pitchFamily="18" charset="0"/>
                </a:rPr>
                <a:t>1</a:t>
              </a:r>
              <a:endParaRPr lang="en-US" altLang="zh-CN" sz="1800" b="0">
                <a:latin typeface="Arial" panose="020B0604020202020204" pitchFamily="34" charset="0"/>
              </a:endParaRPr>
            </a:p>
          </p:txBody>
        </p:sp>
        <p:sp>
          <p:nvSpPr>
            <p:cNvPr id="20" name="Text Box 20"/>
            <p:cNvSpPr txBox="1">
              <a:spLocks noChangeArrowheads="1"/>
            </p:cNvSpPr>
            <p:nvPr/>
          </p:nvSpPr>
          <p:spPr bwMode="auto">
            <a:xfrm>
              <a:off x="5105" y="5652"/>
              <a:ext cx="1080"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存储文件</a:t>
              </a:r>
              <a:r>
                <a:rPr lang="en-US" altLang="zh-CN" sz="1000" b="0">
                  <a:latin typeface="Times New Roman" panose="02020603050405020304" pitchFamily="18" charset="0"/>
                </a:rPr>
                <a:t>2</a:t>
              </a:r>
              <a:endParaRPr lang="en-US" altLang="zh-CN" sz="1800" b="0">
                <a:latin typeface="Arial" panose="020B0604020202020204" pitchFamily="34" charset="0"/>
              </a:endParaRPr>
            </a:p>
          </p:txBody>
        </p:sp>
        <p:sp>
          <p:nvSpPr>
            <p:cNvPr id="21" name="Text Box 21"/>
            <p:cNvSpPr txBox="1">
              <a:spLocks noChangeArrowheads="1"/>
            </p:cNvSpPr>
            <p:nvPr/>
          </p:nvSpPr>
          <p:spPr bwMode="auto">
            <a:xfrm>
              <a:off x="7020" y="5652"/>
              <a:ext cx="1080"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rPr>
                <a:t>存储文件</a:t>
              </a:r>
              <a:r>
                <a:rPr lang="en-US" altLang="zh-CN" sz="1000" b="0">
                  <a:latin typeface="Times New Roman" panose="02020603050405020304" pitchFamily="18" charset="0"/>
                </a:rPr>
                <a:t>3</a:t>
              </a:r>
              <a:endParaRPr lang="en-US" altLang="zh-CN" sz="1800" b="0">
                <a:latin typeface="Arial" panose="020B0604020202020204" pitchFamily="34" charset="0"/>
              </a:endParaRPr>
            </a:p>
          </p:txBody>
        </p:sp>
        <p:sp>
          <p:nvSpPr>
            <p:cNvPr id="22" name="Text Box 22"/>
            <p:cNvSpPr txBox="1">
              <a:spLocks noChangeArrowheads="1"/>
            </p:cNvSpPr>
            <p:nvPr/>
          </p:nvSpPr>
          <p:spPr bwMode="auto">
            <a:xfrm>
              <a:off x="8820" y="5496"/>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dirty="0">
                  <a:latin typeface="Times New Roman" panose="02020603050405020304" pitchFamily="18" charset="0"/>
                  <a:ea typeface="黑体" panose="02010609060101010101" pitchFamily="49" charset="-122"/>
                </a:rPr>
                <a:t>内模式</a:t>
              </a:r>
              <a:endParaRPr lang="zh-CN" altLang="en-US" sz="1800" b="0" dirty="0">
                <a:latin typeface="Arial" panose="020B0604020202020204" pitchFamily="34" charset="0"/>
              </a:endParaRPr>
            </a:p>
          </p:txBody>
        </p:sp>
        <p:sp>
          <p:nvSpPr>
            <p:cNvPr id="23" name="Text Box 23"/>
            <p:cNvSpPr txBox="1">
              <a:spLocks noChangeArrowheads="1"/>
            </p:cNvSpPr>
            <p:nvPr/>
          </p:nvSpPr>
          <p:spPr bwMode="auto">
            <a:xfrm>
              <a:off x="8820" y="4560"/>
              <a:ext cx="102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ea typeface="黑体" panose="02010609060101010101" pitchFamily="49" charset="-122"/>
                </a:rPr>
                <a:t>模 式</a:t>
              </a:r>
              <a:endParaRPr lang="zh-CN" altLang="en-US" sz="1800" b="0">
                <a:latin typeface="Arial" panose="020B0604020202020204" pitchFamily="34" charset="0"/>
              </a:endParaRPr>
            </a:p>
          </p:txBody>
        </p:sp>
        <p:sp>
          <p:nvSpPr>
            <p:cNvPr id="24" name="Text Box 24"/>
            <p:cNvSpPr txBox="1">
              <a:spLocks noChangeArrowheads="1"/>
            </p:cNvSpPr>
            <p:nvPr/>
          </p:nvSpPr>
          <p:spPr bwMode="auto">
            <a:xfrm>
              <a:off x="8820" y="3624"/>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Times New Roman" panose="02020603050405020304" pitchFamily="18" charset="0"/>
                  <a:ea typeface="黑体" panose="02010609060101010101" pitchFamily="49" charset="-122"/>
                </a:rPr>
                <a:t>外模式</a:t>
              </a:r>
              <a:endParaRPr lang="zh-CN" altLang="en-US" sz="1800" b="0">
                <a:latin typeface="Arial" panose="020B0604020202020204" pitchFamily="34" charset="0"/>
              </a:endParaRPr>
            </a:p>
          </p:txBody>
        </p:sp>
        <p:sp>
          <p:nvSpPr>
            <p:cNvPr id="25" name="Line 25"/>
            <p:cNvSpPr>
              <a:spLocks noChangeShapeType="1"/>
            </p:cNvSpPr>
            <p:nvPr/>
          </p:nvSpPr>
          <p:spPr bwMode="auto">
            <a:xfrm flipH="1">
              <a:off x="3240" y="2688"/>
              <a:ext cx="540" cy="1716"/>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6"/>
            <p:cNvSpPr>
              <a:spLocks noChangeShapeType="1"/>
            </p:cNvSpPr>
            <p:nvPr/>
          </p:nvSpPr>
          <p:spPr bwMode="auto">
            <a:xfrm flipH="1">
              <a:off x="5040" y="2688"/>
              <a:ext cx="720" cy="624"/>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7"/>
            <p:cNvSpPr>
              <a:spLocks noChangeShapeType="1"/>
            </p:cNvSpPr>
            <p:nvPr/>
          </p:nvSpPr>
          <p:spPr bwMode="auto">
            <a:xfrm>
              <a:off x="5940" y="2688"/>
              <a:ext cx="1080" cy="624"/>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8"/>
            <p:cNvSpPr>
              <a:spLocks noChangeShapeType="1"/>
            </p:cNvSpPr>
            <p:nvPr/>
          </p:nvSpPr>
          <p:spPr bwMode="auto">
            <a:xfrm flipH="1">
              <a:off x="7380" y="2688"/>
              <a:ext cx="360" cy="624"/>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9"/>
            <p:cNvSpPr>
              <a:spLocks noChangeShapeType="1"/>
            </p:cNvSpPr>
            <p:nvPr/>
          </p:nvSpPr>
          <p:spPr bwMode="auto">
            <a:xfrm flipH="1">
              <a:off x="4680" y="3780"/>
              <a:ext cx="360" cy="624"/>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30"/>
            <p:cNvSpPr>
              <a:spLocks noChangeShapeType="1"/>
            </p:cNvSpPr>
            <p:nvPr/>
          </p:nvSpPr>
          <p:spPr bwMode="auto">
            <a:xfrm>
              <a:off x="5190" y="3813"/>
              <a:ext cx="1110" cy="591"/>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31"/>
            <p:cNvSpPr>
              <a:spLocks noChangeShapeType="1"/>
            </p:cNvSpPr>
            <p:nvPr/>
          </p:nvSpPr>
          <p:spPr bwMode="auto">
            <a:xfrm>
              <a:off x="7200" y="3780"/>
              <a:ext cx="540" cy="624"/>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32"/>
            <p:cNvSpPr>
              <a:spLocks noChangeShapeType="1"/>
            </p:cNvSpPr>
            <p:nvPr/>
          </p:nvSpPr>
          <p:spPr bwMode="auto">
            <a:xfrm>
              <a:off x="3420" y="4872"/>
              <a:ext cx="180" cy="78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33"/>
            <p:cNvSpPr>
              <a:spLocks noChangeShapeType="1"/>
            </p:cNvSpPr>
            <p:nvPr/>
          </p:nvSpPr>
          <p:spPr bwMode="auto">
            <a:xfrm>
              <a:off x="5040" y="4872"/>
              <a:ext cx="360" cy="78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34"/>
            <p:cNvSpPr>
              <a:spLocks noChangeShapeType="1"/>
            </p:cNvSpPr>
            <p:nvPr/>
          </p:nvSpPr>
          <p:spPr bwMode="auto">
            <a:xfrm flipH="1">
              <a:off x="5760" y="4872"/>
              <a:ext cx="540" cy="78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35"/>
            <p:cNvSpPr>
              <a:spLocks noChangeShapeType="1"/>
            </p:cNvSpPr>
            <p:nvPr/>
          </p:nvSpPr>
          <p:spPr bwMode="auto">
            <a:xfrm flipH="1">
              <a:off x="7560" y="4872"/>
              <a:ext cx="360" cy="78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6" name="Text Box 36"/>
            <p:cNvSpPr txBox="1">
              <a:spLocks noChangeArrowheads="1"/>
            </p:cNvSpPr>
            <p:nvPr/>
          </p:nvSpPr>
          <p:spPr bwMode="auto">
            <a:xfrm>
              <a:off x="3780" y="6588"/>
              <a:ext cx="45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b="0">
                  <a:latin typeface="黑体" panose="02010609060101010101" pitchFamily="49" charset="-122"/>
                  <a:ea typeface="黑体" panose="02010609060101010101" pitchFamily="49" charset="-122"/>
                </a:rPr>
                <a:t>图</a:t>
              </a:r>
              <a:r>
                <a:rPr lang="en-US" altLang="zh-CN" sz="1000" b="0">
                  <a:latin typeface="黑体" panose="02010609060101010101" pitchFamily="49" charset="-122"/>
                  <a:ea typeface="黑体" panose="02010609060101010101" pitchFamily="49" charset="-122"/>
                </a:rPr>
                <a:t>3-2 SQL</a:t>
              </a:r>
              <a:r>
                <a:rPr lang="zh-CN" altLang="en-US" sz="1000" b="0">
                  <a:latin typeface="黑体" panose="02010609060101010101" pitchFamily="49" charset="-122"/>
                  <a:ea typeface="黑体" panose="02010609060101010101" pitchFamily="49" charset="-122"/>
                </a:rPr>
                <a:t>数据库系统体系结构</a:t>
              </a:r>
              <a:endParaRPr lang="zh-CN" altLang="en-US" sz="1800" b="0">
                <a:latin typeface="黑体" panose="02010609060101010101" pitchFamily="49" charset="-122"/>
                <a:ea typeface="黑体" panose="02010609060101010101" pitchFamily="49" charset="-122"/>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a:bodyPr>
          <a:lstStyle/>
          <a:p>
            <a:r>
              <a:rPr kumimoji="1" lang="en-US" altLang="zh-CN" dirty="0"/>
              <a:t>SQL</a:t>
            </a:r>
            <a:r>
              <a:rPr kumimoji="1" lang="zh-CN" altLang="en-US" dirty="0"/>
              <a:t>的组成</a:t>
            </a:r>
            <a:endParaRPr kumimoji="1" lang="en-US" altLang="zh-CN" dirty="0"/>
          </a:p>
          <a:p>
            <a:pPr marL="0" indent="0">
              <a:buNone/>
            </a:pPr>
            <a:r>
              <a:rPr kumimoji="1" lang="zh-CN" altLang="en-US" dirty="0"/>
              <a:t>核心</a:t>
            </a:r>
            <a:r>
              <a:rPr kumimoji="1" lang="en-GB" altLang="zh-CN" dirty="0"/>
              <a:t>SQL</a:t>
            </a:r>
            <a:r>
              <a:rPr kumimoji="1" lang="zh-CN" altLang="en-US" dirty="0"/>
              <a:t>主要有四个部分</a:t>
            </a:r>
            <a:r>
              <a:rPr kumimoji="1" lang="en-US" altLang="zh-CN" dirty="0"/>
              <a:t>:</a:t>
            </a:r>
            <a:endParaRPr kumimoji="1" lang="en-US" altLang="zh-CN" sz="2800" dirty="0"/>
          </a:p>
          <a:p>
            <a:pPr marL="457200" lvl="1" indent="0">
              <a:lnSpc>
                <a:spcPct val="150000"/>
              </a:lnSpc>
              <a:buNone/>
            </a:pPr>
            <a:r>
              <a:rPr kumimoji="1" lang="en-US" altLang="zh-CN" sz="2500" dirty="0"/>
              <a:t>(1) </a:t>
            </a:r>
            <a:r>
              <a:rPr kumimoji="1" lang="zh-CN" altLang="en-US" sz="2500" dirty="0"/>
              <a:t>数据定义语言，即</a:t>
            </a:r>
            <a:r>
              <a:rPr kumimoji="1" lang="en-GB" altLang="zh-CN" sz="2500" dirty="0">
                <a:highlight>
                  <a:srgbClr val="FFFF00"/>
                </a:highlight>
              </a:rPr>
              <a:t>SQL DDL</a:t>
            </a:r>
            <a:r>
              <a:rPr kumimoji="1" lang="zh-CN" altLang="en-GB" sz="2500" dirty="0"/>
              <a:t>，</a:t>
            </a:r>
            <a:r>
              <a:rPr kumimoji="1" lang="zh-CN" altLang="en-US" sz="2500" dirty="0"/>
              <a:t>用于定义</a:t>
            </a:r>
            <a:r>
              <a:rPr kumimoji="1" lang="en-GB" altLang="zh-CN" sz="2500" dirty="0"/>
              <a:t>SQL</a:t>
            </a:r>
            <a:r>
              <a:rPr kumimoji="1" lang="zh-CN" altLang="en-US" sz="2500" dirty="0"/>
              <a:t>模式、基本表、视图、索引等结构</a:t>
            </a:r>
            <a:endParaRPr kumimoji="1" lang="zh-CN" altLang="en-US" sz="2500" dirty="0"/>
          </a:p>
          <a:p>
            <a:pPr marL="457200" lvl="1" indent="0">
              <a:lnSpc>
                <a:spcPct val="150000"/>
              </a:lnSpc>
              <a:buNone/>
            </a:pPr>
            <a:r>
              <a:rPr kumimoji="1" lang="en-US" altLang="zh-CN" sz="2500" dirty="0"/>
              <a:t>(2) </a:t>
            </a:r>
            <a:r>
              <a:rPr kumimoji="1" lang="zh-CN" altLang="en-US" sz="2500" dirty="0"/>
              <a:t>数据操纵语言，即</a:t>
            </a:r>
            <a:r>
              <a:rPr kumimoji="1" lang="en-GB" altLang="zh-CN" sz="2500" dirty="0">
                <a:highlight>
                  <a:srgbClr val="FFFF00"/>
                </a:highlight>
              </a:rPr>
              <a:t>SQL DML</a:t>
            </a:r>
            <a:r>
              <a:rPr kumimoji="1" lang="zh-CN" altLang="en-GB" sz="2500" dirty="0"/>
              <a:t>，</a:t>
            </a:r>
            <a:r>
              <a:rPr kumimoji="1" lang="zh-CN" altLang="en-US" sz="2500" dirty="0"/>
              <a:t>数据操纵分成数据查询和数据更新两类。其中数据更新又分成插入、删除和修改三种操作</a:t>
            </a:r>
            <a:endParaRPr kumimoji="1" lang="zh-CN" altLang="en-US" sz="2500" dirty="0"/>
          </a:p>
          <a:p>
            <a:pPr marL="457200" lvl="1" indent="0">
              <a:lnSpc>
                <a:spcPct val="150000"/>
              </a:lnSpc>
              <a:buNone/>
            </a:pPr>
            <a:r>
              <a:rPr kumimoji="1" lang="en-US" altLang="zh-CN" sz="2500" dirty="0"/>
              <a:t>(3) </a:t>
            </a:r>
            <a:r>
              <a:rPr kumimoji="1" lang="zh-CN" altLang="en-US" sz="2500" dirty="0"/>
              <a:t>数据控制语言，即</a:t>
            </a:r>
            <a:r>
              <a:rPr kumimoji="1" lang="en-GB" altLang="zh-CN" sz="2500" dirty="0">
                <a:highlight>
                  <a:srgbClr val="FFFF00"/>
                </a:highlight>
              </a:rPr>
              <a:t>SQL DCL</a:t>
            </a:r>
            <a:r>
              <a:rPr kumimoji="1" lang="zh-CN" altLang="en-GB" sz="2500" dirty="0"/>
              <a:t>，</a:t>
            </a:r>
            <a:r>
              <a:rPr kumimoji="1" lang="zh-CN" altLang="en-US" sz="2500" dirty="0"/>
              <a:t>这一部分包括对基本表和视图的授权、完整性规则的描述、事务控制等内容。</a:t>
            </a:r>
            <a:endParaRPr kumimoji="1" lang="zh-CN" altLang="en-US" sz="2500" dirty="0"/>
          </a:p>
          <a:p>
            <a:pPr marL="457200" lvl="1" indent="0">
              <a:lnSpc>
                <a:spcPct val="150000"/>
              </a:lnSpc>
              <a:buNone/>
            </a:pPr>
            <a:r>
              <a:rPr kumimoji="1" lang="en-US" altLang="zh-CN" sz="2500" dirty="0"/>
              <a:t>(4) </a:t>
            </a:r>
            <a:r>
              <a:rPr kumimoji="1" lang="zh-CN" altLang="en-US" sz="2500" dirty="0"/>
              <a:t>嵌入式</a:t>
            </a:r>
            <a:r>
              <a:rPr kumimoji="1" lang="en-GB" altLang="zh-CN" sz="2500" dirty="0"/>
              <a:t>SQL</a:t>
            </a:r>
            <a:r>
              <a:rPr kumimoji="1" lang="zh-CN" altLang="en-US" sz="2500" dirty="0"/>
              <a:t>语言的使用规定，这一部分内容涉及到</a:t>
            </a:r>
            <a:r>
              <a:rPr kumimoji="1" lang="en-GB" altLang="zh-CN" sz="2500" dirty="0"/>
              <a:t>SQL</a:t>
            </a:r>
            <a:r>
              <a:rPr kumimoji="1" lang="zh-CN" altLang="en-US" sz="2500" dirty="0"/>
              <a:t>语句嵌入在宿主语言程序中的规则</a:t>
            </a:r>
            <a:endParaRPr kumimoji="1" lang="zh-CN" altLang="en-US" sz="25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3.1 SQL</a:t>
            </a:r>
            <a:r>
              <a:rPr lang="zh-CN" altLang="en-US" dirty="0"/>
              <a:t>语言概述</a:t>
            </a:r>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的数据定义功能</a:t>
            </a:r>
            <a:r>
              <a:rPr kumimoji="1" lang="en-US" altLang="zh-CN" dirty="0"/>
              <a:t>: </a:t>
            </a:r>
            <a:r>
              <a:rPr kumimoji="1" lang="zh-CN" altLang="en-US" dirty="0"/>
              <a:t>模式定义、表定义、视图和索引的定义</a:t>
            </a: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pic>
        <p:nvPicPr>
          <p:cNvPr id="8" name="图片 7" descr="形状&#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2754" y="2304537"/>
            <a:ext cx="11721907" cy="426251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dirty="0"/>
              <a:t>创建基本表</a:t>
            </a: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grpSp>
        <p:nvGrpSpPr>
          <p:cNvPr id="33" name="Group 111"/>
          <p:cNvGrpSpPr/>
          <p:nvPr/>
        </p:nvGrpSpPr>
        <p:grpSpPr bwMode="auto">
          <a:xfrm>
            <a:off x="2619180" y="1828800"/>
            <a:ext cx="2293938" cy="1936750"/>
            <a:chOff x="523" y="902"/>
            <a:chExt cx="1445" cy="1220"/>
          </a:xfrm>
        </p:grpSpPr>
        <p:sp>
          <p:nvSpPr>
            <p:cNvPr id="34" name="Text Box 112"/>
            <p:cNvSpPr txBox="1">
              <a:spLocks noChangeArrowheads="1"/>
            </p:cNvSpPr>
            <p:nvPr/>
          </p:nvSpPr>
          <p:spPr bwMode="auto">
            <a:xfrm>
              <a:off x="754" y="902"/>
              <a:ext cx="8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600" i="1">
                  <a:latin typeface="Helvetica" pitchFamily="2" charset="0"/>
                </a:rPr>
                <a:t>Student</a:t>
              </a:r>
              <a:endParaRPr lang="en-US" altLang="zh-CN" sz="1600" i="1">
                <a:latin typeface="Helvetica" pitchFamily="2" charset="0"/>
              </a:endParaRPr>
            </a:p>
          </p:txBody>
        </p:sp>
        <p:sp>
          <p:nvSpPr>
            <p:cNvPr id="35" name="Rectangle 113"/>
            <p:cNvSpPr>
              <a:spLocks noChangeArrowheads="1"/>
            </p:cNvSpPr>
            <p:nvPr/>
          </p:nvSpPr>
          <p:spPr bwMode="auto">
            <a:xfrm>
              <a:off x="661" y="1135"/>
              <a:ext cx="1191" cy="288"/>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nvGrpSpPr>
            <p:cNvPr id="36" name="Group 114"/>
            <p:cNvGrpSpPr/>
            <p:nvPr/>
          </p:nvGrpSpPr>
          <p:grpSpPr bwMode="auto">
            <a:xfrm>
              <a:off x="523" y="1159"/>
              <a:ext cx="1445" cy="963"/>
              <a:chOff x="3237" y="1422"/>
              <a:chExt cx="1131" cy="912"/>
            </a:xfrm>
          </p:grpSpPr>
          <p:sp>
            <p:nvSpPr>
              <p:cNvPr id="38" name="Text Box 115"/>
              <p:cNvSpPr txBox="1">
                <a:spLocks noChangeArrowheads="1"/>
              </p:cNvSpPr>
              <p:nvPr/>
            </p:nvSpPr>
            <p:spPr bwMode="auto">
              <a:xfrm>
                <a:off x="3352" y="1696"/>
                <a:ext cx="1016" cy="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b="0" i="1">
                    <a:latin typeface="Helvetica" pitchFamily="2" charset="0"/>
                  </a:rPr>
                  <a:t>sname</a:t>
                </a:r>
                <a:endParaRPr lang="en-US" altLang="zh-CN" sz="1600" b="0" i="1">
                  <a:latin typeface="Helvetica" pitchFamily="2" charset="0"/>
                </a:endParaRPr>
              </a:p>
              <a:p>
                <a:pPr algn="ctr">
                  <a:spcBef>
                    <a:spcPct val="0"/>
                  </a:spcBef>
                  <a:buFontTx/>
                  <a:buNone/>
                </a:pPr>
                <a:r>
                  <a:rPr lang="en-US" altLang="zh-CN" sz="1600" b="0" i="1">
                    <a:latin typeface="Helvetica" pitchFamily="2" charset="0"/>
                  </a:rPr>
                  <a:t>sex</a:t>
                </a:r>
                <a:endParaRPr lang="en-US" altLang="zh-CN" sz="1600" b="0" i="1">
                  <a:latin typeface="Helvetica" pitchFamily="2" charset="0"/>
                </a:endParaRPr>
              </a:p>
              <a:p>
                <a:pPr algn="ctr">
                  <a:spcBef>
                    <a:spcPct val="0"/>
                  </a:spcBef>
                  <a:buFontTx/>
                  <a:buNone/>
                </a:pPr>
                <a:r>
                  <a:rPr lang="en-US" altLang="zh-CN" sz="1600" b="0" i="1">
                    <a:latin typeface="Helvetica" pitchFamily="2" charset="0"/>
                  </a:rPr>
                  <a:t>bdate</a:t>
                </a:r>
                <a:endParaRPr lang="en-US" altLang="zh-CN" sz="1600" b="0" i="1">
                  <a:latin typeface="Helvetica" pitchFamily="2" charset="0"/>
                </a:endParaRPr>
              </a:p>
              <a:p>
                <a:pPr algn="ctr">
                  <a:spcBef>
                    <a:spcPct val="0"/>
                  </a:spcBef>
                  <a:buFontTx/>
                  <a:buNone/>
                </a:pPr>
                <a:r>
                  <a:rPr lang="en-US" altLang="zh-CN" sz="1600" b="0" i="1">
                    <a:latin typeface="Helvetica" pitchFamily="2" charset="0"/>
                  </a:rPr>
                  <a:t>height</a:t>
                </a:r>
                <a:endParaRPr lang="en-US" altLang="zh-CN" sz="1600" b="0" i="1">
                  <a:latin typeface="Helvetica" pitchFamily="2" charset="0"/>
                </a:endParaRPr>
              </a:p>
            </p:txBody>
          </p:sp>
          <p:sp>
            <p:nvSpPr>
              <p:cNvPr id="39" name="Text Box 116"/>
              <p:cNvSpPr txBox="1">
                <a:spLocks noChangeArrowheads="1"/>
              </p:cNvSpPr>
              <p:nvPr/>
            </p:nvSpPr>
            <p:spPr bwMode="auto">
              <a:xfrm>
                <a:off x="3237" y="1422"/>
                <a:ext cx="1100"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600" i="1">
                    <a:latin typeface="Helvetica" pitchFamily="2" charset="0"/>
                  </a:rPr>
                  <a:t>sno</a:t>
                </a:r>
                <a:endParaRPr lang="zh-CN" altLang="en-US" sz="1600" i="1">
                  <a:latin typeface="Helvetica" pitchFamily="2" charset="0"/>
                </a:endParaRPr>
              </a:p>
            </p:txBody>
          </p:sp>
        </p:grpSp>
        <p:sp>
          <p:nvSpPr>
            <p:cNvPr id="37" name="Rectangle 117"/>
            <p:cNvSpPr>
              <a:spLocks noChangeArrowheads="1"/>
            </p:cNvSpPr>
            <p:nvPr/>
          </p:nvSpPr>
          <p:spPr bwMode="auto">
            <a:xfrm>
              <a:off x="661" y="1422"/>
              <a:ext cx="1191" cy="69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40" name="Group 103"/>
          <p:cNvGrpSpPr/>
          <p:nvPr/>
        </p:nvGrpSpPr>
        <p:grpSpPr bwMode="auto">
          <a:xfrm>
            <a:off x="7853168" y="3213100"/>
            <a:ext cx="1795462" cy="2430463"/>
            <a:chOff x="3820" y="1872"/>
            <a:chExt cx="1131" cy="1297"/>
          </a:xfrm>
        </p:grpSpPr>
        <p:sp>
          <p:nvSpPr>
            <p:cNvPr id="41" name="Text Box 104"/>
            <p:cNvSpPr txBox="1">
              <a:spLocks noChangeArrowheads="1"/>
            </p:cNvSpPr>
            <p:nvPr/>
          </p:nvSpPr>
          <p:spPr bwMode="auto">
            <a:xfrm>
              <a:off x="3952" y="1872"/>
              <a:ext cx="704"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600" i="1" dirty="0">
                  <a:latin typeface="Helvetica" pitchFamily="2" charset="0"/>
                </a:rPr>
                <a:t>Course</a:t>
              </a:r>
              <a:endParaRPr lang="en-US" altLang="zh-CN" sz="1600" i="1" dirty="0">
                <a:latin typeface="Helvetica" pitchFamily="2" charset="0"/>
              </a:endParaRPr>
            </a:p>
          </p:txBody>
        </p:sp>
        <p:grpSp>
          <p:nvGrpSpPr>
            <p:cNvPr id="42" name="Group 105"/>
            <p:cNvGrpSpPr/>
            <p:nvPr/>
          </p:nvGrpSpPr>
          <p:grpSpPr bwMode="auto">
            <a:xfrm>
              <a:off x="3820" y="2158"/>
              <a:ext cx="1131" cy="1011"/>
              <a:chOff x="4541" y="2158"/>
              <a:chExt cx="1131" cy="1011"/>
            </a:xfrm>
          </p:grpSpPr>
          <p:sp>
            <p:nvSpPr>
              <p:cNvPr id="43" name="Rectangle 106"/>
              <p:cNvSpPr>
                <a:spLocks noChangeArrowheads="1"/>
              </p:cNvSpPr>
              <p:nvPr/>
            </p:nvSpPr>
            <p:spPr bwMode="auto">
              <a:xfrm>
                <a:off x="4625" y="2158"/>
                <a:ext cx="992" cy="263"/>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nvGrpSpPr>
              <p:cNvPr id="44" name="Group 107"/>
              <p:cNvGrpSpPr/>
              <p:nvPr/>
            </p:nvGrpSpPr>
            <p:grpSpPr bwMode="auto">
              <a:xfrm>
                <a:off x="4541" y="2182"/>
                <a:ext cx="1131" cy="987"/>
                <a:chOff x="3237" y="1422"/>
                <a:chExt cx="1131" cy="987"/>
              </a:xfrm>
            </p:grpSpPr>
            <p:sp>
              <p:nvSpPr>
                <p:cNvPr id="46" name="Text Box 108"/>
                <p:cNvSpPr txBox="1">
                  <a:spLocks noChangeArrowheads="1"/>
                </p:cNvSpPr>
                <p:nvPr/>
              </p:nvSpPr>
              <p:spPr bwMode="auto">
                <a:xfrm>
                  <a:off x="3352" y="1696"/>
                  <a:ext cx="1016" cy="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60000"/>
                    </a:lnSpc>
                    <a:spcBef>
                      <a:spcPct val="50000"/>
                    </a:spcBef>
                    <a:buFontTx/>
                    <a:buNone/>
                  </a:pPr>
                  <a:r>
                    <a:rPr lang="en-US" altLang="zh-CN" sz="1600" b="0" i="1">
                      <a:latin typeface="Helvetica" pitchFamily="2" charset="0"/>
                    </a:rPr>
                    <a:t>cname</a:t>
                  </a:r>
                  <a:endParaRPr lang="en-US" altLang="zh-CN" sz="1600" b="0" i="1">
                    <a:latin typeface="Helvetica" pitchFamily="2" charset="0"/>
                  </a:endParaRPr>
                </a:p>
                <a:p>
                  <a:pPr algn="ctr">
                    <a:lnSpc>
                      <a:spcPct val="60000"/>
                    </a:lnSpc>
                    <a:spcBef>
                      <a:spcPct val="50000"/>
                    </a:spcBef>
                    <a:buFontTx/>
                    <a:buNone/>
                  </a:pPr>
                  <a:r>
                    <a:rPr lang="en-US" altLang="zh-CN" sz="1600" b="0" i="1">
                      <a:latin typeface="Helvetica" pitchFamily="2" charset="0"/>
                    </a:rPr>
                    <a:t>lhour</a:t>
                  </a:r>
                  <a:endParaRPr lang="en-US" altLang="zh-CN" sz="1600" b="0" i="1">
                    <a:latin typeface="Helvetica" pitchFamily="2" charset="0"/>
                  </a:endParaRPr>
                </a:p>
                <a:p>
                  <a:pPr algn="ctr">
                    <a:lnSpc>
                      <a:spcPct val="60000"/>
                    </a:lnSpc>
                    <a:spcBef>
                      <a:spcPct val="50000"/>
                    </a:spcBef>
                    <a:buFontTx/>
                    <a:buNone/>
                  </a:pPr>
                  <a:r>
                    <a:rPr lang="en-US" altLang="zh-CN" sz="1600" b="0" i="1">
                      <a:latin typeface="Helvetica" pitchFamily="2" charset="0"/>
                    </a:rPr>
                    <a:t>credit</a:t>
                  </a:r>
                  <a:endParaRPr lang="en-US" altLang="zh-CN" sz="1600" b="0" i="1">
                    <a:latin typeface="Helvetica" pitchFamily="2" charset="0"/>
                  </a:endParaRPr>
                </a:p>
                <a:p>
                  <a:pPr algn="ctr">
                    <a:lnSpc>
                      <a:spcPct val="60000"/>
                    </a:lnSpc>
                    <a:spcBef>
                      <a:spcPct val="50000"/>
                    </a:spcBef>
                    <a:buFontTx/>
                    <a:buNone/>
                  </a:pPr>
                  <a:r>
                    <a:rPr lang="en-US" altLang="zh-CN" sz="1600" b="0" i="1">
                      <a:latin typeface="Helvetica" pitchFamily="2" charset="0"/>
                    </a:rPr>
                    <a:t>semester</a:t>
                  </a:r>
                  <a:endParaRPr lang="en-US" altLang="zh-CN" sz="1600" b="0" i="1">
                    <a:latin typeface="Helvetica" pitchFamily="2" charset="0"/>
                  </a:endParaRPr>
                </a:p>
                <a:p>
                  <a:pPr algn="ctr">
                    <a:lnSpc>
                      <a:spcPct val="70000"/>
                    </a:lnSpc>
                    <a:spcBef>
                      <a:spcPct val="50000"/>
                    </a:spcBef>
                    <a:buFontTx/>
                    <a:buNone/>
                  </a:pPr>
                  <a:endParaRPr lang="en-US" altLang="zh-CN" sz="1600" b="0" i="1">
                    <a:latin typeface="Helvetica" pitchFamily="2" charset="0"/>
                  </a:endParaRPr>
                </a:p>
              </p:txBody>
            </p:sp>
            <p:sp>
              <p:nvSpPr>
                <p:cNvPr id="47" name="Text Box 109"/>
                <p:cNvSpPr txBox="1">
                  <a:spLocks noChangeArrowheads="1"/>
                </p:cNvSpPr>
                <p:nvPr/>
              </p:nvSpPr>
              <p:spPr bwMode="auto">
                <a:xfrm>
                  <a:off x="3237" y="1422"/>
                  <a:ext cx="1100"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600" b="0">
                      <a:latin typeface="Helvetica" pitchFamily="2" charset="0"/>
                    </a:rPr>
                    <a:t> </a:t>
                  </a:r>
                  <a:r>
                    <a:rPr lang="en-US" altLang="zh-CN" sz="1600" i="1">
                      <a:latin typeface="Helvetica" pitchFamily="2" charset="0"/>
                    </a:rPr>
                    <a:t>cno</a:t>
                  </a:r>
                  <a:endParaRPr lang="zh-CN" altLang="en-US" sz="1600" i="1">
                    <a:latin typeface="Helvetica" pitchFamily="2" charset="0"/>
                  </a:endParaRPr>
                </a:p>
              </p:txBody>
            </p:sp>
          </p:grpSp>
          <p:sp>
            <p:nvSpPr>
              <p:cNvPr id="45" name="Rectangle 110"/>
              <p:cNvSpPr>
                <a:spLocks noChangeArrowheads="1"/>
              </p:cNvSpPr>
              <p:nvPr/>
            </p:nvSpPr>
            <p:spPr bwMode="auto">
              <a:xfrm>
                <a:off x="4625" y="2421"/>
                <a:ext cx="1000" cy="55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grpSp>
        <p:nvGrpSpPr>
          <p:cNvPr id="48" name="Group 118"/>
          <p:cNvGrpSpPr/>
          <p:nvPr/>
        </p:nvGrpSpPr>
        <p:grpSpPr bwMode="auto">
          <a:xfrm>
            <a:off x="4684518" y="4611688"/>
            <a:ext cx="2057400" cy="1409700"/>
            <a:chOff x="1824" y="2655"/>
            <a:chExt cx="1296" cy="888"/>
          </a:xfrm>
        </p:grpSpPr>
        <p:sp>
          <p:nvSpPr>
            <p:cNvPr id="49" name="Rectangle 119"/>
            <p:cNvSpPr>
              <a:spLocks noChangeArrowheads="1"/>
            </p:cNvSpPr>
            <p:nvPr/>
          </p:nvSpPr>
          <p:spPr bwMode="auto">
            <a:xfrm>
              <a:off x="1824" y="2928"/>
              <a:ext cx="1296" cy="612"/>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itchFamily="2" charset="0"/>
                </a:rPr>
                <a:t>sno</a:t>
              </a:r>
              <a:endParaRPr lang="en-US" altLang="zh-CN" sz="1800" i="1">
                <a:latin typeface="Helvetica" pitchFamily="2" charset="0"/>
              </a:endParaRPr>
            </a:p>
            <a:p>
              <a:pPr algn="ctr">
                <a:spcBef>
                  <a:spcPct val="0"/>
                </a:spcBef>
                <a:buFontTx/>
                <a:buNone/>
              </a:pPr>
              <a:r>
                <a:rPr lang="en-US" altLang="zh-CN" sz="1800" i="1">
                  <a:latin typeface="Helvetica" pitchFamily="2" charset="0"/>
                </a:rPr>
                <a:t>cno</a:t>
              </a:r>
              <a:endParaRPr lang="en-US" altLang="zh-CN" sz="1800" i="1">
                <a:latin typeface="Helvetica" pitchFamily="2" charset="0"/>
              </a:endParaRPr>
            </a:p>
          </p:txBody>
        </p:sp>
        <p:sp>
          <p:nvSpPr>
            <p:cNvPr id="50" name="Text Box 120"/>
            <p:cNvSpPr txBox="1">
              <a:spLocks noChangeArrowheads="1"/>
            </p:cNvSpPr>
            <p:nvPr/>
          </p:nvSpPr>
          <p:spPr bwMode="auto">
            <a:xfrm>
              <a:off x="1832" y="3312"/>
              <a:ext cx="1288" cy="231"/>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10000"/>
                </a:spcBef>
                <a:buFontTx/>
                <a:buNone/>
              </a:pPr>
              <a:r>
                <a:rPr lang="en-US" altLang="zh-CN" sz="1800" b="0" i="1">
                  <a:latin typeface="Helvetica" pitchFamily="2" charset="0"/>
                </a:rPr>
                <a:t>grade</a:t>
              </a:r>
              <a:endParaRPr lang="en-US" altLang="zh-CN" sz="1800" b="0" i="1">
                <a:latin typeface="Helvetica" pitchFamily="2" charset="0"/>
              </a:endParaRPr>
            </a:p>
          </p:txBody>
        </p:sp>
        <p:sp>
          <p:nvSpPr>
            <p:cNvPr id="51" name="Text Box 121"/>
            <p:cNvSpPr txBox="1">
              <a:spLocks noChangeArrowheads="1"/>
            </p:cNvSpPr>
            <p:nvPr/>
          </p:nvSpPr>
          <p:spPr bwMode="auto">
            <a:xfrm>
              <a:off x="1920" y="2655"/>
              <a:ext cx="93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600" i="1">
                  <a:latin typeface="Helvetica" pitchFamily="2" charset="0"/>
                </a:rPr>
                <a:t>SC</a:t>
              </a:r>
              <a:endParaRPr lang="en-US" altLang="zh-CN" sz="1600" i="1">
                <a:latin typeface="Helvetica" pitchFamily="2" charset="0"/>
              </a:endParaRPr>
            </a:p>
          </p:txBody>
        </p:sp>
      </p:grpSp>
      <p:grpSp>
        <p:nvGrpSpPr>
          <p:cNvPr id="52" name="Group 122"/>
          <p:cNvGrpSpPr/>
          <p:nvPr/>
        </p:nvGrpSpPr>
        <p:grpSpPr bwMode="auto">
          <a:xfrm>
            <a:off x="2398518" y="2378075"/>
            <a:ext cx="7848600" cy="3200400"/>
            <a:chOff x="384" y="1248"/>
            <a:chExt cx="4944" cy="2016"/>
          </a:xfrm>
        </p:grpSpPr>
        <p:grpSp>
          <p:nvGrpSpPr>
            <p:cNvPr id="53" name="Group 123"/>
            <p:cNvGrpSpPr/>
            <p:nvPr/>
          </p:nvGrpSpPr>
          <p:grpSpPr bwMode="auto">
            <a:xfrm>
              <a:off x="384" y="1248"/>
              <a:ext cx="1584" cy="1824"/>
              <a:chOff x="144" y="1248"/>
              <a:chExt cx="1344" cy="1920"/>
            </a:xfrm>
          </p:grpSpPr>
          <p:sp>
            <p:nvSpPr>
              <p:cNvPr id="58" name="Line 124"/>
              <p:cNvSpPr>
                <a:spLocks noChangeShapeType="1"/>
              </p:cNvSpPr>
              <p:nvPr/>
            </p:nvSpPr>
            <p:spPr bwMode="auto">
              <a:xfrm flipH="1">
                <a:off x="144" y="3168"/>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25"/>
              <p:cNvSpPr>
                <a:spLocks noChangeShapeType="1"/>
              </p:cNvSpPr>
              <p:nvPr/>
            </p:nvSpPr>
            <p:spPr bwMode="auto">
              <a:xfrm flipH="1" flipV="1">
                <a:off x="144" y="1248"/>
                <a:ext cx="0" cy="19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26"/>
              <p:cNvSpPr>
                <a:spLocks noChangeShapeType="1"/>
              </p:cNvSpPr>
              <p:nvPr/>
            </p:nvSpPr>
            <p:spPr bwMode="auto">
              <a:xfrm>
                <a:off x="144" y="1248"/>
                <a:ext cx="23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 name="Group 127"/>
            <p:cNvGrpSpPr/>
            <p:nvPr/>
          </p:nvGrpSpPr>
          <p:grpSpPr bwMode="auto">
            <a:xfrm>
              <a:off x="3024" y="2278"/>
              <a:ext cx="2304" cy="986"/>
              <a:chOff x="2749" y="2278"/>
              <a:chExt cx="2226" cy="1161"/>
            </a:xfrm>
          </p:grpSpPr>
          <p:sp>
            <p:nvSpPr>
              <p:cNvPr id="55" name="Line 128"/>
              <p:cNvSpPr>
                <a:spLocks noChangeShapeType="1"/>
              </p:cNvSpPr>
              <p:nvPr/>
            </p:nvSpPr>
            <p:spPr bwMode="auto">
              <a:xfrm>
                <a:off x="2749" y="3421"/>
                <a:ext cx="22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29"/>
              <p:cNvSpPr>
                <a:spLocks noChangeShapeType="1"/>
              </p:cNvSpPr>
              <p:nvPr/>
            </p:nvSpPr>
            <p:spPr bwMode="auto">
              <a:xfrm flipV="1">
                <a:off x="4966" y="2278"/>
                <a:ext cx="0" cy="116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130"/>
              <p:cNvSpPr>
                <a:spLocks noChangeShapeType="1"/>
              </p:cNvSpPr>
              <p:nvPr/>
            </p:nvSpPr>
            <p:spPr bwMode="auto">
              <a:xfrm flipH="1">
                <a:off x="4582" y="2278"/>
                <a:ext cx="39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0" name="Text Box 133"/>
          <p:cNvSpPr txBox="1">
            <a:spLocks noChangeArrowheads="1"/>
          </p:cNvSpPr>
          <p:nvPr/>
        </p:nvSpPr>
        <p:spPr bwMode="auto">
          <a:xfrm>
            <a:off x="2398518" y="4435475"/>
            <a:ext cx="1403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b="0" i="1" dirty="0">
                <a:solidFill>
                  <a:srgbClr val="990000"/>
                </a:solidFill>
                <a:latin typeface="Helvetica" pitchFamily="2" charset="0"/>
              </a:rPr>
              <a:t>Reference</a:t>
            </a:r>
            <a:endParaRPr lang="zh-CN" altLang="en-US" sz="1800" b="0" i="1" dirty="0">
              <a:solidFill>
                <a:srgbClr val="990000"/>
              </a:solidFill>
              <a:latin typeface="Helvetica" pitchFamily="2" charset="0"/>
            </a:endParaRPr>
          </a:p>
        </p:txBody>
      </p:sp>
      <p:sp>
        <p:nvSpPr>
          <p:cNvPr id="71" name="Text Box 132"/>
          <p:cNvSpPr txBox="1">
            <a:spLocks noChangeArrowheads="1"/>
          </p:cNvSpPr>
          <p:nvPr/>
        </p:nvSpPr>
        <p:spPr bwMode="auto">
          <a:xfrm>
            <a:off x="7783318" y="5578475"/>
            <a:ext cx="132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b="0" i="1">
                <a:solidFill>
                  <a:srgbClr val="990000"/>
                </a:solidFill>
                <a:latin typeface="Helvetica" pitchFamily="2" charset="0"/>
              </a:rPr>
              <a:t>Reference</a:t>
            </a:r>
            <a:endParaRPr lang="zh-CN" altLang="en-US" sz="1800" b="0" i="1">
              <a:solidFill>
                <a:srgbClr val="990000"/>
              </a:solidFill>
              <a:latin typeface="Helvetica"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blinds(horizontal)">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down)">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7172" y="1219203"/>
            <a:ext cx="11604337" cy="5638797"/>
          </a:xfrm>
        </p:spPr>
        <p:txBody>
          <a:bodyPr>
            <a:normAutofit/>
          </a:bodyPr>
          <a:lstStyle/>
          <a:p>
            <a:r>
              <a:rPr kumimoji="1" lang="zh-CN" altLang="en-US" dirty="0"/>
              <a:t>创建基本表</a:t>
            </a:r>
            <a:endParaRPr kumimoji="1" lang="en-US" altLang="zh-CN" dirty="0"/>
          </a:p>
          <a:p>
            <a:pPr marL="609600" indent="-609600">
              <a:lnSpc>
                <a:spcPct val="80000"/>
              </a:lnSpc>
              <a:buNone/>
            </a:pPr>
            <a:r>
              <a:rPr lang="zh-CN" altLang="en-US" sz="2600" b="0" i="1" dirty="0"/>
              <a:t>例</a:t>
            </a:r>
            <a:r>
              <a:rPr lang="en-US" altLang="zh-CN" sz="2600" b="0" i="1" dirty="0"/>
              <a:t>3-1</a:t>
            </a:r>
            <a:r>
              <a:rPr lang="zh-CN" altLang="en-US" sz="2600" b="0" i="1" dirty="0"/>
              <a:t>：创建</a:t>
            </a:r>
            <a:r>
              <a:rPr lang="en-US" altLang="zh-CN" sz="2600" b="0" i="1" dirty="0"/>
              <a:t>STUDENT,COURSE,SC</a:t>
            </a:r>
            <a:r>
              <a:rPr lang="zh-CN" altLang="en-US" sz="2600" b="0" i="1" dirty="0"/>
              <a:t>三个基表</a:t>
            </a:r>
            <a:endParaRPr lang="zh-CN" altLang="en-US" sz="2600" b="0"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2246267" y="2321691"/>
            <a:ext cx="6999287" cy="204034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CREATE TABLE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STUDENT</a:t>
            </a:r>
            <a:endPar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SNO</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zh-CN" altLang="en-US"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CHAR(7)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SNAME</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VARCHAR(10)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SEX</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CHAR(1)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BDATE</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DATE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HEIGHT</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DEC(3,2) DEFAULT 0.0,</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PRIMARY KEY(</a:t>
            </a:r>
            <a:r>
              <a:rPr lang="en-US" altLang="zh-CN" sz="1400" dirty="0">
                <a:solidFill>
                  <a:srgbClr val="CC00FF"/>
                </a:solidFill>
                <a:latin typeface="Cambria Math" panose="02040503050406030204" pitchFamily="18" charset="0"/>
                <a:ea typeface="Cambria Math" panose="02040503050406030204" pitchFamily="18" charset="0"/>
                <a:cs typeface="Calibri" panose="020F0502020204030204" pitchFamily="34" charset="0"/>
              </a:rPr>
              <a:t>SNO</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zh-CN" altLang="en-US" sz="1400" dirty="0">
                <a:solidFill>
                  <a:srgbClr val="000000"/>
                </a:solidFill>
                <a:latin typeface="Cambria Math" panose="02040503050406030204" pitchFamily="18" charset="0"/>
                <a:cs typeface="Calibri" panose="020F0502020204030204" pitchFamily="34" charset="0"/>
              </a:rPr>
              <a:t>定义主键，系统自动生成一个主键约束：</a:t>
            </a:r>
            <a:r>
              <a:rPr lang="en-US" altLang="zh-CN" sz="1400"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student_pkey</a:t>
            </a:r>
            <a:endParaRPr lang="zh-CN" altLang="en-US" sz="1400" dirty="0">
              <a:solidFill>
                <a:srgbClr val="000000"/>
              </a:solidFill>
              <a:latin typeface="Cambria Math" panose="02040503050406030204" pitchFamily="18" charset="0"/>
              <a:cs typeface="Calibri" panose="020F0502020204030204" pitchFamily="34" charset="0"/>
            </a:endParaRPr>
          </a:p>
        </p:txBody>
      </p:sp>
      <p:sp>
        <p:nvSpPr>
          <p:cNvPr id="9" name="文本框 8"/>
          <p:cNvSpPr txBox="1"/>
          <p:nvPr/>
        </p:nvSpPr>
        <p:spPr bwMode="auto">
          <a:xfrm>
            <a:off x="2246267" y="4498564"/>
            <a:ext cx="6999287" cy="20403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CREATE TABLE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COURSE</a:t>
            </a:r>
            <a:endPar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CNO</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CHAR(6)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CNAME</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VARCHAR(30)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LHOUR</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SMALLINT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CREDIT</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DEC(1,0)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SEMESTER</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CHAR(2) NOT NULL,</a:t>
            </a:r>
            <a:endPar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PRIMARY KEY(</a:t>
            </a:r>
            <a:r>
              <a:rPr lang="en-US" altLang="zh-CN" sz="1400" dirty="0">
                <a:solidFill>
                  <a:srgbClr val="00B050"/>
                </a:solidFill>
                <a:latin typeface="Cambria Math" panose="02040503050406030204" pitchFamily="18" charset="0"/>
                <a:ea typeface="Cambria Math" panose="02040503050406030204" pitchFamily="18" charset="0"/>
                <a:cs typeface="Calibri" panose="020F0502020204030204" pitchFamily="34" charset="0"/>
              </a:rPr>
              <a:t>CNO</a:t>
            </a:r>
            <a:r>
              <a:rPr lang="en-US" altLang="zh-CN" sz="14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zh-CN" altLang="en-US" sz="1400" dirty="0">
                <a:solidFill>
                  <a:srgbClr val="000000"/>
                </a:solidFill>
                <a:latin typeface="Cambria Math" panose="02040503050406030204" pitchFamily="18" charset="0"/>
                <a:cs typeface="Calibri" panose="020F0502020204030204" pitchFamily="34" charset="0"/>
              </a:rPr>
              <a:t>定义主键， 系统自动生成一个主键约束：</a:t>
            </a:r>
            <a:r>
              <a:rPr lang="en-US" altLang="zh-CN" sz="1400"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course_pkey</a:t>
            </a:r>
            <a:endParaRPr lang="zh-CN" altLang="en-US" sz="1400" dirty="0">
              <a:solidFill>
                <a:srgbClr val="000000"/>
              </a:solidFill>
              <a:latin typeface="Cambria Math" panose="02040503050406030204" pitchFamily="18"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7172" y="1219203"/>
            <a:ext cx="11604337" cy="5638797"/>
          </a:xfrm>
        </p:spPr>
        <p:txBody>
          <a:bodyPr>
            <a:normAutofit/>
          </a:bodyPr>
          <a:lstStyle/>
          <a:p>
            <a:r>
              <a:rPr kumimoji="1" lang="zh-CN" altLang="en-US" dirty="0"/>
              <a:t>创建基本表</a:t>
            </a:r>
            <a:endParaRPr kumimoji="1" lang="en-US" altLang="zh-CN" dirty="0"/>
          </a:p>
          <a:p>
            <a:pPr marL="609600" indent="-609600">
              <a:lnSpc>
                <a:spcPct val="90000"/>
              </a:lnSpc>
              <a:buNone/>
            </a:pPr>
            <a:r>
              <a:rPr lang="zh-CN" altLang="en-US" sz="2600" b="0" i="1" dirty="0"/>
              <a:t>例</a:t>
            </a:r>
            <a:r>
              <a:rPr lang="en-US" altLang="zh-CN" sz="2600" b="0" i="1" dirty="0"/>
              <a:t>3-1</a:t>
            </a:r>
            <a:r>
              <a:rPr lang="zh-CN" altLang="en-US" sz="2600" b="0" i="1" dirty="0"/>
              <a:t>：创建</a:t>
            </a:r>
            <a:r>
              <a:rPr lang="en-US" altLang="zh-CN" sz="2600" b="0" i="1" dirty="0"/>
              <a:t>STUDENT,COURSE,SC</a:t>
            </a:r>
            <a:r>
              <a:rPr lang="zh-CN" altLang="en-US" sz="2600" b="0" i="1" dirty="0"/>
              <a:t>三个基表</a:t>
            </a:r>
            <a:endParaRPr lang="zh-CN" altLang="en-US" sz="2600" b="0"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2246267" y="2429717"/>
            <a:ext cx="6999287" cy="3926633"/>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CREATE TABLE  </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SC</a:t>
            </a:r>
            <a:endPar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SNO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altLang="zh-CN" sz="1400" dirty="0">
                <a:solidFill>
                  <a:srgbClr val="990099"/>
                </a:solidFill>
                <a:latin typeface="Cambria Math" panose="02040503050406030204" pitchFamily="18" charset="0"/>
                <a:ea typeface="Cambria Math" panose="02040503050406030204" pitchFamily="18" charset="0"/>
                <a:cs typeface="Arial" panose="020B0604020202020204" pitchFamily="34" charset="0"/>
              </a:rPr>
              <a:t>CHAR(7)</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NOT NULL,</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altLang="zh-CN" sz="1400" dirty="0">
                <a:solidFill>
                  <a:srgbClr val="FF6600"/>
                </a:solidFill>
                <a:latin typeface="Cambria Math" panose="02040503050406030204" pitchFamily="18" charset="0"/>
                <a:ea typeface="Cambria Math" panose="02040503050406030204" pitchFamily="18" charset="0"/>
                <a:cs typeface="Arial" panose="020B0604020202020204" pitchFamily="34" charset="0"/>
              </a:rPr>
              <a:t>CNO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altLang="zh-CN" sz="1400" dirty="0">
                <a:solidFill>
                  <a:srgbClr val="339966"/>
                </a:solidFill>
                <a:latin typeface="Cambria Math" panose="02040503050406030204" pitchFamily="18" charset="0"/>
                <a:ea typeface="Cambria Math" panose="02040503050406030204" pitchFamily="18" charset="0"/>
                <a:cs typeface="Arial" panose="020B0604020202020204" pitchFamily="34" charset="0"/>
              </a:rPr>
              <a:t>CHAR(6)</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NOT NULL, </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GRADE</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DEC(4,1) DEFAULT NULL,</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PRIMARY KEY(</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SNO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CNO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定义主键</a:t>
            </a:r>
            <a:endPar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endParaRPr>
          </a:p>
          <a:p>
            <a:pPr marL="609600" indent="-609600">
              <a:lnSpc>
                <a:spcPct val="90000"/>
              </a:lnSpc>
              <a:buNone/>
            </a:pP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         </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FOREIGN KEY(</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SNO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定义外键</a:t>
            </a:r>
            <a:endPar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endParaRPr>
          </a:p>
          <a:p>
            <a:pPr marL="609600" indent="-609600">
              <a:lnSpc>
                <a:spcPct val="90000"/>
              </a:lnSpc>
              <a:buNone/>
            </a:pP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              </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REFERENCES </a:t>
            </a:r>
            <a:r>
              <a:rPr lang="en-US" altLang="zh-CN" sz="1400" i="1" dirty="0">
                <a:solidFill>
                  <a:srgbClr val="990099"/>
                </a:solidFill>
                <a:latin typeface="Cambria Math" panose="02040503050406030204" pitchFamily="18" charset="0"/>
                <a:ea typeface="Cambria Math" panose="02040503050406030204" pitchFamily="18" charset="0"/>
                <a:cs typeface="Arial" panose="020B0604020202020204" pitchFamily="34" charset="0"/>
              </a:rPr>
              <a:t>STUDENT</a:t>
            </a:r>
            <a:endParaRPr lang="en-US" altLang="zh-CN" sz="1400" i="1" dirty="0">
              <a:solidFill>
                <a:srgbClr val="990099"/>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ON DELETE </a:t>
            </a:r>
            <a:r>
              <a:rPr lang="en-US" altLang="zh-CN" sz="1400" dirty="0">
                <a:solidFill>
                  <a:srgbClr val="990099"/>
                </a:solidFill>
                <a:latin typeface="Cambria Math" panose="02040503050406030204" pitchFamily="18" charset="0"/>
                <a:ea typeface="Cambria Math" panose="02040503050406030204" pitchFamily="18" charset="0"/>
                <a:cs typeface="Arial" panose="020B0604020202020204" pitchFamily="34" charset="0"/>
              </a:rPr>
              <a:t>CASCADE</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FOREIGN KEY(</a:t>
            </a:r>
            <a:r>
              <a:rPr lang="en-US" altLang="zh-CN" sz="1400" i="1" dirty="0">
                <a:solidFill>
                  <a:srgbClr val="FF6600"/>
                </a:solidFill>
                <a:latin typeface="Cambria Math" panose="02040503050406030204" pitchFamily="18" charset="0"/>
                <a:ea typeface="Cambria Math" panose="02040503050406030204" pitchFamily="18" charset="0"/>
                <a:cs typeface="Arial" panose="020B0604020202020204" pitchFamily="34" charset="0"/>
              </a:rPr>
              <a:t>CNO</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定义外键</a:t>
            </a:r>
            <a:endPar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endParaRPr>
          </a:p>
          <a:p>
            <a:pPr marL="609600" indent="-609600">
              <a:lnSpc>
                <a:spcPct val="90000"/>
              </a:lnSpc>
              <a:buNone/>
            </a:pPr>
            <a:r>
              <a:rPr lang="zh-CN" altLang="en-US" sz="1400" dirty="0">
                <a:solidFill>
                  <a:srgbClr val="000000"/>
                </a:solidFill>
                <a:latin typeface="Cambria Math" panose="02040503050406030204" pitchFamily="18" charset="0"/>
                <a:ea typeface="黑体" panose="02010609060101010101" pitchFamily="49" charset="-122"/>
                <a:cs typeface="Arial" panose="020B0604020202020204" pitchFamily="34" charset="0"/>
              </a:rPr>
              <a:t>              </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REFERENCES </a:t>
            </a:r>
            <a:r>
              <a:rPr lang="en-US" altLang="zh-CN" sz="1400" i="1" dirty="0">
                <a:solidFill>
                  <a:srgbClr val="339966"/>
                </a:solidFill>
                <a:latin typeface="Cambria Math" panose="02040503050406030204" pitchFamily="18" charset="0"/>
                <a:ea typeface="Cambria Math" panose="02040503050406030204" pitchFamily="18" charset="0"/>
                <a:cs typeface="Arial" panose="020B0604020202020204" pitchFamily="34" charset="0"/>
              </a:rPr>
              <a:t>COURSE</a:t>
            </a:r>
            <a:endParaRPr lang="en-US" altLang="zh-CN" sz="1400" i="1" dirty="0">
              <a:solidFill>
                <a:srgbClr val="339966"/>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ON DELETE </a:t>
            </a:r>
            <a:r>
              <a:rPr lang="en-US" altLang="zh-CN" sz="1400" dirty="0">
                <a:solidFill>
                  <a:srgbClr val="339966"/>
                </a:solidFill>
                <a:latin typeface="Cambria Math" panose="02040503050406030204" pitchFamily="18" charset="0"/>
                <a:ea typeface="Cambria Math" panose="02040503050406030204" pitchFamily="18" charset="0"/>
                <a:cs typeface="Arial" panose="020B0604020202020204" pitchFamily="34" charset="0"/>
              </a:rPr>
              <a:t>RESTRICT</a:t>
            </a: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gn="just">
              <a:lnSpc>
                <a:spcPct val="110000"/>
              </a:lnSpc>
              <a:buClr>
                <a:srgbClr val="FFFF00"/>
              </a:buClr>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CHECK ((GRADE IS NULL) OR (GRADE BETWEEN 0 AND 100))</a:t>
            </a:r>
            <a:endPar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609600" indent="-609600">
              <a:lnSpc>
                <a:spcPct val="90000"/>
              </a:lnSpc>
              <a:buNone/>
            </a:pPr>
            <a:r>
              <a:rPr lang="en-US" altLang="zh-CN" sz="140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endParaRPr lang="zh-CN" altLang="en-US" sz="1400" dirty="0">
              <a:solidFill>
                <a:srgbClr val="000000"/>
              </a:solidFill>
              <a:latin typeface="Cambria Math" panose="02040503050406030204" pitchFamily="18"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7172" y="1219203"/>
            <a:ext cx="11604337" cy="5638797"/>
          </a:xfrm>
        </p:spPr>
        <p:txBody>
          <a:bodyPr>
            <a:normAutofit/>
          </a:bodyPr>
          <a:lstStyle/>
          <a:p>
            <a:r>
              <a:rPr kumimoji="1" lang="zh-CN" altLang="en-US" dirty="0"/>
              <a:t>创建基本表</a:t>
            </a:r>
            <a:endParaRPr lang="en-US" altLang="zh-CN" dirty="0"/>
          </a:p>
          <a:p>
            <a:pPr>
              <a:lnSpc>
                <a:spcPct val="220000"/>
              </a:lnSpc>
              <a:buClr>
                <a:srgbClr val="FFFF00"/>
              </a:buClr>
              <a:buNone/>
            </a:pPr>
            <a:r>
              <a:rPr kumimoji="1" lang="zh-CN" altLang="en-US" sz="2600" b="0" dirty="0"/>
              <a:t>    </a:t>
            </a:r>
            <a:r>
              <a:rPr kumimoji="1" lang="en-US" altLang="zh-CN" sz="2600" b="0" dirty="0"/>
              <a:t>CREATE TABLE &lt;</a:t>
            </a:r>
            <a:r>
              <a:rPr kumimoji="1" lang="zh-CN" altLang="en-US" sz="2600" b="0" dirty="0"/>
              <a:t>表名</a:t>
            </a:r>
            <a:r>
              <a:rPr kumimoji="1" lang="en-US" altLang="zh-CN" sz="2600" b="0" dirty="0"/>
              <a:t>&gt;(&lt;</a:t>
            </a:r>
            <a:r>
              <a:rPr kumimoji="1" lang="zh-CN" altLang="en-US" sz="2600" b="0" dirty="0"/>
              <a:t>列名</a:t>
            </a:r>
            <a:r>
              <a:rPr kumimoji="1" lang="en-US" altLang="zh-CN" sz="2600" b="0" dirty="0"/>
              <a:t>&gt;  &lt;</a:t>
            </a:r>
            <a:r>
              <a:rPr kumimoji="1" lang="zh-CN" altLang="en-US" sz="2600" b="0" dirty="0"/>
              <a:t>数据类型</a:t>
            </a:r>
            <a:r>
              <a:rPr kumimoji="1" lang="en-US" altLang="zh-CN" sz="2600" b="0" dirty="0"/>
              <a:t>&gt; [</a:t>
            </a:r>
            <a:r>
              <a:rPr kumimoji="1" lang="zh-CN" altLang="en-US" sz="2600" b="0" dirty="0"/>
              <a:t>完整性约束条件</a:t>
            </a:r>
            <a:r>
              <a:rPr kumimoji="1" lang="en-US" altLang="zh-CN" sz="2600" b="0" dirty="0"/>
              <a:t>]</a:t>
            </a:r>
            <a:endParaRPr kumimoji="1" lang="en-US" altLang="zh-CN" sz="2600" b="0" dirty="0"/>
          </a:p>
          <a:p>
            <a:pPr>
              <a:lnSpc>
                <a:spcPct val="150000"/>
              </a:lnSpc>
              <a:buClr>
                <a:srgbClr val="FFFF00"/>
              </a:buClr>
              <a:buNone/>
            </a:pPr>
            <a:r>
              <a:rPr kumimoji="1" lang="en-US" altLang="zh-CN" sz="2600" b="0" dirty="0"/>
              <a:t>                  [,&lt;</a:t>
            </a:r>
            <a:r>
              <a:rPr kumimoji="1" lang="zh-CN" altLang="en-US" sz="2600" b="0" dirty="0"/>
              <a:t>列名</a:t>
            </a:r>
            <a:r>
              <a:rPr kumimoji="1" lang="en-US" altLang="zh-CN" sz="2600" b="0" dirty="0"/>
              <a:t>&gt;  &lt;</a:t>
            </a:r>
            <a:r>
              <a:rPr kumimoji="1" lang="zh-CN" altLang="en-US" sz="2600" b="0" dirty="0"/>
              <a:t>数据类型</a:t>
            </a:r>
            <a:r>
              <a:rPr kumimoji="1" lang="en-US" altLang="zh-CN" sz="2600" b="0" dirty="0"/>
              <a:t>&gt; [</a:t>
            </a:r>
            <a:r>
              <a:rPr kumimoji="1" lang="zh-CN" altLang="en-US" sz="2600" b="0" dirty="0"/>
              <a:t>完整性约束条件</a:t>
            </a:r>
            <a:r>
              <a:rPr kumimoji="1" lang="en-US" altLang="zh-CN" sz="2600" b="0" dirty="0"/>
              <a:t>]]</a:t>
            </a:r>
            <a:endParaRPr kumimoji="1" lang="en-US" altLang="zh-CN" sz="2600" b="0" dirty="0"/>
          </a:p>
          <a:p>
            <a:pPr>
              <a:lnSpc>
                <a:spcPct val="150000"/>
              </a:lnSpc>
              <a:buClr>
                <a:srgbClr val="FFFF00"/>
              </a:buClr>
              <a:buNone/>
            </a:pPr>
            <a:r>
              <a:rPr kumimoji="1" lang="en-US" altLang="zh-CN" sz="2600" b="0" dirty="0"/>
              <a:t>                       ……</a:t>
            </a:r>
            <a:endParaRPr kumimoji="1" lang="en-US" altLang="zh-CN" sz="2600" b="0" dirty="0"/>
          </a:p>
          <a:p>
            <a:pPr>
              <a:lnSpc>
                <a:spcPct val="150000"/>
              </a:lnSpc>
              <a:buClr>
                <a:srgbClr val="FFFF00"/>
              </a:buClr>
              <a:buNone/>
            </a:pPr>
            <a:r>
              <a:rPr kumimoji="1" lang="en-US" altLang="zh-CN" sz="2600" b="0" dirty="0"/>
              <a:t>                   [</a:t>
            </a:r>
            <a:r>
              <a:rPr kumimoji="1" lang="zh-CN" altLang="en-US" sz="2600" b="0" dirty="0"/>
              <a:t>表级完整性约束条件</a:t>
            </a:r>
            <a:r>
              <a:rPr kumimoji="1" lang="en-US" altLang="zh-CN" sz="2600" b="0" dirty="0"/>
              <a:t>])</a:t>
            </a:r>
            <a:endParaRPr kumimoji="1" lang="en-US" altLang="zh-CN" sz="2600" b="0" dirty="0"/>
          </a:p>
          <a:p>
            <a:pPr marL="609600" indent="-609600">
              <a:lnSpc>
                <a:spcPct val="90000"/>
              </a:lnSpc>
              <a:buNone/>
            </a:pPr>
            <a:endParaRPr lang="en-US" altLang="zh-CN" sz="36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数据类型</a:t>
            </a:r>
            <a:endParaRPr kumimoji="1" lang="en-US" altLang="zh-CN" dirty="0"/>
          </a:p>
          <a:p>
            <a:pPr lvl="1">
              <a:lnSpc>
                <a:spcPct val="200000"/>
              </a:lnSpc>
            </a:pPr>
            <a:r>
              <a:rPr kumimoji="1" lang="en-GB" altLang="zh-CN" sz="2600" dirty="0"/>
              <a:t>SQL</a:t>
            </a:r>
            <a:r>
              <a:rPr kumimoji="1" lang="zh-CN" altLang="en-US" sz="2600" dirty="0"/>
              <a:t>中域的概念用</a:t>
            </a:r>
            <a:r>
              <a:rPr kumimoji="1" lang="zh-CN" altLang="en-US" sz="2600" dirty="0">
                <a:solidFill>
                  <a:srgbClr val="C00000"/>
                </a:solidFill>
              </a:rPr>
              <a:t>数据类型</a:t>
            </a:r>
            <a:r>
              <a:rPr kumimoji="1" lang="zh-CN" altLang="en-US" sz="2600" dirty="0"/>
              <a:t>来实现</a:t>
            </a:r>
            <a:endParaRPr kumimoji="1" lang="zh-CN" altLang="en-US" sz="2600" dirty="0"/>
          </a:p>
          <a:p>
            <a:pPr lvl="1">
              <a:lnSpc>
                <a:spcPct val="200000"/>
              </a:lnSpc>
            </a:pPr>
            <a:r>
              <a:rPr kumimoji="1" lang="zh-CN" altLang="en-US" sz="2600" dirty="0"/>
              <a:t>定义表的属性时需要指明其数据类型及长度 </a:t>
            </a:r>
            <a:endParaRPr kumimoji="1" lang="zh-CN" altLang="en-US" sz="2600" dirty="0"/>
          </a:p>
          <a:p>
            <a:pPr lvl="1">
              <a:lnSpc>
                <a:spcPct val="200000"/>
              </a:lnSpc>
            </a:pPr>
            <a:r>
              <a:rPr kumimoji="1" lang="zh-CN" altLang="en-US" sz="2600" dirty="0"/>
              <a:t>选用哪种数据类型 </a:t>
            </a:r>
            <a:endParaRPr kumimoji="1" lang="zh-CN" altLang="en-US" sz="2600" dirty="0"/>
          </a:p>
          <a:p>
            <a:pPr lvl="2">
              <a:lnSpc>
                <a:spcPct val="200000"/>
              </a:lnSpc>
            </a:pPr>
            <a:r>
              <a:rPr kumimoji="1" lang="zh-CN" altLang="en-US" sz="2400" dirty="0"/>
              <a:t>取值范围 </a:t>
            </a:r>
            <a:endParaRPr kumimoji="1" lang="zh-CN" altLang="en-US" sz="2400" dirty="0"/>
          </a:p>
          <a:p>
            <a:pPr lvl="2">
              <a:lnSpc>
                <a:spcPct val="200000"/>
              </a:lnSpc>
            </a:pPr>
            <a:r>
              <a:rPr kumimoji="1" lang="zh-CN" altLang="en-US" sz="2400" dirty="0"/>
              <a:t>要做哪些运算 </a:t>
            </a:r>
            <a:endParaRPr kumimoji="1" lang="zh-CN" altLang="en-US" sz="2400" dirty="0"/>
          </a:p>
          <a:p>
            <a:pPr lvl="1">
              <a:lnSpc>
                <a:spcPct val="20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数据类型</a:t>
            </a:r>
            <a:endParaRPr kumimoji="1" lang="en-US" altLang="zh-CN" dirty="0"/>
          </a:p>
          <a:p>
            <a:pPr marL="0" indent="0">
              <a:buNone/>
            </a:pP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graphicFrame>
        <p:nvGraphicFramePr>
          <p:cNvPr id="6" name="Group 409"/>
          <p:cNvGraphicFramePr>
            <a:graphicFrameLocks noGrp="1"/>
          </p:cNvGraphicFramePr>
          <p:nvPr/>
        </p:nvGraphicFramePr>
        <p:xfrm>
          <a:off x="2406071" y="1736749"/>
          <a:ext cx="7416800" cy="5042536"/>
        </p:xfrm>
        <a:graphic>
          <a:graphicData uri="http://schemas.openxmlformats.org/drawingml/2006/table">
            <a:tbl>
              <a:tblPr/>
              <a:tblGrid>
                <a:gridCol w="1208088"/>
                <a:gridCol w="2932112"/>
                <a:gridCol w="3276600"/>
              </a:tblGrid>
              <a:tr h="422275">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数据类型举例</a:t>
                      </a:r>
                      <a:endPar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endPar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0550">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binary</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binary large object(BLOB)</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以</a:t>
                      </a:r>
                      <a:r>
                        <a:rPr kumimoji="0"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16</a:t>
                      </a: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进制格式存储二进制字符串的值。</a:t>
                      </a: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boolean</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boolean</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存储真值 </a:t>
                      </a:r>
                      <a:r>
                        <a:rPr kumimoji="0"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TRUE</a:t>
                      </a: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FALSE</a:t>
                      </a: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或</a:t>
                      </a:r>
                      <a:r>
                        <a:rPr kumimoji="0"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UNKNOWN</a:t>
                      </a:r>
                      <a:endParaRPr kumimoji="0"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71750">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character</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char</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character varying(VARCHAR)</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national character(NCHAR)</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national character varying (NVARCHAR)</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character large object(CLOB)</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national character large object (NCLOB)</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可存储字符集中的任意字符组合。可变长度的数据类型允许字符长度变化，而其它数据类型字符长度是固定的。可变长度数据类型会自动删除后继的空格，定长数据类型会自动添加空格以补齐字符定义长度。</a:t>
                      </a: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2138">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datalink</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datalink</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定义引用文件或其它非</a:t>
                      </a:r>
                      <a:r>
                        <a:rPr kumimoji="0"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SQL</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环境的外部数据源。</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7663">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interval</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interval</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指定一组时间值或者时间片段</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dirty="0"/>
              <a:t>SQL</a:t>
            </a:r>
            <a:r>
              <a:rPr kumimoji="1" lang="zh-CN" altLang="en-US" dirty="0"/>
              <a:t>数据类型</a:t>
            </a:r>
            <a:endParaRPr kumimoji="1" lang="en-US" altLang="zh-CN" dirty="0"/>
          </a:p>
          <a:p>
            <a:pPr marL="0" indent="0">
              <a:buNone/>
            </a:pP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graphicFrame>
        <p:nvGraphicFramePr>
          <p:cNvPr id="7" name="Group 154"/>
          <p:cNvGraphicFramePr/>
          <p:nvPr/>
        </p:nvGraphicFramePr>
        <p:xfrm>
          <a:off x="3300413" y="1238393"/>
          <a:ext cx="7455188" cy="5440364"/>
        </p:xfrm>
        <a:graphic>
          <a:graphicData uri="http://schemas.openxmlformats.org/drawingml/2006/table">
            <a:tbl>
              <a:tblPr/>
              <a:tblGrid>
                <a:gridCol w="1262176"/>
                <a:gridCol w="2899240"/>
                <a:gridCol w="3293772"/>
              </a:tblGrid>
              <a:tr h="406400">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数据类型举例</a:t>
                      </a:r>
                      <a:endPar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endParaRPr kumimoji="0" lang="zh-CN" altLang="en-US" sz="18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30263">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collection</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array</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multiset</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array</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是固定长度且有序的元素集合，</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multiset</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是可变长度，未排序的元素集合。元素必须是预定义数据类型。</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79638">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numeric</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integer(INT)</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smallint</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bigint</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numeric</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decimal(DEC)</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float</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real</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double precision</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2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存储数字的准确值（整数或小数）或近似值（浮点型）。</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400" b="1" i="1"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smallint</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400" b="1" i="1"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bigint</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类型在预定义的精度和范围内存储数字的精确值。</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numeric</a:t>
                      </a:r>
                      <a:r>
                        <a:rPr kumimoji="0"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DEC</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类型在可定义的精度和范围内存储数字的精确值。</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float</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是可定义精度的近似数类型。</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real</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double precision</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是具有预定义精度的近似数类型。</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19225">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temporal</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date</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 with time zone</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timestamp</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timestamp with time zone</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这些数据类型处理关于时间的值。</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date</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分别处理日期和时间。有</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with time zone</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后缀的类型常包括一个时区的偏移。</a:t>
                      </a:r>
                      <a:r>
                        <a:rPr kumimoji="0" lang="en-US" altLang="zh-CN" sz="1400" b="1"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timestamp</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类型存储按照机器当前运行时间计算出来的值。</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4838">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xml</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xml</a:t>
                      </a:r>
                      <a:endParaRPr kumimoji="0" lang="en-US" alt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存储</a:t>
                      </a:r>
                      <a:r>
                        <a:rPr kumimoji="0"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XML</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数据，可使用</a:t>
                      </a:r>
                      <a:r>
                        <a:rPr kumimoji="0"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SQL</a:t>
                      </a:r>
                      <a:r>
                        <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数据类型的地方即可使用该类型。</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dirty="0"/>
              <a:t>创建基本表</a:t>
            </a:r>
            <a:endParaRPr kumimoji="1" lang="en-GB" altLang="zh-CN" sz="2600" dirty="0"/>
          </a:p>
          <a:p>
            <a:pPr lvl="1">
              <a:lnSpc>
                <a:spcPct val="200000"/>
              </a:lnSpc>
            </a:pPr>
            <a:r>
              <a:rPr kumimoji="1" lang="zh-CN" altLang="en-US" dirty="0"/>
              <a:t>列的完整性约束条件：</a:t>
            </a:r>
            <a:endParaRPr kumimoji="1" lang="zh-CN" altLang="en-US" dirty="0"/>
          </a:p>
          <a:p>
            <a:pPr lvl="1">
              <a:lnSpc>
                <a:spcPct val="200000"/>
              </a:lnSpc>
            </a:pPr>
            <a:r>
              <a:rPr kumimoji="1" lang="zh-CN" altLang="en-US" dirty="0"/>
              <a:t>用</a:t>
            </a:r>
            <a:r>
              <a:rPr kumimoji="1" lang="en-GB" altLang="zh-CN" dirty="0"/>
              <a:t>SQL</a:t>
            </a:r>
            <a:r>
              <a:rPr kumimoji="1" lang="zh-CN" altLang="en-US" dirty="0"/>
              <a:t>保留字</a:t>
            </a:r>
            <a:r>
              <a:rPr kumimoji="1" lang="en-GB" altLang="zh-CN" dirty="0">
                <a:solidFill>
                  <a:srgbClr val="C00000"/>
                </a:solidFill>
              </a:rPr>
              <a:t>NULL</a:t>
            </a:r>
            <a:r>
              <a:rPr kumimoji="1" lang="zh-CN" altLang="en-US" dirty="0"/>
              <a:t>或</a:t>
            </a:r>
            <a:r>
              <a:rPr kumimoji="1" lang="en-GB" altLang="zh-CN" dirty="0">
                <a:solidFill>
                  <a:srgbClr val="C00000"/>
                </a:solidFill>
              </a:rPr>
              <a:t>NOT NULL</a:t>
            </a:r>
            <a:r>
              <a:rPr kumimoji="1" lang="zh-CN" altLang="en-US" dirty="0"/>
              <a:t>指定当前列是否可以取空值或不允许取空值</a:t>
            </a:r>
            <a:endParaRPr kumimoji="1" lang="zh-CN" altLang="en-US" dirty="0"/>
          </a:p>
          <a:p>
            <a:pPr lvl="1">
              <a:lnSpc>
                <a:spcPct val="200000"/>
              </a:lnSpc>
            </a:pPr>
            <a:r>
              <a:rPr kumimoji="1" lang="zh-CN" altLang="en-US" dirty="0">
                <a:solidFill>
                  <a:schemeClr val="bg2">
                    <a:lumMod val="90000"/>
                  </a:schemeClr>
                </a:solidFill>
              </a:rPr>
              <a:t>用</a:t>
            </a:r>
            <a:r>
              <a:rPr kumimoji="1" lang="en-GB" altLang="zh-CN" dirty="0">
                <a:solidFill>
                  <a:schemeClr val="bg2">
                    <a:lumMod val="90000"/>
                  </a:schemeClr>
                </a:solidFill>
              </a:rPr>
              <a:t>UNIQUE</a:t>
            </a:r>
            <a:r>
              <a:rPr kumimoji="1" lang="zh-CN" altLang="en-US" dirty="0">
                <a:solidFill>
                  <a:schemeClr val="bg2">
                    <a:lumMod val="90000"/>
                  </a:schemeClr>
                </a:solidFill>
              </a:rPr>
              <a:t>指定当前列取值不可重复</a:t>
            </a:r>
            <a:endParaRPr kumimoji="1" lang="zh-CN" altLang="en-US" dirty="0">
              <a:solidFill>
                <a:schemeClr val="bg2">
                  <a:lumMod val="90000"/>
                </a:schemeClr>
              </a:solidFill>
            </a:endParaRPr>
          </a:p>
          <a:p>
            <a:pPr lvl="1">
              <a:lnSpc>
                <a:spcPct val="200000"/>
              </a:lnSpc>
            </a:pPr>
            <a:r>
              <a:rPr kumimoji="1" lang="zh-CN" altLang="en-US" dirty="0"/>
              <a:t>用</a:t>
            </a:r>
            <a:r>
              <a:rPr kumimoji="1" lang="en-GB" altLang="zh-CN" dirty="0">
                <a:solidFill>
                  <a:srgbClr val="C00000"/>
                </a:solidFill>
              </a:rPr>
              <a:t>DEFAULT</a:t>
            </a:r>
            <a:r>
              <a:rPr kumimoji="1" lang="en-GB" altLang="zh-CN" dirty="0"/>
              <a:t> &lt;</a:t>
            </a:r>
            <a:r>
              <a:rPr kumimoji="1" lang="zh-CN" altLang="en-US" dirty="0"/>
              <a:t>表达式</a:t>
            </a:r>
            <a:r>
              <a:rPr kumimoji="1" lang="en-US" altLang="zh-CN" dirty="0"/>
              <a:t>&gt;</a:t>
            </a:r>
            <a:r>
              <a:rPr kumimoji="1" lang="zh-CN" altLang="en-US" dirty="0"/>
              <a:t>指定该列的缺省值或特别地用</a:t>
            </a:r>
            <a:r>
              <a:rPr kumimoji="1" lang="en-GB" altLang="zh-CN" dirty="0"/>
              <a:t>DEFAULT NULL</a:t>
            </a:r>
            <a:r>
              <a:rPr kumimoji="1" lang="zh-CN" altLang="en-US" dirty="0"/>
              <a:t>指定当前列缺省取空值</a:t>
            </a:r>
            <a:endParaRPr kumimoji="1" lang="zh-CN" altLang="en-US" dirty="0"/>
          </a:p>
          <a:p>
            <a:pPr lvl="1">
              <a:lnSpc>
                <a:spcPct val="200000"/>
              </a:lnSpc>
            </a:pPr>
            <a:r>
              <a:rPr kumimoji="1" lang="en-US" altLang="zh-CN" dirty="0"/>
              <a:t>…</a:t>
            </a:r>
            <a:endParaRPr kumimoji="1" lang="en-US" altLang="zh-CN" dirty="0"/>
          </a:p>
          <a:p>
            <a:pPr lvl="1">
              <a:lnSpc>
                <a:spcPct val="20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dirty="0"/>
              <a:t>创建基本表</a:t>
            </a:r>
            <a:endParaRPr kumimoji="1" lang="en-GB" altLang="zh-CN" sz="2600" dirty="0"/>
          </a:p>
          <a:p>
            <a:pPr lvl="1">
              <a:lnSpc>
                <a:spcPct val="200000"/>
              </a:lnSpc>
            </a:pPr>
            <a:r>
              <a:rPr lang="zh-CN" altLang="en-US" dirty="0">
                <a:cs typeface="Times New Roman" panose="02020603050405020304" pitchFamily="18" charset="0"/>
              </a:rPr>
              <a:t>表级完整性约束的主要语法格式如下</a:t>
            </a:r>
            <a:r>
              <a:rPr kumimoji="1" lang="zh-CN" altLang="en-US" dirty="0"/>
              <a:t>：</a:t>
            </a:r>
            <a:endParaRPr kumimoji="1" lang="zh-CN" altLang="en-US" dirty="0"/>
          </a:p>
          <a:p>
            <a:pPr lvl="1" algn="just">
              <a:lnSpc>
                <a:spcPct val="180000"/>
              </a:lnSpc>
              <a:buClr>
                <a:srgbClr val="FFFF00"/>
              </a:buClr>
              <a:buNone/>
            </a:pPr>
            <a:r>
              <a:rPr lang="en-US" altLang="zh-CN" dirty="0">
                <a:solidFill>
                  <a:srgbClr val="000000"/>
                </a:solidFill>
                <a:latin typeface="Times New Roman" panose="02020603050405020304" pitchFamily="18" charset="0"/>
                <a:cs typeface="Times New Roman" panose="02020603050405020304" pitchFamily="18" charset="0"/>
              </a:rPr>
              <a:t>	PRIMARY KEY ( &lt;</a:t>
            </a:r>
            <a:r>
              <a:rPr lang="zh-CN" altLang="en-US" dirty="0">
                <a:solidFill>
                  <a:srgbClr val="000000"/>
                </a:solidFill>
                <a:latin typeface="Times New Roman" panose="02020603050405020304" pitchFamily="18" charset="0"/>
                <a:cs typeface="Times New Roman" panose="02020603050405020304" pitchFamily="18" charset="0"/>
              </a:rPr>
              <a:t>列名</a:t>
            </a:r>
            <a:r>
              <a:rPr lang="en-US" altLang="zh-CN" dirty="0">
                <a:solidFill>
                  <a:srgbClr val="000000"/>
                </a:solidFill>
                <a:latin typeface="Times New Roman" panose="02020603050405020304" pitchFamily="18" charset="0"/>
                <a:cs typeface="Times New Roman" panose="02020603050405020304" pitchFamily="18" charset="0"/>
              </a:rPr>
              <a:t>&gt; ) ,</a:t>
            </a:r>
            <a:endParaRPr lang="en-US" altLang="zh-CN" dirty="0">
              <a:solidFill>
                <a:srgbClr val="000000"/>
              </a:solidFill>
              <a:latin typeface="Times New Roman" panose="02020603050405020304" pitchFamily="18" charset="0"/>
              <a:cs typeface="Times New Roman" panose="02020603050405020304" pitchFamily="18" charset="0"/>
            </a:endParaRPr>
          </a:p>
          <a:p>
            <a:pPr lvl="1" algn="just">
              <a:lnSpc>
                <a:spcPct val="180000"/>
              </a:lnSpc>
              <a:buClr>
                <a:srgbClr val="FFFF00"/>
              </a:buClr>
              <a:buNone/>
            </a:pPr>
            <a:r>
              <a:rPr lang="en-US" altLang="zh-CN" dirty="0">
                <a:solidFill>
                  <a:srgbClr val="000000"/>
                </a:solidFill>
                <a:latin typeface="Times New Roman" panose="02020603050405020304" pitchFamily="18" charset="0"/>
                <a:cs typeface="Times New Roman" panose="02020603050405020304" pitchFamily="18" charset="0"/>
              </a:rPr>
              <a:t>	FOREIGN KEY    (&lt;</a:t>
            </a:r>
            <a:r>
              <a:rPr lang="zh-CN" altLang="en-US" dirty="0">
                <a:solidFill>
                  <a:srgbClr val="000000"/>
                </a:solidFill>
                <a:latin typeface="Times New Roman" panose="02020603050405020304" pitchFamily="18" charset="0"/>
                <a:cs typeface="Times New Roman" panose="02020603050405020304" pitchFamily="18" charset="0"/>
              </a:rPr>
              <a:t>列名</a:t>
            </a:r>
            <a:r>
              <a:rPr lang="en-US" altLang="zh-CN" dirty="0">
                <a:solidFill>
                  <a:srgbClr val="000000"/>
                </a:solidFill>
                <a:latin typeface="Times New Roman" panose="02020603050405020304" pitchFamily="18" charset="0"/>
                <a:cs typeface="Times New Roman" panose="02020603050405020304" pitchFamily="18" charset="0"/>
              </a:rPr>
              <a:t>&gt;)  REFERENCES &lt;</a:t>
            </a:r>
            <a:r>
              <a:rPr lang="zh-CN" altLang="en-US" dirty="0">
                <a:solidFill>
                  <a:srgbClr val="000000"/>
                </a:solidFill>
                <a:latin typeface="Times New Roman" panose="02020603050405020304" pitchFamily="18" charset="0"/>
                <a:cs typeface="Times New Roman" panose="02020603050405020304" pitchFamily="18" charset="0"/>
              </a:rPr>
              <a:t>表名</a:t>
            </a:r>
            <a:r>
              <a:rPr lang="en-US" altLang="zh-CN" dirty="0">
                <a:solidFill>
                  <a:srgbClr val="000000"/>
                </a:solidFill>
                <a:latin typeface="Times New Roman" panose="02020603050405020304" pitchFamily="18" charset="0"/>
                <a:cs typeface="Times New Roman" panose="02020603050405020304" pitchFamily="18" charset="0"/>
              </a:rPr>
              <a:t>&gt; </a:t>
            </a:r>
            <a:endParaRPr lang="en-US" altLang="zh-CN" dirty="0">
              <a:solidFill>
                <a:srgbClr val="000000"/>
              </a:solidFill>
              <a:latin typeface="Times New Roman" panose="02020603050405020304" pitchFamily="18" charset="0"/>
              <a:cs typeface="Times New Roman" panose="02020603050405020304" pitchFamily="18" charset="0"/>
            </a:endParaRPr>
          </a:p>
          <a:p>
            <a:pPr lvl="1" algn="just">
              <a:lnSpc>
                <a:spcPct val="180000"/>
              </a:lnSpc>
              <a:buClr>
                <a:srgbClr val="FFFF00"/>
              </a:buClr>
              <a:buNone/>
            </a:pPr>
            <a:r>
              <a:rPr lang="en-US" altLang="zh-CN" dirty="0">
                <a:solidFill>
                  <a:srgbClr val="000000"/>
                </a:solidFill>
                <a:latin typeface="Times New Roman" panose="02020603050405020304" pitchFamily="18" charset="0"/>
                <a:cs typeface="Times New Roman" panose="02020603050405020304" pitchFamily="18" charset="0"/>
              </a:rPr>
              <a:t>	ON DELETE {</a:t>
            </a:r>
            <a:r>
              <a:rPr lang="en-US" altLang="zh-CN" u="sng" dirty="0">
                <a:solidFill>
                  <a:srgbClr val="000000"/>
                </a:solidFill>
                <a:latin typeface="Times New Roman" panose="02020603050405020304" pitchFamily="18" charset="0"/>
                <a:cs typeface="Times New Roman" panose="02020603050405020304" pitchFamily="18" charset="0"/>
              </a:rPr>
              <a:t>RESTRICT</a:t>
            </a:r>
            <a:r>
              <a:rPr lang="en-US" altLang="zh-CN" dirty="0">
                <a:solidFill>
                  <a:srgbClr val="000000"/>
                </a:solidFill>
                <a:latin typeface="Times New Roman" panose="02020603050405020304" pitchFamily="18" charset="0"/>
                <a:cs typeface="Times New Roman" panose="02020603050405020304" pitchFamily="18" charset="0"/>
              </a:rPr>
              <a:t> | CASCADE | SET NULL},</a:t>
            </a:r>
            <a:endParaRPr lang="en-US" altLang="zh-CN" dirty="0">
              <a:solidFill>
                <a:srgbClr val="000000"/>
              </a:solidFill>
              <a:latin typeface="Times New Roman" panose="02020603050405020304" pitchFamily="18" charset="0"/>
              <a:cs typeface="Times New Roman" panose="02020603050405020304" pitchFamily="18" charset="0"/>
            </a:endParaRPr>
          </a:p>
          <a:p>
            <a:pPr lvl="1" algn="just">
              <a:lnSpc>
                <a:spcPct val="180000"/>
              </a:lnSpc>
              <a:buClr>
                <a:srgbClr val="FFFF00"/>
              </a:buClr>
              <a:buNone/>
            </a:pPr>
            <a:r>
              <a:rPr lang="en-US" altLang="zh-CN" dirty="0">
                <a:solidFill>
                  <a:srgbClr val="000000"/>
                </a:solidFill>
                <a:latin typeface="Times New Roman" panose="02020603050405020304" pitchFamily="18" charset="0"/>
                <a:cs typeface="Times New Roman" panose="02020603050405020304" pitchFamily="18" charset="0"/>
              </a:rPr>
              <a:t>	CHECK      &lt;</a:t>
            </a:r>
            <a:r>
              <a:rPr lang="zh-CN" altLang="en-US" dirty="0">
                <a:solidFill>
                  <a:srgbClr val="000000"/>
                </a:solidFill>
                <a:latin typeface="Times New Roman" panose="02020603050405020304" pitchFamily="18" charset="0"/>
                <a:cs typeface="Times New Roman" panose="02020603050405020304" pitchFamily="18" charset="0"/>
              </a:rPr>
              <a:t>逻辑条件表达式</a:t>
            </a:r>
            <a:r>
              <a:rPr lang="en-US" altLang="zh-CN" dirty="0">
                <a:solidFill>
                  <a:srgbClr val="000000"/>
                </a:solidFill>
                <a:latin typeface="Times New Roman" panose="02020603050405020304" pitchFamily="18" charset="0"/>
                <a:cs typeface="Times New Roman" panose="02020603050405020304" pitchFamily="18" charset="0"/>
              </a:rPr>
              <a:t>&gt;</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lnSpcReduction="10000"/>
          </a:bodyPr>
          <a:lstStyle/>
          <a:p>
            <a:r>
              <a:rPr kumimoji="1" lang="zh-CN" altLang="en-US" dirty="0"/>
              <a:t>修改基本表</a:t>
            </a:r>
            <a:endParaRPr kumimoji="1" lang="en-GB" altLang="zh-CN" sz="2600" dirty="0"/>
          </a:p>
          <a:p>
            <a:pPr lvl="1">
              <a:lnSpc>
                <a:spcPct val="170000"/>
              </a:lnSpc>
            </a:pPr>
            <a:r>
              <a:rPr kumimoji="1" lang="zh-CN" altLang="en-US" dirty="0">
                <a:cs typeface="Times New Roman" panose="02020603050405020304" pitchFamily="18" charset="0"/>
              </a:rPr>
              <a:t>一般格式</a:t>
            </a:r>
            <a:r>
              <a:rPr kumimoji="1" lang="zh-CN" altLang="en-US" dirty="0"/>
              <a:t>：</a:t>
            </a:r>
            <a:endParaRPr kumimoji="1" lang="en-US" altLang="zh-CN" dirty="0"/>
          </a:p>
          <a:p>
            <a:pPr marL="457200" lvl="1" indent="0">
              <a:lnSpc>
                <a:spcPct val="170000"/>
              </a:lnSpc>
              <a:buNone/>
            </a:pPr>
            <a:r>
              <a:rPr kumimoji="1" lang="en-US" altLang="zh-CN" dirty="0">
                <a:latin typeface="Times New Roman" panose="02020603050405020304" pitchFamily="18" charset="0"/>
                <a:cs typeface="Times New Roman" panose="02020603050405020304" pitchFamily="18" charset="0"/>
              </a:rPr>
              <a:t>ALTER TABLE &lt;</a:t>
            </a:r>
            <a:r>
              <a:rPr kumimoji="1" lang="zh-CN" altLang="en-US" dirty="0">
                <a:latin typeface="Times New Roman" panose="02020603050405020304" pitchFamily="18" charset="0"/>
                <a:cs typeface="Times New Roman" panose="02020603050405020304" pitchFamily="18" charset="0"/>
              </a:rPr>
              <a:t>表名</a:t>
            </a:r>
            <a:r>
              <a:rPr kumimoji="1" lang="en-US" altLang="zh-CN" dirty="0">
                <a:latin typeface="Times New Roman" panose="02020603050405020304" pitchFamily="18" charset="0"/>
                <a:cs typeface="Times New Roman" panose="02020603050405020304" pitchFamily="18" charset="0"/>
              </a:rPr>
              <a:t>&gt;</a:t>
            </a:r>
            <a:endParaRPr kumimoji="1" lang="en-US" altLang="zh-CN" dirty="0">
              <a:latin typeface="Times New Roman" panose="02020603050405020304" pitchFamily="18" charset="0"/>
              <a:cs typeface="Times New Roman" panose="02020603050405020304" pitchFamily="18" charset="0"/>
            </a:endParaRPr>
          </a:p>
          <a:p>
            <a:pPr marL="457200" lvl="1" indent="0">
              <a:lnSpc>
                <a:spcPct val="170000"/>
              </a:lnSpc>
              <a:buNone/>
            </a:pPr>
            <a:r>
              <a:rPr kumimoji="1" lang="en-US" altLang="zh-CN" dirty="0">
                <a:latin typeface="Times New Roman" panose="02020603050405020304" pitchFamily="18" charset="0"/>
                <a:cs typeface="Times New Roman" panose="02020603050405020304" pitchFamily="18" charset="0"/>
              </a:rPr>
              <a:t>          ADD  &lt;</a:t>
            </a:r>
            <a:r>
              <a:rPr kumimoji="1" lang="zh-CN" altLang="en-US" dirty="0">
                <a:latin typeface="Times New Roman" panose="02020603050405020304" pitchFamily="18" charset="0"/>
                <a:cs typeface="Times New Roman" panose="02020603050405020304" pitchFamily="18" charset="0"/>
              </a:rPr>
              <a:t>新列名</a:t>
            </a:r>
            <a:r>
              <a:rPr kumimoji="1" lang="en-US" altLang="zh-CN" dirty="0">
                <a:latin typeface="Times New Roman" panose="02020603050405020304" pitchFamily="18" charset="0"/>
                <a:cs typeface="Times New Roman" panose="02020603050405020304" pitchFamily="18" charset="0"/>
              </a:rPr>
              <a:t>&gt; &lt;</a:t>
            </a:r>
            <a:r>
              <a:rPr kumimoji="1" lang="zh-CN" altLang="en-US" dirty="0">
                <a:latin typeface="Times New Roman" panose="02020603050405020304" pitchFamily="18" charset="0"/>
                <a:cs typeface="Times New Roman" panose="02020603050405020304" pitchFamily="18" charset="0"/>
              </a:rPr>
              <a:t>数据类型</a:t>
            </a:r>
            <a:r>
              <a:rPr kumimoji="1" lang="en-US" altLang="zh-CN" dirty="0">
                <a:latin typeface="Times New Roman" panose="02020603050405020304" pitchFamily="18" charset="0"/>
                <a:cs typeface="Times New Roman" panose="02020603050405020304" pitchFamily="18" charset="0"/>
              </a:rPr>
              <a:t>&gt; [</a:t>
            </a:r>
            <a:r>
              <a:rPr kumimoji="1" lang="zh-CN" altLang="en-US" dirty="0">
                <a:latin typeface="Times New Roman" panose="02020603050405020304" pitchFamily="18" charset="0"/>
                <a:cs typeface="Times New Roman" panose="02020603050405020304" pitchFamily="18" charset="0"/>
              </a:rPr>
              <a:t>完整性约束</a:t>
            </a:r>
            <a:r>
              <a:rPr kumimoji="1" lang="en-US" altLang="zh-CN" dirty="0">
                <a:latin typeface="Times New Roman" panose="02020603050405020304" pitchFamily="18" charset="0"/>
                <a:cs typeface="Times New Roman" panose="02020603050405020304" pitchFamily="18" charset="0"/>
              </a:rPr>
              <a:t>]</a:t>
            </a:r>
            <a:endParaRPr kumimoji="1" lang="en-US" altLang="zh-CN" dirty="0">
              <a:latin typeface="Times New Roman" panose="02020603050405020304" pitchFamily="18" charset="0"/>
              <a:cs typeface="Times New Roman" panose="02020603050405020304" pitchFamily="18" charset="0"/>
            </a:endParaRPr>
          </a:p>
          <a:p>
            <a:pPr marL="457200" lvl="1" indent="0">
              <a:lnSpc>
                <a:spcPct val="170000"/>
              </a:lnSpc>
              <a:buNone/>
            </a:pPr>
            <a:r>
              <a:rPr kumimoji="1" lang="en-US" altLang="zh-CN" dirty="0">
                <a:latin typeface="Times New Roman" panose="02020603050405020304" pitchFamily="18" charset="0"/>
                <a:cs typeface="Times New Roman" panose="02020603050405020304" pitchFamily="18" charset="0"/>
              </a:rPr>
              <a:t>          DROP &lt;</a:t>
            </a:r>
            <a:r>
              <a:rPr kumimoji="1" lang="zh-CN" altLang="en-US" dirty="0">
                <a:latin typeface="Times New Roman" panose="02020603050405020304" pitchFamily="18" charset="0"/>
                <a:cs typeface="Times New Roman" panose="02020603050405020304" pitchFamily="18" charset="0"/>
              </a:rPr>
              <a:t>完整性约束名</a:t>
            </a:r>
            <a:r>
              <a:rPr kumimoji="1" lang="en-US" altLang="zh-CN" dirty="0">
                <a:latin typeface="Times New Roman" panose="02020603050405020304" pitchFamily="18" charset="0"/>
                <a:cs typeface="Times New Roman" panose="02020603050405020304" pitchFamily="18" charset="0"/>
              </a:rPr>
              <a:t>&gt;</a:t>
            </a:r>
            <a:endParaRPr kumimoji="1" lang="en-US" altLang="zh-CN" dirty="0">
              <a:latin typeface="Times New Roman" panose="02020603050405020304" pitchFamily="18" charset="0"/>
              <a:cs typeface="Times New Roman" panose="02020603050405020304" pitchFamily="18" charset="0"/>
            </a:endParaRPr>
          </a:p>
          <a:p>
            <a:pPr marL="457200" lvl="1" indent="0">
              <a:lnSpc>
                <a:spcPct val="170000"/>
              </a:lnSpc>
              <a:buNone/>
            </a:pPr>
            <a:r>
              <a:rPr kumimoji="1" lang="en-US" altLang="zh-CN" dirty="0">
                <a:latin typeface="Times New Roman" panose="02020603050405020304" pitchFamily="18" charset="0"/>
                <a:cs typeface="Times New Roman" panose="02020603050405020304" pitchFamily="18" charset="0"/>
              </a:rPr>
              <a:t>          DROP [COLUMN] &lt;</a:t>
            </a:r>
            <a:r>
              <a:rPr kumimoji="1" lang="zh-CN" altLang="en-US" dirty="0">
                <a:latin typeface="Times New Roman" panose="02020603050405020304" pitchFamily="18" charset="0"/>
                <a:cs typeface="Times New Roman" panose="02020603050405020304" pitchFamily="18" charset="0"/>
              </a:rPr>
              <a:t>列名</a:t>
            </a:r>
            <a:r>
              <a:rPr kumimoji="1" lang="en-US" altLang="zh-CN" dirty="0">
                <a:latin typeface="Times New Roman" panose="02020603050405020304" pitchFamily="18" charset="0"/>
                <a:cs typeface="Times New Roman" panose="02020603050405020304" pitchFamily="18" charset="0"/>
              </a:rPr>
              <a:t>&gt; [RESTRICT | CASCADE]</a:t>
            </a:r>
            <a:endParaRPr kumimoji="1" lang="en-US" altLang="zh-CN" dirty="0">
              <a:latin typeface="Times New Roman" panose="02020603050405020304" pitchFamily="18" charset="0"/>
              <a:cs typeface="Times New Roman" panose="02020603050405020304" pitchFamily="18" charset="0"/>
            </a:endParaRPr>
          </a:p>
          <a:p>
            <a:pPr marL="457200" lvl="1" indent="0">
              <a:lnSpc>
                <a:spcPct val="170000"/>
              </a:lnSpc>
              <a:buNone/>
            </a:pPr>
            <a:r>
              <a:rPr kumimoji="1" lang="en-US" altLang="zh-CN" dirty="0">
                <a:latin typeface="Times New Roman" panose="02020603050405020304" pitchFamily="18" charset="0"/>
                <a:cs typeface="Times New Roman" panose="02020603050405020304" pitchFamily="18" charset="0"/>
              </a:rPr>
              <a:t>          MODIFY&lt;</a:t>
            </a:r>
            <a:r>
              <a:rPr kumimoji="1" lang="zh-CN" altLang="en-US" dirty="0">
                <a:latin typeface="Times New Roman" panose="02020603050405020304" pitchFamily="18" charset="0"/>
                <a:cs typeface="Times New Roman" panose="02020603050405020304" pitchFamily="18" charset="0"/>
              </a:rPr>
              <a:t>列名</a:t>
            </a:r>
            <a:r>
              <a:rPr kumimoji="1" lang="en-US" altLang="zh-CN" dirty="0">
                <a:latin typeface="Times New Roman" panose="02020603050405020304" pitchFamily="18" charset="0"/>
                <a:cs typeface="Times New Roman" panose="02020603050405020304" pitchFamily="18" charset="0"/>
              </a:rPr>
              <a:t>&gt; &lt;</a:t>
            </a:r>
            <a:r>
              <a:rPr kumimoji="1" lang="zh-CN" altLang="en-US" dirty="0">
                <a:latin typeface="Times New Roman" panose="02020603050405020304" pitchFamily="18" charset="0"/>
                <a:cs typeface="Times New Roman" panose="02020603050405020304" pitchFamily="18" charset="0"/>
              </a:rPr>
              <a:t>数据类型</a:t>
            </a:r>
            <a:r>
              <a:rPr kumimoji="1" lang="en-US" altLang="zh-CN" dirty="0">
                <a:latin typeface="Times New Roman" panose="02020603050405020304" pitchFamily="18" charset="0"/>
                <a:cs typeface="Times New Roman" panose="02020603050405020304" pitchFamily="18" charset="0"/>
              </a:rPr>
              <a:t>&gt; </a:t>
            </a:r>
            <a:r>
              <a:rPr kumimoji="1" lang="zh-CN" altLang="en-US" dirty="0">
                <a:latin typeface="Times New Roman" panose="02020603050405020304" pitchFamily="18" charset="0"/>
                <a:cs typeface="Times New Roman" panose="02020603050405020304" pitchFamily="18" charset="0"/>
              </a:rPr>
              <a:t>　</a:t>
            </a:r>
            <a:endParaRPr kumimoji="1" lang="en-US" altLang="zh-CN" dirty="0">
              <a:latin typeface="Times New Roman" panose="02020603050405020304" pitchFamily="18" charset="0"/>
              <a:cs typeface="Times New Roman" panose="02020603050405020304" pitchFamily="18" charset="0"/>
            </a:endParaRPr>
          </a:p>
          <a:p>
            <a:pPr lvl="1">
              <a:lnSpc>
                <a:spcPct val="170000"/>
              </a:lnSpc>
            </a:pPr>
            <a:r>
              <a:rPr kumimoji="1" lang="zh-CN" altLang="en-US" dirty="0"/>
              <a:t>其中</a:t>
            </a:r>
            <a:r>
              <a:rPr kumimoji="1" lang="en-US" altLang="zh-CN" dirty="0"/>
              <a:t>&lt;</a:t>
            </a:r>
            <a:r>
              <a:rPr kumimoji="1" lang="zh-CN" altLang="en-US" dirty="0"/>
              <a:t>表名</a:t>
            </a:r>
            <a:r>
              <a:rPr kumimoji="1" lang="en-US" altLang="zh-CN" dirty="0"/>
              <a:t>&gt;</a:t>
            </a:r>
            <a:r>
              <a:rPr kumimoji="1" lang="zh-CN" altLang="en-US" dirty="0"/>
              <a:t>指定需要修改的基本表，</a:t>
            </a:r>
            <a:r>
              <a:rPr kumimoji="1" lang="en-GB" altLang="zh-CN" dirty="0"/>
              <a:t>ADD</a:t>
            </a:r>
            <a:r>
              <a:rPr kumimoji="1" lang="zh-CN" altLang="en-US" dirty="0"/>
              <a:t>子句用于增加新列和新的完整性约束条件，</a:t>
            </a:r>
            <a:r>
              <a:rPr kumimoji="1" lang="en-GB" altLang="zh-CN" dirty="0"/>
              <a:t>DROP</a:t>
            </a:r>
            <a:r>
              <a:rPr kumimoji="1" lang="zh-CN" altLang="en-US" dirty="0"/>
              <a:t>子句用于删除指定的完整性约束条件或列，</a:t>
            </a:r>
            <a:r>
              <a:rPr kumimoji="1" lang="en-GB" altLang="zh-CN" dirty="0"/>
              <a:t>MODIFY</a:t>
            </a:r>
            <a:r>
              <a:rPr kumimoji="1" lang="zh-CN" altLang="en-US" dirty="0"/>
              <a:t>子句用于修改原有的列定义</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lnSpcReduction="20000"/>
          </a:bodyPr>
          <a:lstStyle/>
          <a:p>
            <a:r>
              <a:rPr kumimoji="1" lang="zh-CN" altLang="en-US" dirty="0"/>
              <a:t>修改基本表</a:t>
            </a:r>
            <a:endParaRPr kumimoji="1" lang="en-GB" altLang="zh-CN" sz="2600" dirty="0"/>
          </a:p>
          <a:p>
            <a:pPr lvl="1">
              <a:lnSpc>
                <a:spcPct val="170000"/>
              </a:lnSpc>
            </a:pPr>
            <a:r>
              <a:rPr kumimoji="1" lang="zh-CN" altLang="en-US" i="1" dirty="0"/>
              <a:t>例</a:t>
            </a:r>
            <a:r>
              <a:rPr kumimoji="1" lang="en-US" altLang="zh-CN" i="1" dirty="0"/>
              <a:t>3-2</a:t>
            </a:r>
            <a:r>
              <a:rPr kumimoji="1" lang="zh-CN" altLang="en-US" i="1" dirty="0"/>
              <a:t>：向</a:t>
            </a:r>
            <a:r>
              <a:rPr kumimoji="1" lang="en-GB" altLang="zh-CN" i="1" dirty="0"/>
              <a:t>STUDENT</a:t>
            </a:r>
            <a:r>
              <a:rPr kumimoji="1" lang="zh-CN" altLang="en-US" i="1" dirty="0"/>
              <a:t>表增加“入学时间” </a:t>
            </a:r>
            <a:r>
              <a:rPr kumimoji="1" lang="en-US" altLang="zh-CN" i="1" dirty="0"/>
              <a:t>(</a:t>
            </a:r>
            <a:r>
              <a:rPr kumimoji="1" lang="en-GB" altLang="zh-CN" i="1" dirty="0"/>
              <a:t>SCOME)</a:t>
            </a:r>
            <a:r>
              <a:rPr kumimoji="1" lang="zh-CN" altLang="en-US" i="1" dirty="0"/>
              <a:t>列，其数据类型为日期型</a:t>
            </a:r>
            <a:endParaRPr kumimoji="1" lang="zh-CN" altLang="en-US" i="1" dirty="0"/>
          </a:p>
          <a:p>
            <a:pPr marL="457200" lvl="1" indent="0">
              <a:lnSpc>
                <a:spcPct val="170000"/>
              </a:lnSpc>
              <a:buNone/>
            </a:pPr>
            <a:r>
              <a:rPr kumimoji="1" lang="zh-CN" altLang="en-US" dirty="0"/>
              <a:t>    </a:t>
            </a:r>
            <a:endParaRPr kumimoji="1" lang="en-GB" altLang="zh-CN" dirty="0"/>
          </a:p>
          <a:p>
            <a:pPr lvl="1">
              <a:lnSpc>
                <a:spcPct val="170000"/>
              </a:lnSpc>
            </a:pPr>
            <a:r>
              <a:rPr kumimoji="1" lang="zh-CN" altLang="en-US" i="1" dirty="0"/>
              <a:t>例</a:t>
            </a:r>
            <a:r>
              <a:rPr kumimoji="1" lang="en-US" altLang="zh-CN" i="1" dirty="0"/>
              <a:t>3-3: </a:t>
            </a:r>
            <a:r>
              <a:rPr kumimoji="1" lang="zh-CN" altLang="en-US" i="1" dirty="0"/>
              <a:t>将学生姓名</a:t>
            </a:r>
            <a:r>
              <a:rPr kumimoji="1" lang="en-GB" altLang="zh-CN" i="1" dirty="0"/>
              <a:t>SNAME</a:t>
            </a:r>
            <a:r>
              <a:rPr kumimoji="1" lang="zh-CN" altLang="en-US" i="1" dirty="0"/>
              <a:t>的长度增加到</a:t>
            </a:r>
            <a:r>
              <a:rPr kumimoji="1" lang="en-US" altLang="zh-CN" i="1" dirty="0"/>
              <a:t>30</a:t>
            </a:r>
            <a:endParaRPr kumimoji="1" lang="en-US" altLang="zh-CN" i="1" dirty="0"/>
          </a:p>
          <a:p>
            <a:pPr marL="457200" lvl="1" indent="0">
              <a:lnSpc>
                <a:spcPct val="170000"/>
              </a:lnSpc>
              <a:buNone/>
            </a:pPr>
            <a:r>
              <a:rPr kumimoji="1" lang="zh-CN" altLang="en-US" dirty="0"/>
              <a:t>     </a:t>
            </a:r>
            <a:endParaRPr kumimoji="1" lang="en-GB" altLang="zh-CN" dirty="0"/>
          </a:p>
          <a:p>
            <a:pPr marL="457200" lvl="1" indent="0">
              <a:lnSpc>
                <a:spcPct val="170000"/>
              </a:lnSpc>
              <a:buNone/>
            </a:pPr>
            <a:r>
              <a:rPr kumimoji="1" lang="zh-CN" altLang="en-US" dirty="0"/>
              <a:t>     </a:t>
            </a:r>
            <a:endParaRPr kumimoji="1" lang="en-GB" altLang="zh-CN" dirty="0"/>
          </a:p>
          <a:p>
            <a:pPr lvl="2">
              <a:lnSpc>
                <a:spcPct val="170000"/>
              </a:lnSpc>
            </a:pPr>
            <a:r>
              <a:rPr kumimoji="1" lang="zh-CN" altLang="en-US" sz="2400" dirty="0">
                <a:solidFill>
                  <a:srgbClr val="C00000"/>
                </a:solidFill>
              </a:rPr>
              <a:t>修改原有的列定义有可能会破坏已有数据</a:t>
            </a:r>
            <a:r>
              <a:rPr kumimoji="1" lang="en-US" altLang="zh-CN" sz="2400" dirty="0">
                <a:solidFill>
                  <a:srgbClr val="C00000"/>
                </a:solidFill>
              </a:rPr>
              <a:t>! </a:t>
            </a:r>
            <a:endParaRPr kumimoji="1" lang="en-US" altLang="zh-CN" sz="2400" dirty="0">
              <a:solidFill>
                <a:srgbClr val="C00000"/>
              </a:solidFill>
            </a:endParaRPr>
          </a:p>
          <a:p>
            <a:pPr lvl="1">
              <a:lnSpc>
                <a:spcPct val="170000"/>
              </a:lnSpc>
            </a:pPr>
            <a:r>
              <a:rPr kumimoji="1" lang="zh-CN" altLang="en-US" i="1" dirty="0"/>
              <a:t>例</a:t>
            </a:r>
            <a:r>
              <a:rPr kumimoji="1" lang="en-US" altLang="zh-CN" i="1" dirty="0"/>
              <a:t>3-4</a:t>
            </a:r>
            <a:r>
              <a:rPr kumimoji="1" lang="zh-CN" altLang="en-US" i="1" dirty="0"/>
              <a:t>：删除关于学号为主键的约束</a:t>
            </a:r>
            <a:endParaRPr kumimoji="1" lang="zh-CN" altLang="en-US" i="1" dirty="0"/>
          </a:p>
          <a:p>
            <a:pPr marL="457200" lvl="1" indent="0">
              <a:lnSpc>
                <a:spcPct val="170000"/>
              </a:lnSpc>
              <a:buNone/>
            </a:pPr>
            <a:r>
              <a:rPr kumimoji="1" lang="zh-CN" altLang="en-US" dirty="0"/>
              <a:t>    </a:t>
            </a:r>
            <a:endParaRPr kumimoji="1" lang="en-GB" altLang="zh-CN" dirty="0"/>
          </a:p>
          <a:p>
            <a:pPr lvl="1">
              <a:lnSpc>
                <a:spcPct val="20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1233393" y="2288301"/>
            <a:ext cx="7446373" cy="41092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rPr>
              <a:t>ALTER TABLE STUDENT ADD SCOME DATE </a:t>
            </a:r>
            <a:r>
              <a:rPr kumimoji="1" lang="en-GB" altLang="zh-CN" sz="2000" dirty="0">
                <a:solidFill>
                  <a:srgbClr val="C00000"/>
                </a:solidFill>
                <a:latin typeface="Cambria Math" panose="02040503050406030204" pitchFamily="18" charset="0"/>
                <a:ea typeface="Cambria Math" panose="02040503050406030204" pitchFamily="18" charset="0"/>
              </a:rPr>
              <a:t>DEFAULT NULL</a:t>
            </a:r>
            <a:r>
              <a:rPr kumimoji="1" lang="en-GB" altLang="zh-CN" sz="2000" dirty="0">
                <a:latin typeface="Cambria Math" panose="02040503050406030204" pitchFamily="18" charset="0"/>
                <a:ea typeface="Cambria Math" panose="02040503050406030204" pitchFamily="18" charset="0"/>
              </a:rPr>
              <a:t>;</a:t>
            </a:r>
            <a:endParaRPr lang="zh-CN" altLang="en-US" sz="2000" dirty="0">
              <a:solidFill>
                <a:srgbClr val="000000"/>
              </a:solidFill>
              <a:latin typeface="Cambria Math" panose="02040503050406030204" pitchFamily="18" charset="0"/>
              <a:cs typeface="Calibri" panose="020F0502020204030204" pitchFamily="34" charset="0"/>
            </a:endParaRPr>
          </a:p>
        </p:txBody>
      </p:sp>
      <p:sp>
        <p:nvSpPr>
          <p:cNvPr id="7" name="文本框 6"/>
          <p:cNvSpPr txBox="1"/>
          <p:nvPr/>
        </p:nvSpPr>
        <p:spPr bwMode="auto">
          <a:xfrm>
            <a:off x="1233392" y="3582015"/>
            <a:ext cx="7446373" cy="80077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rPr>
              <a:t>ALTER TABLE STUDENT</a:t>
            </a:r>
            <a:endParaRPr kumimoji="1" lang="en-GB" altLang="zh-CN" sz="2000" dirty="0">
              <a:latin typeface="Cambria Math" panose="02040503050406030204" pitchFamily="18" charset="0"/>
              <a:ea typeface="Cambria Math" panose="02040503050406030204" pitchFamily="18" charset="0"/>
            </a:endParaRPr>
          </a:p>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rPr>
              <a:t>MODIFY SNAME VARCHAR(30);</a:t>
            </a:r>
            <a:endParaRPr lang="zh-CN" altLang="en-US" sz="2000" dirty="0">
              <a:solidFill>
                <a:srgbClr val="000000"/>
              </a:solidFill>
              <a:latin typeface="Cambria Math" panose="02040503050406030204" pitchFamily="18" charset="0"/>
              <a:cs typeface="Calibri" panose="020F0502020204030204" pitchFamily="34" charset="0"/>
            </a:endParaRPr>
          </a:p>
        </p:txBody>
      </p:sp>
      <p:sp>
        <p:nvSpPr>
          <p:cNvPr id="8" name="文本框 7"/>
          <p:cNvSpPr txBox="1"/>
          <p:nvPr/>
        </p:nvSpPr>
        <p:spPr bwMode="auto">
          <a:xfrm>
            <a:off x="1233392" y="5707730"/>
            <a:ext cx="7446373" cy="41092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rPr>
              <a:t>ALTER TABLE STUDENT  DROP CONSTRAINT </a:t>
            </a:r>
            <a:r>
              <a:rPr kumimoji="1" lang="en-GB" altLang="zh-CN" sz="2000" dirty="0" err="1">
                <a:latin typeface="Cambria Math" panose="02040503050406030204" pitchFamily="18" charset="0"/>
                <a:ea typeface="Cambria Math" panose="02040503050406030204" pitchFamily="18" charset="0"/>
              </a:rPr>
              <a:t>student_pkey</a:t>
            </a:r>
            <a:r>
              <a:rPr kumimoji="1" lang="en-GB" altLang="zh-CN" sz="2000" dirty="0">
                <a:latin typeface="Cambria Math" panose="02040503050406030204" pitchFamily="18" charset="0"/>
                <a:ea typeface="Cambria Math" panose="02040503050406030204" pitchFamily="18" charset="0"/>
              </a:rPr>
              <a:t>;</a:t>
            </a:r>
            <a:endParaRPr lang="zh-CN" altLang="en-US" sz="2000" dirty="0">
              <a:solidFill>
                <a:srgbClr val="000000"/>
              </a:solidFill>
              <a:latin typeface="Cambria Math" panose="02040503050406030204" pitchFamily="18"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dirty="0"/>
              <a:t>删除基本表</a:t>
            </a:r>
            <a:endParaRPr kumimoji="1" lang="en-US" altLang="zh-CN" dirty="0"/>
          </a:p>
          <a:p>
            <a:pPr lvl="1" algn="l">
              <a:lnSpc>
                <a:spcPct val="150000"/>
              </a:lnSpc>
            </a:pPr>
            <a:r>
              <a:rPr kumimoji="1" lang="zh-CN" altLang="en-US" sz="2600" dirty="0"/>
              <a:t>一般格式：</a:t>
            </a:r>
            <a:br>
              <a:rPr kumimoji="1" lang="zh-CN" altLang="en-US" sz="2600" dirty="0"/>
            </a:br>
            <a:r>
              <a:rPr kumimoji="1" lang="zh-CN" altLang="en-US" sz="2600" dirty="0"/>
              <a:t>    </a:t>
            </a:r>
            <a:r>
              <a:rPr kumimoji="1" lang="en-GB" altLang="zh-CN" sz="2600" dirty="0"/>
              <a:t>DROP TABLE  &lt;</a:t>
            </a:r>
            <a:r>
              <a:rPr kumimoji="1" lang="zh-CN" altLang="en-US" sz="2600" dirty="0"/>
              <a:t>表名</a:t>
            </a:r>
            <a:r>
              <a:rPr kumimoji="1" lang="en-US" altLang="zh-CN" sz="2600" dirty="0"/>
              <a:t>&gt; </a:t>
            </a:r>
            <a:endParaRPr kumimoji="1" lang="en-US" altLang="zh-CN" sz="2600" dirty="0"/>
          </a:p>
          <a:p>
            <a:pPr marL="457200" lvl="1" indent="0">
              <a:lnSpc>
                <a:spcPct val="150000"/>
              </a:lnSpc>
              <a:buNone/>
            </a:pPr>
            <a:endParaRPr kumimoji="1" lang="en-US" altLang="zh-CN" sz="1200" dirty="0"/>
          </a:p>
          <a:p>
            <a:pPr lvl="1">
              <a:lnSpc>
                <a:spcPct val="150000"/>
              </a:lnSpc>
            </a:pPr>
            <a:r>
              <a:rPr kumimoji="1" lang="zh-CN" altLang="en-US" sz="2600" i="1" dirty="0"/>
              <a:t>例</a:t>
            </a:r>
            <a:r>
              <a:rPr kumimoji="1" lang="en-US" altLang="zh-CN" sz="2600" i="1" dirty="0"/>
              <a:t>3-5</a:t>
            </a:r>
            <a:r>
              <a:rPr kumimoji="1" lang="zh-CN" altLang="en-US" sz="2600" i="1" dirty="0"/>
              <a:t>： 删除</a:t>
            </a:r>
            <a:r>
              <a:rPr kumimoji="1" lang="en-GB" altLang="zh-CN" sz="2600" i="1" dirty="0"/>
              <a:t>STUDENT</a:t>
            </a:r>
            <a:r>
              <a:rPr kumimoji="1" lang="zh-CN" altLang="en-US" sz="2600" i="1" dirty="0"/>
              <a:t>表</a:t>
            </a:r>
            <a:endParaRPr kumimoji="1" lang="zh-CN" altLang="en-US" sz="2600" i="1" dirty="0"/>
          </a:p>
          <a:p>
            <a:pPr marL="457200" lvl="1" indent="0">
              <a:lnSpc>
                <a:spcPct val="150000"/>
              </a:lnSpc>
              <a:buNone/>
            </a:pPr>
            <a:r>
              <a:rPr kumimoji="1" lang="zh-CN" altLang="en-US" sz="2600" dirty="0"/>
              <a:t>        </a:t>
            </a:r>
            <a:endParaRPr kumimoji="1" lang="en-US" altLang="zh-CN" sz="2600" dirty="0"/>
          </a:p>
          <a:p>
            <a:pPr marL="457200" lvl="1" indent="0">
              <a:lnSpc>
                <a:spcPct val="150000"/>
              </a:lnSpc>
              <a:buNone/>
            </a:pPr>
            <a:endParaRPr kumimoji="1" lang="zh-CN" altLang="en-GB" sz="1200" dirty="0"/>
          </a:p>
          <a:p>
            <a:pPr lvl="1">
              <a:lnSpc>
                <a:spcPct val="150000"/>
              </a:lnSpc>
            </a:pPr>
            <a:r>
              <a:rPr kumimoji="1" lang="zh-CN" altLang="en-US" sz="2600" dirty="0"/>
              <a:t>基本表定义一旦删除，表中的数据、在此表上建立的索引都将自动被删除掉，因此执行删除操作一定要格外小心 </a:t>
            </a:r>
            <a:endParaRPr kumimoji="1" lang="zh-CN" altLang="en-US" sz="2600" dirty="0"/>
          </a:p>
          <a:p>
            <a:pPr lvl="1">
              <a:lnSpc>
                <a:spcPct val="17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1303730" y="4167734"/>
            <a:ext cx="3845045" cy="48043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kumimoji="1" lang="zh-CN" altLang="en-US" sz="2200" dirty="0">
                <a:latin typeface="Cambria Math" panose="02040503050406030204" pitchFamily="18" charset="0"/>
                <a:ea typeface="Cambria Math" panose="02040503050406030204" pitchFamily="18" charset="0"/>
              </a:rPr>
              <a:t> </a:t>
            </a:r>
            <a:r>
              <a:rPr kumimoji="1" lang="en-GB" altLang="zh-CN" sz="2400" dirty="0">
                <a:latin typeface="Cambria Math" panose="02040503050406030204" pitchFamily="18" charset="0"/>
                <a:ea typeface="Cambria Math" panose="02040503050406030204" pitchFamily="18" charset="0"/>
              </a:rPr>
              <a:t>DROP  TABLE</a:t>
            </a:r>
            <a:r>
              <a:rPr kumimoji="1" lang="zh-CN" altLang="en-GB" sz="2400" dirty="0">
                <a:latin typeface="Cambria Math" panose="02040503050406030204" pitchFamily="18" charset="0"/>
              </a:rPr>
              <a:t>　 </a:t>
            </a:r>
            <a:r>
              <a:rPr kumimoji="1" lang="en-GB" altLang="zh-CN" sz="2400" dirty="0">
                <a:latin typeface="Cambria Math" panose="02040503050406030204" pitchFamily="18" charset="0"/>
                <a:ea typeface="Cambria Math" panose="02040503050406030204" pitchFamily="18" charset="0"/>
              </a:rPr>
              <a:t>STUDENT</a:t>
            </a:r>
            <a:r>
              <a:rPr kumimoji="1" lang="zh-CN" altLang="en-GB" sz="2400" dirty="0">
                <a:latin typeface="Cambria Math" panose="02040503050406030204" pitchFamily="18" charset="0"/>
              </a:rPr>
              <a:t>；</a:t>
            </a:r>
            <a:endParaRPr kumimoji="1" lang="en-US" altLang="zh-CN" sz="2400" dirty="0">
              <a:latin typeface="Cambria Math" panose="02040503050406030204" pitchFamily="18" charset="0"/>
              <a:ea typeface="Cambria Math" panose="020405030504060302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索引的概念</a:t>
            </a:r>
            <a:endParaRPr kumimoji="1" lang="en-US" altLang="zh-CN" dirty="0"/>
          </a:p>
          <a:p>
            <a:pPr lvl="1">
              <a:lnSpc>
                <a:spcPct val="150000"/>
              </a:lnSpc>
            </a:pPr>
            <a:r>
              <a:rPr kumimoji="1" lang="en-GB" altLang="zh-CN" dirty="0"/>
              <a:t>RDBMS</a:t>
            </a:r>
            <a:r>
              <a:rPr kumimoji="1" lang="zh-CN" altLang="en-US" dirty="0"/>
              <a:t>中索引一般采用</a:t>
            </a:r>
            <a:r>
              <a:rPr kumimoji="1" lang="en-GB" altLang="zh-CN" dirty="0"/>
              <a:t>B+</a:t>
            </a:r>
            <a:r>
              <a:rPr kumimoji="1" lang="zh-CN" altLang="en-US" dirty="0"/>
              <a:t>树、</a:t>
            </a:r>
            <a:r>
              <a:rPr kumimoji="1" lang="en-GB" altLang="zh-CN" dirty="0"/>
              <a:t>HASH</a:t>
            </a:r>
            <a:r>
              <a:rPr kumimoji="1" lang="zh-CN" altLang="en-US" dirty="0"/>
              <a:t>索引来实现</a:t>
            </a:r>
            <a:endParaRPr kumimoji="1" lang="zh-CN" altLang="en-US" dirty="0"/>
          </a:p>
          <a:p>
            <a:pPr lvl="2">
              <a:lnSpc>
                <a:spcPct val="150000"/>
              </a:lnSpc>
            </a:pPr>
            <a:r>
              <a:rPr kumimoji="1" lang="en-GB" altLang="zh-CN" sz="2400" dirty="0"/>
              <a:t>B+</a:t>
            </a:r>
            <a:r>
              <a:rPr kumimoji="1" lang="zh-CN" altLang="en-US" sz="2400" dirty="0"/>
              <a:t>树索引具有动态平衡的优点 </a:t>
            </a:r>
            <a:endParaRPr kumimoji="1" lang="zh-CN" altLang="en-US" sz="2400" dirty="0"/>
          </a:p>
          <a:p>
            <a:pPr lvl="2">
              <a:lnSpc>
                <a:spcPct val="150000"/>
              </a:lnSpc>
            </a:pPr>
            <a:r>
              <a:rPr kumimoji="1" lang="en-GB" altLang="zh-CN" sz="2400" dirty="0"/>
              <a:t>HASH</a:t>
            </a:r>
            <a:r>
              <a:rPr kumimoji="1" lang="zh-CN" altLang="en-US" sz="2400" dirty="0"/>
              <a:t>索引具有查找速度快的特点</a:t>
            </a:r>
            <a:endParaRPr kumimoji="1" lang="zh-CN" altLang="en-US" sz="2400" dirty="0"/>
          </a:p>
          <a:p>
            <a:pPr lvl="1">
              <a:lnSpc>
                <a:spcPct val="150000"/>
              </a:lnSpc>
            </a:pPr>
            <a:r>
              <a:rPr kumimoji="1" lang="zh-CN" altLang="en-US" dirty="0"/>
              <a:t>采用</a:t>
            </a:r>
            <a:r>
              <a:rPr kumimoji="1" lang="en-GB" altLang="zh-CN" dirty="0"/>
              <a:t>B+</a:t>
            </a:r>
            <a:r>
              <a:rPr kumimoji="1" lang="zh-CN" altLang="en-US" dirty="0"/>
              <a:t>树，还是</a:t>
            </a:r>
            <a:r>
              <a:rPr kumimoji="1" lang="en-GB" altLang="zh-CN" dirty="0"/>
              <a:t>HASH</a:t>
            </a:r>
            <a:r>
              <a:rPr kumimoji="1" lang="zh-CN" altLang="en-US" dirty="0"/>
              <a:t>索引 则由具体的</a:t>
            </a:r>
            <a:r>
              <a:rPr kumimoji="1" lang="en-GB" altLang="zh-CN" dirty="0"/>
              <a:t>RDBMS</a:t>
            </a:r>
            <a:r>
              <a:rPr kumimoji="1" lang="zh-CN" altLang="en-US" dirty="0"/>
              <a:t>来决定</a:t>
            </a:r>
            <a:endParaRPr kumimoji="1" lang="zh-CN" altLang="en-US" dirty="0"/>
          </a:p>
          <a:p>
            <a:pPr lvl="1">
              <a:lnSpc>
                <a:spcPct val="150000"/>
              </a:lnSpc>
            </a:pPr>
            <a:r>
              <a:rPr kumimoji="1" lang="zh-CN" altLang="en-US" dirty="0"/>
              <a:t>索引是关系数据库的内部实现技术，属于内模式的范畴 </a:t>
            </a:r>
            <a:endParaRPr kumimoji="1" lang="zh-CN" altLang="en-US" dirty="0"/>
          </a:p>
          <a:p>
            <a:pPr lvl="1">
              <a:lnSpc>
                <a:spcPct val="150000"/>
              </a:lnSpc>
            </a:pPr>
            <a:r>
              <a:rPr kumimoji="1" lang="en-GB" altLang="zh-CN" dirty="0"/>
              <a:t>CREATE INDEX</a:t>
            </a:r>
            <a:r>
              <a:rPr kumimoji="1" lang="zh-CN" altLang="en-US" dirty="0"/>
              <a:t>语句定义索引时，可以定义索引是唯一索引、非唯一索引或聚簇索引 </a:t>
            </a:r>
            <a:endParaRPr kumimoji="1" lang="zh-CN" altLang="en-US" dirty="0"/>
          </a:p>
          <a:p>
            <a:pPr lvl="1">
              <a:lnSpc>
                <a:spcPct val="17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索引的建立与删除</a:t>
            </a:r>
            <a:endParaRPr kumimoji="1" lang="en-US" altLang="zh-CN" dirty="0"/>
          </a:p>
          <a:p>
            <a:pPr lvl="1">
              <a:lnSpc>
                <a:spcPct val="130000"/>
              </a:lnSpc>
            </a:pPr>
            <a:r>
              <a:rPr kumimoji="1" lang="zh-CN" altLang="en-US" dirty="0"/>
              <a:t>建立索引的目的：加快查询速度</a:t>
            </a:r>
            <a:endParaRPr kumimoji="1" lang="zh-CN" altLang="en-US" dirty="0"/>
          </a:p>
          <a:p>
            <a:pPr lvl="1">
              <a:lnSpc>
                <a:spcPct val="130000"/>
              </a:lnSpc>
            </a:pPr>
            <a:r>
              <a:rPr kumimoji="1" lang="zh-CN" altLang="en-US" dirty="0"/>
              <a:t>谁可以建立索引</a:t>
            </a:r>
            <a:endParaRPr kumimoji="1" lang="zh-CN" altLang="en-US" dirty="0"/>
          </a:p>
          <a:p>
            <a:pPr lvl="2">
              <a:lnSpc>
                <a:spcPct val="130000"/>
              </a:lnSpc>
            </a:pPr>
            <a:r>
              <a:rPr kumimoji="1" lang="en-GB" altLang="zh-CN" dirty="0"/>
              <a:t>DBA </a:t>
            </a:r>
            <a:r>
              <a:rPr kumimoji="1" lang="zh-CN" altLang="en-US" dirty="0"/>
              <a:t>或 表的属主（即建立表的人）</a:t>
            </a:r>
            <a:endParaRPr kumimoji="1" lang="zh-CN" altLang="en-US" dirty="0"/>
          </a:p>
          <a:p>
            <a:pPr lvl="2">
              <a:lnSpc>
                <a:spcPct val="130000"/>
              </a:lnSpc>
            </a:pPr>
            <a:r>
              <a:rPr kumimoji="1" lang="en-GB" altLang="zh-CN" dirty="0"/>
              <a:t>DBMS</a:t>
            </a:r>
            <a:r>
              <a:rPr kumimoji="1" lang="zh-CN" altLang="en-US" dirty="0"/>
              <a:t>一般会自动建立以下列上的索引</a:t>
            </a:r>
            <a:endParaRPr kumimoji="1" lang="zh-CN" altLang="en-US" dirty="0"/>
          </a:p>
          <a:p>
            <a:pPr marL="457200" lvl="1" indent="0">
              <a:lnSpc>
                <a:spcPct val="130000"/>
              </a:lnSpc>
              <a:buNone/>
            </a:pPr>
            <a:r>
              <a:rPr kumimoji="1" lang="zh-CN" altLang="en-US" sz="2000" dirty="0"/>
              <a:t>         </a:t>
            </a:r>
            <a:r>
              <a:rPr kumimoji="1" lang="en-GB" altLang="zh-CN" sz="2000" dirty="0"/>
              <a:t>PRIMARY  KEY</a:t>
            </a:r>
            <a:endParaRPr kumimoji="1" lang="en-GB" altLang="zh-CN" sz="2000" dirty="0"/>
          </a:p>
          <a:p>
            <a:pPr marL="457200" lvl="1" indent="0">
              <a:lnSpc>
                <a:spcPct val="130000"/>
              </a:lnSpc>
              <a:buNone/>
            </a:pPr>
            <a:r>
              <a:rPr kumimoji="1" lang="zh-CN" altLang="en-US" sz="2000" dirty="0"/>
              <a:t>         </a:t>
            </a:r>
            <a:r>
              <a:rPr kumimoji="1" lang="en-GB" altLang="zh-CN" sz="2000" dirty="0"/>
              <a:t>UNIQUE</a:t>
            </a:r>
            <a:endParaRPr kumimoji="1" lang="en-GB" altLang="zh-CN" sz="2000" dirty="0"/>
          </a:p>
          <a:p>
            <a:pPr lvl="1">
              <a:lnSpc>
                <a:spcPct val="130000"/>
              </a:lnSpc>
            </a:pPr>
            <a:r>
              <a:rPr kumimoji="1" lang="zh-CN" altLang="en-US" dirty="0"/>
              <a:t>谁维护索引</a:t>
            </a:r>
            <a:endParaRPr kumimoji="1" lang="en-US" altLang="zh-CN" dirty="0"/>
          </a:p>
          <a:p>
            <a:pPr marL="457200" lvl="1" indent="0">
              <a:lnSpc>
                <a:spcPct val="130000"/>
              </a:lnSpc>
              <a:buNone/>
            </a:pPr>
            <a:r>
              <a:rPr kumimoji="1" lang="en-GB" altLang="zh-CN" sz="2200" dirty="0"/>
              <a:t>	</a:t>
            </a:r>
            <a:r>
              <a:rPr kumimoji="1" lang="en-GB" altLang="zh-CN" sz="2000" dirty="0"/>
              <a:t>DBMS</a:t>
            </a:r>
            <a:r>
              <a:rPr kumimoji="1" lang="zh-CN" altLang="en-US" sz="2000" dirty="0"/>
              <a:t>自动完成 </a:t>
            </a:r>
            <a:endParaRPr kumimoji="1" lang="zh-CN" altLang="en-US" sz="2000" dirty="0"/>
          </a:p>
          <a:p>
            <a:pPr lvl="1">
              <a:lnSpc>
                <a:spcPct val="130000"/>
              </a:lnSpc>
            </a:pPr>
            <a:r>
              <a:rPr kumimoji="1" lang="zh-CN" altLang="en-US" dirty="0"/>
              <a:t>使用索引</a:t>
            </a:r>
            <a:endParaRPr kumimoji="1" lang="en-US" altLang="zh-CN" dirty="0"/>
          </a:p>
          <a:p>
            <a:pPr marL="457200" lvl="1" indent="0">
              <a:lnSpc>
                <a:spcPct val="130000"/>
              </a:lnSpc>
              <a:buNone/>
            </a:pPr>
            <a:r>
              <a:rPr kumimoji="1" lang="en-US" altLang="zh-CN" sz="2200" dirty="0"/>
              <a:t>	</a:t>
            </a:r>
            <a:r>
              <a:rPr kumimoji="1" lang="en-GB" altLang="zh-CN" sz="2000" dirty="0"/>
              <a:t>DBMS</a:t>
            </a:r>
            <a:r>
              <a:rPr kumimoji="1" lang="zh-CN" altLang="en-US" sz="2000" dirty="0"/>
              <a:t>自动选择是否使用索引以及使用哪些索引</a:t>
            </a:r>
            <a:endParaRPr kumimoji="1" lang="zh-CN" altLang="en-US" sz="2000" dirty="0"/>
          </a:p>
          <a:p>
            <a:pPr lvl="1">
              <a:lnSpc>
                <a:spcPct val="15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索引的创建和删除</a:t>
            </a:r>
            <a:endParaRPr kumimoji="1" lang="en-US" altLang="zh-CN" sz="2600" dirty="0"/>
          </a:p>
          <a:p>
            <a:pPr marL="514350" indent="-514350">
              <a:buFont typeface="+mj-lt"/>
              <a:buAutoNum type="arabicPeriod"/>
            </a:pPr>
            <a:r>
              <a:rPr kumimoji="1" lang="zh-CN" altLang="en-US" sz="2400" dirty="0">
                <a:latin typeface="Times New Roman" panose="02020603050405020304" pitchFamily="18" charset="0"/>
                <a:cs typeface="Times New Roman" panose="02020603050405020304" pitchFamily="18" charset="0"/>
              </a:rPr>
              <a:t>创建索引</a:t>
            </a:r>
            <a:endParaRPr kumimoji="1" lang="en-US" altLang="zh-CN" sz="2400" dirty="0">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CREATE [UNIQUE] [CLUSTER] INDEX   &lt;</a:t>
            </a:r>
            <a:r>
              <a:rPr lang="zh-CN" altLang="en-US" sz="2400" b="0" dirty="0">
                <a:solidFill>
                  <a:srgbClr val="000000"/>
                </a:solidFill>
                <a:latin typeface="Times New Roman" panose="02020603050405020304" pitchFamily="18" charset="0"/>
                <a:cs typeface="Times New Roman" panose="02020603050405020304" pitchFamily="18" charset="0"/>
              </a:rPr>
              <a:t>索引名</a:t>
            </a:r>
            <a:r>
              <a:rPr lang="en-US" altLang="zh-CN" sz="2400" b="0" dirty="0">
                <a:solidFill>
                  <a:srgbClr val="000000"/>
                </a:solidFill>
                <a:latin typeface="Times New Roman" panose="02020603050405020304" pitchFamily="18" charset="0"/>
                <a:cs typeface="Times New Roman" panose="02020603050405020304" pitchFamily="18" charset="0"/>
              </a:rPr>
              <a:t>&gt;  </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ON &lt;</a:t>
            </a:r>
            <a:r>
              <a:rPr lang="zh-CN" altLang="en-US" sz="2400" b="0" dirty="0">
                <a:solidFill>
                  <a:srgbClr val="000000"/>
                </a:solidFill>
                <a:latin typeface="Times New Roman" panose="02020603050405020304" pitchFamily="18" charset="0"/>
                <a:cs typeface="Times New Roman" panose="02020603050405020304" pitchFamily="18" charset="0"/>
              </a:rPr>
              <a:t>表名</a:t>
            </a:r>
            <a:r>
              <a:rPr lang="en-US" altLang="zh-CN" sz="2400" b="0" dirty="0">
                <a:solidFill>
                  <a:srgbClr val="000000"/>
                </a:solidFill>
                <a:latin typeface="Times New Roman" panose="02020603050405020304" pitchFamily="18" charset="0"/>
                <a:cs typeface="Times New Roman" panose="02020603050405020304" pitchFamily="18" charset="0"/>
              </a:rPr>
              <a:t>&gt;  (&lt;</a:t>
            </a:r>
            <a:r>
              <a:rPr lang="zh-CN" altLang="en-US" sz="2400" b="0" dirty="0">
                <a:solidFill>
                  <a:srgbClr val="000000"/>
                </a:solidFill>
                <a:latin typeface="Times New Roman" panose="02020603050405020304" pitchFamily="18" charset="0"/>
                <a:cs typeface="Times New Roman" panose="02020603050405020304" pitchFamily="18" charset="0"/>
              </a:rPr>
              <a:t>列名</a:t>
            </a:r>
            <a:r>
              <a:rPr lang="en-US" altLang="zh-CN" sz="2400" b="0" dirty="0">
                <a:solidFill>
                  <a:srgbClr val="000000"/>
                </a:solidFill>
                <a:latin typeface="Times New Roman" panose="02020603050405020304" pitchFamily="18" charset="0"/>
                <a:cs typeface="Times New Roman" panose="02020603050405020304" pitchFamily="18" charset="0"/>
              </a:rPr>
              <a:t>&gt; [</a:t>
            </a:r>
            <a:r>
              <a:rPr lang="en-US" altLang="zh-CN" sz="2400" b="0" u="sng" dirty="0">
                <a:solidFill>
                  <a:srgbClr val="000000"/>
                </a:solidFill>
                <a:latin typeface="Times New Roman" panose="02020603050405020304" pitchFamily="18" charset="0"/>
                <a:cs typeface="Times New Roman" panose="02020603050405020304" pitchFamily="18" charset="0"/>
              </a:rPr>
              <a:t>ASC</a:t>
            </a:r>
            <a:r>
              <a:rPr lang="en-US" altLang="zh-CN" sz="2400" b="0" dirty="0">
                <a:solidFill>
                  <a:srgbClr val="000000"/>
                </a:solidFill>
                <a:latin typeface="Times New Roman" panose="02020603050405020304" pitchFamily="18" charset="0"/>
                <a:cs typeface="Times New Roman" panose="02020603050405020304" pitchFamily="18" charset="0"/>
              </a:rPr>
              <a:t> | DESC] [ ,&lt;</a:t>
            </a:r>
            <a:r>
              <a:rPr lang="zh-CN" altLang="en-US" sz="2400" b="0" dirty="0">
                <a:solidFill>
                  <a:srgbClr val="000000"/>
                </a:solidFill>
                <a:latin typeface="Times New Roman" panose="02020603050405020304" pitchFamily="18" charset="0"/>
                <a:cs typeface="Times New Roman" panose="02020603050405020304" pitchFamily="18" charset="0"/>
              </a:rPr>
              <a:t>列名</a:t>
            </a:r>
            <a:r>
              <a:rPr lang="en-US" altLang="zh-CN" sz="2400" b="0" dirty="0">
                <a:solidFill>
                  <a:srgbClr val="000000"/>
                </a:solidFill>
                <a:latin typeface="Times New Roman" panose="02020603050405020304" pitchFamily="18" charset="0"/>
                <a:cs typeface="Times New Roman" panose="02020603050405020304" pitchFamily="18" charset="0"/>
              </a:rPr>
              <a:t>&gt; [</a:t>
            </a:r>
            <a:r>
              <a:rPr lang="en-US" altLang="zh-CN" sz="2400" b="0" u="sng" dirty="0">
                <a:solidFill>
                  <a:srgbClr val="000000"/>
                </a:solidFill>
                <a:latin typeface="Times New Roman" panose="02020603050405020304" pitchFamily="18" charset="0"/>
                <a:cs typeface="Times New Roman" panose="02020603050405020304" pitchFamily="18" charset="0"/>
              </a:rPr>
              <a:t>ASC</a:t>
            </a:r>
            <a:r>
              <a:rPr lang="en-US" altLang="zh-CN" sz="2400" b="0" dirty="0">
                <a:solidFill>
                  <a:srgbClr val="000000"/>
                </a:solidFill>
                <a:latin typeface="Times New Roman" panose="02020603050405020304" pitchFamily="18" charset="0"/>
                <a:cs typeface="Times New Roman" panose="02020603050405020304" pitchFamily="18" charset="0"/>
              </a:rPr>
              <a:t>|DESC]]…)</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i="1" dirty="0">
                <a:solidFill>
                  <a:srgbClr val="000000"/>
                </a:solidFill>
                <a:latin typeface="Times New Roman" panose="02020603050405020304" pitchFamily="18" charset="0"/>
                <a:cs typeface="Times New Roman" panose="02020603050405020304" pitchFamily="18" charset="0"/>
              </a:rPr>
              <a:t>	</a:t>
            </a:r>
            <a:r>
              <a:rPr lang="zh-CN" altLang="en-US" sz="2400" b="0" i="1" dirty="0">
                <a:solidFill>
                  <a:srgbClr val="000000"/>
                </a:solidFill>
                <a:latin typeface="Times New Roman" panose="02020603050405020304" pitchFamily="18" charset="0"/>
                <a:cs typeface="Times New Roman" panose="02020603050405020304" pitchFamily="18" charset="0"/>
              </a:rPr>
              <a:t>     例</a:t>
            </a:r>
            <a:r>
              <a:rPr lang="en-US" altLang="zh-CN" sz="2400" b="0" i="1" dirty="0">
                <a:solidFill>
                  <a:srgbClr val="000000"/>
                </a:solidFill>
                <a:latin typeface="Times New Roman" panose="02020603050405020304" pitchFamily="18" charset="0"/>
                <a:cs typeface="Times New Roman" panose="02020603050405020304" pitchFamily="18" charset="0"/>
              </a:rPr>
              <a:t>3-6</a:t>
            </a:r>
            <a:r>
              <a:rPr lang="zh-CN" altLang="en-US" sz="2400" b="0" i="1" dirty="0">
                <a:solidFill>
                  <a:srgbClr val="000000"/>
                </a:solidFill>
                <a:latin typeface="Times New Roman" panose="02020603050405020304" pitchFamily="18" charset="0"/>
                <a:cs typeface="Times New Roman" panose="02020603050405020304" pitchFamily="18" charset="0"/>
              </a:rPr>
              <a:t>：</a:t>
            </a:r>
            <a:endParaRPr lang="zh-CN" altLang="en-US" sz="2400" b="0" i="1"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1148986" y="4806925"/>
            <a:ext cx="6771125" cy="80084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CREATE INDEX </a:t>
            </a:r>
            <a:r>
              <a:rPr lang="en-US" altLang="zh-CN" sz="2000" i="1" dirty="0" err="1">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SnoIndex</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ON </a:t>
            </a:r>
            <a:r>
              <a:rPr lang="en-US" altLang="zh-CN" sz="20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SC</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  </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DESC)</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CREATE UNIQUE  INDEX </a:t>
            </a:r>
            <a:r>
              <a:rPr lang="en-US" altLang="zh-CN" sz="2000" i="1" dirty="0" err="1">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SnoIndex</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ON </a:t>
            </a:r>
            <a:r>
              <a:rPr lang="en-US" altLang="zh-CN" sz="20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SC</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S#  </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DESC, C#)</a:t>
            </a:r>
            <a:endParaRPr lang="zh-CN" altLang="en-US" sz="2000" dirty="0">
              <a:solidFill>
                <a:srgbClr val="000000"/>
              </a:solidFill>
              <a:latin typeface="Cambria Math" panose="020405030504060302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索引的创建和删除</a:t>
            </a:r>
            <a:endParaRPr kumimoji="1" lang="en-US" altLang="zh-CN" sz="2600" dirty="0"/>
          </a:p>
          <a:p>
            <a:pPr marL="457200" indent="-457200">
              <a:buFont typeface="+mj-lt"/>
              <a:buAutoNum type="arabicPeriod" startAt="2"/>
            </a:pPr>
            <a:r>
              <a:rPr kumimoji="1" lang="zh-CN" altLang="en-US" sz="2400" dirty="0">
                <a:latin typeface="Times New Roman" panose="02020603050405020304" pitchFamily="18" charset="0"/>
                <a:cs typeface="Times New Roman" panose="02020603050405020304" pitchFamily="18" charset="0"/>
              </a:rPr>
              <a:t>删除索引</a:t>
            </a:r>
            <a:endParaRPr kumimoji="1" lang="en-US" altLang="zh-CN" sz="2400" dirty="0">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b="0" dirty="0">
                <a:solidFill>
                  <a:srgbClr val="000000"/>
                </a:solidFill>
                <a:latin typeface="Times New Roman" panose="02020603050405020304" pitchFamily="18" charset="0"/>
                <a:cs typeface="Times New Roman" panose="02020603050405020304" pitchFamily="18" charset="0"/>
              </a:rPr>
              <a:t> 		</a:t>
            </a:r>
            <a:r>
              <a:rPr lang="en-US" altLang="zh-CN" sz="2400" b="0" dirty="0">
                <a:solidFill>
                  <a:srgbClr val="000000"/>
                </a:solidFill>
                <a:latin typeface="Times New Roman" panose="02020603050405020304" pitchFamily="18" charset="0"/>
                <a:cs typeface="Times New Roman" panose="02020603050405020304" pitchFamily="18" charset="0"/>
              </a:rPr>
              <a:t>DROP  INDEX  &lt;</a:t>
            </a:r>
            <a:r>
              <a:rPr lang="zh-CN" altLang="en-US" sz="2400" b="0" dirty="0">
                <a:solidFill>
                  <a:srgbClr val="000000"/>
                </a:solidFill>
                <a:latin typeface="Times New Roman" panose="02020603050405020304" pitchFamily="18" charset="0"/>
                <a:cs typeface="Times New Roman" panose="02020603050405020304" pitchFamily="18" charset="0"/>
              </a:rPr>
              <a:t>索引名</a:t>
            </a:r>
            <a:r>
              <a:rPr lang="en-US" altLang="zh-CN" sz="2400" b="0" dirty="0">
                <a:solidFill>
                  <a:srgbClr val="000000"/>
                </a:solidFill>
                <a:latin typeface="Times New Roman" panose="02020603050405020304" pitchFamily="18" charset="0"/>
                <a:cs typeface="Times New Roman" panose="02020603050405020304" pitchFamily="18" charset="0"/>
              </a:rPr>
              <a:t>&gt;</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r>
              <a:rPr lang="zh-CN" altLang="en-US" sz="2400" b="0" dirty="0">
                <a:solidFill>
                  <a:srgbClr val="000000"/>
                </a:solidFill>
                <a:latin typeface="Times New Roman" panose="02020603050405020304" pitchFamily="18" charset="0"/>
                <a:cs typeface="Times New Roman" panose="02020603050405020304" pitchFamily="18" charset="0"/>
              </a:rPr>
              <a:t>    </a:t>
            </a:r>
            <a:r>
              <a:rPr lang="zh-CN" altLang="en-US" sz="2400" b="0" i="1" dirty="0">
                <a:solidFill>
                  <a:srgbClr val="000000"/>
                </a:solidFill>
                <a:latin typeface="Times New Roman" panose="02020603050405020304" pitchFamily="18" charset="0"/>
                <a:cs typeface="Times New Roman" panose="02020603050405020304" pitchFamily="18" charset="0"/>
              </a:rPr>
              <a:t>例</a:t>
            </a:r>
            <a:r>
              <a:rPr lang="en-US" altLang="zh-CN" sz="2400" b="0" i="1" dirty="0">
                <a:solidFill>
                  <a:srgbClr val="000000"/>
                </a:solidFill>
                <a:latin typeface="Times New Roman" panose="02020603050405020304" pitchFamily="18" charset="0"/>
                <a:cs typeface="Times New Roman" panose="02020603050405020304" pitchFamily="18" charset="0"/>
              </a:rPr>
              <a:t>3-7</a:t>
            </a:r>
            <a:r>
              <a:rPr lang="zh-CN" altLang="en-US" sz="2400" b="0" i="1" dirty="0">
                <a:solidFill>
                  <a:srgbClr val="000000"/>
                </a:solidFill>
                <a:latin typeface="Times New Roman" panose="02020603050405020304" pitchFamily="18" charset="0"/>
                <a:cs typeface="Times New Roman" panose="02020603050405020304" pitchFamily="18" charset="0"/>
              </a:rPr>
              <a:t>：</a:t>
            </a:r>
            <a:endParaRPr lang="zh-CN" altLang="en-US" sz="2400" b="0" i="1"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endParaRPr kumimoji="1"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1205257" y="4102447"/>
            <a:ext cx="6771125" cy="40913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zh-CN" alt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DROP INDEX </a:t>
            </a:r>
            <a:r>
              <a:rPr lang="en-US" altLang="zh-CN" sz="2000" dirty="0" err="1">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CnameIndex</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模式的创建和删除</a:t>
            </a:r>
            <a:endParaRPr kumimoji="1" lang="en-US" altLang="zh-CN" dirty="0"/>
          </a:p>
          <a:p>
            <a:pPr lvl="1">
              <a:lnSpc>
                <a:spcPct val="150000"/>
              </a:lnSpc>
            </a:pPr>
            <a:r>
              <a:rPr kumimoji="1" lang="zh-CN" altLang="en-US" sz="2600" dirty="0"/>
              <a:t>创建模式实际上定义了一个命名空间</a:t>
            </a:r>
            <a:endParaRPr kumimoji="1" lang="zh-CN" altLang="en-US" sz="2600" dirty="0"/>
          </a:p>
          <a:p>
            <a:pPr lvl="1">
              <a:lnSpc>
                <a:spcPct val="150000"/>
              </a:lnSpc>
            </a:pPr>
            <a:r>
              <a:rPr kumimoji="1" lang="zh-CN" altLang="en-US" sz="2600" dirty="0"/>
              <a:t>在这个空间中可以定义该模式包含的数据库对象，例如基本表、视图、索引等</a:t>
            </a:r>
            <a:endParaRPr kumimoji="1" lang="zh-CN" altLang="en-US" sz="2600" dirty="0"/>
          </a:p>
          <a:p>
            <a:pPr lvl="1">
              <a:lnSpc>
                <a:spcPct val="150000"/>
              </a:lnSpc>
            </a:pPr>
            <a:r>
              <a:rPr kumimoji="1" lang="en-GB" altLang="zh-CN" sz="2600" dirty="0"/>
              <a:t>SQL</a:t>
            </a:r>
            <a:r>
              <a:rPr kumimoji="1" lang="zh-CN" altLang="en-US" sz="2600" dirty="0"/>
              <a:t>模式由模式名标识，一般包括授权</a:t>
            </a:r>
            <a:r>
              <a:rPr kumimoji="1" lang="en-GB" altLang="zh-CN" sz="2600" dirty="0"/>
              <a:t>ID</a:t>
            </a:r>
            <a:r>
              <a:rPr kumimoji="1" lang="zh-CN" altLang="en-GB" sz="2600" dirty="0"/>
              <a:t>（</a:t>
            </a:r>
            <a:r>
              <a:rPr kumimoji="1" lang="zh-CN" altLang="en-US" sz="2600" dirty="0"/>
              <a:t>通常会是系统中的一个用户名）和模式所含对象（如基本表、视图、域、约束和断言、触发器等）两方面内容的描述</a:t>
            </a:r>
            <a:endParaRPr kumimoji="1" lang="zh-CN" altLang="en-US" sz="2600" dirty="0"/>
          </a:p>
          <a:p>
            <a:pPr lvl="1">
              <a:lnSpc>
                <a:spcPct val="13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模式的创建和删除</a:t>
            </a:r>
            <a:endParaRPr kumimoji="1" lang="en-US" altLang="zh-CN" sz="2600" dirty="0"/>
          </a:p>
          <a:p>
            <a:pPr marL="514350" indent="-514350">
              <a:buFont typeface="+mj-lt"/>
              <a:buAutoNum type="arabicPeriod"/>
            </a:pPr>
            <a:r>
              <a:rPr kumimoji="1" lang="zh-CN" altLang="en-US" sz="2400" dirty="0">
                <a:latin typeface="Times New Roman" panose="02020603050405020304" pitchFamily="18" charset="0"/>
                <a:cs typeface="Times New Roman" panose="02020603050405020304" pitchFamily="18" charset="0"/>
              </a:rPr>
              <a:t>创建模式</a:t>
            </a:r>
            <a:endParaRPr kumimoji="1" lang="en-US" altLang="zh-CN" sz="2400" dirty="0">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CREATE SCHEMA &lt;</a:t>
            </a:r>
            <a:r>
              <a:rPr lang="zh-CN" altLang="en-US" sz="2400" b="0" dirty="0">
                <a:solidFill>
                  <a:srgbClr val="000000"/>
                </a:solidFill>
                <a:latin typeface="Times New Roman" panose="02020603050405020304" pitchFamily="18" charset="0"/>
                <a:cs typeface="Times New Roman" panose="02020603050405020304" pitchFamily="18" charset="0"/>
              </a:rPr>
              <a:t>模式名</a:t>
            </a:r>
            <a:r>
              <a:rPr lang="en-US" altLang="zh-CN" sz="2400" b="0" dirty="0">
                <a:solidFill>
                  <a:srgbClr val="000000"/>
                </a:solidFill>
                <a:latin typeface="Times New Roman" panose="02020603050405020304" pitchFamily="18" charset="0"/>
                <a:cs typeface="Times New Roman" panose="02020603050405020304" pitchFamily="18" charset="0"/>
              </a:rPr>
              <a:t>&gt; AUTHORIZATION &lt;</a:t>
            </a:r>
            <a:r>
              <a:rPr lang="zh-CN" altLang="en-US" sz="2400" b="0" dirty="0">
                <a:solidFill>
                  <a:srgbClr val="000000"/>
                </a:solidFill>
                <a:latin typeface="Times New Roman" panose="02020603050405020304" pitchFamily="18" charset="0"/>
                <a:cs typeface="Times New Roman" panose="02020603050405020304" pitchFamily="18" charset="0"/>
              </a:rPr>
              <a:t>所有者</a:t>
            </a:r>
            <a:r>
              <a:rPr lang="en-US" altLang="zh-CN" sz="2400" b="0" dirty="0">
                <a:solidFill>
                  <a:srgbClr val="000000"/>
                </a:solidFill>
                <a:latin typeface="Times New Roman" panose="02020603050405020304" pitchFamily="18" charset="0"/>
                <a:cs typeface="Times New Roman" panose="02020603050405020304" pitchFamily="18" charset="0"/>
              </a:rPr>
              <a:t>ID&gt;</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r>
              <a:rPr lang="zh-CN" altLang="en-US" sz="2400" b="0" dirty="0">
                <a:solidFill>
                  <a:srgbClr val="000000"/>
                </a:solidFill>
                <a:latin typeface="Times New Roman" panose="02020603050405020304" pitchFamily="18" charset="0"/>
                <a:cs typeface="Times New Roman" panose="02020603050405020304" pitchFamily="18" charset="0"/>
              </a:rPr>
              <a:t>创建基本表语句</a:t>
            </a:r>
            <a:r>
              <a:rPr lang="en-US" altLang="zh-CN" sz="2400" b="0" dirty="0">
                <a:solidFill>
                  <a:srgbClr val="000000"/>
                </a:solidFill>
                <a:latin typeface="Times New Roman" panose="02020603050405020304" pitchFamily="18" charset="0"/>
                <a:cs typeface="Times New Roman" panose="02020603050405020304" pitchFamily="18" charset="0"/>
              </a:rPr>
              <a:t>]</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r>
              <a:rPr lang="zh-CN" altLang="en-US" sz="2400" b="0" dirty="0">
                <a:solidFill>
                  <a:srgbClr val="000000"/>
                </a:solidFill>
                <a:latin typeface="Times New Roman" panose="02020603050405020304" pitchFamily="18" charset="0"/>
                <a:cs typeface="Times New Roman" panose="02020603050405020304" pitchFamily="18" charset="0"/>
              </a:rPr>
              <a:t>创建视图语句</a:t>
            </a:r>
            <a:r>
              <a:rPr lang="en-US" altLang="zh-CN" sz="2400" b="0" dirty="0">
                <a:solidFill>
                  <a:srgbClr val="000000"/>
                </a:solidFill>
                <a:latin typeface="Times New Roman" panose="02020603050405020304" pitchFamily="18" charset="0"/>
                <a:cs typeface="Times New Roman" panose="02020603050405020304" pitchFamily="18" charset="0"/>
              </a:rPr>
              <a:t>]</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r>
              <a:rPr lang="zh-CN" altLang="en-US" sz="2400" b="0" dirty="0">
                <a:solidFill>
                  <a:srgbClr val="000000"/>
                </a:solidFill>
                <a:latin typeface="Times New Roman" panose="02020603050405020304" pitchFamily="18" charset="0"/>
                <a:cs typeface="Times New Roman" panose="02020603050405020304" pitchFamily="18" charset="0"/>
              </a:rPr>
              <a:t>创建授权语句</a:t>
            </a:r>
            <a:r>
              <a:rPr lang="en-US" altLang="zh-CN" sz="2400" b="0" dirty="0">
                <a:solidFill>
                  <a:srgbClr val="000000"/>
                </a:solidFill>
                <a:latin typeface="Times New Roman" panose="02020603050405020304" pitchFamily="18" charset="0"/>
                <a:cs typeface="Times New Roman" panose="02020603050405020304" pitchFamily="18" charset="0"/>
              </a:rPr>
              <a:t>]</a:t>
            </a:r>
            <a:endParaRPr lang="en-US" altLang="zh-CN" sz="2400" b="0" dirty="0">
              <a:solidFill>
                <a:srgbClr val="000000"/>
              </a:solidFill>
              <a:latin typeface="Times New Roman" panose="02020603050405020304" pitchFamily="18" charset="0"/>
              <a:cs typeface="Times New Roman" panose="02020603050405020304" pitchFamily="18" charset="0"/>
            </a:endParaRPr>
          </a:p>
          <a:p>
            <a:pPr algn="just">
              <a:lnSpc>
                <a:spcPct val="180000"/>
              </a:lnSpc>
              <a:buClr>
                <a:srgbClr val="FFFF00"/>
              </a:buClr>
              <a:buNone/>
            </a:pPr>
            <a:r>
              <a:rPr lang="en-US" altLang="zh-CN" sz="2400" b="0" dirty="0">
                <a:solidFill>
                  <a:srgbClr val="000000"/>
                </a:solidFill>
                <a:latin typeface="Times New Roman" panose="02020603050405020304" pitchFamily="18" charset="0"/>
                <a:cs typeface="Times New Roman" panose="02020603050405020304" pitchFamily="18" charset="0"/>
              </a:rPr>
              <a:t> 		 ……</a:t>
            </a:r>
            <a:endParaRPr lang="en-US" altLang="zh-CN" sz="2400" b="0" dirty="0">
              <a:solidFill>
                <a:srgbClr val="000000"/>
              </a:solidFill>
              <a:latin typeface="Times New Roman" panose="02020603050405020304" pitchFamily="18" charset="0"/>
              <a:cs typeface="Times New Roman" panose="02020603050405020304" pitchFamily="18" charset="0"/>
            </a:endParaRPr>
          </a:p>
          <a:p>
            <a:pPr marL="0" indent="0">
              <a:buNone/>
            </a:pP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模式的创建和删除</a:t>
            </a:r>
            <a:endParaRPr kumimoji="1" lang="en-US" altLang="zh-CN" dirty="0"/>
          </a:p>
          <a:p>
            <a:pPr lvl="1">
              <a:lnSpc>
                <a:spcPct val="150000"/>
              </a:lnSpc>
            </a:pPr>
            <a:r>
              <a:rPr kumimoji="1" lang="zh-CN" altLang="en-US" sz="2600" i="1" dirty="0"/>
              <a:t>例</a:t>
            </a:r>
            <a:r>
              <a:rPr kumimoji="1" lang="en-US" altLang="zh-CN" sz="2600" i="1" dirty="0"/>
              <a:t>3-8</a:t>
            </a:r>
            <a:r>
              <a:rPr kumimoji="1" lang="zh-CN" altLang="en-US" sz="2600" i="1" dirty="0"/>
              <a:t>：</a:t>
            </a:r>
            <a:endParaRPr kumimoji="1" lang="en-US" altLang="zh-CN" sz="2600"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8" name="文本框 7"/>
          <p:cNvSpPr txBox="1"/>
          <p:nvPr/>
        </p:nvSpPr>
        <p:spPr bwMode="auto">
          <a:xfrm>
            <a:off x="1078647" y="2605419"/>
            <a:ext cx="6771125" cy="118235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CREATE SCHEMA Dept AUTHORIZATION Zhang</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CREATE TABLE Department ( id CHAR(6), </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solidFill>
                  <a:srgbClr val="000000"/>
                </a:solidFill>
                <a:latin typeface="Cambria Math" panose="02040503050406030204" pitchFamily="18" charset="0"/>
                <a:cs typeface="Times New Roman" panose="02020603050405020304" pitchFamily="18" charset="0"/>
              </a:rPr>
              <a:t> </a:t>
            </a: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name   VARCHAR(10) )</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模式的创建和删除</a:t>
            </a:r>
            <a:endParaRPr kumimoji="1" lang="en-US" altLang="zh-CN" sz="2600" dirty="0"/>
          </a:p>
          <a:p>
            <a:pPr marL="457200" indent="-457200">
              <a:buFont typeface="+mj-lt"/>
              <a:buAutoNum type="arabicPeriod" startAt="2"/>
            </a:pPr>
            <a:r>
              <a:rPr kumimoji="1" lang="zh-CN" altLang="en-US" sz="2400" dirty="0">
                <a:latin typeface="Times New Roman" panose="02020603050405020304" pitchFamily="18" charset="0"/>
                <a:cs typeface="Times New Roman" panose="02020603050405020304" pitchFamily="18" charset="0"/>
              </a:rPr>
              <a:t>删除模式</a:t>
            </a:r>
            <a:endParaRPr kumimoji="1" lang="en-US" altLang="zh-CN" sz="2400" dirty="0">
              <a:latin typeface="Times New Roman" panose="02020603050405020304" pitchFamily="18" charset="0"/>
              <a:cs typeface="Times New Roman" panose="02020603050405020304" pitchFamily="18" charset="0"/>
            </a:endParaRPr>
          </a:p>
          <a:p>
            <a:pPr marL="0" indent="0">
              <a:buNone/>
            </a:pPr>
            <a:r>
              <a:rPr lang="zh-CN" altLang="en-US" sz="2600" b="0" dirty="0">
                <a:solidFill>
                  <a:srgbClr val="000000"/>
                </a:solidFill>
                <a:latin typeface="Times New Roman" panose="02020603050405020304" pitchFamily="18" charset="0"/>
                <a:cs typeface="Times New Roman" panose="02020603050405020304" pitchFamily="18" charset="0"/>
              </a:rPr>
              <a:t>      </a:t>
            </a:r>
            <a:r>
              <a:rPr lang="en-US" altLang="zh-CN" sz="2600" b="0" dirty="0">
                <a:solidFill>
                  <a:srgbClr val="000000"/>
                </a:solidFill>
                <a:latin typeface="Times New Roman" panose="02020603050405020304" pitchFamily="18" charset="0"/>
                <a:cs typeface="Times New Roman" panose="02020603050405020304" pitchFamily="18" charset="0"/>
              </a:rPr>
              <a:t>DROP SCHEMA &lt;</a:t>
            </a:r>
            <a:r>
              <a:rPr lang="zh-CN" altLang="en-US" sz="2600" b="0" dirty="0">
                <a:solidFill>
                  <a:srgbClr val="000000"/>
                </a:solidFill>
                <a:latin typeface="Times New Roman" panose="02020603050405020304" pitchFamily="18" charset="0"/>
                <a:cs typeface="Times New Roman" panose="02020603050405020304" pitchFamily="18" charset="0"/>
              </a:rPr>
              <a:t>模式名</a:t>
            </a:r>
            <a:r>
              <a:rPr lang="en-US" altLang="zh-CN" sz="2600" b="0" dirty="0">
                <a:solidFill>
                  <a:srgbClr val="000000"/>
                </a:solidFill>
                <a:latin typeface="Times New Roman" panose="02020603050405020304" pitchFamily="18" charset="0"/>
                <a:cs typeface="Times New Roman" panose="02020603050405020304" pitchFamily="18" charset="0"/>
              </a:rPr>
              <a:t>&gt; [RESTRICT | CASCADE]</a:t>
            </a:r>
            <a:endParaRPr lang="en-US" altLang="zh-CN" sz="2600" b="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altLang="zh-CN" sz="2600" b="0" dirty="0">
              <a:solidFill>
                <a:srgbClr val="000000"/>
              </a:solidFill>
              <a:latin typeface="Times New Roman" panose="02020603050405020304" pitchFamily="18" charset="0"/>
              <a:cs typeface="Times New Roman" panose="02020603050405020304" pitchFamily="18" charset="0"/>
            </a:endParaRPr>
          </a:p>
          <a:p>
            <a:pPr lvl="1">
              <a:lnSpc>
                <a:spcPct val="150000"/>
              </a:lnSpc>
            </a:pPr>
            <a:r>
              <a:rPr kumimoji="1" lang="zh-CN" altLang="en-US" sz="2600" i="1" dirty="0"/>
              <a:t>例</a:t>
            </a:r>
            <a:r>
              <a:rPr kumimoji="1" lang="en-US" altLang="zh-CN" sz="2600" i="1" dirty="0"/>
              <a:t>3-9</a:t>
            </a:r>
            <a:r>
              <a:rPr kumimoji="1" lang="zh-CN" altLang="en-US" sz="2600" i="1" dirty="0"/>
              <a:t>：</a:t>
            </a:r>
            <a:endParaRPr kumimoji="1" lang="en-US" altLang="zh-CN" sz="2600"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
        <p:nvSpPr>
          <p:cNvPr id="6" name="文本框 5"/>
          <p:cNvSpPr txBox="1"/>
          <p:nvPr/>
        </p:nvSpPr>
        <p:spPr bwMode="auto">
          <a:xfrm>
            <a:off x="1148986" y="4285362"/>
            <a:ext cx="6771125" cy="41092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DROP SCHEMA dept CASCADE</a:t>
            </a:r>
            <a:endParaRPr lang="en-US" altLang="zh-CN"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模式与表</a:t>
            </a:r>
            <a:endParaRPr kumimoji="1" lang="en-US" altLang="zh-CN" dirty="0"/>
          </a:p>
          <a:p>
            <a:pPr lvl="1">
              <a:lnSpc>
                <a:spcPct val="140000"/>
              </a:lnSpc>
            </a:pPr>
            <a:r>
              <a:rPr kumimoji="1" lang="zh-CN" altLang="en-US" dirty="0"/>
              <a:t>每一个基本表都属于某一个模式</a:t>
            </a:r>
            <a:endParaRPr kumimoji="1" lang="zh-CN" altLang="en-US" dirty="0"/>
          </a:p>
          <a:p>
            <a:pPr lvl="1">
              <a:lnSpc>
                <a:spcPct val="140000"/>
              </a:lnSpc>
            </a:pPr>
            <a:r>
              <a:rPr kumimoji="1" lang="zh-CN" altLang="en-US" dirty="0"/>
              <a:t>一个模式包含多个基本表</a:t>
            </a:r>
            <a:endParaRPr kumimoji="1" lang="zh-CN" altLang="en-US" dirty="0"/>
          </a:p>
          <a:p>
            <a:pPr lvl="1">
              <a:lnSpc>
                <a:spcPct val="140000"/>
              </a:lnSpc>
            </a:pPr>
            <a:r>
              <a:rPr kumimoji="1" lang="zh-CN" altLang="en-US" dirty="0"/>
              <a:t>定义基本表所属模式</a:t>
            </a:r>
            <a:endParaRPr kumimoji="1" lang="zh-CN" altLang="en-US" dirty="0"/>
          </a:p>
          <a:p>
            <a:pPr lvl="2">
              <a:lnSpc>
                <a:spcPct val="140000"/>
              </a:lnSpc>
            </a:pPr>
            <a:r>
              <a:rPr kumimoji="1" lang="zh-CN" altLang="en-US" sz="2200" dirty="0"/>
              <a:t>方法一：在表名中明显地给出模式名 </a:t>
            </a:r>
            <a:endParaRPr kumimoji="1" lang="en-US" altLang="zh-CN" sz="2200" dirty="0"/>
          </a:p>
          <a:p>
            <a:pPr marL="914400" lvl="2" indent="0">
              <a:lnSpc>
                <a:spcPct val="140000"/>
              </a:lnSpc>
              <a:buNone/>
            </a:pPr>
            <a:r>
              <a:rPr kumimoji="1" lang="zh-CN" altLang="en-US" sz="2200" dirty="0"/>
              <a:t>     </a:t>
            </a:r>
            <a:r>
              <a:rPr kumimoji="1" lang="en-GB" altLang="zh-CN" sz="2200" dirty="0"/>
              <a:t>Create table “S-</a:t>
            </a:r>
            <a:r>
              <a:rPr kumimoji="1" lang="en-GB" altLang="zh-CN" sz="2200" dirty="0" err="1"/>
              <a:t>T”.Student</a:t>
            </a:r>
            <a:r>
              <a:rPr kumimoji="1" lang="zh-CN" altLang="en-GB" sz="2200" dirty="0"/>
              <a:t>（</a:t>
            </a:r>
            <a:r>
              <a:rPr kumimoji="1" lang="en-GB" altLang="zh-CN" sz="2200" dirty="0"/>
              <a:t>......</a:t>
            </a:r>
            <a:r>
              <a:rPr kumimoji="1" lang="zh-CN" altLang="en-GB" sz="2200" dirty="0"/>
              <a:t>）</a:t>
            </a:r>
            <a:r>
              <a:rPr kumimoji="1" lang="en-GB" altLang="zh-CN" sz="2200" dirty="0"/>
              <a:t>;   /*</a:t>
            </a:r>
            <a:r>
              <a:rPr kumimoji="1" lang="zh-CN" altLang="en-US" sz="2200" dirty="0"/>
              <a:t>模式名为 </a:t>
            </a:r>
            <a:r>
              <a:rPr kumimoji="1" lang="en-GB" altLang="zh-CN" sz="2200" dirty="0"/>
              <a:t>S-T*/</a:t>
            </a:r>
            <a:endParaRPr kumimoji="1" lang="en-GB" altLang="zh-CN" sz="2200" dirty="0"/>
          </a:p>
          <a:p>
            <a:pPr marL="914400" lvl="2" indent="0">
              <a:lnSpc>
                <a:spcPct val="140000"/>
              </a:lnSpc>
              <a:buNone/>
            </a:pPr>
            <a:r>
              <a:rPr kumimoji="1" lang="zh-CN" altLang="en-US" sz="2200" dirty="0"/>
              <a:t>     </a:t>
            </a:r>
            <a:r>
              <a:rPr kumimoji="1" lang="en-GB" altLang="zh-CN" sz="2200" dirty="0"/>
              <a:t>Create table “S-</a:t>
            </a:r>
            <a:r>
              <a:rPr kumimoji="1" lang="en-GB" altLang="zh-CN" sz="2200" dirty="0" err="1"/>
              <a:t>T”.Course</a:t>
            </a:r>
            <a:r>
              <a:rPr kumimoji="1" lang="zh-CN" altLang="en-GB" sz="2200" dirty="0"/>
              <a:t>（</a:t>
            </a:r>
            <a:r>
              <a:rPr kumimoji="1" lang="en-GB" altLang="zh-CN" sz="2200" dirty="0"/>
              <a:t>......</a:t>
            </a:r>
            <a:r>
              <a:rPr kumimoji="1" lang="zh-CN" altLang="en-GB" sz="2200" dirty="0"/>
              <a:t>）</a:t>
            </a:r>
            <a:r>
              <a:rPr kumimoji="1" lang="en-GB" altLang="zh-CN" sz="2200" dirty="0"/>
              <a:t>;</a:t>
            </a:r>
            <a:endParaRPr kumimoji="1" lang="en-GB" altLang="zh-CN" sz="2200" dirty="0"/>
          </a:p>
          <a:p>
            <a:pPr marL="914400" lvl="2" indent="0">
              <a:lnSpc>
                <a:spcPct val="140000"/>
              </a:lnSpc>
              <a:buNone/>
            </a:pPr>
            <a:r>
              <a:rPr kumimoji="1" lang="zh-CN" altLang="en-US" sz="2200" dirty="0"/>
              <a:t>     </a:t>
            </a:r>
            <a:r>
              <a:rPr kumimoji="1" lang="en-GB" altLang="zh-CN" sz="2200" dirty="0"/>
              <a:t>Create table “S-T”.SC</a:t>
            </a:r>
            <a:r>
              <a:rPr kumimoji="1" lang="zh-CN" altLang="en-GB" sz="2200" dirty="0"/>
              <a:t>（</a:t>
            </a:r>
            <a:r>
              <a:rPr kumimoji="1" lang="en-GB" altLang="zh-CN" sz="2200" dirty="0"/>
              <a:t>......</a:t>
            </a:r>
            <a:r>
              <a:rPr kumimoji="1" lang="zh-CN" altLang="en-GB" sz="2200" dirty="0"/>
              <a:t>）</a:t>
            </a:r>
            <a:r>
              <a:rPr kumimoji="1" lang="en-GB" altLang="zh-CN" sz="2200" dirty="0"/>
              <a:t>; </a:t>
            </a:r>
            <a:endParaRPr kumimoji="1" lang="en-GB" altLang="zh-CN" sz="2200" dirty="0"/>
          </a:p>
          <a:p>
            <a:pPr lvl="2">
              <a:lnSpc>
                <a:spcPct val="140000"/>
              </a:lnSpc>
            </a:pPr>
            <a:r>
              <a:rPr kumimoji="1" lang="zh-CN" altLang="en-US" sz="2200" dirty="0"/>
              <a:t>方法二：在创建模式语句中同时创建表 </a:t>
            </a:r>
            <a:endParaRPr kumimoji="1" lang="zh-CN" altLang="en-US" sz="2200" dirty="0"/>
          </a:p>
          <a:p>
            <a:pPr lvl="2">
              <a:lnSpc>
                <a:spcPct val="140000"/>
              </a:lnSpc>
            </a:pPr>
            <a:r>
              <a:rPr kumimoji="1" lang="zh-CN" altLang="en-US" sz="2200" dirty="0"/>
              <a:t>方法三：设置所属的模式 </a:t>
            </a:r>
            <a:endParaRPr kumimoji="1" lang="zh-CN" altLang="en-US" sz="2200" dirty="0"/>
          </a:p>
          <a:p>
            <a:pPr lvl="1">
              <a:lnSpc>
                <a:spcPct val="15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模式与表</a:t>
            </a:r>
            <a:endParaRPr kumimoji="1" lang="en-US" altLang="zh-CN" dirty="0"/>
          </a:p>
          <a:p>
            <a:pPr lvl="1">
              <a:lnSpc>
                <a:spcPct val="150000"/>
              </a:lnSpc>
            </a:pPr>
            <a:r>
              <a:rPr kumimoji="1" lang="zh-CN" altLang="en-US" sz="2600" dirty="0"/>
              <a:t>创建基本表（其他数据库对象也一样）时，若没有指定模式，系统根据</a:t>
            </a:r>
            <a:r>
              <a:rPr kumimoji="1" lang="zh-CN" altLang="en-US" sz="2600" dirty="0">
                <a:solidFill>
                  <a:srgbClr val="C00000"/>
                </a:solidFill>
              </a:rPr>
              <a:t>搜索路径</a:t>
            </a:r>
            <a:r>
              <a:rPr kumimoji="1" lang="zh-CN" altLang="en-US" sz="2600" dirty="0"/>
              <a:t>来确定该对象所属的模式 </a:t>
            </a:r>
            <a:endParaRPr kumimoji="1" lang="zh-CN" altLang="en-US" sz="2600" dirty="0"/>
          </a:p>
          <a:p>
            <a:pPr lvl="1">
              <a:lnSpc>
                <a:spcPct val="150000"/>
              </a:lnSpc>
            </a:pPr>
            <a:r>
              <a:rPr kumimoji="1" lang="en-GB" altLang="zh-CN" sz="2600" dirty="0"/>
              <a:t>RDBMS</a:t>
            </a:r>
            <a:r>
              <a:rPr kumimoji="1" lang="zh-CN" altLang="en-US" sz="2600" dirty="0"/>
              <a:t>会使用模式列表中</a:t>
            </a:r>
            <a:r>
              <a:rPr kumimoji="1" lang="zh-CN" altLang="en-US" sz="2600" dirty="0">
                <a:solidFill>
                  <a:srgbClr val="C00000"/>
                </a:solidFill>
              </a:rPr>
              <a:t>第一个存在的模式</a:t>
            </a:r>
            <a:r>
              <a:rPr kumimoji="1" lang="zh-CN" altLang="en-US" sz="2600" dirty="0"/>
              <a:t>作为数据库对象的模式名 </a:t>
            </a:r>
            <a:endParaRPr kumimoji="1" lang="zh-CN" altLang="en-US" sz="2600" dirty="0"/>
          </a:p>
          <a:p>
            <a:pPr lvl="1">
              <a:lnSpc>
                <a:spcPct val="150000"/>
              </a:lnSpc>
            </a:pPr>
            <a:r>
              <a:rPr kumimoji="1" lang="zh-CN" altLang="en-US" sz="2600" dirty="0"/>
              <a:t>若搜索路径中的模式名都不存在，系统将给出错误 </a:t>
            </a:r>
            <a:endParaRPr kumimoji="1" lang="zh-CN" altLang="en-US" sz="2600" dirty="0"/>
          </a:p>
          <a:p>
            <a:pPr lvl="1">
              <a:lnSpc>
                <a:spcPct val="14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3.2 SQL</a:t>
            </a:r>
            <a:r>
              <a:rPr lang="zh-CN" altLang="en-US" dirty="0"/>
              <a:t>数据定义语言</a:t>
            </a:r>
            <a:endParaRPr kumimoji="1"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en-US" altLang="zh-CN" dirty="0"/>
              <a:t>3.3</a:t>
            </a:r>
            <a:r>
              <a:rPr kumimoji="1" lang="zh-CN" altLang="en-US" dirty="0"/>
              <a:t> </a:t>
            </a:r>
            <a:r>
              <a:rPr kumimoji="1" lang="en-US" altLang="zh-CN" dirty="0"/>
              <a:t>SQL</a:t>
            </a:r>
            <a:r>
              <a:rPr kumimoji="1" lang="zh-CN" altLang="en-US" dirty="0"/>
              <a:t>数据查询语言</a:t>
            </a:r>
            <a:endParaRPr kumimoji="1" lang="zh-CN" altLang="en-US" dirty="0"/>
          </a:p>
        </p:txBody>
      </p:sp>
      <p:sp>
        <p:nvSpPr>
          <p:cNvPr id="3" name="内容占位符 2"/>
          <p:cNvSpPr>
            <a:spLocks noGrp="1"/>
          </p:cNvSpPr>
          <p:nvPr>
            <p:ph idx="1"/>
          </p:nvPr>
        </p:nvSpPr>
        <p:spPr/>
        <p:txBody>
          <a:bodyPr/>
          <a:lstStyle/>
          <a:p>
            <a:pPr marL="457200" indent="-457200">
              <a:buFont typeface="Wingdings" panose="05000000000000000000" pitchFamily="2" charset="2"/>
              <a:buChar char="l"/>
            </a:pPr>
            <a:r>
              <a:rPr kumimoji="1" lang="zh-CN" altLang="en-US" dirty="0"/>
              <a:t>基本查询语句</a:t>
            </a:r>
            <a:endParaRPr kumimoji="1" lang="zh-CN" altLang="en-US" dirty="0"/>
          </a:p>
          <a:p>
            <a:pPr marL="457200" indent="-457200">
              <a:buFont typeface="Wingdings" panose="05000000000000000000" pitchFamily="2" charset="2"/>
              <a:buChar char="l"/>
            </a:pPr>
            <a:r>
              <a:rPr kumimoji="1" lang="zh-CN" altLang="en-US" dirty="0"/>
              <a:t>单表查询</a:t>
            </a:r>
            <a:endParaRPr kumimoji="1" lang="zh-CN" altLang="en-US" dirty="0"/>
          </a:p>
          <a:p>
            <a:pPr marL="457200" indent="-457200">
              <a:buFont typeface="Wingdings" panose="05000000000000000000" pitchFamily="2" charset="2"/>
              <a:buChar char="l"/>
            </a:pPr>
            <a:r>
              <a:rPr kumimoji="1" lang="zh-CN" altLang="en-US" dirty="0"/>
              <a:t>连接查询</a:t>
            </a:r>
            <a:endParaRPr kumimoji="1" lang="zh-CN" altLang="en-US" dirty="0"/>
          </a:p>
          <a:p>
            <a:pPr marL="457200" indent="-457200">
              <a:buFont typeface="Wingdings" panose="05000000000000000000" pitchFamily="2" charset="2"/>
              <a:buChar char="l"/>
            </a:pPr>
            <a:r>
              <a:rPr kumimoji="1" lang="zh-CN" altLang="en-US" dirty="0"/>
              <a:t>嵌套查询</a:t>
            </a:r>
            <a:endParaRPr kumimoji="1" lang="zh-CN" altLang="en-US" dirty="0"/>
          </a:p>
          <a:p>
            <a:pPr marL="457200" indent="-457200">
              <a:buFont typeface="Wingdings" panose="05000000000000000000" pitchFamily="2" charset="2"/>
              <a:buChar char="l"/>
            </a:pPr>
            <a:r>
              <a:rPr kumimoji="1" lang="zh-CN" altLang="en-US" dirty="0"/>
              <a:t>集合查询</a:t>
            </a:r>
            <a:endParaRPr kumimoji="1" lang="zh-CN" altLang="en-US" dirty="0"/>
          </a:p>
          <a:p>
            <a:pPr marL="457200" indent="-457200">
              <a:buFont typeface="Wingdings" panose="05000000000000000000" pitchFamily="2" charset="2"/>
              <a:buChar char="l"/>
            </a:pPr>
            <a:endParaRPr kumimoji="1"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基本查询语句</a:t>
            </a:r>
            <a:endParaRPr kumimoji="1" lang="en-US" altLang="zh-CN" sz="2600" dirty="0"/>
          </a:p>
          <a:p>
            <a:pPr lvl="1">
              <a:lnSpc>
                <a:spcPct val="140000"/>
              </a:lnSpc>
            </a:pPr>
            <a:r>
              <a:rPr kumimoji="1" lang="zh-CN" altLang="en-US" sz="2600" dirty="0"/>
              <a:t>一般格式</a:t>
            </a:r>
            <a:endParaRPr kumimoji="1" lang="en-US" altLang="zh-CN" sz="2600" dirty="0"/>
          </a:p>
          <a:p>
            <a:pPr marL="0" indent="0">
              <a:lnSpc>
                <a:spcPct val="150000"/>
              </a:lnSpc>
              <a:buNone/>
            </a:pPr>
            <a:r>
              <a:rPr lang="zh-CN" altLang="en-US" sz="2600" dirty="0">
                <a:solidFill>
                  <a:srgbClr val="FF6600"/>
                </a:solidFill>
              </a:rPr>
              <a:t>   </a:t>
            </a:r>
            <a:r>
              <a:rPr lang="en-US" altLang="zh-CN" sz="2600" dirty="0">
                <a:solidFill>
                  <a:srgbClr val="FF6600"/>
                </a:solidFill>
              </a:rPr>
              <a:t>	</a:t>
            </a:r>
            <a:r>
              <a:rPr lang="en-US" altLang="zh-CN" sz="2600" b="0" dirty="0">
                <a:solidFill>
                  <a:srgbClr val="C00000"/>
                </a:solidFill>
                <a:latin typeface="Times New Roman" panose="02020603050405020304" pitchFamily="18" charset="0"/>
                <a:cs typeface="Times New Roman" panose="02020603050405020304" pitchFamily="18" charset="0"/>
              </a:rPr>
              <a:t>SELECT</a:t>
            </a:r>
            <a:r>
              <a:rPr lang="en-US" altLang="zh-CN" sz="2600" b="0" dirty="0">
                <a:latin typeface="Times New Roman" panose="02020603050405020304" pitchFamily="18" charset="0"/>
                <a:cs typeface="Times New Roman" panose="02020603050405020304" pitchFamily="18" charset="0"/>
              </a:rPr>
              <a:t> [</a:t>
            </a:r>
            <a:r>
              <a:rPr lang="en-US" altLang="zh-CN" sz="2600" b="0" u="sng" dirty="0">
                <a:latin typeface="Times New Roman" panose="02020603050405020304" pitchFamily="18" charset="0"/>
                <a:cs typeface="Times New Roman" panose="02020603050405020304" pitchFamily="18" charset="0"/>
              </a:rPr>
              <a:t>ALL</a:t>
            </a:r>
            <a:r>
              <a:rPr lang="en-US" altLang="zh-CN" sz="2600" b="0" dirty="0">
                <a:latin typeface="Times New Roman" panose="02020603050405020304" pitchFamily="18" charset="0"/>
                <a:cs typeface="Times New Roman" panose="02020603050405020304" pitchFamily="18" charset="0"/>
              </a:rPr>
              <a:t>|DISTINCT]&lt;</a:t>
            </a:r>
            <a:r>
              <a:rPr lang="zh-CN" altLang="en-US" sz="2600" b="0" dirty="0">
                <a:latin typeface="Times New Roman" panose="02020603050405020304" pitchFamily="18" charset="0"/>
                <a:cs typeface="Times New Roman" panose="02020603050405020304" pitchFamily="18" charset="0"/>
              </a:rPr>
              <a:t>目标列表达式</a:t>
            </a:r>
            <a:r>
              <a:rPr lang="en-US" altLang="zh-CN" sz="2600" b="0" dirty="0">
                <a:latin typeface="Times New Roman" panose="02020603050405020304" pitchFamily="18" charset="0"/>
                <a:cs typeface="Times New Roman" panose="02020603050405020304" pitchFamily="18" charset="0"/>
              </a:rPr>
              <a:t>&gt;[,&lt;</a:t>
            </a:r>
            <a:r>
              <a:rPr lang="zh-CN" altLang="en-US" sz="2600" b="0" dirty="0">
                <a:latin typeface="Times New Roman" panose="02020603050405020304" pitchFamily="18" charset="0"/>
                <a:cs typeface="Times New Roman" panose="02020603050405020304" pitchFamily="18" charset="0"/>
              </a:rPr>
              <a:t>目标列表达式</a:t>
            </a:r>
            <a:r>
              <a:rPr lang="en-US" altLang="zh-CN" sz="2600" b="0" dirty="0">
                <a:latin typeface="Times New Roman" panose="02020603050405020304" pitchFamily="18" charset="0"/>
                <a:cs typeface="Times New Roman" panose="02020603050405020304" pitchFamily="18" charset="0"/>
              </a:rPr>
              <a:t>&gt;]... </a:t>
            </a:r>
            <a:endParaRPr lang="en-US" altLang="zh-CN" sz="2600" b="0" dirty="0">
              <a:latin typeface="Times New Roman" panose="02020603050405020304" pitchFamily="18" charset="0"/>
              <a:cs typeface="Times New Roman" panose="02020603050405020304" pitchFamily="18" charset="0"/>
            </a:endParaRPr>
          </a:p>
          <a:p>
            <a:pPr marL="274955" indent="-274955">
              <a:lnSpc>
                <a:spcPct val="150000"/>
              </a:lnSpc>
              <a:buNone/>
            </a:pPr>
            <a:r>
              <a:rPr lang="en-US" altLang="zh-CN" sz="2600" b="0" dirty="0">
                <a:latin typeface="Times New Roman" panose="02020603050405020304" pitchFamily="18" charset="0"/>
                <a:cs typeface="Times New Roman" panose="02020603050405020304" pitchFamily="18" charset="0"/>
              </a:rPr>
              <a:t>   		</a:t>
            </a:r>
            <a:r>
              <a:rPr lang="en-US" altLang="zh-CN" sz="2600" b="0" dirty="0">
                <a:solidFill>
                  <a:srgbClr val="C00000"/>
                </a:solidFill>
                <a:latin typeface="Times New Roman" panose="02020603050405020304" pitchFamily="18" charset="0"/>
                <a:cs typeface="Times New Roman" panose="02020603050405020304" pitchFamily="18" charset="0"/>
              </a:rPr>
              <a:t>FROM</a:t>
            </a:r>
            <a:r>
              <a:rPr lang="en-US" altLang="zh-CN" sz="2600" b="0" dirty="0">
                <a:latin typeface="Times New Roman" panose="02020603050405020304" pitchFamily="18" charset="0"/>
                <a:cs typeface="Times New Roman" panose="02020603050405020304" pitchFamily="18" charset="0"/>
              </a:rPr>
              <a:t> &lt;</a:t>
            </a:r>
            <a:r>
              <a:rPr lang="zh-CN" altLang="en-US" sz="2600" b="0" dirty="0">
                <a:latin typeface="Times New Roman" panose="02020603050405020304" pitchFamily="18" charset="0"/>
                <a:cs typeface="Times New Roman" panose="02020603050405020304" pitchFamily="18" charset="0"/>
              </a:rPr>
              <a:t>表名或视图名</a:t>
            </a:r>
            <a:r>
              <a:rPr lang="en-US" altLang="zh-CN" sz="2600" b="0" dirty="0">
                <a:latin typeface="Times New Roman" panose="02020603050405020304" pitchFamily="18" charset="0"/>
                <a:cs typeface="Times New Roman" panose="02020603050405020304" pitchFamily="18" charset="0"/>
              </a:rPr>
              <a:t>&gt;[,&lt;</a:t>
            </a:r>
            <a:r>
              <a:rPr lang="zh-CN" altLang="en-US" sz="2600" b="0" dirty="0">
                <a:latin typeface="Times New Roman" panose="02020603050405020304" pitchFamily="18" charset="0"/>
                <a:cs typeface="Times New Roman" panose="02020603050405020304" pitchFamily="18" charset="0"/>
              </a:rPr>
              <a:t>表名或视图名</a:t>
            </a:r>
            <a:r>
              <a:rPr lang="en-US" altLang="zh-CN" sz="2600" b="0" dirty="0">
                <a:latin typeface="Times New Roman" panose="02020603050405020304" pitchFamily="18" charset="0"/>
                <a:cs typeface="Times New Roman" panose="02020603050405020304" pitchFamily="18" charset="0"/>
              </a:rPr>
              <a:t>&gt;] ... </a:t>
            </a:r>
            <a:endParaRPr lang="en-US" altLang="zh-CN" sz="2600" b="0" dirty="0">
              <a:latin typeface="Times New Roman" panose="02020603050405020304" pitchFamily="18" charset="0"/>
              <a:cs typeface="Times New Roman" panose="02020603050405020304" pitchFamily="18" charset="0"/>
            </a:endParaRPr>
          </a:p>
          <a:p>
            <a:pPr marL="274955" indent="-274955">
              <a:lnSpc>
                <a:spcPct val="150000"/>
              </a:lnSpc>
              <a:buNone/>
            </a:pPr>
            <a:r>
              <a:rPr lang="en-US" altLang="zh-CN" sz="2600" b="0" dirty="0">
                <a:latin typeface="Times New Roman" panose="02020603050405020304" pitchFamily="18" charset="0"/>
                <a:cs typeface="Times New Roman" panose="02020603050405020304" pitchFamily="18" charset="0"/>
              </a:rPr>
              <a:t>   		[WHERE &lt;</a:t>
            </a:r>
            <a:r>
              <a:rPr lang="zh-CN" altLang="en-US" sz="2600" b="0" dirty="0">
                <a:latin typeface="Times New Roman" panose="02020603050405020304" pitchFamily="18" charset="0"/>
                <a:cs typeface="Times New Roman" panose="02020603050405020304" pitchFamily="18" charset="0"/>
              </a:rPr>
              <a:t>条件表达式</a:t>
            </a:r>
            <a:r>
              <a:rPr lang="en-US" altLang="zh-CN" sz="2600" b="0" dirty="0">
                <a:latin typeface="Times New Roman" panose="02020603050405020304" pitchFamily="18" charset="0"/>
                <a:cs typeface="Times New Roman" panose="02020603050405020304" pitchFamily="18" charset="0"/>
              </a:rPr>
              <a:t>&gt;] </a:t>
            </a:r>
            <a:endParaRPr lang="en-US" altLang="zh-CN" sz="2600" b="0" dirty="0">
              <a:latin typeface="Times New Roman" panose="02020603050405020304" pitchFamily="18" charset="0"/>
              <a:cs typeface="Times New Roman" panose="02020603050405020304" pitchFamily="18" charset="0"/>
            </a:endParaRPr>
          </a:p>
          <a:p>
            <a:pPr marL="274955" indent="-274955">
              <a:lnSpc>
                <a:spcPct val="150000"/>
              </a:lnSpc>
              <a:buNone/>
            </a:pPr>
            <a:r>
              <a:rPr lang="en-US" altLang="zh-CN" sz="2600" b="0" dirty="0">
                <a:latin typeface="Times New Roman" panose="02020603050405020304" pitchFamily="18" charset="0"/>
                <a:cs typeface="Times New Roman" panose="02020603050405020304" pitchFamily="18" charset="0"/>
              </a:rPr>
              <a:t>   		[GROUP BY &lt;</a:t>
            </a:r>
            <a:r>
              <a:rPr lang="zh-CN" altLang="en-US" sz="2600" b="0" dirty="0">
                <a:latin typeface="Times New Roman" panose="02020603050405020304" pitchFamily="18" charset="0"/>
                <a:cs typeface="Times New Roman" panose="02020603050405020304" pitchFamily="18" charset="0"/>
              </a:rPr>
              <a:t>列名</a:t>
            </a:r>
            <a:r>
              <a:rPr lang="en-US" altLang="zh-CN" sz="2600" b="0" dirty="0">
                <a:latin typeface="Times New Roman" panose="02020603050405020304" pitchFamily="18" charset="0"/>
                <a:cs typeface="Times New Roman" panose="02020603050405020304" pitchFamily="18" charset="0"/>
              </a:rPr>
              <a:t>1&gt;[HAVING &lt;</a:t>
            </a:r>
            <a:r>
              <a:rPr lang="zh-CN" altLang="en-US" sz="2600" b="0" dirty="0">
                <a:latin typeface="Times New Roman" panose="02020603050405020304" pitchFamily="18" charset="0"/>
                <a:cs typeface="Times New Roman" panose="02020603050405020304" pitchFamily="18" charset="0"/>
              </a:rPr>
              <a:t>条件表达式</a:t>
            </a:r>
            <a:r>
              <a:rPr lang="en-US" altLang="zh-CN" sz="2600" b="0" dirty="0">
                <a:latin typeface="Times New Roman" panose="02020603050405020304" pitchFamily="18" charset="0"/>
                <a:cs typeface="Times New Roman" panose="02020603050405020304" pitchFamily="18" charset="0"/>
              </a:rPr>
              <a:t>&gt;]] </a:t>
            </a:r>
            <a:endParaRPr lang="en-US" altLang="zh-CN" sz="2600" b="0" dirty="0">
              <a:latin typeface="Times New Roman" panose="02020603050405020304" pitchFamily="18" charset="0"/>
              <a:cs typeface="Times New Roman" panose="02020603050405020304" pitchFamily="18" charset="0"/>
            </a:endParaRPr>
          </a:p>
          <a:p>
            <a:pPr marL="274955" indent="-274955">
              <a:lnSpc>
                <a:spcPct val="150000"/>
              </a:lnSpc>
              <a:buNone/>
            </a:pPr>
            <a:r>
              <a:rPr lang="en-US" altLang="zh-CN" sz="2600" b="0" dirty="0">
                <a:latin typeface="Times New Roman" panose="02020603050405020304" pitchFamily="18" charset="0"/>
                <a:cs typeface="Times New Roman" panose="02020603050405020304" pitchFamily="18" charset="0"/>
              </a:rPr>
              <a:t>   		[ORDER BY &lt;</a:t>
            </a:r>
            <a:r>
              <a:rPr lang="zh-CN" altLang="en-US" sz="2600" b="0" dirty="0">
                <a:latin typeface="Times New Roman" panose="02020603050405020304" pitchFamily="18" charset="0"/>
                <a:cs typeface="Times New Roman" panose="02020603050405020304" pitchFamily="18" charset="0"/>
              </a:rPr>
              <a:t>列名</a:t>
            </a:r>
            <a:r>
              <a:rPr lang="en-US" altLang="zh-CN" sz="2600" b="0" dirty="0">
                <a:latin typeface="Times New Roman" panose="02020603050405020304" pitchFamily="18" charset="0"/>
                <a:cs typeface="Times New Roman" panose="02020603050405020304" pitchFamily="18" charset="0"/>
              </a:rPr>
              <a:t>2&gt; [ASC|DESC]];</a:t>
            </a:r>
            <a:endParaRPr kumimoji="1" lang="zh-CN" altLang="en-US" sz="26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a:bodyPr>
          <a:lstStyle/>
          <a:p>
            <a:r>
              <a:rPr kumimoji="1" lang="zh-CN" altLang="en-US" sz="2600" dirty="0"/>
              <a:t>基本查询语句</a:t>
            </a:r>
            <a:endParaRPr kumimoji="1" lang="en-US" altLang="zh-CN" sz="2600" dirty="0"/>
          </a:p>
          <a:p>
            <a:pPr lvl="1">
              <a:lnSpc>
                <a:spcPct val="140000"/>
              </a:lnSpc>
            </a:pPr>
            <a:r>
              <a:rPr kumimoji="1" lang="zh-CN" altLang="en-US" sz="2600" b="0" dirty="0">
                <a:latin typeface="Times New Roman" panose="02020603050405020304" pitchFamily="18" charset="0"/>
                <a:cs typeface="Times New Roman" panose="02020603050405020304" pitchFamily="18" charset="0"/>
              </a:rPr>
              <a:t>整个</a:t>
            </a:r>
            <a:r>
              <a:rPr kumimoji="1" lang="en-GB" altLang="zh-CN" sz="2600" b="0" dirty="0">
                <a:latin typeface="Times New Roman" panose="02020603050405020304" pitchFamily="18" charset="0"/>
                <a:cs typeface="Times New Roman" panose="02020603050405020304" pitchFamily="18" charset="0"/>
              </a:rPr>
              <a:t>SELECT</a:t>
            </a:r>
            <a:r>
              <a:rPr kumimoji="1" lang="zh-CN" altLang="en-US" sz="2600" b="0" dirty="0">
                <a:latin typeface="Times New Roman" panose="02020603050405020304" pitchFamily="18" charset="0"/>
                <a:cs typeface="Times New Roman" panose="02020603050405020304" pitchFamily="18" charset="0"/>
              </a:rPr>
              <a:t>语句的含义是，根据</a:t>
            </a:r>
            <a:r>
              <a:rPr kumimoji="1" lang="en-GB" altLang="zh-CN" sz="2600" b="0" dirty="0">
                <a:latin typeface="Times New Roman" panose="02020603050405020304" pitchFamily="18" charset="0"/>
                <a:cs typeface="Times New Roman" panose="02020603050405020304" pitchFamily="18" charset="0"/>
              </a:rPr>
              <a:t>WHERE</a:t>
            </a:r>
            <a:r>
              <a:rPr kumimoji="1" lang="zh-CN" altLang="en-US" sz="2600" b="0" dirty="0">
                <a:latin typeface="Times New Roman" panose="02020603050405020304" pitchFamily="18" charset="0"/>
                <a:cs typeface="Times New Roman" panose="02020603050405020304" pitchFamily="18" charset="0"/>
              </a:rPr>
              <a:t>子句的条件表达式，从</a:t>
            </a:r>
            <a:r>
              <a:rPr kumimoji="1" lang="en-GB" altLang="zh-CN" sz="2600" b="0" dirty="0">
                <a:latin typeface="Times New Roman" panose="02020603050405020304" pitchFamily="18" charset="0"/>
                <a:cs typeface="Times New Roman" panose="02020603050405020304" pitchFamily="18" charset="0"/>
              </a:rPr>
              <a:t>FROM</a:t>
            </a:r>
            <a:r>
              <a:rPr kumimoji="1" lang="zh-CN" altLang="en-US" sz="2600" b="0" dirty="0">
                <a:latin typeface="Times New Roman" panose="02020603050405020304" pitchFamily="18" charset="0"/>
                <a:cs typeface="Times New Roman" panose="02020603050405020304" pitchFamily="18" charset="0"/>
              </a:rPr>
              <a:t>子句指定的基本表或视图中找出满足条件的元组，再按</a:t>
            </a:r>
            <a:r>
              <a:rPr kumimoji="1" lang="en-GB" altLang="zh-CN" sz="2600" b="0" dirty="0">
                <a:latin typeface="Times New Roman" panose="02020603050405020304" pitchFamily="18" charset="0"/>
                <a:cs typeface="Times New Roman" panose="02020603050405020304" pitchFamily="18" charset="0"/>
              </a:rPr>
              <a:t>SELECT</a:t>
            </a:r>
            <a:r>
              <a:rPr kumimoji="1" lang="zh-CN" altLang="en-US" sz="2600" b="0" dirty="0">
                <a:latin typeface="Times New Roman" panose="02020603050405020304" pitchFamily="18" charset="0"/>
                <a:cs typeface="Times New Roman" panose="02020603050405020304" pitchFamily="18" charset="0"/>
              </a:rPr>
              <a:t>子句中的目标列表达式，选出元组中的属性值形成结果表</a:t>
            </a:r>
            <a:endParaRPr kumimoji="1" lang="zh-CN" altLang="en-US"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US" sz="1300" b="0" dirty="0">
              <a:latin typeface="Times New Roman" panose="02020603050405020304" pitchFamily="18" charset="0"/>
              <a:cs typeface="Times New Roman" panose="02020603050405020304" pitchFamily="18" charset="0"/>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如果有</a:t>
            </a:r>
            <a:r>
              <a:rPr kumimoji="1" lang="en-GB" altLang="zh-CN" sz="2600" b="0" dirty="0">
                <a:latin typeface="Times New Roman" panose="02020603050405020304" pitchFamily="18" charset="0"/>
                <a:cs typeface="Times New Roman" panose="02020603050405020304" pitchFamily="18" charset="0"/>
              </a:rPr>
              <a:t>GROUP</a:t>
            </a:r>
            <a:r>
              <a:rPr kumimoji="1" lang="zh-CN" altLang="en-US" sz="2600" b="0" dirty="0">
                <a:latin typeface="Times New Roman" panose="02020603050405020304" pitchFamily="18" charset="0"/>
                <a:cs typeface="Times New Roman" panose="02020603050405020304" pitchFamily="18" charset="0"/>
              </a:rPr>
              <a:t>子句，则将结果按</a:t>
            </a:r>
            <a:r>
              <a:rPr kumimoji="1" lang="en-US" altLang="zh-CN" sz="2600" b="0" dirty="0">
                <a:latin typeface="Times New Roman" panose="02020603050405020304" pitchFamily="18" charset="0"/>
                <a:cs typeface="Times New Roman" panose="02020603050405020304" pitchFamily="18" charset="0"/>
              </a:rPr>
              <a:t>&lt;</a:t>
            </a:r>
            <a:r>
              <a:rPr kumimoji="1" lang="zh-CN" altLang="en-US" sz="2600" b="0" dirty="0">
                <a:latin typeface="Times New Roman" panose="02020603050405020304" pitchFamily="18" charset="0"/>
                <a:cs typeface="Times New Roman" panose="02020603050405020304" pitchFamily="18" charset="0"/>
              </a:rPr>
              <a:t>列名</a:t>
            </a:r>
            <a:r>
              <a:rPr kumimoji="1" lang="en-US" altLang="zh-CN" sz="2600" b="0" dirty="0">
                <a:latin typeface="Times New Roman" panose="02020603050405020304" pitchFamily="18" charset="0"/>
                <a:cs typeface="Times New Roman" panose="02020603050405020304" pitchFamily="18" charset="0"/>
              </a:rPr>
              <a:t>1&gt;</a:t>
            </a:r>
            <a:r>
              <a:rPr kumimoji="1" lang="zh-CN" altLang="en-US" sz="2600" b="0" dirty="0">
                <a:latin typeface="Times New Roman" panose="02020603050405020304" pitchFamily="18" charset="0"/>
                <a:cs typeface="Times New Roman" panose="02020603050405020304" pitchFamily="18" charset="0"/>
              </a:rPr>
              <a:t>的值进行分组，该属性列值相等的元组为一个组，每个组产生结果表中的一条记录</a:t>
            </a:r>
            <a:r>
              <a:rPr kumimoji="1" lang="en-US" altLang="zh-CN" sz="2600" b="0" dirty="0">
                <a:latin typeface="Times New Roman" panose="02020603050405020304" pitchFamily="18" charset="0"/>
                <a:cs typeface="Times New Roman" panose="02020603050405020304" pitchFamily="18" charset="0"/>
              </a:rPr>
              <a:t>,</a:t>
            </a:r>
            <a:r>
              <a:rPr kumimoji="1" lang="zh-CN" altLang="en-US" sz="2600" b="0" dirty="0">
                <a:latin typeface="Times New Roman" panose="02020603050405020304" pitchFamily="18" charset="0"/>
                <a:cs typeface="Times New Roman" panose="02020603050405020304" pitchFamily="18" charset="0"/>
              </a:rPr>
              <a:t>通常会在每组中作用集函数</a:t>
            </a:r>
            <a:endParaRPr kumimoji="1" lang="zh-CN" altLang="en-US"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US" sz="1300" b="0" dirty="0">
              <a:latin typeface="Times New Roman" panose="02020603050405020304" pitchFamily="18" charset="0"/>
              <a:cs typeface="Times New Roman" panose="02020603050405020304" pitchFamily="18" charset="0"/>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如果</a:t>
            </a:r>
            <a:r>
              <a:rPr kumimoji="1" lang="en-GB" altLang="zh-CN" sz="2600" b="0" dirty="0">
                <a:latin typeface="Times New Roman" panose="02020603050405020304" pitchFamily="18" charset="0"/>
                <a:cs typeface="Times New Roman" panose="02020603050405020304" pitchFamily="18" charset="0"/>
              </a:rPr>
              <a:t>GROUP</a:t>
            </a:r>
            <a:r>
              <a:rPr kumimoji="1" lang="zh-CN" altLang="en-US" sz="2600" b="0" dirty="0">
                <a:latin typeface="Times New Roman" panose="02020603050405020304" pitchFamily="18" charset="0"/>
                <a:cs typeface="Times New Roman" panose="02020603050405020304" pitchFamily="18" charset="0"/>
              </a:rPr>
              <a:t>子句带</a:t>
            </a:r>
            <a:r>
              <a:rPr kumimoji="1" lang="en-GB" altLang="zh-CN" sz="2600" b="0" dirty="0">
                <a:latin typeface="Times New Roman" panose="02020603050405020304" pitchFamily="18" charset="0"/>
                <a:cs typeface="Times New Roman" panose="02020603050405020304" pitchFamily="18" charset="0"/>
              </a:rPr>
              <a:t>HAVING</a:t>
            </a:r>
            <a:r>
              <a:rPr kumimoji="1" lang="zh-CN" altLang="en-US" sz="2600" b="0" dirty="0">
                <a:latin typeface="Times New Roman" panose="02020603050405020304" pitchFamily="18" charset="0"/>
                <a:cs typeface="Times New Roman" panose="02020603050405020304" pitchFamily="18" charset="0"/>
              </a:rPr>
              <a:t>短语，则只有满足指定条件的组才予输出</a:t>
            </a:r>
            <a:endParaRPr kumimoji="1" lang="zh-CN" altLang="en-US"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US" sz="1300" b="0" dirty="0">
              <a:latin typeface="Times New Roman" panose="02020603050405020304" pitchFamily="18" charset="0"/>
              <a:cs typeface="Times New Roman" panose="02020603050405020304" pitchFamily="18" charset="0"/>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如果有</a:t>
            </a:r>
            <a:r>
              <a:rPr kumimoji="1" lang="en-GB" altLang="zh-CN" sz="2600" b="0" dirty="0">
                <a:latin typeface="Times New Roman" panose="02020603050405020304" pitchFamily="18" charset="0"/>
                <a:cs typeface="Times New Roman" panose="02020603050405020304" pitchFamily="18" charset="0"/>
              </a:rPr>
              <a:t>ORDER</a:t>
            </a:r>
            <a:r>
              <a:rPr kumimoji="1" lang="zh-CN" altLang="en-US" sz="2600" b="0" dirty="0">
                <a:latin typeface="Times New Roman" panose="02020603050405020304" pitchFamily="18" charset="0"/>
                <a:cs typeface="Times New Roman" panose="02020603050405020304" pitchFamily="18" charset="0"/>
              </a:rPr>
              <a:t>子句，则结果表还要按</a:t>
            </a:r>
            <a:r>
              <a:rPr kumimoji="1" lang="en-US" altLang="zh-CN" sz="2600" b="0" dirty="0">
                <a:latin typeface="Times New Roman" panose="02020603050405020304" pitchFamily="18" charset="0"/>
                <a:cs typeface="Times New Roman" panose="02020603050405020304" pitchFamily="18" charset="0"/>
              </a:rPr>
              <a:t>&lt;</a:t>
            </a:r>
            <a:r>
              <a:rPr kumimoji="1" lang="zh-CN" altLang="en-US" sz="2600" b="0" dirty="0">
                <a:latin typeface="Times New Roman" panose="02020603050405020304" pitchFamily="18" charset="0"/>
                <a:cs typeface="Times New Roman" panose="02020603050405020304" pitchFamily="18" charset="0"/>
              </a:rPr>
              <a:t>列名</a:t>
            </a:r>
            <a:r>
              <a:rPr kumimoji="1" lang="en-US" altLang="zh-CN" sz="2600" b="0" dirty="0">
                <a:latin typeface="Times New Roman" panose="02020603050405020304" pitchFamily="18" charset="0"/>
                <a:cs typeface="Times New Roman" panose="02020603050405020304" pitchFamily="18" charset="0"/>
              </a:rPr>
              <a:t>2&gt;</a:t>
            </a:r>
            <a:r>
              <a:rPr kumimoji="1" lang="zh-CN" altLang="en-US" sz="2600" b="0" dirty="0">
                <a:latin typeface="Times New Roman" panose="02020603050405020304" pitchFamily="18" charset="0"/>
                <a:cs typeface="Times New Roman" panose="02020603050405020304" pitchFamily="18" charset="0"/>
              </a:rPr>
              <a:t>的值的升序或降序进行排序</a:t>
            </a:r>
            <a:endParaRPr kumimoji="1" lang="zh-CN" altLang="en-US" sz="26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基本查询语句</a:t>
            </a:r>
            <a:endParaRPr kumimoji="1" lang="en-US" altLang="zh-CN" sz="2600" dirty="0"/>
          </a:p>
          <a:p>
            <a:pPr lvl="1" algn="l">
              <a:lnSpc>
                <a:spcPct val="140000"/>
              </a:lnSpc>
            </a:pPr>
            <a:r>
              <a:rPr lang="zh-CN" altLang="en-US" sz="2800" dirty="0">
                <a:solidFill>
                  <a:srgbClr val="000000"/>
                </a:solidFill>
              </a:rPr>
              <a:t>一个典型的</a:t>
            </a:r>
            <a:r>
              <a:rPr lang="en-US" altLang="zh-CN" sz="2800" dirty="0">
                <a:solidFill>
                  <a:srgbClr val="000000"/>
                </a:solidFill>
              </a:rPr>
              <a:t>SQL</a:t>
            </a:r>
            <a:r>
              <a:rPr lang="zh-CN" altLang="en-US" sz="2800" dirty="0">
                <a:solidFill>
                  <a:srgbClr val="000000"/>
                </a:solidFill>
              </a:rPr>
              <a:t>查询采用如下的基本形式</a:t>
            </a:r>
            <a:r>
              <a:rPr lang="en-US" altLang="zh-CN" sz="2800" dirty="0">
                <a:solidFill>
                  <a:srgbClr val="000000"/>
                </a:solidFill>
              </a:rPr>
              <a:t>:</a:t>
            </a:r>
            <a:endParaRPr lang="en-US" altLang="zh-CN" sz="2800" dirty="0">
              <a:solidFill>
                <a:srgbClr val="000000"/>
              </a:solidFill>
            </a:endParaRPr>
          </a:p>
          <a:p>
            <a:pPr marL="457200" lvl="1" indent="0" algn="l">
              <a:lnSpc>
                <a:spcPct val="140000"/>
              </a:lnSpc>
              <a:buNone/>
            </a:pPr>
            <a:r>
              <a:rPr lang="zh-CN" altLang="en-US" sz="2800" b="1" dirty="0">
                <a:solidFill>
                  <a:srgbClr val="000000"/>
                </a:solidFill>
                <a:latin typeface="Times New Roman" panose="02020603050405020304" pitchFamily="18" charset="0"/>
                <a:cs typeface="Times New Roman" panose="02020603050405020304" pitchFamily="18" charset="0"/>
              </a:rPr>
              <a:t>    </a:t>
            </a:r>
            <a:r>
              <a:rPr lang="en-US" altLang="zh-CN" sz="2800" b="1" dirty="0">
                <a:solidFill>
                  <a:srgbClr val="000000"/>
                </a:solidFill>
                <a:latin typeface="Times New Roman" panose="02020603050405020304" pitchFamily="18" charset="0"/>
                <a:cs typeface="Times New Roman" panose="02020603050405020304" pitchFamily="18" charset="0"/>
              </a:rPr>
              <a:t>SELECT   </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 ..., </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br>
              <a:rPr lang="en-US" altLang="zh-CN" sz="2800" dirty="0">
                <a:solidFill>
                  <a:srgbClr val="000000"/>
                </a:solidFill>
                <a:latin typeface="Times New Roman" panose="02020603050405020304" pitchFamily="18" charset="0"/>
                <a:cs typeface="Times New Roman" panose="02020603050405020304" pitchFamily="18" charset="0"/>
              </a:rPr>
            </a:br>
            <a:r>
              <a:rPr lang="zh-CN" altLang="en-US" sz="2800" dirty="0">
                <a:solidFill>
                  <a:srgbClr val="000000"/>
                </a:solidFill>
                <a:latin typeface="Times New Roman" panose="02020603050405020304" pitchFamily="18" charset="0"/>
                <a:cs typeface="Times New Roman" panose="02020603050405020304" pitchFamily="18" charset="0"/>
              </a:rPr>
              <a:t>    </a:t>
            </a:r>
            <a:r>
              <a:rPr lang="en-US" altLang="zh-CN" sz="2800" b="1" dirty="0">
                <a:solidFill>
                  <a:srgbClr val="000000"/>
                </a:solidFill>
                <a:latin typeface="Times New Roman" panose="02020603050405020304" pitchFamily="18" charset="0"/>
                <a:cs typeface="Times New Roman" panose="02020603050405020304" pitchFamily="18" charset="0"/>
              </a:rPr>
              <a:t>FROM</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 ..., </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br>
              <a:rPr lang="en-US" altLang="zh-CN" sz="2800" dirty="0">
                <a:solidFill>
                  <a:srgbClr val="000000"/>
                </a:solidFill>
                <a:latin typeface="Times New Roman" panose="02020603050405020304" pitchFamily="18" charset="0"/>
                <a:cs typeface="Times New Roman" panose="02020603050405020304" pitchFamily="18" charset="0"/>
              </a:rPr>
            </a:br>
            <a:r>
              <a:rPr lang="zh-CN" altLang="en-US" sz="2800" dirty="0">
                <a:solidFill>
                  <a:srgbClr val="000000"/>
                </a:solidFill>
                <a:latin typeface="Times New Roman" panose="02020603050405020304" pitchFamily="18" charset="0"/>
                <a:cs typeface="Times New Roman" panose="02020603050405020304" pitchFamily="18" charset="0"/>
              </a:rPr>
              <a:t>    </a:t>
            </a:r>
            <a:r>
              <a:rPr lang="en-US" altLang="zh-CN" sz="2800" b="1" dirty="0">
                <a:solidFill>
                  <a:srgbClr val="000000"/>
                </a:solidFill>
                <a:latin typeface="Times New Roman" panose="02020603050405020304" pitchFamily="18" charset="0"/>
                <a:cs typeface="Times New Roman" panose="02020603050405020304" pitchFamily="18" charset="0"/>
              </a:rPr>
              <a:t>WHERE   </a:t>
            </a:r>
            <a:r>
              <a:rPr lang="en-US" altLang="zh-CN" sz="2800" i="1" dirty="0">
                <a:solidFill>
                  <a:srgbClr val="000000"/>
                </a:solidFill>
                <a:latin typeface="Times New Roman" panose="02020603050405020304" pitchFamily="18" charset="0"/>
                <a:cs typeface="Times New Roman" panose="02020603050405020304" pitchFamily="18" charset="0"/>
              </a:rPr>
              <a:t>P</a:t>
            </a:r>
            <a:endParaRPr lang="en-US" altLang="zh-CN" sz="2800" dirty="0">
              <a:solidFill>
                <a:srgbClr val="000000"/>
              </a:solidFill>
              <a:latin typeface="Times New Roman" panose="02020603050405020304" pitchFamily="18" charset="0"/>
              <a:cs typeface="Times New Roman" panose="02020603050405020304" pitchFamily="18" charset="0"/>
            </a:endParaRPr>
          </a:p>
          <a:p>
            <a:pPr lvl="1" algn="l">
              <a:lnSpc>
                <a:spcPct val="140000"/>
              </a:lnSpc>
            </a:pPr>
            <a:r>
              <a:rPr kumimoji="1" lang="zh-CN" altLang="en-US" sz="2600" b="0" dirty="0">
                <a:cs typeface="Times New Roman" panose="02020603050405020304" pitchFamily="18" charset="0"/>
              </a:rPr>
              <a:t>其等价的关系代数表达式：</a:t>
            </a:r>
            <a:endParaRPr kumimoji="1" lang="en-US" altLang="zh-CN" sz="2600" b="0" dirty="0">
              <a:cs typeface="Times New Roman" panose="02020603050405020304" pitchFamily="18" charset="0"/>
            </a:endParaRPr>
          </a:p>
          <a:p>
            <a:pPr marL="457200" lvl="1" indent="0">
              <a:lnSpc>
                <a:spcPct val="140000"/>
              </a:lnSpc>
              <a:buNone/>
            </a:pPr>
            <a:endParaRPr kumimoji="1" lang="zh-CN" altLang="en-US" sz="2600" b="0" dirty="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aphicFrame>
        <p:nvGraphicFramePr>
          <p:cNvPr id="6" name="Object 4"/>
          <p:cNvGraphicFramePr>
            <a:graphicFrameLocks noChangeAspect="1"/>
          </p:cNvGraphicFramePr>
          <p:nvPr/>
        </p:nvGraphicFramePr>
        <p:xfrm>
          <a:off x="2197100" y="5138735"/>
          <a:ext cx="4248150" cy="500062"/>
        </p:xfrm>
        <a:graphic>
          <a:graphicData uri="http://schemas.openxmlformats.org/presentationml/2006/ole">
            <mc:AlternateContent xmlns:mc="http://schemas.openxmlformats.org/markup-compatibility/2006">
              <mc:Choice xmlns:v="urn:schemas-microsoft-com:vml" Requires="v">
                <p:oleObj spid="_x0000_s1026" name="Equation" r:id="rId1" imgW="72542400" imgH="8534400" progId="Equation.3">
                  <p:embed/>
                </p:oleObj>
              </mc:Choice>
              <mc:Fallback>
                <p:oleObj name="Equation" r:id="rId1" imgW="72542400" imgH="85344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100" y="5138735"/>
                        <a:ext cx="4248150"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单表查询</a:t>
            </a:r>
            <a:endParaRPr lang="en-US" altLang="zh-CN" sz="2800" dirty="0">
              <a:solidFill>
                <a:srgbClr val="000000"/>
              </a:solidFill>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查询仅涉及一个表：</a:t>
            </a:r>
            <a:endParaRPr kumimoji="1" lang="en-US" altLang="zh-CN" sz="2600" b="0" dirty="0">
              <a:latin typeface="Times New Roman" panose="02020603050405020304" pitchFamily="18" charset="0"/>
              <a:cs typeface="Times New Roman" panose="02020603050405020304" pitchFamily="18" charset="0"/>
            </a:endParaRPr>
          </a:p>
          <a:p>
            <a:pPr lvl="2">
              <a:lnSpc>
                <a:spcPct val="140000"/>
              </a:lnSpc>
            </a:pPr>
            <a:r>
              <a:rPr kumimoji="1" lang="zh-CN" altLang="en-US" sz="2600" b="0" dirty="0">
                <a:latin typeface="Times New Roman" panose="02020603050405020304" pitchFamily="18" charset="0"/>
                <a:cs typeface="Times New Roman" panose="02020603050405020304" pitchFamily="18" charset="0"/>
              </a:rPr>
              <a:t>选择表中的若干列</a:t>
            </a:r>
            <a:endParaRPr kumimoji="1" lang="en-US" altLang="zh-CN" sz="2600" dirty="0">
              <a:latin typeface="Times New Roman" panose="02020603050405020304" pitchFamily="18" charset="0"/>
              <a:cs typeface="Times New Roman" panose="02020603050405020304" pitchFamily="18" charset="0"/>
            </a:endParaRPr>
          </a:p>
          <a:p>
            <a:pPr lvl="2">
              <a:lnSpc>
                <a:spcPct val="140000"/>
              </a:lnSpc>
            </a:pPr>
            <a:r>
              <a:rPr kumimoji="1" lang="zh-CN" altLang="en-US" sz="2600" b="0" dirty="0">
                <a:latin typeface="Times New Roman" panose="02020603050405020304" pitchFamily="18" charset="0"/>
                <a:cs typeface="Times New Roman" panose="02020603050405020304" pitchFamily="18" charset="0"/>
              </a:rPr>
              <a:t>选择表中的若干元组</a:t>
            </a:r>
            <a:endParaRPr kumimoji="1" lang="zh-CN" altLang="en-US" sz="2600" b="0" dirty="0">
              <a:latin typeface="Times New Roman" panose="02020603050405020304" pitchFamily="18" charset="0"/>
              <a:cs typeface="Times New Roman" panose="02020603050405020304" pitchFamily="18" charset="0"/>
            </a:endParaRPr>
          </a:p>
          <a:p>
            <a:pPr lvl="2">
              <a:lnSpc>
                <a:spcPct val="140000"/>
              </a:lnSpc>
            </a:pPr>
            <a:r>
              <a:rPr kumimoji="1" lang="en-GB" altLang="zh-CN" sz="2600" b="0" dirty="0">
                <a:latin typeface="Times New Roman" panose="02020603050405020304" pitchFamily="18" charset="0"/>
                <a:cs typeface="Times New Roman" panose="02020603050405020304" pitchFamily="18" charset="0"/>
              </a:rPr>
              <a:t>ORDER BY</a:t>
            </a:r>
            <a:r>
              <a:rPr kumimoji="1" lang="zh-CN" altLang="en-US" sz="2600" b="0" dirty="0">
                <a:latin typeface="Times New Roman" panose="02020603050405020304" pitchFamily="18" charset="0"/>
                <a:cs typeface="Times New Roman" panose="02020603050405020304" pitchFamily="18" charset="0"/>
              </a:rPr>
              <a:t>子句</a:t>
            </a:r>
            <a:endParaRPr kumimoji="1" lang="zh-CN" altLang="en-US" sz="2600" b="0" dirty="0">
              <a:latin typeface="Times New Roman" panose="02020603050405020304" pitchFamily="18" charset="0"/>
              <a:cs typeface="Times New Roman" panose="02020603050405020304" pitchFamily="18" charset="0"/>
            </a:endParaRPr>
          </a:p>
          <a:p>
            <a:pPr lvl="2">
              <a:lnSpc>
                <a:spcPct val="140000"/>
              </a:lnSpc>
            </a:pPr>
            <a:r>
              <a:rPr kumimoji="1" lang="zh-CN" altLang="en-US" sz="2600" b="0" dirty="0">
                <a:latin typeface="Times New Roman" panose="02020603050405020304" pitchFamily="18" charset="0"/>
                <a:cs typeface="Times New Roman" panose="02020603050405020304" pitchFamily="18" charset="0"/>
              </a:rPr>
              <a:t>聚集函数</a:t>
            </a:r>
            <a:endParaRPr kumimoji="1" lang="zh-CN" altLang="en-US" sz="2600" b="0" dirty="0">
              <a:latin typeface="Times New Roman" panose="02020603050405020304" pitchFamily="18" charset="0"/>
              <a:cs typeface="Times New Roman" panose="02020603050405020304" pitchFamily="18" charset="0"/>
            </a:endParaRPr>
          </a:p>
          <a:p>
            <a:pPr lvl="2">
              <a:lnSpc>
                <a:spcPct val="140000"/>
              </a:lnSpc>
            </a:pPr>
            <a:r>
              <a:rPr kumimoji="1" lang="en-GB" altLang="zh-CN" sz="2600" b="0" dirty="0">
                <a:latin typeface="Times New Roman" panose="02020603050405020304" pitchFamily="18" charset="0"/>
                <a:cs typeface="Times New Roman" panose="02020603050405020304" pitchFamily="18" charset="0"/>
              </a:rPr>
              <a:t>GROUP BY</a:t>
            </a:r>
            <a:r>
              <a:rPr kumimoji="1" lang="zh-CN" altLang="en-US" sz="2600" b="0" dirty="0">
                <a:latin typeface="Times New Roman" panose="02020603050405020304" pitchFamily="18" charset="0"/>
                <a:cs typeface="Times New Roman" panose="02020603050405020304" pitchFamily="18" charset="0"/>
              </a:rPr>
              <a:t>子句</a:t>
            </a:r>
            <a:endParaRPr kumimoji="1" lang="zh-CN" altLang="en-US"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US" sz="2600" b="0" dirty="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单表表中若干列</a:t>
            </a:r>
            <a:endParaRPr kumimoji="1" lang="en-US" altLang="zh-CN" sz="2600" b="0" dirty="0">
              <a:cs typeface="Times New Roman" panose="02020603050405020304" pitchFamily="18" charset="0"/>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查询指定列</a:t>
            </a:r>
            <a:endParaRPr kumimoji="1" lang="zh-CN" altLang="en-US" sz="2600" b="0" dirty="0">
              <a:latin typeface="Times New Roman" panose="02020603050405020304" pitchFamily="18" charset="0"/>
              <a:cs typeface="Times New Roman" panose="02020603050405020304" pitchFamily="18" charset="0"/>
            </a:endParaRPr>
          </a:p>
          <a:p>
            <a:pPr lvl="1">
              <a:lnSpc>
                <a:spcPct val="140000"/>
              </a:lnSpc>
            </a:pPr>
            <a:r>
              <a:rPr kumimoji="1" lang="zh-CN" altLang="en-US" sz="2600" b="0" i="1" dirty="0">
                <a:latin typeface="Times New Roman" panose="02020603050405020304" pitchFamily="18" charset="0"/>
                <a:cs typeface="Times New Roman" panose="02020603050405020304" pitchFamily="18" charset="0"/>
              </a:rPr>
              <a:t>例</a:t>
            </a:r>
            <a:r>
              <a:rPr kumimoji="1" lang="en-US" altLang="zh-CN" sz="2600" b="0" i="1" dirty="0">
                <a:latin typeface="Times New Roman" panose="02020603050405020304" pitchFamily="18" charset="0"/>
                <a:cs typeface="Times New Roman" panose="02020603050405020304" pitchFamily="18" charset="0"/>
              </a:rPr>
              <a:t>3-9</a:t>
            </a:r>
            <a:r>
              <a:rPr kumimoji="1" lang="zh-CN" altLang="en-US" sz="2600" b="0" i="1" dirty="0">
                <a:latin typeface="Times New Roman" panose="02020603050405020304" pitchFamily="18" charset="0"/>
                <a:cs typeface="Times New Roman" panose="02020603050405020304" pitchFamily="18" charset="0"/>
              </a:rPr>
              <a:t>：查询全体学生的学号与姓名</a:t>
            </a:r>
            <a:endParaRPr kumimoji="1" lang="en-US" altLang="zh-CN" sz="2600" b="0" i="1" dirty="0">
              <a:latin typeface="Times New Roman" panose="02020603050405020304" pitchFamily="18" charset="0"/>
              <a:cs typeface="Times New Roman" panose="02020603050405020304" pitchFamily="18" charset="0"/>
            </a:endParaRPr>
          </a:p>
          <a:p>
            <a:pPr marL="457200" lvl="1" indent="0">
              <a:lnSpc>
                <a:spcPct val="140000"/>
              </a:lnSpc>
              <a:buNone/>
            </a:pPr>
            <a:r>
              <a:rPr kumimoji="1" lang="en-US" altLang="zh-CN" sz="2600" b="0" dirty="0">
                <a:latin typeface="Times New Roman" panose="02020603050405020304" pitchFamily="18" charset="0"/>
                <a:cs typeface="Times New Roman" panose="02020603050405020304" pitchFamily="18" charset="0"/>
              </a:rPr>
              <a:t> </a:t>
            </a:r>
            <a:endParaRPr kumimoji="1" lang="en-GB" altLang="zh-CN" sz="2600" b="0" dirty="0">
              <a:latin typeface="Times New Roman" panose="02020603050405020304" pitchFamily="18" charset="0"/>
              <a:cs typeface="Times New Roman" panose="02020603050405020304" pitchFamily="18" charset="0"/>
            </a:endParaRPr>
          </a:p>
          <a:p>
            <a:pPr marL="457200" lvl="1" indent="0">
              <a:lnSpc>
                <a:spcPct val="140000"/>
              </a:lnSpc>
              <a:buNone/>
            </a:pPr>
            <a:r>
              <a:rPr kumimoji="1" lang="zh-CN" altLang="en-US" sz="2600" b="0" dirty="0">
                <a:latin typeface="Times New Roman" panose="02020603050405020304" pitchFamily="18" charset="0"/>
                <a:cs typeface="Times New Roman" panose="02020603050405020304" pitchFamily="18" charset="0"/>
              </a:rPr>
              <a:t>          </a:t>
            </a:r>
            <a:r>
              <a:rPr kumimoji="1" lang="en-US" altLang="zh-CN" sz="2600" b="0" dirty="0">
                <a:latin typeface="Times New Roman" panose="02020603050405020304" pitchFamily="18" charset="0"/>
                <a:cs typeface="Times New Roman" panose="02020603050405020304" pitchFamily="18" charset="0"/>
              </a:rPr>
              <a:t> </a:t>
            </a:r>
            <a:endParaRPr kumimoji="1" lang="zh-CN" altLang="en-GB"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GB" sz="2600" b="0" dirty="0">
              <a:latin typeface="Times New Roman" panose="02020603050405020304" pitchFamily="18" charset="0"/>
              <a:cs typeface="Times New Roman" panose="02020603050405020304" pitchFamily="18" charset="0"/>
            </a:endParaRPr>
          </a:p>
          <a:p>
            <a:pPr lvl="1">
              <a:lnSpc>
                <a:spcPct val="140000"/>
              </a:lnSpc>
            </a:pPr>
            <a:r>
              <a:rPr kumimoji="1" lang="zh-CN" altLang="en-US" sz="2600" b="0" i="1" dirty="0">
                <a:latin typeface="Times New Roman" panose="02020603050405020304" pitchFamily="18" charset="0"/>
                <a:cs typeface="Times New Roman" panose="02020603050405020304" pitchFamily="18" charset="0"/>
              </a:rPr>
              <a:t>例</a:t>
            </a:r>
            <a:r>
              <a:rPr kumimoji="1" lang="en-US" altLang="zh-CN" sz="2600" b="0" i="1" dirty="0">
                <a:latin typeface="Times New Roman" panose="02020603050405020304" pitchFamily="18" charset="0"/>
                <a:cs typeface="Times New Roman" panose="02020603050405020304" pitchFamily="18" charset="0"/>
              </a:rPr>
              <a:t>3-10</a:t>
            </a:r>
            <a:r>
              <a:rPr kumimoji="1" lang="zh-CN" altLang="en-US" sz="2600" b="0" i="1" dirty="0">
                <a:latin typeface="Times New Roman" panose="02020603050405020304" pitchFamily="18" charset="0"/>
                <a:cs typeface="Times New Roman" panose="02020603050405020304" pitchFamily="18" charset="0"/>
              </a:rPr>
              <a:t>：查询全体学生的姓名、学号、所在系</a:t>
            </a:r>
            <a:endParaRPr kumimoji="1" lang="en-US" altLang="zh-CN" sz="2600" b="0" i="1" dirty="0">
              <a:latin typeface="Times New Roman" panose="02020603050405020304" pitchFamily="18" charset="0"/>
              <a:cs typeface="Times New Roman" panose="02020603050405020304" pitchFamily="18" charset="0"/>
            </a:endParaRPr>
          </a:p>
          <a:p>
            <a:pPr marL="457200" lvl="1" indent="0">
              <a:lnSpc>
                <a:spcPct val="140000"/>
              </a:lnSpc>
              <a:buNone/>
            </a:pPr>
            <a:r>
              <a:rPr kumimoji="1" lang="zh-CN" altLang="en-US" sz="2600" b="0" dirty="0">
                <a:latin typeface="Times New Roman" panose="02020603050405020304" pitchFamily="18" charset="0"/>
                <a:cs typeface="Times New Roman" panose="02020603050405020304" pitchFamily="18" charset="0"/>
              </a:rPr>
              <a:t>          </a:t>
            </a:r>
            <a:r>
              <a:rPr kumimoji="1" lang="en-US" altLang="zh-CN" sz="2600" b="0" dirty="0">
                <a:latin typeface="Times New Roman" panose="02020603050405020304" pitchFamily="18" charset="0"/>
                <a:cs typeface="Times New Roman" panose="02020603050405020304" pitchFamily="18" charset="0"/>
              </a:rPr>
              <a:t> </a:t>
            </a:r>
            <a:endParaRPr kumimoji="1" lang="en-GB" altLang="zh-CN" sz="2600" b="0" dirty="0">
              <a:latin typeface="Times New Roman" panose="02020603050405020304" pitchFamily="18" charset="0"/>
              <a:cs typeface="Times New Roman" panose="02020603050405020304" pitchFamily="18" charset="0"/>
            </a:endParaRPr>
          </a:p>
          <a:p>
            <a:pPr marL="457200" lvl="1" indent="0">
              <a:lnSpc>
                <a:spcPct val="140000"/>
              </a:lnSpc>
              <a:buNone/>
            </a:pPr>
            <a:r>
              <a:rPr kumimoji="1" lang="zh-CN" altLang="en-US" sz="2600" b="0" dirty="0">
                <a:latin typeface="Times New Roman" panose="02020603050405020304" pitchFamily="18" charset="0"/>
                <a:cs typeface="Times New Roman" panose="02020603050405020304" pitchFamily="18" charset="0"/>
              </a:rPr>
              <a:t>          </a:t>
            </a:r>
            <a:r>
              <a:rPr kumimoji="1" lang="en-US" altLang="zh-CN" sz="2600" b="0" dirty="0">
                <a:latin typeface="Times New Roman" panose="02020603050405020304" pitchFamily="18" charset="0"/>
                <a:cs typeface="Times New Roman" panose="02020603050405020304" pitchFamily="18" charset="0"/>
              </a:rPr>
              <a:t> </a:t>
            </a:r>
            <a:endParaRPr kumimoji="1" lang="zh-CN" altLang="en-GB" sz="2600" b="0" dirty="0">
              <a:latin typeface="Times New Roman" panose="02020603050405020304" pitchFamily="18" charset="0"/>
              <a:cs typeface="Times New Roman" panose="02020603050405020304" pitchFamily="18" charset="0"/>
            </a:endParaRPr>
          </a:p>
          <a:p>
            <a:pPr lvl="1">
              <a:lnSpc>
                <a:spcPct val="140000"/>
              </a:lnSpc>
            </a:pPr>
            <a:endParaRPr kumimoji="1" lang="zh-CN" altLang="en-US" sz="2600" b="0" dirty="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77122" y="3058461"/>
            <a:ext cx="7446373" cy="80077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kumimoji="1" lang="zh-CN" altLang="en-GB" sz="2000" dirty="0">
                <a:latin typeface="Cambria Math" panose="02040503050406030204" pitchFamily="18" charset="0"/>
                <a:cs typeface="Times New Roman" panose="02020603050405020304" pitchFamily="18" charset="0"/>
              </a:rPr>
              <a:t>，</a:t>
            </a:r>
            <a:r>
              <a:rPr kumimoji="1" lang="en-GB"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zh-CN" altLang="en-US" sz="2000" dirty="0">
              <a:solidFill>
                <a:srgbClr val="000000"/>
              </a:solidFill>
              <a:latin typeface="Cambria Math" panose="02040503050406030204" pitchFamily="18" charset="0"/>
              <a:cs typeface="Calibri" panose="020F0502020204030204" pitchFamily="34" charset="0"/>
            </a:endParaRPr>
          </a:p>
        </p:txBody>
      </p:sp>
      <p:sp>
        <p:nvSpPr>
          <p:cNvPr id="7" name="文本框 6"/>
          <p:cNvSpPr txBox="1"/>
          <p:nvPr/>
        </p:nvSpPr>
        <p:spPr bwMode="auto">
          <a:xfrm>
            <a:off x="1177122" y="5334006"/>
            <a:ext cx="7446373" cy="80077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kumimoji="1" lang="en-GB"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kumimoji="1" lang="zh-CN" altLang="en-GB" sz="2000" dirty="0">
                <a:latin typeface="Cambria Math" panose="02040503050406030204" pitchFamily="18" charset="0"/>
                <a:cs typeface="Times New Roman" panose="02020603050405020304" pitchFamily="18" charset="0"/>
              </a:rPr>
              <a:t>，</a:t>
            </a: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Sno</a:t>
            </a:r>
            <a:r>
              <a:rPr kumimoji="1" lang="zh-CN" altLang="en-GB" sz="2000" dirty="0">
                <a:latin typeface="Cambria Math" panose="02040503050406030204" pitchFamily="18" charset="0"/>
                <a:cs typeface="Times New Roman" panose="02020603050405020304" pitchFamily="18" charset="0"/>
              </a:rPr>
              <a:t>，</a:t>
            </a:r>
            <a:r>
              <a:rPr kumimoji="1" lang="en-GB"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endPar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buNone/>
            </a:pPr>
            <a:r>
              <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zh-CN" altLang="en-US" sz="2000" dirty="0">
              <a:solidFill>
                <a:srgbClr val="000000"/>
              </a:solidFill>
              <a:latin typeface="Cambria Math" panose="02040503050406030204" pitchFamily="18" charset="0"/>
              <a:cs typeface="Calibri" panose="020F0502020204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aphicFrame>
        <p:nvGraphicFramePr>
          <p:cNvPr id="6" name="Object 4"/>
          <p:cNvGraphicFramePr>
            <a:graphicFrameLocks noChangeAspect="1"/>
          </p:cNvGraphicFramePr>
          <p:nvPr/>
        </p:nvGraphicFramePr>
        <p:xfrm>
          <a:off x="4610102" y="2190750"/>
          <a:ext cx="3409950" cy="1514475"/>
        </p:xfrm>
        <a:graphic>
          <a:graphicData uri="http://schemas.openxmlformats.org/presentationml/2006/ole">
            <mc:AlternateContent xmlns:mc="http://schemas.openxmlformats.org/markup-compatibility/2006">
              <mc:Choice xmlns:v="urn:schemas-microsoft-com:vml" Requires="v">
                <p:oleObj spid="_x0000_s2050" name="位图图像" r:id="rId1" imgW="3067050" imgH="1362075" progId="Paint.Picture">
                  <p:embed/>
                </p:oleObj>
              </mc:Choice>
              <mc:Fallback>
                <p:oleObj name="位图图像" r:id="rId1" imgW="3067050" imgH="136207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0102" y="2190750"/>
                        <a:ext cx="34099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5"/>
          <p:cNvGrpSpPr/>
          <p:nvPr/>
        </p:nvGrpSpPr>
        <p:grpSpPr bwMode="auto">
          <a:xfrm>
            <a:off x="5668965" y="2060575"/>
            <a:ext cx="1482725" cy="1482725"/>
            <a:chOff x="1361" y="855"/>
            <a:chExt cx="934" cy="934"/>
          </a:xfrm>
        </p:grpSpPr>
        <p:sp>
          <p:nvSpPr>
            <p:cNvPr id="8" name="Line 6"/>
            <p:cNvSpPr>
              <a:spLocks noChangeShapeType="1"/>
            </p:cNvSpPr>
            <p:nvPr/>
          </p:nvSpPr>
          <p:spPr bwMode="auto">
            <a:xfrm>
              <a:off x="1361" y="864"/>
              <a:ext cx="9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7"/>
            <p:cNvSpPr>
              <a:spLocks noChangeShapeType="1"/>
            </p:cNvSpPr>
            <p:nvPr/>
          </p:nvSpPr>
          <p:spPr bwMode="auto">
            <a:xfrm>
              <a:off x="2287" y="890"/>
              <a:ext cx="0" cy="89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8"/>
            <p:cNvSpPr>
              <a:spLocks noChangeShapeType="1"/>
            </p:cNvSpPr>
            <p:nvPr/>
          </p:nvSpPr>
          <p:spPr bwMode="auto">
            <a:xfrm flipH="1">
              <a:off x="1405" y="1780"/>
              <a:ext cx="8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9"/>
            <p:cNvSpPr>
              <a:spLocks noChangeShapeType="1"/>
            </p:cNvSpPr>
            <p:nvPr/>
          </p:nvSpPr>
          <p:spPr bwMode="auto">
            <a:xfrm flipV="1">
              <a:off x="1388" y="855"/>
              <a:ext cx="0" cy="90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 name="Line 10"/>
          <p:cNvSpPr>
            <a:spLocks noChangeShapeType="1"/>
          </p:cNvSpPr>
          <p:nvPr/>
        </p:nvSpPr>
        <p:spPr bwMode="auto">
          <a:xfrm>
            <a:off x="6419852" y="3557588"/>
            <a:ext cx="0" cy="11779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Object 11"/>
          <p:cNvGraphicFramePr>
            <a:graphicFrameLocks noChangeAspect="1"/>
          </p:cNvGraphicFramePr>
          <p:nvPr/>
        </p:nvGraphicFramePr>
        <p:xfrm>
          <a:off x="5746752" y="4767263"/>
          <a:ext cx="1509713" cy="1752600"/>
        </p:xfrm>
        <a:graphic>
          <a:graphicData uri="http://schemas.openxmlformats.org/presentationml/2006/ole">
            <mc:AlternateContent xmlns:mc="http://schemas.openxmlformats.org/markup-compatibility/2006">
              <mc:Choice xmlns:v="urn:schemas-microsoft-com:vml" Requires="v">
                <p:oleObj spid="_x0000_s2051" name="位图图像" r:id="rId3" imgW="1181100" imgH="1200150" progId="Paint.Picture">
                  <p:embed/>
                </p:oleObj>
              </mc:Choice>
              <mc:Fallback>
                <p:oleObj name="位图图像" r:id="rId3" imgW="1181100" imgH="1200150" progId="Paint.Picture">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752" y="4767263"/>
                        <a:ext cx="1509713"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2"/>
          <p:cNvSpPr txBox="1">
            <a:spLocks noChangeArrowheads="1"/>
          </p:cNvSpPr>
          <p:nvPr/>
        </p:nvSpPr>
        <p:spPr bwMode="auto">
          <a:xfrm>
            <a:off x="8415340" y="3792538"/>
            <a:ext cx="2660650" cy="132497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10000"/>
              </a:lnSpc>
              <a:spcBef>
                <a:spcPct val="35000"/>
              </a:spcBef>
              <a:buClr>
                <a:schemeClr val="tx2"/>
              </a:buClr>
              <a:buSzPct val="90000"/>
              <a:buFont typeface="Monotype Sorts" pitchFamily="2" charset="2"/>
              <a:buNone/>
            </a:pPr>
            <a:r>
              <a:rPr lang="en-US" altLang="zh-CN" sz="2200" b="1" dirty="0">
                <a:latin typeface="Times New Roman" panose="02020603050405020304" pitchFamily="18" charset="0"/>
                <a:cs typeface="Times New Roman" panose="02020603050405020304" pitchFamily="18" charset="0"/>
              </a:rPr>
              <a:t>select</a:t>
            </a:r>
            <a:r>
              <a:rPr lang="en-US" altLang="zh-CN" sz="2200" dirty="0">
                <a:latin typeface="Times New Roman" panose="02020603050405020304" pitchFamily="18" charset="0"/>
                <a:cs typeface="Times New Roman" panose="02020603050405020304" pitchFamily="18" charset="0"/>
              </a:rPr>
              <a:t> </a:t>
            </a:r>
            <a:r>
              <a:rPr lang="en-US" altLang="zh-CN" sz="2200" b="0" i="1" dirty="0" err="1">
                <a:latin typeface="Times New Roman" panose="02020603050405020304" pitchFamily="18" charset="0"/>
                <a:cs typeface="Times New Roman" panose="02020603050405020304" pitchFamily="18" charset="0"/>
              </a:rPr>
              <a:t>branch_name</a:t>
            </a:r>
            <a:endParaRPr lang="en-US" altLang="zh-CN" sz="2200" b="0" dirty="0">
              <a:latin typeface="Times New Roman" panose="02020603050405020304" pitchFamily="18" charset="0"/>
              <a:cs typeface="Times New Roman" panose="02020603050405020304" pitchFamily="18" charset="0"/>
            </a:endParaRPr>
          </a:p>
          <a:p>
            <a:pPr eaLnBrk="1" hangingPunct="1">
              <a:lnSpc>
                <a:spcPct val="110000"/>
              </a:lnSpc>
              <a:spcBef>
                <a:spcPct val="35000"/>
              </a:spcBef>
              <a:buClr>
                <a:schemeClr val="tx2"/>
              </a:buClr>
              <a:buSzPct val="90000"/>
              <a:buFont typeface="Monotype Sorts" pitchFamily="2" charset="2"/>
              <a:buNone/>
            </a:pPr>
            <a:r>
              <a:rPr lang="en-US" altLang="zh-CN" sz="2200" b="1" dirty="0">
                <a:latin typeface="Times New Roman" panose="02020603050405020304" pitchFamily="18" charset="0"/>
                <a:cs typeface="Times New Roman" panose="02020603050405020304" pitchFamily="18" charset="0"/>
              </a:rPr>
              <a:t>from</a:t>
            </a:r>
            <a:r>
              <a:rPr lang="en-US" altLang="zh-CN" sz="2200" dirty="0">
                <a:latin typeface="Times New Roman" panose="02020603050405020304" pitchFamily="18" charset="0"/>
                <a:cs typeface="Times New Roman" panose="02020603050405020304" pitchFamily="18" charset="0"/>
              </a:rPr>
              <a:t> </a:t>
            </a:r>
            <a:r>
              <a:rPr lang="en-US" altLang="zh-CN" sz="2200" b="0" i="1" dirty="0">
                <a:latin typeface="Times New Roman" panose="02020603050405020304" pitchFamily="18" charset="0"/>
                <a:cs typeface="Times New Roman" panose="02020603050405020304" pitchFamily="18" charset="0"/>
              </a:rPr>
              <a:t>loan</a:t>
            </a:r>
            <a:endParaRPr lang="en-US" altLang="zh-CN" sz="2200" b="0" i="1" dirty="0">
              <a:latin typeface="Times New Roman" panose="02020603050405020304" pitchFamily="18" charset="0"/>
              <a:cs typeface="Times New Roman" panose="02020603050405020304" pitchFamily="18" charset="0"/>
            </a:endParaRPr>
          </a:p>
          <a:p>
            <a:pPr>
              <a:spcBef>
                <a:spcPct val="50000"/>
              </a:spcBef>
              <a:buFontTx/>
              <a:buNone/>
            </a:pPr>
            <a:endParaRPr lang="zh-CN" altLang="en-US" sz="1600" b="0" dirty="0">
              <a:latin typeface="Helvetica" pitchFamily="2" charset="0"/>
            </a:endParaRPr>
          </a:p>
        </p:txBody>
      </p:sp>
      <p:grpSp>
        <p:nvGrpSpPr>
          <p:cNvPr id="15" name="Group 13"/>
          <p:cNvGrpSpPr/>
          <p:nvPr/>
        </p:nvGrpSpPr>
        <p:grpSpPr bwMode="auto">
          <a:xfrm>
            <a:off x="7224715" y="4970463"/>
            <a:ext cx="2090737" cy="735012"/>
            <a:chOff x="2287" y="2688"/>
            <a:chExt cx="1317" cy="463"/>
          </a:xfrm>
        </p:grpSpPr>
        <p:sp>
          <p:nvSpPr>
            <p:cNvPr id="16" name="Line 14"/>
            <p:cNvSpPr>
              <a:spLocks noChangeShapeType="1"/>
            </p:cNvSpPr>
            <p:nvPr/>
          </p:nvSpPr>
          <p:spPr bwMode="auto">
            <a:xfrm>
              <a:off x="3596" y="2688"/>
              <a:ext cx="0" cy="4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5"/>
            <p:cNvSpPr>
              <a:spLocks noChangeShapeType="1"/>
            </p:cNvSpPr>
            <p:nvPr/>
          </p:nvSpPr>
          <p:spPr bwMode="auto">
            <a:xfrm flipH="1">
              <a:off x="2287" y="3151"/>
              <a:ext cx="131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0" name="内容占位符 1"/>
          <p:cNvSpPr>
            <a:spLocks noGrp="1"/>
          </p:cNvSpPr>
          <p:nvPr>
            <p:ph idx="1"/>
          </p:nvPr>
        </p:nvSpPr>
        <p:spPr>
          <a:xfrm>
            <a:off x="397163" y="1219203"/>
            <a:ext cx="11453091" cy="5280071"/>
          </a:xfrm>
        </p:spPr>
        <p:txBody>
          <a:bodyPr>
            <a:normAutofit/>
          </a:bodyPr>
          <a:lstStyle/>
          <a:p>
            <a:r>
              <a:rPr kumimoji="1" lang="zh-CN" altLang="en-US" sz="2600" dirty="0"/>
              <a:t>选择表中若干列</a:t>
            </a:r>
            <a:endParaRPr kumimoji="1" lang="zh-CN" altLang="en-US" sz="2600" dirty="0"/>
          </a:p>
        </p:txBody>
      </p:sp>
      <p:sp>
        <p:nvSpPr>
          <p:cNvPr id="19" name="文本框 18"/>
          <p:cNvSpPr txBox="1"/>
          <p:nvPr/>
        </p:nvSpPr>
        <p:spPr bwMode="auto">
          <a:xfrm>
            <a:off x="810080" y="2056765"/>
            <a:ext cx="2523343" cy="79898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select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err="1">
                <a:latin typeface="Cambria Math" panose="02040503050406030204" pitchFamily="18" charset="0"/>
                <a:ea typeface="Cambria Math" panose="02040503050406030204" pitchFamily="18" charset="0"/>
                <a:cs typeface="Times New Roman" panose="02020603050405020304" pitchFamily="18" charset="0"/>
              </a:rPr>
              <a:t>branch_name</a:t>
            </a:r>
            <a:endParaRPr kumimoji="1" lang="en-GB"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buNone/>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from</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loan</a:t>
            </a:r>
            <a:endParaRPr lang="zh-CN" altLang="en-US" sz="2000" dirty="0">
              <a:solidFill>
                <a:srgbClr val="000000"/>
              </a:solidFill>
              <a:latin typeface="Cambria Math" panose="02040503050406030204" pitchFamily="18"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1000" fill="hold"/>
                                        <p:tgtEl>
                                          <p:spTgt spid="13"/>
                                        </p:tgtEl>
                                        <p:attrNameLst>
                                          <p:attrName>ppt_w</p:attrName>
                                        </p:attrNameLst>
                                      </p:cBhvr>
                                      <p:tavLst>
                                        <p:tav tm="0">
                                          <p:val>
                                            <p:fltVal val="0"/>
                                          </p:val>
                                        </p:tav>
                                        <p:tav tm="100000">
                                          <p:val>
                                            <p:strVal val="#ppt_w"/>
                                          </p:val>
                                        </p:tav>
                                      </p:tavLst>
                                    </p:anim>
                                    <p:anim calcmode="lin" valueType="num">
                                      <p:cBhvr>
                                        <p:cTn id="29" dur="1000" fill="hold"/>
                                        <p:tgtEl>
                                          <p:spTgt spid="13"/>
                                        </p:tgtEl>
                                        <p:attrNameLst>
                                          <p:attrName>ppt_h</p:attrName>
                                        </p:attrNameLst>
                                      </p:cBhvr>
                                      <p:tavLst>
                                        <p:tav tm="0">
                                          <p:val>
                                            <p:fltVal val="0"/>
                                          </p:val>
                                        </p:tav>
                                        <p:tav tm="100000">
                                          <p:val>
                                            <p:strVal val="#ppt_h"/>
                                          </p:val>
                                        </p:tav>
                                      </p:tavLst>
                                    </p:anim>
                                    <p:anim calcmode="lin" valueType="num">
                                      <p:cBhvr>
                                        <p:cTn id="30"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34" presetID="15"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1000" fill="hold"/>
                                        <p:tgtEl>
                                          <p:spTgt spid="14"/>
                                        </p:tgtEl>
                                        <p:attrNameLst>
                                          <p:attrName>ppt_w</p:attrName>
                                        </p:attrNameLst>
                                      </p:cBhvr>
                                      <p:tavLst>
                                        <p:tav tm="0">
                                          <p:val>
                                            <p:fltVal val="0"/>
                                          </p:val>
                                        </p:tav>
                                        <p:tav tm="100000">
                                          <p:val>
                                            <p:strVal val="#ppt_w"/>
                                          </p:val>
                                        </p:tav>
                                      </p:tavLst>
                                    </p:anim>
                                    <p:anim calcmode="lin" valueType="num">
                                      <p:cBhvr>
                                        <p:cTn id="37" dur="1000" fill="hold"/>
                                        <p:tgtEl>
                                          <p:spTgt spid="14"/>
                                        </p:tgtEl>
                                        <p:attrNameLst>
                                          <p:attrName>ppt_h</p:attrName>
                                        </p:attrNameLst>
                                      </p:cBhvr>
                                      <p:tavLst>
                                        <p:tav tm="0">
                                          <p:val>
                                            <p:fltVal val="0"/>
                                          </p:val>
                                        </p:tav>
                                        <p:tav tm="100000">
                                          <p:val>
                                            <p:strVal val="#ppt_h"/>
                                          </p:val>
                                        </p:tav>
                                      </p:tavLst>
                                    </p:anim>
                                    <p:anim calcmode="lin" valueType="num">
                                      <p:cBhvr>
                                        <p:cTn id="38"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查询全部列</a:t>
            </a:r>
            <a:endParaRPr kumimoji="1" lang="en-US" altLang="zh-CN" sz="2600" b="0" dirty="0">
              <a:cs typeface="Times New Roman" panose="02020603050405020304" pitchFamily="18" charset="0"/>
            </a:endParaRPr>
          </a:p>
          <a:p>
            <a:pPr lvl="1">
              <a:lnSpc>
                <a:spcPct val="140000"/>
              </a:lnSpc>
            </a:pPr>
            <a:r>
              <a:rPr kumimoji="1" lang="zh-CN" altLang="en-US" sz="2600" b="0" dirty="0">
                <a:latin typeface="Times New Roman" panose="02020603050405020304" pitchFamily="18" charset="0"/>
                <a:cs typeface="Times New Roman" panose="02020603050405020304" pitchFamily="18" charset="0"/>
              </a:rPr>
              <a:t>选出所有属性列：</a:t>
            </a:r>
            <a:endParaRPr kumimoji="1" lang="en-US" altLang="zh-CN" sz="2600" b="0" dirty="0">
              <a:latin typeface="Times New Roman" panose="02020603050405020304" pitchFamily="18" charset="0"/>
              <a:cs typeface="Times New Roman" panose="02020603050405020304" pitchFamily="18" charset="0"/>
            </a:endParaRPr>
          </a:p>
          <a:p>
            <a:pPr lvl="2">
              <a:lnSpc>
                <a:spcPct val="140000"/>
              </a:lnSpc>
            </a:pPr>
            <a:r>
              <a:rPr kumimoji="1" lang="zh-CN" altLang="en-US" sz="2400" b="0" dirty="0">
                <a:latin typeface="Times New Roman" panose="02020603050405020304" pitchFamily="18" charset="0"/>
                <a:cs typeface="Times New Roman" panose="02020603050405020304" pitchFamily="18" charset="0"/>
              </a:rPr>
              <a:t>在</a:t>
            </a:r>
            <a:r>
              <a:rPr kumimoji="1" lang="en-GB" altLang="zh-CN" sz="2400" b="0" dirty="0">
                <a:latin typeface="Times New Roman" panose="02020603050405020304" pitchFamily="18" charset="0"/>
                <a:cs typeface="Times New Roman" panose="02020603050405020304" pitchFamily="18" charset="0"/>
              </a:rPr>
              <a:t>SELECT</a:t>
            </a:r>
            <a:r>
              <a:rPr kumimoji="1" lang="zh-CN" altLang="en-US" sz="2400" b="0" dirty="0">
                <a:latin typeface="Times New Roman" panose="02020603050405020304" pitchFamily="18" charset="0"/>
                <a:cs typeface="Times New Roman" panose="02020603050405020304" pitchFamily="18" charset="0"/>
              </a:rPr>
              <a:t>关键字后面列出所有列名 </a:t>
            </a:r>
            <a:endParaRPr kumimoji="1" lang="zh-CN" altLang="en-US" sz="2400" b="0" dirty="0">
              <a:latin typeface="Times New Roman" panose="02020603050405020304" pitchFamily="18" charset="0"/>
              <a:cs typeface="Times New Roman" panose="02020603050405020304" pitchFamily="18" charset="0"/>
            </a:endParaRPr>
          </a:p>
          <a:p>
            <a:pPr lvl="2">
              <a:lnSpc>
                <a:spcPct val="140000"/>
              </a:lnSpc>
            </a:pPr>
            <a:r>
              <a:rPr kumimoji="1" lang="zh-CN" altLang="en-US" sz="2400" b="0" dirty="0">
                <a:latin typeface="Times New Roman" panose="02020603050405020304" pitchFamily="18" charset="0"/>
                <a:cs typeface="Times New Roman" panose="02020603050405020304" pitchFamily="18" charset="0"/>
              </a:rPr>
              <a:t>将</a:t>
            </a:r>
            <a:r>
              <a:rPr kumimoji="1" lang="en-US" altLang="zh-CN" sz="2400" b="0" dirty="0">
                <a:latin typeface="Times New Roman" panose="02020603050405020304" pitchFamily="18" charset="0"/>
                <a:cs typeface="Times New Roman" panose="02020603050405020304" pitchFamily="18" charset="0"/>
              </a:rPr>
              <a:t>&lt;</a:t>
            </a:r>
            <a:r>
              <a:rPr kumimoji="1" lang="zh-CN" altLang="en-US" sz="2400" b="0" dirty="0">
                <a:latin typeface="Times New Roman" panose="02020603050405020304" pitchFamily="18" charset="0"/>
                <a:cs typeface="Times New Roman" panose="02020603050405020304" pitchFamily="18" charset="0"/>
              </a:rPr>
              <a:t>目标列表达式</a:t>
            </a:r>
            <a:r>
              <a:rPr kumimoji="1" lang="en-US" altLang="zh-CN" sz="2400" b="0" dirty="0">
                <a:latin typeface="Times New Roman" panose="02020603050405020304" pitchFamily="18" charset="0"/>
                <a:cs typeface="Times New Roman" panose="02020603050405020304" pitchFamily="18" charset="0"/>
              </a:rPr>
              <a:t>&gt;</a:t>
            </a:r>
            <a:r>
              <a:rPr kumimoji="1" lang="zh-CN" altLang="en-US" sz="2400" b="0" dirty="0">
                <a:latin typeface="Times New Roman" panose="02020603050405020304" pitchFamily="18" charset="0"/>
                <a:cs typeface="Times New Roman" panose="02020603050405020304" pitchFamily="18" charset="0"/>
              </a:rPr>
              <a:t>指定为</a:t>
            </a:r>
            <a:r>
              <a:rPr kumimoji="1" lang="zh-CN" altLang="en-US" sz="2400" b="0" dirty="0">
                <a:solidFill>
                  <a:srgbClr val="C00000"/>
                </a:solidFill>
                <a:latin typeface="Times New Roman" panose="02020603050405020304" pitchFamily="18" charset="0"/>
                <a:cs typeface="Times New Roman" panose="02020603050405020304" pitchFamily="18" charset="0"/>
              </a:rPr>
              <a:t> *</a:t>
            </a:r>
            <a:endParaRPr kumimoji="1" lang="zh-CN" altLang="en-US" sz="2400" b="0" dirty="0">
              <a:solidFill>
                <a:srgbClr val="C00000"/>
              </a:solidFill>
              <a:latin typeface="Times New Roman" panose="02020603050405020304" pitchFamily="18" charset="0"/>
              <a:cs typeface="Times New Roman" panose="02020603050405020304" pitchFamily="18" charset="0"/>
            </a:endParaRPr>
          </a:p>
          <a:p>
            <a:pPr lvl="1">
              <a:lnSpc>
                <a:spcPct val="140000"/>
              </a:lnSpc>
            </a:pPr>
            <a:r>
              <a:rPr kumimoji="1" lang="zh-CN" altLang="en-US" sz="2600" b="0" i="1" dirty="0">
                <a:latin typeface="Times New Roman" panose="02020603050405020304" pitchFamily="18" charset="0"/>
                <a:cs typeface="Times New Roman" panose="02020603050405020304" pitchFamily="18" charset="0"/>
              </a:rPr>
              <a:t>例</a:t>
            </a:r>
            <a:r>
              <a:rPr kumimoji="1" lang="en-US" altLang="zh-CN" sz="2600" b="0" i="1" dirty="0">
                <a:latin typeface="Times New Roman" panose="02020603050405020304" pitchFamily="18" charset="0"/>
                <a:cs typeface="Times New Roman" panose="02020603050405020304" pitchFamily="18" charset="0"/>
              </a:rPr>
              <a:t>3-10</a:t>
            </a:r>
            <a:r>
              <a:rPr kumimoji="1" lang="zh-CN" altLang="en-US" sz="2600" b="0" i="1" dirty="0">
                <a:latin typeface="Times New Roman" panose="02020603050405020304" pitchFamily="18" charset="0"/>
                <a:cs typeface="Times New Roman" panose="02020603050405020304" pitchFamily="18" charset="0"/>
              </a:rPr>
              <a:t>：查询全体学生的详细记录</a:t>
            </a:r>
            <a:endParaRPr kumimoji="1" lang="en-US" altLang="zh-CN" sz="2600" i="1" dirty="0">
              <a:latin typeface="Times New Roman" panose="02020603050405020304" pitchFamily="18" charset="0"/>
              <a:cs typeface="Times New Roman" panose="02020603050405020304" pitchFamily="18" charset="0"/>
            </a:endParaRPr>
          </a:p>
          <a:p>
            <a:pPr lvl="2" algn="just">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lvl="2" algn="just">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pPr lvl="2" algn="just">
              <a:buNone/>
            </a:pPr>
            <a:r>
              <a:rPr lang="zh-CN" altLang="en-US" sz="2400" dirty="0">
                <a:latin typeface="Times New Roman" panose="02020603050405020304" pitchFamily="18" charset="0"/>
                <a:cs typeface="Times New Roman" panose="02020603050405020304" pitchFamily="18" charset="0"/>
              </a:rPr>
              <a:t>   或</a:t>
            </a:r>
            <a:endParaRPr lang="zh-CN" altLang="en-US" sz="2400" dirty="0">
              <a:latin typeface="Times New Roman" panose="02020603050405020304" pitchFamily="18" charset="0"/>
              <a:cs typeface="Times New Roman" panose="02020603050405020304" pitchFamily="18" charset="0"/>
            </a:endParaRPr>
          </a:p>
          <a:p>
            <a:pPr lvl="2" algn="just">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lvl="2" algn="just">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360002" y="4041370"/>
            <a:ext cx="7446373"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Ssex</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360001" y="5518502"/>
            <a:ext cx="7446373"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查询经过计算的值</a:t>
            </a:r>
            <a:endParaRPr kumimoji="1" lang="en-US" altLang="zh-CN" sz="2600" b="0" dirty="0">
              <a:latin typeface="Times New Roman" panose="02020603050405020304" pitchFamily="18" charset="0"/>
              <a:cs typeface="Times New Roman" panose="02020603050405020304" pitchFamily="18" charset="0"/>
            </a:endParaRPr>
          </a:p>
          <a:p>
            <a:pPr lvl="1">
              <a:lnSpc>
                <a:spcPct val="200000"/>
              </a:lnSpc>
            </a:pPr>
            <a:r>
              <a:rPr lang="en-GB" altLang="zh-CN" sz="2600" dirty="0">
                <a:latin typeface="Times New Roman" panose="02020603050405020304" pitchFamily="18" charset="0"/>
                <a:cs typeface="Times New Roman" panose="02020603050405020304" pitchFamily="18" charset="0"/>
              </a:rPr>
              <a:t>SELECT</a:t>
            </a:r>
            <a:r>
              <a:rPr lang="zh-CN" altLang="en-US" sz="2600" dirty="0">
                <a:latin typeface="Times New Roman" panose="02020603050405020304" pitchFamily="18" charset="0"/>
                <a:cs typeface="Times New Roman" panose="02020603050405020304" pitchFamily="18" charset="0"/>
              </a:rPr>
              <a:t>子句的</a:t>
            </a:r>
            <a:r>
              <a:rPr lang="en-US" altLang="zh-CN" sz="2600" dirty="0">
                <a:latin typeface="Times New Roman" panose="02020603050405020304" pitchFamily="18" charset="0"/>
                <a:cs typeface="Times New Roman" panose="02020603050405020304" pitchFamily="18" charset="0"/>
              </a:rPr>
              <a:t>&lt;</a:t>
            </a:r>
            <a:r>
              <a:rPr lang="zh-CN" altLang="en-US" sz="2600" dirty="0">
                <a:latin typeface="Times New Roman" panose="02020603050405020304" pitchFamily="18" charset="0"/>
                <a:cs typeface="Times New Roman" panose="02020603050405020304" pitchFamily="18" charset="0"/>
              </a:rPr>
              <a:t>目标列表达式</a:t>
            </a:r>
            <a:r>
              <a:rPr lang="en-US" altLang="zh-CN" sz="2600" dirty="0">
                <a:latin typeface="Times New Roman" panose="02020603050405020304" pitchFamily="18" charset="0"/>
                <a:cs typeface="Times New Roman" panose="02020603050405020304" pitchFamily="18" charset="0"/>
              </a:rPr>
              <a:t>&gt;</a:t>
            </a:r>
            <a:r>
              <a:rPr lang="zh-CN" altLang="en-US" sz="2600" dirty="0">
                <a:latin typeface="Times New Roman" panose="02020603050405020304" pitchFamily="18" charset="0"/>
                <a:cs typeface="Times New Roman" panose="02020603050405020304" pitchFamily="18" charset="0"/>
              </a:rPr>
              <a:t>可以为：</a:t>
            </a:r>
            <a:endParaRPr lang="zh-CN" altLang="en-US" sz="2600" dirty="0">
              <a:latin typeface="Times New Roman" panose="02020603050405020304" pitchFamily="18" charset="0"/>
              <a:cs typeface="Times New Roman" panose="02020603050405020304" pitchFamily="18" charset="0"/>
            </a:endParaRPr>
          </a:p>
          <a:p>
            <a:pPr lvl="2">
              <a:lnSpc>
                <a:spcPct val="200000"/>
              </a:lnSpc>
            </a:pPr>
            <a:r>
              <a:rPr lang="zh-CN" altLang="en-US" sz="2600" dirty="0">
                <a:latin typeface="Times New Roman" panose="02020603050405020304" pitchFamily="18" charset="0"/>
                <a:cs typeface="Times New Roman" panose="02020603050405020304" pitchFamily="18" charset="0"/>
              </a:rPr>
              <a:t>算术表达式</a:t>
            </a:r>
            <a:endParaRPr lang="zh-CN" altLang="en-US" sz="2600" dirty="0">
              <a:latin typeface="Times New Roman" panose="02020603050405020304" pitchFamily="18" charset="0"/>
              <a:cs typeface="Times New Roman" panose="02020603050405020304" pitchFamily="18" charset="0"/>
            </a:endParaRPr>
          </a:p>
          <a:p>
            <a:pPr lvl="2">
              <a:lnSpc>
                <a:spcPct val="200000"/>
              </a:lnSpc>
            </a:pPr>
            <a:r>
              <a:rPr lang="zh-CN" altLang="en-US" sz="2600" dirty="0">
                <a:latin typeface="Times New Roman" panose="02020603050405020304" pitchFamily="18" charset="0"/>
                <a:cs typeface="Times New Roman" panose="02020603050405020304" pitchFamily="18" charset="0"/>
              </a:rPr>
              <a:t>字符串常量</a:t>
            </a:r>
            <a:endParaRPr lang="zh-CN" altLang="en-US" sz="2600" dirty="0">
              <a:latin typeface="Times New Roman" panose="02020603050405020304" pitchFamily="18" charset="0"/>
              <a:cs typeface="Times New Roman" panose="02020603050405020304" pitchFamily="18" charset="0"/>
            </a:endParaRPr>
          </a:p>
          <a:p>
            <a:pPr lvl="2">
              <a:lnSpc>
                <a:spcPct val="200000"/>
              </a:lnSpc>
            </a:pPr>
            <a:r>
              <a:rPr lang="zh-CN" altLang="en-US" sz="2600" dirty="0">
                <a:latin typeface="Times New Roman" panose="02020603050405020304" pitchFamily="18" charset="0"/>
                <a:cs typeface="Times New Roman" panose="02020603050405020304" pitchFamily="18" charset="0"/>
              </a:rPr>
              <a:t>函数</a:t>
            </a:r>
            <a:endParaRPr lang="zh-CN" altLang="en-US" sz="2600" dirty="0">
              <a:latin typeface="Times New Roman" panose="02020603050405020304" pitchFamily="18" charset="0"/>
              <a:cs typeface="Times New Roman" panose="02020603050405020304" pitchFamily="18" charset="0"/>
            </a:endParaRPr>
          </a:p>
          <a:p>
            <a:pPr lvl="2">
              <a:lnSpc>
                <a:spcPct val="200000"/>
              </a:lnSpc>
            </a:pPr>
            <a:r>
              <a:rPr lang="zh-CN" altLang="en-US" sz="2600" dirty="0">
                <a:latin typeface="Times New Roman" panose="02020603050405020304" pitchFamily="18" charset="0"/>
                <a:cs typeface="Times New Roman" panose="02020603050405020304" pitchFamily="18" charset="0"/>
              </a:rPr>
              <a:t>列别名 </a:t>
            </a: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查询经过计算的值</a:t>
            </a:r>
            <a:endParaRPr kumimoji="1" lang="en-US" altLang="zh-CN" sz="2600" b="0" dirty="0">
              <a:latin typeface="Times New Roman" panose="02020603050405020304" pitchFamily="18" charset="0"/>
              <a:cs typeface="Times New Roman" panose="02020603050405020304" pitchFamily="18" charset="0"/>
            </a:endParaRPr>
          </a:p>
          <a:p>
            <a:pPr lvl="1">
              <a:lnSpc>
                <a:spcPct val="150000"/>
              </a:lnSpc>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3-11</a:t>
            </a:r>
            <a:r>
              <a:rPr lang="zh-CN" altLang="en-US" sz="2600" i="1" dirty="0">
                <a:latin typeface="Times New Roman" panose="02020603050405020304" pitchFamily="18" charset="0"/>
                <a:cs typeface="Times New Roman" panose="02020603050405020304" pitchFamily="18" charset="0"/>
              </a:rPr>
              <a:t>：查询全体学生的姓名及其当年年龄</a:t>
            </a:r>
            <a:endParaRPr lang="en-US" altLang="zh-CN" sz="2600" i="1" dirty="0">
              <a:latin typeface="Times New Roman" panose="02020603050405020304" pitchFamily="18" charset="0"/>
              <a:cs typeface="Times New Roman" panose="02020603050405020304" pitchFamily="18" charset="0"/>
            </a:endParaRPr>
          </a:p>
          <a:p>
            <a:pPr algn="just">
              <a:lnSpc>
                <a:spcPct val="150000"/>
              </a:lnSpc>
              <a:buNone/>
            </a:pPr>
            <a:r>
              <a:rPr lang="zh-CN" altLang="en-US" sz="2600" b="0" dirty="0">
                <a:latin typeface="Times New Roman" panose="02020603050405020304" pitchFamily="18" charset="0"/>
                <a:cs typeface="Times New Roman" panose="02020603050405020304" pitchFamily="18" charset="0"/>
              </a:rPr>
              <a:t>             </a:t>
            </a:r>
            <a:r>
              <a:rPr lang="en-US" altLang="zh-CN" sz="2600" b="0" dirty="0">
                <a:latin typeface="Times New Roman" panose="02020603050405020304" pitchFamily="18" charset="0"/>
                <a:cs typeface="Times New Roman" panose="02020603050405020304" pitchFamily="18" charset="0"/>
              </a:rPr>
              <a:t> </a:t>
            </a:r>
            <a:endParaRPr lang="en-US" altLang="zh-CN" sz="2600" b="0" dirty="0">
              <a:latin typeface="Times New Roman" panose="02020603050405020304" pitchFamily="18" charset="0"/>
              <a:cs typeface="Times New Roman" panose="02020603050405020304" pitchFamily="18" charset="0"/>
            </a:endParaRPr>
          </a:p>
          <a:p>
            <a:pPr algn="just">
              <a:lnSpc>
                <a:spcPct val="150000"/>
              </a:lnSpc>
              <a:buNone/>
            </a:pPr>
            <a:r>
              <a:rPr lang="en-US" altLang="zh-CN" sz="2600" b="0" dirty="0">
                <a:latin typeface="Times New Roman" panose="02020603050405020304" pitchFamily="18" charset="0"/>
                <a:cs typeface="Times New Roman" panose="02020603050405020304" pitchFamily="18" charset="0"/>
              </a:rPr>
              <a:t>  </a:t>
            </a:r>
            <a:r>
              <a:rPr lang="zh-CN" altLang="en-US" sz="2600" b="0" dirty="0">
                <a:latin typeface="Times New Roman" panose="02020603050405020304" pitchFamily="18" charset="0"/>
                <a:cs typeface="Times New Roman" panose="02020603050405020304" pitchFamily="18" charset="0"/>
              </a:rPr>
              <a:t>           </a:t>
            </a:r>
            <a:r>
              <a:rPr lang="en-US" altLang="zh-CN" sz="2600" b="0" dirty="0">
                <a:latin typeface="Times New Roman" panose="02020603050405020304" pitchFamily="18" charset="0"/>
                <a:cs typeface="Times New Roman" panose="02020603050405020304" pitchFamily="18" charset="0"/>
              </a:rPr>
              <a:t> </a:t>
            </a:r>
            <a:endParaRPr lang="zh-CN" altLang="en-US" sz="2600" b="0" dirty="0">
              <a:latin typeface="Times New Roman" panose="02020603050405020304" pitchFamily="18" charset="0"/>
              <a:cs typeface="Times New Roman" panose="02020603050405020304" pitchFamily="18" charset="0"/>
            </a:endParaRPr>
          </a:p>
          <a:p>
            <a:pPr lvl="1">
              <a:lnSpc>
                <a:spcPct val="150000"/>
              </a:lnSpc>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3-12</a:t>
            </a:r>
            <a:r>
              <a:rPr lang="zh-CN" altLang="en-US" sz="2600" i="1" dirty="0">
                <a:latin typeface="Times New Roman" panose="02020603050405020304" pitchFamily="18" charset="0"/>
                <a:cs typeface="Times New Roman" panose="02020603050405020304" pitchFamily="18" charset="0"/>
              </a:rPr>
              <a:t>：查询全体学生的姓名、当年年龄</a:t>
            </a:r>
            <a:endParaRPr lang="en-US" altLang="zh-CN" sz="2600" i="1" dirty="0">
              <a:latin typeface="Times New Roman" panose="02020603050405020304" pitchFamily="18" charset="0"/>
              <a:cs typeface="Times New Roman" panose="02020603050405020304" pitchFamily="18" charset="0"/>
            </a:endParaRPr>
          </a:p>
          <a:p>
            <a:pPr marL="228600" lvl="1" algn="just">
              <a:lnSpc>
                <a:spcPct val="150000"/>
              </a:lnSpc>
              <a:spcBef>
                <a:spcPts val="1000"/>
              </a:spcBef>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228600" lvl="1" algn="just">
              <a:lnSpc>
                <a:spcPct val="150000"/>
              </a:lnSpc>
              <a:spcBef>
                <a:spcPts val="1000"/>
              </a:spcBef>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90966" y="2594305"/>
            <a:ext cx="7927629"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2026-Sage /*</a:t>
            </a:r>
            <a:r>
              <a:rPr lang="zh-CN" altLang="en-US" sz="2000" dirty="0">
                <a:latin typeface="Cambria Math" panose="02040503050406030204" pitchFamily="18" charset="0"/>
                <a:cs typeface="Times New Roman" panose="02020603050405020304" pitchFamily="18" charset="0"/>
              </a:rPr>
              <a:t>当年的年份为</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2025</a:t>
            </a:r>
            <a:r>
              <a:rPr lang="zh-CN" altLang="en-US" sz="2000" dirty="0">
                <a:latin typeface="Cambria Math" panose="02040503050406030204" pitchFamily="18" charset="0"/>
                <a:cs typeface="Times New Roman" panose="02020603050405020304" pitchFamily="18" charset="0"/>
              </a:rPr>
              <a:t>年*</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190966" y="4572217"/>
            <a:ext cx="7927629"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Age at 2025:</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2026-EXTRACT (year from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Bdate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查询经过计算的值</a:t>
            </a:r>
            <a:endParaRPr kumimoji="1" lang="en-US" altLang="zh-CN" sz="2600" b="0" dirty="0">
              <a:latin typeface="Times New Roman" panose="02020603050405020304" pitchFamily="18" charset="0"/>
              <a:cs typeface="Times New Roman" panose="02020603050405020304" pitchFamily="18" charset="0"/>
            </a:endParaRPr>
          </a:p>
          <a:p>
            <a:pPr lvl="1">
              <a:lnSpc>
                <a:spcPct val="150000"/>
              </a:lnSpc>
            </a:pPr>
            <a:r>
              <a:rPr lang="zh-CN" altLang="en-US" sz="2600" dirty="0">
                <a:latin typeface="Times New Roman" panose="02020603050405020304" pitchFamily="18" charset="0"/>
                <a:cs typeface="Times New Roman" panose="02020603050405020304" pitchFamily="18" charset="0"/>
              </a:rPr>
              <a:t>使用列</a:t>
            </a:r>
            <a:r>
              <a:rPr lang="zh-CN" altLang="en-US" sz="2600" dirty="0">
                <a:solidFill>
                  <a:srgbClr val="C00000"/>
                </a:solidFill>
                <a:latin typeface="Times New Roman" panose="02020603050405020304" pitchFamily="18" charset="0"/>
                <a:cs typeface="Times New Roman" panose="02020603050405020304" pitchFamily="18" charset="0"/>
              </a:rPr>
              <a:t>别名</a:t>
            </a:r>
            <a:r>
              <a:rPr lang="zh-CN" altLang="en-US" sz="2600" dirty="0">
                <a:latin typeface="Times New Roman" panose="02020603050405020304" pitchFamily="18" charset="0"/>
                <a:cs typeface="Times New Roman" panose="02020603050405020304" pitchFamily="18" charset="0"/>
              </a:rPr>
              <a:t>改变查询结果的列标题</a:t>
            </a:r>
            <a:r>
              <a:rPr lang="en-US" altLang="zh-CN"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3-11</a:t>
            </a:r>
            <a:r>
              <a:rPr lang="zh-CN" altLang="en-US" sz="2600" i="1" dirty="0">
                <a:latin typeface="Times New Roman" panose="02020603050405020304" pitchFamily="18" charset="0"/>
                <a:cs typeface="Times New Roman" panose="02020603050405020304" pitchFamily="18" charset="0"/>
              </a:rPr>
              <a:t>：</a:t>
            </a:r>
            <a:endParaRPr lang="en-US" altLang="zh-CN" sz="2600" b="0" i="1" dirty="0">
              <a:latin typeface="Times New Roman" panose="02020603050405020304" pitchFamily="18" charset="0"/>
              <a:cs typeface="Times New Roman" panose="02020603050405020304" pitchFamily="18" charset="0"/>
            </a:endParaRPr>
          </a:p>
          <a:p>
            <a:pPr algn="just">
              <a:lnSpc>
                <a:spcPct val="150000"/>
              </a:lnSpc>
              <a:buNone/>
            </a:pPr>
            <a:r>
              <a:rPr lang="zh-CN" altLang="en-US" sz="2600" b="0" dirty="0">
                <a:latin typeface="Times New Roman" panose="02020603050405020304" pitchFamily="18" charset="0"/>
                <a:cs typeface="Times New Roman" panose="02020603050405020304" pitchFamily="18" charset="0"/>
              </a:rPr>
              <a:t>             </a:t>
            </a:r>
            <a:r>
              <a:rPr lang="en-US" altLang="zh-CN" sz="2600" b="0" dirty="0">
                <a:latin typeface="Times New Roman" panose="02020603050405020304" pitchFamily="18" charset="0"/>
                <a:cs typeface="Times New Roman" panose="02020603050405020304" pitchFamily="18" charset="0"/>
              </a:rPr>
              <a:t> </a:t>
            </a:r>
            <a:endParaRPr lang="en-US" altLang="zh-CN" sz="2600" b="0" dirty="0">
              <a:latin typeface="Times New Roman" panose="02020603050405020304" pitchFamily="18" charset="0"/>
              <a:cs typeface="Times New Roman" panose="02020603050405020304" pitchFamily="18" charset="0"/>
            </a:endParaRPr>
          </a:p>
          <a:p>
            <a:pPr algn="just">
              <a:lnSpc>
                <a:spcPct val="150000"/>
              </a:lnSpc>
              <a:buNone/>
            </a:pPr>
            <a:r>
              <a:rPr lang="zh-CN" altLang="en-US" sz="2600" b="0" dirty="0">
                <a:latin typeface="Times New Roman" panose="02020603050405020304" pitchFamily="18" charset="0"/>
                <a:cs typeface="Times New Roman" panose="02020603050405020304" pitchFamily="18" charset="0"/>
              </a:rPr>
              <a:t>             </a:t>
            </a:r>
            <a:r>
              <a:rPr lang="en-US" altLang="zh-CN" sz="2600" b="0" dirty="0">
                <a:latin typeface="Times New Roman" panose="02020603050405020304" pitchFamily="18" charset="0"/>
                <a:cs typeface="Times New Roman" panose="02020603050405020304" pitchFamily="18" charset="0"/>
              </a:rPr>
              <a:t> </a:t>
            </a:r>
            <a:endParaRPr lang="zh-CN" altLang="en-US" sz="26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317576" y="3333718"/>
            <a:ext cx="6391520"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’Age at 2025:’ Age_at_2025</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2026-</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EXTRACT (year from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Bdate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Age FROM  Student</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lnSpcReduction="20000"/>
          </a:bodyPr>
          <a:lstStyle/>
          <a:p>
            <a:r>
              <a:rPr kumimoji="1" lang="zh-CN" altLang="en-US" sz="2600" dirty="0"/>
              <a:t>查询表中的若干元组</a:t>
            </a:r>
            <a:endParaRPr kumimoji="1" lang="en-US" altLang="zh-CN" sz="2600" b="0" dirty="0">
              <a:latin typeface="Times New Roman" panose="02020603050405020304" pitchFamily="18" charset="0"/>
              <a:cs typeface="Times New Roman" panose="02020603050405020304" pitchFamily="18" charset="0"/>
            </a:endParaRPr>
          </a:p>
          <a:p>
            <a:pPr lvl="1">
              <a:lnSpc>
                <a:spcPct val="130000"/>
              </a:lnSpc>
            </a:pPr>
            <a:r>
              <a:rPr lang="zh-CN" altLang="en-US" sz="2600" dirty="0">
                <a:latin typeface="Times New Roman" panose="02020603050405020304" pitchFamily="18" charset="0"/>
                <a:cs typeface="Times New Roman" panose="02020603050405020304" pitchFamily="18" charset="0"/>
              </a:rPr>
              <a:t>消除取值重复的行</a:t>
            </a:r>
            <a:endParaRPr lang="en-US" altLang="zh-CN" sz="2600"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3-14</a:t>
            </a:r>
            <a:r>
              <a:rPr lang="zh-CN" altLang="en-US" sz="2600" i="1" dirty="0">
                <a:latin typeface="Times New Roman" panose="02020603050405020304" pitchFamily="18" charset="0"/>
                <a:cs typeface="Times New Roman" panose="02020603050405020304" pitchFamily="18" charset="0"/>
              </a:rPr>
              <a:t>：查询选修了课程的学生学号</a:t>
            </a:r>
            <a:r>
              <a:rPr lang="en-US" altLang="zh-CN" sz="2600" i="1" dirty="0">
                <a:latin typeface="Times New Roman" panose="02020603050405020304" pitchFamily="18" charset="0"/>
                <a:cs typeface="Times New Roman" panose="02020603050405020304" pitchFamily="18" charset="0"/>
              </a:rPr>
              <a:t>(</a:t>
            </a:r>
            <a:r>
              <a:rPr lang="zh-CN" altLang="en-US" sz="2600" i="1" u="sng" dirty="0">
                <a:latin typeface="Times New Roman" panose="02020603050405020304" pitchFamily="18" charset="0"/>
                <a:cs typeface="Times New Roman" panose="02020603050405020304" pitchFamily="18" charset="0"/>
              </a:rPr>
              <a:t>不取消重复行</a:t>
            </a:r>
            <a:r>
              <a:rPr lang="en-US" altLang="zh-CN" sz="2600" i="1" dirty="0">
                <a:latin typeface="Times New Roman" panose="02020603050405020304" pitchFamily="18" charset="0"/>
                <a:cs typeface="Times New Roman" panose="02020603050405020304" pitchFamily="18" charset="0"/>
              </a:rPr>
              <a:t>)</a:t>
            </a:r>
            <a:endParaRPr lang="en-US" altLang="zh-CN" sz="2600" i="1"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dirty="0">
                <a:latin typeface="Times New Roman" panose="02020603050405020304" pitchFamily="18" charset="0"/>
                <a:cs typeface="Times New Roman" panose="02020603050405020304" pitchFamily="18" charset="0"/>
              </a:rPr>
              <a:t>等价于：</a:t>
            </a:r>
            <a:endParaRPr lang="zh-CN" altLang="en-US" sz="2600"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457200" lvl="1" indent="0">
              <a:lnSpc>
                <a:spcPct val="130000"/>
              </a:lnSpc>
              <a:buNone/>
            </a:pPr>
            <a:endParaRPr lang="en-US" altLang="zh-CN" sz="900" dirty="0">
              <a:latin typeface="Times New Roman" panose="02020603050405020304" pitchFamily="18" charset="0"/>
              <a:cs typeface="Times New Roman" panose="02020603050405020304" pitchFamily="18" charset="0"/>
            </a:endParaRPr>
          </a:p>
          <a:p>
            <a:pPr lvl="1">
              <a:lnSpc>
                <a:spcPct val="130000"/>
              </a:lnSpc>
            </a:pPr>
            <a:r>
              <a:rPr lang="zh-CN" altLang="en-US" sz="2600" dirty="0">
                <a:latin typeface="Times New Roman" panose="02020603050405020304" pitchFamily="18" charset="0"/>
                <a:cs typeface="Times New Roman" panose="02020603050405020304" pitchFamily="18" charset="0"/>
              </a:rPr>
              <a:t>如果指定</a:t>
            </a:r>
            <a:r>
              <a:rPr lang="en-GB" altLang="zh-CN" sz="2600" dirty="0">
                <a:latin typeface="Times New Roman" panose="02020603050405020304" pitchFamily="18" charset="0"/>
                <a:cs typeface="Times New Roman" panose="02020603050405020304" pitchFamily="18" charset="0"/>
              </a:rPr>
              <a:t>DISTINCT</a:t>
            </a:r>
            <a:r>
              <a:rPr lang="zh-CN" altLang="en-US" sz="2600" dirty="0">
                <a:latin typeface="Times New Roman" panose="02020603050405020304" pitchFamily="18" charset="0"/>
                <a:cs typeface="Times New Roman" panose="02020603050405020304" pitchFamily="18" charset="0"/>
              </a:rPr>
              <a:t>关键词，则去掉表中重复的行</a:t>
            </a:r>
            <a:endParaRPr lang="en-US" altLang="zh-CN" sz="2600"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3-15</a:t>
            </a:r>
            <a:r>
              <a:rPr lang="zh-CN" altLang="en-US" sz="2600" i="1" dirty="0">
                <a:latin typeface="Times New Roman" panose="02020603050405020304" pitchFamily="18" charset="0"/>
                <a:cs typeface="Times New Roman" panose="02020603050405020304" pitchFamily="18" charset="0"/>
              </a:rPr>
              <a:t>：查询选修了课程的学生学号</a:t>
            </a:r>
            <a:r>
              <a:rPr lang="en-US" altLang="zh-CN" sz="2600" i="1" dirty="0">
                <a:latin typeface="Times New Roman" panose="02020603050405020304" pitchFamily="18" charset="0"/>
                <a:cs typeface="Times New Roman" panose="02020603050405020304" pitchFamily="18" charset="0"/>
              </a:rPr>
              <a:t>(</a:t>
            </a:r>
            <a:r>
              <a:rPr lang="zh-CN" altLang="en-US" sz="2600" i="1" u="sng" dirty="0">
                <a:latin typeface="Times New Roman" panose="02020603050405020304" pitchFamily="18" charset="0"/>
                <a:cs typeface="Times New Roman" panose="02020603050405020304" pitchFamily="18" charset="0"/>
              </a:rPr>
              <a:t>取消重复行</a:t>
            </a:r>
            <a:r>
              <a:rPr lang="en-US" altLang="zh-CN" sz="2600" i="1" dirty="0">
                <a:latin typeface="Times New Roman" panose="02020603050405020304" pitchFamily="18" charset="0"/>
                <a:cs typeface="Times New Roman" panose="02020603050405020304" pitchFamily="18" charset="0"/>
              </a:rPr>
              <a:t>) </a:t>
            </a:r>
            <a:endParaRPr lang="en-US" altLang="zh-CN" sz="2600" i="1" dirty="0">
              <a:latin typeface="Times New Roman" panose="02020603050405020304" pitchFamily="18" charset="0"/>
              <a:cs typeface="Times New Roman" panose="02020603050405020304" pitchFamily="18" charset="0"/>
            </a:endParaRPr>
          </a:p>
          <a:p>
            <a:pPr marL="457200" lvl="1" indent="0">
              <a:lnSpc>
                <a:spcPct val="130000"/>
              </a:lnSpc>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457200" lvl="1" indent="0">
              <a:lnSpc>
                <a:spcPct val="130000"/>
              </a:lnSpc>
              <a:buNone/>
            </a:pPr>
            <a:endParaRPr lang="en-US" altLang="zh-CN" sz="1000" dirty="0">
              <a:latin typeface="Times New Roman" panose="02020603050405020304" pitchFamily="18" charset="0"/>
              <a:cs typeface="Times New Roman" panose="02020603050405020304" pitchFamily="18" charset="0"/>
            </a:endParaRPr>
          </a:p>
          <a:p>
            <a:pPr lvl="1">
              <a:lnSpc>
                <a:spcPct val="130000"/>
              </a:lnSpc>
            </a:pPr>
            <a:r>
              <a:rPr lang="zh-CN" altLang="en-US" sz="2600" dirty="0">
                <a:latin typeface="Times New Roman" panose="02020603050405020304" pitchFamily="18" charset="0"/>
                <a:cs typeface="Times New Roman" panose="02020603050405020304" pitchFamily="18" charset="0"/>
              </a:rPr>
              <a:t>注意</a:t>
            </a:r>
            <a:r>
              <a:rPr lang="en-US" altLang="zh-CN" sz="2600" dirty="0">
                <a:latin typeface="Times New Roman" panose="02020603050405020304" pitchFamily="18" charset="0"/>
                <a:cs typeface="Times New Roman" panose="02020603050405020304" pitchFamily="18" charset="0"/>
              </a:rPr>
              <a:t>:</a:t>
            </a:r>
            <a:r>
              <a:rPr lang="zh-CN" altLang="en-US" sz="2600" dirty="0">
                <a:latin typeface="Times New Roman" panose="02020603050405020304" pitchFamily="18" charset="0"/>
                <a:cs typeface="Times New Roman" panose="02020603050405020304" pitchFamily="18" charset="0"/>
              </a:rPr>
              <a:t>如果没有指定</a:t>
            </a:r>
            <a:r>
              <a:rPr lang="en-US" altLang="zh-CN" sz="2600" dirty="0">
                <a:latin typeface="Times New Roman" panose="02020603050405020304" pitchFamily="18" charset="0"/>
                <a:cs typeface="Times New Roman" panose="02020603050405020304" pitchFamily="18" charset="0"/>
              </a:rPr>
              <a:t>DISTINCT</a:t>
            </a:r>
            <a:r>
              <a:rPr lang="zh-CN" altLang="en-US" sz="2600" dirty="0">
                <a:latin typeface="Times New Roman" panose="02020603050405020304" pitchFamily="18" charset="0"/>
                <a:cs typeface="Times New Roman" panose="02020603050405020304" pitchFamily="18" charset="0"/>
              </a:rPr>
              <a:t>关键词，则缺省为</a:t>
            </a:r>
            <a:r>
              <a:rPr lang="en-US" altLang="zh-CN" sz="2600" dirty="0">
                <a:latin typeface="Times New Roman" panose="02020603050405020304" pitchFamily="18" charset="0"/>
                <a:cs typeface="Times New Roman" panose="02020603050405020304" pitchFamily="18" charset="0"/>
              </a:rPr>
              <a:t>ALL	</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GB"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553473" y="2614242"/>
            <a:ext cx="3808662" cy="4057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   FROM SC</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553473" y="3584878"/>
            <a:ext cx="3808662" cy="4057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ALL</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Sno  FROM SC</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8" name="文本框 7"/>
          <p:cNvSpPr txBox="1"/>
          <p:nvPr/>
        </p:nvSpPr>
        <p:spPr bwMode="auto">
          <a:xfrm>
            <a:off x="1553473" y="5232999"/>
            <a:ext cx="3808662" cy="4057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GB"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DISTINCT</a:t>
            </a: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 Sno</a:t>
            </a:r>
            <a:r>
              <a:rPr lang="zh-CN" altLang="en-US" sz="2000" dirty="0">
                <a:latin typeface="Cambria Math" panose="02040503050406030204" pitchFamily="18" charset="0"/>
                <a:cs typeface="Times New Roman" panose="02020603050405020304" pitchFamily="18" charset="0"/>
              </a:rPr>
              <a:t>  </a:t>
            </a: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FROM SC </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aphicFrame>
        <p:nvGraphicFramePr>
          <p:cNvPr id="7" name="Group 199"/>
          <p:cNvGraphicFramePr>
            <a:graphicFrameLocks noGrp="1"/>
          </p:cNvGraphicFramePr>
          <p:nvPr/>
        </p:nvGraphicFramePr>
        <p:xfrm>
          <a:off x="3914790" y="1490663"/>
          <a:ext cx="3948113" cy="2395538"/>
        </p:xfrm>
        <a:graphic>
          <a:graphicData uri="http://schemas.openxmlformats.org/drawingml/2006/table">
            <a:tbl>
              <a:tblPr/>
              <a:tblGrid>
                <a:gridCol w="1412875"/>
                <a:gridCol w="1550988"/>
                <a:gridCol w="984250"/>
              </a:tblGrid>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amount</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rPr>
                        <a:t>L-170</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Downtown</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rPr>
                        <a:t>3000</a:t>
                      </a:r>
                      <a:endPar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7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L-230</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Redwood</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rPr>
                        <a:t>4000</a:t>
                      </a:r>
                      <a:endPar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L-240</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RedWood</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rPr>
                        <a:t>5000</a:t>
                      </a:r>
                      <a:endPar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L260</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rPr>
                        <a:t>1700</a:t>
                      </a:r>
                      <a:endPar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189"/>
          <p:cNvSpPr txBox="1">
            <a:spLocks noChangeArrowheads="1"/>
          </p:cNvSpPr>
          <p:nvPr/>
        </p:nvSpPr>
        <p:spPr bwMode="auto">
          <a:xfrm>
            <a:off x="5138753" y="1412875"/>
            <a:ext cx="1870075" cy="25463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a:p>
            <a:pPr>
              <a:spcBef>
                <a:spcPct val="50000"/>
              </a:spcBef>
              <a:buFontTx/>
              <a:buNone/>
            </a:pPr>
            <a:endParaRPr lang="zh-CN" altLang="en-US" sz="1600" b="0">
              <a:latin typeface="Helvetica" pitchFamily="2" charset="0"/>
            </a:endParaRPr>
          </a:p>
        </p:txBody>
      </p:sp>
      <p:sp>
        <p:nvSpPr>
          <p:cNvPr id="9" name="Line 190"/>
          <p:cNvSpPr>
            <a:spLocks noChangeShapeType="1"/>
          </p:cNvSpPr>
          <p:nvPr/>
        </p:nvSpPr>
        <p:spPr bwMode="auto">
          <a:xfrm>
            <a:off x="5276865" y="3962400"/>
            <a:ext cx="0" cy="4714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0" name="Group 203"/>
          <p:cNvGraphicFramePr>
            <a:graphicFrameLocks noGrp="1"/>
          </p:cNvGraphicFramePr>
          <p:nvPr/>
        </p:nvGraphicFramePr>
        <p:xfrm>
          <a:off x="3919553" y="4452938"/>
          <a:ext cx="1550987" cy="2395538"/>
        </p:xfrm>
        <a:graphic>
          <a:graphicData uri="http://schemas.openxmlformats.org/drawingml/2006/table">
            <a:tbl>
              <a:tblPr/>
              <a:tblGrid>
                <a:gridCol w="1550987"/>
              </a:tblGrid>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Downtown</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7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Redwood</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RedWood</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err="1">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Line 191"/>
          <p:cNvSpPr>
            <a:spLocks noChangeShapeType="1"/>
          </p:cNvSpPr>
          <p:nvPr/>
        </p:nvSpPr>
        <p:spPr bwMode="auto">
          <a:xfrm>
            <a:off x="5249878" y="5495925"/>
            <a:ext cx="25336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92"/>
          <p:cNvSpPr>
            <a:spLocks noChangeShapeType="1"/>
          </p:cNvSpPr>
          <p:nvPr/>
        </p:nvSpPr>
        <p:spPr bwMode="auto">
          <a:xfrm flipV="1">
            <a:off x="5221303" y="5583238"/>
            <a:ext cx="2784475" cy="47148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Group 204"/>
          <p:cNvGraphicFramePr>
            <a:graphicFrameLocks noGrp="1"/>
          </p:cNvGraphicFramePr>
          <p:nvPr/>
        </p:nvGraphicFramePr>
        <p:xfrm>
          <a:off x="7632715" y="4240213"/>
          <a:ext cx="1550988" cy="1916113"/>
        </p:xfrm>
        <a:graphic>
          <a:graphicData uri="http://schemas.openxmlformats.org/drawingml/2006/table">
            <a:tbl>
              <a:tblPr/>
              <a:tblGrid>
                <a:gridCol w="1550988"/>
              </a:tblGrid>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Downtown</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7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Redwood</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err="1">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Rectangle 185"/>
          <p:cNvSpPr>
            <a:spLocks noChangeArrowheads="1"/>
          </p:cNvSpPr>
          <p:nvPr/>
        </p:nvSpPr>
        <p:spPr bwMode="auto">
          <a:xfrm>
            <a:off x="9386903" y="3208338"/>
            <a:ext cx="1743075" cy="376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800" dirty="0">
                <a:latin typeface="Helvetica" pitchFamily="2" charset="0"/>
              </a:rPr>
              <a:t>The last result</a:t>
            </a:r>
            <a:endParaRPr lang="zh-CN" altLang="en-US" sz="1800" b="0" i="1" dirty="0">
              <a:latin typeface="Helvetica" pitchFamily="2" charset="0"/>
            </a:endParaRPr>
          </a:p>
        </p:txBody>
      </p:sp>
      <p:grpSp>
        <p:nvGrpSpPr>
          <p:cNvPr id="15" name="Group 186"/>
          <p:cNvGrpSpPr/>
          <p:nvPr/>
        </p:nvGrpSpPr>
        <p:grpSpPr bwMode="auto">
          <a:xfrm>
            <a:off x="9155128" y="3575050"/>
            <a:ext cx="1192212" cy="1330325"/>
            <a:chOff x="3473" y="2182"/>
            <a:chExt cx="751" cy="838"/>
          </a:xfrm>
        </p:grpSpPr>
        <p:sp>
          <p:nvSpPr>
            <p:cNvPr id="16" name="Line 187"/>
            <p:cNvSpPr>
              <a:spLocks noChangeShapeType="1"/>
            </p:cNvSpPr>
            <p:nvPr/>
          </p:nvSpPr>
          <p:spPr bwMode="auto">
            <a:xfrm>
              <a:off x="4224" y="2182"/>
              <a:ext cx="0" cy="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88"/>
            <p:cNvSpPr>
              <a:spLocks noChangeShapeType="1"/>
            </p:cNvSpPr>
            <p:nvPr/>
          </p:nvSpPr>
          <p:spPr bwMode="auto">
            <a:xfrm flipH="1">
              <a:off x="3473" y="3020"/>
              <a:ext cx="734"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5"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26" name="内容占位符 1"/>
          <p:cNvSpPr>
            <a:spLocks noGrp="1"/>
          </p:cNvSpPr>
          <p:nvPr>
            <p:ph idx="1"/>
          </p:nvPr>
        </p:nvSpPr>
        <p:spPr>
          <a:xfrm>
            <a:off x="397163" y="1219203"/>
            <a:ext cx="11453091" cy="5280071"/>
          </a:xfrm>
        </p:spPr>
        <p:txBody>
          <a:bodyPr>
            <a:normAutofit/>
          </a:bodyPr>
          <a:lstStyle/>
          <a:p>
            <a:r>
              <a:rPr kumimoji="1" lang="zh-CN" altLang="en-US" sz="2600" dirty="0"/>
              <a:t>选择表中的若干元组</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GB"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p:txBody>
      </p:sp>
      <p:sp>
        <p:nvSpPr>
          <p:cNvPr id="2" name="文本框 1"/>
          <p:cNvSpPr txBox="1"/>
          <p:nvPr/>
        </p:nvSpPr>
        <p:spPr bwMode="auto">
          <a:xfrm>
            <a:off x="8232791" y="1332480"/>
            <a:ext cx="3808662" cy="80077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select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distinct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err="1">
                <a:latin typeface="Cambria Math" panose="02040503050406030204" pitchFamily="18" charset="0"/>
                <a:ea typeface="Cambria Math" panose="02040503050406030204" pitchFamily="18" charset="0"/>
                <a:cs typeface="Times New Roman" panose="02020603050405020304" pitchFamily="18" charset="0"/>
              </a:rPr>
              <a:t>branch_name</a:t>
            </a:r>
            <a:endParaRPr lang="en-US" altLang="zh-CN" sz="2000" i="1"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from</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loan</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5"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 calcmode="lin" valueType="num">
                                      <p:cBhvr>
                                        <p:cTn id="27"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5"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fltVal val="0"/>
                                          </p:val>
                                        </p:tav>
                                        <p:tav tm="100000">
                                          <p:val>
                                            <p:strVal val="#ppt_w"/>
                                          </p:val>
                                        </p:tav>
                                      </p:tavLst>
                                    </p:anim>
                                    <p:anim calcmode="lin" valueType="num">
                                      <p:cBhvr>
                                        <p:cTn id="44" dur="1000" fill="hold"/>
                                        <p:tgtEl>
                                          <p:spTgt spid="13"/>
                                        </p:tgtEl>
                                        <p:attrNameLst>
                                          <p:attrName>ppt_h</p:attrName>
                                        </p:attrNameLst>
                                      </p:cBhvr>
                                      <p:tavLst>
                                        <p:tav tm="0">
                                          <p:val>
                                            <p:fltVal val="0"/>
                                          </p:val>
                                        </p:tav>
                                        <p:tav tm="100000">
                                          <p:val>
                                            <p:strVal val="#ppt_h"/>
                                          </p:val>
                                        </p:tav>
                                      </p:tavLst>
                                    </p:anim>
                                    <p:anim calcmode="lin" valueType="num">
                                      <p:cBhvr>
                                        <p:cTn id="45"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46"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7" fill="hold">
                      <p:stCondLst>
                        <p:cond delay="indefinite"/>
                      </p:stCondLst>
                      <p:childTnLst>
                        <p:par>
                          <p:cTn id="48" fill="hold">
                            <p:stCondLst>
                              <p:cond delay="0"/>
                            </p:stCondLst>
                            <p:childTnLst>
                              <p:par>
                                <p:cTn id="49" presetID="15"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1000" fill="hold"/>
                                        <p:tgtEl>
                                          <p:spTgt spid="14"/>
                                        </p:tgtEl>
                                        <p:attrNameLst>
                                          <p:attrName>ppt_w</p:attrName>
                                        </p:attrNameLst>
                                      </p:cBhvr>
                                      <p:tavLst>
                                        <p:tav tm="0">
                                          <p:val>
                                            <p:fltVal val="0"/>
                                          </p:val>
                                        </p:tav>
                                        <p:tav tm="100000">
                                          <p:val>
                                            <p:strVal val="#ppt_w"/>
                                          </p:val>
                                        </p:tav>
                                      </p:tavLst>
                                    </p:anim>
                                    <p:anim calcmode="lin" valueType="num">
                                      <p:cBhvr>
                                        <p:cTn id="52" dur="1000" fill="hold"/>
                                        <p:tgtEl>
                                          <p:spTgt spid="14"/>
                                        </p:tgtEl>
                                        <p:attrNameLst>
                                          <p:attrName>ppt_h</p:attrName>
                                        </p:attrNameLst>
                                      </p:cBhvr>
                                      <p:tavLst>
                                        <p:tav tm="0">
                                          <p:val>
                                            <p:fltVal val="0"/>
                                          </p:val>
                                        </p:tav>
                                        <p:tav tm="100000">
                                          <p:val>
                                            <p:strVal val="#ppt_h"/>
                                          </p:val>
                                        </p:tav>
                                      </p:tavLst>
                                    </p:anim>
                                    <p:anim calcmode="lin" valueType="num">
                                      <p:cBhvr>
                                        <p:cTn id="53"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up)">
                                      <p:cBhvr>
                                        <p:cTn id="5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14"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25"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dirty="0"/>
          </a:p>
        </p:txBody>
      </p:sp>
      <p:sp>
        <p:nvSpPr>
          <p:cNvPr id="26" name="内容占位符 1"/>
          <p:cNvSpPr>
            <a:spLocks noGrp="1"/>
          </p:cNvSpPr>
          <p:nvPr>
            <p:ph idx="1"/>
          </p:nvPr>
        </p:nvSpPr>
        <p:spPr>
          <a:xfrm>
            <a:off x="397163" y="1219203"/>
            <a:ext cx="11453091" cy="5280071"/>
          </a:xfrm>
        </p:spPr>
        <p:txBody>
          <a:bodyPr>
            <a:normAutofit/>
          </a:bodyPr>
          <a:lstStyle/>
          <a:p>
            <a:r>
              <a:rPr kumimoji="1" lang="zh-CN" altLang="en-US" sz="2600" dirty="0"/>
              <a:t>查询满足条件的元组</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GB"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zh-CN" altLang="en-US" sz="2600" dirty="0">
              <a:latin typeface="Times New Roman" panose="02020603050405020304" pitchFamily="18" charset="0"/>
              <a:cs typeface="Times New Roman" panose="02020603050405020304" pitchFamily="18" charset="0"/>
            </a:endParaRPr>
          </a:p>
        </p:txBody>
      </p:sp>
      <p:graphicFrame>
        <p:nvGraphicFramePr>
          <p:cNvPr id="2" name="Group 38"/>
          <p:cNvGraphicFramePr/>
          <p:nvPr/>
        </p:nvGraphicFramePr>
        <p:xfrm>
          <a:off x="2438401" y="2759986"/>
          <a:ext cx="8229600" cy="3371850"/>
        </p:xfrm>
        <a:graphic>
          <a:graphicData uri="http://schemas.openxmlformats.org/drawingml/2006/table">
            <a:tbl>
              <a:tblPr/>
              <a:tblGrid>
                <a:gridCol w="2530475"/>
                <a:gridCol w="5699125"/>
              </a:tblGrid>
              <a:tr h="482600">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查 询 条 件</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谓    词</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701675">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比    较</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&lt;&gt;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!&lt;</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a:t>
                      </a:r>
                      <a:r>
                        <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上述比较运算符</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r>
              <a:tr h="460375">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确定范围</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BETWEEN AND</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 BETWEEN AND</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r>
              <a:tr h="431800">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确定集合</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 IN</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r>
              <a:tr h="431800">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字符匹配</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LIKE</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 LIKE</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r>
              <a:tr h="431800">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空    值</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IS NULL</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IS NOT NULL</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a:noFill/>
                    </a:lnB>
                    <a:lnTlToBr>
                      <a:noFill/>
                    </a:lnTlToBr>
                    <a:lnBlToTr>
                      <a:noFill/>
                    </a:lnBlToTr>
                    <a:noFill/>
                  </a:tcPr>
                </a:tc>
              </a:tr>
              <a:tr h="431800">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多重条件（逻辑运算）</a:t>
                      </a:r>
                      <a:endParaRPr kumimoji="1"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AND</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OR</a:t>
                      </a:r>
                      <a:r>
                        <a:rPr kumimoji="1"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29" marB="457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Text Box 37"/>
          <p:cNvSpPr txBox="1">
            <a:spLocks noChangeArrowheads="1"/>
          </p:cNvSpPr>
          <p:nvPr/>
        </p:nvSpPr>
        <p:spPr bwMode="auto">
          <a:xfrm>
            <a:off x="4408414" y="2078272"/>
            <a:ext cx="3430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3.4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常用的查询条件</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85000" lnSpcReduction="20000"/>
          </a:bodyPr>
          <a:lstStyle/>
          <a:p>
            <a:r>
              <a:rPr kumimoji="1" lang="zh-CN" altLang="en-US" sz="2600" dirty="0"/>
              <a:t>比较大小</a:t>
            </a:r>
            <a:endParaRPr kumimoji="1" lang="en-US" altLang="zh-CN" sz="2600" b="0" dirty="0">
              <a:latin typeface="Times New Roman" panose="02020603050405020304" pitchFamily="18" charset="0"/>
              <a:cs typeface="Times New Roman" panose="02020603050405020304" pitchFamily="18" charset="0"/>
            </a:endParaRPr>
          </a:p>
          <a:p>
            <a:pPr lvl="1"/>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3-16</a:t>
            </a:r>
            <a:r>
              <a:rPr lang="zh-CN" altLang="en-US" sz="2600" i="1" dirty="0">
                <a:latin typeface="Times New Roman" panose="02020603050405020304" pitchFamily="18" charset="0"/>
                <a:cs typeface="Times New Roman" panose="02020603050405020304" pitchFamily="18" charset="0"/>
              </a:rPr>
              <a:t>：查询计算机系</a:t>
            </a:r>
            <a:r>
              <a:rPr lang="en-US" altLang="zh-CN" sz="2600" i="1" dirty="0">
                <a:latin typeface="Times New Roman" panose="02020603050405020304" pitchFamily="18" charset="0"/>
                <a:cs typeface="Times New Roman" panose="02020603050405020304" pitchFamily="18" charset="0"/>
              </a:rPr>
              <a:t>(</a:t>
            </a:r>
            <a:r>
              <a:rPr lang="en-GB" altLang="zh-CN" sz="2600" i="1" dirty="0">
                <a:latin typeface="Times New Roman" panose="02020603050405020304" pitchFamily="18" charset="0"/>
                <a:cs typeface="Times New Roman" panose="02020603050405020304" pitchFamily="18" charset="0"/>
              </a:rPr>
              <a:t>CS)</a:t>
            </a:r>
            <a:r>
              <a:rPr lang="zh-CN" altLang="en-US" sz="2600" i="1" dirty="0">
                <a:latin typeface="Times New Roman" panose="02020603050405020304" pitchFamily="18" charset="0"/>
                <a:cs typeface="Times New Roman" panose="02020603050405020304" pitchFamily="18" charset="0"/>
              </a:rPr>
              <a:t>全体学生的名单</a:t>
            </a:r>
            <a:endParaRPr lang="en-US" altLang="zh-CN" sz="2600" b="0" i="1" dirty="0">
              <a:latin typeface="Times New Roman" panose="02020603050405020304" pitchFamily="18" charset="0"/>
              <a:cs typeface="Times New Roman" panose="02020603050405020304" pitchFamily="18" charset="0"/>
            </a:endParaRPr>
          </a:p>
          <a:p>
            <a:pPr marL="228600" lvl="1" algn="just">
              <a:spcBef>
                <a:spcPts val="1000"/>
              </a:spcBef>
              <a:buNone/>
            </a:pPr>
            <a:r>
              <a:rPr lang="en-US" altLang="zh-CN" sz="2600" dirty="0">
                <a:latin typeface="Times New Roman" panose="02020603050405020304" pitchFamily="18" charset="0"/>
                <a:cs typeface="Times New Roman" panose="02020603050405020304" pitchFamily="18" charset="0"/>
              </a:rPr>
              <a:t>	</a:t>
            </a:r>
            <a:r>
              <a:rPr lang="zh-CN" altLang="en-US" sz="2300" dirty="0">
                <a:latin typeface="Times New Roman" panose="02020603050405020304" pitchFamily="18" charset="0"/>
                <a:cs typeface="Times New Roman" panose="02020603050405020304" pitchFamily="18" charset="0"/>
              </a:rPr>
              <a:t>           </a:t>
            </a: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228600" lvl="1" algn="just">
              <a:spcBef>
                <a:spcPts val="1000"/>
              </a:spcBef>
              <a:buNone/>
            </a:pPr>
            <a:r>
              <a:rPr lang="en-US" altLang="zh-CN" sz="2100" dirty="0">
                <a:latin typeface="Times New Roman" panose="02020603050405020304" pitchFamily="18" charset="0"/>
                <a:cs typeface="Times New Roman" panose="02020603050405020304" pitchFamily="18" charset="0"/>
              </a:rPr>
              <a:t>   	</a:t>
            </a:r>
            <a:r>
              <a:rPr lang="zh-CN" altLang="en-US" sz="2100" dirty="0">
                <a:latin typeface="Times New Roman" panose="02020603050405020304" pitchFamily="18" charset="0"/>
                <a:cs typeface="Times New Roman" panose="02020603050405020304" pitchFamily="18" charset="0"/>
              </a:rPr>
              <a:t>            </a:t>
            </a: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228600" lvl="1" algn="just">
              <a:spcBef>
                <a:spcPts val="1000"/>
              </a:spcBef>
              <a:buNone/>
            </a:pPr>
            <a:r>
              <a:rPr lang="en-US" altLang="zh-CN" sz="2100" dirty="0">
                <a:latin typeface="Times New Roman" panose="02020603050405020304" pitchFamily="18" charset="0"/>
                <a:cs typeface="Times New Roman" panose="02020603050405020304" pitchFamily="18" charset="0"/>
              </a:rPr>
              <a:t>    </a:t>
            </a:r>
            <a:r>
              <a:rPr lang="zh-CN" altLang="en-US" sz="2100" dirty="0">
                <a:latin typeface="Times New Roman" panose="02020603050405020304" pitchFamily="18" charset="0"/>
                <a:cs typeface="Times New Roman" panose="02020603050405020304" pitchFamily="18" charset="0"/>
              </a:rPr>
              <a:t>            </a:t>
            </a:r>
            <a:r>
              <a:rPr lang="en-US" altLang="zh-CN" sz="2100" dirty="0">
                <a:latin typeface="Times New Roman" panose="02020603050405020304" pitchFamily="18" charset="0"/>
                <a:cs typeface="Times New Roman" panose="02020603050405020304" pitchFamily="18" charset="0"/>
              </a:rPr>
              <a:t> </a:t>
            </a:r>
            <a:endParaRPr lang="zh-CN" altLang="en-US" sz="2100"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3-17</a:t>
            </a:r>
            <a:r>
              <a:rPr lang="zh-CN" altLang="en-US" i="1" dirty="0">
                <a:latin typeface="Times New Roman" panose="02020603050405020304" pitchFamily="18" charset="0"/>
                <a:cs typeface="Times New Roman" panose="02020603050405020304" pitchFamily="18" charset="0"/>
              </a:rPr>
              <a:t>：查询所有年龄在</a:t>
            </a:r>
            <a:r>
              <a:rPr lang="en-US" altLang="zh-CN" i="1" dirty="0">
                <a:latin typeface="Times New Roman" panose="02020603050405020304" pitchFamily="18" charset="0"/>
                <a:cs typeface="Times New Roman" panose="02020603050405020304" pitchFamily="18" charset="0"/>
              </a:rPr>
              <a:t>20</a:t>
            </a:r>
            <a:r>
              <a:rPr lang="zh-CN" altLang="en-US" i="1" dirty="0">
                <a:latin typeface="Times New Roman" panose="02020603050405020304" pitchFamily="18" charset="0"/>
                <a:cs typeface="Times New Roman" panose="02020603050405020304" pitchFamily="18" charset="0"/>
              </a:rPr>
              <a:t>岁以下的学生姓名及其年龄</a:t>
            </a:r>
            <a:endParaRPr lang="en-US" altLang="zh-CN" i="1"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3-18</a:t>
            </a:r>
            <a:r>
              <a:rPr lang="zh-CN" altLang="en-US" i="1" dirty="0">
                <a:latin typeface="Times New Roman" panose="02020603050405020304" pitchFamily="18" charset="0"/>
                <a:cs typeface="Times New Roman" panose="02020603050405020304" pitchFamily="18" charset="0"/>
              </a:rPr>
              <a:t>：查询考试成绩有不及格的学生的学号</a:t>
            </a:r>
            <a:endParaRPr lang="en-US" altLang="zh-CN" i="1"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1143000" lvl="3" algn="just">
              <a:spcBef>
                <a:spcPts val="1000"/>
              </a:spcBef>
              <a:buNone/>
            </a:pPr>
            <a:r>
              <a:rPr lang="en-US" altLang="zh-CN" sz="2100" dirty="0">
                <a:latin typeface="Times New Roman" panose="02020603050405020304" pitchFamily="18" charset="0"/>
                <a:cs typeface="Times New Roman" panose="02020603050405020304" pitchFamily="18" charset="0"/>
              </a:rPr>
              <a:t> </a:t>
            </a:r>
            <a:endParaRPr lang="zh-CN" altLang="en-US" sz="2100"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06016" y="2099832"/>
            <a:ext cx="380866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endParaRPr lang="en-US" altLang="zh-CN" sz="2000" i="1"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206016" y="3709913"/>
            <a:ext cx="380866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&lt; 20</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8" name="文本框 7"/>
          <p:cNvSpPr txBox="1"/>
          <p:nvPr/>
        </p:nvSpPr>
        <p:spPr bwMode="auto">
          <a:xfrm>
            <a:off x="1206016" y="5319994"/>
            <a:ext cx="380866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DISTINCT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Grade&lt;60</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确定范围</a:t>
            </a:r>
            <a:endParaRPr kumimoji="1" lang="en-US" altLang="zh-CN" sz="2600" b="0" dirty="0">
              <a:latin typeface="Times New Roman" panose="02020603050405020304" pitchFamily="18" charset="0"/>
              <a:cs typeface="Times New Roman" panose="02020603050405020304" pitchFamily="18" charset="0"/>
            </a:endParaRPr>
          </a:p>
          <a:p>
            <a:pPr lvl="1">
              <a:lnSpc>
                <a:spcPct val="110000"/>
              </a:lnSpc>
            </a:pPr>
            <a:r>
              <a:rPr lang="zh-CN" altLang="en-US" dirty="0">
                <a:latin typeface="Times New Roman" panose="02020603050405020304" pitchFamily="18" charset="0"/>
                <a:cs typeface="Times New Roman" panose="02020603050405020304" pitchFamily="18" charset="0"/>
              </a:rPr>
              <a:t>谓词</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BETWEEN</a:t>
            </a:r>
            <a:r>
              <a:rPr lang="en-US" altLang="zh-CN" dirty="0">
                <a:latin typeface="Times New Roman" panose="02020603050405020304" pitchFamily="18" charset="0"/>
                <a:cs typeface="Times New Roman" panose="02020603050405020304" pitchFamily="18" charset="0"/>
              </a:rPr>
              <a:t> …  </a:t>
            </a:r>
            <a:r>
              <a:rPr lang="en-US" altLang="zh-CN" dirty="0">
                <a:solidFill>
                  <a:srgbClr val="C00000"/>
                </a:solidFill>
                <a:latin typeface="Times New Roman" panose="02020603050405020304" pitchFamily="18" charset="0"/>
                <a:cs typeface="Times New Roman" panose="02020603050405020304" pitchFamily="18" charset="0"/>
              </a:rPr>
              <a:t>AND</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457200" lvl="1" indent="0">
              <a:lnSpc>
                <a:spcPct val="11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NOT BETWEEN  </a:t>
            </a: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AND</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1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3-19</a:t>
            </a:r>
            <a:r>
              <a:rPr lang="zh-CN" altLang="en-US" i="1" dirty="0">
                <a:latin typeface="Times New Roman" panose="02020603050405020304" pitchFamily="18" charset="0"/>
                <a:cs typeface="Times New Roman" panose="02020603050405020304" pitchFamily="18" charset="0"/>
              </a:rPr>
              <a:t>：查询年龄在</a:t>
            </a:r>
            <a:r>
              <a:rPr lang="en-US" altLang="zh-CN" i="1" dirty="0">
                <a:latin typeface="Times New Roman" panose="02020603050405020304" pitchFamily="18" charset="0"/>
                <a:cs typeface="Times New Roman" panose="02020603050405020304" pitchFamily="18" charset="0"/>
              </a:rPr>
              <a:t>20~23</a:t>
            </a:r>
            <a:r>
              <a:rPr lang="zh-CN" altLang="en-US" i="1" dirty="0">
                <a:latin typeface="Times New Roman" panose="02020603050405020304" pitchFamily="18" charset="0"/>
                <a:cs typeface="Times New Roman" panose="02020603050405020304" pitchFamily="18" charset="0"/>
              </a:rPr>
              <a:t>岁（包括</a:t>
            </a:r>
            <a:r>
              <a:rPr lang="en-US" altLang="zh-CN" i="1" dirty="0">
                <a:latin typeface="Times New Roman" panose="02020603050405020304" pitchFamily="18" charset="0"/>
                <a:cs typeface="Times New Roman" panose="02020603050405020304" pitchFamily="18" charset="0"/>
              </a:rPr>
              <a:t>20</a:t>
            </a:r>
            <a:r>
              <a:rPr lang="zh-CN" altLang="en-US" i="1" dirty="0">
                <a:latin typeface="Times New Roman" panose="02020603050405020304" pitchFamily="18" charset="0"/>
                <a:cs typeface="Times New Roman" panose="02020603050405020304" pitchFamily="18" charset="0"/>
              </a:rPr>
              <a:t>岁和</a:t>
            </a:r>
            <a:r>
              <a:rPr lang="en-US" altLang="zh-CN" i="1" dirty="0">
                <a:latin typeface="Times New Roman" panose="02020603050405020304" pitchFamily="18" charset="0"/>
                <a:cs typeface="Times New Roman" panose="02020603050405020304" pitchFamily="18" charset="0"/>
              </a:rPr>
              <a:t>23</a:t>
            </a:r>
            <a:r>
              <a:rPr lang="zh-CN" altLang="en-US" i="1" dirty="0">
                <a:latin typeface="Times New Roman" panose="02020603050405020304" pitchFamily="18" charset="0"/>
                <a:cs typeface="Times New Roman" panose="02020603050405020304" pitchFamily="18" charset="0"/>
              </a:rPr>
              <a:t>岁）之间的学生的姓名、系别和年龄</a:t>
            </a:r>
            <a:endParaRPr lang="en-US" altLang="zh-CN" i="1" dirty="0">
              <a:latin typeface="Times New Roman" panose="02020603050405020304" pitchFamily="18" charset="0"/>
              <a:cs typeface="Times New Roman" panose="02020603050405020304" pitchFamily="18" charset="0"/>
            </a:endParaRPr>
          </a:p>
          <a:p>
            <a:pPr marL="457200" lvl="1" indent="0">
              <a:lnSpc>
                <a:spcPct val="11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228600" lvl="1" algn="just">
              <a:lnSpc>
                <a:spcPct val="110000"/>
              </a:lnSpc>
              <a:spcBef>
                <a:spcPts val="1000"/>
              </a:spcBef>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228600" lvl="1" algn="just">
              <a:lnSpc>
                <a:spcPct val="110000"/>
              </a:lnSpc>
              <a:spcBef>
                <a:spcPts val="1000"/>
              </a:spcBef>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1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3-20</a:t>
            </a:r>
            <a:r>
              <a:rPr lang="zh-CN" altLang="en-US" i="1" dirty="0">
                <a:latin typeface="Times New Roman" panose="02020603050405020304" pitchFamily="18" charset="0"/>
                <a:cs typeface="Times New Roman" panose="02020603050405020304" pitchFamily="18" charset="0"/>
              </a:rPr>
              <a:t>：查询年龄不在</a:t>
            </a:r>
            <a:r>
              <a:rPr lang="en-US" altLang="zh-CN" i="1" dirty="0">
                <a:latin typeface="Times New Roman" panose="02020603050405020304" pitchFamily="18" charset="0"/>
                <a:cs typeface="Times New Roman" panose="02020603050405020304" pitchFamily="18" charset="0"/>
              </a:rPr>
              <a:t>20~23</a:t>
            </a:r>
            <a:r>
              <a:rPr lang="zh-CN" altLang="en-US" i="1" dirty="0">
                <a:latin typeface="Times New Roman" panose="02020603050405020304" pitchFamily="18" charset="0"/>
                <a:cs typeface="Times New Roman" panose="02020603050405020304" pitchFamily="18" charset="0"/>
              </a:rPr>
              <a:t>岁之间的学生姓名、系别和年龄</a:t>
            </a:r>
            <a:endParaRPr lang="zh-CN" altLang="en-US" i="1" dirty="0">
              <a:latin typeface="Times New Roman" panose="02020603050405020304" pitchFamily="18" charset="0"/>
              <a:cs typeface="Times New Roman" panose="02020603050405020304" pitchFamily="18" charset="0"/>
            </a:endParaRPr>
          </a:p>
          <a:p>
            <a:pPr marL="0" lvl="1" indent="0" algn="just">
              <a:lnSpc>
                <a:spcPct val="11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0" lvl="1" indent="0" algn="just">
              <a:lnSpc>
                <a:spcPct val="110000"/>
              </a:lnSpc>
              <a:buNone/>
            </a:pPr>
            <a:r>
              <a:rPr lang="en-US" altLang="zh-CN" sz="2100" dirty="0">
                <a:latin typeface="Times New Roman" panose="02020603050405020304" pitchFamily="18" charset="0"/>
                <a:cs typeface="Times New Roman" panose="02020603050405020304" pitchFamily="18" charset="0"/>
              </a:rPr>
              <a:t>	  </a:t>
            </a:r>
            <a:endParaRPr lang="en-US" altLang="zh-CN" sz="2100" dirty="0">
              <a:latin typeface="Times New Roman" panose="02020603050405020304" pitchFamily="18" charset="0"/>
              <a:cs typeface="Times New Roman" panose="02020603050405020304" pitchFamily="18" charset="0"/>
            </a:endParaRPr>
          </a:p>
          <a:p>
            <a:pPr marL="0" lvl="1" indent="0" algn="just">
              <a:lnSpc>
                <a:spcPct val="110000"/>
              </a:lnSpc>
              <a:buNone/>
            </a:pPr>
            <a:r>
              <a:rPr lang="en-US" altLang="zh-CN" sz="2100" dirty="0">
                <a:latin typeface="Times New Roman" panose="02020603050405020304" pitchFamily="18" charset="0"/>
                <a:cs typeface="Times New Roman" panose="02020603050405020304" pitchFamily="18" charset="0"/>
              </a:rPr>
              <a:t>	  </a:t>
            </a:r>
            <a:endParaRPr lang="zh-CN" altLang="en-US" sz="2100" dirty="0">
              <a:latin typeface="Times New Roman" panose="02020603050405020304" pitchFamily="18" charset="0"/>
              <a:cs typeface="Times New Roman" panose="02020603050405020304" pitchFamily="18" charset="0"/>
            </a:endParaRPr>
          </a:p>
          <a:p>
            <a:pPr marL="228600" lvl="1" algn="just">
              <a:spcBef>
                <a:spcPts val="1000"/>
              </a:spcBef>
              <a:buNone/>
            </a:pPr>
            <a:endParaRPr lang="zh-CN" altLang="en-US" sz="2100"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34150" y="3445879"/>
            <a:ext cx="5112724"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BETWEEN 20 AND 23</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234150" y="5314539"/>
            <a:ext cx="5112724"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NOT BETWEEN 20 AND 23</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pic>
        <p:nvPicPr>
          <p:cNvPr id="7"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l="426" t="9653" r="426" b="10504"/>
          <a:stretch>
            <a:fillRect/>
          </a:stretch>
        </p:blipFill>
        <p:spPr bwMode="auto">
          <a:xfrm>
            <a:off x="2963864" y="2632075"/>
            <a:ext cx="2809875" cy="2032000"/>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1"/>
          <p:cNvSpPr>
            <a:spLocks noChangeArrowheads="1"/>
          </p:cNvSpPr>
          <p:nvPr/>
        </p:nvSpPr>
        <p:spPr bwMode="auto">
          <a:xfrm>
            <a:off x="6026152" y="2730500"/>
            <a:ext cx="27305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200" b="0" i="1" dirty="0">
                <a:latin typeface="Helvetica" pitchFamily="2" charset="0"/>
              </a:rPr>
              <a:t>where amount between 600 and 1000</a:t>
            </a:r>
            <a:endParaRPr lang="zh-CN" altLang="en-US" sz="1200" b="0" i="1" dirty="0">
              <a:latin typeface="Helvetica" pitchFamily="2" charset="0"/>
            </a:endParaRPr>
          </a:p>
        </p:txBody>
      </p:sp>
      <p:grpSp>
        <p:nvGrpSpPr>
          <p:cNvPr id="9" name="Group 31"/>
          <p:cNvGrpSpPr/>
          <p:nvPr/>
        </p:nvGrpSpPr>
        <p:grpSpPr bwMode="auto">
          <a:xfrm>
            <a:off x="5807077" y="2770188"/>
            <a:ext cx="3379787" cy="623887"/>
            <a:chOff x="2191" y="1562"/>
            <a:chExt cx="2129" cy="393"/>
          </a:xfrm>
        </p:grpSpPr>
        <p:sp>
          <p:nvSpPr>
            <p:cNvPr id="10" name="Line 32"/>
            <p:cNvSpPr>
              <a:spLocks noChangeShapeType="1"/>
            </p:cNvSpPr>
            <p:nvPr/>
          </p:nvSpPr>
          <p:spPr bwMode="auto">
            <a:xfrm>
              <a:off x="2191" y="1562"/>
              <a:ext cx="212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33"/>
            <p:cNvSpPr>
              <a:spLocks noChangeShapeType="1"/>
            </p:cNvSpPr>
            <p:nvPr/>
          </p:nvSpPr>
          <p:spPr bwMode="auto">
            <a:xfrm>
              <a:off x="4320" y="1571"/>
              <a:ext cx="0"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12" name="Group 40"/>
          <p:cNvGraphicFramePr>
            <a:graphicFrameLocks noGrp="1"/>
          </p:cNvGraphicFramePr>
          <p:nvPr/>
        </p:nvGraphicFramePr>
        <p:xfrm>
          <a:off x="7219952" y="3376613"/>
          <a:ext cx="3878262" cy="677862"/>
        </p:xfrm>
        <a:graphic>
          <a:graphicData uri="http://schemas.openxmlformats.org/drawingml/2006/table">
            <a:tbl>
              <a:tblPr/>
              <a:tblGrid>
                <a:gridCol w="1292225"/>
                <a:gridCol w="1293812"/>
                <a:gridCol w="1292225"/>
              </a:tblGrid>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amount</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L-11</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Round Hill</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rPr>
                        <a:t>900</a:t>
                      </a:r>
                      <a:endPar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 name="Text Box 35"/>
          <p:cNvSpPr txBox="1">
            <a:spLocks noChangeArrowheads="1"/>
          </p:cNvSpPr>
          <p:nvPr/>
        </p:nvSpPr>
        <p:spPr bwMode="auto">
          <a:xfrm>
            <a:off x="9375777" y="2179638"/>
            <a:ext cx="1579562"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1200" b="0" i="1">
                <a:latin typeface="Helvetica" pitchFamily="2" charset="0"/>
              </a:rPr>
              <a:t>900 </a:t>
            </a:r>
            <a:r>
              <a:rPr lang="en-US" altLang="zh-CN" sz="1200" b="0" i="1">
                <a:latin typeface="Helvetica" pitchFamily="2" charset="0"/>
              </a:rPr>
              <a:t>is between 600 and 1000</a:t>
            </a:r>
            <a:endParaRPr lang="en-US" altLang="zh-CN" sz="1200" b="0" i="1">
              <a:latin typeface="Helvetica" pitchFamily="2" charset="0"/>
            </a:endParaRPr>
          </a:p>
        </p:txBody>
      </p:sp>
      <p:sp>
        <p:nvSpPr>
          <p:cNvPr id="14" name="Line 36"/>
          <p:cNvSpPr>
            <a:spLocks noChangeShapeType="1"/>
          </p:cNvSpPr>
          <p:nvPr/>
        </p:nvSpPr>
        <p:spPr bwMode="auto">
          <a:xfrm>
            <a:off x="10020302" y="2649538"/>
            <a:ext cx="0" cy="11096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34"/>
          <p:cNvSpPr>
            <a:spLocks noChangeShapeType="1"/>
          </p:cNvSpPr>
          <p:nvPr/>
        </p:nvSpPr>
        <p:spPr bwMode="auto">
          <a:xfrm>
            <a:off x="8715377" y="4033838"/>
            <a:ext cx="0" cy="12065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Rectangle 30"/>
          <p:cNvSpPr>
            <a:spLocks noChangeArrowheads="1"/>
          </p:cNvSpPr>
          <p:nvPr/>
        </p:nvSpPr>
        <p:spPr bwMode="auto">
          <a:xfrm>
            <a:off x="7612064" y="4772025"/>
            <a:ext cx="165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200" b="0" i="1" dirty="0">
                <a:latin typeface="Helvetica" pitchFamily="2" charset="0"/>
              </a:rPr>
              <a:t>Select </a:t>
            </a:r>
            <a:r>
              <a:rPr lang="en-US" altLang="zh-CN" sz="1200" b="0" i="1" dirty="0" err="1">
                <a:latin typeface="Helvetica" pitchFamily="2" charset="0"/>
              </a:rPr>
              <a:t>loan_number</a:t>
            </a:r>
            <a:endParaRPr lang="zh-CN" altLang="en-US" sz="1200" b="0" i="1" dirty="0">
              <a:latin typeface="Helvetica" pitchFamily="2" charset="0"/>
            </a:endParaRPr>
          </a:p>
        </p:txBody>
      </p:sp>
      <p:graphicFrame>
        <p:nvGraphicFramePr>
          <p:cNvPr id="17" name="Group 42"/>
          <p:cNvGraphicFramePr>
            <a:graphicFrameLocks noGrp="1"/>
          </p:cNvGraphicFramePr>
          <p:nvPr/>
        </p:nvGraphicFramePr>
        <p:xfrm>
          <a:off x="8104189" y="5275263"/>
          <a:ext cx="1292225" cy="714375"/>
        </p:xfrm>
        <a:graphic>
          <a:graphicData uri="http://schemas.openxmlformats.org/drawingml/2006/table">
            <a:tbl>
              <a:tblPr/>
              <a:tblGrid>
                <a:gridCol w="1292225"/>
              </a:tblGrid>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rPr>
                        <a:t>L-11</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 name="内容占位符 1"/>
          <p:cNvSpPr>
            <a:spLocks noGrp="1"/>
          </p:cNvSpPr>
          <p:nvPr>
            <p:ph idx="1"/>
          </p:nvPr>
        </p:nvSpPr>
        <p:spPr>
          <a:xfrm>
            <a:off x="397163" y="1219203"/>
            <a:ext cx="11453091" cy="5280071"/>
          </a:xfrm>
        </p:spPr>
        <p:txBody>
          <a:bodyPr>
            <a:normAutofit/>
          </a:bodyPr>
          <a:lstStyle/>
          <a:p>
            <a:r>
              <a:rPr kumimoji="1" lang="zh-CN" altLang="en-US" sz="2600" dirty="0"/>
              <a:t>确定范围</a:t>
            </a:r>
            <a:endParaRPr lang="zh-CN" altLang="en-US" sz="2100"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2" name="文本框 1"/>
          <p:cNvSpPr txBox="1"/>
          <p:nvPr/>
        </p:nvSpPr>
        <p:spPr bwMode="auto">
          <a:xfrm>
            <a:off x="2920273" y="1219203"/>
            <a:ext cx="5651275" cy="108810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a:t>
            </a:r>
            <a:r>
              <a:rPr kumimoji="1" lang="en-US" altLang="zh-CN" sz="2000" i="1" dirty="0">
                <a:latin typeface="Cambria Math" panose="02040503050406030204" pitchFamily="18" charset="0"/>
                <a:ea typeface="Cambria Math" panose="02040503050406030204" pitchFamily="18" charset="0"/>
                <a:cs typeface="Times New Roman" panose="02020603050405020304" pitchFamily="18" charset="0"/>
              </a:rPr>
              <a:t> </a:t>
            </a:r>
            <a:r>
              <a:rPr kumimoji="1" lang="en-US" altLang="zh-CN" sz="2000" i="1" dirty="0" err="1">
                <a:latin typeface="Cambria Math" panose="02040503050406030204" pitchFamily="18" charset="0"/>
                <a:ea typeface="Cambria Math" panose="02040503050406030204" pitchFamily="18" charset="0"/>
                <a:cs typeface="Times New Roman" panose="02020603050405020304" pitchFamily="18" charset="0"/>
              </a:rPr>
              <a:t>loan_number</a:t>
            </a:r>
            <a:b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b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a:t>
            </a:r>
            <a:r>
              <a:rPr kumimoji="1" lang="en-US" altLang="zh-CN" sz="2000" i="1" dirty="0">
                <a:latin typeface="Cambria Math" panose="02040503050406030204" pitchFamily="18" charset="0"/>
                <a:ea typeface="Cambria Math" panose="02040503050406030204" pitchFamily="18" charset="0"/>
                <a:cs typeface="Times New Roman" panose="02020603050405020304" pitchFamily="18" charset="0"/>
              </a:rPr>
              <a:t>loan</a:t>
            </a:r>
            <a:b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b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kumimoji="1" lang="en-US" altLang="zh-CN" sz="2000" i="1" dirty="0">
                <a:latin typeface="Cambria Math" panose="02040503050406030204" pitchFamily="18" charset="0"/>
                <a:ea typeface="Cambria Math" panose="02040503050406030204" pitchFamily="18" charset="0"/>
                <a:cs typeface="Times New Roman" panose="02020603050405020304" pitchFamily="18" charset="0"/>
              </a:rPr>
              <a:t>amount</a:t>
            </a:r>
            <a:r>
              <a:rPr kumimoji="1" lang="en-US" altLang="zh-CN" sz="2000" dirty="0">
                <a:latin typeface="Cambria Math" panose="02040503050406030204" pitchFamily="18" charset="0"/>
                <a:ea typeface="Cambria Math" panose="02040503050406030204" pitchFamily="18" charset="0"/>
                <a:cs typeface="Times New Roman" panose="02020603050405020304" pitchFamily="18" charset="0"/>
              </a:rPr>
              <a:t> between 600 and 1000</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5"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 calcmode="lin" valueType="num">
                                      <p:cBhvr>
                                        <p:cTn id="13"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1000" fill="hold"/>
                                        <p:tgtEl>
                                          <p:spTgt spid="12"/>
                                        </p:tgtEl>
                                        <p:attrNameLst>
                                          <p:attrName>ppt_w</p:attrName>
                                        </p:attrNameLst>
                                      </p:cBhvr>
                                      <p:tavLst>
                                        <p:tav tm="0">
                                          <p:val>
                                            <p:fltVal val="0"/>
                                          </p:val>
                                        </p:tav>
                                        <p:tav tm="100000">
                                          <p:val>
                                            <p:strVal val="#ppt_w"/>
                                          </p:val>
                                        </p:tav>
                                      </p:tavLst>
                                    </p:anim>
                                    <p:anim calcmode="lin" valueType="num">
                                      <p:cBhvr>
                                        <p:cTn id="33" dur="1000" fill="hold"/>
                                        <p:tgtEl>
                                          <p:spTgt spid="12"/>
                                        </p:tgtEl>
                                        <p:attrNameLst>
                                          <p:attrName>ppt_h</p:attrName>
                                        </p:attrNameLst>
                                      </p:cBhvr>
                                      <p:tavLst>
                                        <p:tav tm="0">
                                          <p:val>
                                            <p:fltVal val="0"/>
                                          </p:val>
                                        </p:tav>
                                        <p:tav tm="100000">
                                          <p:val>
                                            <p:strVal val="#ppt_h"/>
                                          </p:val>
                                        </p:tav>
                                      </p:tavLst>
                                    </p:anim>
                                    <p:anim calcmode="lin" valueType="num">
                                      <p:cBhvr>
                                        <p:cTn id="34"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1000" fill="hold"/>
                                        <p:tgtEl>
                                          <p:spTgt spid="13"/>
                                        </p:tgtEl>
                                        <p:attrNameLst>
                                          <p:attrName>ppt_w</p:attrName>
                                        </p:attrNameLst>
                                      </p:cBhvr>
                                      <p:tavLst>
                                        <p:tav tm="0">
                                          <p:val>
                                            <p:fltVal val="0"/>
                                          </p:val>
                                        </p:tav>
                                        <p:tav tm="100000">
                                          <p:val>
                                            <p:strVal val="#ppt_w"/>
                                          </p:val>
                                        </p:tav>
                                      </p:tavLst>
                                    </p:anim>
                                    <p:anim calcmode="lin" valueType="num">
                                      <p:cBhvr>
                                        <p:cTn id="41" dur="1000" fill="hold"/>
                                        <p:tgtEl>
                                          <p:spTgt spid="13"/>
                                        </p:tgtEl>
                                        <p:attrNameLst>
                                          <p:attrName>ppt_h</p:attrName>
                                        </p:attrNameLst>
                                      </p:cBhvr>
                                      <p:tavLst>
                                        <p:tav tm="0">
                                          <p:val>
                                            <p:fltVal val="0"/>
                                          </p:val>
                                        </p:tav>
                                        <p:tav tm="100000">
                                          <p:val>
                                            <p:strVal val="#ppt_h"/>
                                          </p:val>
                                        </p:tav>
                                      </p:tavLst>
                                    </p:anim>
                                    <p:anim calcmode="lin" valueType="num">
                                      <p:cBhvr>
                                        <p:cTn id="42"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5"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p:cTn id="58" dur="1000" fill="hold"/>
                                        <p:tgtEl>
                                          <p:spTgt spid="16"/>
                                        </p:tgtEl>
                                        <p:attrNameLst>
                                          <p:attrName>ppt_w</p:attrName>
                                        </p:attrNameLst>
                                      </p:cBhvr>
                                      <p:tavLst>
                                        <p:tav tm="0">
                                          <p:val>
                                            <p:fltVal val="0"/>
                                          </p:val>
                                        </p:tav>
                                        <p:tav tm="100000">
                                          <p:val>
                                            <p:strVal val="#ppt_w"/>
                                          </p:val>
                                        </p:tav>
                                      </p:tavLst>
                                    </p:anim>
                                    <p:anim calcmode="lin" valueType="num">
                                      <p:cBhvr>
                                        <p:cTn id="59" dur="1000" fill="hold"/>
                                        <p:tgtEl>
                                          <p:spTgt spid="16"/>
                                        </p:tgtEl>
                                        <p:attrNameLst>
                                          <p:attrName>ppt_h</p:attrName>
                                        </p:attrNameLst>
                                      </p:cBhvr>
                                      <p:tavLst>
                                        <p:tav tm="0">
                                          <p:val>
                                            <p:fltVal val="0"/>
                                          </p:val>
                                        </p:tav>
                                        <p:tav tm="100000">
                                          <p:val>
                                            <p:strVal val="#ppt_h"/>
                                          </p:val>
                                        </p:tav>
                                      </p:tavLst>
                                    </p:anim>
                                    <p:anim calcmode="lin" valueType="num">
                                      <p:cBhvr>
                                        <p:cTn id="60"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1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2" fill="hold">
                      <p:stCondLst>
                        <p:cond delay="indefinite"/>
                      </p:stCondLst>
                      <p:childTnLst>
                        <p:par>
                          <p:cTn id="63" fill="hold">
                            <p:stCondLst>
                              <p:cond delay="0"/>
                            </p:stCondLst>
                            <p:childTnLst>
                              <p:par>
                                <p:cTn id="64" presetID="15"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1000" fill="hold"/>
                                        <p:tgtEl>
                                          <p:spTgt spid="17"/>
                                        </p:tgtEl>
                                        <p:attrNameLst>
                                          <p:attrName>ppt_w</p:attrName>
                                        </p:attrNameLst>
                                      </p:cBhvr>
                                      <p:tavLst>
                                        <p:tav tm="0">
                                          <p:val>
                                            <p:fltVal val="0"/>
                                          </p:val>
                                        </p:tav>
                                        <p:tav tm="100000">
                                          <p:val>
                                            <p:strVal val="#ppt_w"/>
                                          </p:val>
                                        </p:tav>
                                      </p:tavLst>
                                    </p:anim>
                                    <p:anim calcmode="lin" valueType="num">
                                      <p:cBhvr>
                                        <p:cTn id="67" dur="1000" fill="hold"/>
                                        <p:tgtEl>
                                          <p:spTgt spid="17"/>
                                        </p:tgtEl>
                                        <p:attrNameLst>
                                          <p:attrName>ppt_h</p:attrName>
                                        </p:attrNameLst>
                                      </p:cBhvr>
                                      <p:tavLst>
                                        <p:tav tm="0">
                                          <p:val>
                                            <p:fltVal val="0"/>
                                          </p:val>
                                        </p:tav>
                                        <p:tav tm="100000">
                                          <p:val>
                                            <p:strVal val="#ppt_h"/>
                                          </p:val>
                                        </p:tav>
                                      </p:tavLst>
                                    </p:anim>
                                    <p:anim calcmode="lin" valueType="num">
                                      <p:cBhvr>
                                        <p:cTn id="68"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3" grpId="0" animBg="1" autoUpdateAnimBg="0"/>
      <p:bldP spid="16" grpId="0" autoUpdateAnimBg="0"/>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r>
              <a:rPr kumimoji="1" lang="zh-CN" altLang="en-US" sz="2600" dirty="0"/>
              <a:t>确定集合</a:t>
            </a:r>
            <a:endParaRPr kumimoji="1" lang="en-US" altLang="zh-CN" sz="2600" b="0" dirty="0">
              <a:latin typeface="Times New Roman" panose="02020603050405020304" pitchFamily="18" charset="0"/>
              <a:cs typeface="Times New Roman" panose="02020603050405020304" pitchFamily="18" charset="0"/>
            </a:endParaRPr>
          </a:p>
          <a:p>
            <a:pPr lvl="1" algn="just">
              <a:lnSpc>
                <a:spcPct val="150000"/>
              </a:lnSpc>
            </a:pPr>
            <a:r>
              <a:rPr lang="zh-CN" altLang="en-US" sz="2200" dirty="0">
                <a:latin typeface="Times New Roman" panose="02020603050405020304" pitchFamily="18" charset="0"/>
                <a:cs typeface="Times New Roman" panose="02020603050405020304" pitchFamily="18" charset="0"/>
              </a:rPr>
              <a:t>谓词：</a:t>
            </a:r>
            <a:r>
              <a:rPr lang="en-US" altLang="zh-CN" sz="2200" dirty="0">
                <a:solidFill>
                  <a:srgbClr val="C00000"/>
                </a:solidFill>
                <a:latin typeface="Times New Roman" panose="02020603050405020304" pitchFamily="18" charset="0"/>
                <a:cs typeface="Times New Roman" panose="02020603050405020304" pitchFamily="18" charset="0"/>
              </a:rPr>
              <a:t>IN</a:t>
            </a:r>
            <a:r>
              <a:rPr lang="en-US" altLang="zh-CN" sz="2200" dirty="0">
                <a:latin typeface="Times New Roman" panose="02020603050405020304" pitchFamily="18" charset="0"/>
                <a:cs typeface="Times New Roman" panose="02020603050405020304" pitchFamily="18" charset="0"/>
              </a:rPr>
              <a:t> &lt;</a:t>
            </a:r>
            <a:r>
              <a:rPr lang="zh-CN" altLang="en-US" sz="2200" dirty="0">
                <a:latin typeface="Times New Roman" panose="02020603050405020304" pitchFamily="18" charset="0"/>
                <a:cs typeface="Times New Roman" panose="02020603050405020304" pitchFamily="18" charset="0"/>
              </a:rPr>
              <a:t>值表</a:t>
            </a:r>
            <a:r>
              <a:rPr lang="en-US" altLang="zh-CN" sz="2200" dirty="0">
                <a:latin typeface="Times New Roman" panose="02020603050405020304" pitchFamily="18" charset="0"/>
                <a:cs typeface="Times New Roman" panose="02020603050405020304" pitchFamily="18" charset="0"/>
              </a:rPr>
              <a:t>&gt;,  </a:t>
            </a:r>
            <a:r>
              <a:rPr lang="en-US" altLang="zh-CN" sz="2200" dirty="0">
                <a:solidFill>
                  <a:srgbClr val="C00000"/>
                </a:solidFill>
                <a:latin typeface="Times New Roman" panose="02020603050405020304" pitchFamily="18" charset="0"/>
                <a:cs typeface="Times New Roman" panose="02020603050405020304" pitchFamily="18" charset="0"/>
              </a:rPr>
              <a:t>NOT IN </a:t>
            </a:r>
            <a:r>
              <a:rPr lang="en-US" altLang="zh-CN" sz="2200" dirty="0">
                <a:latin typeface="Times New Roman" panose="02020603050405020304" pitchFamily="18" charset="0"/>
                <a:cs typeface="Times New Roman" panose="02020603050405020304" pitchFamily="18" charset="0"/>
              </a:rPr>
              <a:t>&lt;</a:t>
            </a:r>
            <a:r>
              <a:rPr lang="zh-CN" altLang="en-US" sz="2200" dirty="0">
                <a:latin typeface="Times New Roman" panose="02020603050405020304" pitchFamily="18" charset="0"/>
                <a:cs typeface="Times New Roman" panose="02020603050405020304" pitchFamily="18" charset="0"/>
              </a:rPr>
              <a:t>值表</a:t>
            </a:r>
            <a:r>
              <a:rPr lang="en-US" altLang="zh-CN" sz="2200" dirty="0">
                <a:latin typeface="Times New Roman" panose="02020603050405020304" pitchFamily="18" charset="0"/>
                <a:cs typeface="Times New Roman" panose="02020603050405020304" pitchFamily="18" charset="0"/>
              </a:rPr>
              <a:t>&gt;          </a:t>
            </a:r>
            <a:endParaRPr lang="en-US" altLang="zh-CN" sz="2200" dirty="0">
              <a:latin typeface="Times New Roman" panose="02020603050405020304" pitchFamily="18" charset="0"/>
              <a:cs typeface="Times New Roman" panose="02020603050405020304" pitchFamily="18" charset="0"/>
            </a:endParaRPr>
          </a:p>
          <a:p>
            <a:pPr lvl="1">
              <a:lnSpc>
                <a:spcPct val="150000"/>
              </a:lnSpc>
            </a:pPr>
            <a:r>
              <a:rPr lang="zh-CN" altLang="en-US" sz="2200" i="1" dirty="0">
                <a:latin typeface="Times New Roman" panose="02020603050405020304" pitchFamily="18" charset="0"/>
                <a:cs typeface="Times New Roman" panose="02020603050405020304" pitchFamily="18" charset="0"/>
              </a:rPr>
              <a:t>例</a:t>
            </a:r>
            <a:r>
              <a:rPr lang="en-US" altLang="zh-CN" sz="2200" i="1" dirty="0">
                <a:latin typeface="Times New Roman" panose="02020603050405020304" pitchFamily="18" charset="0"/>
                <a:cs typeface="Times New Roman" panose="02020603050405020304" pitchFamily="18" charset="0"/>
              </a:rPr>
              <a:t>3-21</a:t>
            </a:r>
            <a:r>
              <a:rPr lang="zh-CN" altLang="en-US" sz="2200" i="1" dirty="0">
                <a:latin typeface="Times New Roman" panose="02020603050405020304" pitchFamily="18" charset="0"/>
                <a:cs typeface="Times New Roman" panose="02020603050405020304" pitchFamily="18" charset="0"/>
              </a:rPr>
              <a:t>：查询信息系（</a:t>
            </a:r>
            <a:r>
              <a:rPr lang="en-US" altLang="zh-CN" sz="2200" i="1" dirty="0">
                <a:latin typeface="Times New Roman" panose="02020603050405020304" pitchFamily="18" charset="0"/>
                <a:cs typeface="Times New Roman" panose="02020603050405020304" pitchFamily="18" charset="0"/>
              </a:rPr>
              <a:t>IS</a:t>
            </a:r>
            <a:r>
              <a:rPr lang="zh-CN" altLang="en-US" sz="2200" i="1" dirty="0">
                <a:latin typeface="Times New Roman" panose="02020603050405020304" pitchFamily="18" charset="0"/>
                <a:cs typeface="Times New Roman" panose="02020603050405020304" pitchFamily="18" charset="0"/>
              </a:rPr>
              <a:t>）、数学系（</a:t>
            </a:r>
            <a:r>
              <a:rPr lang="en-US" altLang="zh-CN" sz="2200" i="1" dirty="0">
                <a:latin typeface="Times New Roman" panose="02020603050405020304" pitchFamily="18" charset="0"/>
                <a:cs typeface="Times New Roman" panose="02020603050405020304" pitchFamily="18" charset="0"/>
              </a:rPr>
              <a:t>MA</a:t>
            </a:r>
            <a:r>
              <a:rPr lang="zh-CN" altLang="en-US" sz="2200" i="1" dirty="0">
                <a:latin typeface="Times New Roman" panose="02020603050405020304" pitchFamily="18" charset="0"/>
                <a:cs typeface="Times New Roman" panose="02020603050405020304" pitchFamily="18" charset="0"/>
              </a:rPr>
              <a:t>）和计算机科学系（</a:t>
            </a:r>
            <a:r>
              <a:rPr lang="en-US" altLang="zh-CN" sz="2200" i="1" dirty="0">
                <a:latin typeface="Times New Roman" panose="02020603050405020304" pitchFamily="18" charset="0"/>
                <a:cs typeface="Times New Roman" panose="02020603050405020304" pitchFamily="18" charset="0"/>
              </a:rPr>
              <a:t>CS</a:t>
            </a:r>
            <a:r>
              <a:rPr lang="zh-CN" altLang="en-US" sz="2200" i="1" dirty="0">
                <a:latin typeface="Times New Roman" panose="02020603050405020304" pitchFamily="18" charset="0"/>
                <a:cs typeface="Times New Roman" panose="02020603050405020304" pitchFamily="18" charset="0"/>
              </a:rPr>
              <a:t>）学生的姓名和性别</a:t>
            </a:r>
            <a:endParaRPr lang="zh-CN" altLang="en-US" sz="2200" i="1" dirty="0">
              <a:latin typeface="Times New Roman" panose="02020603050405020304" pitchFamily="18" charset="0"/>
              <a:cs typeface="Times New Roman" panose="02020603050405020304" pitchFamily="18" charset="0"/>
            </a:endParaRPr>
          </a:p>
          <a:p>
            <a:pPr lvl="1">
              <a:lnSpc>
                <a:spcPct val="150000"/>
              </a:lnSpc>
              <a:buNone/>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lvl="1">
              <a:lnSpc>
                <a:spcPct val="150000"/>
              </a:lnSpc>
              <a:buNone/>
            </a:pP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lvl="1">
              <a:lnSpc>
                <a:spcPct val="150000"/>
              </a:lnSpc>
              <a:buNone/>
            </a:pP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lvl="1" algn="just">
              <a:lnSpc>
                <a:spcPct val="150000"/>
              </a:lnSpc>
            </a:pPr>
            <a:r>
              <a:rPr lang="zh-CN" altLang="en-US" sz="2200" i="1" dirty="0">
                <a:latin typeface="Times New Roman" panose="02020603050405020304" pitchFamily="18" charset="0"/>
                <a:cs typeface="Times New Roman" panose="02020603050405020304" pitchFamily="18" charset="0"/>
              </a:rPr>
              <a:t>例</a:t>
            </a:r>
            <a:r>
              <a:rPr lang="en-US" altLang="zh-CN" sz="2200" i="1" dirty="0">
                <a:latin typeface="Times New Roman" panose="02020603050405020304" pitchFamily="18" charset="0"/>
                <a:cs typeface="Times New Roman" panose="02020603050405020304" pitchFamily="18" charset="0"/>
              </a:rPr>
              <a:t>3-22</a:t>
            </a:r>
            <a:r>
              <a:rPr lang="zh-CN" altLang="en-US" sz="2200" i="1" dirty="0">
                <a:latin typeface="Times New Roman" panose="02020603050405020304" pitchFamily="18" charset="0"/>
                <a:cs typeface="Times New Roman" panose="02020603050405020304" pitchFamily="18" charset="0"/>
              </a:rPr>
              <a:t>：查询既不是信息系、数学系，也不是计算机科学系的学生的姓名和性别</a:t>
            </a:r>
            <a:endParaRPr lang="zh-CN" altLang="en-US" sz="2200" i="1" dirty="0">
              <a:latin typeface="Times New Roman" panose="02020603050405020304" pitchFamily="18" charset="0"/>
              <a:cs typeface="Times New Roman" panose="02020603050405020304" pitchFamily="18" charset="0"/>
            </a:endParaRPr>
          </a:p>
          <a:p>
            <a:pPr lvl="1" algn="just">
              <a:lnSpc>
                <a:spcPct val="150000"/>
              </a:lnSpc>
              <a:buNone/>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lvl="1" algn="just">
              <a:lnSpc>
                <a:spcPct val="150000"/>
              </a:lnSpc>
              <a:buNone/>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algn="just">
              <a:lnSpc>
                <a:spcPct val="150000"/>
              </a:lnSpc>
              <a:buNone/>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62285" y="2833686"/>
            <a:ext cx="5112724" cy="119062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Ssex</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IN</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'IS'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'MA'</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262285" y="4876593"/>
            <a:ext cx="5112724"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Ssex</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NOT IN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'IS'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'MA'</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 );</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字符匹配</a:t>
            </a:r>
            <a:endParaRPr kumimoji="1" lang="en-US" altLang="zh-CN" sz="2600" b="0" dirty="0">
              <a:latin typeface="Times New Roman" panose="02020603050405020304" pitchFamily="18" charset="0"/>
              <a:cs typeface="Times New Roman" panose="02020603050405020304" pitchFamily="18" charset="0"/>
            </a:endParaRPr>
          </a:p>
          <a:p>
            <a:pPr lvl="1" algn="just">
              <a:lnSpc>
                <a:spcPct val="150000"/>
              </a:lnSpc>
            </a:pPr>
            <a:r>
              <a:rPr lang="zh-CN" altLang="en-US" sz="2600" dirty="0">
                <a:latin typeface="Times New Roman" panose="02020603050405020304" pitchFamily="18" charset="0"/>
                <a:cs typeface="Times New Roman" panose="02020603050405020304" pitchFamily="18" charset="0"/>
              </a:rPr>
              <a:t>谓词：</a:t>
            </a:r>
            <a:r>
              <a:rPr lang="en-US" altLang="zh-CN" sz="2600" dirty="0">
                <a:latin typeface="Times New Roman" panose="02020603050405020304" pitchFamily="18" charset="0"/>
                <a:cs typeface="Times New Roman" panose="02020603050405020304" pitchFamily="18" charset="0"/>
              </a:rPr>
              <a:t>[</a:t>
            </a:r>
            <a:r>
              <a:rPr lang="en-GB" altLang="zh-CN" sz="2600" dirty="0">
                <a:solidFill>
                  <a:srgbClr val="C00000"/>
                </a:solidFill>
                <a:latin typeface="Times New Roman" panose="02020603050405020304" pitchFamily="18" charset="0"/>
                <a:cs typeface="Times New Roman" panose="02020603050405020304" pitchFamily="18" charset="0"/>
              </a:rPr>
              <a:t>NOT</a:t>
            </a:r>
            <a:r>
              <a:rPr lang="en-GB" altLang="zh-CN" sz="2600" dirty="0">
                <a:latin typeface="Times New Roman" panose="02020603050405020304" pitchFamily="18" charset="0"/>
                <a:cs typeface="Times New Roman" panose="02020603050405020304" pitchFamily="18" charset="0"/>
              </a:rPr>
              <a:t>] </a:t>
            </a:r>
            <a:r>
              <a:rPr lang="en-GB" altLang="zh-CN" sz="2600" dirty="0">
                <a:solidFill>
                  <a:srgbClr val="C00000"/>
                </a:solidFill>
                <a:latin typeface="Times New Roman" panose="02020603050405020304" pitchFamily="18" charset="0"/>
                <a:cs typeface="Times New Roman" panose="02020603050405020304" pitchFamily="18" charset="0"/>
              </a:rPr>
              <a:t>LIKE</a:t>
            </a:r>
            <a:r>
              <a:rPr lang="en-GB" altLang="zh-CN" sz="2600" dirty="0">
                <a:latin typeface="Times New Roman" panose="02020603050405020304" pitchFamily="18" charset="0"/>
                <a:cs typeface="Times New Roman" panose="02020603050405020304" pitchFamily="18" charset="0"/>
              </a:rPr>
              <a:t>  ‘&lt;</a:t>
            </a:r>
            <a:r>
              <a:rPr lang="zh-CN" altLang="en-US" sz="2600" dirty="0">
                <a:latin typeface="Times New Roman" panose="02020603050405020304" pitchFamily="18" charset="0"/>
                <a:cs typeface="Times New Roman" panose="02020603050405020304" pitchFamily="18" charset="0"/>
              </a:rPr>
              <a:t>匹配串</a:t>
            </a:r>
            <a:r>
              <a:rPr lang="en-US" altLang="zh-CN" sz="2600" dirty="0">
                <a:latin typeface="Times New Roman" panose="02020603050405020304" pitchFamily="18" charset="0"/>
                <a:cs typeface="Times New Roman" panose="02020603050405020304" pitchFamily="18" charset="0"/>
              </a:rPr>
              <a:t>&gt;’  [</a:t>
            </a:r>
            <a:r>
              <a:rPr lang="en-GB" altLang="zh-CN" sz="2600" dirty="0">
                <a:latin typeface="Times New Roman" panose="02020603050405020304" pitchFamily="18" charset="0"/>
                <a:cs typeface="Times New Roman" panose="02020603050405020304" pitchFamily="18" charset="0"/>
              </a:rPr>
              <a:t>ESCAPE ‘ &lt;</a:t>
            </a:r>
            <a:r>
              <a:rPr lang="zh-CN" altLang="en-US" sz="2600" dirty="0">
                <a:latin typeface="Times New Roman" panose="02020603050405020304" pitchFamily="18" charset="0"/>
                <a:cs typeface="Times New Roman" panose="02020603050405020304" pitchFamily="18" charset="0"/>
              </a:rPr>
              <a:t>换码字符</a:t>
            </a:r>
            <a:r>
              <a:rPr lang="en-US" altLang="zh-CN" sz="2600" dirty="0">
                <a:latin typeface="Times New Roman" panose="02020603050405020304" pitchFamily="18" charset="0"/>
                <a:cs typeface="Times New Roman" panose="02020603050405020304" pitchFamily="18" charset="0"/>
              </a:rPr>
              <a:t>&gt;’]</a:t>
            </a:r>
            <a:endParaRPr lang="en-US" altLang="zh-CN"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altLang="zh-CN" sz="2600" dirty="0">
                <a:latin typeface="Times New Roman" panose="02020603050405020304" pitchFamily="18" charset="0"/>
                <a:cs typeface="Times New Roman" panose="02020603050405020304" pitchFamily="18" charset="0"/>
              </a:rPr>
              <a:t>1</a:t>
            </a:r>
            <a:r>
              <a:rPr lang="zh-CN" altLang="en-US" sz="2600" dirty="0">
                <a:latin typeface="Times New Roman" panose="02020603050405020304" pitchFamily="18" charset="0"/>
                <a:cs typeface="Times New Roman" panose="02020603050405020304" pitchFamily="18" charset="0"/>
              </a:rPr>
              <a:t>）匹配串为固定字符串</a:t>
            </a:r>
            <a:endParaRPr lang="en-US" altLang="zh-CN" sz="2600" dirty="0">
              <a:latin typeface="Times New Roman" panose="02020603050405020304" pitchFamily="18" charset="0"/>
              <a:cs typeface="Times New Roman" panose="02020603050405020304" pitchFamily="18" charset="0"/>
            </a:endParaRPr>
          </a:p>
          <a:p>
            <a:pPr lvl="1" algn="just">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3-22</a:t>
            </a:r>
            <a:r>
              <a:rPr lang="zh-CN" altLang="en-US" i="1" dirty="0">
                <a:latin typeface="Times New Roman" panose="02020603050405020304" pitchFamily="18" charset="0"/>
                <a:cs typeface="Times New Roman" panose="02020603050405020304" pitchFamily="18" charset="0"/>
              </a:rPr>
              <a:t>：查询学号为</a:t>
            </a:r>
            <a:r>
              <a:rPr lang="en-US" altLang="zh-CN" i="1" dirty="0">
                <a:latin typeface="Times New Roman" panose="02020603050405020304" pitchFamily="18" charset="0"/>
                <a:cs typeface="Times New Roman" panose="02020603050405020304" pitchFamily="18" charset="0"/>
              </a:rPr>
              <a:t>201215121</a:t>
            </a:r>
            <a:r>
              <a:rPr lang="zh-CN" altLang="en-US" i="1" dirty="0">
                <a:latin typeface="Times New Roman" panose="02020603050405020304" pitchFamily="18" charset="0"/>
                <a:cs typeface="Times New Roman" panose="02020603050405020304" pitchFamily="18" charset="0"/>
              </a:rPr>
              <a:t>的学生的详细情况</a:t>
            </a:r>
            <a:endParaRPr lang="zh-CN" altLang="en-US" i="1" dirty="0">
              <a:latin typeface="Times New Roman" panose="02020603050405020304" pitchFamily="18" charset="0"/>
              <a:cs typeface="Times New Roman" panose="02020603050405020304" pitchFamily="18" charset="0"/>
            </a:endParaRPr>
          </a:p>
          <a:p>
            <a:pPr marL="1333500" lvl="2" indent="-419100" algn="just">
              <a:lnSpc>
                <a:spcPct val="90000"/>
              </a:lnSpc>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1333500" lvl="2" indent="-419100" algn="just">
              <a:lnSpc>
                <a:spcPct val="90000"/>
              </a:lnSpc>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1333500" lvl="2" indent="-419100" algn="just">
              <a:lnSpc>
                <a:spcPct val="90000"/>
              </a:lnSpc>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zh-CN" altLang="en-US" dirty="0">
                <a:latin typeface="Times New Roman" panose="02020603050405020304" pitchFamily="18" charset="0"/>
                <a:cs typeface="Times New Roman" panose="02020603050405020304" pitchFamily="18" charset="0"/>
              </a:rPr>
              <a:t>    等价于： </a:t>
            </a:r>
            <a:endParaRPr lang="zh-CN" altLang="en-US" dirty="0">
              <a:latin typeface="Times New Roman" panose="02020603050405020304" pitchFamily="18" charset="0"/>
              <a:cs typeface="Times New Roman" panose="02020603050405020304" pitchFamily="18" charset="0"/>
            </a:endParaRPr>
          </a:p>
          <a:p>
            <a:pPr marL="1333500" lvl="2" indent="-419100">
              <a:lnSpc>
                <a:spcPct val="90000"/>
              </a:lnSpc>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1333500" lvl="2" indent="-419100">
              <a:lnSpc>
                <a:spcPct val="90000"/>
              </a:lnSpc>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1333500" lvl="2" indent="-419100">
              <a:lnSpc>
                <a:spcPct val="90000"/>
              </a:lnSpc>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lvl="1" algn="just">
              <a:lnSpc>
                <a:spcPct val="150000"/>
              </a:lnSpc>
            </a:pPr>
            <a:endParaRPr lang="zh-CN" altLang="en-US" sz="2000"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91946" y="3624567"/>
            <a:ext cx="5112724"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Sno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LIKE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‘201215121‘</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191946" y="5338481"/>
            <a:ext cx="5112724"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Sno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‘201215121‘</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字符匹配</a:t>
            </a:r>
            <a:endParaRPr kumimoji="1" lang="en-US" altLang="zh-CN" sz="2600" dirty="0"/>
          </a:p>
          <a:p>
            <a:pPr marL="0" indent="0">
              <a:buNone/>
            </a:pPr>
            <a:r>
              <a:rPr lang="en-US" altLang="zh-CN" sz="2600" dirty="0">
                <a:latin typeface="Times New Roman" panose="02020603050405020304" pitchFamily="18" charset="0"/>
                <a:cs typeface="Times New Roman" panose="02020603050405020304" pitchFamily="18" charset="0"/>
              </a:rPr>
              <a:t>2</a:t>
            </a:r>
            <a:r>
              <a:rPr lang="zh-CN" altLang="en-US" sz="2600" dirty="0">
                <a:latin typeface="Times New Roman" panose="02020603050405020304" pitchFamily="18" charset="0"/>
                <a:cs typeface="Times New Roman" panose="02020603050405020304" pitchFamily="18" charset="0"/>
              </a:rPr>
              <a:t>）匹配串为含通配符的字符串</a:t>
            </a:r>
            <a:endParaRPr kumimoji="1" lang="en-US" altLang="zh-CN" sz="2600" b="0"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3-23</a:t>
            </a:r>
            <a:r>
              <a:rPr lang="zh-CN" altLang="en-US" i="1" dirty="0">
                <a:latin typeface="Times New Roman" panose="02020603050405020304" pitchFamily="18" charset="0"/>
                <a:cs typeface="Times New Roman" panose="02020603050405020304" pitchFamily="18" charset="0"/>
              </a:rPr>
              <a:t>：查询所有姓刘学生的姓名、学号和性别</a:t>
            </a:r>
            <a:endParaRPr lang="en-US" altLang="zh-CN" i="1"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endParaRPr lang="en-US"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endParaRPr lang="en-US"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endParaRPr lang="en-US" altLang="zh-CN"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3-24</a:t>
            </a:r>
            <a:r>
              <a:rPr lang="zh-CN" altLang="en-US" i="1" dirty="0">
                <a:latin typeface="Times New Roman" panose="02020603050405020304" pitchFamily="18" charset="0"/>
                <a:cs typeface="Times New Roman" panose="02020603050405020304" pitchFamily="18" charset="0"/>
              </a:rPr>
              <a:t>：查询姓</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欧阳</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且全名为三个字的学生的姓名</a:t>
            </a:r>
            <a:endParaRPr lang="zh-CN" altLang="en-US" i="1"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zh-CN" altLang="en-US" dirty="0">
                <a:latin typeface="Times New Roman" panose="02020603050405020304" pitchFamily="18" charset="0"/>
                <a:cs typeface="Times New Roman" panose="02020603050405020304" pitchFamily="18" charset="0"/>
              </a:rPr>
              <a:t>      </a:t>
            </a:r>
            <a:r>
              <a:rPr lang="en-GB"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83806" y="2997209"/>
            <a:ext cx="6999287" cy="118549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SELECT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r>
              <a:rPr lang="zh-CN" altLang="en-GB" sz="2000" spc="-5" dirty="0">
                <a:solidFill>
                  <a:srgbClr val="000000"/>
                </a:solidFill>
                <a:latin typeface="Cambria Math" panose="02040503050406030204" pitchFamily="18" charset="0"/>
                <a:cs typeface="Calibri" panose="020F0502020204030204" pitchFamily="34" charset="0"/>
              </a:rPr>
              <a:t>，</a:t>
            </a: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Sno</a:t>
            </a:r>
            <a:r>
              <a:rPr lang="zh-CN" altLang="en-GB" sz="2000" spc="-5" dirty="0">
                <a:solidFill>
                  <a:srgbClr val="000000"/>
                </a:solidFill>
                <a:latin typeface="Cambria Math" panose="02040503050406030204" pitchFamily="18" charset="0"/>
                <a:cs typeface="Calibri" panose="020F0502020204030204" pitchFamily="34" charset="0"/>
              </a:rPr>
              <a:t>，</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Ssex</a:t>
            </a:r>
            <a:endParaRPr lang="en-GB" altLang="zh-CN" sz="20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FROM   Student</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WHERE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GB" altLang="zh-CN" sz="2000" spc="-5" dirty="0">
                <a:solidFill>
                  <a:srgbClr val="C00000"/>
                </a:solidFill>
                <a:latin typeface="Cambria Math" panose="02040503050406030204" pitchFamily="18" charset="0"/>
                <a:ea typeface="Cambria Math" panose="02040503050406030204" pitchFamily="18" charset="0"/>
                <a:cs typeface="Calibri" panose="020F0502020204030204" pitchFamily="34" charset="0"/>
              </a:rPr>
              <a:t>LIKE ‘</a:t>
            </a:r>
            <a:r>
              <a:rPr lang="zh-CN" altLang="en-US" sz="2000" spc="-5" dirty="0">
                <a:solidFill>
                  <a:srgbClr val="C00000"/>
                </a:solidFill>
                <a:latin typeface="Cambria Math" panose="02040503050406030204" pitchFamily="18" charset="0"/>
                <a:cs typeface="Calibri" panose="020F0502020204030204" pitchFamily="34" charset="0"/>
              </a:rPr>
              <a:t>刘</a:t>
            </a:r>
            <a:r>
              <a:rPr lang="en-US" altLang="zh-CN" sz="2000" spc="-5" dirty="0">
                <a:solidFill>
                  <a:srgbClr val="C00000"/>
                </a:solidFill>
                <a:latin typeface="Cambria Math" panose="02040503050406030204" pitchFamily="18" charset="0"/>
                <a:ea typeface="Cambria Math" panose="02040503050406030204" pitchFamily="18" charset="0"/>
                <a:cs typeface="Calibri" panose="020F0502020204030204" pitchFamily="34" charset="0"/>
              </a:rPr>
              <a:t>%’</a:t>
            </a:r>
            <a:r>
              <a:rPr lang="zh-CN" altLang="en-US" sz="2000" spc="-5" dirty="0">
                <a:solidFill>
                  <a:srgbClr val="000000"/>
                </a:solidFill>
                <a:latin typeface="Cambria Math" panose="02040503050406030204" pitchFamily="18" charset="0"/>
                <a:cs typeface="Calibri" panose="020F0502020204030204" pitchFamily="34" charset="0"/>
              </a:rPr>
              <a:t>；</a:t>
            </a:r>
            <a:endParaRPr lang="zh-CN" altLang="en-US" sz="2000" spc="-5" dirty="0">
              <a:solidFill>
                <a:srgbClr val="000000"/>
              </a:solidFill>
              <a:latin typeface="Cambria Math" panose="02040503050406030204" pitchFamily="18" charset="0"/>
              <a:cs typeface="Calibri" panose="020F0502020204030204" pitchFamily="34" charset="0"/>
            </a:endParaRPr>
          </a:p>
        </p:txBody>
      </p:sp>
      <p:sp>
        <p:nvSpPr>
          <p:cNvPr id="8" name="文本框 7"/>
          <p:cNvSpPr txBox="1"/>
          <p:nvPr/>
        </p:nvSpPr>
        <p:spPr bwMode="auto">
          <a:xfrm>
            <a:off x="1183805" y="4974525"/>
            <a:ext cx="6999287" cy="118549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SELECT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endParaRPr lang="en-GB" altLang="zh-CN" sz="20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FROM   Student</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WHERE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GB" altLang="zh-CN" sz="2000" spc="-5" dirty="0">
                <a:solidFill>
                  <a:srgbClr val="C00000"/>
                </a:solidFill>
                <a:latin typeface="Cambria Math" panose="02040503050406030204" pitchFamily="18" charset="0"/>
                <a:ea typeface="Cambria Math" panose="02040503050406030204" pitchFamily="18" charset="0"/>
                <a:cs typeface="Calibri" panose="020F0502020204030204" pitchFamily="34" charset="0"/>
              </a:rPr>
              <a:t>LIKE ‘</a:t>
            </a:r>
            <a:r>
              <a:rPr lang="zh-CN" altLang="en-US" sz="2000" dirty="0">
                <a:solidFill>
                  <a:srgbClr val="C00000"/>
                </a:solidFill>
                <a:latin typeface="Cambria Math" panose="02040503050406030204" pitchFamily="18" charset="0"/>
                <a:cs typeface="Times New Roman" panose="02020603050405020304" pitchFamily="18" charset="0"/>
              </a:rPr>
              <a:t>欧阳</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__' </a:t>
            </a:r>
            <a:r>
              <a:rPr lang="zh-CN" altLang="en-US" sz="2000" spc="-5" dirty="0">
                <a:solidFill>
                  <a:srgbClr val="000000"/>
                </a:solidFill>
                <a:latin typeface="Cambria Math" panose="02040503050406030204" pitchFamily="18" charset="0"/>
                <a:cs typeface="Calibri" panose="020F0502020204030204" pitchFamily="34" charset="0"/>
              </a:rPr>
              <a:t>；</a:t>
            </a:r>
            <a:endParaRPr lang="zh-CN" altLang="en-US" sz="2000" spc="-5" dirty="0">
              <a:solidFill>
                <a:srgbClr val="000000"/>
              </a:solidFill>
              <a:latin typeface="Cambria Math" panose="02040503050406030204" pitchFamily="18" charset="0"/>
              <a:cs typeface="Calibri" panose="020F050202020403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字符匹配</a:t>
            </a:r>
            <a:endParaRPr kumimoji="1" lang="en-US" altLang="zh-CN" sz="2600"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3-25</a:t>
            </a:r>
            <a:r>
              <a:rPr lang="zh-CN" altLang="en-US" i="1" dirty="0">
                <a:latin typeface="Times New Roman" panose="02020603050405020304" pitchFamily="18" charset="0"/>
                <a:cs typeface="Times New Roman" panose="02020603050405020304" pitchFamily="18" charset="0"/>
              </a:rPr>
              <a:t>：查询名字中第</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个字为</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阳</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字的学生的姓名和学号</a:t>
            </a:r>
            <a:endParaRPr lang="en-US" altLang="zh-CN" i="1"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457200" lvl="1" indent="0">
              <a:buNone/>
            </a:pPr>
            <a:endParaRPr lang="en-US" altLang="zh-CN"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3-26</a:t>
            </a:r>
            <a:r>
              <a:rPr lang="zh-CN" altLang="en-US" i="1" dirty="0">
                <a:latin typeface="Times New Roman" panose="02020603050405020304" pitchFamily="18" charset="0"/>
                <a:cs typeface="Times New Roman" panose="02020603050405020304" pitchFamily="18" charset="0"/>
              </a:rPr>
              <a:t>：查询所有不姓刘的学生姓名</a:t>
            </a:r>
            <a:endParaRPr lang="zh-CN" altLang="en-US" i="1"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914400" lvl="1" indent="-457200" algn="just">
              <a:lnSpc>
                <a:spcPct val="90000"/>
              </a:lnSpc>
              <a:buNone/>
            </a:pPr>
            <a:r>
              <a:rPr lang="en-GB"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marL="1143000" lvl="3" algn="just">
              <a:lnSpc>
                <a:spcPct val="150000"/>
              </a:lnSpc>
              <a:spcBef>
                <a:spcPts val="1000"/>
              </a:spcBef>
              <a:buNone/>
            </a:pPr>
            <a:endParaRPr lang="zh-CN" altLang="en-US" sz="20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69737" y="2380712"/>
            <a:ext cx="6999287" cy="118549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SELECT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endParaRPr lang="en-GB" altLang="zh-CN" sz="20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FROM   Student</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WHERE  </a:t>
            </a:r>
            <a:r>
              <a:rPr lang="en-GB" altLang="zh-CN" sz="2000" spc="-5"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Sname</a:t>
            </a: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a:t>
            </a:r>
            <a:r>
              <a:rPr lang="en-GB" altLang="zh-CN" sz="2000" spc="-5" dirty="0">
                <a:solidFill>
                  <a:srgbClr val="C00000"/>
                </a:solidFill>
                <a:latin typeface="Cambria Math" panose="02040503050406030204" pitchFamily="18" charset="0"/>
                <a:ea typeface="Cambria Math" panose="02040503050406030204" pitchFamily="18" charset="0"/>
                <a:cs typeface="Calibri" panose="020F0502020204030204" pitchFamily="34" charset="0"/>
              </a:rPr>
              <a:t>LIKE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__</a:t>
            </a:r>
            <a:r>
              <a:rPr lang="zh-CN" altLang="en-US" sz="2000" dirty="0">
                <a:solidFill>
                  <a:srgbClr val="C00000"/>
                </a:solidFill>
                <a:latin typeface="Cambria Math" panose="02040503050406030204" pitchFamily="18" charset="0"/>
                <a:cs typeface="Times New Roman" panose="02020603050405020304" pitchFamily="18" charset="0"/>
              </a:rPr>
              <a:t>阳</a:t>
            </a:r>
            <a:r>
              <a:rPr lang="en-US" altLang="zh-CN" sz="2000" dirty="0">
                <a:solidFill>
                  <a:srgbClr val="C00000"/>
                </a:solidFill>
                <a:latin typeface="Cambria Math" panose="02040503050406030204" pitchFamily="18" charset="0"/>
                <a:cs typeface="Times New Roman" panose="02020603050405020304" pitchFamily="18" charset="0"/>
              </a:rPr>
              <a:t>%</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spc="-5" dirty="0">
                <a:solidFill>
                  <a:srgbClr val="000000"/>
                </a:solidFill>
                <a:latin typeface="Cambria Math" panose="02040503050406030204" pitchFamily="18" charset="0"/>
                <a:cs typeface="Calibri" panose="020F0502020204030204" pitchFamily="34" charset="0"/>
              </a:rPr>
              <a:t>；</a:t>
            </a:r>
            <a:endParaRPr lang="zh-CN" altLang="en-US" sz="2000" spc="-5" dirty="0">
              <a:solidFill>
                <a:srgbClr val="000000"/>
              </a:solidFill>
              <a:latin typeface="Cambria Math" panose="02040503050406030204" pitchFamily="18" charset="0"/>
              <a:cs typeface="Calibri" panose="020F0502020204030204" pitchFamily="34" charset="0"/>
            </a:endParaRPr>
          </a:p>
        </p:txBody>
      </p:sp>
      <p:sp>
        <p:nvSpPr>
          <p:cNvPr id="7" name="文本框 6"/>
          <p:cNvSpPr txBox="1"/>
          <p:nvPr/>
        </p:nvSpPr>
        <p:spPr bwMode="auto">
          <a:xfrm>
            <a:off x="1169737" y="4489284"/>
            <a:ext cx="6999287" cy="1179279"/>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a:latin typeface="Cambria Math" panose="02040503050406030204" pitchFamily="18" charset="0"/>
                <a:ea typeface="Cambria Math" panose="02040503050406030204" pitchFamily="18" charset="0"/>
                <a:cs typeface="Times New Roman" panose="02020603050405020304" pitchFamily="18" charset="0"/>
              </a:rPr>
              <a:t>SELECT Sname</a:t>
            </a:r>
            <a:r>
              <a:rPr lang="zh-CN" altLang="en-GB" sz="2000">
                <a:latin typeface="Cambria Math" panose="02040503050406030204" pitchFamily="18" charset="0"/>
                <a:cs typeface="Times New Roman" panose="02020603050405020304" pitchFamily="18" charset="0"/>
              </a:rPr>
              <a:t>，</a:t>
            </a:r>
            <a:r>
              <a:rPr lang="en-GB" altLang="zh-CN" sz="2000">
                <a:latin typeface="Cambria Math" panose="02040503050406030204" pitchFamily="18" charset="0"/>
                <a:ea typeface="Cambria Math" panose="02040503050406030204" pitchFamily="18" charset="0"/>
                <a:cs typeface="Times New Roman" panose="02020603050405020304" pitchFamily="18" charset="0"/>
              </a:rPr>
              <a:t>Sno</a:t>
            </a:r>
            <a:r>
              <a:rPr lang="zh-CN" altLang="en-GB" sz="2000">
                <a:latin typeface="Cambria Math" panose="02040503050406030204" pitchFamily="18" charset="0"/>
                <a:cs typeface="Times New Roman" panose="02020603050405020304" pitchFamily="18" charset="0"/>
              </a:rPr>
              <a:t>，</a:t>
            </a:r>
            <a:r>
              <a:rPr lang="en-GB" altLang="zh-CN" sz="2000">
                <a:latin typeface="Cambria Math" panose="02040503050406030204" pitchFamily="18" charset="0"/>
                <a:ea typeface="Cambria Math" panose="02040503050406030204" pitchFamily="18" charset="0"/>
                <a:cs typeface="Times New Roman" panose="02020603050405020304" pitchFamily="18" charset="0"/>
              </a:rPr>
              <a:t>Ssex </a:t>
            </a:r>
            <a:endParaRPr lang="en-GB" altLang="zh-CN" sz="200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buNone/>
            </a:pPr>
            <a:r>
              <a:rPr lang="en-GB" altLang="zh-CN" sz="2000" spc="-5">
                <a:solidFill>
                  <a:srgbClr val="000000"/>
                </a:solidFill>
                <a:latin typeface="Cambria Math" panose="02040503050406030204" pitchFamily="18" charset="0"/>
                <a:ea typeface="Cambria Math" panose="02040503050406030204" pitchFamily="18" charset="0"/>
                <a:cs typeface="Calibri" panose="020F0502020204030204" pitchFamily="34" charset="0"/>
              </a:rPr>
              <a:t>FROM   Student</a:t>
            </a:r>
            <a:endParaRPr lang="en-GB" altLang="zh-CN" sz="2000" spc="-5">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pPr>
            <a:r>
              <a:rPr lang="en-GB" altLang="zh-CN" sz="2000">
                <a:latin typeface="Cambria Math" panose="02040503050406030204" pitchFamily="18" charset="0"/>
                <a:ea typeface="Cambria Math" panose="02040503050406030204" pitchFamily="18" charset="0"/>
                <a:cs typeface="Times New Roman" panose="02020603050405020304" pitchFamily="18" charset="0"/>
              </a:rPr>
              <a:t>WHERE  Sname </a:t>
            </a:r>
            <a:r>
              <a:rPr lang="en-GB" altLang="zh-CN" sz="20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NOT LIKE </a:t>
            </a:r>
            <a:r>
              <a:rPr lang="en-GB" altLang="zh-CN" sz="200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a:latin typeface="Cambria Math" panose="02040503050406030204" pitchFamily="18" charset="0"/>
                <a:cs typeface="Times New Roman" panose="02020603050405020304" pitchFamily="18" charset="0"/>
              </a:rPr>
              <a:t>刘</a:t>
            </a:r>
            <a:r>
              <a:rPr lang="en-US" altLang="zh-CN" sz="200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92500" lnSpcReduction="10000"/>
          </a:bodyPr>
          <a:lstStyle/>
          <a:p>
            <a:r>
              <a:rPr kumimoji="1" lang="zh-CN" altLang="en-US" sz="2600" dirty="0"/>
              <a:t>涉及空值的查询</a:t>
            </a:r>
            <a:endParaRPr kumimoji="1" lang="en-US" altLang="zh-CN" sz="1800"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谓词</a:t>
            </a:r>
            <a:r>
              <a:rPr lang="zh-CN" altLang="en-US" dirty="0">
                <a:solidFill>
                  <a:srgbClr val="C00000"/>
                </a:solidFill>
                <a:latin typeface="Times New Roman" panose="02020603050405020304" pitchFamily="18" charset="0"/>
                <a:cs typeface="Times New Roman" panose="02020603050405020304" pitchFamily="18" charset="0"/>
              </a:rPr>
              <a:t>： </a:t>
            </a:r>
            <a:r>
              <a:rPr lang="en-GB" altLang="zh-CN" dirty="0">
                <a:solidFill>
                  <a:srgbClr val="C00000"/>
                </a:solidFill>
                <a:latin typeface="Times New Roman" panose="02020603050405020304" pitchFamily="18" charset="0"/>
                <a:cs typeface="Times New Roman" panose="02020603050405020304" pitchFamily="18" charset="0"/>
              </a:rPr>
              <a:t>IS NULL </a:t>
            </a:r>
            <a:r>
              <a:rPr lang="zh-CN" altLang="en-US" dirty="0">
                <a:latin typeface="Times New Roman" panose="02020603050405020304" pitchFamily="18" charset="0"/>
                <a:cs typeface="Times New Roman" panose="02020603050405020304" pitchFamily="18" charset="0"/>
              </a:rPr>
              <a:t>或 </a:t>
            </a:r>
            <a:r>
              <a:rPr lang="en-GB" altLang="zh-CN" dirty="0">
                <a:solidFill>
                  <a:srgbClr val="C00000"/>
                </a:solidFill>
                <a:latin typeface="Times New Roman" panose="02020603050405020304" pitchFamily="18" charset="0"/>
                <a:cs typeface="Times New Roman" panose="02020603050405020304" pitchFamily="18" charset="0"/>
              </a:rPr>
              <a:t>IS NOT NULL</a:t>
            </a:r>
            <a:endParaRPr lang="en-GB" altLang="zh-CN" dirty="0">
              <a:solidFill>
                <a:srgbClr val="C00000"/>
              </a:solidFill>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3-29</a:t>
            </a:r>
            <a:r>
              <a:rPr lang="zh-CN" altLang="en-US" i="1" dirty="0">
                <a:latin typeface="Times New Roman" panose="02020603050405020304" pitchFamily="18" charset="0"/>
                <a:cs typeface="Times New Roman" panose="02020603050405020304" pitchFamily="18" charset="0"/>
              </a:rPr>
              <a:t>：某些学生选修课程后没有参加考试，所以有选课记录，但没有考试成绩。查询缺少成绩的学生的学号和相应的课程号</a:t>
            </a:r>
            <a:endParaRPr lang="en-US" altLang="zh-CN" i="1" dirty="0">
              <a:latin typeface="Times New Roman" panose="02020603050405020304" pitchFamily="18" charset="0"/>
              <a:cs typeface="Times New Roman" panose="02020603050405020304" pitchFamily="18" charset="0"/>
            </a:endParaRPr>
          </a:p>
          <a:p>
            <a:pPr marL="457200" lvl="1" indent="0">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457200" lvl="1" indent="0">
              <a:buNone/>
            </a:pPr>
            <a:r>
              <a:rPr lang="zh-CN" altLang="en-US" dirty="0">
                <a:latin typeface="Times New Roman" panose="02020603050405020304" pitchFamily="18" charset="0"/>
                <a:cs typeface="Times New Roman" panose="02020603050405020304" pitchFamily="18" charset="0"/>
              </a:rPr>
              <a:t>         </a:t>
            </a:r>
            <a:r>
              <a:rPr lang="en-GB"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457200" lvl="1" indent="0">
              <a:buNone/>
            </a:pPr>
            <a:r>
              <a:rPr lang="zh-CN" altLang="en-US" dirty="0">
                <a:latin typeface="Times New Roman" panose="02020603050405020304" pitchFamily="18" charset="0"/>
                <a:cs typeface="Times New Roman" panose="02020603050405020304" pitchFamily="18" charset="0"/>
              </a:rPr>
              <a:t>         </a:t>
            </a:r>
            <a:r>
              <a:rPr lang="en-GB" altLang="zh-CN" dirty="0">
                <a:latin typeface="Times New Roman" panose="02020603050405020304" pitchFamily="18" charset="0"/>
                <a:cs typeface="Times New Roman" panose="02020603050405020304" pitchFamily="18" charset="0"/>
              </a:rPr>
              <a:t> </a:t>
            </a:r>
            <a:endParaRPr lang="en-GB" altLang="zh-CN" dirty="0">
              <a:solidFill>
                <a:srgbClr val="C00000"/>
              </a:solidFill>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3-30</a:t>
            </a:r>
            <a:r>
              <a:rPr lang="zh-CN" altLang="en-US" i="1" dirty="0">
                <a:latin typeface="Times New Roman" panose="02020603050405020304" pitchFamily="18" charset="0"/>
                <a:cs typeface="Times New Roman" panose="02020603050405020304" pitchFamily="18" charset="0"/>
              </a:rPr>
              <a:t>：查所有有成绩的学生学号和课程号</a:t>
            </a:r>
            <a:endParaRPr lang="en-US" altLang="zh-CN" i="1" dirty="0">
              <a:latin typeface="Times New Roman" panose="02020603050405020304" pitchFamily="18" charset="0"/>
              <a:cs typeface="Times New Roman" panose="02020603050405020304" pitchFamily="18" charset="0"/>
            </a:endParaRPr>
          </a:p>
          <a:p>
            <a:pPr marL="457200" lvl="1" indent="0">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457200" lvl="1" indent="0">
              <a:buNone/>
            </a:pPr>
            <a:r>
              <a:rPr lang="en-US" altLang="zh-CN" dirty="0">
                <a:latin typeface="Times New Roman" panose="02020603050405020304" pitchFamily="18" charset="0"/>
                <a:cs typeface="Times New Roman" panose="02020603050405020304" pitchFamily="18" charset="0"/>
              </a:rPr>
              <a:t> </a:t>
            </a:r>
            <a:endParaRPr lang="en-GB" altLang="zh-CN" dirty="0">
              <a:latin typeface="Times New Roman" panose="02020603050405020304" pitchFamily="18" charset="0"/>
              <a:cs typeface="Times New Roman" panose="02020603050405020304" pitchFamily="18" charset="0"/>
            </a:endParaRPr>
          </a:p>
          <a:p>
            <a:pPr marL="457200" lvl="1" indent="0">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GB" dirty="0">
              <a:latin typeface="Times New Roman" panose="02020603050405020304" pitchFamily="18" charset="0"/>
              <a:cs typeface="Times New Roman" panose="02020603050405020304" pitchFamily="18" charset="0"/>
            </a:endParaRPr>
          </a:p>
          <a:p>
            <a:pPr lvl="1"/>
            <a:r>
              <a:rPr lang="zh-CN" altLang="en-US" dirty="0">
                <a:solidFill>
                  <a:srgbClr val="C00000"/>
                </a:solidFill>
                <a:latin typeface="Times New Roman" panose="02020603050405020304" pitchFamily="18" charset="0"/>
                <a:cs typeface="Times New Roman" panose="02020603050405020304" pitchFamily="18" charset="0"/>
              </a:rPr>
              <a:t>注意</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不能用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代替 “</a:t>
            </a:r>
            <a:r>
              <a:rPr lang="en-GB" altLang="zh-CN" dirty="0">
                <a:latin typeface="Times New Roman" panose="02020603050405020304" pitchFamily="18" charset="0"/>
                <a:cs typeface="Times New Roman" panose="02020603050405020304" pitchFamily="18" charset="0"/>
              </a:rPr>
              <a:t>IS” </a:t>
            </a:r>
            <a:endParaRPr lang="en-GB" altLang="zh-CN" dirty="0">
              <a:latin typeface="Times New Roman" panose="02020603050405020304" pitchFamily="18" charset="0"/>
              <a:cs typeface="Times New Roman" panose="02020603050405020304" pitchFamily="18" charset="0"/>
            </a:endParaRPr>
          </a:p>
          <a:p>
            <a:pPr lvl="1"/>
            <a:endParaRPr lang="en-GB" altLang="zh-CN" sz="1600" dirty="0">
              <a:solidFill>
                <a:srgbClr val="C00000"/>
              </a:solidFill>
              <a:latin typeface="Times New Roman" panose="02020603050405020304" pitchFamily="18" charset="0"/>
              <a:cs typeface="Times New Roman" panose="02020603050405020304" pitchFamily="18" charset="0"/>
            </a:endParaRPr>
          </a:p>
          <a:p>
            <a:pPr lvl="1"/>
            <a:endParaRPr lang="zh-CN" altLang="en-US" sz="1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27534" y="2971794"/>
            <a:ext cx="6999287" cy="1188832"/>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GB" sz="2000" dirty="0">
                <a:latin typeface="Cambria Math" panose="02040503050406030204" pitchFamily="18" charset="0"/>
                <a:cs typeface="Times New Roman" panose="02020603050405020304" pitchFamily="18" charset="0"/>
              </a:rPr>
              <a:t>，</a:t>
            </a:r>
            <a:r>
              <a:rPr lang="en-GB"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FROM   SC</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WHERE  Grade </a:t>
            </a:r>
            <a:r>
              <a:rPr lang="en-GB"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IS NULL</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p:txBody>
      </p:sp>
      <p:sp>
        <p:nvSpPr>
          <p:cNvPr id="7" name="文本框 6"/>
          <p:cNvSpPr txBox="1"/>
          <p:nvPr/>
        </p:nvSpPr>
        <p:spPr bwMode="auto">
          <a:xfrm>
            <a:off x="1127534" y="4724385"/>
            <a:ext cx="6999287" cy="1188832"/>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GB" sz="2000" dirty="0">
                <a:latin typeface="Cambria Math" panose="02040503050406030204" pitchFamily="18" charset="0"/>
                <a:cs typeface="Times New Roman" panose="02020603050405020304" pitchFamily="18" charset="0"/>
              </a:rPr>
              <a:t>，</a:t>
            </a:r>
            <a:r>
              <a:rPr lang="en-GB"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rPr>
              <a:t>FROM   SC</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609600" indent="-609600">
              <a:lnSpc>
                <a:spcPct val="110000"/>
              </a:lnSpc>
              <a:spcBef>
                <a:spcPts val="0"/>
              </a:spcBef>
              <a:buNone/>
            </a:pPr>
            <a:r>
              <a:rPr lang="en-GB" altLang="zh-CN" sz="2000" dirty="0">
                <a:latin typeface="Cambria Math" panose="02040503050406030204" pitchFamily="18" charset="0"/>
                <a:ea typeface="Cambria Math" panose="02040503050406030204" pitchFamily="18" charset="0"/>
                <a:cs typeface="Times New Roman" panose="02020603050405020304" pitchFamily="18" charset="0"/>
              </a:rPr>
              <a:t>WHERE  Grade </a:t>
            </a:r>
            <a:r>
              <a:rPr lang="en-GB"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IS  NOT NULL</a:t>
            </a:r>
            <a:endParaRPr lang="en-GB" altLang="zh-CN" sz="2000" spc="-5"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多重条件查询</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逻辑运算符：</a:t>
            </a:r>
            <a:r>
              <a:rPr lang="en-US" altLang="zh-CN" dirty="0">
                <a:latin typeface="Times New Roman" panose="02020603050405020304" pitchFamily="18" charset="0"/>
                <a:cs typeface="Times New Roman" panose="02020603050405020304" pitchFamily="18" charset="0"/>
              </a:rPr>
              <a:t>AND</a:t>
            </a:r>
            <a:r>
              <a:rPr lang="zh-CN" altLang="en-US" dirty="0">
                <a:latin typeface="Times New Roman" panose="02020603050405020304" pitchFamily="18" charset="0"/>
                <a:cs typeface="Times New Roman" panose="02020603050405020304" pitchFamily="18" charset="0"/>
              </a:rPr>
              <a:t>和 </a:t>
            </a:r>
            <a:r>
              <a:rPr lang="en-US" altLang="zh-CN" dirty="0">
                <a:latin typeface="Times New Roman" panose="02020603050405020304" pitchFamily="18" charset="0"/>
                <a:cs typeface="Times New Roman" panose="02020603050405020304" pitchFamily="18" charset="0"/>
              </a:rPr>
              <a:t>OR</a:t>
            </a:r>
            <a:r>
              <a:rPr lang="zh-CN" altLang="en-US" dirty="0">
                <a:latin typeface="Times New Roman" panose="02020603050405020304" pitchFamily="18" charset="0"/>
                <a:cs typeface="Times New Roman" panose="02020603050405020304" pitchFamily="18" charset="0"/>
              </a:rPr>
              <a:t>来联结多个查询条件</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en-US" altLang="zh-CN" sz="2400" dirty="0">
                <a:latin typeface="Times New Roman" panose="02020603050405020304" pitchFamily="18" charset="0"/>
                <a:cs typeface="Times New Roman" panose="02020603050405020304" pitchFamily="18" charset="0"/>
              </a:rPr>
              <a:t>AND</a:t>
            </a:r>
            <a:r>
              <a:rPr lang="zh-CN" altLang="en-US" sz="2400" dirty="0">
                <a:latin typeface="Times New Roman" panose="02020603050405020304" pitchFamily="18" charset="0"/>
                <a:cs typeface="Times New Roman" panose="02020603050405020304" pitchFamily="18" charset="0"/>
              </a:rPr>
              <a:t>的优先级高于</a:t>
            </a:r>
            <a:r>
              <a:rPr lang="en-US" altLang="zh-CN" sz="2400" dirty="0">
                <a:latin typeface="Times New Roman" panose="02020603050405020304" pitchFamily="18" charset="0"/>
                <a:cs typeface="Times New Roman" panose="02020603050405020304" pitchFamily="18" charset="0"/>
              </a:rPr>
              <a:t>OR</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可以用括号改变优先级</a:t>
            </a:r>
            <a:endParaRPr lang="zh-CN" altLang="en-US" sz="24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可用来实现多种其他谓词</a:t>
            </a:r>
            <a:endParaRPr lang="zh-CN" altLang="en-US" dirty="0">
              <a:latin typeface="Times New Roman" panose="02020603050405020304" pitchFamily="18" charset="0"/>
              <a:cs typeface="Times New Roman" panose="02020603050405020304" pitchFamily="18" charset="0"/>
            </a:endParaRPr>
          </a:p>
          <a:p>
            <a:pPr lvl="2">
              <a:lnSpc>
                <a:spcPct val="150000"/>
              </a:lnSpc>
            </a:pPr>
            <a:r>
              <a:rPr lang="en-US" altLang="zh-CN" sz="2400" dirty="0">
                <a:latin typeface="Times New Roman" panose="02020603050405020304" pitchFamily="18" charset="0"/>
                <a:cs typeface="Times New Roman" panose="02020603050405020304" pitchFamily="18" charset="0"/>
              </a:rPr>
              <a:t>[NOT] IN</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en-US" altLang="zh-CN" sz="2400" dirty="0">
                <a:latin typeface="Times New Roman" panose="02020603050405020304" pitchFamily="18" charset="0"/>
                <a:cs typeface="Times New Roman" panose="02020603050405020304" pitchFamily="18" charset="0"/>
              </a:rPr>
              <a:t>[NOT] BETWEEN …   AND  …</a:t>
            </a:r>
            <a:endParaRPr lang="en-GB" altLang="zh-CN" sz="2400" dirty="0">
              <a:latin typeface="Times New Roman" panose="02020603050405020304" pitchFamily="18" charset="0"/>
              <a:cs typeface="Times New Roman" panose="02020603050405020304" pitchFamily="18" charset="0"/>
            </a:endParaRPr>
          </a:p>
          <a:p>
            <a:pPr lvl="1"/>
            <a:endParaRPr lang="zh-CN" altLang="en-US" sz="1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多重条件查询</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3-31</a:t>
            </a:r>
            <a:r>
              <a:rPr lang="zh-CN" altLang="en-US" i="1" dirty="0">
                <a:latin typeface="Times New Roman" panose="02020603050405020304" pitchFamily="18" charset="0"/>
                <a:cs typeface="Times New Roman" panose="02020603050405020304" pitchFamily="18" charset="0"/>
              </a:rPr>
              <a:t>：查询计算机系年龄在</a:t>
            </a:r>
            <a:r>
              <a:rPr lang="en-US" altLang="zh-CN" i="1" dirty="0">
                <a:latin typeface="Times New Roman" panose="02020603050405020304" pitchFamily="18" charset="0"/>
                <a:cs typeface="Times New Roman" panose="02020603050405020304" pitchFamily="18" charset="0"/>
              </a:rPr>
              <a:t>20</a:t>
            </a:r>
            <a:r>
              <a:rPr lang="zh-CN" altLang="en-US" i="1" dirty="0">
                <a:latin typeface="Times New Roman" panose="02020603050405020304" pitchFamily="18" charset="0"/>
                <a:cs typeface="Times New Roman" panose="02020603050405020304" pitchFamily="18" charset="0"/>
              </a:rPr>
              <a:t>岁以下的学生姓名</a:t>
            </a:r>
            <a:endParaRPr lang="en-US" altLang="zh-CN" i="1"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457200" lvl="1" indent="0">
              <a:lnSpc>
                <a:spcPct val="140000"/>
              </a:lnSpc>
              <a:buNone/>
            </a:pPr>
            <a:endParaRPr lang="zh-CN" altLang="en-US" sz="1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83805" y="2491500"/>
            <a:ext cx="6999287" cy="1179279"/>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buNone/>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buNone/>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AND</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Sage&lt;20</a:t>
            </a:r>
            <a:r>
              <a:rPr lang="zh-CN" altLang="en-US" sz="2000" dirty="0">
                <a:latin typeface="Cambria Math" panose="02040503050406030204" pitchFamily="18" charset="0"/>
                <a:cs typeface="Times New Roman" panose="02020603050405020304" pitchFamily="18" charset="0"/>
              </a:rPr>
              <a:t>；</a:t>
            </a:r>
            <a:endParaRPr lang="en-US" altLang="zh-CN" sz="24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pic>
        <p:nvPicPr>
          <p:cNvPr id="7"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l="426" t="9653" r="426" b="10504"/>
          <a:stretch>
            <a:fillRect/>
          </a:stretch>
        </p:blipFill>
        <p:spPr bwMode="auto">
          <a:xfrm>
            <a:off x="2435233" y="2722563"/>
            <a:ext cx="3252788" cy="2352675"/>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25"/>
          <p:cNvSpPr>
            <a:spLocks noChangeArrowheads="1"/>
          </p:cNvSpPr>
          <p:nvPr/>
        </p:nvSpPr>
        <p:spPr bwMode="auto">
          <a:xfrm>
            <a:off x="6154746" y="2846388"/>
            <a:ext cx="2554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200" dirty="0">
                <a:latin typeface="Helvetica" pitchFamily="2" charset="0"/>
              </a:rPr>
              <a:t>where </a:t>
            </a:r>
            <a:r>
              <a:rPr lang="en-US" altLang="zh-CN" sz="1200" b="0" i="1" dirty="0" err="1">
                <a:latin typeface="Helvetica" pitchFamily="2" charset="0"/>
              </a:rPr>
              <a:t>branch_name</a:t>
            </a:r>
            <a:r>
              <a:rPr lang="en-US" altLang="zh-CN" sz="1200" b="0" i="1" dirty="0">
                <a:latin typeface="Helvetica" pitchFamily="2" charset="0"/>
              </a:rPr>
              <a:t> =</a:t>
            </a:r>
            <a:r>
              <a:rPr lang="en-US" altLang="zh-CN" sz="1200" b="0" dirty="0">
                <a:latin typeface="Helvetica" pitchFamily="2" charset="0"/>
              </a:rPr>
              <a:t> </a:t>
            </a:r>
            <a:r>
              <a:rPr lang="en-US" altLang="zh-CN" sz="1800" b="0" dirty="0">
                <a:latin typeface="Arial" panose="020B0604020202020204" pitchFamily="34" charset="0"/>
              </a:rPr>
              <a:t>'</a:t>
            </a:r>
            <a:r>
              <a:rPr lang="en-US" altLang="zh-CN" sz="1200" b="0" dirty="0" err="1">
                <a:latin typeface="Helvetica" pitchFamily="2" charset="0"/>
              </a:rPr>
              <a:t>Perryridge</a:t>
            </a:r>
            <a:r>
              <a:rPr lang="en-US" altLang="zh-CN" sz="1800" b="0" dirty="0">
                <a:latin typeface="Helvetica" pitchFamily="2" charset="0"/>
              </a:rPr>
              <a:t>'</a:t>
            </a:r>
            <a:endParaRPr lang="zh-CN" altLang="en-US" sz="1800" b="0" dirty="0">
              <a:latin typeface="Helvetica" pitchFamily="2" charset="0"/>
            </a:endParaRPr>
          </a:p>
        </p:txBody>
      </p:sp>
      <p:grpSp>
        <p:nvGrpSpPr>
          <p:cNvPr id="12" name="Group 51"/>
          <p:cNvGrpSpPr/>
          <p:nvPr/>
        </p:nvGrpSpPr>
        <p:grpSpPr bwMode="auto">
          <a:xfrm>
            <a:off x="5707071" y="3117850"/>
            <a:ext cx="3379787" cy="623888"/>
            <a:chOff x="2191" y="1562"/>
            <a:chExt cx="2129" cy="393"/>
          </a:xfrm>
        </p:grpSpPr>
        <p:sp>
          <p:nvSpPr>
            <p:cNvPr id="13" name="Line 52"/>
            <p:cNvSpPr>
              <a:spLocks noChangeShapeType="1"/>
            </p:cNvSpPr>
            <p:nvPr/>
          </p:nvSpPr>
          <p:spPr bwMode="auto">
            <a:xfrm>
              <a:off x="2191" y="1562"/>
              <a:ext cx="212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53"/>
            <p:cNvSpPr>
              <a:spLocks noChangeShapeType="1"/>
            </p:cNvSpPr>
            <p:nvPr/>
          </p:nvSpPr>
          <p:spPr bwMode="auto">
            <a:xfrm>
              <a:off x="4320" y="1571"/>
              <a:ext cx="0"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15" name="Group 60"/>
          <p:cNvGraphicFramePr>
            <a:graphicFrameLocks noGrp="1"/>
          </p:cNvGraphicFramePr>
          <p:nvPr/>
        </p:nvGraphicFramePr>
        <p:xfrm>
          <a:off x="7119946" y="3724275"/>
          <a:ext cx="3878262" cy="1016001"/>
        </p:xfrm>
        <a:graphic>
          <a:graphicData uri="http://schemas.openxmlformats.org/drawingml/2006/table">
            <a:tbl>
              <a:tblPr/>
              <a:tblGrid>
                <a:gridCol w="1292225"/>
                <a:gridCol w="1293812"/>
                <a:gridCol w="1292225"/>
              </a:tblGrid>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amount</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L-15</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rPr>
                        <a:t>1500</a:t>
                      </a:r>
                      <a:endParaRPr kumimoji="0" lang="zh-CN" altLang="en-US"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L-16</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rPr>
                        <a:t>1300</a:t>
                      </a:r>
                      <a:endPar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 name="Rectangle 49"/>
          <p:cNvSpPr>
            <a:spLocks noChangeArrowheads="1"/>
          </p:cNvSpPr>
          <p:nvPr/>
        </p:nvSpPr>
        <p:spPr bwMode="auto">
          <a:xfrm>
            <a:off x="7588258" y="5105400"/>
            <a:ext cx="1220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200" b="0" i="1">
                <a:latin typeface="Helvetica" pitchFamily="2" charset="0"/>
              </a:rPr>
              <a:t>amount</a:t>
            </a:r>
            <a:r>
              <a:rPr lang="en-US" altLang="zh-CN" sz="1800" b="0" i="1">
                <a:latin typeface="Helvetica" pitchFamily="2" charset="0"/>
              </a:rPr>
              <a:t> </a:t>
            </a:r>
            <a:r>
              <a:rPr lang="en-US" altLang="zh-CN" sz="1200" b="0" i="1">
                <a:latin typeface="Helvetica" pitchFamily="2" charset="0"/>
              </a:rPr>
              <a:t>&gt; 1400</a:t>
            </a:r>
            <a:endParaRPr lang="zh-CN" altLang="en-US" sz="1200" b="0" i="1">
              <a:latin typeface="Helvetica" pitchFamily="2" charset="0"/>
            </a:endParaRPr>
          </a:p>
        </p:txBody>
      </p:sp>
      <p:sp>
        <p:nvSpPr>
          <p:cNvPr id="17" name="Line 54"/>
          <p:cNvSpPr>
            <a:spLocks noChangeShapeType="1"/>
          </p:cNvSpPr>
          <p:nvPr/>
        </p:nvSpPr>
        <p:spPr bwMode="auto">
          <a:xfrm>
            <a:off x="8615371" y="4738688"/>
            <a:ext cx="0" cy="12065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graphicFrame>
        <p:nvGraphicFramePr>
          <p:cNvPr id="18" name="Group 62"/>
          <p:cNvGraphicFramePr>
            <a:graphicFrameLocks noGrp="1"/>
          </p:cNvGraphicFramePr>
          <p:nvPr/>
        </p:nvGraphicFramePr>
        <p:xfrm>
          <a:off x="7323146" y="5981700"/>
          <a:ext cx="3878262" cy="677863"/>
        </p:xfrm>
        <a:graphic>
          <a:graphicData uri="http://schemas.openxmlformats.org/drawingml/2006/table">
            <a:tbl>
              <a:tblPr/>
              <a:tblGrid>
                <a:gridCol w="1292225"/>
                <a:gridCol w="1293812"/>
                <a:gridCol w="1292225"/>
              </a:tblGrid>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branch_name</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amount</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rPr>
                        <a:t>L-15</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rPr>
                        <a:t>Perryridge</a:t>
                      </a:r>
                      <a:endParaRPr kumimoji="0" lang="en-US" altLang="zh-CN" sz="16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rPr>
                        <a:t>1500</a:t>
                      </a:r>
                      <a:endParaRPr kumimoji="0" lang="zh-CN" altLang="en-US"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50"/>
          <p:cNvSpPr>
            <a:spLocks noChangeArrowheads="1"/>
          </p:cNvSpPr>
          <p:nvPr/>
        </p:nvSpPr>
        <p:spPr bwMode="auto">
          <a:xfrm>
            <a:off x="5226058" y="6186488"/>
            <a:ext cx="1651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200" b="0" i="1" dirty="0">
                <a:latin typeface="Helvetica" pitchFamily="2" charset="0"/>
              </a:rPr>
              <a:t>Select </a:t>
            </a:r>
            <a:r>
              <a:rPr lang="en-US" altLang="zh-CN" sz="1200" b="0" i="1" dirty="0" err="1">
                <a:latin typeface="Helvetica" pitchFamily="2" charset="0"/>
              </a:rPr>
              <a:t>loan_number</a:t>
            </a:r>
            <a:endParaRPr lang="zh-CN" altLang="en-US" sz="1200" b="0" i="1" dirty="0">
              <a:latin typeface="Helvetica" pitchFamily="2" charset="0"/>
            </a:endParaRPr>
          </a:p>
        </p:txBody>
      </p:sp>
      <p:sp>
        <p:nvSpPr>
          <p:cNvPr id="20" name="Line 55"/>
          <p:cNvSpPr>
            <a:spLocks noChangeShapeType="1"/>
          </p:cNvSpPr>
          <p:nvPr/>
        </p:nvSpPr>
        <p:spPr bwMode="auto">
          <a:xfrm flipH="1">
            <a:off x="4168783" y="6402388"/>
            <a:ext cx="31162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1" name="Group 64"/>
          <p:cNvGraphicFramePr>
            <a:graphicFrameLocks noGrp="1"/>
          </p:cNvGraphicFramePr>
          <p:nvPr/>
        </p:nvGraphicFramePr>
        <p:xfrm>
          <a:off x="2847983" y="6027738"/>
          <a:ext cx="1292225" cy="714375"/>
        </p:xfrm>
        <a:graphic>
          <a:graphicData uri="http://schemas.openxmlformats.org/drawingml/2006/table">
            <a:tbl>
              <a:tblPr/>
              <a:tblGrid>
                <a:gridCol w="1292225"/>
              </a:tblGrid>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rPr>
                        <a:t>loan_number</a:t>
                      </a:r>
                      <a:endParaRPr kumimoji="0" lang="en-US" altLang="zh-CN" sz="1400" b="0" i="0" u="none" strike="noStrike" cap="none" normalizeH="0" baseline="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rPr>
                        <a:t>L-15</a:t>
                      </a:r>
                      <a:endParaRPr kumimoji="0" lang="en-US" altLang="zh-CN" sz="1600" b="0" i="0" u="none" strike="noStrike" cap="none" normalizeH="0" baseline="0" dirty="0">
                        <a:ln>
                          <a:noFill/>
                        </a:ln>
                        <a:solidFill>
                          <a:schemeClr val="tx1"/>
                        </a:solidFill>
                        <a:effectLst/>
                        <a:latin typeface="Helvetica" pitchFamily="2"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 name="内容占位符 1"/>
          <p:cNvSpPr>
            <a:spLocks noGrp="1"/>
          </p:cNvSpPr>
          <p:nvPr>
            <p:ph idx="1"/>
          </p:nvPr>
        </p:nvSpPr>
        <p:spPr>
          <a:xfrm>
            <a:off x="397163" y="1219203"/>
            <a:ext cx="11453091" cy="5280071"/>
          </a:xfrm>
        </p:spPr>
        <p:txBody>
          <a:bodyPr>
            <a:normAutofit/>
          </a:bodyPr>
          <a:lstStyle/>
          <a:p>
            <a:r>
              <a:rPr kumimoji="1" lang="zh-CN" altLang="en-US" sz="2600" dirty="0"/>
              <a:t>多重条件查询</a:t>
            </a:r>
            <a:endParaRPr lang="en-US" altLang="zh-CN" dirty="0">
              <a:latin typeface="Times New Roman" panose="02020603050405020304" pitchFamily="18" charset="0"/>
              <a:cs typeface="Times New Roman" panose="02020603050405020304" pitchFamily="18" charset="0"/>
            </a:endParaRPr>
          </a:p>
          <a:p>
            <a:pPr marL="457200" lvl="1" indent="0">
              <a:lnSpc>
                <a:spcPct val="140000"/>
              </a:lnSpc>
              <a:buNone/>
            </a:pPr>
            <a:endParaRPr lang="zh-CN" altLang="en-US" sz="1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2" name="文本框 1"/>
          <p:cNvSpPr txBox="1"/>
          <p:nvPr/>
        </p:nvSpPr>
        <p:spPr bwMode="auto">
          <a:xfrm>
            <a:off x="3377414" y="1317525"/>
            <a:ext cx="6999287" cy="1190692"/>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select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err="1">
                <a:latin typeface="Cambria Math" panose="02040503050406030204" pitchFamily="18" charset="0"/>
                <a:ea typeface="Cambria Math" panose="02040503050406030204" pitchFamily="18" charset="0"/>
                <a:cs typeface="Times New Roman" panose="02020603050405020304" pitchFamily="18" charset="0"/>
              </a:rPr>
              <a:t>loan_number</a:t>
            </a:r>
            <a:endParaRPr lang="en-US" altLang="zh-CN" sz="2000" i="1"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from</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loan</a:t>
            </a:r>
            <a:endParaRPr lang="en-US" altLang="zh-CN" sz="2000" i="1"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where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err="1">
                <a:latin typeface="Cambria Math" panose="02040503050406030204" pitchFamily="18" charset="0"/>
                <a:ea typeface="Cambria Math" panose="02040503050406030204" pitchFamily="18" charset="0"/>
                <a:cs typeface="Times New Roman" panose="02020603050405020304" pitchFamily="18" charset="0"/>
              </a:rPr>
              <a:t>branch_name</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Perryridge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a:t>
            </a:r>
            <a: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a:t>amount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&gt; 1400</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1000" fill="hold"/>
                                        <p:tgtEl>
                                          <p:spTgt spid="11"/>
                                        </p:tgtEl>
                                        <p:attrNameLst>
                                          <p:attrName>ppt_w</p:attrName>
                                        </p:attrNameLst>
                                      </p:cBhvr>
                                      <p:tavLst>
                                        <p:tav tm="0">
                                          <p:val>
                                            <p:fltVal val="0"/>
                                          </p:val>
                                        </p:tav>
                                        <p:tav tm="100000">
                                          <p:val>
                                            <p:strVal val="#ppt_w"/>
                                          </p:val>
                                        </p:tav>
                                      </p:tavLst>
                                    </p:anim>
                                    <p:anim calcmode="lin" valueType="num">
                                      <p:cBhvr>
                                        <p:cTn id="16" dur="1000" fill="hold"/>
                                        <p:tgtEl>
                                          <p:spTgt spid="11"/>
                                        </p:tgtEl>
                                        <p:attrNameLst>
                                          <p:attrName>ppt_h</p:attrName>
                                        </p:attrNameLst>
                                      </p:cBhvr>
                                      <p:tavLst>
                                        <p:tav tm="0">
                                          <p:val>
                                            <p:fltVal val="0"/>
                                          </p:val>
                                        </p:tav>
                                        <p:tav tm="100000">
                                          <p:val>
                                            <p:strVal val="#ppt_h"/>
                                          </p:val>
                                        </p:tav>
                                      </p:tavLst>
                                    </p:anim>
                                    <p:anim calcmode="lin" valueType="num">
                                      <p:cBhvr>
                                        <p:cTn id="17"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1000" fill="hold"/>
                                        <p:tgtEl>
                                          <p:spTgt spid="15"/>
                                        </p:tgtEl>
                                        <p:attrNameLst>
                                          <p:attrName>ppt_w</p:attrName>
                                        </p:attrNameLst>
                                      </p:cBhvr>
                                      <p:tavLst>
                                        <p:tav tm="0">
                                          <p:val>
                                            <p:fltVal val="0"/>
                                          </p:val>
                                        </p:tav>
                                        <p:tav tm="100000">
                                          <p:val>
                                            <p:strVal val="#ppt_w"/>
                                          </p:val>
                                        </p:tav>
                                      </p:tavLst>
                                    </p:anim>
                                    <p:anim calcmode="lin" valueType="num">
                                      <p:cBhvr>
                                        <p:cTn id="29" dur="1000" fill="hold"/>
                                        <p:tgtEl>
                                          <p:spTgt spid="15"/>
                                        </p:tgtEl>
                                        <p:attrNameLst>
                                          <p:attrName>ppt_h</p:attrName>
                                        </p:attrNameLst>
                                      </p:cBhvr>
                                      <p:tavLst>
                                        <p:tav tm="0">
                                          <p:val>
                                            <p:fltVal val="0"/>
                                          </p:val>
                                        </p:tav>
                                        <p:tav tm="100000">
                                          <p:val>
                                            <p:strVal val="#ppt_h"/>
                                          </p:val>
                                        </p:tav>
                                      </p:tavLst>
                                    </p:anim>
                                    <p:anim calcmode="lin" valueType="num">
                                      <p:cBhvr>
                                        <p:cTn id="30"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34" presetID="15"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1000" fill="hold"/>
                                        <p:tgtEl>
                                          <p:spTgt spid="16"/>
                                        </p:tgtEl>
                                        <p:attrNameLst>
                                          <p:attrName>ppt_w</p:attrName>
                                        </p:attrNameLst>
                                      </p:cBhvr>
                                      <p:tavLst>
                                        <p:tav tm="0">
                                          <p:val>
                                            <p:fltVal val="0"/>
                                          </p:val>
                                        </p:tav>
                                        <p:tav tm="100000">
                                          <p:val>
                                            <p:strVal val="#ppt_w"/>
                                          </p:val>
                                        </p:tav>
                                      </p:tavLst>
                                    </p:anim>
                                    <p:anim calcmode="lin" valueType="num">
                                      <p:cBhvr>
                                        <p:cTn id="37" dur="1000" fill="hold"/>
                                        <p:tgtEl>
                                          <p:spTgt spid="16"/>
                                        </p:tgtEl>
                                        <p:attrNameLst>
                                          <p:attrName>ppt_h</p:attrName>
                                        </p:attrNameLst>
                                      </p:cBhvr>
                                      <p:tavLst>
                                        <p:tav tm="0">
                                          <p:val>
                                            <p:fltVal val="0"/>
                                          </p:val>
                                        </p:tav>
                                        <p:tav tm="100000">
                                          <p:val>
                                            <p:strVal val="#ppt_h"/>
                                          </p:val>
                                        </p:tav>
                                      </p:tavLst>
                                    </p:anim>
                                    <p:anim calcmode="lin" valueType="num">
                                      <p:cBhvr>
                                        <p:cTn id="38"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1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up)">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1000" fill="hold"/>
                                        <p:tgtEl>
                                          <p:spTgt spid="18"/>
                                        </p:tgtEl>
                                        <p:attrNameLst>
                                          <p:attrName>ppt_w</p:attrName>
                                        </p:attrNameLst>
                                      </p:cBhvr>
                                      <p:tavLst>
                                        <p:tav tm="0">
                                          <p:val>
                                            <p:fltVal val="0"/>
                                          </p:val>
                                        </p:tav>
                                        <p:tav tm="100000">
                                          <p:val>
                                            <p:strVal val="#ppt_w"/>
                                          </p:val>
                                        </p:tav>
                                      </p:tavLst>
                                    </p:anim>
                                    <p:anim calcmode="lin" valueType="num">
                                      <p:cBhvr>
                                        <p:cTn id="50" dur="1000" fill="hold"/>
                                        <p:tgtEl>
                                          <p:spTgt spid="18"/>
                                        </p:tgtEl>
                                        <p:attrNameLst>
                                          <p:attrName>ppt_h</p:attrName>
                                        </p:attrNameLst>
                                      </p:cBhvr>
                                      <p:tavLst>
                                        <p:tav tm="0">
                                          <p:val>
                                            <p:fltVal val="0"/>
                                          </p:val>
                                        </p:tav>
                                        <p:tav tm="100000">
                                          <p:val>
                                            <p:strVal val="#ppt_h"/>
                                          </p:val>
                                        </p:tav>
                                      </p:tavLst>
                                    </p:anim>
                                    <p:anim calcmode="lin" valueType="num">
                                      <p:cBhvr>
                                        <p:cTn id="51" dur="1000" fill="hold"/>
                                        <p:tgtEl>
                                          <p:spTgt spid="18"/>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1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55" presetID="15"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1000" fill="hold"/>
                                        <p:tgtEl>
                                          <p:spTgt spid="19"/>
                                        </p:tgtEl>
                                        <p:attrNameLst>
                                          <p:attrName>ppt_w</p:attrName>
                                        </p:attrNameLst>
                                      </p:cBhvr>
                                      <p:tavLst>
                                        <p:tav tm="0">
                                          <p:val>
                                            <p:fltVal val="0"/>
                                          </p:val>
                                        </p:tav>
                                        <p:tav tm="100000">
                                          <p:val>
                                            <p:strVal val="#ppt_w"/>
                                          </p:val>
                                        </p:tav>
                                      </p:tavLst>
                                    </p:anim>
                                    <p:anim calcmode="lin" valueType="num">
                                      <p:cBhvr>
                                        <p:cTn id="58" dur="1000" fill="hold"/>
                                        <p:tgtEl>
                                          <p:spTgt spid="19"/>
                                        </p:tgtEl>
                                        <p:attrNameLst>
                                          <p:attrName>ppt_h</p:attrName>
                                        </p:attrNameLst>
                                      </p:cBhvr>
                                      <p:tavLst>
                                        <p:tav tm="0">
                                          <p:val>
                                            <p:fltVal val="0"/>
                                          </p:val>
                                        </p:tav>
                                        <p:tav tm="100000">
                                          <p:val>
                                            <p:strVal val="#ppt_h"/>
                                          </p:val>
                                        </p:tav>
                                      </p:tavLst>
                                    </p:anim>
                                    <p:anim calcmode="lin" valueType="num">
                                      <p:cBhvr>
                                        <p:cTn id="59"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1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righ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15" presetClass="entr" presetSubtype="0"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p:cTn id="70" dur="1000" fill="hold"/>
                                        <p:tgtEl>
                                          <p:spTgt spid="21"/>
                                        </p:tgtEl>
                                        <p:attrNameLst>
                                          <p:attrName>ppt_w</p:attrName>
                                        </p:attrNameLst>
                                      </p:cBhvr>
                                      <p:tavLst>
                                        <p:tav tm="0">
                                          <p:val>
                                            <p:fltVal val="0"/>
                                          </p:val>
                                        </p:tav>
                                        <p:tav tm="100000">
                                          <p:val>
                                            <p:strVal val="#ppt_w"/>
                                          </p:val>
                                        </p:tav>
                                      </p:tavLst>
                                    </p:anim>
                                    <p:anim calcmode="lin" valueType="num">
                                      <p:cBhvr>
                                        <p:cTn id="71" dur="1000" fill="hold"/>
                                        <p:tgtEl>
                                          <p:spTgt spid="21"/>
                                        </p:tgtEl>
                                        <p:attrNameLst>
                                          <p:attrName>ppt_h</p:attrName>
                                        </p:attrNameLst>
                                      </p:cBhvr>
                                      <p:tavLst>
                                        <p:tav tm="0">
                                          <p:val>
                                            <p:fltVal val="0"/>
                                          </p:val>
                                        </p:tav>
                                        <p:tav tm="100000">
                                          <p:val>
                                            <p:strVal val="#ppt_h"/>
                                          </p:val>
                                        </p:tav>
                                      </p:tavLst>
                                    </p:anim>
                                    <p:anim calcmode="lin" valueType="num">
                                      <p:cBhvr>
                                        <p:cTn id="72" dur="1000" fill="hold"/>
                                        <p:tgtEl>
                                          <p:spTgt spid="21"/>
                                        </p:tgtEl>
                                        <p:attrNameLst>
                                          <p:attrName>ppt_x</p:attrName>
                                        </p:attrNameLst>
                                      </p:cBhvr>
                                      <p:tavLst>
                                        <p:tav tm="0" fmla="#ppt_x+(cos(-2*pi*(1-$))*-#ppt_x-sin(-2*pi*(1-$))*(1-#ppt_y))*(1-$)">
                                          <p:val>
                                            <p:fltVal val="0"/>
                                          </p:val>
                                        </p:tav>
                                        <p:tav tm="100000">
                                          <p:val>
                                            <p:fltVal val="1"/>
                                          </p:val>
                                        </p:tav>
                                      </p:tavLst>
                                    </p:anim>
                                    <p:anim calcmode="lin" valueType="num">
                                      <p:cBhvr>
                                        <p:cTn id="73" dur="1000" fill="hold"/>
                                        <p:tgtEl>
                                          <p:spTgt spid="2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6" grpId="0" autoUpdateAnimBg="0"/>
      <p:bldP spid="19"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GB" altLang="zh-CN" sz="2600" dirty="0"/>
              <a:t>ORDER BY</a:t>
            </a:r>
            <a:r>
              <a:rPr kumimoji="1" lang="zh-CN" altLang="en-US" sz="2600" dirty="0"/>
              <a:t>子句</a:t>
            </a:r>
            <a:endParaRPr lang="en-US" altLang="zh-CN" sz="2600" b="0" dirty="0">
              <a:latin typeface="Times New Roman" panose="02020603050405020304" pitchFamily="18" charset="0"/>
              <a:cs typeface="Times New Roman" panose="02020603050405020304" pitchFamily="18" charset="0"/>
            </a:endParaRPr>
          </a:p>
          <a:p>
            <a:pPr lvl="1" algn="just">
              <a:lnSpc>
                <a:spcPct val="150000"/>
              </a:lnSpc>
            </a:pPr>
            <a:r>
              <a:rPr lang="en-US" altLang="zh-CN" sz="2600" dirty="0">
                <a:latin typeface="Times New Roman" panose="02020603050405020304" pitchFamily="18" charset="0"/>
                <a:cs typeface="Times New Roman" panose="02020603050405020304" pitchFamily="18" charset="0"/>
              </a:rPr>
              <a:t>ORDER BY</a:t>
            </a:r>
            <a:r>
              <a:rPr lang="zh-CN" altLang="en-US" sz="2600" dirty="0">
                <a:latin typeface="Times New Roman" panose="02020603050405020304" pitchFamily="18" charset="0"/>
                <a:cs typeface="Times New Roman" panose="02020603050405020304" pitchFamily="18" charset="0"/>
              </a:rPr>
              <a:t>子句</a:t>
            </a:r>
            <a:endParaRPr lang="en-US" altLang="zh-CN" sz="2600" dirty="0">
              <a:latin typeface="Times New Roman" panose="02020603050405020304" pitchFamily="18" charset="0"/>
              <a:cs typeface="Times New Roman" panose="02020603050405020304" pitchFamily="18" charset="0"/>
            </a:endParaRPr>
          </a:p>
          <a:p>
            <a:pPr lvl="2" algn="just">
              <a:lnSpc>
                <a:spcPct val="150000"/>
              </a:lnSpc>
            </a:pPr>
            <a:r>
              <a:rPr lang="zh-CN" altLang="en-US" sz="2600" dirty="0">
                <a:latin typeface="Times New Roman" panose="02020603050405020304" pitchFamily="18" charset="0"/>
                <a:cs typeface="Times New Roman" panose="02020603050405020304" pitchFamily="18" charset="0"/>
              </a:rPr>
              <a:t>可以按一个或多个属性列排序</a:t>
            </a:r>
            <a:endParaRPr lang="en-US" altLang="zh-CN" sz="2600" dirty="0">
              <a:latin typeface="Times New Roman" panose="02020603050405020304" pitchFamily="18" charset="0"/>
              <a:cs typeface="Times New Roman" panose="02020603050405020304" pitchFamily="18" charset="0"/>
            </a:endParaRPr>
          </a:p>
          <a:p>
            <a:pPr lvl="2" algn="just">
              <a:lnSpc>
                <a:spcPct val="150000"/>
              </a:lnSpc>
            </a:pPr>
            <a:r>
              <a:rPr lang="zh-CN" altLang="en-US" sz="2600" dirty="0">
                <a:latin typeface="Times New Roman" panose="02020603050405020304" pitchFamily="18" charset="0"/>
                <a:cs typeface="Times New Roman" panose="02020603050405020304" pitchFamily="18" charset="0"/>
              </a:rPr>
              <a:t>升序：</a:t>
            </a:r>
            <a:r>
              <a:rPr lang="en-US" altLang="zh-CN" sz="2600" dirty="0">
                <a:latin typeface="Times New Roman" panose="02020603050405020304" pitchFamily="18" charset="0"/>
                <a:cs typeface="Times New Roman" panose="02020603050405020304" pitchFamily="18" charset="0"/>
              </a:rPr>
              <a:t>ASC</a:t>
            </a:r>
            <a:r>
              <a:rPr lang="zh-CN" altLang="en-US" sz="2600" dirty="0">
                <a:latin typeface="Times New Roman" panose="02020603050405020304" pitchFamily="18" charset="0"/>
                <a:cs typeface="Times New Roman" panose="02020603050405020304" pitchFamily="18" charset="0"/>
              </a:rPr>
              <a:t>；降序：</a:t>
            </a:r>
            <a:r>
              <a:rPr lang="en-US" altLang="zh-CN" sz="2600" dirty="0">
                <a:latin typeface="Times New Roman" panose="02020603050405020304" pitchFamily="18" charset="0"/>
                <a:cs typeface="Times New Roman" panose="02020603050405020304" pitchFamily="18" charset="0"/>
              </a:rPr>
              <a:t>DESC</a:t>
            </a:r>
            <a:r>
              <a:rPr lang="zh-CN" altLang="en-US" sz="2600" dirty="0">
                <a:latin typeface="Times New Roman" panose="02020603050405020304" pitchFamily="18" charset="0"/>
                <a:cs typeface="Times New Roman" panose="02020603050405020304" pitchFamily="18" charset="0"/>
              </a:rPr>
              <a:t>；缺省值为升序</a:t>
            </a:r>
            <a:endParaRPr lang="en-US" altLang="zh-CN" sz="2600" dirty="0">
              <a:latin typeface="Times New Roman" panose="02020603050405020304" pitchFamily="18" charset="0"/>
              <a:cs typeface="Times New Roman" panose="02020603050405020304" pitchFamily="18" charset="0"/>
            </a:endParaRPr>
          </a:p>
          <a:p>
            <a:pPr lvl="1" algn="just">
              <a:lnSpc>
                <a:spcPct val="150000"/>
              </a:lnSpc>
            </a:pPr>
            <a:r>
              <a:rPr lang="zh-CN" altLang="en-US" sz="2600" b="0" dirty="0">
                <a:latin typeface="Times New Roman" panose="02020603050405020304" pitchFamily="18" charset="0"/>
                <a:cs typeface="Times New Roman" panose="02020603050405020304" pitchFamily="18" charset="0"/>
              </a:rPr>
              <a:t>当排序列含空值时</a:t>
            </a:r>
            <a:endParaRPr lang="en-US" altLang="zh-CN" sz="2600" b="0" dirty="0">
              <a:latin typeface="Times New Roman" panose="02020603050405020304" pitchFamily="18" charset="0"/>
              <a:cs typeface="Times New Roman" panose="02020603050405020304" pitchFamily="18" charset="0"/>
            </a:endParaRPr>
          </a:p>
          <a:p>
            <a:pPr lvl="2" algn="just">
              <a:lnSpc>
                <a:spcPct val="150000"/>
              </a:lnSpc>
            </a:pPr>
            <a:r>
              <a:rPr lang="en-US" altLang="zh-CN" sz="2600" dirty="0">
                <a:latin typeface="Times New Roman" panose="02020603050405020304" pitchFamily="18" charset="0"/>
                <a:cs typeface="Times New Roman" panose="02020603050405020304" pitchFamily="18" charset="0"/>
              </a:rPr>
              <a:t>ASC</a:t>
            </a:r>
            <a:r>
              <a:rPr lang="zh-CN" altLang="en-US" sz="2600" dirty="0">
                <a:latin typeface="Times New Roman" panose="02020603050405020304" pitchFamily="18" charset="0"/>
                <a:cs typeface="Times New Roman" panose="02020603050405020304" pitchFamily="18" charset="0"/>
              </a:rPr>
              <a:t>：排序列为空值的元组最</a:t>
            </a:r>
            <a:r>
              <a:rPr lang="zh-CN" altLang="en-US" sz="2600" dirty="0">
                <a:solidFill>
                  <a:srgbClr val="C00000"/>
                </a:solidFill>
                <a:latin typeface="Times New Roman" panose="02020603050405020304" pitchFamily="18" charset="0"/>
                <a:cs typeface="Times New Roman" panose="02020603050405020304" pitchFamily="18" charset="0"/>
              </a:rPr>
              <a:t>先</a:t>
            </a:r>
            <a:r>
              <a:rPr lang="zh-CN" altLang="en-US" sz="2600" dirty="0">
                <a:latin typeface="Times New Roman" panose="02020603050405020304" pitchFamily="18" charset="0"/>
                <a:cs typeface="Times New Roman" panose="02020603050405020304" pitchFamily="18" charset="0"/>
              </a:rPr>
              <a:t>显示</a:t>
            </a:r>
            <a:endParaRPr lang="en-US" altLang="zh-CN" sz="2600" dirty="0">
              <a:latin typeface="Times New Roman" panose="02020603050405020304" pitchFamily="18" charset="0"/>
              <a:cs typeface="Times New Roman" panose="02020603050405020304" pitchFamily="18" charset="0"/>
            </a:endParaRPr>
          </a:p>
          <a:p>
            <a:pPr lvl="2" algn="just">
              <a:lnSpc>
                <a:spcPct val="150000"/>
              </a:lnSpc>
            </a:pPr>
            <a:r>
              <a:rPr lang="en-US" altLang="zh-CN" sz="2600" dirty="0">
                <a:latin typeface="Times New Roman" panose="02020603050405020304" pitchFamily="18" charset="0"/>
                <a:cs typeface="Times New Roman" panose="02020603050405020304" pitchFamily="18" charset="0"/>
              </a:rPr>
              <a:t>DESC</a:t>
            </a:r>
            <a:r>
              <a:rPr lang="zh-CN" altLang="en-US" sz="2600" dirty="0">
                <a:latin typeface="Times New Roman" panose="02020603050405020304" pitchFamily="18" charset="0"/>
                <a:cs typeface="Times New Roman" panose="02020603050405020304" pitchFamily="18" charset="0"/>
              </a:rPr>
              <a:t>：排序列为空值的元组最</a:t>
            </a:r>
            <a:r>
              <a:rPr lang="zh-CN" altLang="en-US" sz="2600" dirty="0">
                <a:solidFill>
                  <a:srgbClr val="C00000"/>
                </a:solidFill>
                <a:latin typeface="Times New Roman" panose="02020603050405020304" pitchFamily="18" charset="0"/>
                <a:cs typeface="Times New Roman" panose="02020603050405020304" pitchFamily="18" charset="0"/>
              </a:rPr>
              <a:t>后</a:t>
            </a:r>
            <a:r>
              <a:rPr lang="zh-CN" altLang="en-US" sz="2600" dirty="0">
                <a:latin typeface="Times New Roman" panose="02020603050405020304" pitchFamily="18" charset="0"/>
                <a:cs typeface="Times New Roman" panose="02020603050405020304" pitchFamily="18" charset="0"/>
              </a:rPr>
              <a:t>显示</a:t>
            </a:r>
            <a:endParaRPr lang="zh-CN" altLang="en-US" sz="2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75775" cy="5280071"/>
          </a:xfrm>
        </p:spPr>
        <p:txBody>
          <a:bodyPr>
            <a:normAutofit fontScale="92500"/>
          </a:bodyPr>
          <a:lstStyle/>
          <a:p>
            <a:r>
              <a:rPr kumimoji="1" lang="en-GB" altLang="zh-CN" sz="2600" dirty="0"/>
              <a:t>ORDER BY</a:t>
            </a:r>
            <a:r>
              <a:rPr kumimoji="1" lang="zh-CN" altLang="en-US" sz="2600" dirty="0"/>
              <a:t>子句</a:t>
            </a:r>
            <a:endParaRPr kumimoji="1" lang="en-US" altLang="zh-CN" sz="2600" dirty="0">
              <a:latin typeface="Times New Roman" panose="02020603050405020304" pitchFamily="18" charset="0"/>
              <a:cs typeface="Times New Roman" panose="02020603050405020304" pitchFamily="18" charset="0"/>
            </a:endParaRPr>
          </a:p>
          <a:p>
            <a:pPr lvl="1"/>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3-32</a:t>
            </a:r>
            <a:r>
              <a:rPr lang="zh-CN" altLang="en-US" sz="2600" i="1" dirty="0">
                <a:latin typeface="Times New Roman" panose="02020603050405020304" pitchFamily="18" charset="0"/>
                <a:cs typeface="Times New Roman" panose="02020603050405020304" pitchFamily="18" charset="0"/>
              </a:rPr>
              <a:t>：查询选修了</a:t>
            </a:r>
            <a:r>
              <a:rPr lang="en-GB" altLang="zh-CN" sz="2600" i="1" dirty="0">
                <a:latin typeface="Times New Roman" panose="02020603050405020304" pitchFamily="18" charset="0"/>
                <a:cs typeface="Times New Roman" panose="02020603050405020304" pitchFamily="18" charset="0"/>
              </a:rPr>
              <a:t>CS-03</a:t>
            </a:r>
            <a:r>
              <a:rPr lang="zh-CN" altLang="en-US" sz="2600" i="1" dirty="0">
                <a:latin typeface="Times New Roman" panose="02020603050405020304" pitchFamily="18" charset="0"/>
                <a:cs typeface="Times New Roman" panose="02020603050405020304" pitchFamily="18" charset="0"/>
              </a:rPr>
              <a:t>课程的学生的学号及其成绩，查询结果按分数降序排列</a:t>
            </a:r>
            <a:endParaRPr lang="zh-CN" altLang="en-US" sz="2600" i="1" dirty="0">
              <a:latin typeface="Times New Roman" panose="02020603050405020304" pitchFamily="18" charset="0"/>
              <a:cs typeface="Times New Roman" panose="02020603050405020304" pitchFamily="18" charset="0"/>
            </a:endParaRPr>
          </a:p>
          <a:p>
            <a:pPr marL="457200" lvl="1" indent="0">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0" lvl="1" indent="0" algn="just">
              <a:lnSpc>
                <a:spcPct val="10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0" lvl="1" indent="0" algn="just">
              <a:lnSpc>
                <a:spcPct val="10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0" lvl="1" indent="0" algn="just">
              <a:lnSpc>
                <a:spcPct val="10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solidFill>
                  <a:srgbClr val="C00000"/>
                </a:solidFill>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457200" lvl="1" indent="0">
              <a:buNone/>
            </a:pPr>
            <a:endParaRPr lang="en-US" altLang="zh-CN" sz="900" dirty="0">
              <a:latin typeface="Times New Roman" panose="02020603050405020304" pitchFamily="18" charset="0"/>
              <a:cs typeface="Times New Roman" panose="02020603050405020304" pitchFamily="18" charset="0"/>
            </a:endParaRPr>
          </a:p>
          <a:p>
            <a:pPr lvl="1"/>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3-33</a:t>
            </a:r>
            <a:r>
              <a:rPr lang="zh-CN" altLang="en-US" sz="2600" i="1" dirty="0">
                <a:latin typeface="Times New Roman" panose="02020603050405020304" pitchFamily="18" charset="0"/>
                <a:cs typeface="Times New Roman" panose="02020603050405020304" pitchFamily="18" charset="0"/>
              </a:rPr>
              <a:t>：查询全体学生情况，查询结果按所在系的系号升序排列，同一系中的学生按年龄降序排列</a:t>
            </a:r>
            <a:endParaRPr lang="en-US" altLang="zh-CN" sz="2600" i="1" dirty="0">
              <a:latin typeface="Times New Roman" panose="02020603050405020304" pitchFamily="18" charset="0"/>
              <a:cs typeface="Times New Roman" panose="02020603050405020304" pitchFamily="18" charset="0"/>
            </a:endParaRPr>
          </a:p>
          <a:p>
            <a:pPr lvl="1" indent="0">
              <a:lnSpc>
                <a:spcPct val="100000"/>
              </a:lnSpc>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indent="0">
              <a:lnSpc>
                <a:spcPct val="100000"/>
              </a:lnSpc>
              <a:buNone/>
            </a:pP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indent="0">
              <a:lnSpc>
                <a:spcPct val="100000"/>
              </a:lnSpc>
              <a:buNone/>
            </a:pPr>
            <a:r>
              <a:rPr lang="en-US" altLang="zh-CN" sz="2600" dirty="0">
                <a:latin typeface="Times New Roman" panose="02020603050405020304" pitchFamily="18" charset="0"/>
                <a:cs typeface="Times New Roman" panose="02020603050405020304" pitchFamily="18" charset="0"/>
              </a:rPr>
              <a:t> </a:t>
            </a:r>
            <a:r>
              <a:rPr lang="en-US" altLang="zh-CN" sz="2600" dirty="0">
                <a:solidFill>
                  <a:srgbClr val="C00000"/>
                </a:solidFill>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10990" y="2290109"/>
            <a:ext cx="6999287" cy="1569129"/>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‘CS-03‘</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ORDER BY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DESC</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210989" y="5226211"/>
            <a:ext cx="6999287" cy="1179279"/>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ORDER BY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ASC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DESC</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en-US" altLang="zh-CN" sz="2600" dirty="0"/>
              <a:t>SQL</a:t>
            </a:r>
            <a:r>
              <a:rPr kumimoji="1" lang="zh-CN" altLang="en-US" sz="2600" dirty="0"/>
              <a:t>函数</a:t>
            </a:r>
            <a:endParaRPr lang="en-US" altLang="zh-CN" sz="2600" dirty="0">
              <a:latin typeface="Times New Roman" panose="02020603050405020304" pitchFamily="18" charset="0"/>
              <a:cs typeface="Times New Roman" panose="02020603050405020304" pitchFamily="18" charset="0"/>
            </a:endParaRPr>
          </a:p>
          <a:p>
            <a:pPr lvl="1" algn="just">
              <a:lnSpc>
                <a:spcPct val="200000"/>
              </a:lnSpc>
            </a:pPr>
            <a:r>
              <a:rPr lang="en-GB" altLang="zh-CN" sz="2600" dirty="0">
                <a:latin typeface="Times New Roman" panose="02020603050405020304" pitchFamily="18" charset="0"/>
                <a:cs typeface="Times New Roman" panose="02020603050405020304" pitchFamily="18" charset="0"/>
              </a:rPr>
              <a:t>SQL</a:t>
            </a:r>
            <a:r>
              <a:rPr lang="zh-CN" altLang="en-US" sz="2600" dirty="0">
                <a:latin typeface="Times New Roman" panose="02020603050405020304" pitchFamily="18" charset="0"/>
                <a:cs typeface="Times New Roman" panose="02020603050405020304" pitchFamily="18" charset="0"/>
              </a:rPr>
              <a:t>函数主要包括标量函数和聚集函数两类</a:t>
            </a:r>
            <a:endParaRPr lang="zh-CN" altLang="en-US" sz="2600" dirty="0">
              <a:latin typeface="Times New Roman" panose="02020603050405020304" pitchFamily="18" charset="0"/>
              <a:cs typeface="Times New Roman" panose="02020603050405020304" pitchFamily="18" charset="0"/>
            </a:endParaRPr>
          </a:p>
          <a:p>
            <a:pPr lvl="1" algn="just">
              <a:lnSpc>
                <a:spcPct val="200000"/>
              </a:lnSpc>
            </a:pPr>
            <a:r>
              <a:rPr lang="zh-CN" altLang="en-US" sz="2600" dirty="0">
                <a:latin typeface="Times New Roman" panose="02020603050405020304" pitchFamily="18" charset="0"/>
                <a:cs typeface="Times New Roman" panose="02020603050405020304" pitchFamily="18" charset="0"/>
              </a:rPr>
              <a:t>标量函数的运算对象是一个记录行在某个属性上的具体取值，大致可以分为字符、数学、时间、类型转换等几种形式。例如，函数</a:t>
            </a:r>
            <a:r>
              <a:rPr lang="en-GB" altLang="zh-CN" sz="2600" dirty="0">
                <a:latin typeface="Times New Roman" panose="02020603050405020304" pitchFamily="18" charset="0"/>
                <a:cs typeface="Times New Roman" panose="02020603050405020304" pitchFamily="18" charset="0"/>
              </a:rPr>
              <a:t>LENGTH()</a:t>
            </a:r>
            <a:r>
              <a:rPr lang="zh-CN" altLang="en-US" sz="2600" dirty="0">
                <a:latin typeface="Times New Roman" panose="02020603050405020304" pitchFamily="18" charset="0"/>
                <a:cs typeface="Times New Roman" panose="02020603050405020304" pitchFamily="18" charset="0"/>
              </a:rPr>
              <a:t>可以计算一个字符串类型数值的长度，</a:t>
            </a:r>
            <a:r>
              <a:rPr lang="en-GB" altLang="zh-CN" sz="2600" dirty="0">
                <a:latin typeface="Times New Roman" panose="02020603050405020304" pitchFamily="18" charset="0"/>
                <a:cs typeface="Times New Roman" panose="02020603050405020304" pitchFamily="18" charset="0"/>
              </a:rPr>
              <a:t>ABS()</a:t>
            </a:r>
            <a:r>
              <a:rPr lang="zh-CN" altLang="en-US" sz="2600" dirty="0">
                <a:latin typeface="Times New Roman" panose="02020603050405020304" pitchFamily="18" charset="0"/>
                <a:cs typeface="Times New Roman" panose="02020603050405020304" pitchFamily="18" charset="0"/>
              </a:rPr>
              <a:t>可以计算一个数值类型的绝对值</a:t>
            </a:r>
            <a:endParaRPr lang="zh-CN" altLang="en-US" sz="2600" dirty="0">
              <a:latin typeface="Times New Roman" panose="02020603050405020304" pitchFamily="18" charset="0"/>
              <a:cs typeface="Times New Roman" panose="02020603050405020304" pitchFamily="18" charset="0"/>
            </a:endParaRPr>
          </a:p>
          <a:p>
            <a:pPr lvl="1" algn="just">
              <a:lnSpc>
                <a:spcPct val="150000"/>
              </a:lnSpc>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r>
              <a:rPr kumimoji="1" lang="zh-CN" altLang="en-US" sz="2600" dirty="0"/>
              <a:t>聚集函数</a:t>
            </a:r>
            <a:endParaRPr lang="en-GB" altLang="zh-CN" sz="2600" dirty="0">
              <a:latin typeface="Times New Roman" panose="02020603050405020304" pitchFamily="18" charset="0"/>
              <a:cs typeface="Times New Roman" panose="02020603050405020304" pitchFamily="18" charset="0"/>
            </a:endParaRPr>
          </a:p>
          <a:p>
            <a:pPr lvl="1" algn="just">
              <a:lnSpc>
                <a:spcPct val="200000"/>
              </a:lnSpc>
            </a:pPr>
            <a:r>
              <a:rPr lang="zh-CN" altLang="en-US" sz="2600" dirty="0">
                <a:latin typeface="Times New Roman" panose="02020603050405020304" pitchFamily="18" charset="0"/>
                <a:cs typeface="Times New Roman" panose="02020603050405020304" pitchFamily="18" charset="0"/>
              </a:rPr>
              <a:t>聚集函数是</a:t>
            </a:r>
            <a:r>
              <a:rPr lang="en-GB" altLang="zh-CN" sz="2600" dirty="0">
                <a:latin typeface="Times New Roman" panose="02020603050405020304" pitchFamily="18" charset="0"/>
                <a:cs typeface="Times New Roman" panose="02020603050405020304" pitchFamily="18" charset="0"/>
              </a:rPr>
              <a:t>SQL</a:t>
            </a:r>
            <a:r>
              <a:rPr lang="zh-CN" altLang="en-US" sz="2600" dirty="0">
                <a:latin typeface="Times New Roman" panose="02020603050405020304" pitchFamily="18" charset="0"/>
                <a:cs typeface="Times New Roman" panose="02020603050405020304" pitchFamily="18" charset="0"/>
              </a:rPr>
              <a:t>中具有统计性质的一类函数，其运算对象通常是记录的集合或一组记录在某个列上的全部取值，聚集函数的返回结果一般将会是惟一的一个确定值</a:t>
            </a:r>
            <a:endParaRPr lang="zh-CN" altLang="en-US" sz="2600" dirty="0">
              <a:latin typeface="Times New Roman" panose="02020603050405020304" pitchFamily="18" charset="0"/>
              <a:cs typeface="Times New Roman" panose="02020603050405020304" pitchFamily="18" charset="0"/>
            </a:endParaRPr>
          </a:p>
          <a:p>
            <a:pPr lvl="1" algn="just">
              <a:lnSpc>
                <a:spcPct val="200000"/>
              </a:lnSpc>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lnSpcReduction="10000"/>
          </a:bodyPr>
          <a:lstStyle/>
          <a:p>
            <a:pPr>
              <a:lnSpc>
                <a:spcPct val="110000"/>
              </a:lnSpc>
            </a:pPr>
            <a:r>
              <a:rPr kumimoji="1" lang="zh-CN" altLang="en-US" sz="2600" dirty="0"/>
              <a:t>聚集函数</a:t>
            </a:r>
            <a:endParaRPr lang="en-US" altLang="zh-CN" sz="2600"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计数</a:t>
            </a:r>
            <a:endParaRPr lang="zh-CN" altLang="en-US" dirty="0">
              <a:latin typeface="Times New Roman" panose="02020603050405020304" pitchFamily="18" charset="0"/>
              <a:cs typeface="Times New Roman" panose="02020603050405020304" pitchFamily="18" charset="0"/>
            </a:endParaRPr>
          </a:p>
          <a:p>
            <a:pPr marL="522605" lvl="1" indent="-65405" algn="just">
              <a:lnSpc>
                <a:spcPct val="11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COUNT</a:t>
            </a:r>
            <a:r>
              <a:rPr lang="zh-CN" altLang="en-US" dirty="0">
                <a:latin typeface="Times New Roman" panose="02020603050405020304" pitchFamily="18" charset="0"/>
                <a:cs typeface="Times New Roman" panose="02020603050405020304" pitchFamily="18" charset="0"/>
              </a:rPr>
              <a:t>（</a:t>
            </a:r>
            <a:r>
              <a:rPr lang="en-US" altLang="zh-CN" dirty="0">
                <a:solidFill>
                  <a:srgbClr val="C0C0C0"/>
                </a:solidFill>
                <a:latin typeface="Times New Roman" panose="02020603050405020304" pitchFamily="18" charset="0"/>
                <a:cs typeface="Times New Roman" panose="02020603050405020304" pitchFamily="18" charset="0"/>
              </a:rPr>
              <a:t>[DISTINCT|</a:t>
            </a:r>
            <a:r>
              <a:rPr lang="en-US" altLang="zh-CN" u="sng" dirty="0">
                <a:solidFill>
                  <a:srgbClr val="C0C0C0"/>
                </a:solidFill>
                <a:latin typeface="Times New Roman" panose="02020603050405020304" pitchFamily="18" charset="0"/>
                <a:cs typeface="Times New Roman" panose="02020603050405020304" pitchFamily="18" charset="0"/>
              </a:rPr>
              <a:t>ALL</a:t>
            </a:r>
            <a:r>
              <a:rPr lang="en-US" altLang="zh-CN" dirty="0">
                <a:solidFill>
                  <a:srgbClr val="C0C0C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marL="522605" lvl="1" indent="-65405" algn="just">
              <a:lnSpc>
                <a:spcPct val="11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COUNT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[DISTINCT|</a:t>
            </a:r>
            <a:r>
              <a:rPr lang="en-US" altLang="zh-CN" u="sng" dirty="0">
                <a:latin typeface="Times New Roman" panose="02020603050405020304" pitchFamily="18" charset="0"/>
                <a:cs typeface="Times New Roman" panose="02020603050405020304" pitchFamily="18" charset="0"/>
              </a:rPr>
              <a:t>ALL</a:t>
            </a:r>
            <a:r>
              <a:rPr lang="en-US" altLang="zh-CN" dirty="0">
                <a:latin typeface="Times New Roman" panose="02020603050405020304" pitchFamily="18" charset="0"/>
                <a:cs typeface="Times New Roman" panose="02020603050405020304" pitchFamily="18" charset="0"/>
              </a:rPr>
              <a:t>] &lt;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&gt;</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计算总和</a:t>
            </a:r>
            <a:endParaRPr lang="zh-CN" altLang="en-US" dirty="0">
              <a:latin typeface="Times New Roman" panose="02020603050405020304" pitchFamily="18" charset="0"/>
              <a:cs typeface="Times New Roman" panose="02020603050405020304" pitchFamily="18" charset="0"/>
            </a:endParaRPr>
          </a:p>
          <a:p>
            <a:pPr marL="522605" lvl="1" indent="-65405" algn="just">
              <a:lnSpc>
                <a:spcPct val="11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SUM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[DISTINCT|</a:t>
            </a:r>
            <a:r>
              <a:rPr lang="en-US" altLang="zh-CN" u="sng" dirty="0">
                <a:latin typeface="Times New Roman" panose="02020603050405020304" pitchFamily="18" charset="0"/>
                <a:cs typeface="Times New Roman" panose="02020603050405020304" pitchFamily="18" charset="0"/>
              </a:rPr>
              <a:t>ALL</a:t>
            </a:r>
            <a:r>
              <a:rPr lang="en-US" altLang="zh-CN" dirty="0">
                <a:latin typeface="Times New Roman" panose="02020603050405020304" pitchFamily="18" charset="0"/>
                <a:cs typeface="Times New Roman" panose="02020603050405020304" pitchFamily="18" charset="0"/>
              </a:rPr>
              <a:t>] &lt;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&gt;</a:t>
            </a:r>
            <a:r>
              <a:rPr lang="zh-CN" altLang="en-US"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计算平均值</a:t>
            </a:r>
            <a:endParaRPr lang="zh-CN" altLang="en-US" dirty="0">
              <a:latin typeface="Times New Roman" panose="02020603050405020304" pitchFamily="18" charset="0"/>
              <a:cs typeface="Times New Roman" panose="02020603050405020304" pitchFamily="18" charset="0"/>
            </a:endParaRPr>
          </a:p>
          <a:p>
            <a:pPr marL="522605" lvl="1" indent="-65405" algn="just">
              <a:lnSpc>
                <a:spcPct val="11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AVG</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[DISTINCT|</a:t>
            </a:r>
            <a:r>
              <a:rPr lang="en-US" altLang="zh-CN" u="sng" dirty="0">
                <a:latin typeface="Times New Roman" panose="02020603050405020304" pitchFamily="18" charset="0"/>
                <a:cs typeface="Times New Roman" panose="02020603050405020304" pitchFamily="18" charset="0"/>
              </a:rPr>
              <a:t>ALL</a:t>
            </a:r>
            <a:r>
              <a:rPr lang="en-US" altLang="zh-CN" dirty="0">
                <a:latin typeface="Times New Roman" panose="02020603050405020304" pitchFamily="18" charset="0"/>
                <a:cs typeface="Times New Roman" panose="02020603050405020304" pitchFamily="18" charset="0"/>
              </a:rPr>
              <a:t>] &lt;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&gt;</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最大最小值</a:t>
            </a:r>
            <a:endParaRPr lang="zh-CN" altLang="en-US" dirty="0">
              <a:latin typeface="Times New Roman" panose="02020603050405020304" pitchFamily="18" charset="0"/>
              <a:cs typeface="Times New Roman" panose="02020603050405020304" pitchFamily="18" charset="0"/>
            </a:endParaRPr>
          </a:p>
          <a:p>
            <a:pPr algn="just">
              <a:lnSpc>
                <a:spcPct val="11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MAX</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[DISTINCT|</a:t>
            </a:r>
            <a:r>
              <a:rPr lang="en-US" altLang="zh-CN" sz="2400" b="0" u="sng" dirty="0">
                <a:latin typeface="Times New Roman" panose="02020603050405020304" pitchFamily="18" charset="0"/>
                <a:cs typeface="Times New Roman" panose="02020603050405020304" pitchFamily="18" charset="0"/>
              </a:rPr>
              <a:t>ALL</a:t>
            </a:r>
            <a:r>
              <a:rPr lang="en-US" altLang="zh-CN" sz="2400" b="0" dirty="0">
                <a:latin typeface="Times New Roman" panose="02020603050405020304" pitchFamily="18" charset="0"/>
                <a:cs typeface="Times New Roman" panose="02020603050405020304" pitchFamily="18" charset="0"/>
              </a:rPr>
              <a:t>] &lt;</a:t>
            </a:r>
            <a:r>
              <a:rPr lang="zh-CN" altLang="en-US" sz="2400" b="0" dirty="0">
                <a:latin typeface="Times New Roman" panose="02020603050405020304" pitchFamily="18" charset="0"/>
                <a:cs typeface="Times New Roman" panose="02020603050405020304" pitchFamily="18" charset="0"/>
              </a:rPr>
              <a:t>列名</a:t>
            </a:r>
            <a:r>
              <a:rPr lang="en-US" altLang="zh-CN" sz="2400" b="0" dirty="0">
                <a:latin typeface="Times New Roman" panose="02020603050405020304" pitchFamily="18" charset="0"/>
                <a:cs typeface="Times New Roman" panose="02020603050405020304" pitchFamily="18" charset="0"/>
              </a:rPr>
              <a:t>&gt;</a:t>
            </a:r>
            <a:r>
              <a:rPr lang="zh-CN" altLang="en-US" sz="2400" b="0" dirty="0">
                <a:latin typeface="Times New Roman" panose="02020603050405020304" pitchFamily="18" charset="0"/>
                <a:cs typeface="Times New Roman" panose="02020603050405020304" pitchFamily="18" charset="0"/>
              </a:rPr>
              <a:t>）</a:t>
            </a:r>
            <a:endParaRPr lang="zh-CN" altLang="en-US" sz="2400" b="0" dirty="0">
              <a:latin typeface="Times New Roman" panose="02020603050405020304" pitchFamily="18" charset="0"/>
              <a:cs typeface="Times New Roman" panose="02020603050405020304" pitchFamily="18" charset="0"/>
            </a:endParaRPr>
          </a:p>
          <a:p>
            <a:pPr algn="just">
              <a:lnSpc>
                <a:spcPct val="11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MIN</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[DISTINCT|</a:t>
            </a:r>
            <a:r>
              <a:rPr lang="en-US" altLang="zh-CN" sz="2400" b="0" u="sng" dirty="0">
                <a:latin typeface="Times New Roman" panose="02020603050405020304" pitchFamily="18" charset="0"/>
                <a:cs typeface="Times New Roman" panose="02020603050405020304" pitchFamily="18" charset="0"/>
              </a:rPr>
              <a:t>ALL</a:t>
            </a:r>
            <a:r>
              <a:rPr lang="en-US" altLang="zh-CN" sz="2400" b="0" dirty="0">
                <a:latin typeface="Times New Roman" panose="02020603050405020304" pitchFamily="18" charset="0"/>
                <a:cs typeface="Times New Roman" panose="02020603050405020304" pitchFamily="18" charset="0"/>
              </a:rPr>
              <a:t>] &lt;</a:t>
            </a:r>
            <a:r>
              <a:rPr lang="zh-CN" altLang="en-US" sz="2400" b="0" dirty="0">
                <a:latin typeface="Times New Roman" panose="02020603050405020304" pitchFamily="18" charset="0"/>
                <a:cs typeface="Times New Roman" panose="02020603050405020304" pitchFamily="18" charset="0"/>
              </a:rPr>
              <a:t>列名</a:t>
            </a:r>
            <a:r>
              <a:rPr lang="en-US" altLang="zh-CN" sz="2400" b="0" dirty="0">
                <a:latin typeface="Times New Roman" panose="02020603050405020304" pitchFamily="18" charset="0"/>
                <a:cs typeface="Times New Roman" panose="02020603050405020304" pitchFamily="18" charset="0"/>
              </a:rPr>
              <a:t>&gt;</a:t>
            </a:r>
            <a:r>
              <a:rPr lang="zh-CN" altLang="en-US" sz="2400" b="0" dirty="0">
                <a:latin typeface="Times New Roman" panose="02020603050405020304" pitchFamily="18" charset="0"/>
                <a:cs typeface="Times New Roman" panose="02020603050405020304" pitchFamily="18" charset="0"/>
              </a:rPr>
              <a:t>）</a:t>
            </a:r>
            <a:endParaRPr lang="zh-CN" altLang="en-US"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75775" cy="5280071"/>
          </a:xfrm>
        </p:spPr>
        <p:txBody>
          <a:bodyPr>
            <a:normAutofit fontScale="77500" lnSpcReduction="20000"/>
          </a:bodyPr>
          <a:lstStyle/>
          <a:p>
            <a:r>
              <a:rPr kumimoji="1" lang="zh-CN" altLang="en-US" sz="3400" dirty="0"/>
              <a:t>聚集函数</a:t>
            </a:r>
            <a:endParaRPr kumimoji="1" lang="en-US" altLang="zh-CN" sz="3400" dirty="0">
              <a:latin typeface="Times New Roman" panose="02020603050405020304" pitchFamily="18" charset="0"/>
              <a:cs typeface="Times New Roman" panose="02020603050405020304" pitchFamily="18" charset="0"/>
            </a:endParaRPr>
          </a:p>
          <a:p>
            <a:pPr lvl="1"/>
            <a:r>
              <a:rPr lang="zh-CN" altLang="en-US" sz="2800" i="1" dirty="0">
                <a:latin typeface="Times New Roman" panose="02020603050405020304" pitchFamily="18" charset="0"/>
                <a:cs typeface="Times New Roman" panose="02020603050405020304" pitchFamily="18" charset="0"/>
              </a:rPr>
              <a:t>例</a:t>
            </a:r>
            <a:r>
              <a:rPr lang="en-US" altLang="zh-CN" sz="2800" i="1" dirty="0">
                <a:latin typeface="Times New Roman" panose="02020603050405020304" pitchFamily="18" charset="0"/>
                <a:cs typeface="Times New Roman" panose="02020603050405020304" pitchFamily="18" charset="0"/>
              </a:rPr>
              <a:t>3-34</a:t>
            </a:r>
            <a:r>
              <a:rPr lang="zh-CN" altLang="en-US" sz="2800" i="1" dirty="0">
                <a:latin typeface="Times New Roman" panose="02020603050405020304" pitchFamily="18" charset="0"/>
                <a:cs typeface="Times New Roman" panose="02020603050405020304" pitchFamily="18" charset="0"/>
              </a:rPr>
              <a:t>：查询学生总人数</a:t>
            </a:r>
            <a:endParaRPr lang="en-US" altLang="zh-CN" sz="2800" i="1" dirty="0">
              <a:latin typeface="Times New Roman" panose="02020603050405020304" pitchFamily="18" charset="0"/>
              <a:cs typeface="Times New Roman" panose="02020603050405020304" pitchFamily="18" charset="0"/>
            </a:endParaRPr>
          </a:p>
          <a:p>
            <a:pPr lvl="1" indent="0" algn="just">
              <a:buNone/>
            </a:pP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lvl="1" indent="0" algn="just">
              <a:buNone/>
            </a:pPr>
            <a:r>
              <a:rPr lang="en-US" altLang="zh-CN"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marL="457200" lvl="1" indent="0">
              <a:buNone/>
            </a:pPr>
            <a:endParaRPr lang="en-US" altLang="zh-CN" sz="900" dirty="0">
              <a:latin typeface="Times New Roman" panose="02020603050405020304" pitchFamily="18" charset="0"/>
              <a:cs typeface="Times New Roman" panose="02020603050405020304" pitchFamily="18" charset="0"/>
            </a:endParaRPr>
          </a:p>
          <a:p>
            <a:pPr lvl="1"/>
            <a:r>
              <a:rPr lang="zh-CN" altLang="en-US" sz="2800" i="1" dirty="0">
                <a:latin typeface="Times New Roman" panose="02020603050405020304" pitchFamily="18" charset="0"/>
                <a:cs typeface="Times New Roman" panose="02020603050405020304" pitchFamily="18" charset="0"/>
              </a:rPr>
              <a:t>例</a:t>
            </a:r>
            <a:r>
              <a:rPr lang="en-US" altLang="zh-CN" sz="2800" i="1" dirty="0">
                <a:latin typeface="Times New Roman" panose="02020603050405020304" pitchFamily="18" charset="0"/>
                <a:cs typeface="Times New Roman" panose="02020603050405020304" pitchFamily="18" charset="0"/>
              </a:rPr>
              <a:t>3-35</a:t>
            </a:r>
            <a:r>
              <a:rPr lang="zh-CN" altLang="en-US" sz="2800" i="1" dirty="0">
                <a:latin typeface="Times New Roman" panose="02020603050405020304" pitchFamily="18" charset="0"/>
                <a:cs typeface="Times New Roman" panose="02020603050405020304" pitchFamily="18" charset="0"/>
              </a:rPr>
              <a:t>：查询选修了课程的学生人数</a:t>
            </a:r>
            <a:endParaRPr lang="en-US" altLang="zh-CN" sz="2800" i="1" dirty="0">
              <a:latin typeface="Times New Roman" panose="02020603050405020304" pitchFamily="18" charset="0"/>
              <a:cs typeface="Times New Roman" panose="02020603050405020304" pitchFamily="18" charset="0"/>
            </a:endParaRPr>
          </a:p>
          <a:p>
            <a:pPr lvl="1" indent="0" algn="just">
              <a:buNone/>
            </a:pP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lvl="1" indent="0" algn="just">
              <a:buNone/>
            </a:pP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lvl="1" indent="0" algn="just">
              <a:buNone/>
            </a:pPr>
            <a:endParaRPr lang="en-US" altLang="zh-CN" sz="900" dirty="0">
              <a:latin typeface="Times New Roman" panose="02020603050405020304" pitchFamily="18" charset="0"/>
              <a:cs typeface="Times New Roman" panose="02020603050405020304" pitchFamily="18" charset="0"/>
            </a:endParaRPr>
          </a:p>
          <a:p>
            <a:pPr lvl="1"/>
            <a:r>
              <a:rPr lang="zh-CN" altLang="en-US" sz="2800" i="1" dirty="0">
                <a:latin typeface="Times New Roman" panose="02020603050405020304" pitchFamily="18" charset="0"/>
                <a:cs typeface="Times New Roman" panose="02020603050405020304" pitchFamily="18" charset="0"/>
              </a:rPr>
              <a:t>例</a:t>
            </a:r>
            <a:r>
              <a:rPr lang="en-US" altLang="zh-CN" sz="2800" i="1" dirty="0">
                <a:latin typeface="Times New Roman" panose="02020603050405020304" pitchFamily="18" charset="0"/>
                <a:cs typeface="Times New Roman" panose="02020603050405020304" pitchFamily="18" charset="0"/>
              </a:rPr>
              <a:t>3-36</a:t>
            </a:r>
            <a:r>
              <a:rPr lang="zh-CN" altLang="en-US" sz="2800" i="1" dirty="0">
                <a:latin typeface="Times New Roman" panose="02020603050405020304" pitchFamily="18" charset="0"/>
                <a:cs typeface="Times New Roman" panose="02020603050405020304" pitchFamily="18" charset="0"/>
              </a:rPr>
              <a:t>：计算’</a:t>
            </a:r>
            <a:r>
              <a:rPr lang="en-GB" altLang="zh-CN" sz="2800" i="1" dirty="0">
                <a:latin typeface="Times New Roman" panose="02020603050405020304" pitchFamily="18" charset="0"/>
                <a:cs typeface="Times New Roman" panose="02020603050405020304" pitchFamily="18" charset="0"/>
              </a:rPr>
              <a:t>CS-01’</a:t>
            </a:r>
            <a:r>
              <a:rPr lang="zh-CN" altLang="en-US" sz="2800" i="1" dirty="0">
                <a:latin typeface="Times New Roman" panose="02020603050405020304" pitchFamily="18" charset="0"/>
                <a:cs typeface="Times New Roman" panose="02020603050405020304" pitchFamily="18" charset="0"/>
              </a:rPr>
              <a:t>课程的学生平均成绩</a:t>
            </a:r>
            <a:endParaRPr lang="zh-CN" altLang="en-US" sz="2800" i="1" dirty="0">
              <a:latin typeface="Times New Roman" panose="02020603050405020304" pitchFamily="18" charset="0"/>
              <a:cs typeface="Times New Roman" panose="02020603050405020304" pitchFamily="18" charset="0"/>
            </a:endParaRPr>
          </a:p>
          <a:p>
            <a:pPr algn="just">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lgn="just">
              <a:buNone/>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lgn="just">
              <a:buNone/>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marL="457200" lvl="1" indent="0">
              <a:lnSpc>
                <a:spcPct val="200000"/>
              </a:lnSpc>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16744" y="2133318"/>
            <a:ext cx="5298123"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COUNT(*)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116744" y="3520648"/>
            <a:ext cx="5298123"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COUNT(DISTINCT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
        <p:nvSpPr>
          <p:cNvPr id="8" name="文本框 7"/>
          <p:cNvSpPr txBox="1"/>
          <p:nvPr/>
        </p:nvSpPr>
        <p:spPr bwMode="auto">
          <a:xfrm>
            <a:off x="1116744" y="4969020"/>
            <a:ext cx="5298123"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AVG(Grade)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=‘CS-01’</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75775" cy="5280071"/>
          </a:xfrm>
        </p:spPr>
        <p:txBody>
          <a:bodyPr>
            <a:normAutofit/>
          </a:bodyPr>
          <a:lstStyle/>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3-37</a:t>
            </a:r>
            <a:r>
              <a:rPr lang="zh-CN" altLang="en-US" i="1" dirty="0">
                <a:latin typeface="Times New Roman" panose="02020603050405020304" pitchFamily="18" charset="0"/>
                <a:cs typeface="Times New Roman" panose="02020603050405020304" pitchFamily="18" charset="0"/>
              </a:rPr>
              <a:t>：查询选修’</a:t>
            </a:r>
            <a:r>
              <a:rPr lang="en-GB" altLang="zh-CN" i="1" dirty="0">
                <a:latin typeface="Times New Roman" panose="02020603050405020304" pitchFamily="18" charset="0"/>
                <a:cs typeface="Times New Roman" panose="02020603050405020304" pitchFamily="18" charset="0"/>
              </a:rPr>
              <a:t>CS-01’</a:t>
            </a:r>
            <a:r>
              <a:rPr lang="zh-CN" altLang="en-US" i="1" dirty="0">
                <a:latin typeface="Times New Roman" panose="02020603050405020304" pitchFamily="18" charset="0"/>
                <a:cs typeface="Times New Roman" panose="02020603050405020304" pitchFamily="18" charset="0"/>
              </a:rPr>
              <a:t>课程的学生最高分数</a:t>
            </a:r>
            <a:endParaRPr lang="en-US" altLang="zh-CN" i="1" dirty="0">
              <a:latin typeface="Times New Roman" panose="02020603050405020304" pitchFamily="18" charset="0"/>
              <a:cs typeface="Times New Roman" panose="02020603050405020304" pitchFamily="18" charset="0"/>
            </a:endParaRPr>
          </a:p>
          <a:p>
            <a:pPr lvl="1" indent="0" algn="just">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indent="0" algn="just">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indent="0" algn="just">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marL="457200" lvl="1" indent="0">
              <a:buNone/>
            </a:pPr>
            <a:endParaRPr lang="en-US" altLang="zh-CN" dirty="0">
              <a:latin typeface="Times New Roman" panose="02020603050405020304" pitchFamily="18" charset="0"/>
              <a:cs typeface="Times New Roman" panose="02020603050405020304" pitchFamily="18" charset="0"/>
            </a:endParaRPr>
          </a:p>
          <a:p>
            <a:pPr lvl="1"/>
            <a:r>
              <a:rPr lang="zh-CN" altLang="en-US" i="1" dirty="0">
                <a:solidFill>
                  <a:schemeClr val="bg2">
                    <a:lumMod val="90000"/>
                  </a:schemeClr>
                </a:solidFill>
                <a:latin typeface="Times New Roman" panose="02020603050405020304" pitchFamily="18" charset="0"/>
                <a:cs typeface="Times New Roman" panose="02020603050405020304" pitchFamily="18" charset="0"/>
              </a:rPr>
              <a:t>例</a:t>
            </a:r>
            <a:r>
              <a:rPr lang="en-US" altLang="zh-CN" i="1" dirty="0">
                <a:solidFill>
                  <a:schemeClr val="bg2">
                    <a:lumMod val="90000"/>
                  </a:schemeClr>
                </a:solidFill>
                <a:latin typeface="Times New Roman" panose="02020603050405020304" pitchFamily="18" charset="0"/>
                <a:cs typeface="Times New Roman" panose="02020603050405020304" pitchFamily="18" charset="0"/>
              </a:rPr>
              <a:t>3-38</a:t>
            </a:r>
            <a:r>
              <a:rPr lang="zh-CN" altLang="en-US" i="1" dirty="0">
                <a:solidFill>
                  <a:schemeClr val="bg2">
                    <a:lumMod val="90000"/>
                  </a:schemeClr>
                </a:solidFill>
                <a:latin typeface="Times New Roman" panose="02020603050405020304" pitchFamily="18" charset="0"/>
                <a:cs typeface="Times New Roman" panose="02020603050405020304" pitchFamily="18" charset="0"/>
              </a:rPr>
              <a:t>：查询学生‘</a:t>
            </a:r>
            <a:r>
              <a:rPr lang="en-US" altLang="zh-CN" i="1" dirty="0">
                <a:solidFill>
                  <a:schemeClr val="bg2">
                    <a:lumMod val="90000"/>
                  </a:schemeClr>
                </a:solidFill>
                <a:latin typeface="Times New Roman" panose="02020603050405020304" pitchFamily="18" charset="0"/>
                <a:cs typeface="Times New Roman" panose="02020603050405020304" pitchFamily="18" charset="0"/>
              </a:rPr>
              <a:t>200215012’</a:t>
            </a:r>
            <a:r>
              <a:rPr lang="zh-CN" altLang="en-US" i="1" dirty="0">
                <a:solidFill>
                  <a:schemeClr val="bg2">
                    <a:lumMod val="90000"/>
                  </a:schemeClr>
                </a:solidFill>
                <a:latin typeface="Times New Roman" panose="02020603050405020304" pitchFamily="18" charset="0"/>
                <a:cs typeface="Times New Roman" panose="02020603050405020304" pitchFamily="18" charset="0"/>
              </a:rPr>
              <a:t>选修课程的总学分数</a:t>
            </a:r>
            <a:endParaRPr lang="en-US" altLang="zh-CN" i="1" dirty="0">
              <a:solidFill>
                <a:schemeClr val="bg2">
                  <a:lumMod val="90000"/>
                </a:schemeClr>
              </a:solidFill>
              <a:latin typeface="Times New Roman" panose="02020603050405020304" pitchFamily="18" charset="0"/>
              <a:cs typeface="Times New Roman" panose="02020603050405020304" pitchFamily="18" charset="0"/>
            </a:endParaRPr>
          </a:p>
          <a:p>
            <a:pPr lvl="1" indent="0" algn="just">
              <a:lnSpc>
                <a:spcPct val="130000"/>
              </a:lnSpc>
              <a:buNone/>
            </a:pPr>
            <a:r>
              <a:rPr lang="zh-CN" altLang="en-US" dirty="0">
                <a:solidFill>
                  <a:schemeClr val="bg2">
                    <a:lumMod val="90000"/>
                  </a:schemeClr>
                </a:solidFill>
                <a:latin typeface="Times New Roman" panose="02020603050405020304" pitchFamily="18" charset="0"/>
                <a:cs typeface="Times New Roman" panose="02020603050405020304" pitchFamily="18" charset="0"/>
              </a:rPr>
              <a:t>    </a:t>
            </a:r>
            <a:r>
              <a:rPr lang="en-US" altLang="zh-CN" dirty="0">
                <a:solidFill>
                  <a:schemeClr val="bg2">
                    <a:lumMod val="90000"/>
                  </a:schemeClr>
                </a:solidFill>
                <a:latin typeface="Times New Roman" panose="02020603050405020304" pitchFamily="18" charset="0"/>
                <a:cs typeface="Times New Roman" panose="02020603050405020304" pitchFamily="18" charset="0"/>
              </a:rPr>
              <a:t> </a:t>
            </a:r>
            <a:endParaRPr lang="en-US" altLang="zh-CN" dirty="0">
              <a:solidFill>
                <a:schemeClr val="bg2">
                  <a:lumMod val="90000"/>
                </a:schemeClr>
              </a:solidFill>
              <a:latin typeface="Times New Roman" panose="02020603050405020304" pitchFamily="18" charset="0"/>
              <a:cs typeface="Times New Roman" panose="02020603050405020304" pitchFamily="18" charset="0"/>
            </a:endParaRPr>
          </a:p>
          <a:p>
            <a:pPr lvl="1" indent="0" algn="just">
              <a:lnSpc>
                <a:spcPct val="130000"/>
              </a:lnSpc>
              <a:buNone/>
            </a:pPr>
            <a:r>
              <a:rPr lang="en-US" altLang="zh-CN" dirty="0">
                <a:solidFill>
                  <a:schemeClr val="bg2">
                    <a:lumMod val="90000"/>
                  </a:schemeClr>
                </a:solidFill>
                <a:latin typeface="Times New Roman" panose="02020603050405020304" pitchFamily="18" charset="0"/>
                <a:cs typeface="Times New Roman" panose="02020603050405020304" pitchFamily="18" charset="0"/>
              </a:rPr>
              <a:t>     </a:t>
            </a:r>
            <a:endParaRPr lang="en-US" altLang="zh-CN" dirty="0">
              <a:solidFill>
                <a:schemeClr val="bg2">
                  <a:lumMod val="90000"/>
                </a:schemeClr>
              </a:solidFill>
              <a:latin typeface="Times New Roman" panose="02020603050405020304" pitchFamily="18" charset="0"/>
              <a:cs typeface="Times New Roman" panose="02020603050405020304" pitchFamily="18" charset="0"/>
            </a:endParaRPr>
          </a:p>
          <a:p>
            <a:pPr lvl="1" indent="0" algn="just">
              <a:lnSpc>
                <a:spcPct val="130000"/>
              </a:lnSpc>
              <a:buNone/>
            </a:pPr>
            <a:r>
              <a:rPr lang="en-US" altLang="zh-CN" dirty="0">
                <a:solidFill>
                  <a:schemeClr val="bg2">
                    <a:lumMod val="90000"/>
                  </a:schemeClr>
                </a:solidFill>
                <a:latin typeface="Times New Roman" panose="02020603050405020304" pitchFamily="18" charset="0"/>
                <a:cs typeface="Times New Roman" panose="02020603050405020304" pitchFamily="18" charset="0"/>
              </a:rPr>
              <a:t>     </a:t>
            </a:r>
            <a:endParaRPr lang="en-US" altLang="zh-CN" dirty="0">
              <a:solidFill>
                <a:schemeClr val="bg2">
                  <a:lumMod val="90000"/>
                </a:schemeClr>
              </a:solidFill>
              <a:latin typeface="Times New Roman" panose="02020603050405020304" pitchFamily="18" charset="0"/>
              <a:cs typeface="Times New Roman" panose="02020603050405020304" pitchFamily="18" charset="0"/>
            </a:endParaRPr>
          </a:p>
          <a:p>
            <a:pPr lvl="1" indent="0" algn="just">
              <a:buNone/>
            </a:pPr>
            <a:endParaRPr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43354" y="1797292"/>
            <a:ext cx="6946388"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MAX(Grade)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=‘CS-01’</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243354" y="4361248"/>
            <a:ext cx="6946388" cy="118235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SELECT SUM(</a:t>
            </a:r>
            <a:r>
              <a:rPr lang="en-US" altLang="zh-CN" sz="2000" dirty="0" err="1">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Ccredit</a:t>
            </a: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FROM   SC</a:t>
            </a:r>
            <a:r>
              <a:rPr lang="zh-CN" altLang="en-US" sz="2000" dirty="0">
                <a:solidFill>
                  <a:schemeClr val="bg2">
                    <a:lumMod val="90000"/>
                  </a:schemeClr>
                </a:solidFill>
                <a:latin typeface="Cambria Math" panose="02040503050406030204" pitchFamily="18" charset="0"/>
                <a:cs typeface="Times New Roman" panose="02020603050405020304" pitchFamily="18" charset="0"/>
              </a:rPr>
              <a:t>，</a:t>
            </a: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Course</a:t>
            </a:r>
            <a:endPar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WHERE Sno=‘200215012’ AND </a:t>
            </a:r>
            <a:r>
              <a:rPr lang="en-US" altLang="zh-CN" sz="2000" dirty="0" err="1">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SC.Cno</a:t>
            </a: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Course.Cno</a:t>
            </a:r>
            <a:r>
              <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solidFill>
                <a:schemeClr val="bg2">
                  <a:lumMod val="90000"/>
                </a:schemeClr>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en-GB" altLang="zh-CN" sz="2600" dirty="0"/>
              <a:t>GROUP BY</a:t>
            </a:r>
            <a:r>
              <a:rPr kumimoji="1" lang="zh-CN" altLang="en-US" sz="2600" dirty="0"/>
              <a:t>子句 </a:t>
            </a:r>
            <a:endParaRPr kumimoji="1" lang="en-US" altLang="zh-CN" sz="2600" dirty="0"/>
          </a:p>
          <a:p>
            <a:pPr lvl="1" algn="just">
              <a:lnSpc>
                <a:spcPct val="140000"/>
              </a:lnSpc>
            </a:pPr>
            <a:r>
              <a:rPr lang="en-US" altLang="zh-CN" dirty="0">
                <a:latin typeface="Times New Roman" panose="02020603050405020304" pitchFamily="18" charset="0"/>
                <a:cs typeface="Times New Roman" panose="02020603050405020304" pitchFamily="18" charset="0"/>
              </a:rPr>
              <a:t>GROUP BY</a:t>
            </a:r>
            <a:r>
              <a:rPr lang="zh-CN" altLang="en-US" dirty="0">
                <a:latin typeface="Times New Roman" panose="02020603050405020304" pitchFamily="18" charset="0"/>
                <a:cs typeface="Times New Roman" panose="02020603050405020304" pitchFamily="18" charset="0"/>
              </a:rPr>
              <a:t>子句分组：</a:t>
            </a:r>
            <a:endParaRPr lang="zh-CN" altLang="en-US" dirty="0">
              <a:latin typeface="Times New Roman" panose="02020603050405020304" pitchFamily="18" charset="0"/>
              <a:cs typeface="Times New Roman" panose="02020603050405020304" pitchFamily="18" charset="0"/>
            </a:endParaRPr>
          </a:p>
          <a:p>
            <a:pPr lvl="2" algn="just">
              <a:lnSpc>
                <a:spcPct val="140000"/>
              </a:lnSpc>
            </a:pPr>
            <a:r>
              <a:rPr lang="zh-CN" altLang="en-US" sz="2400" dirty="0">
                <a:latin typeface="Times New Roman" panose="02020603050405020304" pitchFamily="18" charset="0"/>
                <a:cs typeface="Times New Roman" panose="02020603050405020304" pitchFamily="18" charset="0"/>
              </a:rPr>
              <a:t>细化聚集函数的作用对象</a:t>
            </a:r>
            <a:endParaRPr lang="zh-CN" altLang="en-US" sz="2400" dirty="0">
              <a:latin typeface="Times New Roman" panose="02020603050405020304" pitchFamily="18" charset="0"/>
              <a:cs typeface="Times New Roman" panose="02020603050405020304" pitchFamily="18" charset="0"/>
            </a:endParaRPr>
          </a:p>
          <a:p>
            <a:pPr lvl="2" algn="just">
              <a:lnSpc>
                <a:spcPct val="140000"/>
              </a:lnSpc>
            </a:pPr>
            <a:r>
              <a:rPr lang="zh-CN" altLang="en-US" sz="2400" dirty="0">
                <a:latin typeface="Times New Roman" panose="02020603050405020304" pitchFamily="18" charset="0"/>
                <a:cs typeface="Times New Roman" panose="02020603050405020304" pitchFamily="18" charset="0"/>
              </a:rPr>
              <a:t>未对查询结果分组，聚集函数将作用于整个查询结果</a:t>
            </a:r>
            <a:endParaRPr lang="zh-CN" altLang="en-US" sz="2400" dirty="0">
              <a:latin typeface="Times New Roman" panose="02020603050405020304" pitchFamily="18" charset="0"/>
              <a:cs typeface="Times New Roman" panose="02020603050405020304" pitchFamily="18" charset="0"/>
            </a:endParaRPr>
          </a:p>
          <a:p>
            <a:pPr lvl="2">
              <a:lnSpc>
                <a:spcPct val="140000"/>
              </a:lnSpc>
            </a:pPr>
            <a:r>
              <a:rPr lang="zh-CN" altLang="en-US" sz="2400" dirty="0">
                <a:latin typeface="Times New Roman" panose="02020603050405020304" pitchFamily="18" charset="0"/>
                <a:cs typeface="Times New Roman" panose="02020603050405020304" pitchFamily="18" charset="0"/>
              </a:rPr>
              <a:t>对查询结果分组后，聚集函数将分别作用于每个组 </a:t>
            </a:r>
            <a:endParaRPr lang="zh-CN" altLang="en-US" sz="2400" dirty="0">
              <a:latin typeface="Times New Roman" panose="02020603050405020304" pitchFamily="18" charset="0"/>
              <a:cs typeface="Times New Roman" panose="02020603050405020304" pitchFamily="18" charset="0"/>
            </a:endParaRPr>
          </a:p>
          <a:p>
            <a:pPr lvl="2">
              <a:lnSpc>
                <a:spcPct val="140000"/>
              </a:lnSpc>
            </a:pPr>
            <a:r>
              <a:rPr lang="zh-CN" altLang="en-US" sz="2400" dirty="0">
                <a:latin typeface="Times New Roman" panose="02020603050405020304" pitchFamily="18" charset="0"/>
                <a:cs typeface="Times New Roman" panose="02020603050405020304" pitchFamily="18" charset="0"/>
              </a:rPr>
              <a:t>作用对象是查询的</a:t>
            </a:r>
            <a:r>
              <a:rPr lang="zh-CN" altLang="en-US" sz="2400" dirty="0">
                <a:solidFill>
                  <a:srgbClr val="C00000"/>
                </a:solidFill>
                <a:latin typeface="Times New Roman" panose="02020603050405020304" pitchFamily="18" charset="0"/>
                <a:cs typeface="Times New Roman" panose="02020603050405020304" pitchFamily="18" charset="0"/>
              </a:rPr>
              <a:t>中间结果表</a:t>
            </a:r>
            <a:endParaRPr lang="zh-CN" altLang="en-US" sz="2400" dirty="0">
              <a:solidFill>
                <a:srgbClr val="C00000"/>
              </a:solidFill>
              <a:latin typeface="Times New Roman" panose="02020603050405020304" pitchFamily="18" charset="0"/>
              <a:cs typeface="Times New Roman" panose="02020603050405020304" pitchFamily="18" charset="0"/>
            </a:endParaRPr>
          </a:p>
          <a:p>
            <a:pPr lvl="2">
              <a:lnSpc>
                <a:spcPct val="140000"/>
              </a:lnSpc>
            </a:pPr>
            <a:r>
              <a:rPr lang="zh-CN" altLang="en-US" sz="2400" dirty="0">
                <a:latin typeface="Times New Roman" panose="02020603050405020304" pitchFamily="18" charset="0"/>
                <a:cs typeface="Times New Roman" panose="02020603050405020304" pitchFamily="18" charset="0"/>
              </a:rPr>
              <a:t>按指定的一列或多列值分组，值相等的为一组</a:t>
            </a:r>
            <a:endParaRPr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en-GB" altLang="zh-CN" sz="2600" dirty="0"/>
              <a:t>GROUP BY</a:t>
            </a:r>
            <a:r>
              <a:rPr kumimoji="1" lang="zh-CN" altLang="en-US" sz="2600" dirty="0"/>
              <a:t>子句 </a:t>
            </a:r>
            <a:endParaRPr kumimoji="1" lang="en-US" altLang="zh-CN" sz="2600" dirty="0"/>
          </a:p>
          <a:p>
            <a:pPr lvl="1" algn="just">
              <a:lnSpc>
                <a:spcPct val="14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3-39</a:t>
            </a:r>
            <a:r>
              <a:rPr lang="zh-CN" altLang="en-US" i="1" dirty="0">
                <a:latin typeface="Times New Roman" panose="02020603050405020304" pitchFamily="18" charset="0"/>
                <a:cs typeface="Times New Roman" panose="02020603050405020304" pitchFamily="18" charset="0"/>
              </a:rPr>
              <a:t>：求各个课程号及相应的选课人数</a:t>
            </a:r>
            <a:endParaRPr lang="en-US" altLang="zh-CN" i="1" dirty="0">
              <a:latin typeface="Times New Roman" panose="02020603050405020304" pitchFamily="18" charset="0"/>
              <a:cs typeface="Times New Roman" panose="02020603050405020304" pitchFamily="18" charset="0"/>
            </a:endParaRPr>
          </a:p>
          <a:p>
            <a:pPr algn="just">
              <a:lnSpc>
                <a:spcPct val="9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solidFill>
                <a:srgbClr val="FF6600"/>
              </a:solidFill>
              <a:latin typeface="Times New Roman" panose="02020603050405020304" pitchFamily="18" charset="0"/>
              <a:cs typeface="Times New Roman" panose="02020603050405020304" pitchFamily="18" charset="0"/>
            </a:endParaRPr>
          </a:p>
          <a:p>
            <a:pPr algn="just">
              <a:lnSpc>
                <a:spcPct val="9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gn="just">
              <a:lnSpc>
                <a:spcPct val="9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gn="just">
              <a:lnSpc>
                <a:spcPct val="90000"/>
              </a:lnSpc>
              <a:buNone/>
            </a:pPr>
            <a:endParaRPr lang="en-US" altLang="zh-CN" sz="2400" b="0" dirty="0">
              <a:latin typeface="Times New Roman" panose="02020603050405020304" pitchFamily="18" charset="0"/>
              <a:cs typeface="Times New Roman" panose="02020603050405020304" pitchFamily="18" charset="0"/>
            </a:endParaRPr>
          </a:p>
          <a:p>
            <a:pPr lvl="1">
              <a:lnSpc>
                <a:spcPct val="90000"/>
              </a:lnSpc>
              <a:buNone/>
            </a:pPr>
            <a:r>
              <a:rPr lang="en-US" altLang="zh-CN" b="0" i="1" dirty="0">
                <a:latin typeface="Times New Roman" panose="02020603050405020304" pitchFamily="18" charset="0"/>
                <a:cs typeface="Times New Roman" panose="02020603050405020304" pitchFamily="18" charset="0"/>
              </a:rPr>
              <a:t>Q</a:t>
            </a:r>
            <a:r>
              <a:rPr lang="zh-CN" altLang="en-US" b="0" i="1" dirty="0">
                <a:latin typeface="Times New Roman" panose="02020603050405020304" pitchFamily="18" charset="0"/>
                <a:cs typeface="Times New Roman" panose="02020603050405020304" pitchFamily="18" charset="0"/>
              </a:rPr>
              <a:t>：平均成绩最高的学生学号及成绩</a:t>
            </a:r>
            <a:endParaRPr lang="zh-CN" altLang="en-US" b="0" i="1" dirty="0">
              <a:latin typeface="Times New Roman" panose="02020603050405020304" pitchFamily="18" charset="0"/>
              <a:cs typeface="Times New Roman" panose="02020603050405020304" pitchFamily="18" charset="0"/>
            </a:endParaRPr>
          </a:p>
          <a:p>
            <a:pPr lvl="1">
              <a:lnSpc>
                <a:spcPct val="150000"/>
              </a:lnSpc>
              <a:buNone/>
            </a:pPr>
            <a:r>
              <a:rPr lang="en-US" altLang="zh-CN" b="0" dirty="0">
                <a:latin typeface="Times New Roman" panose="02020603050405020304" pitchFamily="18" charset="0"/>
                <a:cs typeface="Times New Roman" panose="02020603050405020304" pitchFamily="18" charset="0"/>
              </a:rPr>
              <a:t>     </a:t>
            </a:r>
            <a:r>
              <a:rPr lang="en-US" altLang="zh-CN" b="0" dirty="0">
                <a:solidFill>
                  <a:srgbClr val="990099"/>
                </a:solidFill>
                <a:latin typeface="Times New Roman" panose="02020603050405020304" pitchFamily="18" charset="0"/>
                <a:cs typeface="Times New Roman" panose="02020603050405020304" pitchFamily="18" charset="0"/>
              </a:rPr>
              <a:t> </a:t>
            </a:r>
            <a:endParaRPr lang="en-US" altLang="zh-CN" b="0" dirty="0">
              <a:solidFill>
                <a:srgbClr val="990099"/>
              </a:solidFill>
              <a:latin typeface="Times New Roman" panose="02020603050405020304" pitchFamily="18" charset="0"/>
              <a:cs typeface="Times New Roman" panose="02020603050405020304" pitchFamily="18" charset="0"/>
            </a:endParaRPr>
          </a:p>
          <a:p>
            <a:pPr lvl="1">
              <a:lnSpc>
                <a:spcPct val="90000"/>
              </a:lnSpc>
              <a:buNone/>
            </a:pPr>
            <a:r>
              <a:rPr lang="en-US" altLang="zh-CN" b="0" dirty="0">
                <a:solidFill>
                  <a:srgbClr val="990099"/>
                </a:solidFill>
                <a:latin typeface="Times New Roman" panose="02020603050405020304" pitchFamily="18" charset="0"/>
                <a:cs typeface="Times New Roman" panose="02020603050405020304" pitchFamily="18" charset="0"/>
              </a:rPr>
              <a:t>      </a:t>
            </a:r>
            <a:endParaRPr lang="en-US" altLang="zh-CN" b="0" dirty="0">
              <a:solidFill>
                <a:srgbClr val="990099"/>
              </a:solidFill>
              <a:latin typeface="Times New Roman" panose="02020603050405020304" pitchFamily="18" charset="0"/>
              <a:cs typeface="Times New Roman" panose="02020603050405020304" pitchFamily="18" charset="0"/>
            </a:endParaRPr>
          </a:p>
          <a:p>
            <a:pPr lvl="1">
              <a:lnSpc>
                <a:spcPct val="90000"/>
              </a:lnSpc>
              <a:buNone/>
            </a:pPr>
            <a:r>
              <a:rPr lang="en-US" altLang="zh-CN" b="0" dirty="0">
                <a:solidFill>
                  <a:srgbClr val="990099"/>
                </a:solidFill>
                <a:latin typeface="Times New Roman" panose="02020603050405020304" pitchFamily="18" charset="0"/>
                <a:cs typeface="Times New Roman" panose="02020603050405020304" pitchFamily="18" charset="0"/>
              </a:rPr>
              <a:t>      </a:t>
            </a:r>
            <a:endParaRPr lang="en-US" altLang="zh-CN" b="0" dirty="0">
              <a:solidFill>
                <a:srgbClr val="990099"/>
              </a:solidFill>
              <a:latin typeface="Times New Roman" panose="02020603050405020304" pitchFamily="18" charset="0"/>
              <a:cs typeface="Times New Roman" panose="02020603050405020304" pitchFamily="18" charset="0"/>
            </a:endParaRPr>
          </a:p>
          <a:p>
            <a:pPr algn="just">
              <a:lnSpc>
                <a:spcPct val="90000"/>
              </a:lnSpc>
              <a:buNone/>
            </a:pPr>
            <a:endParaRPr lang="zh-CN" altLang="en-US"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aphicFrame>
        <p:nvGraphicFramePr>
          <p:cNvPr id="6" name="Object 45"/>
          <p:cNvGraphicFramePr>
            <a:graphicFrameLocks noChangeAspect="1"/>
          </p:cNvGraphicFramePr>
          <p:nvPr/>
        </p:nvGraphicFramePr>
        <p:xfrm>
          <a:off x="7737865" y="1314225"/>
          <a:ext cx="3163497" cy="5185049"/>
        </p:xfrm>
        <a:graphic>
          <a:graphicData uri="http://schemas.openxmlformats.org/presentationml/2006/ole">
            <mc:AlternateContent xmlns:mc="http://schemas.openxmlformats.org/markup-compatibility/2006">
              <mc:Choice xmlns:v="urn:schemas-microsoft-com:vml" Requires="v">
                <p:oleObj spid="_x0000_s3074" name="位图图像" r:id="rId1" imgW="1952625" imgH="3200400" progId="PBrush">
                  <p:embed/>
                </p:oleObj>
              </mc:Choice>
              <mc:Fallback>
                <p:oleObj name="位图图像" r:id="rId1" imgW="1952625" imgH="3200400" progId="PBrush">
                  <p:embed/>
                  <p:pic>
                    <p:nvPicPr>
                      <p:cNvPr id="0" name="Object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865" y="1314225"/>
                        <a:ext cx="3163497" cy="5185049"/>
                      </a:xfrm>
                      <a:prstGeom prst="rect">
                        <a:avLst/>
                      </a:prstGeom>
                      <a:noFill/>
                      <a:ln>
                        <a:noFill/>
                      </a:ln>
                      <a:effectLst/>
                    </p:spPr>
                  </p:pic>
                </p:oleObj>
              </mc:Fallback>
            </mc:AlternateContent>
          </a:graphicData>
        </a:graphic>
      </p:graphicFrame>
      <p:sp>
        <p:nvSpPr>
          <p:cNvPr id="7" name="文本框 6"/>
          <p:cNvSpPr txBox="1"/>
          <p:nvPr/>
        </p:nvSpPr>
        <p:spPr bwMode="auto">
          <a:xfrm>
            <a:off x="1149961" y="2380712"/>
            <a:ext cx="6052697"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Cno</a:t>
            </a:r>
            <a:r>
              <a:rPr lang="zh-CN" altLang="en-US" sz="2000" dirty="0">
                <a:latin typeface="Cambria Math" panose="02040503050406030204" pitchFamily="18" charset="0"/>
                <a:cs typeface="Times New Roman" panose="02020603050405020304" pitchFamily="18" charset="0"/>
              </a:rPr>
              <a:t>，</a:t>
            </a:r>
            <a:r>
              <a:rPr lang="en-US" altLang="zh-CN" sz="20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COUNT(Sno)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GROUP BY</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Cno</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
        <p:nvSpPr>
          <p:cNvPr id="8" name="文本框 7"/>
          <p:cNvSpPr txBox="1"/>
          <p:nvPr/>
        </p:nvSpPr>
        <p:spPr bwMode="auto">
          <a:xfrm>
            <a:off x="1149961" y="4616701"/>
            <a:ext cx="6052697" cy="118235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rPr>
              <a:t>SELECT S#, MAX(AVG(Grade))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rPr>
              <a:t>GROUP BY S#</a:t>
            </a:r>
            <a:endPar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en-GB" altLang="zh-CN" sz="2600" dirty="0"/>
              <a:t>GROUP BY</a:t>
            </a:r>
            <a:r>
              <a:rPr kumimoji="1" lang="zh-CN" altLang="en-US" sz="2600" dirty="0"/>
              <a:t>子句 </a:t>
            </a:r>
            <a:endParaRPr kumimoji="1" lang="en-US" altLang="zh-CN" sz="2600" dirty="0"/>
          </a:p>
          <a:p>
            <a:pPr algn="just">
              <a:lnSpc>
                <a:spcPct val="90000"/>
              </a:lnSpc>
              <a:buNone/>
            </a:pPr>
            <a:endParaRPr lang="zh-CN" altLang="en-US"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185139"/>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aphicFrame>
        <p:nvGraphicFramePr>
          <p:cNvPr id="7" name="Group 99"/>
          <p:cNvGraphicFramePr>
            <a:graphicFrameLocks noGrp="1"/>
          </p:cNvGraphicFramePr>
          <p:nvPr/>
        </p:nvGraphicFramePr>
        <p:xfrm>
          <a:off x="3119452" y="2451100"/>
          <a:ext cx="2362200" cy="3170240"/>
        </p:xfrm>
        <a:graphic>
          <a:graphicData uri="http://schemas.openxmlformats.org/drawingml/2006/table">
            <a:tbl>
              <a:tblPr/>
              <a:tblGrid>
                <a:gridCol w="787400"/>
                <a:gridCol w="787400"/>
                <a:gridCol w="787400"/>
              </a:tblGrid>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SNO</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CNO</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G</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c1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84</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90</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c3</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96</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s2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c1</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80</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s2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90</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s3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96</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s3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c3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folHlink"/>
                          </a:solidFill>
                          <a:effectLst/>
                          <a:latin typeface="宋体" panose="02010600030101010101" pitchFamily="2" charset="-122"/>
                          <a:ea typeface="宋体" panose="02010600030101010101" pitchFamily="2" charset="-122"/>
                        </a:rPr>
                        <a:t>88</a:t>
                      </a:r>
                      <a:endParaRPr kumimoji="0" lang="en-US" altLang="zh-CN" sz="2000" b="1" i="0" u="none" strike="noStrike" cap="none" normalizeH="0" baseline="0" dirty="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 name="WordArt 41" descr="白色大理石"/>
          <p:cNvSpPr>
            <a:spLocks noChangeArrowheads="1" noChangeShapeType="1" noTextEdit="1"/>
          </p:cNvSpPr>
          <p:nvPr/>
        </p:nvSpPr>
        <p:spPr bwMode="auto">
          <a:xfrm>
            <a:off x="2433652" y="2852738"/>
            <a:ext cx="571500" cy="914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FFFF"/>
              </a:contourClr>
            </a:sp3d>
          </a:bodyPr>
          <a:lstStyle/>
          <a:p>
            <a:pPr algn="ctr"/>
            <a:r>
              <a:rPr lang="en-US" altLang="zh-CN" sz="3600" kern="10">
                <a:ln w="9525">
                  <a:round/>
                </a:ln>
                <a:blipFill dpi="0" rotWithShape="0">
                  <a:blip r:embed="rId1"/>
                  <a:srcRect/>
                  <a:tile tx="0" ty="0" sx="100000" sy="100000" flip="none" algn="tl"/>
                </a:blipFill>
                <a:latin typeface="隶书" panose="02010509060101010101" charset="-122"/>
              </a:rPr>
              <a:t>{</a:t>
            </a:r>
            <a:endParaRPr lang="zh-CN" altLang="en-US" sz="3600" kern="10">
              <a:ln w="9525">
                <a:round/>
              </a:ln>
              <a:blipFill dpi="0" rotWithShape="0">
                <a:blip r:embed="rId1"/>
                <a:srcRect/>
                <a:tile tx="0" ty="0" sx="100000" sy="100000" flip="none" algn="tl"/>
              </a:blipFill>
              <a:latin typeface="隶书" panose="02010509060101010101" charset="-122"/>
            </a:endParaRPr>
          </a:p>
        </p:txBody>
      </p:sp>
      <p:sp>
        <p:nvSpPr>
          <p:cNvPr id="9" name="WordArt 42" descr="白色大理石"/>
          <p:cNvSpPr>
            <a:spLocks noChangeArrowheads="1" noChangeShapeType="1" noTextEdit="1"/>
          </p:cNvSpPr>
          <p:nvPr/>
        </p:nvSpPr>
        <p:spPr bwMode="auto">
          <a:xfrm>
            <a:off x="2433652" y="4071938"/>
            <a:ext cx="571500" cy="609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FFFF"/>
              </a:contourClr>
            </a:sp3d>
          </a:bodyPr>
          <a:lstStyle/>
          <a:p>
            <a:pPr algn="ctr"/>
            <a:r>
              <a:rPr lang="en-US" altLang="zh-CN" sz="3600" kern="10">
                <a:ln w="9525">
                  <a:round/>
                </a:ln>
                <a:blipFill dpi="0" rotWithShape="0">
                  <a:blip r:embed="rId1"/>
                  <a:srcRect/>
                  <a:tile tx="0" ty="0" sx="100000" sy="100000" flip="none" algn="tl"/>
                </a:blipFill>
                <a:latin typeface="隶书" panose="02010509060101010101" charset="-122"/>
              </a:rPr>
              <a:t>{</a:t>
            </a:r>
            <a:endParaRPr lang="zh-CN" altLang="en-US" sz="3600" kern="10">
              <a:ln w="9525">
                <a:round/>
              </a:ln>
              <a:blipFill dpi="0" rotWithShape="0">
                <a:blip r:embed="rId1"/>
                <a:srcRect/>
                <a:tile tx="0" ty="0" sx="100000" sy="100000" flip="none" algn="tl"/>
              </a:blipFill>
              <a:latin typeface="隶书" panose="02010509060101010101" charset="-122"/>
            </a:endParaRPr>
          </a:p>
        </p:txBody>
      </p:sp>
      <p:sp>
        <p:nvSpPr>
          <p:cNvPr id="10" name="WordArt 43" descr="白色大理石"/>
          <p:cNvSpPr>
            <a:spLocks noChangeArrowheads="1" noChangeShapeType="1" noTextEdit="1"/>
          </p:cNvSpPr>
          <p:nvPr/>
        </p:nvSpPr>
        <p:spPr bwMode="auto">
          <a:xfrm>
            <a:off x="2433652" y="4986338"/>
            <a:ext cx="571500" cy="609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FFFF"/>
              </a:contourClr>
            </a:sp3d>
          </a:bodyPr>
          <a:lstStyle/>
          <a:p>
            <a:pPr algn="ctr"/>
            <a:r>
              <a:rPr lang="en-US" altLang="zh-CN" sz="3600" kern="10">
                <a:ln w="9525">
                  <a:round/>
                </a:ln>
                <a:blipFill dpi="0" rotWithShape="0">
                  <a:blip r:embed="rId1"/>
                  <a:srcRect/>
                  <a:tile tx="0" ty="0" sx="100000" sy="100000" flip="none" algn="tl"/>
                </a:blipFill>
                <a:latin typeface="隶书" panose="02010509060101010101" charset="-122"/>
              </a:rPr>
              <a:t>{</a:t>
            </a:r>
            <a:endParaRPr lang="zh-CN" altLang="en-US" sz="3600" kern="10">
              <a:ln w="9525">
                <a:round/>
              </a:ln>
              <a:blipFill dpi="0" rotWithShape="0">
                <a:blip r:embed="rId1"/>
                <a:srcRect/>
                <a:tile tx="0" ty="0" sx="100000" sy="100000" flip="none" algn="tl"/>
              </a:blipFill>
              <a:latin typeface="隶书" panose="02010509060101010101" charset="-122"/>
            </a:endParaRPr>
          </a:p>
        </p:txBody>
      </p:sp>
      <p:sp>
        <p:nvSpPr>
          <p:cNvPr id="11" name="Text Box 93"/>
          <p:cNvSpPr txBox="1">
            <a:spLocks noChangeArrowheads="1"/>
          </p:cNvSpPr>
          <p:nvPr/>
        </p:nvSpPr>
        <p:spPr bwMode="auto">
          <a:xfrm>
            <a:off x="1976452" y="50498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a:latin typeface="Tahoma" panose="020B0604030504040204" pitchFamily="34" charset="0"/>
              </a:rPr>
              <a:t>92</a:t>
            </a:r>
            <a:endParaRPr lang="en-US" altLang="zh-CN" sz="2400">
              <a:latin typeface="Tahoma" panose="020B0604030504040204" pitchFamily="34" charset="0"/>
            </a:endParaRPr>
          </a:p>
        </p:txBody>
      </p:sp>
      <p:sp>
        <p:nvSpPr>
          <p:cNvPr id="12" name="Text Box 94"/>
          <p:cNvSpPr txBox="1">
            <a:spLocks noChangeArrowheads="1"/>
          </p:cNvSpPr>
          <p:nvPr/>
        </p:nvSpPr>
        <p:spPr bwMode="auto">
          <a:xfrm>
            <a:off x="1976452" y="41354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a:latin typeface="Tahoma" panose="020B0604030504040204" pitchFamily="34" charset="0"/>
              </a:rPr>
              <a:t>85</a:t>
            </a:r>
            <a:endParaRPr lang="en-US" altLang="zh-CN" sz="2400">
              <a:latin typeface="Tahoma" panose="020B0604030504040204" pitchFamily="34" charset="0"/>
            </a:endParaRPr>
          </a:p>
        </p:txBody>
      </p:sp>
      <p:sp>
        <p:nvSpPr>
          <p:cNvPr id="13" name="Text Box 95"/>
          <p:cNvSpPr txBox="1">
            <a:spLocks noChangeArrowheads="1"/>
          </p:cNvSpPr>
          <p:nvPr/>
        </p:nvSpPr>
        <p:spPr bwMode="auto">
          <a:xfrm>
            <a:off x="1976452" y="30686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dirty="0">
                <a:latin typeface="Tahoma" panose="020B0604030504040204" pitchFamily="34" charset="0"/>
              </a:rPr>
              <a:t>90</a:t>
            </a:r>
            <a:endParaRPr lang="en-US" altLang="zh-CN" sz="2400" dirty="0">
              <a:latin typeface="Tahoma" panose="020B0604030504040204" pitchFamily="34" charset="0"/>
            </a:endParaRPr>
          </a:p>
        </p:txBody>
      </p:sp>
      <p:graphicFrame>
        <p:nvGraphicFramePr>
          <p:cNvPr id="25" name="Group 100"/>
          <p:cNvGraphicFramePr>
            <a:graphicFrameLocks noGrp="1"/>
          </p:cNvGraphicFramePr>
          <p:nvPr/>
        </p:nvGraphicFramePr>
        <p:xfrm>
          <a:off x="7129474" y="2451100"/>
          <a:ext cx="2362200" cy="3170240"/>
        </p:xfrm>
        <a:graphic>
          <a:graphicData uri="http://schemas.openxmlformats.org/drawingml/2006/table">
            <a:tbl>
              <a:tblPr/>
              <a:tblGrid>
                <a:gridCol w="787400"/>
                <a:gridCol w="787400"/>
                <a:gridCol w="787400"/>
              </a:tblGrid>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SNO</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CNO</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G</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c1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84</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90</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s1</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c3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96</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s2</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c1</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rPr>
                        <a:t>80</a:t>
                      </a:r>
                      <a:endParaRPr kumimoji="0" lang="en-US" altLang="zh-CN" sz="2000" b="1" i="0" u="none" strike="noStrike" cap="none" normalizeH="0" baseline="0">
                        <a:ln>
                          <a:noFill/>
                        </a:ln>
                        <a:solidFill>
                          <a:schemeClr val="accent1"/>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s2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90</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s3</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c2</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rPr>
                        <a:t>96</a:t>
                      </a:r>
                      <a:endParaRPr kumimoji="0" lang="en-US" altLang="zh-CN" sz="2000" b="1" i="0" u="none" strike="noStrike" cap="none" normalizeH="0" baseline="0">
                        <a:ln>
                          <a:noFill/>
                        </a:ln>
                        <a:solidFill>
                          <a:schemeClr va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s3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rPr>
                        <a:t>c3</a:t>
                      </a:r>
                      <a:endParaRPr kumimoji="0" lang="en-US" altLang="zh-CN" sz="2000" b="1" i="0" u="none" strike="noStrike" cap="none" normalizeH="0" baseline="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folHlink"/>
                          </a:solidFill>
                          <a:effectLst/>
                          <a:latin typeface="宋体" panose="02010600030101010101" pitchFamily="2" charset="-122"/>
                          <a:ea typeface="宋体" panose="02010600030101010101" pitchFamily="2" charset="-122"/>
                        </a:rPr>
                        <a:t>88</a:t>
                      </a:r>
                      <a:endParaRPr kumimoji="0" lang="en-US" altLang="zh-CN" sz="2000" b="1" i="0" u="none" strike="noStrike" cap="none" normalizeH="0" baseline="0" dirty="0">
                        <a:ln>
                          <a:noFill/>
                        </a:ln>
                        <a:solidFill>
                          <a:schemeClr val="folHlink"/>
                        </a:solidFill>
                        <a:effectLst/>
                        <a:latin typeface="宋体" panose="02010600030101010101" pitchFamily="2" charset="-122"/>
                        <a:ea typeface="宋体" panose="02010600030101010101" pitchFamily="2" charset="-122"/>
                      </a:endParaRPr>
                    </a:p>
                  </a:txBody>
                  <a:tcPr marT="45725" marB="45725"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26" name="Line 82"/>
          <p:cNvSpPr>
            <a:spLocks noChangeShapeType="1"/>
          </p:cNvSpPr>
          <p:nvPr/>
        </p:nvSpPr>
        <p:spPr bwMode="auto">
          <a:xfrm flipV="1">
            <a:off x="9491674" y="3179763"/>
            <a:ext cx="533400" cy="1114425"/>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7" name="Line 83"/>
          <p:cNvSpPr>
            <a:spLocks noChangeShapeType="1"/>
          </p:cNvSpPr>
          <p:nvPr/>
        </p:nvSpPr>
        <p:spPr bwMode="auto">
          <a:xfrm>
            <a:off x="9491674" y="2889250"/>
            <a:ext cx="533400" cy="3048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8" name="Line 84"/>
          <p:cNvSpPr>
            <a:spLocks noChangeShapeType="1"/>
          </p:cNvSpPr>
          <p:nvPr/>
        </p:nvSpPr>
        <p:spPr bwMode="auto">
          <a:xfrm flipV="1">
            <a:off x="9491674" y="5127625"/>
            <a:ext cx="457200" cy="5334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9" name="Line 85"/>
          <p:cNvSpPr>
            <a:spLocks noChangeShapeType="1"/>
          </p:cNvSpPr>
          <p:nvPr/>
        </p:nvSpPr>
        <p:spPr bwMode="auto">
          <a:xfrm>
            <a:off x="9491674" y="3789363"/>
            <a:ext cx="457200" cy="13716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 name="Line 86"/>
          <p:cNvSpPr>
            <a:spLocks noChangeShapeType="1"/>
          </p:cNvSpPr>
          <p:nvPr/>
        </p:nvSpPr>
        <p:spPr bwMode="auto">
          <a:xfrm flipV="1">
            <a:off x="9491674" y="4337050"/>
            <a:ext cx="533400" cy="8382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1" name="Line 87"/>
          <p:cNvSpPr>
            <a:spLocks noChangeShapeType="1"/>
          </p:cNvSpPr>
          <p:nvPr/>
        </p:nvSpPr>
        <p:spPr bwMode="auto">
          <a:xfrm flipV="1">
            <a:off x="9491674" y="4337050"/>
            <a:ext cx="533400" cy="3810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2" name="Line 88"/>
          <p:cNvSpPr>
            <a:spLocks noChangeShapeType="1"/>
          </p:cNvSpPr>
          <p:nvPr/>
        </p:nvSpPr>
        <p:spPr bwMode="auto">
          <a:xfrm>
            <a:off x="9491674" y="3360738"/>
            <a:ext cx="533400" cy="990600"/>
          </a:xfrm>
          <a:prstGeom prst="line">
            <a:avLst/>
          </a:prstGeom>
          <a:noFill/>
          <a:ln w="1905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3" name="Text Box 96"/>
          <p:cNvSpPr txBox="1">
            <a:spLocks noChangeArrowheads="1"/>
          </p:cNvSpPr>
          <p:nvPr/>
        </p:nvSpPr>
        <p:spPr bwMode="auto">
          <a:xfrm>
            <a:off x="10020312" y="48704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a:latin typeface="Tahoma" panose="020B0604030504040204" pitchFamily="34" charset="0"/>
              </a:rPr>
              <a:t>92</a:t>
            </a:r>
            <a:endParaRPr lang="en-US" altLang="zh-CN" sz="2400">
              <a:latin typeface="Tahoma" panose="020B0604030504040204" pitchFamily="34" charset="0"/>
            </a:endParaRPr>
          </a:p>
        </p:txBody>
      </p:sp>
      <p:sp>
        <p:nvSpPr>
          <p:cNvPr id="34" name="Text Box 97"/>
          <p:cNvSpPr txBox="1">
            <a:spLocks noChangeArrowheads="1"/>
          </p:cNvSpPr>
          <p:nvPr/>
        </p:nvSpPr>
        <p:spPr bwMode="auto">
          <a:xfrm>
            <a:off x="10020312" y="41084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a:latin typeface="Tahoma" panose="020B0604030504040204" pitchFamily="34" charset="0"/>
              </a:rPr>
              <a:t>92</a:t>
            </a:r>
            <a:endParaRPr lang="en-US" altLang="zh-CN" sz="2400">
              <a:latin typeface="Tahoma" panose="020B0604030504040204" pitchFamily="34" charset="0"/>
            </a:endParaRPr>
          </a:p>
        </p:txBody>
      </p:sp>
      <p:sp>
        <p:nvSpPr>
          <p:cNvPr id="35" name="Text Box 98"/>
          <p:cNvSpPr txBox="1">
            <a:spLocks noChangeArrowheads="1"/>
          </p:cNvSpPr>
          <p:nvPr/>
        </p:nvSpPr>
        <p:spPr bwMode="auto">
          <a:xfrm>
            <a:off x="10020312" y="29654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2400">
                <a:latin typeface="Tahoma" panose="020B0604030504040204" pitchFamily="34" charset="0"/>
              </a:rPr>
              <a:t>90</a:t>
            </a:r>
            <a:endParaRPr lang="en-US" altLang="zh-CN" sz="2400">
              <a:latin typeface="Tahoma" panose="020B0604030504040204" pitchFamily="34" charset="0"/>
            </a:endParaRPr>
          </a:p>
        </p:txBody>
      </p:sp>
      <p:sp>
        <p:nvSpPr>
          <p:cNvPr id="38" name="文本框 37"/>
          <p:cNvSpPr txBox="1"/>
          <p:nvPr/>
        </p:nvSpPr>
        <p:spPr>
          <a:xfrm>
            <a:off x="2632820" y="1947784"/>
            <a:ext cx="3335464" cy="397032"/>
          </a:xfrm>
          <a:prstGeom prst="rect">
            <a:avLst/>
          </a:prstGeom>
          <a:noFill/>
        </p:spPr>
        <p:txBody>
          <a:bodyPr wrap="square">
            <a:spAutoFit/>
          </a:bodyPr>
          <a:lstStyle/>
          <a:p>
            <a:pPr algn="just">
              <a:lnSpc>
                <a:spcPct val="90000"/>
              </a:lnSpc>
              <a:buNone/>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列出每个学生的平均成绩</a:t>
            </a:r>
            <a:endParaRPr lang="zh-CN"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p:cNvSpPr txBox="1"/>
          <p:nvPr/>
        </p:nvSpPr>
        <p:spPr>
          <a:xfrm>
            <a:off x="6642842" y="1945520"/>
            <a:ext cx="3335464" cy="397032"/>
          </a:xfrm>
          <a:prstGeom prst="rect">
            <a:avLst/>
          </a:prstGeom>
          <a:noFill/>
        </p:spPr>
        <p:txBody>
          <a:bodyPr wrap="square">
            <a:spAutoFit/>
          </a:bodyPr>
          <a:lstStyle/>
          <a:p>
            <a:pPr algn="just">
              <a:lnSpc>
                <a:spcPct val="90000"/>
              </a:lnSpc>
              <a:buNone/>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列出每门课程的平均成绩</a:t>
            </a:r>
            <a:endParaRPr lang="zh-CN"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Rectangle 91"/>
          <p:cNvSpPr>
            <a:spLocks noChangeArrowheads="1"/>
          </p:cNvSpPr>
          <p:nvPr/>
        </p:nvSpPr>
        <p:spPr bwMode="auto">
          <a:xfrm>
            <a:off x="3261228" y="5748261"/>
            <a:ext cx="20786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1" dirty="0">
                <a:latin typeface="Times New Roman" panose="02020603050405020304" pitchFamily="18" charset="0"/>
                <a:ea typeface="华文行楷" panose="02010800040101010101" pitchFamily="2" charset="-122"/>
                <a:cs typeface="Times New Roman" panose="02020603050405020304" pitchFamily="18" charset="0"/>
              </a:rPr>
              <a:t>group by SNO</a:t>
            </a:r>
            <a:endParaRPr lang="en-US" altLang="zh-CN" sz="2400" b="1" dirty="0">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41" name="Rectangle 91"/>
          <p:cNvSpPr>
            <a:spLocks noChangeArrowheads="1"/>
          </p:cNvSpPr>
          <p:nvPr/>
        </p:nvSpPr>
        <p:spPr bwMode="auto">
          <a:xfrm>
            <a:off x="7387380" y="5742285"/>
            <a:ext cx="21299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1" dirty="0">
                <a:latin typeface="Times New Roman" panose="02020603050405020304" pitchFamily="18" charset="0"/>
                <a:ea typeface="华文行楷" panose="02010800040101010101" pitchFamily="2" charset="-122"/>
                <a:cs typeface="Times New Roman" panose="02020603050405020304" pitchFamily="18" charset="0"/>
              </a:rPr>
              <a:t>group by CNO</a:t>
            </a:r>
            <a:endParaRPr lang="en-US" altLang="zh-CN" sz="2400" b="1" dirty="0">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en-GB" altLang="zh-CN" sz="2600" dirty="0">
                <a:latin typeface="Times New Roman" panose="02020603050405020304" pitchFamily="18" charset="0"/>
                <a:cs typeface="Times New Roman" panose="02020603050405020304" pitchFamily="18" charset="0"/>
              </a:rPr>
              <a:t>HAVING</a:t>
            </a:r>
            <a:r>
              <a:rPr kumimoji="1" lang="zh-CN" altLang="en-US" sz="2600" dirty="0">
                <a:latin typeface="Times New Roman" panose="02020603050405020304" pitchFamily="18" charset="0"/>
                <a:cs typeface="Times New Roman" panose="02020603050405020304" pitchFamily="18" charset="0"/>
              </a:rPr>
              <a:t>短语</a:t>
            </a:r>
            <a:endParaRPr kumimoji="1" lang="en-US" altLang="zh-CN" sz="2600" dirty="0">
              <a:latin typeface="Times New Roman" panose="02020603050405020304" pitchFamily="18" charset="0"/>
              <a:cs typeface="Times New Roman" panose="02020603050405020304" pitchFamily="18" charset="0"/>
            </a:endParaRPr>
          </a:p>
          <a:p>
            <a:pPr lvl="1" algn="just">
              <a:lnSpc>
                <a:spcPct val="200000"/>
              </a:lnSpc>
            </a:pPr>
            <a:r>
              <a:rPr lang="en-US" altLang="zh-CN" sz="2600" dirty="0">
                <a:latin typeface="Times New Roman" panose="02020603050405020304" pitchFamily="18" charset="0"/>
                <a:cs typeface="Times New Roman" panose="02020603050405020304" pitchFamily="18" charset="0"/>
              </a:rPr>
              <a:t>HAVING</a:t>
            </a:r>
            <a:r>
              <a:rPr lang="zh-CN" altLang="en-US" sz="2600" dirty="0">
                <a:latin typeface="Times New Roman" panose="02020603050405020304" pitchFamily="18" charset="0"/>
                <a:cs typeface="Times New Roman" panose="02020603050405020304" pitchFamily="18" charset="0"/>
              </a:rPr>
              <a:t>短语与</a:t>
            </a:r>
            <a:r>
              <a:rPr lang="en-US" altLang="zh-CN" sz="2600" dirty="0">
                <a:latin typeface="Times New Roman" panose="02020603050405020304" pitchFamily="18" charset="0"/>
                <a:cs typeface="Times New Roman" panose="02020603050405020304" pitchFamily="18" charset="0"/>
              </a:rPr>
              <a:t>WHERE</a:t>
            </a:r>
            <a:r>
              <a:rPr lang="zh-CN" altLang="en-US" sz="2600" dirty="0">
                <a:latin typeface="Times New Roman" panose="02020603050405020304" pitchFamily="18" charset="0"/>
                <a:cs typeface="Times New Roman" panose="02020603050405020304" pitchFamily="18" charset="0"/>
              </a:rPr>
              <a:t>子句的区别：</a:t>
            </a:r>
            <a:endParaRPr lang="zh-CN" altLang="en-US" sz="2600" dirty="0">
              <a:latin typeface="Times New Roman" panose="02020603050405020304" pitchFamily="18" charset="0"/>
              <a:cs typeface="Times New Roman" panose="02020603050405020304" pitchFamily="18" charset="0"/>
            </a:endParaRPr>
          </a:p>
          <a:p>
            <a:pPr lvl="2" algn="just">
              <a:lnSpc>
                <a:spcPct val="200000"/>
              </a:lnSpc>
            </a:pPr>
            <a:r>
              <a:rPr lang="zh-CN" altLang="en-US" sz="2600" dirty="0">
                <a:latin typeface="Times New Roman" panose="02020603050405020304" pitchFamily="18" charset="0"/>
                <a:cs typeface="Times New Roman" panose="02020603050405020304" pitchFamily="18" charset="0"/>
              </a:rPr>
              <a:t>作用对象不同</a:t>
            </a:r>
            <a:endParaRPr lang="zh-CN" altLang="en-US" sz="2600" dirty="0">
              <a:latin typeface="Times New Roman" panose="02020603050405020304" pitchFamily="18" charset="0"/>
              <a:cs typeface="Times New Roman" panose="02020603050405020304" pitchFamily="18" charset="0"/>
            </a:endParaRPr>
          </a:p>
          <a:p>
            <a:pPr lvl="2" algn="just">
              <a:lnSpc>
                <a:spcPct val="200000"/>
              </a:lnSpc>
            </a:pPr>
            <a:r>
              <a:rPr lang="en-US" altLang="zh-CN" sz="2600" dirty="0">
                <a:latin typeface="Times New Roman" panose="02020603050405020304" pitchFamily="18" charset="0"/>
                <a:cs typeface="Times New Roman" panose="02020603050405020304" pitchFamily="18" charset="0"/>
              </a:rPr>
              <a:t>WHERE</a:t>
            </a:r>
            <a:r>
              <a:rPr lang="zh-CN" altLang="en-US" sz="2600" dirty="0">
                <a:latin typeface="Times New Roman" panose="02020603050405020304" pitchFamily="18" charset="0"/>
                <a:cs typeface="Times New Roman" panose="02020603050405020304" pitchFamily="18" charset="0"/>
              </a:rPr>
              <a:t>子句作用于基表或视图，从中选择满足条件的元组</a:t>
            </a:r>
            <a:endParaRPr lang="zh-CN" altLang="en-US" sz="2600" dirty="0">
              <a:latin typeface="Times New Roman" panose="02020603050405020304" pitchFamily="18" charset="0"/>
              <a:cs typeface="Times New Roman" panose="02020603050405020304" pitchFamily="18" charset="0"/>
            </a:endParaRPr>
          </a:p>
          <a:p>
            <a:pPr lvl="2" algn="just">
              <a:lnSpc>
                <a:spcPct val="200000"/>
              </a:lnSpc>
            </a:pPr>
            <a:r>
              <a:rPr lang="en-US" altLang="zh-CN" sz="2600" dirty="0">
                <a:latin typeface="Times New Roman" panose="02020603050405020304" pitchFamily="18" charset="0"/>
                <a:cs typeface="Times New Roman" panose="02020603050405020304" pitchFamily="18" charset="0"/>
              </a:rPr>
              <a:t>HAVING</a:t>
            </a:r>
            <a:r>
              <a:rPr lang="zh-CN" altLang="en-US" sz="2600" dirty="0">
                <a:latin typeface="Times New Roman" panose="02020603050405020304" pitchFamily="18" charset="0"/>
                <a:cs typeface="Times New Roman" panose="02020603050405020304" pitchFamily="18" charset="0"/>
              </a:rPr>
              <a:t>短语作用于组，从中选择满足条件的组 </a:t>
            </a:r>
            <a:endParaRPr lang="zh-CN" altLang="en-US" sz="2600" dirty="0">
              <a:latin typeface="Times New Roman" panose="02020603050405020304" pitchFamily="18" charset="0"/>
              <a:cs typeface="Times New Roman" panose="02020603050405020304" pitchFamily="18" charset="0"/>
            </a:endParaRPr>
          </a:p>
          <a:p>
            <a:pPr marL="0" indent="0">
              <a:lnSpc>
                <a:spcPct val="110000"/>
              </a:lnSpc>
              <a:buNone/>
            </a:pPr>
            <a:endParaRPr kumimoji="1" lang="en-US" altLang="zh-CN" sz="26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en-GB" altLang="zh-CN" sz="2600" dirty="0">
                <a:latin typeface="Times New Roman" panose="02020603050405020304" pitchFamily="18" charset="0"/>
                <a:cs typeface="Times New Roman" panose="02020603050405020304" pitchFamily="18" charset="0"/>
              </a:rPr>
              <a:t>HAVING</a:t>
            </a:r>
            <a:r>
              <a:rPr kumimoji="1" lang="zh-CN" altLang="en-US" sz="2600" dirty="0">
                <a:latin typeface="Times New Roman" panose="02020603050405020304" pitchFamily="18" charset="0"/>
                <a:cs typeface="Times New Roman" panose="02020603050405020304" pitchFamily="18" charset="0"/>
              </a:rPr>
              <a:t>短语</a:t>
            </a:r>
            <a:endParaRPr kumimoji="1" lang="en-US" altLang="zh-CN" sz="2600" dirty="0">
              <a:latin typeface="Times New Roman" panose="02020603050405020304" pitchFamily="18" charset="0"/>
              <a:cs typeface="Times New Roman" panose="02020603050405020304" pitchFamily="18" charset="0"/>
            </a:endParaRPr>
          </a:p>
          <a:p>
            <a:pPr lvl="1" algn="just">
              <a:lnSpc>
                <a:spcPct val="20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3-40</a:t>
            </a:r>
            <a:r>
              <a:rPr lang="zh-CN" altLang="en-US" i="1" dirty="0">
                <a:latin typeface="Times New Roman" panose="02020603050405020304" pitchFamily="18" charset="0"/>
                <a:cs typeface="Times New Roman" panose="02020603050405020304" pitchFamily="18" charset="0"/>
              </a:rPr>
              <a:t>：查询选修了</a:t>
            </a:r>
            <a:r>
              <a:rPr lang="en-US" altLang="zh-CN" i="1" dirty="0">
                <a:latin typeface="Times New Roman" panose="02020603050405020304" pitchFamily="18" charset="0"/>
                <a:cs typeface="Times New Roman" panose="02020603050405020304" pitchFamily="18" charset="0"/>
              </a:rPr>
              <a:t>3</a:t>
            </a:r>
            <a:r>
              <a:rPr lang="zh-CN" altLang="en-US" i="1" dirty="0">
                <a:latin typeface="Times New Roman" panose="02020603050405020304" pitchFamily="18" charset="0"/>
                <a:cs typeface="Times New Roman" panose="02020603050405020304" pitchFamily="18" charset="0"/>
              </a:rPr>
              <a:t>门以上课程的学生学号</a:t>
            </a:r>
            <a:endParaRPr lang="zh-CN" altLang="en-US" i="1" dirty="0">
              <a:latin typeface="Times New Roman" panose="02020603050405020304" pitchFamily="18" charset="0"/>
              <a:cs typeface="Times New Roman" panose="02020603050405020304" pitchFamily="18" charset="0"/>
            </a:endParaRPr>
          </a:p>
          <a:p>
            <a:pPr algn="just">
              <a:lnSpc>
                <a:spcPct val="130000"/>
              </a:lnSpc>
              <a:buNone/>
            </a:pPr>
            <a:r>
              <a:rPr lang="zh-CN" altLang="en-US" sz="2600" b="0" dirty="0">
                <a:latin typeface="Times New Roman" panose="02020603050405020304" pitchFamily="18" charset="0"/>
                <a:cs typeface="Times New Roman" panose="02020603050405020304" pitchFamily="18" charset="0"/>
              </a:rPr>
              <a:t>          </a:t>
            </a:r>
            <a:r>
              <a:rPr lang="en-US" altLang="zh-CN" sz="2600" b="0" dirty="0">
                <a:latin typeface="Times New Roman" panose="02020603050405020304" pitchFamily="18" charset="0"/>
                <a:cs typeface="Times New Roman" panose="02020603050405020304" pitchFamily="18" charset="0"/>
              </a:rPr>
              <a:t> </a:t>
            </a:r>
            <a:endParaRPr lang="en-US" altLang="zh-CN" sz="2600" b="0" dirty="0">
              <a:latin typeface="Times New Roman" panose="02020603050405020304" pitchFamily="18" charset="0"/>
              <a:cs typeface="Times New Roman" panose="02020603050405020304" pitchFamily="18" charset="0"/>
            </a:endParaRPr>
          </a:p>
          <a:p>
            <a:pPr lvl="1" algn="just">
              <a:lnSpc>
                <a:spcPct val="9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algn="just">
              <a:lnSpc>
                <a:spcPct val="9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algn="just">
              <a:lnSpc>
                <a:spcPct val="90000"/>
              </a:lnSpc>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solidFill>
                  <a:srgbClr val="C00000"/>
                </a:solidFill>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20300" y="2507000"/>
            <a:ext cx="6052697" cy="15753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GROUP BY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HAVING</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COUNT(*) &gt;</a:t>
            </a:r>
            <a:r>
              <a:rPr lang="zh-CN" altLang="en-US" sz="2000" dirty="0">
                <a:latin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3</a:t>
            </a:r>
            <a:r>
              <a:rPr lang="zh-CN" altLang="en-US" sz="2000" dirty="0">
                <a:latin typeface="Cambria Math" panose="02040503050406030204" pitchFamily="18" charset="0"/>
                <a:cs typeface="Times New Roman" panose="02020603050405020304" pitchFamily="18" charset="0"/>
              </a:rPr>
              <a:t>；</a:t>
            </a:r>
            <a:endPar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pic>
        <p:nvPicPr>
          <p:cNvPr id="11" name="图片 10" descr="手机屏幕的截图&#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90712" y="1086032"/>
            <a:ext cx="8751074" cy="563544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连接查询（多表查询） </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连接查询：同时涉及多个表的查询</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连接条件或连接谓词：用来连接两个表的条件</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一般格式：</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en-US" altLang="zh-CN" sz="2400" dirty="0">
                <a:latin typeface="Times New Roman" panose="02020603050405020304" pitchFamily="18" charset="0"/>
                <a:cs typeface="Times New Roman" panose="02020603050405020304" pitchFamily="18" charset="0"/>
              </a:rPr>
              <a:t>[&lt;</a:t>
            </a:r>
            <a:r>
              <a:rPr lang="zh-CN" altLang="en-US" sz="2400" dirty="0">
                <a:latin typeface="Times New Roman" panose="02020603050405020304" pitchFamily="18" charset="0"/>
                <a:cs typeface="Times New Roman" panose="02020603050405020304" pitchFamily="18" charset="0"/>
              </a:rPr>
              <a:t>表名</a:t>
            </a:r>
            <a:r>
              <a:rPr lang="en-US" altLang="zh-CN" sz="2400" dirty="0">
                <a:latin typeface="Times New Roman" panose="02020603050405020304" pitchFamily="18" charset="0"/>
                <a:cs typeface="Times New Roman" panose="02020603050405020304" pitchFamily="18" charset="0"/>
              </a:rPr>
              <a:t>1&gt;.]&lt;</a:t>
            </a:r>
            <a:r>
              <a:rPr lang="zh-CN" altLang="en-US" sz="2400" dirty="0">
                <a:latin typeface="Times New Roman" panose="02020603050405020304" pitchFamily="18" charset="0"/>
                <a:cs typeface="Times New Roman" panose="02020603050405020304" pitchFamily="18" charset="0"/>
              </a:rPr>
              <a:t>列名</a:t>
            </a:r>
            <a:r>
              <a:rPr lang="en-US" altLang="zh-CN" sz="2400" dirty="0">
                <a:latin typeface="Times New Roman" panose="02020603050405020304" pitchFamily="18" charset="0"/>
                <a:cs typeface="Times New Roman" panose="02020603050405020304" pitchFamily="18" charset="0"/>
              </a:rPr>
              <a:t>1&gt;  </a:t>
            </a:r>
            <a:r>
              <a:rPr lang="en-US" altLang="zh-CN" sz="2400" dirty="0">
                <a:solidFill>
                  <a:srgbClr val="C00000"/>
                </a:solidFill>
                <a:latin typeface="Times New Roman" panose="02020603050405020304" pitchFamily="18" charset="0"/>
                <a:cs typeface="Times New Roman" panose="02020603050405020304" pitchFamily="18" charset="0"/>
              </a:rPr>
              <a:t>&lt;</a:t>
            </a:r>
            <a:r>
              <a:rPr lang="zh-CN" altLang="en-US" sz="2400" dirty="0">
                <a:solidFill>
                  <a:srgbClr val="C00000"/>
                </a:solidFill>
                <a:latin typeface="Times New Roman" panose="02020603050405020304" pitchFamily="18" charset="0"/>
                <a:cs typeface="Times New Roman" panose="02020603050405020304" pitchFamily="18" charset="0"/>
              </a:rPr>
              <a:t>比较运算符</a:t>
            </a:r>
            <a:r>
              <a:rPr lang="en-US" altLang="zh-CN" sz="2400" dirty="0">
                <a:solidFill>
                  <a:srgbClr val="C00000"/>
                </a:solidFill>
                <a:latin typeface="Times New Roman" panose="02020603050405020304" pitchFamily="18" charset="0"/>
                <a:cs typeface="Times New Roman" panose="02020603050405020304" pitchFamily="18" charset="0"/>
              </a:rPr>
              <a:t>&gt;  </a:t>
            </a:r>
            <a:r>
              <a:rPr lang="en-US" altLang="zh-CN" sz="2400" dirty="0">
                <a:latin typeface="Times New Roman" panose="02020603050405020304" pitchFamily="18" charset="0"/>
                <a:cs typeface="Times New Roman" panose="02020603050405020304" pitchFamily="18" charset="0"/>
              </a:rPr>
              <a:t>[&lt;</a:t>
            </a:r>
            <a:r>
              <a:rPr lang="zh-CN" altLang="en-US" sz="2400" dirty="0">
                <a:latin typeface="Times New Roman" panose="02020603050405020304" pitchFamily="18" charset="0"/>
                <a:cs typeface="Times New Roman" panose="02020603050405020304" pitchFamily="18" charset="0"/>
              </a:rPr>
              <a:t>表名</a:t>
            </a:r>
            <a:r>
              <a:rPr lang="en-US" altLang="zh-CN" sz="2400" dirty="0">
                <a:latin typeface="Times New Roman" panose="02020603050405020304" pitchFamily="18" charset="0"/>
                <a:cs typeface="Times New Roman" panose="02020603050405020304" pitchFamily="18" charset="0"/>
              </a:rPr>
              <a:t>2&gt;.]&lt;</a:t>
            </a:r>
            <a:r>
              <a:rPr lang="zh-CN" altLang="en-US" sz="2400" dirty="0">
                <a:latin typeface="Times New Roman" panose="02020603050405020304" pitchFamily="18" charset="0"/>
                <a:cs typeface="Times New Roman" panose="02020603050405020304" pitchFamily="18" charset="0"/>
              </a:rPr>
              <a:t>列名</a:t>
            </a:r>
            <a:r>
              <a:rPr lang="en-US" altLang="zh-CN" sz="2400" dirty="0">
                <a:latin typeface="Times New Roman" panose="02020603050405020304" pitchFamily="18" charset="0"/>
                <a:cs typeface="Times New Roman" panose="02020603050405020304" pitchFamily="18" charset="0"/>
              </a:rPr>
              <a:t>2&gt;</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en-US" altLang="zh-CN" sz="2400" dirty="0">
                <a:latin typeface="Times New Roman" panose="02020603050405020304" pitchFamily="18" charset="0"/>
                <a:cs typeface="Times New Roman" panose="02020603050405020304" pitchFamily="18" charset="0"/>
              </a:rPr>
              <a:t>[&lt;</a:t>
            </a:r>
            <a:r>
              <a:rPr lang="zh-CN" altLang="en-US" sz="2400" dirty="0">
                <a:latin typeface="Times New Roman" panose="02020603050405020304" pitchFamily="18" charset="0"/>
                <a:cs typeface="Times New Roman" panose="02020603050405020304" pitchFamily="18" charset="0"/>
              </a:rPr>
              <a:t>表名</a:t>
            </a:r>
            <a:r>
              <a:rPr lang="en-US" altLang="zh-CN" sz="2400" dirty="0">
                <a:latin typeface="Times New Roman" panose="02020603050405020304" pitchFamily="18" charset="0"/>
                <a:cs typeface="Times New Roman" panose="02020603050405020304" pitchFamily="18" charset="0"/>
              </a:rPr>
              <a:t>1&gt;.]&lt;</a:t>
            </a:r>
            <a:r>
              <a:rPr lang="zh-CN" altLang="en-US" sz="2400" dirty="0">
                <a:latin typeface="Times New Roman" panose="02020603050405020304" pitchFamily="18" charset="0"/>
                <a:cs typeface="Times New Roman" panose="02020603050405020304" pitchFamily="18" charset="0"/>
              </a:rPr>
              <a:t>列名</a:t>
            </a:r>
            <a:r>
              <a:rPr lang="en-US" altLang="zh-CN" sz="2400" dirty="0">
                <a:latin typeface="Times New Roman" panose="02020603050405020304" pitchFamily="18" charset="0"/>
                <a:cs typeface="Times New Roman" panose="02020603050405020304" pitchFamily="18" charset="0"/>
              </a:rPr>
              <a:t>1&gt; </a:t>
            </a:r>
            <a:r>
              <a:rPr lang="en-US" altLang="zh-CN" sz="2400" dirty="0">
                <a:solidFill>
                  <a:srgbClr val="C00000"/>
                </a:solidFill>
                <a:latin typeface="Times New Roman" panose="02020603050405020304" pitchFamily="18" charset="0"/>
                <a:cs typeface="Times New Roman" panose="02020603050405020304" pitchFamily="18" charset="0"/>
              </a:rPr>
              <a:t>BETWEEN</a:t>
            </a:r>
            <a:r>
              <a:rPr lang="en-US" altLang="zh-CN" sz="2400" dirty="0">
                <a:latin typeface="Times New Roman" panose="02020603050405020304" pitchFamily="18" charset="0"/>
                <a:cs typeface="Times New Roman" panose="02020603050405020304" pitchFamily="18" charset="0"/>
              </a:rPr>
              <a:t> [&lt;</a:t>
            </a:r>
            <a:r>
              <a:rPr lang="zh-CN" altLang="en-US" sz="2400" dirty="0">
                <a:latin typeface="Times New Roman" panose="02020603050405020304" pitchFamily="18" charset="0"/>
                <a:cs typeface="Times New Roman" panose="02020603050405020304" pitchFamily="18" charset="0"/>
              </a:rPr>
              <a:t>表名</a:t>
            </a:r>
            <a:r>
              <a:rPr lang="en-US" altLang="zh-CN" sz="2400" dirty="0">
                <a:latin typeface="Times New Roman" panose="02020603050405020304" pitchFamily="18" charset="0"/>
                <a:cs typeface="Times New Roman" panose="02020603050405020304" pitchFamily="18" charset="0"/>
              </a:rPr>
              <a:t>2&gt;.]&lt;</a:t>
            </a:r>
            <a:r>
              <a:rPr lang="zh-CN" altLang="en-US" sz="2400" dirty="0">
                <a:latin typeface="Times New Roman" panose="02020603050405020304" pitchFamily="18" charset="0"/>
                <a:cs typeface="Times New Roman" panose="02020603050405020304" pitchFamily="18" charset="0"/>
              </a:rPr>
              <a:t>列名</a:t>
            </a:r>
            <a:r>
              <a:rPr lang="en-US" altLang="zh-CN" sz="2400" dirty="0">
                <a:latin typeface="Times New Roman" panose="02020603050405020304" pitchFamily="18" charset="0"/>
                <a:cs typeface="Times New Roman" panose="02020603050405020304" pitchFamily="18" charset="0"/>
              </a:rPr>
              <a:t>2&gt; </a:t>
            </a:r>
            <a:r>
              <a:rPr lang="en-US" altLang="zh-CN" sz="2400" dirty="0">
                <a:solidFill>
                  <a:srgbClr val="C00000"/>
                </a:solidFill>
                <a:latin typeface="Times New Roman" panose="02020603050405020304" pitchFamily="18" charset="0"/>
                <a:cs typeface="Times New Roman" panose="02020603050405020304" pitchFamily="18" charset="0"/>
              </a:rPr>
              <a:t>AND</a:t>
            </a:r>
            <a:r>
              <a:rPr lang="en-US" altLang="zh-CN" sz="2400" dirty="0">
                <a:latin typeface="Times New Roman" panose="02020603050405020304" pitchFamily="18" charset="0"/>
                <a:cs typeface="Times New Roman" panose="02020603050405020304" pitchFamily="18" charset="0"/>
              </a:rPr>
              <a:t> [&lt;</a:t>
            </a:r>
            <a:r>
              <a:rPr lang="zh-CN" altLang="en-US" sz="2400" dirty="0">
                <a:latin typeface="Times New Roman" panose="02020603050405020304" pitchFamily="18" charset="0"/>
                <a:cs typeface="Times New Roman" panose="02020603050405020304" pitchFamily="18" charset="0"/>
              </a:rPr>
              <a:t>表名</a:t>
            </a:r>
            <a:r>
              <a:rPr lang="en-US" altLang="zh-CN" sz="2400" dirty="0">
                <a:latin typeface="Times New Roman" panose="02020603050405020304" pitchFamily="18" charset="0"/>
                <a:cs typeface="Times New Roman" panose="02020603050405020304" pitchFamily="18" charset="0"/>
              </a:rPr>
              <a:t>2&gt;.]&lt;</a:t>
            </a:r>
            <a:r>
              <a:rPr lang="zh-CN" altLang="en-US" sz="2400" dirty="0">
                <a:latin typeface="Times New Roman" panose="02020603050405020304" pitchFamily="18" charset="0"/>
                <a:cs typeface="Times New Roman" panose="02020603050405020304" pitchFamily="18" charset="0"/>
              </a:rPr>
              <a:t>列名</a:t>
            </a:r>
            <a:r>
              <a:rPr lang="en-US" altLang="zh-CN" sz="2400" dirty="0">
                <a:latin typeface="Times New Roman" panose="02020603050405020304" pitchFamily="18" charset="0"/>
                <a:cs typeface="Times New Roman" panose="02020603050405020304" pitchFamily="18" charset="0"/>
              </a:rPr>
              <a:t>3&gt;</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连接字段：连接谓词中的列名称</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连接条件中的各连接字段类型必须是可比的，但名字不必是相同的</a:t>
            </a:r>
            <a:endParaRPr lang="zh-CN" altLang="en-US" sz="240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连接查询</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kumimoji="1" lang="zh-CN" altLang="en-US" dirty="0">
                <a:latin typeface="Times New Roman" panose="02020603050405020304" pitchFamily="18" charset="0"/>
                <a:cs typeface="Times New Roman" panose="02020603050405020304" pitchFamily="18" charset="0"/>
              </a:rPr>
              <a:t>等值与非等值连接查询 </a:t>
            </a:r>
            <a:endParaRPr kumimoji="1" lang="zh-CN" altLang="en-US" dirty="0">
              <a:latin typeface="Times New Roman" panose="02020603050405020304" pitchFamily="18" charset="0"/>
              <a:cs typeface="Times New Roman" panose="02020603050405020304" pitchFamily="18" charset="0"/>
            </a:endParaRPr>
          </a:p>
          <a:p>
            <a:pPr lvl="1">
              <a:lnSpc>
                <a:spcPct val="200000"/>
              </a:lnSpc>
            </a:pPr>
            <a:r>
              <a:rPr kumimoji="1" lang="zh-CN" altLang="en-US" dirty="0">
                <a:latin typeface="Times New Roman" panose="02020603050405020304" pitchFamily="18" charset="0"/>
                <a:cs typeface="Times New Roman" panose="02020603050405020304" pitchFamily="18" charset="0"/>
              </a:rPr>
              <a:t>自连接</a:t>
            </a:r>
            <a:endParaRPr kumimoji="1" lang="zh-CN" altLang="en-US" dirty="0">
              <a:latin typeface="Times New Roman" panose="02020603050405020304" pitchFamily="18" charset="0"/>
              <a:cs typeface="Times New Roman" panose="02020603050405020304" pitchFamily="18" charset="0"/>
            </a:endParaRPr>
          </a:p>
          <a:p>
            <a:pPr lvl="1">
              <a:lnSpc>
                <a:spcPct val="200000"/>
              </a:lnSpc>
            </a:pPr>
            <a:r>
              <a:rPr kumimoji="1" lang="zh-CN" altLang="en-US" dirty="0">
                <a:latin typeface="Times New Roman" panose="02020603050405020304" pitchFamily="18" charset="0"/>
                <a:cs typeface="Times New Roman" panose="02020603050405020304" pitchFamily="18" charset="0"/>
              </a:rPr>
              <a:t>外连接</a:t>
            </a:r>
            <a:endParaRPr kumimoji="1" lang="zh-CN" altLang="en-US" dirty="0">
              <a:latin typeface="Times New Roman" panose="02020603050405020304" pitchFamily="18" charset="0"/>
              <a:cs typeface="Times New Roman" panose="02020603050405020304" pitchFamily="18" charset="0"/>
            </a:endParaRPr>
          </a:p>
          <a:p>
            <a:pPr lvl="1">
              <a:lnSpc>
                <a:spcPct val="200000"/>
              </a:lnSpc>
            </a:pPr>
            <a:r>
              <a:rPr kumimoji="1" lang="zh-CN" altLang="en-US" dirty="0">
                <a:latin typeface="Times New Roman" panose="02020603050405020304" pitchFamily="18" charset="0"/>
                <a:cs typeface="Times New Roman" panose="02020603050405020304" pitchFamily="18" charset="0"/>
              </a:rPr>
              <a:t>复合条件连接</a:t>
            </a:r>
            <a:endParaRPr kumimoji="1" lang="zh-CN" altLang="en-US"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等值与非等值连接查询 </a:t>
            </a:r>
            <a:endParaRPr kumimoji="1" lang="en-US" altLang="zh-CN" sz="2600" dirty="0">
              <a:latin typeface="Times New Roman" panose="02020603050405020304" pitchFamily="18" charset="0"/>
              <a:cs typeface="Times New Roman" panose="02020603050405020304" pitchFamily="18" charset="0"/>
            </a:endParaRPr>
          </a:p>
          <a:p>
            <a:pPr lvl="1" algn="just">
              <a:lnSpc>
                <a:spcPct val="150000"/>
              </a:lnSpc>
            </a:pPr>
            <a:r>
              <a:rPr lang="zh-CN" altLang="en-US" dirty="0">
                <a:latin typeface="Times New Roman" panose="02020603050405020304" pitchFamily="18" charset="0"/>
                <a:cs typeface="Times New Roman" panose="02020603050405020304" pitchFamily="18" charset="0"/>
              </a:rPr>
              <a:t>等值连接：连接运算符为</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algn="just">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3-41</a:t>
            </a:r>
            <a:r>
              <a:rPr lang="zh-CN" altLang="en-US" i="1" dirty="0">
                <a:latin typeface="Times New Roman" panose="02020603050405020304" pitchFamily="18" charset="0"/>
                <a:cs typeface="Times New Roman" panose="02020603050405020304" pitchFamily="18" charset="0"/>
              </a:rPr>
              <a:t>：查询每个学生及其选修课程的情况</a:t>
            </a:r>
            <a:endParaRPr lang="zh-CN" altLang="en-US" i="1" dirty="0">
              <a:latin typeface="Times New Roman" panose="02020603050405020304" pitchFamily="18" charset="0"/>
              <a:cs typeface="Times New Roman" panose="02020603050405020304" pitchFamily="18" charset="0"/>
            </a:endParaRPr>
          </a:p>
          <a:p>
            <a:pPr algn="just">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zh-CN" altLang="en-US" sz="2400" b="0" dirty="0">
              <a:solidFill>
                <a:srgbClr val="C00000"/>
              </a:solidFill>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kumimoji="1" lang="en-US" altLang="zh-CN"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78096" y="3059579"/>
            <a:ext cx="6052697"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Student.*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zh-CN" altLang="en-US" sz="2000" dirty="0">
                <a:latin typeface="Cambria Math" panose="02040503050406030204" pitchFamily="18" charset="0"/>
                <a:cs typeface="Times New Roman" panose="02020603050405020304" pitchFamily="18" charset="0"/>
              </a:rPr>
              <a:t>；</a:t>
            </a:r>
            <a:endParaRPr lang="en-US" altLang="zh-CN" sz="2000" dirty="0">
              <a:solidFill>
                <a:srgbClr val="990099"/>
              </a:solidFill>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等值与非等值连接查询 </a:t>
            </a:r>
            <a:endParaRPr kumimoji="1" lang="en-US" altLang="zh-CN" sz="2600" dirty="0">
              <a:latin typeface="Times New Roman" panose="02020603050405020304" pitchFamily="18" charset="0"/>
              <a:cs typeface="Times New Roman" panose="02020603050405020304" pitchFamily="18" charset="0"/>
            </a:endParaRPr>
          </a:p>
          <a:p>
            <a:pPr lvl="1" algn="just">
              <a:lnSpc>
                <a:spcPct val="150000"/>
              </a:lnSpc>
            </a:pPr>
            <a:r>
              <a:rPr lang="zh-CN" altLang="en-US" dirty="0">
                <a:latin typeface="Times New Roman" panose="02020603050405020304" pitchFamily="18" charset="0"/>
                <a:cs typeface="Times New Roman" panose="02020603050405020304" pitchFamily="18" charset="0"/>
              </a:rPr>
              <a:t>自然连接</a:t>
            </a:r>
            <a:r>
              <a:rPr lang="en-US" altLang="zh-CN" dirty="0">
                <a:latin typeface="Times New Roman" panose="02020603050405020304" pitchFamily="18" charset="0"/>
                <a:cs typeface="Times New Roman" panose="02020603050405020304" pitchFamily="18" charset="0"/>
              </a:rPr>
              <a:t>(</a:t>
            </a:r>
            <a:r>
              <a:rPr lang="en-US" altLang="zh-CN" dirty="0">
                <a:solidFill>
                  <a:srgbClr val="C0000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3-42</a:t>
            </a:r>
            <a:r>
              <a:rPr lang="zh-CN" altLang="en-US" i="1" dirty="0">
                <a:latin typeface="Times New Roman" panose="02020603050405020304" pitchFamily="18" charset="0"/>
                <a:cs typeface="Times New Roman" panose="02020603050405020304" pitchFamily="18" charset="0"/>
              </a:rPr>
              <a:t>：对</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3-41]</a:t>
            </a:r>
            <a:r>
              <a:rPr lang="zh-CN" altLang="en-US" i="1" dirty="0">
                <a:latin typeface="Times New Roman" panose="02020603050405020304" pitchFamily="18" charset="0"/>
                <a:cs typeface="Times New Roman" panose="02020603050405020304" pitchFamily="18" charset="0"/>
              </a:rPr>
              <a:t>用自然连接完成</a:t>
            </a:r>
            <a:endParaRPr lang="zh-CN" altLang="en-US" i="1" dirty="0">
              <a:latin typeface="Times New Roman" panose="02020603050405020304" pitchFamily="18" charset="0"/>
              <a:cs typeface="Times New Roman" panose="02020603050405020304" pitchFamily="18" charset="0"/>
            </a:endParaRPr>
          </a:p>
          <a:p>
            <a:pPr>
              <a:lnSpc>
                <a:spcPct val="150000"/>
              </a:lnSpc>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ct val="150000"/>
              </a:lnSpc>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endParaRPr kumimoji="1" lang="en-US" altLang="zh-CN"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35894" y="3062689"/>
            <a:ext cx="7862740"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Ssex</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等值与非等值连接查询 </a:t>
            </a:r>
            <a:endParaRPr kumimoji="1" lang="en-US" altLang="zh-CN" sz="2400" b="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自连接：一个表与其自己进行连接</a:t>
            </a:r>
            <a:endParaRPr lang="zh-CN"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需要给表起别名以示区别</a:t>
            </a:r>
            <a:endParaRPr lang="zh-CN"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由于所有属性名都是同名属性，因此必须使用别名前缀</a:t>
            </a:r>
            <a:endParaRPr lang="zh-CN" altLang="en-US" dirty="0">
              <a:latin typeface="Times New Roman" panose="02020603050405020304" pitchFamily="18" charset="0"/>
              <a:cs typeface="Times New Roman" panose="02020603050405020304" pitchFamily="18" charset="0"/>
            </a:endParaRPr>
          </a:p>
          <a:p>
            <a:pPr lvl="1" algn="just">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3-43</a:t>
            </a:r>
            <a:r>
              <a:rPr lang="zh-CN" altLang="en-US" i="1" dirty="0">
                <a:latin typeface="Times New Roman" panose="02020603050405020304" pitchFamily="18" charset="0"/>
                <a:cs typeface="Times New Roman" panose="02020603050405020304" pitchFamily="18" charset="0"/>
              </a:rPr>
              <a:t>：查询每一门课的间接先修课（即先修课的先修课）</a:t>
            </a:r>
            <a:endParaRPr lang="zh-CN" altLang="en-US" i="1" dirty="0">
              <a:latin typeface="Times New Roman" panose="02020603050405020304" pitchFamily="18" charset="0"/>
              <a:cs typeface="Times New Roman" panose="02020603050405020304" pitchFamily="18" charset="0"/>
            </a:endParaRPr>
          </a:p>
          <a:p>
            <a:pPr>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solidFill>
                <a:srgbClr val="C00000"/>
              </a:solidFill>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07758" y="4244373"/>
            <a:ext cx="7862740"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FIRST.Cno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SECOND.Cpno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Course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FIRST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Course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SECOND </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FIRST.Cpno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SECOND.Cno</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自连接</a:t>
            </a:r>
            <a:endParaRPr kumimoji="1" lang="en-US" altLang="zh-CN" sz="2400" b="0" dirty="0">
              <a:latin typeface="Times New Roman" panose="02020603050405020304" pitchFamily="18" charset="0"/>
              <a:cs typeface="Times New Roman" panose="02020603050405020304" pitchFamily="18" charset="0"/>
            </a:endParaRPr>
          </a:p>
          <a:p>
            <a:pPr marL="0" indent="0">
              <a:lnSpc>
                <a:spcPct val="11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FIRST</a:t>
            </a:r>
            <a:r>
              <a:rPr lang="zh-CN" altLang="en-US" sz="2400" b="0" dirty="0">
                <a:latin typeface="Times New Roman" panose="02020603050405020304" pitchFamily="18" charset="0"/>
                <a:cs typeface="Times New Roman" panose="02020603050405020304" pitchFamily="18" charset="0"/>
              </a:rPr>
              <a:t>表（</a:t>
            </a:r>
            <a:r>
              <a:rPr lang="en-US" altLang="zh-CN" sz="2400" b="0" dirty="0">
                <a:latin typeface="Times New Roman" panose="02020603050405020304" pitchFamily="18" charset="0"/>
                <a:cs typeface="Times New Roman" panose="02020603050405020304" pitchFamily="18" charset="0"/>
              </a:rPr>
              <a:t>Course</a:t>
            </a:r>
            <a:r>
              <a:rPr lang="zh-CN" altLang="en-US" sz="2400" b="0" dirty="0">
                <a:latin typeface="Times New Roman" panose="02020603050405020304" pitchFamily="18" charset="0"/>
                <a:cs typeface="Times New Roman" panose="02020603050405020304" pitchFamily="18" charset="0"/>
              </a:rPr>
              <a:t>表）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pSp>
        <p:nvGrpSpPr>
          <p:cNvPr id="6" name="Group 4"/>
          <p:cNvGrpSpPr/>
          <p:nvPr/>
        </p:nvGrpSpPr>
        <p:grpSpPr bwMode="auto">
          <a:xfrm>
            <a:off x="2412096" y="2513010"/>
            <a:ext cx="7423224" cy="3914824"/>
            <a:chOff x="0" y="0"/>
            <a:chExt cx="3163" cy="3992"/>
          </a:xfrm>
        </p:grpSpPr>
        <p:grpSp>
          <p:nvGrpSpPr>
            <p:cNvPr id="7" name="Group 5"/>
            <p:cNvGrpSpPr/>
            <p:nvPr/>
          </p:nvGrpSpPr>
          <p:grpSpPr bwMode="auto">
            <a:xfrm>
              <a:off x="0" y="0"/>
              <a:ext cx="513" cy="499"/>
              <a:chOff x="0" y="0"/>
              <a:chExt cx="513" cy="499"/>
            </a:xfrm>
          </p:grpSpPr>
          <p:sp>
            <p:nvSpPr>
              <p:cNvPr id="101" name="Rectangle 6"/>
              <p:cNvSpPr>
                <a:spLocks noChangeArrowheads="1"/>
              </p:cNvSpPr>
              <p:nvPr/>
            </p:nvSpPr>
            <p:spPr bwMode="auto">
              <a:xfrm>
                <a:off x="43" y="0"/>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tabLst>
                    <a:tab pos="266700" algn="r"/>
                    <a:tab pos="2636520" algn="ctr"/>
                    <a:tab pos="527367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2636520" algn="ctr"/>
                    <a:tab pos="527367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2636520" algn="ctr"/>
                    <a:tab pos="527367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2636520" algn="ctr"/>
                    <a:tab pos="527367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dirty="0" err="1">
                    <a:latin typeface="Times New Roman" panose="02020603050405020304" pitchFamily="18" charset="0"/>
                  </a:rPr>
                  <a:t>Cno</a:t>
                </a:r>
                <a:endParaRPr kumimoji="1" lang="en-US" altLang="zh-CN" sz="900" b="0" dirty="0">
                  <a:latin typeface="Times New Roman" panose="02020603050405020304" pitchFamily="18" charset="0"/>
                </a:endParaRPr>
              </a:p>
              <a:p>
                <a:pPr>
                  <a:spcBef>
                    <a:spcPct val="0"/>
                  </a:spcBef>
                  <a:buFontTx/>
                  <a:buNone/>
                </a:pPr>
                <a:endParaRPr kumimoji="1" lang="zh-CN" altLang="en-US" sz="2400" b="0" dirty="0">
                  <a:latin typeface="Times New Roman" panose="02020603050405020304" pitchFamily="18" charset="0"/>
                </a:endParaRPr>
              </a:p>
            </p:txBody>
          </p:sp>
          <p:sp>
            <p:nvSpPr>
              <p:cNvPr id="102" name="Rectangle 7"/>
              <p:cNvSpPr>
                <a:spLocks noChangeArrowheads="1"/>
              </p:cNvSpPr>
              <p:nvPr/>
            </p:nvSpPr>
            <p:spPr bwMode="auto">
              <a:xfrm>
                <a:off x="0" y="0"/>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8" name="Group 8"/>
            <p:cNvGrpSpPr/>
            <p:nvPr/>
          </p:nvGrpSpPr>
          <p:grpSpPr bwMode="auto">
            <a:xfrm>
              <a:off x="513" y="0"/>
              <a:ext cx="1272" cy="499"/>
              <a:chOff x="513" y="0"/>
              <a:chExt cx="1272" cy="499"/>
            </a:xfrm>
          </p:grpSpPr>
          <p:sp>
            <p:nvSpPr>
              <p:cNvPr id="99" name="Rectangle 9"/>
              <p:cNvSpPr>
                <a:spLocks noChangeArrowheads="1"/>
              </p:cNvSpPr>
              <p:nvPr/>
            </p:nvSpPr>
            <p:spPr bwMode="auto">
              <a:xfrm>
                <a:off x="556" y="0"/>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Cname</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00" name="Rectangle 10"/>
              <p:cNvSpPr>
                <a:spLocks noChangeArrowheads="1"/>
              </p:cNvSpPr>
              <p:nvPr/>
            </p:nvSpPr>
            <p:spPr bwMode="auto">
              <a:xfrm>
                <a:off x="513" y="0"/>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9" name="Group 11"/>
            <p:cNvGrpSpPr/>
            <p:nvPr/>
          </p:nvGrpSpPr>
          <p:grpSpPr bwMode="auto">
            <a:xfrm>
              <a:off x="1785" y="0"/>
              <a:ext cx="611" cy="499"/>
              <a:chOff x="1785" y="0"/>
              <a:chExt cx="611" cy="499"/>
            </a:xfrm>
          </p:grpSpPr>
          <p:sp>
            <p:nvSpPr>
              <p:cNvPr id="97" name="Rectangle 12"/>
              <p:cNvSpPr>
                <a:spLocks noChangeArrowheads="1"/>
              </p:cNvSpPr>
              <p:nvPr/>
            </p:nvSpPr>
            <p:spPr bwMode="auto">
              <a:xfrm>
                <a:off x="1828" y="0"/>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Cpno</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98" name="Rectangle 13"/>
              <p:cNvSpPr>
                <a:spLocks noChangeArrowheads="1"/>
              </p:cNvSpPr>
              <p:nvPr/>
            </p:nvSpPr>
            <p:spPr bwMode="auto">
              <a:xfrm>
                <a:off x="1785" y="0"/>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0" name="Group 14"/>
            <p:cNvGrpSpPr/>
            <p:nvPr/>
          </p:nvGrpSpPr>
          <p:grpSpPr bwMode="auto">
            <a:xfrm>
              <a:off x="2396" y="0"/>
              <a:ext cx="767" cy="499"/>
              <a:chOff x="2396" y="0"/>
              <a:chExt cx="767" cy="499"/>
            </a:xfrm>
          </p:grpSpPr>
          <p:sp>
            <p:nvSpPr>
              <p:cNvPr id="95" name="Rectangle 15"/>
              <p:cNvSpPr>
                <a:spLocks noChangeArrowheads="1"/>
              </p:cNvSpPr>
              <p:nvPr/>
            </p:nvSpPr>
            <p:spPr bwMode="auto">
              <a:xfrm>
                <a:off x="2439" y="0"/>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Ccredit</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96" name="Rectangle 16"/>
              <p:cNvSpPr>
                <a:spLocks noChangeArrowheads="1"/>
              </p:cNvSpPr>
              <p:nvPr/>
            </p:nvSpPr>
            <p:spPr bwMode="auto">
              <a:xfrm>
                <a:off x="2396" y="0"/>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 name="Group 17"/>
            <p:cNvGrpSpPr/>
            <p:nvPr/>
          </p:nvGrpSpPr>
          <p:grpSpPr bwMode="auto">
            <a:xfrm>
              <a:off x="0" y="499"/>
              <a:ext cx="513" cy="499"/>
              <a:chOff x="0" y="499"/>
              <a:chExt cx="513" cy="499"/>
            </a:xfrm>
          </p:grpSpPr>
          <p:sp>
            <p:nvSpPr>
              <p:cNvPr id="93" name="Rectangle 18"/>
              <p:cNvSpPr>
                <a:spLocks noChangeArrowheads="1"/>
              </p:cNvSpPr>
              <p:nvPr/>
            </p:nvSpPr>
            <p:spPr bwMode="auto">
              <a:xfrm>
                <a:off x="43" y="499"/>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94" name="Rectangle 19"/>
              <p:cNvSpPr>
                <a:spLocks noChangeArrowheads="1"/>
              </p:cNvSpPr>
              <p:nvPr/>
            </p:nvSpPr>
            <p:spPr bwMode="auto">
              <a:xfrm>
                <a:off x="0" y="499"/>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 name="Group 20"/>
            <p:cNvGrpSpPr/>
            <p:nvPr/>
          </p:nvGrpSpPr>
          <p:grpSpPr bwMode="auto">
            <a:xfrm>
              <a:off x="513" y="499"/>
              <a:ext cx="1272" cy="499"/>
              <a:chOff x="513" y="499"/>
              <a:chExt cx="1272" cy="499"/>
            </a:xfrm>
          </p:grpSpPr>
          <p:sp>
            <p:nvSpPr>
              <p:cNvPr id="91" name="Rectangle 21"/>
              <p:cNvSpPr>
                <a:spLocks noChangeArrowheads="1"/>
              </p:cNvSpPr>
              <p:nvPr/>
            </p:nvSpPr>
            <p:spPr bwMode="auto">
              <a:xfrm>
                <a:off x="556" y="499"/>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数据库</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92" name="Rectangle 22"/>
              <p:cNvSpPr>
                <a:spLocks noChangeArrowheads="1"/>
              </p:cNvSpPr>
              <p:nvPr/>
            </p:nvSpPr>
            <p:spPr bwMode="auto">
              <a:xfrm>
                <a:off x="513" y="499"/>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 name="Group 23"/>
            <p:cNvGrpSpPr/>
            <p:nvPr/>
          </p:nvGrpSpPr>
          <p:grpSpPr bwMode="auto">
            <a:xfrm>
              <a:off x="1785" y="499"/>
              <a:ext cx="611" cy="499"/>
              <a:chOff x="1785" y="499"/>
              <a:chExt cx="611" cy="499"/>
            </a:xfrm>
          </p:grpSpPr>
          <p:sp>
            <p:nvSpPr>
              <p:cNvPr id="89" name="Rectangle 24"/>
              <p:cNvSpPr>
                <a:spLocks noChangeArrowheads="1"/>
              </p:cNvSpPr>
              <p:nvPr/>
            </p:nvSpPr>
            <p:spPr bwMode="auto">
              <a:xfrm>
                <a:off x="1828" y="499"/>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90" name="Rectangle 25"/>
              <p:cNvSpPr>
                <a:spLocks noChangeArrowheads="1"/>
              </p:cNvSpPr>
              <p:nvPr/>
            </p:nvSpPr>
            <p:spPr bwMode="auto">
              <a:xfrm>
                <a:off x="1785" y="499"/>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4" name="Group 26"/>
            <p:cNvGrpSpPr/>
            <p:nvPr/>
          </p:nvGrpSpPr>
          <p:grpSpPr bwMode="auto">
            <a:xfrm>
              <a:off x="2396" y="499"/>
              <a:ext cx="767" cy="499"/>
              <a:chOff x="2396" y="499"/>
              <a:chExt cx="767" cy="499"/>
            </a:xfrm>
          </p:grpSpPr>
          <p:sp>
            <p:nvSpPr>
              <p:cNvPr id="87" name="Rectangle 27"/>
              <p:cNvSpPr>
                <a:spLocks noChangeArrowheads="1"/>
              </p:cNvSpPr>
              <p:nvPr/>
            </p:nvSpPr>
            <p:spPr bwMode="auto">
              <a:xfrm>
                <a:off x="2439" y="499"/>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  </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88" name="Rectangle 28"/>
              <p:cNvSpPr>
                <a:spLocks noChangeArrowheads="1"/>
              </p:cNvSpPr>
              <p:nvPr/>
            </p:nvSpPr>
            <p:spPr bwMode="auto">
              <a:xfrm>
                <a:off x="2396" y="499"/>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5" name="Group 29"/>
            <p:cNvGrpSpPr/>
            <p:nvPr/>
          </p:nvGrpSpPr>
          <p:grpSpPr bwMode="auto">
            <a:xfrm>
              <a:off x="0" y="998"/>
              <a:ext cx="513" cy="499"/>
              <a:chOff x="0" y="998"/>
              <a:chExt cx="513" cy="499"/>
            </a:xfrm>
          </p:grpSpPr>
          <p:sp>
            <p:nvSpPr>
              <p:cNvPr id="85" name="Rectangle 30"/>
              <p:cNvSpPr>
                <a:spLocks noChangeArrowheads="1"/>
              </p:cNvSpPr>
              <p:nvPr/>
            </p:nvSpPr>
            <p:spPr bwMode="auto">
              <a:xfrm>
                <a:off x="43" y="998"/>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86" name="Rectangle 31"/>
              <p:cNvSpPr>
                <a:spLocks noChangeArrowheads="1"/>
              </p:cNvSpPr>
              <p:nvPr/>
            </p:nvSpPr>
            <p:spPr bwMode="auto">
              <a:xfrm>
                <a:off x="0" y="998"/>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6" name="Group 32"/>
            <p:cNvGrpSpPr/>
            <p:nvPr/>
          </p:nvGrpSpPr>
          <p:grpSpPr bwMode="auto">
            <a:xfrm>
              <a:off x="513" y="998"/>
              <a:ext cx="1272" cy="499"/>
              <a:chOff x="513" y="998"/>
              <a:chExt cx="1272" cy="499"/>
            </a:xfrm>
          </p:grpSpPr>
          <p:sp>
            <p:nvSpPr>
              <p:cNvPr id="83" name="Rectangle 33"/>
              <p:cNvSpPr>
                <a:spLocks noChangeArrowheads="1"/>
              </p:cNvSpPr>
              <p:nvPr/>
            </p:nvSpPr>
            <p:spPr bwMode="auto">
              <a:xfrm>
                <a:off x="556" y="998"/>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数学</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84" name="Rectangle 34"/>
              <p:cNvSpPr>
                <a:spLocks noChangeArrowheads="1"/>
              </p:cNvSpPr>
              <p:nvPr/>
            </p:nvSpPr>
            <p:spPr bwMode="auto">
              <a:xfrm>
                <a:off x="513" y="998"/>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7" name="Group 35"/>
            <p:cNvGrpSpPr/>
            <p:nvPr/>
          </p:nvGrpSpPr>
          <p:grpSpPr bwMode="auto">
            <a:xfrm>
              <a:off x="1785" y="998"/>
              <a:ext cx="611" cy="499"/>
              <a:chOff x="1785" y="998"/>
              <a:chExt cx="611" cy="499"/>
            </a:xfrm>
          </p:grpSpPr>
          <p:sp>
            <p:nvSpPr>
              <p:cNvPr id="81" name="Rectangle 36"/>
              <p:cNvSpPr>
                <a:spLocks noChangeArrowheads="1"/>
              </p:cNvSpPr>
              <p:nvPr/>
            </p:nvSpPr>
            <p:spPr bwMode="auto">
              <a:xfrm>
                <a:off x="1828" y="998"/>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b="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82" name="Rectangle 37"/>
              <p:cNvSpPr>
                <a:spLocks noChangeArrowheads="1"/>
              </p:cNvSpPr>
              <p:nvPr/>
            </p:nvSpPr>
            <p:spPr bwMode="auto">
              <a:xfrm>
                <a:off x="1785" y="998"/>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8" name="Group 38"/>
            <p:cNvGrpSpPr/>
            <p:nvPr/>
          </p:nvGrpSpPr>
          <p:grpSpPr bwMode="auto">
            <a:xfrm>
              <a:off x="2396" y="998"/>
              <a:ext cx="767" cy="499"/>
              <a:chOff x="2396" y="998"/>
              <a:chExt cx="767" cy="499"/>
            </a:xfrm>
          </p:grpSpPr>
          <p:sp>
            <p:nvSpPr>
              <p:cNvPr id="79" name="Rectangle 39"/>
              <p:cNvSpPr>
                <a:spLocks noChangeArrowheads="1"/>
              </p:cNvSpPr>
              <p:nvPr/>
            </p:nvSpPr>
            <p:spPr bwMode="auto">
              <a:xfrm>
                <a:off x="2439" y="998"/>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80" name="Rectangle 40"/>
              <p:cNvSpPr>
                <a:spLocks noChangeArrowheads="1"/>
              </p:cNvSpPr>
              <p:nvPr/>
            </p:nvSpPr>
            <p:spPr bwMode="auto">
              <a:xfrm>
                <a:off x="2396" y="998"/>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9" name="Group 41"/>
            <p:cNvGrpSpPr/>
            <p:nvPr/>
          </p:nvGrpSpPr>
          <p:grpSpPr bwMode="auto">
            <a:xfrm>
              <a:off x="0" y="1497"/>
              <a:ext cx="513" cy="499"/>
              <a:chOff x="0" y="1497"/>
              <a:chExt cx="513" cy="499"/>
            </a:xfrm>
          </p:grpSpPr>
          <p:sp>
            <p:nvSpPr>
              <p:cNvPr id="77" name="Rectangle 42"/>
              <p:cNvSpPr>
                <a:spLocks noChangeArrowheads="1"/>
              </p:cNvSpPr>
              <p:nvPr/>
            </p:nvSpPr>
            <p:spPr bwMode="auto">
              <a:xfrm>
                <a:off x="43" y="1497"/>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8" name="Rectangle 43"/>
              <p:cNvSpPr>
                <a:spLocks noChangeArrowheads="1"/>
              </p:cNvSpPr>
              <p:nvPr/>
            </p:nvSpPr>
            <p:spPr bwMode="auto">
              <a:xfrm>
                <a:off x="0" y="1497"/>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0" name="Group 44"/>
            <p:cNvGrpSpPr/>
            <p:nvPr/>
          </p:nvGrpSpPr>
          <p:grpSpPr bwMode="auto">
            <a:xfrm>
              <a:off x="513" y="1497"/>
              <a:ext cx="1272" cy="499"/>
              <a:chOff x="513" y="1497"/>
              <a:chExt cx="1272" cy="499"/>
            </a:xfrm>
          </p:grpSpPr>
          <p:sp>
            <p:nvSpPr>
              <p:cNvPr id="75" name="Rectangle 45"/>
              <p:cNvSpPr>
                <a:spLocks noChangeArrowheads="1"/>
              </p:cNvSpPr>
              <p:nvPr/>
            </p:nvSpPr>
            <p:spPr bwMode="auto">
              <a:xfrm>
                <a:off x="556" y="1497"/>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信息系统</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6" name="Rectangle 46"/>
              <p:cNvSpPr>
                <a:spLocks noChangeArrowheads="1"/>
              </p:cNvSpPr>
              <p:nvPr/>
            </p:nvSpPr>
            <p:spPr bwMode="auto">
              <a:xfrm>
                <a:off x="513" y="1497"/>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1" name="Group 47"/>
            <p:cNvGrpSpPr/>
            <p:nvPr/>
          </p:nvGrpSpPr>
          <p:grpSpPr bwMode="auto">
            <a:xfrm>
              <a:off x="1785" y="1497"/>
              <a:ext cx="611" cy="499"/>
              <a:chOff x="1785" y="1497"/>
              <a:chExt cx="611" cy="499"/>
            </a:xfrm>
          </p:grpSpPr>
          <p:sp>
            <p:nvSpPr>
              <p:cNvPr id="73" name="Rectangle 48"/>
              <p:cNvSpPr>
                <a:spLocks noChangeArrowheads="1"/>
              </p:cNvSpPr>
              <p:nvPr/>
            </p:nvSpPr>
            <p:spPr bwMode="auto">
              <a:xfrm>
                <a:off x="1828" y="1497"/>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4" name="Rectangle 49"/>
              <p:cNvSpPr>
                <a:spLocks noChangeArrowheads="1"/>
              </p:cNvSpPr>
              <p:nvPr/>
            </p:nvSpPr>
            <p:spPr bwMode="auto">
              <a:xfrm>
                <a:off x="1785" y="1497"/>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2" name="Group 50"/>
            <p:cNvGrpSpPr/>
            <p:nvPr/>
          </p:nvGrpSpPr>
          <p:grpSpPr bwMode="auto">
            <a:xfrm>
              <a:off x="2396" y="1497"/>
              <a:ext cx="767" cy="499"/>
              <a:chOff x="2396" y="1497"/>
              <a:chExt cx="767" cy="499"/>
            </a:xfrm>
          </p:grpSpPr>
          <p:sp>
            <p:nvSpPr>
              <p:cNvPr id="71" name="Rectangle 51"/>
              <p:cNvSpPr>
                <a:spLocks noChangeArrowheads="1"/>
              </p:cNvSpPr>
              <p:nvPr/>
            </p:nvSpPr>
            <p:spPr bwMode="auto">
              <a:xfrm>
                <a:off x="2439" y="1497"/>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2" name="Rectangle 52"/>
              <p:cNvSpPr>
                <a:spLocks noChangeArrowheads="1"/>
              </p:cNvSpPr>
              <p:nvPr/>
            </p:nvSpPr>
            <p:spPr bwMode="auto">
              <a:xfrm>
                <a:off x="2396" y="1497"/>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3" name="Group 53"/>
            <p:cNvGrpSpPr/>
            <p:nvPr/>
          </p:nvGrpSpPr>
          <p:grpSpPr bwMode="auto">
            <a:xfrm>
              <a:off x="0" y="1996"/>
              <a:ext cx="513" cy="499"/>
              <a:chOff x="0" y="1996"/>
              <a:chExt cx="513" cy="499"/>
            </a:xfrm>
          </p:grpSpPr>
          <p:sp>
            <p:nvSpPr>
              <p:cNvPr id="69" name="Rectangle 54"/>
              <p:cNvSpPr>
                <a:spLocks noChangeArrowheads="1"/>
              </p:cNvSpPr>
              <p:nvPr/>
            </p:nvSpPr>
            <p:spPr bwMode="auto">
              <a:xfrm>
                <a:off x="43" y="1996"/>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0" name="Rectangle 55"/>
              <p:cNvSpPr>
                <a:spLocks noChangeArrowheads="1"/>
              </p:cNvSpPr>
              <p:nvPr/>
            </p:nvSpPr>
            <p:spPr bwMode="auto">
              <a:xfrm>
                <a:off x="0" y="1996"/>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4" name="Group 56"/>
            <p:cNvGrpSpPr/>
            <p:nvPr/>
          </p:nvGrpSpPr>
          <p:grpSpPr bwMode="auto">
            <a:xfrm>
              <a:off x="513" y="1996"/>
              <a:ext cx="1272" cy="499"/>
              <a:chOff x="513" y="1996"/>
              <a:chExt cx="1272" cy="499"/>
            </a:xfrm>
          </p:grpSpPr>
          <p:sp>
            <p:nvSpPr>
              <p:cNvPr id="67" name="Rectangle 57"/>
              <p:cNvSpPr>
                <a:spLocks noChangeArrowheads="1"/>
              </p:cNvSpPr>
              <p:nvPr/>
            </p:nvSpPr>
            <p:spPr bwMode="auto">
              <a:xfrm>
                <a:off x="556" y="1996"/>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操作系统</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68" name="Rectangle 58"/>
              <p:cNvSpPr>
                <a:spLocks noChangeArrowheads="1"/>
              </p:cNvSpPr>
              <p:nvPr/>
            </p:nvSpPr>
            <p:spPr bwMode="auto">
              <a:xfrm>
                <a:off x="513" y="1996"/>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5" name="Group 59"/>
            <p:cNvGrpSpPr/>
            <p:nvPr/>
          </p:nvGrpSpPr>
          <p:grpSpPr bwMode="auto">
            <a:xfrm>
              <a:off x="1785" y="1996"/>
              <a:ext cx="611" cy="499"/>
              <a:chOff x="1785" y="1996"/>
              <a:chExt cx="611" cy="499"/>
            </a:xfrm>
          </p:grpSpPr>
          <p:sp>
            <p:nvSpPr>
              <p:cNvPr id="65" name="Rectangle 60"/>
              <p:cNvSpPr>
                <a:spLocks noChangeArrowheads="1"/>
              </p:cNvSpPr>
              <p:nvPr/>
            </p:nvSpPr>
            <p:spPr bwMode="auto">
              <a:xfrm>
                <a:off x="1828" y="1996"/>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66" name="Rectangle 61"/>
              <p:cNvSpPr>
                <a:spLocks noChangeArrowheads="1"/>
              </p:cNvSpPr>
              <p:nvPr/>
            </p:nvSpPr>
            <p:spPr bwMode="auto">
              <a:xfrm>
                <a:off x="1785" y="1996"/>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6" name="Group 62"/>
            <p:cNvGrpSpPr/>
            <p:nvPr/>
          </p:nvGrpSpPr>
          <p:grpSpPr bwMode="auto">
            <a:xfrm>
              <a:off x="2396" y="1996"/>
              <a:ext cx="767" cy="499"/>
              <a:chOff x="2396" y="1996"/>
              <a:chExt cx="767" cy="499"/>
            </a:xfrm>
          </p:grpSpPr>
          <p:sp>
            <p:nvSpPr>
              <p:cNvPr id="63" name="Rectangle 63"/>
              <p:cNvSpPr>
                <a:spLocks noChangeArrowheads="1"/>
              </p:cNvSpPr>
              <p:nvPr/>
            </p:nvSpPr>
            <p:spPr bwMode="auto">
              <a:xfrm>
                <a:off x="2439" y="1996"/>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64" name="Rectangle 64"/>
              <p:cNvSpPr>
                <a:spLocks noChangeArrowheads="1"/>
              </p:cNvSpPr>
              <p:nvPr/>
            </p:nvSpPr>
            <p:spPr bwMode="auto">
              <a:xfrm>
                <a:off x="2396" y="1996"/>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7" name="Group 65"/>
            <p:cNvGrpSpPr/>
            <p:nvPr/>
          </p:nvGrpSpPr>
          <p:grpSpPr bwMode="auto">
            <a:xfrm>
              <a:off x="0" y="2495"/>
              <a:ext cx="513" cy="499"/>
              <a:chOff x="0" y="2495"/>
              <a:chExt cx="513" cy="499"/>
            </a:xfrm>
          </p:grpSpPr>
          <p:sp>
            <p:nvSpPr>
              <p:cNvPr id="61" name="Rectangle 66"/>
              <p:cNvSpPr>
                <a:spLocks noChangeArrowheads="1"/>
              </p:cNvSpPr>
              <p:nvPr/>
            </p:nvSpPr>
            <p:spPr bwMode="auto">
              <a:xfrm>
                <a:off x="43" y="2495"/>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62" name="Rectangle 67"/>
              <p:cNvSpPr>
                <a:spLocks noChangeArrowheads="1"/>
              </p:cNvSpPr>
              <p:nvPr/>
            </p:nvSpPr>
            <p:spPr bwMode="auto">
              <a:xfrm>
                <a:off x="0" y="2495"/>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8" name="Group 68"/>
            <p:cNvGrpSpPr/>
            <p:nvPr/>
          </p:nvGrpSpPr>
          <p:grpSpPr bwMode="auto">
            <a:xfrm>
              <a:off x="513" y="2495"/>
              <a:ext cx="1272" cy="499"/>
              <a:chOff x="513" y="2495"/>
              <a:chExt cx="1272" cy="499"/>
            </a:xfrm>
          </p:grpSpPr>
          <p:sp>
            <p:nvSpPr>
              <p:cNvPr id="59" name="Rectangle 69"/>
              <p:cNvSpPr>
                <a:spLocks noChangeArrowheads="1"/>
              </p:cNvSpPr>
              <p:nvPr/>
            </p:nvSpPr>
            <p:spPr bwMode="auto">
              <a:xfrm>
                <a:off x="556" y="2495"/>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数据结构</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60" name="Rectangle 70"/>
              <p:cNvSpPr>
                <a:spLocks noChangeArrowheads="1"/>
              </p:cNvSpPr>
              <p:nvPr/>
            </p:nvSpPr>
            <p:spPr bwMode="auto">
              <a:xfrm>
                <a:off x="513" y="2495"/>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9" name="Group 71"/>
            <p:cNvGrpSpPr/>
            <p:nvPr/>
          </p:nvGrpSpPr>
          <p:grpSpPr bwMode="auto">
            <a:xfrm>
              <a:off x="1785" y="2495"/>
              <a:ext cx="611" cy="499"/>
              <a:chOff x="1785" y="2495"/>
              <a:chExt cx="611" cy="499"/>
            </a:xfrm>
          </p:grpSpPr>
          <p:sp>
            <p:nvSpPr>
              <p:cNvPr id="57" name="Rectangle 72"/>
              <p:cNvSpPr>
                <a:spLocks noChangeArrowheads="1"/>
              </p:cNvSpPr>
              <p:nvPr/>
            </p:nvSpPr>
            <p:spPr bwMode="auto">
              <a:xfrm>
                <a:off x="1828" y="2495"/>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dirty="0">
                    <a:latin typeface="Times New Roman" panose="02020603050405020304" pitchFamily="18" charset="0"/>
                  </a:rPr>
                  <a:t>  </a:t>
                </a:r>
                <a:r>
                  <a:rPr kumimoji="1" lang="en-US" altLang="zh-CN" sz="2200" dirty="0">
                    <a:latin typeface="Times New Roman" panose="02020603050405020304" pitchFamily="18" charset="0"/>
                  </a:rPr>
                  <a:t>7</a:t>
                </a:r>
                <a:endParaRPr kumimoji="1" lang="en-US" altLang="zh-CN" sz="1000" b="0" dirty="0">
                  <a:latin typeface="Times New Roman" panose="02020603050405020304" pitchFamily="18" charset="0"/>
                </a:endParaRPr>
              </a:p>
              <a:p>
                <a:pPr>
                  <a:spcBef>
                    <a:spcPct val="0"/>
                  </a:spcBef>
                  <a:buFontTx/>
                  <a:buNone/>
                </a:pPr>
                <a:endParaRPr kumimoji="1" lang="zh-CN" altLang="en-US" sz="2400" b="0" dirty="0">
                  <a:latin typeface="Times New Roman" panose="02020603050405020304" pitchFamily="18" charset="0"/>
                </a:endParaRPr>
              </a:p>
            </p:txBody>
          </p:sp>
          <p:sp>
            <p:nvSpPr>
              <p:cNvPr id="58" name="Rectangle 73"/>
              <p:cNvSpPr>
                <a:spLocks noChangeArrowheads="1"/>
              </p:cNvSpPr>
              <p:nvPr/>
            </p:nvSpPr>
            <p:spPr bwMode="auto">
              <a:xfrm>
                <a:off x="1785" y="2495"/>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0" name="Group 74"/>
            <p:cNvGrpSpPr/>
            <p:nvPr/>
          </p:nvGrpSpPr>
          <p:grpSpPr bwMode="auto">
            <a:xfrm>
              <a:off x="2396" y="2495"/>
              <a:ext cx="767" cy="499"/>
              <a:chOff x="2396" y="2495"/>
              <a:chExt cx="767" cy="499"/>
            </a:xfrm>
          </p:grpSpPr>
          <p:sp>
            <p:nvSpPr>
              <p:cNvPr id="55" name="Rectangle 75"/>
              <p:cNvSpPr>
                <a:spLocks noChangeArrowheads="1"/>
              </p:cNvSpPr>
              <p:nvPr/>
            </p:nvSpPr>
            <p:spPr bwMode="auto">
              <a:xfrm>
                <a:off x="2439" y="2495"/>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56" name="Rectangle 76"/>
              <p:cNvSpPr>
                <a:spLocks noChangeArrowheads="1"/>
              </p:cNvSpPr>
              <p:nvPr/>
            </p:nvSpPr>
            <p:spPr bwMode="auto">
              <a:xfrm>
                <a:off x="2396" y="2495"/>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1" name="Group 77"/>
            <p:cNvGrpSpPr/>
            <p:nvPr/>
          </p:nvGrpSpPr>
          <p:grpSpPr bwMode="auto">
            <a:xfrm>
              <a:off x="0" y="2994"/>
              <a:ext cx="513" cy="499"/>
              <a:chOff x="0" y="2994"/>
              <a:chExt cx="513" cy="499"/>
            </a:xfrm>
          </p:grpSpPr>
          <p:sp>
            <p:nvSpPr>
              <p:cNvPr id="53" name="Rectangle 78"/>
              <p:cNvSpPr>
                <a:spLocks noChangeArrowheads="1"/>
              </p:cNvSpPr>
              <p:nvPr/>
            </p:nvSpPr>
            <p:spPr bwMode="auto">
              <a:xfrm>
                <a:off x="43" y="2994"/>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54" name="Rectangle 79"/>
              <p:cNvSpPr>
                <a:spLocks noChangeArrowheads="1"/>
              </p:cNvSpPr>
              <p:nvPr/>
            </p:nvSpPr>
            <p:spPr bwMode="auto">
              <a:xfrm>
                <a:off x="0" y="2994"/>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2" name="Group 80"/>
            <p:cNvGrpSpPr/>
            <p:nvPr/>
          </p:nvGrpSpPr>
          <p:grpSpPr bwMode="auto">
            <a:xfrm>
              <a:off x="513" y="2994"/>
              <a:ext cx="1272" cy="499"/>
              <a:chOff x="513" y="2994"/>
              <a:chExt cx="1272" cy="499"/>
            </a:xfrm>
          </p:grpSpPr>
          <p:sp>
            <p:nvSpPr>
              <p:cNvPr id="51" name="Rectangle 81"/>
              <p:cNvSpPr>
                <a:spLocks noChangeArrowheads="1"/>
              </p:cNvSpPr>
              <p:nvPr/>
            </p:nvSpPr>
            <p:spPr bwMode="auto">
              <a:xfrm>
                <a:off x="556" y="2994"/>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数据处理</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52" name="Rectangle 82"/>
              <p:cNvSpPr>
                <a:spLocks noChangeArrowheads="1"/>
              </p:cNvSpPr>
              <p:nvPr/>
            </p:nvSpPr>
            <p:spPr bwMode="auto">
              <a:xfrm>
                <a:off x="513" y="2994"/>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3" name="Group 83"/>
            <p:cNvGrpSpPr/>
            <p:nvPr/>
          </p:nvGrpSpPr>
          <p:grpSpPr bwMode="auto">
            <a:xfrm>
              <a:off x="1785" y="2994"/>
              <a:ext cx="611" cy="499"/>
              <a:chOff x="1785" y="2994"/>
              <a:chExt cx="611" cy="499"/>
            </a:xfrm>
          </p:grpSpPr>
          <p:sp>
            <p:nvSpPr>
              <p:cNvPr id="49" name="Rectangle 84"/>
              <p:cNvSpPr>
                <a:spLocks noChangeArrowheads="1"/>
              </p:cNvSpPr>
              <p:nvPr/>
            </p:nvSpPr>
            <p:spPr bwMode="auto">
              <a:xfrm>
                <a:off x="1828" y="2994"/>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50" name="Rectangle 85"/>
              <p:cNvSpPr>
                <a:spLocks noChangeArrowheads="1"/>
              </p:cNvSpPr>
              <p:nvPr/>
            </p:nvSpPr>
            <p:spPr bwMode="auto">
              <a:xfrm>
                <a:off x="1785" y="2994"/>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4" name="Group 86"/>
            <p:cNvGrpSpPr/>
            <p:nvPr/>
          </p:nvGrpSpPr>
          <p:grpSpPr bwMode="auto">
            <a:xfrm>
              <a:off x="2396" y="2994"/>
              <a:ext cx="767" cy="499"/>
              <a:chOff x="2396" y="2994"/>
              <a:chExt cx="767" cy="499"/>
            </a:xfrm>
          </p:grpSpPr>
          <p:sp>
            <p:nvSpPr>
              <p:cNvPr id="47" name="Rectangle 87"/>
              <p:cNvSpPr>
                <a:spLocks noChangeArrowheads="1"/>
              </p:cNvSpPr>
              <p:nvPr/>
            </p:nvSpPr>
            <p:spPr bwMode="auto">
              <a:xfrm>
                <a:off x="2439" y="2994"/>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48" name="Rectangle 88"/>
              <p:cNvSpPr>
                <a:spLocks noChangeArrowheads="1"/>
              </p:cNvSpPr>
              <p:nvPr/>
            </p:nvSpPr>
            <p:spPr bwMode="auto">
              <a:xfrm>
                <a:off x="2396" y="2994"/>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5" name="Group 89"/>
            <p:cNvGrpSpPr/>
            <p:nvPr/>
          </p:nvGrpSpPr>
          <p:grpSpPr bwMode="auto">
            <a:xfrm>
              <a:off x="0" y="3493"/>
              <a:ext cx="513" cy="499"/>
              <a:chOff x="0" y="3493"/>
              <a:chExt cx="513" cy="499"/>
            </a:xfrm>
          </p:grpSpPr>
          <p:sp>
            <p:nvSpPr>
              <p:cNvPr id="45" name="Rectangle 90"/>
              <p:cNvSpPr>
                <a:spLocks noChangeArrowheads="1"/>
              </p:cNvSpPr>
              <p:nvPr/>
            </p:nvSpPr>
            <p:spPr bwMode="auto">
              <a:xfrm>
                <a:off x="43" y="3493"/>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7</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46" name="Rectangle 91"/>
              <p:cNvSpPr>
                <a:spLocks noChangeArrowheads="1"/>
              </p:cNvSpPr>
              <p:nvPr/>
            </p:nvSpPr>
            <p:spPr bwMode="auto">
              <a:xfrm>
                <a:off x="0" y="3493"/>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6" name="Group 92"/>
            <p:cNvGrpSpPr/>
            <p:nvPr/>
          </p:nvGrpSpPr>
          <p:grpSpPr bwMode="auto">
            <a:xfrm>
              <a:off x="513" y="3493"/>
              <a:ext cx="1272" cy="499"/>
              <a:chOff x="513" y="3493"/>
              <a:chExt cx="1272" cy="499"/>
            </a:xfrm>
          </p:grpSpPr>
          <p:sp>
            <p:nvSpPr>
              <p:cNvPr id="43" name="Rectangle 93"/>
              <p:cNvSpPr>
                <a:spLocks noChangeArrowheads="1"/>
              </p:cNvSpPr>
              <p:nvPr/>
            </p:nvSpPr>
            <p:spPr bwMode="auto">
              <a:xfrm>
                <a:off x="556" y="3493"/>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PASCAL</a:t>
                </a:r>
                <a:r>
                  <a:rPr kumimoji="1" lang="zh-CN" altLang="en-US" sz="2200">
                    <a:latin typeface="Times New Roman" panose="02020603050405020304" pitchFamily="18" charset="0"/>
                  </a:rPr>
                  <a:t>语言</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44" name="Rectangle 94"/>
              <p:cNvSpPr>
                <a:spLocks noChangeArrowheads="1"/>
              </p:cNvSpPr>
              <p:nvPr/>
            </p:nvSpPr>
            <p:spPr bwMode="auto">
              <a:xfrm>
                <a:off x="513" y="3493"/>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7" name="Group 95"/>
            <p:cNvGrpSpPr/>
            <p:nvPr/>
          </p:nvGrpSpPr>
          <p:grpSpPr bwMode="auto">
            <a:xfrm>
              <a:off x="1785" y="3493"/>
              <a:ext cx="611" cy="499"/>
              <a:chOff x="1785" y="3493"/>
              <a:chExt cx="611" cy="499"/>
            </a:xfrm>
          </p:grpSpPr>
          <p:sp>
            <p:nvSpPr>
              <p:cNvPr id="41" name="Rectangle 96"/>
              <p:cNvSpPr>
                <a:spLocks noChangeArrowheads="1"/>
              </p:cNvSpPr>
              <p:nvPr/>
            </p:nvSpPr>
            <p:spPr bwMode="auto">
              <a:xfrm>
                <a:off x="1828" y="3493"/>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42" name="Rectangle 97"/>
              <p:cNvSpPr>
                <a:spLocks noChangeArrowheads="1"/>
              </p:cNvSpPr>
              <p:nvPr/>
            </p:nvSpPr>
            <p:spPr bwMode="auto">
              <a:xfrm>
                <a:off x="1785" y="3493"/>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38" name="Group 98"/>
            <p:cNvGrpSpPr/>
            <p:nvPr/>
          </p:nvGrpSpPr>
          <p:grpSpPr bwMode="auto">
            <a:xfrm>
              <a:off x="2396" y="3493"/>
              <a:ext cx="767" cy="499"/>
              <a:chOff x="2396" y="3493"/>
              <a:chExt cx="767" cy="499"/>
            </a:xfrm>
          </p:grpSpPr>
          <p:sp>
            <p:nvSpPr>
              <p:cNvPr id="39" name="Rectangle 99"/>
              <p:cNvSpPr>
                <a:spLocks noChangeArrowheads="1"/>
              </p:cNvSpPr>
              <p:nvPr/>
            </p:nvSpPr>
            <p:spPr bwMode="auto">
              <a:xfrm>
                <a:off x="2439" y="3493"/>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dirty="0">
                    <a:latin typeface="Times New Roman" panose="02020603050405020304" pitchFamily="18" charset="0"/>
                  </a:rPr>
                  <a:t>  </a:t>
                </a:r>
                <a:r>
                  <a:rPr kumimoji="1" lang="en-US" altLang="zh-CN" sz="2200" dirty="0">
                    <a:latin typeface="Times New Roman" panose="02020603050405020304" pitchFamily="18" charset="0"/>
                  </a:rPr>
                  <a:t>4</a:t>
                </a:r>
                <a:endParaRPr kumimoji="1" lang="en-US" altLang="zh-CN" sz="1000" b="0" dirty="0">
                  <a:latin typeface="Times New Roman" panose="02020603050405020304" pitchFamily="18" charset="0"/>
                </a:endParaRPr>
              </a:p>
              <a:p>
                <a:pPr>
                  <a:spcBef>
                    <a:spcPct val="0"/>
                  </a:spcBef>
                  <a:buFontTx/>
                  <a:buNone/>
                </a:pPr>
                <a:endParaRPr kumimoji="1" lang="zh-CN" altLang="en-US" sz="2400" b="0" dirty="0">
                  <a:latin typeface="Times New Roman" panose="02020603050405020304" pitchFamily="18" charset="0"/>
                </a:endParaRPr>
              </a:p>
            </p:txBody>
          </p:sp>
          <p:sp>
            <p:nvSpPr>
              <p:cNvPr id="40" name="Rectangle 100"/>
              <p:cNvSpPr>
                <a:spLocks noChangeArrowheads="1"/>
              </p:cNvSpPr>
              <p:nvPr/>
            </p:nvSpPr>
            <p:spPr bwMode="auto">
              <a:xfrm>
                <a:off x="2396" y="3493"/>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自连接</a:t>
            </a:r>
            <a:endParaRPr kumimoji="1" lang="en-US" altLang="zh-CN" sz="2400" b="0" dirty="0">
              <a:latin typeface="Times New Roman" panose="02020603050405020304" pitchFamily="18" charset="0"/>
              <a:cs typeface="Times New Roman" panose="02020603050405020304" pitchFamily="18" charset="0"/>
            </a:endParaRPr>
          </a:p>
          <a:p>
            <a:pPr marL="0" indent="0">
              <a:lnSpc>
                <a:spcPct val="110000"/>
              </a:lnSpc>
              <a:buNone/>
            </a:pPr>
            <a:r>
              <a:rPr lang="zh-CN" altLang="en-US" sz="2400" b="0" dirty="0">
                <a:latin typeface="Times New Roman" panose="02020603050405020304" pitchFamily="18" charset="0"/>
                <a:cs typeface="Times New Roman" panose="02020603050405020304" pitchFamily="18" charset="0"/>
              </a:rPr>
              <a:t>     </a:t>
            </a:r>
            <a:r>
              <a:rPr lang="en-GB" altLang="zh-CN" sz="2400" b="0" dirty="0">
                <a:latin typeface="Times New Roman" panose="02020603050405020304" pitchFamily="18" charset="0"/>
                <a:cs typeface="Times New Roman" panose="02020603050405020304" pitchFamily="18" charset="0"/>
              </a:rPr>
              <a:t>SECOND</a:t>
            </a:r>
            <a:r>
              <a:rPr lang="zh-CN" altLang="en-US" sz="2400" b="0" dirty="0">
                <a:latin typeface="Times New Roman" panose="02020603050405020304" pitchFamily="18" charset="0"/>
                <a:cs typeface="Times New Roman" panose="02020603050405020304" pitchFamily="18" charset="0"/>
              </a:rPr>
              <a:t>表（</a:t>
            </a:r>
            <a:r>
              <a:rPr lang="en-GB" altLang="zh-CN" sz="2400" b="0" dirty="0">
                <a:latin typeface="Times New Roman" panose="02020603050405020304" pitchFamily="18" charset="0"/>
                <a:cs typeface="Times New Roman" panose="02020603050405020304" pitchFamily="18" charset="0"/>
              </a:rPr>
              <a:t>Course</a:t>
            </a:r>
            <a:r>
              <a:rPr lang="zh-CN" altLang="en-US" sz="2400" b="0" dirty="0">
                <a:latin typeface="Times New Roman" panose="02020603050405020304" pitchFamily="18" charset="0"/>
                <a:cs typeface="Times New Roman" panose="02020603050405020304" pitchFamily="18" charset="0"/>
              </a:rPr>
              <a:t>表） </a:t>
            </a:r>
            <a:endParaRPr lang="zh-CN" altLang="en-US" sz="2400" b="0" dirty="0">
              <a:latin typeface="Times New Roman" panose="02020603050405020304" pitchFamily="18" charset="0"/>
              <a:cs typeface="Times New Roman" panose="02020603050405020304" pitchFamily="18" charset="0"/>
            </a:endParaRPr>
          </a:p>
          <a:p>
            <a:pPr marL="0" indent="0">
              <a:lnSpc>
                <a:spcPct val="110000"/>
              </a:lnSpc>
              <a:buNone/>
            </a:pPr>
            <a:r>
              <a:rPr lang="zh-CN" altLang="en-US"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grpSp>
        <p:nvGrpSpPr>
          <p:cNvPr id="103" name="Group 3"/>
          <p:cNvGrpSpPr/>
          <p:nvPr/>
        </p:nvGrpSpPr>
        <p:grpSpPr bwMode="auto">
          <a:xfrm>
            <a:off x="2561358" y="2390824"/>
            <a:ext cx="7124700" cy="4108450"/>
            <a:chOff x="-3" y="-3"/>
            <a:chExt cx="3169" cy="3998"/>
          </a:xfrm>
        </p:grpSpPr>
        <p:grpSp>
          <p:nvGrpSpPr>
            <p:cNvPr id="104" name="Group 4"/>
            <p:cNvGrpSpPr/>
            <p:nvPr/>
          </p:nvGrpSpPr>
          <p:grpSpPr bwMode="auto">
            <a:xfrm>
              <a:off x="0" y="0"/>
              <a:ext cx="3163" cy="3992"/>
              <a:chOff x="0" y="0"/>
              <a:chExt cx="3163" cy="3992"/>
            </a:xfrm>
          </p:grpSpPr>
          <p:grpSp>
            <p:nvGrpSpPr>
              <p:cNvPr id="106" name="Group 5"/>
              <p:cNvGrpSpPr/>
              <p:nvPr/>
            </p:nvGrpSpPr>
            <p:grpSpPr bwMode="auto">
              <a:xfrm>
                <a:off x="0" y="0"/>
                <a:ext cx="513" cy="499"/>
                <a:chOff x="0" y="0"/>
                <a:chExt cx="513" cy="499"/>
              </a:xfrm>
            </p:grpSpPr>
            <p:sp>
              <p:nvSpPr>
                <p:cNvPr id="200" name="Rectangle 6"/>
                <p:cNvSpPr>
                  <a:spLocks noChangeArrowheads="1"/>
                </p:cNvSpPr>
                <p:nvPr/>
              </p:nvSpPr>
              <p:spPr bwMode="auto">
                <a:xfrm>
                  <a:off x="43" y="0"/>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tabLst>
                      <a:tab pos="266700" algn="r"/>
                      <a:tab pos="2636520" algn="ctr"/>
                      <a:tab pos="527367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2636520" algn="ctr"/>
                      <a:tab pos="527367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2636520" algn="ctr"/>
                      <a:tab pos="527367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2636520" algn="ctr"/>
                      <a:tab pos="527367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Cno</a:t>
                  </a:r>
                  <a:endParaRPr kumimoji="1" lang="en-US" altLang="zh-CN" sz="9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201" name="Rectangle 7"/>
                <p:cNvSpPr>
                  <a:spLocks noChangeArrowheads="1"/>
                </p:cNvSpPr>
                <p:nvPr/>
              </p:nvSpPr>
              <p:spPr bwMode="auto">
                <a:xfrm>
                  <a:off x="0" y="0"/>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07" name="Group 8"/>
              <p:cNvGrpSpPr/>
              <p:nvPr/>
            </p:nvGrpSpPr>
            <p:grpSpPr bwMode="auto">
              <a:xfrm>
                <a:off x="513" y="0"/>
                <a:ext cx="1272" cy="499"/>
                <a:chOff x="513" y="0"/>
                <a:chExt cx="1272" cy="499"/>
              </a:xfrm>
            </p:grpSpPr>
            <p:sp>
              <p:nvSpPr>
                <p:cNvPr id="198" name="Rectangle 9"/>
                <p:cNvSpPr>
                  <a:spLocks noChangeArrowheads="1"/>
                </p:cNvSpPr>
                <p:nvPr/>
              </p:nvSpPr>
              <p:spPr bwMode="auto">
                <a:xfrm>
                  <a:off x="556" y="0"/>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Cname</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99" name="Rectangle 10"/>
                <p:cNvSpPr>
                  <a:spLocks noChangeArrowheads="1"/>
                </p:cNvSpPr>
                <p:nvPr/>
              </p:nvSpPr>
              <p:spPr bwMode="auto">
                <a:xfrm>
                  <a:off x="513" y="0"/>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08" name="Group 11"/>
              <p:cNvGrpSpPr/>
              <p:nvPr/>
            </p:nvGrpSpPr>
            <p:grpSpPr bwMode="auto">
              <a:xfrm>
                <a:off x="1785" y="0"/>
                <a:ext cx="611" cy="499"/>
                <a:chOff x="1785" y="0"/>
                <a:chExt cx="611" cy="499"/>
              </a:xfrm>
            </p:grpSpPr>
            <p:sp>
              <p:nvSpPr>
                <p:cNvPr id="196" name="Rectangle 12"/>
                <p:cNvSpPr>
                  <a:spLocks noChangeArrowheads="1"/>
                </p:cNvSpPr>
                <p:nvPr/>
              </p:nvSpPr>
              <p:spPr bwMode="auto">
                <a:xfrm>
                  <a:off x="1828" y="0"/>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Cpno</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97" name="Rectangle 13"/>
                <p:cNvSpPr>
                  <a:spLocks noChangeArrowheads="1"/>
                </p:cNvSpPr>
                <p:nvPr/>
              </p:nvSpPr>
              <p:spPr bwMode="auto">
                <a:xfrm>
                  <a:off x="1785" y="0"/>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09" name="Group 14"/>
              <p:cNvGrpSpPr/>
              <p:nvPr/>
            </p:nvGrpSpPr>
            <p:grpSpPr bwMode="auto">
              <a:xfrm>
                <a:off x="2396" y="0"/>
                <a:ext cx="767" cy="499"/>
                <a:chOff x="2396" y="0"/>
                <a:chExt cx="767" cy="499"/>
              </a:xfrm>
            </p:grpSpPr>
            <p:sp>
              <p:nvSpPr>
                <p:cNvPr id="194" name="Rectangle 15"/>
                <p:cNvSpPr>
                  <a:spLocks noChangeArrowheads="1"/>
                </p:cNvSpPr>
                <p:nvPr/>
              </p:nvSpPr>
              <p:spPr bwMode="auto">
                <a:xfrm>
                  <a:off x="2439" y="0"/>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a:latin typeface="Times New Roman" panose="02020603050405020304" pitchFamily="18" charset="0"/>
                    </a:rPr>
                    <a:t>Ccredit</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95" name="Rectangle 16"/>
                <p:cNvSpPr>
                  <a:spLocks noChangeArrowheads="1"/>
                </p:cNvSpPr>
                <p:nvPr/>
              </p:nvSpPr>
              <p:spPr bwMode="auto">
                <a:xfrm>
                  <a:off x="2396" y="0"/>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0" name="Group 17"/>
              <p:cNvGrpSpPr/>
              <p:nvPr/>
            </p:nvGrpSpPr>
            <p:grpSpPr bwMode="auto">
              <a:xfrm>
                <a:off x="0" y="499"/>
                <a:ext cx="513" cy="499"/>
                <a:chOff x="0" y="499"/>
                <a:chExt cx="513" cy="499"/>
              </a:xfrm>
            </p:grpSpPr>
            <p:sp>
              <p:nvSpPr>
                <p:cNvPr id="192" name="Rectangle 18"/>
                <p:cNvSpPr>
                  <a:spLocks noChangeArrowheads="1"/>
                </p:cNvSpPr>
                <p:nvPr/>
              </p:nvSpPr>
              <p:spPr bwMode="auto">
                <a:xfrm>
                  <a:off x="43" y="499"/>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93" name="Rectangle 19"/>
                <p:cNvSpPr>
                  <a:spLocks noChangeArrowheads="1"/>
                </p:cNvSpPr>
                <p:nvPr/>
              </p:nvSpPr>
              <p:spPr bwMode="auto">
                <a:xfrm>
                  <a:off x="0" y="499"/>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1" name="Group 20"/>
              <p:cNvGrpSpPr/>
              <p:nvPr/>
            </p:nvGrpSpPr>
            <p:grpSpPr bwMode="auto">
              <a:xfrm>
                <a:off x="513" y="499"/>
                <a:ext cx="1272" cy="499"/>
                <a:chOff x="513" y="499"/>
                <a:chExt cx="1272" cy="499"/>
              </a:xfrm>
            </p:grpSpPr>
            <p:sp>
              <p:nvSpPr>
                <p:cNvPr id="190" name="Rectangle 21"/>
                <p:cNvSpPr>
                  <a:spLocks noChangeArrowheads="1"/>
                </p:cNvSpPr>
                <p:nvPr/>
              </p:nvSpPr>
              <p:spPr bwMode="auto">
                <a:xfrm>
                  <a:off x="556" y="499"/>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数据库</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91" name="Rectangle 22"/>
                <p:cNvSpPr>
                  <a:spLocks noChangeArrowheads="1"/>
                </p:cNvSpPr>
                <p:nvPr/>
              </p:nvSpPr>
              <p:spPr bwMode="auto">
                <a:xfrm>
                  <a:off x="513" y="499"/>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2" name="Group 23"/>
              <p:cNvGrpSpPr/>
              <p:nvPr/>
            </p:nvGrpSpPr>
            <p:grpSpPr bwMode="auto">
              <a:xfrm>
                <a:off x="1785" y="499"/>
                <a:ext cx="611" cy="499"/>
                <a:chOff x="1785" y="499"/>
                <a:chExt cx="611" cy="499"/>
              </a:xfrm>
            </p:grpSpPr>
            <p:sp>
              <p:nvSpPr>
                <p:cNvPr id="188" name="Rectangle 24"/>
                <p:cNvSpPr>
                  <a:spLocks noChangeArrowheads="1"/>
                </p:cNvSpPr>
                <p:nvPr/>
              </p:nvSpPr>
              <p:spPr bwMode="auto">
                <a:xfrm>
                  <a:off x="1828" y="499"/>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89" name="Rectangle 25"/>
                <p:cNvSpPr>
                  <a:spLocks noChangeArrowheads="1"/>
                </p:cNvSpPr>
                <p:nvPr/>
              </p:nvSpPr>
              <p:spPr bwMode="auto">
                <a:xfrm>
                  <a:off x="1785" y="499"/>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3" name="Group 26"/>
              <p:cNvGrpSpPr/>
              <p:nvPr/>
            </p:nvGrpSpPr>
            <p:grpSpPr bwMode="auto">
              <a:xfrm>
                <a:off x="2396" y="499"/>
                <a:ext cx="767" cy="499"/>
                <a:chOff x="2396" y="499"/>
                <a:chExt cx="767" cy="499"/>
              </a:xfrm>
            </p:grpSpPr>
            <p:sp>
              <p:nvSpPr>
                <p:cNvPr id="186" name="Rectangle 27"/>
                <p:cNvSpPr>
                  <a:spLocks noChangeArrowheads="1"/>
                </p:cNvSpPr>
                <p:nvPr/>
              </p:nvSpPr>
              <p:spPr bwMode="auto">
                <a:xfrm>
                  <a:off x="2439" y="499"/>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  </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87" name="Rectangle 28"/>
                <p:cNvSpPr>
                  <a:spLocks noChangeArrowheads="1"/>
                </p:cNvSpPr>
                <p:nvPr/>
              </p:nvSpPr>
              <p:spPr bwMode="auto">
                <a:xfrm>
                  <a:off x="2396" y="499"/>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4" name="Group 29"/>
              <p:cNvGrpSpPr/>
              <p:nvPr/>
            </p:nvGrpSpPr>
            <p:grpSpPr bwMode="auto">
              <a:xfrm>
                <a:off x="0" y="998"/>
                <a:ext cx="513" cy="499"/>
                <a:chOff x="0" y="998"/>
                <a:chExt cx="513" cy="499"/>
              </a:xfrm>
            </p:grpSpPr>
            <p:sp>
              <p:nvSpPr>
                <p:cNvPr id="184" name="Rectangle 30"/>
                <p:cNvSpPr>
                  <a:spLocks noChangeArrowheads="1"/>
                </p:cNvSpPr>
                <p:nvPr/>
              </p:nvSpPr>
              <p:spPr bwMode="auto">
                <a:xfrm>
                  <a:off x="43" y="998"/>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85" name="Rectangle 31"/>
                <p:cNvSpPr>
                  <a:spLocks noChangeArrowheads="1"/>
                </p:cNvSpPr>
                <p:nvPr/>
              </p:nvSpPr>
              <p:spPr bwMode="auto">
                <a:xfrm>
                  <a:off x="0" y="998"/>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5" name="Group 32"/>
              <p:cNvGrpSpPr/>
              <p:nvPr/>
            </p:nvGrpSpPr>
            <p:grpSpPr bwMode="auto">
              <a:xfrm>
                <a:off x="513" y="998"/>
                <a:ext cx="1272" cy="499"/>
                <a:chOff x="513" y="998"/>
                <a:chExt cx="1272" cy="499"/>
              </a:xfrm>
            </p:grpSpPr>
            <p:sp>
              <p:nvSpPr>
                <p:cNvPr id="182" name="Rectangle 33"/>
                <p:cNvSpPr>
                  <a:spLocks noChangeArrowheads="1"/>
                </p:cNvSpPr>
                <p:nvPr/>
              </p:nvSpPr>
              <p:spPr bwMode="auto">
                <a:xfrm>
                  <a:off x="556" y="998"/>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数学</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83" name="Rectangle 34"/>
                <p:cNvSpPr>
                  <a:spLocks noChangeArrowheads="1"/>
                </p:cNvSpPr>
                <p:nvPr/>
              </p:nvSpPr>
              <p:spPr bwMode="auto">
                <a:xfrm>
                  <a:off x="513" y="998"/>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6" name="Group 35"/>
              <p:cNvGrpSpPr/>
              <p:nvPr/>
            </p:nvGrpSpPr>
            <p:grpSpPr bwMode="auto">
              <a:xfrm>
                <a:off x="1785" y="998"/>
                <a:ext cx="611" cy="499"/>
                <a:chOff x="1785" y="998"/>
                <a:chExt cx="611" cy="499"/>
              </a:xfrm>
            </p:grpSpPr>
            <p:sp>
              <p:nvSpPr>
                <p:cNvPr id="180" name="Rectangle 36"/>
                <p:cNvSpPr>
                  <a:spLocks noChangeArrowheads="1"/>
                </p:cNvSpPr>
                <p:nvPr/>
              </p:nvSpPr>
              <p:spPr bwMode="auto">
                <a:xfrm>
                  <a:off x="1828" y="998"/>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b="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81" name="Rectangle 37"/>
                <p:cNvSpPr>
                  <a:spLocks noChangeArrowheads="1"/>
                </p:cNvSpPr>
                <p:nvPr/>
              </p:nvSpPr>
              <p:spPr bwMode="auto">
                <a:xfrm>
                  <a:off x="1785" y="998"/>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7" name="Group 38"/>
              <p:cNvGrpSpPr/>
              <p:nvPr/>
            </p:nvGrpSpPr>
            <p:grpSpPr bwMode="auto">
              <a:xfrm>
                <a:off x="2396" y="998"/>
                <a:ext cx="767" cy="499"/>
                <a:chOff x="2396" y="998"/>
                <a:chExt cx="767" cy="499"/>
              </a:xfrm>
            </p:grpSpPr>
            <p:sp>
              <p:nvSpPr>
                <p:cNvPr id="178" name="Rectangle 39"/>
                <p:cNvSpPr>
                  <a:spLocks noChangeArrowheads="1"/>
                </p:cNvSpPr>
                <p:nvPr/>
              </p:nvSpPr>
              <p:spPr bwMode="auto">
                <a:xfrm>
                  <a:off x="2439" y="998"/>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79" name="Rectangle 40"/>
                <p:cNvSpPr>
                  <a:spLocks noChangeArrowheads="1"/>
                </p:cNvSpPr>
                <p:nvPr/>
              </p:nvSpPr>
              <p:spPr bwMode="auto">
                <a:xfrm>
                  <a:off x="2396" y="998"/>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8" name="Group 41"/>
              <p:cNvGrpSpPr/>
              <p:nvPr/>
            </p:nvGrpSpPr>
            <p:grpSpPr bwMode="auto">
              <a:xfrm>
                <a:off x="0" y="1497"/>
                <a:ext cx="513" cy="499"/>
                <a:chOff x="0" y="1497"/>
                <a:chExt cx="513" cy="499"/>
              </a:xfrm>
            </p:grpSpPr>
            <p:sp>
              <p:nvSpPr>
                <p:cNvPr id="176" name="Rectangle 42"/>
                <p:cNvSpPr>
                  <a:spLocks noChangeArrowheads="1"/>
                </p:cNvSpPr>
                <p:nvPr/>
              </p:nvSpPr>
              <p:spPr bwMode="auto">
                <a:xfrm>
                  <a:off x="43" y="1497"/>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77" name="Rectangle 43"/>
                <p:cNvSpPr>
                  <a:spLocks noChangeArrowheads="1"/>
                </p:cNvSpPr>
                <p:nvPr/>
              </p:nvSpPr>
              <p:spPr bwMode="auto">
                <a:xfrm>
                  <a:off x="0" y="1497"/>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9" name="Group 44"/>
              <p:cNvGrpSpPr/>
              <p:nvPr/>
            </p:nvGrpSpPr>
            <p:grpSpPr bwMode="auto">
              <a:xfrm>
                <a:off x="513" y="1497"/>
                <a:ext cx="1272" cy="499"/>
                <a:chOff x="513" y="1497"/>
                <a:chExt cx="1272" cy="499"/>
              </a:xfrm>
            </p:grpSpPr>
            <p:sp>
              <p:nvSpPr>
                <p:cNvPr id="174" name="Rectangle 45"/>
                <p:cNvSpPr>
                  <a:spLocks noChangeArrowheads="1"/>
                </p:cNvSpPr>
                <p:nvPr/>
              </p:nvSpPr>
              <p:spPr bwMode="auto">
                <a:xfrm>
                  <a:off x="556" y="1497"/>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信息系统</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75" name="Rectangle 46"/>
                <p:cNvSpPr>
                  <a:spLocks noChangeArrowheads="1"/>
                </p:cNvSpPr>
                <p:nvPr/>
              </p:nvSpPr>
              <p:spPr bwMode="auto">
                <a:xfrm>
                  <a:off x="513" y="1497"/>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0" name="Group 47"/>
              <p:cNvGrpSpPr/>
              <p:nvPr/>
            </p:nvGrpSpPr>
            <p:grpSpPr bwMode="auto">
              <a:xfrm>
                <a:off x="1785" y="1497"/>
                <a:ext cx="611" cy="499"/>
                <a:chOff x="1785" y="1497"/>
                <a:chExt cx="611" cy="499"/>
              </a:xfrm>
            </p:grpSpPr>
            <p:sp>
              <p:nvSpPr>
                <p:cNvPr id="172" name="Rectangle 48"/>
                <p:cNvSpPr>
                  <a:spLocks noChangeArrowheads="1"/>
                </p:cNvSpPr>
                <p:nvPr/>
              </p:nvSpPr>
              <p:spPr bwMode="auto">
                <a:xfrm>
                  <a:off x="1828" y="1497"/>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73" name="Rectangle 49"/>
                <p:cNvSpPr>
                  <a:spLocks noChangeArrowheads="1"/>
                </p:cNvSpPr>
                <p:nvPr/>
              </p:nvSpPr>
              <p:spPr bwMode="auto">
                <a:xfrm>
                  <a:off x="1785" y="1497"/>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1" name="Group 50"/>
              <p:cNvGrpSpPr/>
              <p:nvPr/>
            </p:nvGrpSpPr>
            <p:grpSpPr bwMode="auto">
              <a:xfrm>
                <a:off x="2396" y="1497"/>
                <a:ext cx="767" cy="499"/>
                <a:chOff x="2396" y="1497"/>
                <a:chExt cx="767" cy="499"/>
              </a:xfrm>
            </p:grpSpPr>
            <p:sp>
              <p:nvSpPr>
                <p:cNvPr id="170" name="Rectangle 51"/>
                <p:cNvSpPr>
                  <a:spLocks noChangeArrowheads="1"/>
                </p:cNvSpPr>
                <p:nvPr/>
              </p:nvSpPr>
              <p:spPr bwMode="auto">
                <a:xfrm>
                  <a:off x="2439" y="1497"/>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71" name="Rectangle 52"/>
                <p:cNvSpPr>
                  <a:spLocks noChangeArrowheads="1"/>
                </p:cNvSpPr>
                <p:nvPr/>
              </p:nvSpPr>
              <p:spPr bwMode="auto">
                <a:xfrm>
                  <a:off x="2396" y="1497"/>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2" name="Group 53"/>
              <p:cNvGrpSpPr/>
              <p:nvPr/>
            </p:nvGrpSpPr>
            <p:grpSpPr bwMode="auto">
              <a:xfrm>
                <a:off x="0" y="1996"/>
                <a:ext cx="513" cy="499"/>
                <a:chOff x="0" y="1996"/>
                <a:chExt cx="513" cy="499"/>
              </a:xfrm>
            </p:grpSpPr>
            <p:sp>
              <p:nvSpPr>
                <p:cNvPr id="168" name="Rectangle 54"/>
                <p:cNvSpPr>
                  <a:spLocks noChangeArrowheads="1"/>
                </p:cNvSpPr>
                <p:nvPr/>
              </p:nvSpPr>
              <p:spPr bwMode="auto">
                <a:xfrm>
                  <a:off x="43" y="1996"/>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69" name="Rectangle 55"/>
                <p:cNvSpPr>
                  <a:spLocks noChangeArrowheads="1"/>
                </p:cNvSpPr>
                <p:nvPr/>
              </p:nvSpPr>
              <p:spPr bwMode="auto">
                <a:xfrm>
                  <a:off x="0" y="1996"/>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3" name="Group 56"/>
              <p:cNvGrpSpPr/>
              <p:nvPr/>
            </p:nvGrpSpPr>
            <p:grpSpPr bwMode="auto">
              <a:xfrm>
                <a:off x="513" y="1996"/>
                <a:ext cx="1272" cy="499"/>
                <a:chOff x="513" y="1996"/>
                <a:chExt cx="1272" cy="499"/>
              </a:xfrm>
            </p:grpSpPr>
            <p:sp>
              <p:nvSpPr>
                <p:cNvPr id="166" name="Rectangle 57"/>
                <p:cNvSpPr>
                  <a:spLocks noChangeArrowheads="1"/>
                </p:cNvSpPr>
                <p:nvPr/>
              </p:nvSpPr>
              <p:spPr bwMode="auto">
                <a:xfrm>
                  <a:off x="556" y="1996"/>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操作系统</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67" name="Rectangle 58"/>
                <p:cNvSpPr>
                  <a:spLocks noChangeArrowheads="1"/>
                </p:cNvSpPr>
                <p:nvPr/>
              </p:nvSpPr>
              <p:spPr bwMode="auto">
                <a:xfrm>
                  <a:off x="513" y="1996"/>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4" name="Group 59"/>
              <p:cNvGrpSpPr/>
              <p:nvPr/>
            </p:nvGrpSpPr>
            <p:grpSpPr bwMode="auto">
              <a:xfrm>
                <a:off x="1785" y="1996"/>
                <a:ext cx="611" cy="499"/>
                <a:chOff x="1785" y="1996"/>
                <a:chExt cx="611" cy="499"/>
              </a:xfrm>
            </p:grpSpPr>
            <p:sp>
              <p:nvSpPr>
                <p:cNvPr id="164" name="Rectangle 60"/>
                <p:cNvSpPr>
                  <a:spLocks noChangeArrowheads="1"/>
                </p:cNvSpPr>
                <p:nvPr/>
              </p:nvSpPr>
              <p:spPr bwMode="auto">
                <a:xfrm>
                  <a:off x="1828" y="1996"/>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65" name="Rectangle 61"/>
                <p:cNvSpPr>
                  <a:spLocks noChangeArrowheads="1"/>
                </p:cNvSpPr>
                <p:nvPr/>
              </p:nvSpPr>
              <p:spPr bwMode="auto">
                <a:xfrm>
                  <a:off x="1785" y="1996"/>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5" name="Group 62"/>
              <p:cNvGrpSpPr/>
              <p:nvPr/>
            </p:nvGrpSpPr>
            <p:grpSpPr bwMode="auto">
              <a:xfrm>
                <a:off x="2396" y="1996"/>
                <a:ext cx="767" cy="499"/>
                <a:chOff x="2396" y="1996"/>
                <a:chExt cx="767" cy="499"/>
              </a:xfrm>
            </p:grpSpPr>
            <p:sp>
              <p:nvSpPr>
                <p:cNvPr id="162" name="Rectangle 63"/>
                <p:cNvSpPr>
                  <a:spLocks noChangeArrowheads="1"/>
                </p:cNvSpPr>
                <p:nvPr/>
              </p:nvSpPr>
              <p:spPr bwMode="auto">
                <a:xfrm>
                  <a:off x="2439" y="1996"/>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63" name="Rectangle 64"/>
                <p:cNvSpPr>
                  <a:spLocks noChangeArrowheads="1"/>
                </p:cNvSpPr>
                <p:nvPr/>
              </p:nvSpPr>
              <p:spPr bwMode="auto">
                <a:xfrm>
                  <a:off x="2396" y="1996"/>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6" name="Group 65"/>
              <p:cNvGrpSpPr/>
              <p:nvPr/>
            </p:nvGrpSpPr>
            <p:grpSpPr bwMode="auto">
              <a:xfrm>
                <a:off x="0" y="2495"/>
                <a:ext cx="513" cy="499"/>
                <a:chOff x="0" y="2495"/>
                <a:chExt cx="513" cy="499"/>
              </a:xfrm>
            </p:grpSpPr>
            <p:sp>
              <p:nvSpPr>
                <p:cNvPr id="160" name="Rectangle 66"/>
                <p:cNvSpPr>
                  <a:spLocks noChangeArrowheads="1"/>
                </p:cNvSpPr>
                <p:nvPr/>
              </p:nvSpPr>
              <p:spPr bwMode="auto">
                <a:xfrm>
                  <a:off x="43" y="2495"/>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61" name="Rectangle 67"/>
                <p:cNvSpPr>
                  <a:spLocks noChangeArrowheads="1"/>
                </p:cNvSpPr>
                <p:nvPr/>
              </p:nvSpPr>
              <p:spPr bwMode="auto">
                <a:xfrm>
                  <a:off x="0" y="2495"/>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7" name="Group 68"/>
              <p:cNvGrpSpPr/>
              <p:nvPr/>
            </p:nvGrpSpPr>
            <p:grpSpPr bwMode="auto">
              <a:xfrm>
                <a:off x="513" y="2495"/>
                <a:ext cx="1272" cy="499"/>
                <a:chOff x="513" y="2495"/>
                <a:chExt cx="1272" cy="499"/>
              </a:xfrm>
            </p:grpSpPr>
            <p:sp>
              <p:nvSpPr>
                <p:cNvPr id="158" name="Rectangle 69"/>
                <p:cNvSpPr>
                  <a:spLocks noChangeArrowheads="1"/>
                </p:cNvSpPr>
                <p:nvPr/>
              </p:nvSpPr>
              <p:spPr bwMode="auto">
                <a:xfrm>
                  <a:off x="556" y="2495"/>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数据结构</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59" name="Rectangle 70"/>
                <p:cNvSpPr>
                  <a:spLocks noChangeArrowheads="1"/>
                </p:cNvSpPr>
                <p:nvPr/>
              </p:nvSpPr>
              <p:spPr bwMode="auto">
                <a:xfrm>
                  <a:off x="513" y="2495"/>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8" name="Group 71"/>
              <p:cNvGrpSpPr/>
              <p:nvPr/>
            </p:nvGrpSpPr>
            <p:grpSpPr bwMode="auto">
              <a:xfrm>
                <a:off x="1785" y="2495"/>
                <a:ext cx="611" cy="499"/>
                <a:chOff x="1785" y="2495"/>
                <a:chExt cx="611" cy="499"/>
              </a:xfrm>
            </p:grpSpPr>
            <p:sp>
              <p:nvSpPr>
                <p:cNvPr id="156" name="Rectangle 72"/>
                <p:cNvSpPr>
                  <a:spLocks noChangeArrowheads="1"/>
                </p:cNvSpPr>
                <p:nvPr/>
              </p:nvSpPr>
              <p:spPr bwMode="auto">
                <a:xfrm>
                  <a:off x="1828" y="2495"/>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7</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57" name="Rectangle 73"/>
                <p:cNvSpPr>
                  <a:spLocks noChangeArrowheads="1"/>
                </p:cNvSpPr>
                <p:nvPr/>
              </p:nvSpPr>
              <p:spPr bwMode="auto">
                <a:xfrm>
                  <a:off x="1785" y="2495"/>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9" name="Group 74"/>
              <p:cNvGrpSpPr/>
              <p:nvPr/>
            </p:nvGrpSpPr>
            <p:grpSpPr bwMode="auto">
              <a:xfrm>
                <a:off x="2396" y="2495"/>
                <a:ext cx="767" cy="499"/>
                <a:chOff x="2396" y="2495"/>
                <a:chExt cx="767" cy="499"/>
              </a:xfrm>
            </p:grpSpPr>
            <p:sp>
              <p:nvSpPr>
                <p:cNvPr id="154" name="Rectangle 75"/>
                <p:cNvSpPr>
                  <a:spLocks noChangeArrowheads="1"/>
                </p:cNvSpPr>
                <p:nvPr/>
              </p:nvSpPr>
              <p:spPr bwMode="auto">
                <a:xfrm>
                  <a:off x="2439" y="2495"/>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55" name="Rectangle 76"/>
                <p:cNvSpPr>
                  <a:spLocks noChangeArrowheads="1"/>
                </p:cNvSpPr>
                <p:nvPr/>
              </p:nvSpPr>
              <p:spPr bwMode="auto">
                <a:xfrm>
                  <a:off x="2396" y="2495"/>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0" name="Group 77"/>
              <p:cNvGrpSpPr/>
              <p:nvPr/>
            </p:nvGrpSpPr>
            <p:grpSpPr bwMode="auto">
              <a:xfrm>
                <a:off x="0" y="2994"/>
                <a:ext cx="513" cy="499"/>
                <a:chOff x="0" y="2994"/>
                <a:chExt cx="513" cy="499"/>
              </a:xfrm>
            </p:grpSpPr>
            <p:sp>
              <p:nvSpPr>
                <p:cNvPr id="152" name="Rectangle 78"/>
                <p:cNvSpPr>
                  <a:spLocks noChangeArrowheads="1"/>
                </p:cNvSpPr>
                <p:nvPr/>
              </p:nvSpPr>
              <p:spPr bwMode="auto">
                <a:xfrm>
                  <a:off x="43" y="2994"/>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53" name="Rectangle 79"/>
                <p:cNvSpPr>
                  <a:spLocks noChangeArrowheads="1"/>
                </p:cNvSpPr>
                <p:nvPr/>
              </p:nvSpPr>
              <p:spPr bwMode="auto">
                <a:xfrm>
                  <a:off x="0" y="2994"/>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1" name="Group 80"/>
              <p:cNvGrpSpPr/>
              <p:nvPr/>
            </p:nvGrpSpPr>
            <p:grpSpPr bwMode="auto">
              <a:xfrm>
                <a:off x="513" y="2994"/>
                <a:ext cx="1272" cy="499"/>
                <a:chOff x="513" y="2994"/>
                <a:chExt cx="1272" cy="499"/>
              </a:xfrm>
            </p:grpSpPr>
            <p:sp>
              <p:nvSpPr>
                <p:cNvPr id="150" name="Rectangle 81"/>
                <p:cNvSpPr>
                  <a:spLocks noChangeArrowheads="1"/>
                </p:cNvSpPr>
                <p:nvPr/>
              </p:nvSpPr>
              <p:spPr bwMode="auto">
                <a:xfrm>
                  <a:off x="556" y="2994"/>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数据处理</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51" name="Rectangle 82"/>
                <p:cNvSpPr>
                  <a:spLocks noChangeArrowheads="1"/>
                </p:cNvSpPr>
                <p:nvPr/>
              </p:nvSpPr>
              <p:spPr bwMode="auto">
                <a:xfrm>
                  <a:off x="513" y="2994"/>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2" name="Group 83"/>
              <p:cNvGrpSpPr/>
              <p:nvPr/>
            </p:nvGrpSpPr>
            <p:grpSpPr bwMode="auto">
              <a:xfrm>
                <a:off x="1785" y="2994"/>
                <a:ext cx="611" cy="499"/>
                <a:chOff x="1785" y="2994"/>
                <a:chExt cx="611" cy="499"/>
              </a:xfrm>
            </p:grpSpPr>
            <p:sp>
              <p:nvSpPr>
                <p:cNvPr id="148" name="Rectangle 84"/>
                <p:cNvSpPr>
                  <a:spLocks noChangeArrowheads="1"/>
                </p:cNvSpPr>
                <p:nvPr/>
              </p:nvSpPr>
              <p:spPr bwMode="auto">
                <a:xfrm>
                  <a:off x="1828" y="2994"/>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49" name="Rectangle 85"/>
                <p:cNvSpPr>
                  <a:spLocks noChangeArrowheads="1"/>
                </p:cNvSpPr>
                <p:nvPr/>
              </p:nvSpPr>
              <p:spPr bwMode="auto">
                <a:xfrm>
                  <a:off x="1785" y="2994"/>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3" name="Group 86"/>
              <p:cNvGrpSpPr/>
              <p:nvPr/>
            </p:nvGrpSpPr>
            <p:grpSpPr bwMode="auto">
              <a:xfrm>
                <a:off x="2396" y="2994"/>
                <a:ext cx="767" cy="499"/>
                <a:chOff x="2396" y="2994"/>
                <a:chExt cx="767" cy="499"/>
              </a:xfrm>
            </p:grpSpPr>
            <p:sp>
              <p:nvSpPr>
                <p:cNvPr id="146" name="Rectangle 87"/>
                <p:cNvSpPr>
                  <a:spLocks noChangeArrowheads="1"/>
                </p:cNvSpPr>
                <p:nvPr/>
              </p:nvSpPr>
              <p:spPr bwMode="auto">
                <a:xfrm>
                  <a:off x="2439" y="2994"/>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47" name="Rectangle 88"/>
                <p:cNvSpPr>
                  <a:spLocks noChangeArrowheads="1"/>
                </p:cNvSpPr>
                <p:nvPr/>
              </p:nvSpPr>
              <p:spPr bwMode="auto">
                <a:xfrm>
                  <a:off x="2396" y="2994"/>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4" name="Group 89"/>
              <p:cNvGrpSpPr/>
              <p:nvPr/>
            </p:nvGrpSpPr>
            <p:grpSpPr bwMode="auto">
              <a:xfrm>
                <a:off x="0" y="3493"/>
                <a:ext cx="513" cy="499"/>
                <a:chOff x="0" y="3493"/>
                <a:chExt cx="513" cy="499"/>
              </a:xfrm>
            </p:grpSpPr>
            <p:sp>
              <p:nvSpPr>
                <p:cNvPr id="144" name="Rectangle 90"/>
                <p:cNvSpPr>
                  <a:spLocks noChangeArrowheads="1"/>
                </p:cNvSpPr>
                <p:nvPr/>
              </p:nvSpPr>
              <p:spPr bwMode="auto">
                <a:xfrm>
                  <a:off x="43" y="3493"/>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7</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45" name="Rectangle 91"/>
                <p:cNvSpPr>
                  <a:spLocks noChangeArrowheads="1"/>
                </p:cNvSpPr>
                <p:nvPr/>
              </p:nvSpPr>
              <p:spPr bwMode="auto">
                <a:xfrm>
                  <a:off x="0" y="3493"/>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5" name="Group 92"/>
              <p:cNvGrpSpPr/>
              <p:nvPr/>
            </p:nvGrpSpPr>
            <p:grpSpPr bwMode="auto">
              <a:xfrm>
                <a:off x="513" y="3493"/>
                <a:ext cx="1272" cy="499"/>
                <a:chOff x="513" y="3493"/>
                <a:chExt cx="1272" cy="499"/>
              </a:xfrm>
            </p:grpSpPr>
            <p:sp>
              <p:nvSpPr>
                <p:cNvPr id="142" name="Rectangle 93"/>
                <p:cNvSpPr>
                  <a:spLocks noChangeArrowheads="1"/>
                </p:cNvSpPr>
                <p:nvPr/>
              </p:nvSpPr>
              <p:spPr bwMode="auto">
                <a:xfrm>
                  <a:off x="556" y="3493"/>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200" dirty="0">
                      <a:latin typeface="Times New Roman" panose="02020603050405020304" pitchFamily="18" charset="0"/>
                    </a:rPr>
                    <a:t>PASCAL</a:t>
                  </a:r>
                  <a:r>
                    <a:rPr kumimoji="1" lang="zh-CN" altLang="en-US" sz="2200" dirty="0">
                      <a:latin typeface="Times New Roman" panose="02020603050405020304" pitchFamily="18" charset="0"/>
                    </a:rPr>
                    <a:t>语言</a:t>
                  </a:r>
                  <a:endParaRPr kumimoji="1" lang="zh-CN" altLang="en-US" sz="1000" b="0" dirty="0">
                    <a:latin typeface="Times New Roman" panose="02020603050405020304" pitchFamily="18" charset="0"/>
                  </a:endParaRPr>
                </a:p>
                <a:p>
                  <a:pPr>
                    <a:spcBef>
                      <a:spcPct val="0"/>
                    </a:spcBef>
                    <a:buFontTx/>
                    <a:buNone/>
                  </a:pPr>
                  <a:endParaRPr kumimoji="1" lang="zh-CN" altLang="en-US" sz="2400" b="0" dirty="0">
                    <a:latin typeface="Times New Roman" panose="02020603050405020304" pitchFamily="18" charset="0"/>
                  </a:endParaRPr>
                </a:p>
              </p:txBody>
            </p:sp>
            <p:sp>
              <p:nvSpPr>
                <p:cNvPr id="143" name="Rectangle 94"/>
                <p:cNvSpPr>
                  <a:spLocks noChangeArrowheads="1"/>
                </p:cNvSpPr>
                <p:nvPr/>
              </p:nvSpPr>
              <p:spPr bwMode="auto">
                <a:xfrm>
                  <a:off x="513" y="3493"/>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6" name="Group 95"/>
              <p:cNvGrpSpPr/>
              <p:nvPr/>
            </p:nvGrpSpPr>
            <p:grpSpPr bwMode="auto">
              <a:xfrm>
                <a:off x="1785" y="3493"/>
                <a:ext cx="611" cy="499"/>
                <a:chOff x="1785" y="3493"/>
                <a:chExt cx="611" cy="499"/>
              </a:xfrm>
            </p:grpSpPr>
            <p:sp>
              <p:nvSpPr>
                <p:cNvPr id="140" name="Rectangle 96"/>
                <p:cNvSpPr>
                  <a:spLocks noChangeArrowheads="1"/>
                </p:cNvSpPr>
                <p:nvPr/>
              </p:nvSpPr>
              <p:spPr bwMode="auto">
                <a:xfrm>
                  <a:off x="1828" y="3493"/>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41" name="Rectangle 97"/>
                <p:cNvSpPr>
                  <a:spLocks noChangeArrowheads="1"/>
                </p:cNvSpPr>
                <p:nvPr/>
              </p:nvSpPr>
              <p:spPr bwMode="auto">
                <a:xfrm>
                  <a:off x="1785" y="3493"/>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7" name="Group 98"/>
              <p:cNvGrpSpPr/>
              <p:nvPr/>
            </p:nvGrpSpPr>
            <p:grpSpPr bwMode="auto">
              <a:xfrm>
                <a:off x="2396" y="3493"/>
                <a:ext cx="767" cy="499"/>
                <a:chOff x="2396" y="3493"/>
                <a:chExt cx="767" cy="499"/>
              </a:xfrm>
            </p:grpSpPr>
            <p:sp>
              <p:nvSpPr>
                <p:cNvPr id="138" name="Rectangle 99"/>
                <p:cNvSpPr>
                  <a:spLocks noChangeArrowheads="1"/>
                </p:cNvSpPr>
                <p:nvPr/>
              </p:nvSpPr>
              <p:spPr bwMode="auto">
                <a:xfrm>
                  <a:off x="2439" y="3493"/>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a:latin typeface="Times New Roman" panose="02020603050405020304" pitchFamily="18" charset="0"/>
                    </a:rPr>
                    <a:t>  </a:t>
                  </a:r>
                  <a:r>
                    <a:rPr kumimoji="1" lang="en-US" altLang="zh-CN" sz="22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139" name="Rectangle 100"/>
                <p:cNvSpPr>
                  <a:spLocks noChangeArrowheads="1"/>
                </p:cNvSpPr>
                <p:nvPr/>
              </p:nvSpPr>
              <p:spPr bwMode="auto">
                <a:xfrm>
                  <a:off x="2396" y="3493"/>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sp>
          <p:nvSpPr>
            <p:cNvPr id="105" name="Rectangle 101"/>
            <p:cNvSpPr>
              <a:spLocks noChangeArrowheads="1"/>
            </p:cNvSpPr>
            <p:nvPr/>
          </p:nvSpPr>
          <p:spPr bwMode="auto">
            <a:xfrm>
              <a:off x="-3" y="-3"/>
              <a:ext cx="3169" cy="3998"/>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自连接</a:t>
            </a:r>
            <a:endParaRPr kumimoji="1" lang="en-US" altLang="zh-CN" sz="2400" b="0" dirty="0">
              <a:latin typeface="Times New Roman" panose="02020603050405020304" pitchFamily="18" charset="0"/>
              <a:cs typeface="Times New Roman" panose="02020603050405020304" pitchFamily="18" charset="0"/>
            </a:endParaRPr>
          </a:p>
          <a:p>
            <a:pPr marL="0" indent="0">
              <a:lnSpc>
                <a:spcPct val="110000"/>
              </a:lnSpc>
              <a:buNone/>
            </a:pPr>
            <a:r>
              <a:rPr lang="zh-CN" altLang="en-US"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Rectangle 3"/>
          <p:cNvSpPr txBox="1">
            <a:spLocks noChangeArrowheads="1"/>
          </p:cNvSpPr>
          <p:nvPr/>
        </p:nvSpPr>
        <p:spPr>
          <a:xfrm>
            <a:off x="2851157" y="1600200"/>
            <a:ext cx="1663693" cy="59690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600" b="0" dirty="0"/>
              <a:t>查询结果：</a:t>
            </a:r>
            <a:endParaRPr lang="zh-CN" altLang="en-US" sz="2600" b="0" dirty="0"/>
          </a:p>
        </p:txBody>
      </p:sp>
      <p:graphicFrame>
        <p:nvGraphicFramePr>
          <p:cNvPr id="7" name="Group 38"/>
          <p:cNvGraphicFramePr/>
          <p:nvPr/>
        </p:nvGraphicFramePr>
        <p:xfrm>
          <a:off x="9350087" y="2358227"/>
          <a:ext cx="2444750" cy="3576638"/>
        </p:xfrm>
        <a:graphic>
          <a:graphicData uri="http://schemas.openxmlformats.org/drawingml/2006/table">
            <a:tbl>
              <a:tblPr/>
              <a:tblGrid>
                <a:gridCol w="1222375"/>
                <a:gridCol w="1222375"/>
              </a:tblGrid>
              <a:tr h="63009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Cno</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cap="flat">
                      <a:noFill/>
                    </a:lnL>
                    <a:lnR>
                      <a:noFill/>
                    </a:lnR>
                    <a:lnT cap="fla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Pcno</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a:noFill/>
                    </a:lnL>
                    <a:lnR cap="flat">
                      <a:noFill/>
                    </a:lnR>
                    <a:lnT cap="flat">
                      <a:noFill/>
                    </a:lnT>
                    <a:lnB>
                      <a:noFill/>
                    </a:lnB>
                    <a:lnTlToBr>
                      <a:noFill/>
                    </a:lnTlToBr>
                    <a:lnBlToTr>
                      <a:noFill/>
                    </a:lnBlToTr>
                    <a:noFill/>
                  </a:tcPr>
                </a:tc>
              </a:tr>
              <a:tr h="63009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a:noFill/>
                    </a:lnL>
                    <a:lnR cap="flat">
                      <a:noFill/>
                    </a:lnR>
                    <a:lnT>
                      <a:noFill/>
                    </a:lnT>
                    <a:lnB>
                      <a:noFill/>
                    </a:lnB>
                    <a:lnTlToBr>
                      <a:noFill/>
                    </a:lnTlToBr>
                    <a:lnBlToTr>
                      <a:noFill/>
                    </a:lnBlToTr>
                    <a:noFill/>
                  </a:tcPr>
                </a:tc>
              </a:tr>
              <a:tr h="13106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a:noFill/>
                    </a:lnL>
                    <a:lnR cap="flat">
                      <a:noFill/>
                    </a:lnR>
                    <a:lnT>
                      <a:noFill/>
                    </a:lnT>
                    <a:lnB>
                      <a:noFill/>
                    </a:lnB>
                    <a:lnTlToBr>
                      <a:noFill/>
                    </a:lnTlToBr>
                    <a:lnBlToTr>
                      <a:noFill/>
                    </a:lnBlToTr>
                    <a:noFill/>
                  </a:tcPr>
                </a:tc>
              </a:tr>
              <a:tr h="10058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  </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cap="flat">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1" marB="45711" horzOverflow="overflow">
                    <a:lnL>
                      <a:noFill/>
                    </a:lnL>
                    <a:lnR cap="flat">
                      <a:noFill/>
                    </a:lnR>
                    <a:lnT>
                      <a:noFill/>
                    </a:lnT>
                    <a:lnB cap="flat">
                      <a:noFill/>
                    </a:lnB>
                    <a:lnTlToBr>
                      <a:noFill/>
                    </a:lnTlToBr>
                    <a:lnBlToTr>
                      <a:noFill/>
                    </a:lnBlToTr>
                    <a:noFill/>
                  </a:tcPr>
                </a:tc>
              </a:tr>
            </a:tbl>
          </a:graphicData>
        </a:graphic>
      </p:graphicFrame>
      <p:sp>
        <p:nvSpPr>
          <p:cNvPr id="8" name="Line 25"/>
          <p:cNvSpPr>
            <a:spLocks noChangeShapeType="1"/>
          </p:cNvSpPr>
          <p:nvPr/>
        </p:nvSpPr>
        <p:spPr bwMode="auto">
          <a:xfrm>
            <a:off x="8231195" y="2924175"/>
            <a:ext cx="22336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3"/>
          <p:cNvGrpSpPr/>
          <p:nvPr/>
        </p:nvGrpSpPr>
        <p:grpSpPr bwMode="auto">
          <a:xfrm>
            <a:off x="329118" y="3059113"/>
            <a:ext cx="4175417" cy="2878141"/>
            <a:chOff x="-3" y="-3"/>
            <a:chExt cx="3169" cy="3998"/>
          </a:xfrm>
        </p:grpSpPr>
        <p:grpSp>
          <p:nvGrpSpPr>
            <p:cNvPr id="10" name="Group 4"/>
            <p:cNvGrpSpPr/>
            <p:nvPr/>
          </p:nvGrpSpPr>
          <p:grpSpPr bwMode="auto">
            <a:xfrm>
              <a:off x="0" y="0"/>
              <a:ext cx="3163" cy="3992"/>
              <a:chOff x="0" y="0"/>
              <a:chExt cx="3163" cy="3992"/>
            </a:xfrm>
          </p:grpSpPr>
          <p:grpSp>
            <p:nvGrpSpPr>
              <p:cNvPr id="12" name="Group 5"/>
              <p:cNvGrpSpPr/>
              <p:nvPr/>
            </p:nvGrpSpPr>
            <p:grpSpPr bwMode="auto">
              <a:xfrm>
                <a:off x="0" y="0"/>
                <a:ext cx="513" cy="499"/>
                <a:chOff x="0" y="0"/>
                <a:chExt cx="513" cy="499"/>
              </a:xfrm>
            </p:grpSpPr>
            <p:sp>
              <p:nvSpPr>
                <p:cNvPr id="205" name="Rectangle 6"/>
                <p:cNvSpPr>
                  <a:spLocks noChangeArrowheads="1"/>
                </p:cNvSpPr>
                <p:nvPr/>
              </p:nvSpPr>
              <p:spPr bwMode="auto">
                <a:xfrm>
                  <a:off x="43" y="0"/>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tabLst>
                      <a:tab pos="266700" algn="r"/>
                      <a:tab pos="2636520" algn="ctr"/>
                      <a:tab pos="527367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2636520" algn="ctr"/>
                      <a:tab pos="527367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2636520" algn="ctr"/>
                      <a:tab pos="527367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2636520" algn="ctr"/>
                      <a:tab pos="527367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Cno</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06" name="Rectangle 7"/>
                <p:cNvSpPr>
                  <a:spLocks noChangeArrowheads="1"/>
                </p:cNvSpPr>
                <p:nvPr/>
              </p:nvSpPr>
              <p:spPr bwMode="auto">
                <a:xfrm>
                  <a:off x="0" y="0"/>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3" name="Group 8"/>
              <p:cNvGrpSpPr/>
              <p:nvPr/>
            </p:nvGrpSpPr>
            <p:grpSpPr bwMode="auto">
              <a:xfrm>
                <a:off x="513" y="0"/>
                <a:ext cx="1272" cy="499"/>
                <a:chOff x="513" y="0"/>
                <a:chExt cx="1272" cy="499"/>
              </a:xfrm>
            </p:grpSpPr>
            <p:sp>
              <p:nvSpPr>
                <p:cNvPr id="203" name="Rectangle 9"/>
                <p:cNvSpPr>
                  <a:spLocks noChangeArrowheads="1"/>
                </p:cNvSpPr>
                <p:nvPr/>
              </p:nvSpPr>
              <p:spPr bwMode="auto">
                <a:xfrm>
                  <a:off x="556" y="0"/>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Cname</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04" name="Rectangle 10"/>
                <p:cNvSpPr>
                  <a:spLocks noChangeArrowheads="1"/>
                </p:cNvSpPr>
                <p:nvPr/>
              </p:nvSpPr>
              <p:spPr bwMode="auto">
                <a:xfrm>
                  <a:off x="513" y="0"/>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4" name="Group 11"/>
              <p:cNvGrpSpPr/>
              <p:nvPr/>
            </p:nvGrpSpPr>
            <p:grpSpPr bwMode="auto">
              <a:xfrm>
                <a:off x="1785" y="0"/>
                <a:ext cx="611" cy="499"/>
                <a:chOff x="1785" y="0"/>
                <a:chExt cx="611" cy="499"/>
              </a:xfrm>
            </p:grpSpPr>
            <p:sp>
              <p:nvSpPr>
                <p:cNvPr id="102" name="Rectangle 12"/>
                <p:cNvSpPr>
                  <a:spLocks noChangeArrowheads="1"/>
                </p:cNvSpPr>
                <p:nvPr/>
              </p:nvSpPr>
              <p:spPr bwMode="auto">
                <a:xfrm>
                  <a:off x="1828" y="0"/>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Cpno</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02" name="Rectangle 13"/>
                <p:cNvSpPr>
                  <a:spLocks noChangeArrowheads="1"/>
                </p:cNvSpPr>
                <p:nvPr/>
              </p:nvSpPr>
              <p:spPr bwMode="auto">
                <a:xfrm>
                  <a:off x="1785" y="0"/>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5" name="Group 14"/>
              <p:cNvGrpSpPr/>
              <p:nvPr/>
            </p:nvGrpSpPr>
            <p:grpSpPr bwMode="auto">
              <a:xfrm>
                <a:off x="2396" y="0"/>
                <a:ext cx="767" cy="499"/>
                <a:chOff x="2396" y="0"/>
                <a:chExt cx="767" cy="499"/>
              </a:xfrm>
            </p:grpSpPr>
            <p:sp>
              <p:nvSpPr>
                <p:cNvPr id="100" name="Rectangle 15"/>
                <p:cNvSpPr>
                  <a:spLocks noChangeArrowheads="1"/>
                </p:cNvSpPr>
                <p:nvPr/>
              </p:nvSpPr>
              <p:spPr bwMode="auto">
                <a:xfrm>
                  <a:off x="2439" y="0"/>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Ccredit</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101" name="Rectangle 16"/>
                <p:cNvSpPr>
                  <a:spLocks noChangeArrowheads="1"/>
                </p:cNvSpPr>
                <p:nvPr/>
              </p:nvSpPr>
              <p:spPr bwMode="auto">
                <a:xfrm>
                  <a:off x="2396" y="0"/>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6" name="Group 17"/>
              <p:cNvGrpSpPr/>
              <p:nvPr/>
            </p:nvGrpSpPr>
            <p:grpSpPr bwMode="auto">
              <a:xfrm>
                <a:off x="0" y="499"/>
                <a:ext cx="513" cy="499"/>
                <a:chOff x="0" y="499"/>
                <a:chExt cx="513" cy="499"/>
              </a:xfrm>
            </p:grpSpPr>
            <p:sp>
              <p:nvSpPr>
                <p:cNvPr id="98" name="Rectangle 18"/>
                <p:cNvSpPr>
                  <a:spLocks noChangeArrowheads="1"/>
                </p:cNvSpPr>
                <p:nvPr/>
              </p:nvSpPr>
              <p:spPr bwMode="auto">
                <a:xfrm>
                  <a:off x="43" y="499"/>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99" name="Rectangle 19"/>
                <p:cNvSpPr>
                  <a:spLocks noChangeArrowheads="1"/>
                </p:cNvSpPr>
                <p:nvPr/>
              </p:nvSpPr>
              <p:spPr bwMode="auto">
                <a:xfrm>
                  <a:off x="0" y="499"/>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7" name="Group 20"/>
              <p:cNvGrpSpPr/>
              <p:nvPr/>
            </p:nvGrpSpPr>
            <p:grpSpPr bwMode="auto">
              <a:xfrm>
                <a:off x="513" y="499"/>
                <a:ext cx="1272" cy="499"/>
                <a:chOff x="513" y="499"/>
                <a:chExt cx="1272" cy="499"/>
              </a:xfrm>
            </p:grpSpPr>
            <p:sp>
              <p:nvSpPr>
                <p:cNvPr id="96" name="Rectangle 21"/>
                <p:cNvSpPr>
                  <a:spLocks noChangeArrowheads="1"/>
                </p:cNvSpPr>
                <p:nvPr/>
              </p:nvSpPr>
              <p:spPr bwMode="auto">
                <a:xfrm>
                  <a:off x="556" y="499"/>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数据库</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97" name="Rectangle 22"/>
                <p:cNvSpPr>
                  <a:spLocks noChangeArrowheads="1"/>
                </p:cNvSpPr>
                <p:nvPr/>
              </p:nvSpPr>
              <p:spPr bwMode="auto">
                <a:xfrm>
                  <a:off x="513" y="499"/>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8" name="Group 23"/>
              <p:cNvGrpSpPr/>
              <p:nvPr/>
            </p:nvGrpSpPr>
            <p:grpSpPr bwMode="auto">
              <a:xfrm>
                <a:off x="1785" y="499"/>
                <a:ext cx="611" cy="499"/>
                <a:chOff x="1785" y="499"/>
                <a:chExt cx="611" cy="499"/>
              </a:xfrm>
            </p:grpSpPr>
            <p:sp>
              <p:nvSpPr>
                <p:cNvPr id="94" name="Rectangle 24"/>
                <p:cNvSpPr>
                  <a:spLocks noChangeArrowheads="1"/>
                </p:cNvSpPr>
                <p:nvPr/>
              </p:nvSpPr>
              <p:spPr bwMode="auto">
                <a:xfrm>
                  <a:off x="1828" y="499"/>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FF0000"/>
                      </a:solidFill>
                      <a:latin typeface="Times New Roman" panose="02020603050405020304" pitchFamily="18" charset="0"/>
                    </a:rPr>
                    <a:t>5</a:t>
                  </a:r>
                  <a:endParaRPr kumimoji="1" lang="en-US" altLang="zh-CN" sz="1000" b="0">
                    <a:solidFill>
                      <a:srgbClr val="FF000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95" name="Rectangle 25"/>
                <p:cNvSpPr>
                  <a:spLocks noChangeArrowheads="1"/>
                </p:cNvSpPr>
                <p:nvPr/>
              </p:nvSpPr>
              <p:spPr bwMode="auto">
                <a:xfrm>
                  <a:off x="1785" y="499"/>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19" name="Group 26"/>
              <p:cNvGrpSpPr/>
              <p:nvPr/>
            </p:nvGrpSpPr>
            <p:grpSpPr bwMode="auto">
              <a:xfrm>
                <a:off x="2396" y="499"/>
                <a:ext cx="767" cy="499"/>
                <a:chOff x="2396" y="499"/>
                <a:chExt cx="767" cy="499"/>
              </a:xfrm>
            </p:grpSpPr>
            <p:sp>
              <p:nvSpPr>
                <p:cNvPr id="92" name="Rectangle 27"/>
                <p:cNvSpPr>
                  <a:spLocks noChangeArrowheads="1"/>
                </p:cNvSpPr>
                <p:nvPr/>
              </p:nvSpPr>
              <p:spPr bwMode="auto">
                <a:xfrm>
                  <a:off x="2439" y="499"/>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  </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93" name="Rectangle 28"/>
                <p:cNvSpPr>
                  <a:spLocks noChangeArrowheads="1"/>
                </p:cNvSpPr>
                <p:nvPr/>
              </p:nvSpPr>
              <p:spPr bwMode="auto">
                <a:xfrm>
                  <a:off x="2396" y="499"/>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0" name="Group 29"/>
              <p:cNvGrpSpPr/>
              <p:nvPr/>
            </p:nvGrpSpPr>
            <p:grpSpPr bwMode="auto">
              <a:xfrm>
                <a:off x="0" y="998"/>
                <a:ext cx="513" cy="499"/>
                <a:chOff x="0" y="998"/>
                <a:chExt cx="513" cy="499"/>
              </a:xfrm>
            </p:grpSpPr>
            <p:sp>
              <p:nvSpPr>
                <p:cNvPr id="90" name="Rectangle 30"/>
                <p:cNvSpPr>
                  <a:spLocks noChangeArrowheads="1"/>
                </p:cNvSpPr>
                <p:nvPr/>
              </p:nvSpPr>
              <p:spPr bwMode="auto">
                <a:xfrm>
                  <a:off x="43" y="998"/>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91" name="Rectangle 31"/>
                <p:cNvSpPr>
                  <a:spLocks noChangeArrowheads="1"/>
                </p:cNvSpPr>
                <p:nvPr/>
              </p:nvSpPr>
              <p:spPr bwMode="auto">
                <a:xfrm>
                  <a:off x="0" y="998"/>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 name="Group 32"/>
              <p:cNvGrpSpPr/>
              <p:nvPr/>
            </p:nvGrpSpPr>
            <p:grpSpPr bwMode="auto">
              <a:xfrm>
                <a:off x="513" y="998"/>
                <a:ext cx="1272" cy="499"/>
                <a:chOff x="513" y="998"/>
                <a:chExt cx="1272" cy="499"/>
              </a:xfrm>
            </p:grpSpPr>
            <p:sp>
              <p:nvSpPr>
                <p:cNvPr id="88" name="Rectangle 33"/>
                <p:cNvSpPr>
                  <a:spLocks noChangeArrowheads="1"/>
                </p:cNvSpPr>
                <p:nvPr/>
              </p:nvSpPr>
              <p:spPr bwMode="auto">
                <a:xfrm>
                  <a:off x="556" y="998"/>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数学</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89" name="Rectangle 34"/>
                <p:cNvSpPr>
                  <a:spLocks noChangeArrowheads="1"/>
                </p:cNvSpPr>
                <p:nvPr/>
              </p:nvSpPr>
              <p:spPr bwMode="auto">
                <a:xfrm>
                  <a:off x="513" y="998"/>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 name="Group 35"/>
              <p:cNvGrpSpPr/>
              <p:nvPr/>
            </p:nvGrpSpPr>
            <p:grpSpPr bwMode="auto">
              <a:xfrm>
                <a:off x="1785" y="998"/>
                <a:ext cx="611" cy="499"/>
                <a:chOff x="1785" y="998"/>
                <a:chExt cx="611" cy="499"/>
              </a:xfrm>
            </p:grpSpPr>
            <p:sp>
              <p:nvSpPr>
                <p:cNvPr id="86" name="Rectangle 36"/>
                <p:cNvSpPr>
                  <a:spLocks noChangeArrowheads="1"/>
                </p:cNvSpPr>
                <p:nvPr/>
              </p:nvSpPr>
              <p:spPr bwMode="auto">
                <a:xfrm>
                  <a:off x="1828" y="998"/>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b="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87" name="Rectangle 37"/>
                <p:cNvSpPr>
                  <a:spLocks noChangeArrowheads="1"/>
                </p:cNvSpPr>
                <p:nvPr/>
              </p:nvSpPr>
              <p:spPr bwMode="auto">
                <a:xfrm>
                  <a:off x="1785" y="998"/>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 name="Group 38"/>
              <p:cNvGrpSpPr/>
              <p:nvPr/>
            </p:nvGrpSpPr>
            <p:grpSpPr bwMode="auto">
              <a:xfrm>
                <a:off x="2396" y="998"/>
                <a:ext cx="767" cy="499"/>
                <a:chOff x="2396" y="998"/>
                <a:chExt cx="767" cy="499"/>
              </a:xfrm>
            </p:grpSpPr>
            <p:sp>
              <p:nvSpPr>
                <p:cNvPr id="84" name="Rectangle 39"/>
                <p:cNvSpPr>
                  <a:spLocks noChangeArrowheads="1"/>
                </p:cNvSpPr>
                <p:nvPr/>
              </p:nvSpPr>
              <p:spPr bwMode="auto">
                <a:xfrm>
                  <a:off x="2439" y="998"/>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85" name="Rectangle 40"/>
                <p:cNvSpPr>
                  <a:spLocks noChangeArrowheads="1"/>
                </p:cNvSpPr>
                <p:nvPr/>
              </p:nvSpPr>
              <p:spPr bwMode="auto">
                <a:xfrm>
                  <a:off x="2396" y="998"/>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4" name="Group 41"/>
              <p:cNvGrpSpPr/>
              <p:nvPr/>
            </p:nvGrpSpPr>
            <p:grpSpPr bwMode="auto">
              <a:xfrm>
                <a:off x="0" y="1497"/>
                <a:ext cx="513" cy="499"/>
                <a:chOff x="0" y="1497"/>
                <a:chExt cx="513" cy="499"/>
              </a:xfrm>
            </p:grpSpPr>
            <p:sp>
              <p:nvSpPr>
                <p:cNvPr id="82" name="Rectangle 42"/>
                <p:cNvSpPr>
                  <a:spLocks noChangeArrowheads="1"/>
                </p:cNvSpPr>
                <p:nvPr/>
              </p:nvSpPr>
              <p:spPr bwMode="auto">
                <a:xfrm>
                  <a:off x="43" y="1497"/>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83" name="Rectangle 43"/>
                <p:cNvSpPr>
                  <a:spLocks noChangeArrowheads="1"/>
                </p:cNvSpPr>
                <p:nvPr/>
              </p:nvSpPr>
              <p:spPr bwMode="auto">
                <a:xfrm>
                  <a:off x="0" y="1497"/>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5" name="Group 44"/>
              <p:cNvGrpSpPr/>
              <p:nvPr/>
            </p:nvGrpSpPr>
            <p:grpSpPr bwMode="auto">
              <a:xfrm>
                <a:off x="513" y="1497"/>
                <a:ext cx="1272" cy="499"/>
                <a:chOff x="513" y="1497"/>
                <a:chExt cx="1272" cy="499"/>
              </a:xfrm>
            </p:grpSpPr>
            <p:sp>
              <p:nvSpPr>
                <p:cNvPr id="80" name="Rectangle 45"/>
                <p:cNvSpPr>
                  <a:spLocks noChangeArrowheads="1"/>
                </p:cNvSpPr>
                <p:nvPr/>
              </p:nvSpPr>
              <p:spPr bwMode="auto">
                <a:xfrm>
                  <a:off x="556" y="1497"/>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信息系统</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81" name="Rectangle 46"/>
                <p:cNvSpPr>
                  <a:spLocks noChangeArrowheads="1"/>
                </p:cNvSpPr>
                <p:nvPr/>
              </p:nvSpPr>
              <p:spPr bwMode="auto">
                <a:xfrm>
                  <a:off x="513" y="1497"/>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6" name="Group 47"/>
              <p:cNvGrpSpPr/>
              <p:nvPr/>
            </p:nvGrpSpPr>
            <p:grpSpPr bwMode="auto">
              <a:xfrm>
                <a:off x="1785" y="1497"/>
                <a:ext cx="611" cy="499"/>
                <a:chOff x="1785" y="1497"/>
                <a:chExt cx="611" cy="499"/>
              </a:xfrm>
            </p:grpSpPr>
            <p:sp>
              <p:nvSpPr>
                <p:cNvPr id="78" name="Rectangle 48"/>
                <p:cNvSpPr>
                  <a:spLocks noChangeArrowheads="1"/>
                </p:cNvSpPr>
                <p:nvPr/>
              </p:nvSpPr>
              <p:spPr bwMode="auto">
                <a:xfrm>
                  <a:off x="1828" y="1497"/>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00B050"/>
                      </a:solidFill>
                      <a:latin typeface="Times New Roman" panose="02020603050405020304" pitchFamily="18" charset="0"/>
                    </a:rPr>
                    <a:t>1</a:t>
                  </a:r>
                  <a:endParaRPr kumimoji="1" lang="en-US" altLang="zh-CN" sz="1000" b="0">
                    <a:solidFill>
                      <a:srgbClr val="00B05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79" name="Rectangle 49"/>
                <p:cNvSpPr>
                  <a:spLocks noChangeArrowheads="1"/>
                </p:cNvSpPr>
                <p:nvPr/>
              </p:nvSpPr>
              <p:spPr bwMode="auto">
                <a:xfrm>
                  <a:off x="1785" y="1497"/>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7" name="Group 50"/>
              <p:cNvGrpSpPr/>
              <p:nvPr/>
            </p:nvGrpSpPr>
            <p:grpSpPr bwMode="auto">
              <a:xfrm>
                <a:off x="2396" y="1497"/>
                <a:ext cx="767" cy="499"/>
                <a:chOff x="2396" y="1497"/>
                <a:chExt cx="767" cy="499"/>
              </a:xfrm>
            </p:grpSpPr>
            <p:sp>
              <p:nvSpPr>
                <p:cNvPr id="76" name="Rectangle 51"/>
                <p:cNvSpPr>
                  <a:spLocks noChangeArrowheads="1"/>
                </p:cNvSpPr>
                <p:nvPr/>
              </p:nvSpPr>
              <p:spPr bwMode="auto">
                <a:xfrm>
                  <a:off x="2439" y="1497"/>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77" name="Rectangle 52"/>
                <p:cNvSpPr>
                  <a:spLocks noChangeArrowheads="1"/>
                </p:cNvSpPr>
                <p:nvPr/>
              </p:nvSpPr>
              <p:spPr bwMode="auto">
                <a:xfrm>
                  <a:off x="2396" y="1497"/>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8" name="Group 53"/>
              <p:cNvGrpSpPr/>
              <p:nvPr/>
            </p:nvGrpSpPr>
            <p:grpSpPr bwMode="auto">
              <a:xfrm>
                <a:off x="0" y="1996"/>
                <a:ext cx="513" cy="499"/>
                <a:chOff x="0" y="1996"/>
                <a:chExt cx="513" cy="499"/>
              </a:xfrm>
            </p:grpSpPr>
            <p:sp>
              <p:nvSpPr>
                <p:cNvPr id="74" name="Rectangle 54"/>
                <p:cNvSpPr>
                  <a:spLocks noChangeArrowheads="1"/>
                </p:cNvSpPr>
                <p:nvPr/>
              </p:nvSpPr>
              <p:spPr bwMode="auto">
                <a:xfrm>
                  <a:off x="43" y="1996"/>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75" name="Rectangle 55"/>
                <p:cNvSpPr>
                  <a:spLocks noChangeArrowheads="1"/>
                </p:cNvSpPr>
                <p:nvPr/>
              </p:nvSpPr>
              <p:spPr bwMode="auto">
                <a:xfrm>
                  <a:off x="0" y="1996"/>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9" name="Group 56"/>
              <p:cNvGrpSpPr/>
              <p:nvPr/>
            </p:nvGrpSpPr>
            <p:grpSpPr bwMode="auto">
              <a:xfrm>
                <a:off x="513" y="1996"/>
                <a:ext cx="1272" cy="499"/>
                <a:chOff x="513" y="1996"/>
                <a:chExt cx="1272" cy="499"/>
              </a:xfrm>
            </p:grpSpPr>
            <p:sp>
              <p:nvSpPr>
                <p:cNvPr id="72" name="Rectangle 57"/>
                <p:cNvSpPr>
                  <a:spLocks noChangeArrowheads="1"/>
                </p:cNvSpPr>
                <p:nvPr/>
              </p:nvSpPr>
              <p:spPr bwMode="auto">
                <a:xfrm>
                  <a:off x="556" y="1996"/>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操作系统</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73" name="Rectangle 58"/>
                <p:cNvSpPr>
                  <a:spLocks noChangeArrowheads="1"/>
                </p:cNvSpPr>
                <p:nvPr/>
              </p:nvSpPr>
              <p:spPr bwMode="auto">
                <a:xfrm>
                  <a:off x="513" y="1996"/>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0" name="Group 59"/>
              <p:cNvGrpSpPr/>
              <p:nvPr/>
            </p:nvGrpSpPr>
            <p:grpSpPr bwMode="auto">
              <a:xfrm>
                <a:off x="1785" y="1996"/>
                <a:ext cx="611" cy="499"/>
                <a:chOff x="1785" y="1996"/>
                <a:chExt cx="611" cy="499"/>
              </a:xfrm>
            </p:grpSpPr>
            <p:sp>
              <p:nvSpPr>
                <p:cNvPr id="70" name="Rectangle 60"/>
                <p:cNvSpPr>
                  <a:spLocks noChangeArrowheads="1"/>
                </p:cNvSpPr>
                <p:nvPr/>
              </p:nvSpPr>
              <p:spPr bwMode="auto">
                <a:xfrm>
                  <a:off x="1828" y="1996"/>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FFC000"/>
                      </a:solidFill>
                      <a:latin typeface="Times New Roman" panose="02020603050405020304" pitchFamily="18" charset="0"/>
                    </a:rPr>
                    <a:t>6</a:t>
                  </a:r>
                  <a:endParaRPr kumimoji="1" lang="en-US" altLang="zh-CN" sz="1000" b="0">
                    <a:solidFill>
                      <a:srgbClr val="FFC00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71" name="Rectangle 61"/>
                <p:cNvSpPr>
                  <a:spLocks noChangeArrowheads="1"/>
                </p:cNvSpPr>
                <p:nvPr/>
              </p:nvSpPr>
              <p:spPr bwMode="auto">
                <a:xfrm>
                  <a:off x="1785" y="1996"/>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1" name="Group 62"/>
              <p:cNvGrpSpPr/>
              <p:nvPr/>
            </p:nvGrpSpPr>
            <p:grpSpPr bwMode="auto">
              <a:xfrm>
                <a:off x="2396" y="1996"/>
                <a:ext cx="767" cy="499"/>
                <a:chOff x="2396" y="1996"/>
                <a:chExt cx="767" cy="499"/>
              </a:xfrm>
            </p:grpSpPr>
            <p:sp>
              <p:nvSpPr>
                <p:cNvPr id="68" name="Rectangle 63"/>
                <p:cNvSpPr>
                  <a:spLocks noChangeArrowheads="1"/>
                </p:cNvSpPr>
                <p:nvPr/>
              </p:nvSpPr>
              <p:spPr bwMode="auto">
                <a:xfrm>
                  <a:off x="2439" y="1996"/>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69" name="Rectangle 64"/>
                <p:cNvSpPr>
                  <a:spLocks noChangeArrowheads="1"/>
                </p:cNvSpPr>
                <p:nvPr/>
              </p:nvSpPr>
              <p:spPr bwMode="auto">
                <a:xfrm>
                  <a:off x="2396" y="1996"/>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2" name="Group 65"/>
              <p:cNvGrpSpPr/>
              <p:nvPr/>
            </p:nvGrpSpPr>
            <p:grpSpPr bwMode="auto">
              <a:xfrm>
                <a:off x="0" y="2495"/>
                <a:ext cx="513" cy="499"/>
                <a:chOff x="0" y="2495"/>
                <a:chExt cx="513" cy="499"/>
              </a:xfrm>
            </p:grpSpPr>
            <p:sp>
              <p:nvSpPr>
                <p:cNvPr id="66" name="Rectangle 66"/>
                <p:cNvSpPr>
                  <a:spLocks noChangeArrowheads="1"/>
                </p:cNvSpPr>
                <p:nvPr/>
              </p:nvSpPr>
              <p:spPr bwMode="auto">
                <a:xfrm>
                  <a:off x="43" y="2495"/>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67" name="Rectangle 67"/>
                <p:cNvSpPr>
                  <a:spLocks noChangeArrowheads="1"/>
                </p:cNvSpPr>
                <p:nvPr/>
              </p:nvSpPr>
              <p:spPr bwMode="auto">
                <a:xfrm>
                  <a:off x="0" y="2495"/>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3" name="Group 68"/>
              <p:cNvGrpSpPr/>
              <p:nvPr/>
            </p:nvGrpSpPr>
            <p:grpSpPr bwMode="auto">
              <a:xfrm>
                <a:off x="513" y="2495"/>
                <a:ext cx="1272" cy="499"/>
                <a:chOff x="513" y="2495"/>
                <a:chExt cx="1272" cy="499"/>
              </a:xfrm>
            </p:grpSpPr>
            <p:sp>
              <p:nvSpPr>
                <p:cNvPr id="64" name="Rectangle 69"/>
                <p:cNvSpPr>
                  <a:spLocks noChangeArrowheads="1"/>
                </p:cNvSpPr>
                <p:nvPr/>
              </p:nvSpPr>
              <p:spPr bwMode="auto">
                <a:xfrm>
                  <a:off x="556" y="2495"/>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数据结构</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65" name="Rectangle 70"/>
                <p:cNvSpPr>
                  <a:spLocks noChangeArrowheads="1"/>
                </p:cNvSpPr>
                <p:nvPr/>
              </p:nvSpPr>
              <p:spPr bwMode="auto">
                <a:xfrm>
                  <a:off x="513" y="2495"/>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4" name="Group 71"/>
              <p:cNvGrpSpPr/>
              <p:nvPr/>
            </p:nvGrpSpPr>
            <p:grpSpPr bwMode="auto">
              <a:xfrm>
                <a:off x="1785" y="2495"/>
                <a:ext cx="611" cy="499"/>
                <a:chOff x="1785" y="2495"/>
                <a:chExt cx="611" cy="499"/>
              </a:xfrm>
            </p:grpSpPr>
            <p:sp>
              <p:nvSpPr>
                <p:cNvPr id="62" name="Rectangle 72"/>
                <p:cNvSpPr>
                  <a:spLocks noChangeArrowheads="1"/>
                </p:cNvSpPr>
                <p:nvPr/>
              </p:nvSpPr>
              <p:spPr bwMode="auto">
                <a:xfrm>
                  <a:off x="1828" y="2495"/>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solidFill>
                        <a:srgbClr val="0070C0"/>
                      </a:solidFill>
                      <a:latin typeface="Times New Roman" panose="02020603050405020304" pitchFamily="18" charset="0"/>
                    </a:rPr>
                    <a:t>  </a:t>
                  </a:r>
                  <a:r>
                    <a:rPr kumimoji="1" lang="en-US" altLang="zh-CN" sz="1000">
                      <a:solidFill>
                        <a:srgbClr val="0070C0"/>
                      </a:solidFill>
                      <a:latin typeface="Times New Roman" panose="02020603050405020304" pitchFamily="18" charset="0"/>
                    </a:rPr>
                    <a:t>7</a:t>
                  </a:r>
                  <a:endParaRPr kumimoji="1" lang="en-US" altLang="zh-CN" sz="1000" b="0">
                    <a:solidFill>
                      <a:srgbClr val="0070C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63" name="Rectangle 73"/>
                <p:cNvSpPr>
                  <a:spLocks noChangeArrowheads="1"/>
                </p:cNvSpPr>
                <p:nvPr/>
              </p:nvSpPr>
              <p:spPr bwMode="auto">
                <a:xfrm>
                  <a:off x="1785" y="2495"/>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5" name="Group 74"/>
              <p:cNvGrpSpPr/>
              <p:nvPr/>
            </p:nvGrpSpPr>
            <p:grpSpPr bwMode="auto">
              <a:xfrm>
                <a:off x="2396" y="2495"/>
                <a:ext cx="767" cy="499"/>
                <a:chOff x="2396" y="2495"/>
                <a:chExt cx="767" cy="499"/>
              </a:xfrm>
            </p:grpSpPr>
            <p:sp>
              <p:nvSpPr>
                <p:cNvPr id="60" name="Rectangle 75"/>
                <p:cNvSpPr>
                  <a:spLocks noChangeArrowheads="1"/>
                </p:cNvSpPr>
                <p:nvPr/>
              </p:nvSpPr>
              <p:spPr bwMode="auto">
                <a:xfrm>
                  <a:off x="2439" y="2495"/>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61" name="Rectangle 76"/>
                <p:cNvSpPr>
                  <a:spLocks noChangeArrowheads="1"/>
                </p:cNvSpPr>
                <p:nvPr/>
              </p:nvSpPr>
              <p:spPr bwMode="auto">
                <a:xfrm>
                  <a:off x="2396" y="2495"/>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6" name="Group 77"/>
              <p:cNvGrpSpPr/>
              <p:nvPr/>
            </p:nvGrpSpPr>
            <p:grpSpPr bwMode="auto">
              <a:xfrm>
                <a:off x="0" y="2994"/>
                <a:ext cx="513" cy="499"/>
                <a:chOff x="0" y="2994"/>
                <a:chExt cx="513" cy="499"/>
              </a:xfrm>
            </p:grpSpPr>
            <p:sp>
              <p:nvSpPr>
                <p:cNvPr id="58" name="Rectangle 78"/>
                <p:cNvSpPr>
                  <a:spLocks noChangeArrowheads="1"/>
                </p:cNvSpPr>
                <p:nvPr/>
              </p:nvSpPr>
              <p:spPr bwMode="auto">
                <a:xfrm>
                  <a:off x="43" y="2994"/>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59" name="Rectangle 79"/>
                <p:cNvSpPr>
                  <a:spLocks noChangeArrowheads="1"/>
                </p:cNvSpPr>
                <p:nvPr/>
              </p:nvSpPr>
              <p:spPr bwMode="auto">
                <a:xfrm>
                  <a:off x="0" y="2994"/>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7" name="Group 80"/>
              <p:cNvGrpSpPr/>
              <p:nvPr/>
            </p:nvGrpSpPr>
            <p:grpSpPr bwMode="auto">
              <a:xfrm>
                <a:off x="513" y="2994"/>
                <a:ext cx="1272" cy="499"/>
                <a:chOff x="513" y="2994"/>
                <a:chExt cx="1272" cy="499"/>
              </a:xfrm>
            </p:grpSpPr>
            <p:sp>
              <p:nvSpPr>
                <p:cNvPr id="56" name="Rectangle 81"/>
                <p:cNvSpPr>
                  <a:spLocks noChangeArrowheads="1"/>
                </p:cNvSpPr>
                <p:nvPr/>
              </p:nvSpPr>
              <p:spPr bwMode="auto">
                <a:xfrm>
                  <a:off x="556" y="2994"/>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数据处理</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57" name="Rectangle 82"/>
                <p:cNvSpPr>
                  <a:spLocks noChangeArrowheads="1"/>
                </p:cNvSpPr>
                <p:nvPr/>
              </p:nvSpPr>
              <p:spPr bwMode="auto">
                <a:xfrm>
                  <a:off x="513" y="2994"/>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8" name="Group 83"/>
              <p:cNvGrpSpPr/>
              <p:nvPr/>
            </p:nvGrpSpPr>
            <p:grpSpPr bwMode="auto">
              <a:xfrm>
                <a:off x="1785" y="2994"/>
                <a:ext cx="611" cy="499"/>
                <a:chOff x="1785" y="2994"/>
                <a:chExt cx="611" cy="499"/>
              </a:xfrm>
            </p:grpSpPr>
            <p:sp>
              <p:nvSpPr>
                <p:cNvPr id="54" name="Rectangle 84"/>
                <p:cNvSpPr>
                  <a:spLocks noChangeArrowheads="1"/>
                </p:cNvSpPr>
                <p:nvPr/>
              </p:nvSpPr>
              <p:spPr bwMode="auto">
                <a:xfrm>
                  <a:off x="1828" y="2994"/>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55" name="Rectangle 85"/>
                <p:cNvSpPr>
                  <a:spLocks noChangeArrowheads="1"/>
                </p:cNvSpPr>
                <p:nvPr/>
              </p:nvSpPr>
              <p:spPr bwMode="auto">
                <a:xfrm>
                  <a:off x="1785" y="2994"/>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39" name="Group 86"/>
              <p:cNvGrpSpPr/>
              <p:nvPr/>
            </p:nvGrpSpPr>
            <p:grpSpPr bwMode="auto">
              <a:xfrm>
                <a:off x="2396" y="2994"/>
                <a:ext cx="767" cy="499"/>
                <a:chOff x="2396" y="2994"/>
                <a:chExt cx="767" cy="499"/>
              </a:xfrm>
            </p:grpSpPr>
            <p:sp>
              <p:nvSpPr>
                <p:cNvPr id="52" name="Rectangle 87"/>
                <p:cNvSpPr>
                  <a:spLocks noChangeArrowheads="1"/>
                </p:cNvSpPr>
                <p:nvPr/>
              </p:nvSpPr>
              <p:spPr bwMode="auto">
                <a:xfrm>
                  <a:off x="2439" y="2994"/>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53" name="Rectangle 88"/>
                <p:cNvSpPr>
                  <a:spLocks noChangeArrowheads="1"/>
                </p:cNvSpPr>
                <p:nvPr/>
              </p:nvSpPr>
              <p:spPr bwMode="auto">
                <a:xfrm>
                  <a:off x="2396" y="2994"/>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40" name="Group 89"/>
              <p:cNvGrpSpPr/>
              <p:nvPr/>
            </p:nvGrpSpPr>
            <p:grpSpPr bwMode="auto">
              <a:xfrm>
                <a:off x="0" y="3493"/>
                <a:ext cx="513" cy="499"/>
                <a:chOff x="0" y="3493"/>
                <a:chExt cx="513" cy="499"/>
              </a:xfrm>
            </p:grpSpPr>
            <p:sp>
              <p:nvSpPr>
                <p:cNvPr id="50" name="Rectangle 90"/>
                <p:cNvSpPr>
                  <a:spLocks noChangeArrowheads="1"/>
                </p:cNvSpPr>
                <p:nvPr/>
              </p:nvSpPr>
              <p:spPr bwMode="auto">
                <a:xfrm>
                  <a:off x="43" y="3493"/>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7</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51" name="Rectangle 91"/>
                <p:cNvSpPr>
                  <a:spLocks noChangeArrowheads="1"/>
                </p:cNvSpPr>
                <p:nvPr/>
              </p:nvSpPr>
              <p:spPr bwMode="auto">
                <a:xfrm>
                  <a:off x="0" y="3493"/>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41" name="Group 92"/>
              <p:cNvGrpSpPr/>
              <p:nvPr/>
            </p:nvGrpSpPr>
            <p:grpSpPr bwMode="auto">
              <a:xfrm>
                <a:off x="513" y="3493"/>
                <a:ext cx="1272" cy="499"/>
                <a:chOff x="513" y="3493"/>
                <a:chExt cx="1272" cy="499"/>
              </a:xfrm>
            </p:grpSpPr>
            <p:sp>
              <p:nvSpPr>
                <p:cNvPr id="48" name="Rectangle 93"/>
                <p:cNvSpPr>
                  <a:spLocks noChangeArrowheads="1"/>
                </p:cNvSpPr>
                <p:nvPr/>
              </p:nvSpPr>
              <p:spPr bwMode="auto">
                <a:xfrm>
                  <a:off x="556" y="3493"/>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PASCAL</a:t>
                  </a:r>
                  <a:r>
                    <a:rPr kumimoji="1" lang="zh-CN" altLang="en-US" sz="1000">
                      <a:latin typeface="Times New Roman" panose="02020603050405020304" pitchFamily="18" charset="0"/>
                    </a:rPr>
                    <a:t>语言</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49" name="Rectangle 94"/>
                <p:cNvSpPr>
                  <a:spLocks noChangeArrowheads="1"/>
                </p:cNvSpPr>
                <p:nvPr/>
              </p:nvSpPr>
              <p:spPr bwMode="auto">
                <a:xfrm>
                  <a:off x="513" y="3493"/>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42" name="Group 95"/>
              <p:cNvGrpSpPr/>
              <p:nvPr/>
            </p:nvGrpSpPr>
            <p:grpSpPr bwMode="auto">
              <a:xfrm>
                <a:off x="1785" y="3493"/>
                <a:ext cx="611" cy="499"/>
                <a:chOff x="1785" y="3493"/>
                <a:chExt cx="611" cy="499"/>
              </a:xfrm>
            </p:grpSpPr>
            <p:sp>
              <p:nvSpPr>
                <p:cNvPr id="46" name="Rectangle 96"/>
                <p:cNvSpPr>
                  <a:spLocks noChangeArrowheads="1"/>
                </p:cNvSpPr>
                <p:nvPr/>
              </p:nvSpPr>
              <p:spPr bwMode="auto">
                <a:xfrm>
                  <a:off x="1828" y="3493"/>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solidFill>
                        <a:srgbClr val="FFC000"/>
                      </a:solidFill>
                      <a:latin typeface="Times New Roman" panose="02020603050405020304" pitchFamily="18" charset="0"/>
                    </a:rPr>
                    <a:t>  </a:t>
                  </a:r>
                  <a:r>
                    <a:rPr kumimoji="1" lang="en-US" altLang="zh-CN" sz="1000">
                      <a:solidFill>
                        <a:srgbClr val="FFC000"/>
                      </a:solidFill>
                      <a:latin typeface="Times New Roman" panose="02020603050405020304" pitchFamily="18" charset="0"/>
                    </a:rPr>
                    <a:t>6</a:t>
                  </a:r>
                  <a:endParaRPr kumimoji="1" lang="en-US" altLang="zh-CN" sz="1000" b="0">
                    <a:solidFill>
                      <a:srgbClr val="FFC00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47" name="Rectangle 97"/>
                <p:cNvSpPr>
                  <a:spLocks noChangeArrowheads="1"/>
                </p:cNvSpPr>
                <p:nvPr/>
              </p:nvSpPr>
              <p:spPr bwMode="auto">
                <a:xfrm>
                  <a:off x="1785" y="3493"/>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43" name="Group 98"/>
              <p:cNvGrpSpPr/>
              <p:nvPr/>
            </p:nvGrpSpPr>
            <p:grpSpPr bwMode="auto">
              <a:xfrm>
                <a:off x="2396" y="3493"/>
                <a:ext cx="767" cy="499"/>
                <a:chOff x="2396" y="3493"/>
                <a:chExt cx="767" cy="499"/>
              </a:xfrm>
            </p:grpSpPr>
            <p:sp>
              <p:nvSpPr>
                <p:cNvPr id="44" name="Rectangle 99"/>
                <p:cNvSpPr>
                  <a:spLocks noChangeArrowheads="1"/>
                </p:cNvSpPr>
                <p:nvPr/>
              </p:nvSpPr>
              <p:spPr bwMode="auto">
                <a:xfrm>
                  <a:off x="2439" y="3493"/>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45" name="Rectangle 100"/>
                <p:cNvSpPr>
                  <a:spLocks noChangeArrowheads="1"/>
                </p:cNvSpPr>
                <p:nvPr/>
              </p:nvSpPr>
              <p:spPr bwMode="auto">
                <a:xfrm>
                  <a:off x="2396" y="3493"/>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sp>
          <p:nvSpPr>
            <p:cNvPr id="11" name="Rectangle 101"/>
            <p:cNvSpPr>
              <a:spLocks noChangeArrowheads="1"/>
            </p:cNvSpPr>
            <p:nvPr/>
          </p:nvSpPr>
          <p:spPr bwMode="auto">
            <a:xfrm>
              <a:off x="-3" y="-3"/>
              <a:ext cx="3169" cy="3998"/>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07" name="Group 3"/>
          <p:cNvGrpSpPr/>
          <p:nvPr/>
        </p:nvGrpSpPr>
        <p:grpSpPr bwMode="auto">
          <a:xfrm>
            <a:off x="4954595" y="3059112"/>
            <a:ext cx="4235891" cy="2875753"/>
            <a:chOff x="-3" y="-3"/>
            <a:chExt cx="3169" cy="3998"/>
          </a:xfrm>
        </p:grpSpPr>
        <p:grpSp>
          <p:nvGrpSpPr>
            <p:cNvPr id="208" name="Group 4"/>
            <p:cNvGrpSpPr/>
            <p:nvPr/>
          </p:nvGrpSpPr>
          <p:grpSpPr bwMode="auto">
            <a:xfrm>
              <a:off x="0" y="0"/>
              <a:ext cx="3163" cy="3992"/>
              <a:chOff x="0" y="0"/>
              <a:chExt cx="3163" cy="3992"/>
            </a:xfrm>
          </p:grpSpPr>
          <p:grpSp>
            <p:nvGrpSpPr>
              <p:cNvPr id="210" name="Group 5"/>
              <p:cNvGrpSpPr/>
              <p:nvPr/>
            </p:nvGrpSpPr>
            <p:grpSpPr bwMode="auto">
              <a:xfrm>
                <a:off x="0" y="0"/>
                <a:ext cx="513" cy="499"/>
                <a:chOff x="0" y="0"/>
                <a:chExt cx="513" cy="499"/>
              </a:xfrm>
            </p:grpSpPr>
            <p:sp>
              <p:nvSpPr>
                <p:cNvPr id="304" name="Rectangle 6"/>
                <p:cNvSpPr>
                  <a:spLocks noChangeArrowheads="1"/>
                </p:cNvSpPr>
                <p:nvPr/>
              </p:nvSpPr>
              <p:spPr bwMode="auto">
                <a:xfrm>
                  <a:off x="43" y="0"/>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tabLst>
                      <a:tab pos="266700" algn="r"/>
                      <a:tab pos="2636520" algn="ctr"/>
                      <a:tab pos="527367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2636520" algn="ctr"/>
                      <a:tab pos="527367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2636520" algn="ctr"/>
                      <a:tab pos="527367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2636520" algn="ctr"/>
                      <a:tab pos="527367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2636520" algn="ctr"/>
                      <a:tab pos="527367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Cno</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305" name="Rectangle 7"/>
                <p:cNvSpPr>
                  <a:spLocks noChangeArrowheads="1"/>
                </p:cNvSpPr>
                <p:nvPr/>
              </p:nvSpPr>
              <p:spPr bwMode="auto">
                <a:xfrm>
                  <a:off x="0" y="0"/>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1" name="Group 8"/>
              <p:cNvGrpSpPr/>
              <p:nvPr/>
            </p:nvGrpSpPr>
            <p:grpSpPr bwMode="auto">
              <a:xfrm>
                <a:off x="513" y="0"/>
                <a:ext cx="1272" cy="499"/>
                <a:chOff x="513" y="0"/>
                <a:chExt cx="1272" cy="499"/>
              </a:xfrm>
            </p:grpSpPr>
            <p:sp>
              <p:nvSpPr>
                <p:cNvPr id="302" name="Rectangle 9"/>
                <p:cNvSpPr>
                  <a:spLocks noChangeArrowheads="1"/>
                </p:cNvSpPr>
                <p:nvPr/>
              </p:nvSpPr>
              <p:spPr bwMode="auto">
                <a:xfrm>
                  <a:off x="556" y="0"/>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Cname</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303" name="Rectangle 10"/>
                <p:cNvSpPr>
                  <a:spLocks noChangeArrowheads="1"/>
                </p:cNvSpPr>
                <p:nvPr/>
              </p:nvSpPr>
              <p:spPr bwMode="auto">
                <a:xfrm>
                  <a:off x="513" y="0"/>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2" name="Group 11"/>
              <p:cNvGrpSpPr/>
              <p:nvPr/>
            </p:nvGrpSpPr>
            <p:grpSpPr bwMode="auto">
              <a:xfrm>
                <a:off x="1785" y="0"/>
                <a:ext cx="611" cy="499"/>
                <a:chOff x="1785" y="0"/>
                <a:chExt cx="611" cy="499"/>
              </a:xfrm>
            </p:grpSpPr>
            <p:sp>
              <p:nvSpPr>
                <p:cNvPr id="300" name="Rectangle 12"/>
                <p:cNvSpPr>
                  <a:spLocks noChangeArrowheads="1"/>
                </p:cNvSpPr>
                <p:nvPr/>
              </p:nvSpPr>
              <p:spPr bwMode="auto">
                <a:xfrm>
                  <a:off x="1828" y="0"/>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Cpno</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301" name="Rectangle 13"/>
                <p:cNvSpPr>
                  <a:spLocks noChangeArrowheads="1"/>
                </p:cNvSpPr>
                <p:nvPr/>
              </p:nvSpPr>
              <p:spPr bwMode="auto">
                <a:xfrm>
                  <a:off x="1785" y="0"/>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3" name="Group 14"/>
              <p:cNvGrpSpPr/>
              <p:nvPr/>
            </p:nvGrpSpPr>
            <p:grpSpPr bwMode="auto">
              <a:xfrm>
                <a:off x="2396" y="0"/>
                <a:ext cx="767" cy="499"/>
                <a:chOff x="2396" y="0"/>
                <a:chExt cx="767" cy="499"/>
              </a:xfrm>
            </p:grpSpPr>
            <p:sp>
              <p:nvSpPr>
                <p:cNvPr id="298" name="Rectangle 15"/>
                <p:cNvSpPr>
                  <a:spLocks noChangeArrowheads="1"/>
                </p:cNvSpPr>
                <p:nvPr/>
              </p:nvSpPr>
              <p:spPr bwMode="auto">
                <a:xfrm>
                  <a:off x="2439" y="0"/>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Ccredit</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99" name="Rectangle 16"/>
                <p:cNvSpPr>
                  <a:spLocks noChangeArrowheads="1"/>
                </p:cNvSpPr>
                <p:nvPr/>
              </p:nvSpPr>
              <p:spPr bwMode="auto">
                <a:xfrm>
                  <a:off x="2396" y="0"/>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4" name="Group 17"/>
              <p:cNvGrpSpPr/>
              <p:nvPr/>
            </p:nvGrpSpPr>
            <p:grpSpPr bwMode="auto">
              <a:xfrm>
                <a:off x="0" y="499"/>
                <a:ext cx="513" cy="499"/>
                <a:chOff x="0" y="499"/>
                <a:chExt cx="513" cy="499"/>
              </a:xfrm>
            </p:grpSpPr>
            <p:sp>
              <p:nvSpPr>
                <p:cNvPr id="296" name="Rectangle 18"/>
                <p:cNvSpPr>
                  <a:spLocks noChangeArrowheads="1"/>
                </p:cNvSpPr>
                <p:nvPr/>
              </p:nvSpPr>
              <p:spPr bwMode="auto">
                <a:xfrm>
                  <a:off x="43" y="499"/>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00B050"/>
                      </a:solidFill>
                      <a:latin typeface="Times New Roman" panose="02020603050405020304" pitchFamily="18" charset="0"/>
                    </a:rPr>
                    <a:t>1</a:t>
                  </a:r>
                  <a:endParaRPr kumimoji="1" lang="en-US" altLang="zh-CN" sz="1000" b="0">
                    <a:solidFill>
                      <a:srgbClr val="00B05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97" name="Rectangle 19"/>
                <p:cNvSpPr>
                  <a:spLocks noChangeArrowheads="1"/>
                </p:cNvSpPr>
                <p:nvPr/>
              </p:nvSpPr>
              <p:spPr bwMode="auto">
                <a:xfrm>
                  <a:off x="0" y="499"/>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5" name="Group 20"/>
              <p:cNvGrpSpPr/>
              <p:nvPr/>
            </p:nvGrpSpPr>
            <p:grpSpPr bwMode="auto">
              <a:xfrm>
                <a:off x="513" y="499"/>
                <a:ext cx="1272" cy="499"/>
                <a:chOff x="513" y="499"/>
                <a:chExt cx="1272" cy="499"/>
              </a:xfrm>
            </p:grpSpPr>
            <p:sp>
              <p:nvSpPr>
                <p:cNvPr id="294" name="Rectangle 21"/>
                <p:cNvSpPr>
                  <a:spLocks noChangeArrowheads="1"/>
                </p:cNvSpPr>
                <p:nvPr/>
              </p:nvSpPr>
              <p:spPr bwMode="auto">
                <a:xfrm>
                  <a:off x="556" y="499"/>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数据库</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95" name="Rectangle 22"/>
                <p:cNvSpPr>
                  <a:spLocks noChangeArrowheads="1"/>
                </p:cNvSpPr>
                <p:nvPr/>
              </p:nvSpPr>
              <p:spPr bwMode="auto">
                <a:xfrm>
                  <a:off x="513" y="499"/>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6" name="Group 23"/>
              <p:cNvGrpSpPr/>
              <p:nvPr/>
            </p:nvGrpSpPr>
            <p:grpSpPr bwMode="auto">
              <a:xfrm>
                <a:off x="1785" y="499"/>
                <a:ext cx="611" cy="499"/>
                <a:chOff x="1785" y="499"/>
                <a:chExt cx="611" cy="499"/>
              </a:xfrm>
            </p:grpSpPr>
            <p:sp>
              <p:nvSpPr>
                <p:cNvPr id="292" name="Rectangle 24"/>
                <p:cNvSpPr>
                  <a:spLocks noChangeArrowheads="1"/>
                </p:cNvSpPr>
                <p:nvPr/>
              </p:nvSpPr>
              <p:spPr bwMode="auto">
                <a:xfrm>
                  <a:off x="1828" y="499"/>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5</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93" name="Rectangle 25"/>
                <p:cNvSpPr>
                  <a:spLocks noChangeArrowheads="1"/>
                </p:cNvSpPr>
                <p:nvPr/>
              </p:nvSpPr>
              <p:spPr bwMode="auto">
                <a:xfrm>
                  <a:off x="1785" y="499"/>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7" name="Group 26"/>
              <p:cNvGrpSpPr/>
              <p:nvPr/>
            </p:nvGrpSpPr>
            <p:grpSpPr bwMode="auto">
              <a:xfrm>
                <a:off x="2396" y="499"/>
                <a:ext cx="767" cy="499"/>
                <a:chOff x="2396" y="499"/>
                <a:chExt cx="767" cy="499"/>
              </a:xfrm>
            </p:grpSpPr>
            <p:sp>
              <p:nvSpPr>
                <p:cNvPr id="290" name="Rectangle 27"/>
                <p:cNvSpPr>
                  <a:spLocks noChangeArrowheads="1"/>
                </p:cNvSpPr>
                <p:nvPr/>
              </p:nvSpPr>
              <p:spPr bwMode="auto">
                <a:xfrm>
                  <a:off x="2439" y="499"/>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  </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91" name="Rectangle 28"/>
                <p:cNvSpPr>
                  <a:spLocks noChangeArrowheads="1"/>
                </p:cNvSpPr>
                <p:nvPr/>
              </p:nvSpPr>
              <p:spPr bwMode="auto">
                <a:xfrm>
                  <a:off x="2396" y="499"/>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8" name="Group 29"/>
              <p:cNvGrpSpPr/>
              <p:nvPr/>
            </p:nvGrpSpPr>
            <p:grpSpPr bwMode="auto">
              <a:xfrm>
                <a:off x="0" y="998"/>
                <a:ext cx="513" cy="499"/>
                <a:chOff x="0" y="998"/>
                <a:chExt cx="513" cy="499"/>
              </a:xfrm>
            </p:grpSpPr>
            <p:sp>
              <p:nvSpPr>
                <p:cNvPr id="288" name="Rectangle 30"/>
                <p:cNvSpPr>
                  <a:spLocks noChangeArrowheads="1"/>
                </p:cNvSpPr>
                <p:nvPr/>
              </p:nvSpPr>
              <p:spPr bwMode="auto">
                <a:xfrm>
                  <a:off x="43" y="998"/>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89" name="Rectangle 31"/>
                <p:cNvSpPr>
                  <a:spLocks noChangeArrowheads="1"/>
                </p:cNvSpPr>
                <p:nvPr/>
              </p:nvSpPr>
              <p:spPr bwMode="auto">
                <a:xfrm>
                  <a:off x="0" y="998"/>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19" name="Group 32"/>
              <p:cNvGrpSpPr/>
              <p:nvPr/>
            </p:nvGrpSpPr>
            <p:grpSpPr bwMode="auto">
              <a:xfrm>
                <a:off x="513" y="998"/>
                <a:ext cx="1272" cy="499"/>
                <a:chOff x="513" y="998"/>
                <a:chExt cx="1272" cy="499"/>
              </a:xfrm>
            </p:grpSpPr>
            <p:sp>
              <p:nvSpPr>
                <p:cNvPr id="286" name="Rectangle 33"/>
                <p:cNvSpPr>
                  <a:spLocks noChangeArrowheads="1"/>
                </p:cNvSpPr>
                <p:nvPr/>
              </p:nvSpPr>
              <p:spPr bwMode="auto">
                <a:xfrm>
                  <a:off x="556" y="998"/>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数学</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87" name="Rectangle 34"/>
                <p:cNvSpPr>
                  <a:spLocks noChangeArrowheads="1"/>
                </p:cNvSpPr>
                <p:nvPr/>
              </p:nvSpPr>
              <p:spPr bwMode="auto">
                <a:xfrm>
                  <a:off x="513" y="998"/>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0" name="Group 35"/>
              <p:cNvGrpSpPr/>
              <p:nvPr/>
            </p:nvGrpSpPr>
            <p:grpSpPr bwMode="auto">
              <a:xfrm>
                <a:off x="1785" y="998"/>
                <a:ext cx="611" cy="499"/>
                <a:chOff x="1785" y="998"/>
                <a:chExt cx="611" cy="499"/>
              </a:xfrm>
            </p:grpSpPr>
            <p:sp>
              <p:nvSpPr>
                <p:cNvPr id="284" name="Rectangle 36"/>
                <p:cNvSpPr>
                  <a:spLocks noChangeArrowheads="1"/>
                </p:cNvSpPr>
                <p:nvPr/>
              </p:nvSpPr>
              <p:spPr bwMode="auto">
                <a:xfrm>
                  <a:off x="1828" y="998"/>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b="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85" name="Rectangle 37"/>
                <p:cNvSpPr>
                  <a:spLocks noChangeArrowheads="1"/>
                </p:cNvSpPr>
                <p:nvPr/>
              </p:nvSpPr>
              <p:spPr bwMode="auto">
                <a:xfrm>
                  <a:off x="1785" y="998"/>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1" name="Group 38"/>
              <p:cNvGrpSpPr/>
              <p:nvPr/>
            </p:nvGrpSpPr>
            <p:grpSpPr bwMode="auto">
              <a:xfrm>
                <a:off x="2396" y="998"/>
                <a:ext cx="767" cy="499"/>
                <a:chOff x="2396" y="998"/>
                <a:chExt cx="767" cy="499"/>
              </a:xfrm>
            </p:grpSpPr>
            <p:sp>
              <p:nvSpPr>
                <p:cNvPr id="282" name="Rectangle 39"/>
                <p:cNvSpPr>
                  <a:spLocks noChangeArrowheads="1"/>
                </p:cNvSpPr>
                <p:nvPr/>
              </p:nvSpPr>
              <p:spPr bwMode="auto">
                <a:xfrm>
                  <a:off x="2439" y="998"/>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83" name="Rectangle 40"/>
                <p:cNvSpPr>
                  <a:spLocks noChangeArrowheads="1"/>
                </p:cNvSpPr>
                <p:nvPr/>
              </p:nvSpPr>
              <p:spPr bwMode="auto">
                <a:xfrm>
                  <a:off x="2396" y="998"/>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2" name="Group 41"/>
              <p:cNvGrpSpPr/>
              <p:nvPr/>
            </p:nvGrpSpPr>
            <p:grpSpPr bwMode="auto">
              <a:xfrm>
                <a:off x="0" y="1497"/>
                <a:ext cx="513" cy="499"/>
                <a:chOff x="0" y="1497"/>
                <a:chExt cx="513" cy="499"/>
              </a:xfrm>
            </p:grpSpPr>
            <p:sp>
              <p:nvSpPr>
                <p:cNvPr id="280" name="Rectangle 42"/>
                <p:cNvSpPr>
                  <a:spLocks noChangeArrowheads="1"/>
                </p:cNvSpPr>
                <p:nvPr/>
              </p:nvSpPr>
              <p:spPr bwMode="auto">
                <a:xfrm>
                  <a:off x="43" y="1497"/>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81" name="Rectangle 43"/>
                <p:cNvSpPr>
                  <a:spLocks noChangeArrowheads="1"/>
                </p:cNvSpPr>
                <p:nvPr/>
              </p:nvSpPr>
              <p:spPr bwMode="auto">
                <a:xfrm>
                  <a:off x="0" y="1497"/>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3" name="Group 44"/>
              <p:cNvGrpSpPr/>
              <p:nvPr/>
            </p:nvGrpSpPr>
            <p:grpSpPr bwMode="auto">
              <a:xfrm>
                <a:off x="513" y="1497"/>
                <a:ext cx="1272" cy="499"/>
                <a:chOff x="513" y="1497"/>
                <a:chExt cx="1272" cy="499"/>
              </a:xfrm>
            </p:grpSpPr>
            <p:sp>
              <p:nvSpPr>
                <p:cNvPr id="278" name="Rectangle 45"/>
                <p:cNvSpPr>
                  <a:spLocks noChangeArrowheads="1"/>
                </p:cNvSpPr>
                <p:nvPr/>
              </p:nvSpPr>
              <p:spPr bwMode="auto">
                <a:xfrm>
                  <a:off x="556" y="1497"/>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信息系统</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79" name="Rectangle 46"/>
                <p:cNvSpPr>
                  <a:spLocks noChangeArrowheads="1"/>
                </p:cNvSpPr>
                <p:nvPr/>
              </p:nvSpPr>
              <p:spPr bwMode="auto">
                <a:xfrm>
                  <a:off x="513" y="1497"/>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4" name="Group 47"/>
              <p:cNvGrpSpPr/>
              <p:nvPr/>
            </p:nvGrpSpPr>
            <p:grpSpPr bwMode="auto">
              <a:xfrm>
                <a:off x="1785" y="1497"/>
                <a:ext cx="611" cy="499"/>
                <a:chOff x="1785" y="1497"/>
                <a:chExt cx="611" cy="499"/>
              </a:xfrm>
            </p:grpSpPr>
            <p:sp>
              <p:nvSpPr>
                <p:cNvPr id="276" name="Rectangle 48"/>
                <p:cNvSpPr>
                  <a:spLocks noChangeArrowheads="1"/>
                </p:cNvSpPr>
                <p:nvPr/>
              </p:nvSpPr>
              <p:spPr bwMode="auto">
                <a:xfrm>
                  <a:off x="1828" y="1497"/>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1</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77" name="Rectangle 49"/>
                <p:cNvSpPr>
                  <a:spLocks noChangeArrowheads="1"/>
                </p:cNvSpPr>
                <p:nvPr/>
              </p:nvSpPr>
              <p:spPr bwMode="auto">
                <a:xfrm>
                  <a:off x="1785" y="1497"/>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5" name="Group 50"/>
              <p:cNvGrpSpPr/>
              <p:nvPr/>
            </p:nvGrpSpPr>
            <p:grpSpPr bwMode="auto">
              <a:xfrm>
                <a:off x="2396" y="1497"/>
                <a:ext cx="767" cy="499"/>
                <a:chOff x="2396" y="1497"/>
                <a:chExt cx="767" cy="499"/>
              </a:xfrm>
            </p:grpSpPr>
            <p:sp>
              <p:nvSpPr>
                <p:cNvPr id="274" name="Rectangle 51"/>
                <p:cNvSpPr>
                  <a:spLocks noChangeArrowheads="1"/>
                </p:cNvSpPr>
                <p:nvPr/>
              </p:nvSpPr>
              <p:spPr bwMode="auto">
                <a:xfrm>
                  <a:off x="2439" y="1497"/>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75" name="Rectangle 52"/>
                <p:cNvSpPr>
                  <a:spLocks noChangeArrowheads="1"/>
                </p:cNvSpPr>
                <p:nvPr/>
              </p:nvSpPr>
              <p:spPr bwMode="auto">
                <a:xfrm>
                  <a:off x="2396" y="1497"/>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6" name="Group 53"/>
              <p:cNvGrpSpPr/>
              <p:nvPr/>
            </p:nvGrpSpPr>
            <p:grpSpPr bwMode="auto">
              <a:xfrm>
                <a:off x="0" y="1996"/>
                <a:ext cx="513" cy="499"/>
                <a:chOff x="0" y="1996"/>
                <a:chExt cx="513" cy="499"/>
              </a:xfrm>
            </p:grpSpPr>
            <p:sp>
              <p:nvSpPr>
                <p:cNvPr id="272" name="Rectangle 54"/>
                <p:cNvSpPr>
                  <a:spLocks noChangeArrowheads="1"/>
                </p:cNvSpPr>
                <p:nvPr/>
              </p:nvSpPr>
              <p:spPr bwMode="auto">
                <a:xfrm>
                  <a:off x="43" y="1996"/>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73" name="Rectangle 55"/>
                <p:cNvSpPr>
                  <a:spLocks noChangeArrowheads="1"/>
                </p:cNvSpPr>
                <p:nvPr/>
              </p:nvSpPr>
              <p:spPr bwMode="auto">
                <a:xfrm>
                  <a:off x="0" y="1996"/>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7" name="Group 56"/>
              <p:cNvGrpSpPr/>
              <p:nvPr/>
            </p:nvGrpSpPr>
            <p:grpSpPr bwMode="auto">
              <a:xfrm>
                <a:off x="513" y="1996"/>
                <a:ext cx="1272" cy="499"/>
                <a:chOff x="513" y="1996"/>
                <a:chExt cx="1272" cy="499"/>
              </a:xfrm>
            </p:grpSpPr>
            <p:sp>
              <p:nvSpPr>
                <p:cNvPr id="270" name="Rectangle 57"/>
                <p:cNvSpPr>
                  <a:spLocks noChangeArrowheads="1"/>
                </p:cNvSpPr>
                <p:nvPr/>
              </p:nvSpPr>
              <p:spPr bwMode="auto">
                <a:xfrm>
                  <a:off x="556" y="1996"/>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操作系统</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71" name="Rectangle 58"/>
                <p:cNvSpPr>
                  <a:spLocks noChangeArrowheads="1"/>
                </p:cNvSpPr>
                <p:nvPr/>
              </p:nvSpPr>
              <p:spPr bwMode="auto">
                <a:xfrm>
                  <a:off x="513" y="1996"/>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8" name="Group 59"/>
              <p:cNvGrpSpPr/>
              <p:nvPr/>
            </p:nvGrpSpPr>
            <p:grpSpPr bwMode="auto">
              <a:xfrm>
                <a:off x="1785" y="1996"/>
                <a:ext cx="611" cy="499"/>
                <a:chOff x="1785" y="1996"/>
                <a:chExt cx="611" cy="499"/>
              </a:xfrm>
            </p:grpSpPr>
            <p:sp>
              <p:nvSpPr>
                <p:cNvPr id="268" name="Rectangle 60"/>
                <p:cNvSpPr>
                  <a:spLocks noChangeArrowheads="1"/>
                </p:cNvSpPr>
                <p:nvPr/>
              </p:nvSpPr>
              <p:spPr bwMode="auto">
                <a:xfrm>
                  <a:off x="1828" y="1996"/>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69" name="Rectangle 61"/>
                <p:cNvSpPr>
                  <a:spLocks noChangeArrowheads="1"/>
                </p:cNvSpPr>
                <p:nvPr/>
              </p:nvSpPr>
              <p:spPr bwMode="auto">
                <a:xfrm>
                  <a:off x="1785" y="1996"/>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29" name="Group 62"/>
              <p:cNvGrpSpPr/>
              <p:nvPr/>
            </p:nvGrpSpPr>
            <p:grpSpPr bwMode="auto">
              <a:xfrm>
                <a:off x="2396" y="1996"/>
                <a:ext cx="767" cy="499"/>
                <a:chOff x="2396" y="1996"/>
                <a:chExt cx="767" cy="499"/>
              </a:xfrm>
            </p:grpSpPr>
            <p:sp>
              <p:nvSpPr>
                <p:cNvPr id="266" name="Rectangle 63"/>
                <p:cNvSpPr>
                  <a:spLocks noChangeArrowheads="1"/>
                </p:cNvSpPr>
                <p:nvPr/>
              </p:nvSpPr>
              <p:spPr bwMode="auto">
                <a:xfrm>
                  <a:off x="2439" y="1996"/>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3</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67" name="Rectangle 64"/>
                <p:cNvSpPr>
                  <a:spLocks noChangeArrowheads="1"/>
                </p:cNvSpPr>
                <p:nvPr/>
              </p:nvSpPr>
              <p:spPr bwMode="auto">
                <a:xfrm>
                  <a:off x="2396" y="1996"/>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0" name="Group 65"/>
              <p:cNvGrpSpPr/>
              <p:nvPr/>
            </p:nvGrpSpPr>
            <p:grpSpPr bwMode="auto">
              <a:xfrm>
                <a:off x="0" y="2495"/>
                <a:ext cx="513" cy="499"/>
                <a:chOff x="0" y="2495"/>
                <a:chExt cx="513" cy="499"/>
              </a:xfrm>
            </p:grpSpPr>
            <p:sp>
              <p:nvSpPr>
                <p:cNvPr id="264" name="Rectangle 66"/>
                <p:cNvSpPr>
                  <a:spLocks noChangeArrowheads="1"/>
                </p:cNvSpPr>
                <p:nvPr/>
              </p:nvSpPr>
              <p:spPr bwMode="auto">
                <a:xfrm>
                  <a:off x="43" y="2495"/>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FF0000"/>
                      </a:solidFill>
                      <a:latin typeface="Times New Roman" panose="02020603050405020304" pitchFamily="18" charset="0"/>
                    </a:rPr>
                    <a:t>5</a:t>
                  </a:r>
                  <a:endParaRPr kumimoji="1" lang="en-US" altLang="zh-CN" sz="1000" b="0">
                    <a:solidFill>
                      <a:srgbClr val="FF000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65" name="Rectangle 67"/>
                <p:cNvSpPr>
                  <a:spLocks noChangeArrowheads="1"/>
                </p:cNvSpPr>
                <p:nvPr/>
              </p:nvSpPr>
              <p:spPr bwMode="auto">
                <a:xfrm>
                  <a:off x="0" y="2495"/>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1" name="Group 68"/>
              <p:cNvGrpSpPr/>
              <p:nvPr/>
            </p:nvGrpSpPr>
            <p:grpSpPr bwMode="auto">
              <a:xfrm>
                <a:off x="513" y="2495"/>
                <a:ext cx="1272" cy="499"/>
                <a:chOff x="513" y="2495"/>
                <a:chExt cx="1272" cy="499"/>
              </a:xfrm>
            </p:grpSpPr>
            <p:sp>
              <p:nvSpPr>
                <p:cNvPr id="262" name="Rectangle 69"/>
                <p:cNvSpPr>
                  <a:spLocks noChangeArrowheads="1"/>
                </p:cNvSpPr>
                <p:nvPr/>
              </p:nvSpPr>
              <p:spPr bwMode="auto">
                <a:xfrm>
                  <a:off x="556" y="2495"/>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数据结构</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63" name="Rectangle 70"/>
                <p:cNvSpPr>
                  <a:spLocks noChangeArrowheads="1"/>
                </p:cNvSpPr>
                <p:nvPr/>
              </p:nvSpPr>
              <p:spPr bwMode="auto">
                <a:xfrm>
                  <a:off x="513" y="2495"/>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2" name="Group 71"/>
              <p:cNvGrpSpPr/>
              <p:nvPr/>
            </p:nvGrpSpPr>
            <p:grpSpPr bwMode="auto">
              <a:xfrm>
                <a:off x="1785" y="2495"/>
                <a:ext cx="611" cy="499"/>
                <a:chOff x="1785" y="2495"/>
                <a:chExt cx="611" cy="499"/>
              </a:xfrm>
            </p:grpSpPr>
            <p:sp>
              <p:nvSpPr>
                <p:cNvPr id="260" name="Rectangle 72"/>
                <p:cNvSpPr>
                  <a:spLocks noChangeArrowheads="1"/>
                </p:cNvSpPr>
                <p:nvPr/>
              </p:nvSpPr>
              <p:spPr bwMode="auto">
                <a:xfrm>
                  <a:off x="1828" y="2495"/>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7</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61" name="Rectangle 73"/>
                <p:cNvSpPr>
                  <a:spLocks noChangeArrowheads="1"/>
                </p:cNvSpPr>
                <p:nvPr/>
              </p:nvSpPr>
              <p:spPr bwMode="auto">
                <a:xfrm>
                  <a:off x="1785" y="2495"/>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3" name="Group 74"/>
              <p:cNvGrpSpPr/>
              <p:nvPr/>
            </p:nvGrpSpPr>
            <p:grpSpPr bwMode="auto">
              <a:xfrm>
                <a:off x="2396" y="2495"/>
                <a:ext cx="767" cy="499"/>
                <a:chOff x="2396" y="2495"/>
                <a:chExt cx="767" cy="499"/>
              </a:xfrm>
            </p:grpSpPr>
            <p:sp>
              <p:nvSpPr>
                <p:cNvPr id="258" name="Rectangle 75"/>
                <p:cNvSpPr>
                  <a:spLocks noChangeArrowheads="1"/>
                </p:cNvSpPr>
                <p:nvPr/>
              </p:nvSpPr>
              <p:spPr bwMode="auto">
                <a:xfrm>
                  <a:off x="2439" y="2495"/>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4</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59" name="Rectangle 76"/>
                <p:cNvSpPr>
                  <a:spLocks noChangeArrowheads="1"/>
                </p:cNvSpPr>
                <p:nvPr/>
              </p:nvSpPr>
              <p:spPr bwMode="auto">
                <a:xfrm>
                  <a:off x="2396" y="2495"/>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4" name="Group 77"/>
              <p:cNvGrpSpPr/>
              <p:nvPr/>
            </p:nvGrpSpPr>
            <p:grpSpPr bwMode="auto">
              <a:xfrm>
                <a:off x="0" y="2994"/>
                <a:ext cx="513" cy="499"/>
                <a:chOff x="0" y="2994"/>
                <a:chExt cx="513" cy="499"/>
              </a:xfrm>
            </p:grpSpPr>
            <p:sp>
              <p:nvSpPr>
                <p:cNvPr id="256" name="Rectangle 78"/>
                <p:cNvSpPr>
                  <a:spLocks noChangeArrowheads="1"/>
                </p:cNvSpPr>
                <p:nvPr/>
              </p:nvSpPr>
              <p:spPr bwMode="auto">
                <a:xfrm>
                  <a:off x="43" y="2994"/>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FFC000"/>
                      </a:solidFill>
                      <a:latin typeface="Times New Roman" panose="02020603050405020304" pitchFamily="18" charset="0"/>
                    </a:rPr>
                    <a:t>6</a:t>
                  </a:r>
                  <a:endParaRPr kumimoji="1" lang="en-US" altLang="zh-CN" sz="1000" b="0">
                    <a:solidFill>
                      <a:srgbClr val="FFC00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57" name="Rectangle 79"/>
                <p:cNvSpPr>
                  <a:spLocks noChangeArrowheads="1"/>
                </p:cNvSpPr>
                <p:nvPr/>
              </p:nvSpPr>
              <p:spPr bwMode="auto">
                <a:xfrm>
                  <a:off x="0" y="2994"/>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5" name="Group 80"/>
              <p:cNvGrpSpPr/>
              <p:nvPr/>
            </p:nvGrpSpPr>
            <p:grpSpPr bwMode="auto">
              <a:xfrm>
                <a:off x="513" y="2994"/>
                <a:ext cx="1272" cy="499"/>
                <a:chOff x="513" y="2994"/>
                <a:chExt cx="1272" cy="499"/>
              </a:xfrm>
            </p:grpSpPr>
            <p:sp>
              <p:nvSpPr>
                <p:cNvPr id="254" name="Rectangle 81"/>
                <p:cNvSpPr>
                  <a:spLocks noChangeArrowheads="1"/>
                </p:cNvSpPr>
                <p:nvPr/>
              </p:nvSpPr>
              <p:spPr bwMode="auto">
                <a:xfrm>
                  <a:off x="556" y="2994"/>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数据处理</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55" name="Rectangle 82"/>
                <p:cNvSpPr>
                  <a:spLocks noChangeArrowheads="1"/>
                </p:cNvSpPr>
                <p:nvPr/>
              </p:nvSpPr>
              <p:spPr bwMode="auto">
                <a:xfrm>
                  <a:off x="513" y="2994"/>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6" name="Group 83"/>
              <p:cNvGrpSpPr/>
              <p:nvPr/>
            </p:nvGrpSpPr>
            <p:grpSpPr bwMode="auto">
              <a:xfrm>
                <a:off x="1785" y="2994"/>
                <a:ext cx="611" cy="499"/>
                <a:chOff x="1785" y="2994"/>
                <a:chExt cx="611" cy="499"/>
              </a:xfrm>
            </p:grpSpPr>
            <p:sp>
              <p:nvSpPr>
                <p:cNvPr id="252" name="Rectangle 84"/>
                <p:cNvSpPr>
                  <a:spLocks noChangeArrowheads="1"/>
                </p:cNvSpPr>
                <p:nvPr/>
              </p:nvSpPr>
              <p:spPr bwMode="auto">
                <a:xfrm>
                  <a:off x="1828" y="2994"/>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53" name="Rectangle 85"/>
                <p:cNvSpPr>
                  <a:spLocks noChangeArrowheads="1"/>
                </p:cNvSpPr>
                <p:nvPr/>
              </p:nvSpPr>
              <p:spPr bwMode="auto">
                <a:xfrm>
                  <a:off x="1785" y="2994"/>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7" name="Group 86"/>
              <p:cNvGrpSpPr/>
              <p:nvPr/>
            </p:nvGrpSpPr>
            <p:grpSpPr bwMode="auto">
              <a:xfrm>
                <a:off x="2396" y="2994"/>
                <a:ext cx="767" cy="499"/>
                <a:chOff x="2396" y="2994"/>
                <a:chExt cx="767" cy="499"/>
              </a:xfrm>
            </p:grpSpPr>
            <p:sp>
              <p:nvSpPr>
                <p:cNvPr id="250" name="Rectangle 87"/>
                <p:cNvSpPr>
                  <a:spLocks noChangeArrowheads="1"/>
                </p:cNvSpPr>
                <p:nvPr/>
              </p:nvSpPr>
              <p:spPr bwMode="auto">
                <a:xfrm>
                  <a:off x="2439" y="2994"/>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2</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51" name="Rectangle 88"/>
                <p:cNvSpPr>
                  <a:spLocks noChangeArrowheads="1"/>
                </p:cNvSpPr>
                <p:nvPr/>
              </p:nvSpPr>
              <p:spPr bwMode="auto">
                <a:xfrm>
                  <a:off x="2396" y="2994"/>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8" name="Group 89"/>
              <p:cNvGrpSpPr/>
              <p:nvPr/>
            </p:nvGrpSpPr>
            <p:grpSpPr bwMode="auto">
              <a:xfrm>
                <a:off x="0" y="3493"/>
                <a:ext cx="513" cy="499"/>
                <a:chOff x="0" y="3493"/>
                <a:chExt cx="513" cy="499"/>
              </a:xfrm>
            </p:grpSpPr>
            <p:sp>
              <p:nvSpPr>
                <p:cNvPr id="248" name="Rectangle 90"/>
                <p:cNvSpPr>
                  <a:spLocks noChangeArrowheads="1"/>
                </p:cNvSpPr>
                <p:nvPr/>
              </p:nvSpPr>
              <p:spPr bwMode="auto">
                <a:xfrm>
                  <a:off x="43" y="3493"/>
                  <a:ext cx="4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000">
                      <a:latin typeface="Times New Roman" panose="02020603050405020304" pitchFamily="18" charset="0"/>
                    </a:rPr>
                    <a:t> </a:t>
                  </a:r>
                  <a:r>
                    <a:rPr kumimoji="1" lang="en-US" altLang="zh-CN" sz="1000">
                      <a:solidFill>
                        <a:srgbClr val="0070C0"/>
                      </a:solidFill>
                      <a:latin typeface="Times New Roman" panose="02020603050405020304" pitchFamily="18" charset="0"/>
                    </a:rPr>
                    <a:t>7</a:t>
                  </a:r>
                  <a:endParaRPr kumimoji="1" lang="en-US" altLang="zh-CN" sz="1000" b="0">
                    <a:solidFill>
                      <a:srgbClr val="0070C0"/>
                    </a:solidFill>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49" name="Rectangle 91"/>
                <p:cNvSpPr>
                  <a:spLocks noChangeArrowheads="1"/>
                </p:cNvSpPr>
                <p:nvPr/>
              </p:nvSpPr>
              <p:spPr bwMode="auto">
                <a:xfrm>
                  <a:off x="0" y="3493"/>
                  <a:ext cx="513"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39" name="Group 92"/>
              <p:cNvGrpSpPr/>
              <p:nvPr/>
            </p:nvGrpSpPr>
            <p:grpSpPr bwMode="auto">
              <a:xfrm>
                <a:off x="513" y="3493"/>
                <a:ext cx="1272" cy="499"/>
                <a:chOff x="513" y="3493"/>
                <a:chExt cx="1272" cy="499"/>
              </a:xfrm>
            </p:grpSpPr>
            <p:sp>
              <p:nvSpPr>
                <p:cNvPr id="246" name="Rectangle 93"/>
                <p:cNvSpPr>
                  <a:spLocks noChangeArrowheads="1"/>
                </p:cNvSpPr>
                <p:nvPr/>
              </p:nvSpPr>
              <p:spPr bwMode="auto">
                <a:xfrm>
                  <a:off x="556" y="3493"/>
                  <a:ext cx="118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000">
                      <a:latin typeface="Times New Roman" panose="02020603050405020304" pitchFamily="18" charset="0"/>
                    </a:rPr>
                    <a:t>PASCAL</a:t>
                  </a:r>
                  <a:r>
                    <a:rPr kumimoji="1" lang="zh-CN" altLang="en-US" sz="1000">
                      <a:latin typeface="Times New Roman" panose="02020603050405020304" pitchFamily="18" charset="0"/>
                    </a:rPr>
                    <a:t>语言</a:t>
                  </a:r>
                  <a:endParaRPr kumimoji="1" lang="zh-CN" altLang="en-US"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47" name="Rectangle 94"/>
                <p:cNvSpPr>
                  <a:spLocks noChangeArrowheads="1"/>
                </p:cNvSpPr>
                <p:nvPr/>
              </p:nvSpPr>
              <p:spPr bwMode="auto">
                <a:xfrm>
                  <a:off x="513" y="3493"/>
                  <a:ext cx="1272"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40" name="Group 95"/>
              <p:cNvGrpSpPr/>
              <p:nvPr/>
            </p:nvGrpSpPr>
            <p:grpSpPr bwMode="auto">
              <a:xfrm>
                <a:off x="1785" y="3493"/>
                <a:ext cx="611" cy="499"/>
                <a:chOff x="1785" y="3493"/>
                <a:chExt cx="611" cy="499"/>
              </a:xfrm>
            </p:grpSpPr>
            <p:sp>
              <p:nvSpPr>
                <p:cNvPr id="244" name="Rectangle 96"/>
                <p:cNvSpPr>
                  <a:spLocks noChangeArrowheads="1"/>
                </p:cNvSpPr>
                <p:nvPr/>
              </p:nvSpPr>
              <p:spPr bwMode="auto">
                <a:xfrm>
                  <a:off x="1828" y="3493"/>
                  <a:ext cx="525"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a:latin typeface="Times New Roman" panose="02020603050405020304" pitchFamily="18" charset="0"/>
                    </a:rPr>
                    <a:t>  </a:t>
                  </a:r>
                  <a:r>
                    <a:rPr kumimoji="1" lang="en-US" altLang="zh-CN" sz="1000">
                      <a:latin typeface="Times New Roman" panose="02020603050405020304" pitchFamily="18" charset="0"/>
                    </a:rPr>
                    <a:t>6</a:t>
                  </a:r>
                  <a:endParaRPr kumimoji="1" lang="en-US" altLang="zh-CN" sz="1000" b="0">
                    <a:latin typeface="Times New Roman" panose="02020603050405020304" pitchFamily="18" charset="0"/>
                  </a:endParaRPr>
                </a:p>
                <a:p>
                  <a:pPr>
                    <a:spcBef>
                      <a:spcPct val="0"/>
                    </a:spcBef>
                    <a:buFontTx/>
                    <a:buNone/>
                  </a:pPr>
                  <a:endParaRPr kumimoji="1" lang="zh-CN" altLang="en-US" sz="1000" b="0">
                    <a:latin typeface="Times New Roman" panose="02020603050405020304" pitchFamily="18" charset="0"/>
                  </a:endParaRPr>
                </a:p>
              </p:txBody>
            </p:sp>
            <p:sp>
              <p:nvSpPr>
                <p:cNvPr id="245" name="Rectangle 97"/>
                <p:cNvSpPr>
                  <a:spLocks noChangeArrowheads="1"/>
                </p:cNvSpPr>
                <p:nvPr/>
              </p:nvSpPr>
              <p:spPr bwMode="auto">
                <a:xfrm>
                  <a:off x="1785" y="3493"/>
                  <a:ext cx="611"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nvGrpSpPr>
              <p:cNvPr id="241" name="Group 98"/>
              <p:cNvGrpSpPr/>
              <p:nvPr/>
            </p:nvGrpSpPr>
            <p:grpSpPr bwMode="auto">
              <a:xfrm>
                <a:off x="2396" y="3493"/>
                <a:ext cx="767" cy="499"/>
                <a:chOff x="2396" y="3493"/>
                <a:chExt cx="767" cy="499"/>
              </a:xfrm>
            </p:grpSpPr>
            <p:sp>
              <p:nvSpPr>
                <p:cNvPr id="242" name="Rectangle 99"/>
                <p:cNvSpPr>
                  <a:spLocks noChangeArrowheads="1"/>
                </p:cNvSpPr>
                <p:nvPr/>
              </p:nvSpPr>
              <p:spPr bwMode="auto">
                <a:xfrm>
                  <a:off x="2439" y="3493"/>
                  <a:ext cx="681"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000" dirty="0">
                      <a:latin typeface="Times New Roman" panose="02020603050405020304" pitchFamily="18" charset="0"/>
                    </a:rPr>
                    <a:t>  </a:t>
                  </a:r>
                  <a:r>
                    <a:rPr kumimoji="1" lang="en-US" altLang="zh-CN" sz="1000" dirty="0">
                      <a:latin typeface="Times New Roman" panose="02020603050405020304" pitchFamily="18" charset="0"/>
                    </a:rPr>
                    <a:t>4</a:t>
                  </a:r>
                  <a:endParaRPr kumimoji="1" lang="en-US" altLang="zh-CN" sz="1000" b="0" dirty="0">
                    <a:latin typeface="Times New Roman" panose="02020603050405020304" pitchFamily="18" charset="0"/>
                  </a:endParaRPr>
                </a:p>
                <a:p>
                  <a:pPr>
                    <a:spcBef>
                      <a:spcPct val="0"/>
                    </a:spcBef>
                    <a:buFontTx/>
                    <a:buNone/>
                  </a:pPr>
                  <a:endParaRPr kumimoji="1" lang="zh-CN" altLang="en-US" sz="1000" b="0" dirty="0">
                    <a:latin typeface="Times New Roman" panose="02020603050405020304" pitchFamily="18" charset="0"/>
                  </a:endParaRPr>
                </a:p>
              </p:txBody>
            </p:sp>
            <p:sp>
              <p:nvSpPr>
                <p:cNvPr id="243" name="Rectangle 100"/>
                <p:cNvSpPr>
                  <a:spLocks noChangeArrowheads="1"/>
                </p:cNvSpPr>
                <p:nvPr/>
              </p:nvSpPr>
              <p:spPr bwMode="auto">
                <a:xfrm>
                  <a:off x="2396" y="3493"/>
                  <a:ext cx="767" cy="499"/>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grpSp>
        <p:sp>
          <p:nvSpPr>
            <p:cNvPr id="209" name="Rectangle 101"/>
            <p:cNvSpPr>
              <a:spLocks noChangeArrowheads="1"/>
            </p:cNvSpPr>
            <p:nvPr/>
          </p:nvSpPr>
          <p:spPr bwMode="auto">
            <a:xfrm>
              <a:off x="-3" y="-3"/>
              <a:ext cx="3169" cy="3998"/>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000">
                <a:latin typeface="Arial" panose="020B0604020202020204" pitchFamily="34" charset="0"/>
              </a:endParaRPr>
            </a:p>
          </p:txBody>
        </p:sp>
      </p:grpSp>
      <p:sp>
        <p:nvSpPr>
          <p:cNvPr id="306" name="Rectangle 3"/>
          <p:cNvSpPr txBox="1">
            <a:spLocks noChangeArrowheads="1"/>
          </p:cNvSpPr>
          <p:nvPr/>
        </p:nvSpPr>
        <p:spPr bwMode="auto">
          <a:xfrm>
            <a:off x="1874191" y="2495322"/>
            <a:ext cx="23860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buFontTx/>
              <a:buNone/>
            </a:pPr>
            <a:r>
              <a:rPr lang="en-US" altLang="zh-CN" sz="2000" dirty="0">
                <a:latin typeface="Times New Roman" panose="02020603050405020304" pitchFamily="18" charset="0"/>
                <a:cs typeface="Times New Roman" panose="02020603050405020304" pitchFamily="18" charset="0"/>
              </a:rPr>
              <a:t>FIRST</a:t>
            </a:r>
            <a:endParaRPr lang="zh-CN" altLang="en-US" sz="2000" dirty="0">
              <a:latin typeface="Times New Roman" panose="02020603050405020304" pitchFamily="18" charset="0"/>
              <a:cs typeface="Times New Roman" panose="02020603050405020304" pitchFamily="18" charset="0"/>
            </a:endParaRPr>
          </a:p>
        </p:txBody>
      </p:sp>
      <p:sp>
        <p:nvSpPr>
          <p:cNvPr id="307" name="Rectangle 3"/>
          <p:cNvSpPr txBox="1">
            <a:spLocks noChangeArrowheads="1"/>
          </p:cNvSpPr>
          <p:nvPr/>
        </p:nvSpPr>
        <p:spPr bwMode="auto">
          <a:xfrm>
            <a:off x="6380030" y="2529628"/>
            <a:ext cx="2387600"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buFontTx/>
              <a:buNone/>
            </a:pPr>
            <a:r>
              <a:rPr lang="en-US" altLang="zh-CN" sz="2000" dirty="0">
                <a:latin typeface="Times New Roman" panose="02020603050405020304" pitchFamily="18" charset="0"/>
                <a:cs typeface="Times New Roman" panose="02020603050405020304" pitchFamily="18" charset="0"/>
              </a:rPr>
              <a:t>SECOND</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外连接</a:t>
            </a:r>
            <a:endParaRPr kumimoji="1" lang="en-US" altLang="zh-CN" sz="2400" b="0" dirty="0">
              <a:latin typeface="Times New Roman" panose="02020603050405020304" pitchFamily="18" charset="0"/>
              <a:cs typeface="Times New Roman" panose="02020603050405020304" pitchFamily="18" charset="0"/>
            </a:endParaRPr>
          </a:p>
          <a:p>
            <a:pPr lvl="1" algn="just">
              <a:lnSpc>
                <a:spcPct val="150000"/>
              </a:lnSpc>
            </a:pPr>
            <a:r>
              <a:rPr lang="zh-CN" altLang="en-US" dirty="0">
                <a:latin typeface="Times New Roman" panose="02020603050405020304" pitchFamily="18" charset="0"/>
                <a:cs typeface="Times New Roman" panose="02020603050405020304" pitchFamily="18" charset="0"/>
              </a:rPr>
              <a:t>外连接与普通连接的区别</a:t>
            </a:r>
            <a:endParaRPr lang="zh-CN" altLang="en-US" dirty="0">
              <a:latin typeface="Times New Roman" panose="02020603050405020304" pitchFamily="18" charset="0"/>
              <a:cs typeface="Times New Roman" panose="02020603050405020304" pitchFamily="18" charset="0"/>
            </a:endParaRPr>
          </a:p>
          <a:p>
            <a:pPr lvl="2" algn="just">
              <a:lnSpc>
                <a:spcPct val="180000"/>
              </a:lnSpc>
            </a:pPr>
            <a:r>
              <a:rPr lang="zh-CN" altLang="en-US" sz="2400" dirty="0">
                <a:latin typeface="Times New Roman" panose="02020603050405020304" pitchFamily="18" charset="0"/>
                <a:cs typeface="Times New Roman" panose="02020603050405020304" pitchFamily="18" charset="0"/>
              </a:rPr>
              <a:t>普通连接操作只输出满足连接条件的元组</a:t>
            </a:r>
            <a:endParaRPr lang="zh-CN" altLang="en-US" sz="2400" dirty="0">
              <a:latin typeface="Times New Roman" panose="02020603050405020304" pitchFamily="18" charset="0"/>
              <a:cs typeface="Times New Roman" panose="02020603050405020304" pitchFamily="18" charset="0"/>
            </a:endParaRPr>
          </a:p>
          <a:p>
            <a:pPr lvl="2">
              <a:lnSpc>
                <a:spcPct val="180000"/>
              </a:lnSpc>
            </a:pPr>
            <a:r>
              <a:rPr lang="zh-CN" altLang="en-US" sz="2400" dirty="0">
                <a:latin typeface="Times New Roman" panose="02020603050405020304" pitchFamily="18" charset="0"/>
                <a:cs typeface="Times New Roman" panose="02020603050405020304" pitchFamily="18" charset="0"/>
              </a:rPr>
              <a:t>外连接操作以指定表为连接主体，将主体表中不满足连接条件的元组一并输出</a:t>
            </a:r>
            <a:endParaRPr lang="zh-CN" altLang="en-US" sz="2400" dirty="0">
              <a:latin typeface="Times New Roman" panose="02020603050405020304" pitchFamily="18" charset="0"/>
              <a:cs typeface="Times New Roman" panose="02020603050405020304" pitchFamily="18" charset="0"/>
            </a:endParaRPr>
          </a:p>
          <a:p>
            <a:pPr lvl="1" algn="just">
              <a:lnSpc>
                <a:spcPct val="16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3-44</a:t>
            </a:r>
            <a:r>
              <a:rPr lang="zh-CN" altLang="en-US" i="1" dirty="0">
                <a:latin typeface="Times New Roman" panose="02020603050405020304" pitchFamily="18" charset="0"/>
                <a:cs typeface="Times New Roman" panose="02020603050405020304" pitchFamily="18" charset="0"/>
              </a:rPr>
              <a:t>：改写</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3-42]</a:t>
            </a:r>
            <a:endParaRPr lang="en-US" altLang="zh-CN" i="1" dirty="0">
              <a:latin typeface="Times New Roman" panose="02020603050405020304" pitchFamily="18" charset="0"/>
              <a:cs typeface="Times New Roman" panose="02020603050405020304" pitchFamily="18" charset="0"/>
            </a:endParaRPr>
          </a:p>
          <a:p>
            <a:pPr>
              <a:lnSpc>
                <a:spcPct val="16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6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55855" y="4463409"/>
            <a:ext cx="7862740"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Ssex</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LEFT OUTER JOIN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ON</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外连接</a:t>
            </a:r>
            <a:endParaRPr kumimoji="1" lang="en-US" altLang="zh-CN" sz="2600" dirty="0">
              <a:latin typeface="Times New Roman" panose="02020603050405020304" pitchFamily="18" charset="0"/>
              <a:cs typeface="Times New Roman" panose="02020603050405020304" pitchFamily="18" charset="0"/>
            </a:endParaRPr>
          </a:p>
          <a:p>
            <a:pPr lvl="1" algn="just">
              <a:lnSpc>
                <a:spcPct val="200000"/>
              </a:lnSpc>
            </a:pPr>
            <a:r>
              <a:rPr lang="zh-CN" altLang="en-US" sz="2600" b="0" dirty="0">
                <a:latin typeface="Times New Roman" panose="02020603050405020304" pitchFamily="18" charset="0"/>
                <a:cs typeface="Times New Roman" panose="02020603050405020304" pitchFamily="18" charset="0"/>
              </a:rPr>
              <a:t>左外连接</a:t>
            </a:r>
            <a:endParaRPr lang="zh-CN" altLang="en-US" sz="2600" b="0" dirty="0">
              <a:latin typeface="Times New Roman" panose="02020603050405020304" pitchFamily="18" charset="0"/>
              <a:cs typeface="Times New Roman" panose="02020603050405020304" pitchFamily="18" charset="0"/>
            </a:endParaRPr>
          </a:p>
          <a:p>
            <a:pPr lvl="2" algn="just">
              <a:lnSpc>
                <a:spcPct val="200000"/>
              </a:lnSpc>
            </a:pPr>
            <a:r>
              <a:rPr lang="zh-CN" altLang="en-US" sz="2600" dirty="0">
                <a:latin typeface="Times New Roman" panose="02020603050405020304" pitchFamily="18" charset="0"/>
                <a:cs typeface="Times New Roman" panose="02020603050405020304" pitchFamily="18" charset="0"/>
              </a:rPr>
              <a:t>列出左边关系（如本例</a:t>
            </a:r>
            <a:r>
              <a:rPr lang="en-US" altLang="zh-CN" sz="2600" dirty="0">
                <a:latin typeface="Times New Roman" panose="02020603050405020304" pitchFamily="18" charset="0"/>
                <a:cs typeface="Times New Roman" panose="02020603050405020304" pitchFamily="18" charset="0"/>
              </a:rPr>
              <a:t>Student</a:t>
            </a:r>
            <a:r>
              <a:rPr lang="zh-CN" altLang="en-US" sz="2600" dirty="0">
                <a:latin typeface="Times New Roman" panose="02020603050405020304" pitchFamily="18" charset="0"/>
                <a:cs typeface="Times New Roman" panose="02020603050405020304" pitchFamily="18" charset="0"/>
              </a:rPr>
              <a:t>）中所有的元组 </a:t>
            </a:r>
            <a:endParaRPr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sz="2600" b="0" dirty="0">
                <a:latin typeface="Times New Roman" panose="02020603050405020304" pitchFamily="18" charset="0"/>
                <a:cs typeface="Times New Roman" panose="02020603050405020304" pitchFamily="18" charset="0"/>
              </a:rPr>
              <a:t>右外连接</a:t>
            </a:r>
            <a:endParaRPr lang="zh-CN" altLang="en-US" sz="2600" b="0" dirty="0">
              <a:latin typeface="Times New Roman" panose="02020603050405020304" pitchFamily="18" charset="0"/>
              <a:cs typeface="Times New Roman" panose="02020603050405020304" pitchFamily="18" charset="0"/>
            </a:endParaRPr>
          </a:p>
          <a:p>
            <a:pPr lvl="2" algn="just">
              <a:lnSpc>
                <a:spcPct val="200000"/>
              </a:lnSpc>
            </a:pPr>
            <a:r>
              <a:rPr lang="zh-CN" altLang="en-US" sz="2600" dirty="0">
                <a:latin typeface="Times New Roman" panose="02020603050405020304" pitchFamily="18" charset="0"/>
                <a:cs typeface="Times New Roman" panose="02020603050405020304" pitchFamily="18" charset="0"/>
              </a:rPr>
              <a:t>列出右边关系中所有的元组 </a:t>
            </a:r>
            <a:endParaRPr lang="zh-CN" altLang="en-US" sz="2600" dirty="0">
              <a:latin typeface="Times New Roman" panose="02020603050405020304" pitchFamily="18" charset="0"/>
              <a:cs typeface="Times New Roman" panose="02020603050405020304" pitchFamily="18" charset="0"/>
            </a:endParaRPr>
          </a:p>
          <a:p>
            <a:pPr marL="0" indent="0">
              <a:lnSpc>
                <a:spcPct val="110000"/>
              </a:lnSpc>
              <a:buNone/>
            </a:pPr>
            <a:endParaRPr kumimoji="1" lang="en-US" altLang="zh-CN"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复合条件连接</a:t>
            </a:r>
            <a:endParaRPr kumimoji="1" lang="en-US" altLang="zh-CN" sz="2400" b="0" dirty="0">
              <a:latin typeface="Times New Roman" panose="02020603050405020304" pitchFamily="18" charset="0"/>
              <a:cs typeface="Times New Roman" panose="02020603050405020304" pitchFamily="18" charset="0"/>
            </a:endParaRPr>
          </a:p>
          <a:p>
            <a:pPr lvl="1" algn="just">
              <a:lnSpc>
                <a:spcPct val="150000"/>
              </a:lnSpc>
            </a:pPr>
            <a:r>
              <a:rPr lang="zh-CN" altLang="en-US" dirty="0">
                <a:latin typeface="Times New Roman" panose="02020603050405020304" pitchFamily="18" charset="0"/>
                <a:cs typeface="Times New Roman" panose="02020603050405020304" pitchFamily="18" charset="0"/>
              </a:rPr>
              <a:t>复合条件连接：</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子句中含多个连接条件</a:t>
            </a:r>
            <a:endParaRPr lang="en-US" altLang="zh-CN" dirty="0">
              <a:latin typeface="Times New Roman" panose="02020603050405020304" pitchFamily="18" charset="0"/>
              <a:cs typeface="Times New Roman" panose="02020603050405020304" pitchFamily="18" charset="0"/>
            </a:endParaRPr>
          </a:p>
          <a:p>
            <a:pPr lvl="1" algn="just">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3-44</a:t>
            </a:r>
            <a:r>
              <a:rPr lang="zh-CN" altLang="en-US" i="1" dirty="0">
                <a:latin typeface="Times New Roman" panose="02020603050405020304" pitchFamily="18" charset="0"/>
                <a:cs typeface="Times New Roman" panose="02020603050405020304" pitchFamily="18" charset="0"/>
              </a:rPr>
              <a:t>：查询选修</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号课程且成绩在</a:t>
            </a:r>
            <a:r>
              <a:rPr lang="en-US" altLang="zh-CN" i="1" dirty="0">
                <a:latin typeface="Times New Roman" panose="02020603050405020304" pitchFamily="18" charset="0"/>
                <a:cs typeface="Times New Roman" panose="02020603050405020304" pitchFamily="18" charset="0"/>
              </a:rPr>
              <a:t>90</a:t>
            </a:r>
            <a:r>
              <a:rPr lang="zh-CN" altLang="en-US" i="1" dirty="0">
                <a:latin typeface="Times New Roman" panose="02020603050405020304" pitchFamily="18" charset="0"/>
                <a:cs typeface="Times New Roman" panose="02020603050405020304" pitchFamily="18" charset="0"/>
              </a:rPr>
              <a:t>分以上的所有学生	</a:t>
            </a:r>
            <a:endParaRPr lang="zh-CN" altLang="en-US" i="1" dirty="0">
              <a:latin typeface="Times New Roman" panose="02020603050405020304" pitchFamily="18" charset="0"/>
              <a:cs typeface="Times New Roman" panose="02020603050405020304" pitchFamily="18" charset="0"/>
            </a:endParaRPr>
          </a:p>
          <a:p>
            <a:pPr>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43313" y="3042965"/>
            <a:ext cx="7862740" cy="195898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zh-CN" altLang="en-US" sz="2000" dirty="0">
                <a:latin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AND</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BFBFBF"/>
                </a:solidFill>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solidFill>
                  <a:srgbClr val="BFBFBF"/>
                </a:solidFill>
                <a:latin typeface="Cambria Math" panose="02040503050406030204" pitchFamily="18" charset="0"/>
                <a:cs typeface="Times New Roman" panose="02020603050405020304" pitchFamily="18" charset="0"/>
              </a:rPr>
              <a:t>连接谓词*</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‘2’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AND</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SC.Grade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&gt; 90</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其他限定条件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复合条件连接</a:t>
            </a:r>
            <a:endParaRPr kumimoji="1" lang="en-US" altLang="zh-CN" sz="2400" b="0" dirty="0">
              <a:latin typeface="Times New Roman" panose="02020603050405020304" pitchFamily="18" charset="0"/>
              <a:cs typeface="Times New Roman" panose="02020603050405020304" pitchFamily="18" charset="0"/>
            </a:endParaRPr>
          </a:p>
          <a:p>
            <a:pPr lvl="1" algn="just">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3-45</a:t>
            </a:r>
            <a:r>
              <a:rPr lang="zh-CN" altLang="en-US" i="1" dirty="0">
                <a:latin typeface="Times New Roman" panose="02020603050405020304" pitchFamily="18" charset="0"/>
                <a:cs typeface="Times New Roman" panose="02020603050405020304" pitchFamily="18" charset="0"/>
              </a:rPr>
              <a:t>：查询每个学生的学号、姓名、选修的课程名及成绩</a:t>
            </a:r>
            <a:endParaRPr lang="zh-CN" altLang="en-US" i="1" dirty="0">
              <a:latin typeface="Times New Roman" panose="02020603050405020304" pitchFamily="18" charset="0"/>
              <a:cs typeface="Times New Roman" panose="02020603050405020304" pitchFamily="18" charset="0"/>
            </a:endParaRPr>
          </a:p>
          <a:p>
            <a:pPr algn="just">
              <a:lnSpc>
                <a:spcPct val="150000"/>
              </a:lnSpc>
              <a:buNone/>
            </a:pPr>
            <a:r>
              <a:rPr lang="zh-CN" altLang="en-US" sz="240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lvl="1" algn="just">
              <a:lnSpc>
                <a:spcPct val="15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solidFill>
                <a:srgbClr val="C00000"/>
              </a:solidFill>
              <a:latin typeface="Times New Roman" panose="02020603050405020304" pitchFamily="18" charset="0"/>
              <a:cs typeface="Times New Roman" panose="02020603050405020304" pitchFamily="18" charset="0"/>
            </a:endParaRPr>
          </a:p>
          <a:p>
            <a:pPr lvl="1" algn="just">
              <a:lnSpc>
                <a:spcPct val="15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gn="just">
              <a:lnSpc>
                <a:spcPct val="150000"/>
              </a:lnSpc>
              <a:buNone/>
            </a:pP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55855" y="2453975"/>
            <a:ext cx="7862740" cy="15753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Course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solidFill>
                  <a:srgbClr val="C00000"/>
                </a:solidFill>
                <a:latin typeface="Cambria Math" panose="02040503050406030204" pitchFamily="18" charset="0"/>
                <a:cs typeface="Times New Roman" panose="02020603050405020304" pitchFamily="18" charset="0"/>
              </a:rPr>
              <a:t>多表连接*</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AND</a:t>
            </a:r>
            <a:r>
              <a:rPr lang="zh-CN" altLang="en-US" sz="2000" dirty="0">
                <a:latin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Course.Cno</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嵌套查询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嵌套查询概述</a:t>
            </a:r>
            <a:endParaRPr lang="zh-CN" altLang="en-US" dirty="0">
              <a:latin typeface="Times New Roman" panose="02020603050405020304" pitchFamily="18" charset="0"/>
              <a:cs typeface="Times New Roman" panose="02020603050405020304" pitchFamily="18" charset="0"/>
            </a:endParaRPr>
          </a:p>
          <a:p>
            <a:pPr lvl="2">
              <a:lnSpc>
                <a:spcPct val="150000"/>
              </a:lnSpc>
              <a:spcAft>
                <a:spcPct val="40000"/>
              </a:spcAft>
            </a:pPr>
            <a:r>
              <a:rPr lang="zh-CN" altLang="en-US" sz="2400" dirty="0">
                <a:latin typeface="Times New Roman" panose="02020603050405020304" pitchFamily="18" charset="0"/>
                <a:cs typeface="Times New Roman" panose="02020603050405020304" pitchFamily="18" charset="0"/>
              </a:rPr>
              <a:t>一个</a:t>
            </a:r>
            <a:r>
              <a:rPr lang="en-US" altLang="zh-CN" sz="2400" dirty="0">
                <a:latin typeface="Times New Roman" panose="02020603050405020304" pitchFamily="18" charset="0"/>
                <a:cs typeface="Times New Roman" panose="02020603050405020304" pitchFamily="18" charset="0"/>
              </a:rPr>
              <a:t>SELECT-FROM-WHERE</a:t>
            </a:r>
            <a:r>
              <a:rPr lang="zh-CN" altLang="en-US" sz="2400" dirty="0">
                <a:latin typeface="Times New Roman" panose="02020603050405020304" pitchFamily="18" charset="0"/>
                <a:cs typeface="Times New Roman" panose="02020603050405020304" pitchFamily="18" charset="0"/>
              </a:rPr>
              <a:t>语句称为一个</a:t>
            </a:r>
            <a:r>
              <a:rPr lang="zh-CN" altLang="en-US" sz="2400" dirty="0">
                <a:solidFill>
                  <a:srgbClr val="C00000"/>
                </a:solidFill>
                <a:latin typeface="Times New Roman" panose="02020603050405020304" pitchFamily="18" charset="0"/>
                <a:cs typeface="Times New Roman" panose="02020603050405020304" pitchFamily="18" charset="0"/>
              </a:rPr>
              <a:t>查询块</a:t>
            </a:r>
            <a:endParaRPr lang="zh-CN" altLang="en-US" sz="2400" dirty="0">
              <a:solidFill>
                <a:srgbClr val="C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将一个查询块嵌套在另一个查询块的</a:t>
            </a:r>
            <a:r>
              <a:rPr lang="en-US" altLang="zh-CN" sz="2400" dirty="0">
                <a:solidFill>
                  <a:srgbClr val="C00000"/>
                </a:solidFill>
                <a:latin typeface="Times New Roman" panose="02020603050405020304" pitchFamily="18" charset="0"/>
                <a:cs typeface="Times New Roman" panose="02020603050405020304" pitchFamily="18" charset="0"/>
              </a:rPr>
              <a:t>WHERE</a:t>
            </a:r>
            <a:r>
              <a:rPr lang="zh-CN" altLang="en-US" sz="2400" dirty="0">
                <a:latin typeface="Times New Roman" panose="02020603050405020304" pitchFamily="18" charset="0"/>
                <a:cs typeface="Times New Roman" panose="02020603050405020304" pitchFamily="18" charset="0"/>
              </a:rPr>
              <a:t>子句或</a:t>
            </a:r>
            <a:r>
              <a:rPr lang="en-US" altLang="zh-CN" sz="2400" dirty="0">
                <a:solidFill>
                  <a:srgbClr val="C00000"/>
                </a:solidFill>
                <a:latin typeface="Times New Roman" panose="02020603050405020304" pitchFamily="18" charset="0"/>
                <a:cs typeface="Times New Roman" panose="02020603050405020304" pitchFamily="18" charset="0"/>
              </a:rPr>
              <a:t>HAVING</a:t>
            </a:r>
            <a:r>
              <a:rPr lang="zh-CN" altLang="en-US" sz="2400" dirty="0">
                <a:latin typeface="Times New Roman" panose="02020603050405020304" pitchFamily="18" charset="0"/>
                <a:cs typeface="Times New Roman" panose="02020603050405020304" pitchFamily="18" charset="0"/>
              </a:rPr>
              <a:t>短语的条件中的查询称为</a:t>
            </a:r>
            <a:r>
              <a:rPr lang="zh-CN" altLang="en-US" sz="2400" dirty="0">
                <a:solidFill>
                  <a:srgbClr val="C00000"/>
                </a:solidFill>
                <a:latin typeface="Times New Roman" panose="02020603050405020304" pitchFamily="18" charset="0"/>
                <a:cs typeface="Times New Roman" panose="02020603050405020304" pitchFamily="18" charset="0"/>
              </a:rPr>
              <a:t>嵌套查询</a:t>
            </a:r>
            <a:endParaRPr lang="zh-CN" altLang="en-US" sz="2400" dirty="0">
              <a:solidFill>
                <a:srgbClr val="C00000"/>
              </a:solidFill>
              <a:latin typeface="Times New Roman" panose="02020603050405020304" pitchFamily="18" charset="0"/>
              <a:cs typeface="Times New Roman" panose="02020603050405020304" pitchFamily="18" charset="0"/>
            </a:endParaRPr>
          </a:p>
          <a:p>
            <a:pPr>
              <a:lnSpc>
                <a:spcPct val="110000"/>
              </a:lnSpc>
            </a:pPr>
            <a:endParaRPr kumimoji="1"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嵌套查询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3-46</a:t>
            </a:r>
            <a:r>
              <a:rPr lang="zh-CN" altLang="en-US" i="1" dirty="0">
                <a:latin typeface="Times New Roman" panose="02020603050405020304" pitchFamily="18" charset="0"/>
                <a:cs typeface="Times New Roman" panose="02020603050405020304" pitchFamily="18" charset="0"/>
              </a:rPr>
              <a:t>：选修了</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号课程的学生姓名</a:t>
            </a:r>
            <a:endParaRPr lang="zh-CN" altLang="en-US" i="1" dirty="0">
              <a:latin typeface="Times New Roman" panose="02020603050405020304" pitchFamily="18" charset="0"/>
              <a:cs typeface="Times New Roman" panose="02020603050405020304" pitchFamily="18" charset="0"/>
            </a:endParaRPr>
          </a:p>
          <a:p>
            <a:pPr>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a:lnSpc>
                <a:spcPct val="110000"/>
              </a:lnSpc>
            </a:pPr>
            <a:endParaRPr kumimoji="1"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43313" y="2342729"/>
            <a:ext cx="7862740" cy="195898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外层查询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父查询*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Sno IN</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   /*</a:t>
            </a:r>
            <a:r>
              <a:rPr lang="zh-CN" altLang="en-US" sz="2000" dirty="0">
                <a:latin typeface="Cambria Math" panose="02040503050406030204" pitchFamily="18" charset="0"/>
                <a:cs typeface="Times New Roman" panose="02020603050405020304" pitchFamily="18" charset="0"/>
              </a:rPr>
              <a:t>内层查询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子查询*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2 '</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嵌套查询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3-46</a:t>
            </a:r>
            <a:r>
              <a:rPr lang="zh-CN" altLang="en-US" i="1" dirty="0">
                <a:latin typeface="Times New Roman" panose="02020603050405020304" pitchFamily="18" charset="0"/>
                <a:cs typeface="Times New Roman" panose="02020603050405020304" pitchFamily="18" charset="0"/>
              </a:rPr>
              <a:t>：选修了</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号课程的学生姓名</a:t>
            </a:r>
            <a:endParaRPr lang="zh-CN" altLang="en-US" i="1" dirty="0">
              <a:latin typeface="Times New Roman" panose="02020603050405020304" pitchFamily="18" charset="0"/>
              <a:cs typeface="Times New Roman" panose="02020603050405020304" pitchFamily="18" charset="0"/>
            </a:endParaRPr>
          </a:p>
          <a:p>
            <a:pPr lvl="1">
              <a:buNone/>
            </a:pPr>
            <a:r>
              <a:rPr lang="en-US" altLang="zh-CN" sz="2000"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solidFill>
                <a:srgbClr val="C00000"/>
              </a:solidFill>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marL="0" indent="0">
              <a:lnSpc>
                <a:spcPct val="110000"/>
              </a:lnSpc>
              <a:buNone/>
            </a:pPr>
            <a:endParaRPr kumimoji="1"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43313" y="2446400"/>
            <a:ext cx="7862740" cy="196519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外层查询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父查询*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Student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'2 ' IN</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内层查询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子查询*</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Student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1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sz="2600" dirty="0">
                <a:latin typeface="Times New Roman" panose="02020603050405020304" pitchFamily="18" charset="0"/>
                <a:cs typeface="Times New Roman" panose="02020603050405020304" pitchFamily="18" charset="0"/>
              </a:rPr>
              <a:t>当能确切知道内层查询返回单值时，可用比较运算符（</a:t>
            </a:r>
            <a:r>
              <a:rPr lang="en-US" altLang="zh-CN" sz="2600" dirty="0">
                <a:latin typeface="Times New Roman" panose="02020603050405020304" pitchFamily="18" charset="0"/>
                <a:cs typeface="Times New Roman" panose="02020603050405020304" pitchFamily="18" charset="0"/>
              </a:rPr>
              <a:t>&gt;</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&lt;</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&gt;=</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&lt;=</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a:t>
            </a:r>
            <a:r>
              <a:rPr lang="zh-CN" altLang="en-US" sz="2600" dirty="0">
                <a:latin typeface="Times New Roman" panose="02020603050405020304" pitchFamily="18" charset="0"/>
                <a:cs typeface="Times New Roman" panose="02020603050405020304" pitchFamily="18" charset="0"/>
              </a:rPr>
              <a:t>或</a:t>
            </a:r>
            <a:r>
              <a:rPr lang="en-US" altLang="zh-CN" sz="2600" dirty="0">
                <a:latin typeface="Times New Roman" panose="02020603050405020304" pitchFamily="18" charset="0"/>
                <a:cs typeface="Times New Roman" panose="02020603050405020304" pitchFamily="18" charset="0"/>
              </a:rPr>
              <a:t>&lt; &gt;</a:t>
            </a:r>
            <a:r>
              <a:rPr lang="zh-CN" altLang="en-US" sz="2600" dirty="0">
                <a:latin typeface="Times New Roman" panose="02020603050405020304" pitchFamily="18" charset="0"/>
                <a:cs typeface="Times New Roman" panose="02020603050405020304" pitchFamily="18" charset="0"/>
              </a:rPr>
              <a:t>）</a:t>
            </a:r>
            <a:endParaRPr lang="zh-CN" altLang="en-US" sz="2600" dirty="0">
              <a:latin typeface="Times New Roman" panose="02020603050405020304" pitchFamily="18" charset="0"/>
              <a:cs typeface="Times New Roman" panose="02020603050405020304" pitchFamily="18" charset="0"/>
            </a:endParaRPr>
          </a:p>
          <a:p>
            <a:pPr lvl="1">
              <a:lnSpc>
                <a:spcPct val="200000"/>
              </a:lnSpc>
            </a:pPr>
            <a:r>
              <a:rPr lang="zh-CN" altLang="en-US" sz="2600" dirty="0">
                <a:latin typeface="Times New Roman" panose="02020603050405020304" pitchFamily="18" charset="0"/>
                <a:cs typeface="Times New Roman" panose="02020603050405020304" pitchFamily="18" charset="0"/>
              </a:rPr>
              <a:t>与</a:t>
            </a:r>
            <a:r>
              <a:rPr lang="en-US" altLang="zh-CN" sz="2600" dirty="0">
                <a:latin typeface="Times New Roman" panose="02020603050405020304" pitchFamily="18" charset="0"/>
                <a:cs typeface="Times New Roman" panose="02020603050405020304" pitchFamily="18" charset="0"/>
              </a:rPr>
              <a:t>SOME</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ANY</a:t>
            </a:r>
            <a:r>
              <a:rPr lang="zh-CN" altLang="en-US" sz="2600" dirty="0">
                <a:latin typeface="Times New Roman" panose="02020603050405020304" pitchFamily="18" charset="0"/>
                <a:cs typeface="Times New Roman" panose="02020603050405020304" pitchFamily="18" charset="0"/>
              </a:rPr>
              <a:t>或</a:t>
            </a:r>
            <a:r>
              <a:rPr lang="en-US" altLang="zh-CN" sz="2600" dirty="0">
                <a:latin typeface="Times New Roman" panose="02020603050405020304" pitchFamily="18" charset="0"/>
                <a:cs typeface="Times New Roman" panose="02020603050405020304" pitchFamily="18" charset="0"/>
              </a:rPr>
              <a:t>ALL</a:t>
            </a:r>
            <a:r>
              <a:rPr lang="zh-CN" altLang="en-US" sz="2600" dirty="0">
                <a:latin typeface="Times New Roman" panose="02020603050405020304" pitchFamily="18" charset="0"/>
                <a:cs typeface="Times New Roman" panose="02020603050405020304" pitchFamily="18" charset="0"/>
              </a:rPr>
              <a:t>谓词配合使用</a:t>
            </a:r>
            <a:endParaRPr lang="zh-CN" altLang="en-US" sz="2600" dirty="0">
              <a:latin typeface="Times New Roman" panose="02020603050405020304" pitchFamily="18" charset="0"/>
              <a:cs typeface="Times New Roman" panose="02020603050405020304" pitchFamily="18" charset="0"/>
            </a:endParaRPr>
          </a:p>
          <a:p>
            <a:pPr marL="0" indent="0">
              <a:lnSpc>
                <a:spcPct val="110000"/>
              </a:lnSpc>
              <a:buNone/>
            </a:pPr>
            <a:endParaRPr kumimoji="1"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3-50</a:t>
            </a:r>
            <a:r>
              <a:rPr lang="zh-CN" altLang="en-US" i="1" dirty="0">
                <a:latin typeface="Times New Roman" panose="02020603050405020304" pitchFamily="18" charset="0"/>
                <a:cs typeface="Times New Roman" panose="02020603050405020304" pitchFamily="18" charset="0"/>
              </a:rPr>
              <a:t>：假设一个学生只可能在一个系学习，并且必须属于一个系，则在</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3-45]</a:t>
            </a:r>
            <a:r>
              <a:rPr lang="zh-CN" altLang="en-US" i="1" dirty="0">
                <a:latin typeface="Times New Roman" panose="02020603050405020304" pitchFamily="18" charset="0"/>
                <a:cs typeface="Times New Roman" panose="02020603050405020304" pitchFamily="18" charset="0"/>
              </a:rPr>
              <a:t>可以</a:t>
            </a:r>
            <a:r>
              <a:rPr lang="zh-CN" altLang="en-US" i="1" dirty="0">
                <a:solidFill>
                  <a:srgbClr val="C00000"/>
                </a:solidFill>
                <a:latin typeface="Times New Roman" panose="02020603050405020304" pitchFamily="18" charset="0"/>
                <a:cs typeface="Times New Roman" panose="02020603050405020304" pitchFamily="18" charset="0"/>
              </a:rPr>
              <a:t>用 </a:t>
            </a:r>
            <a:r>
              <a:rPr lang="en-US" altLang="zh-CN" i="1" dirty="0">
                <a:solidFill>
                  <a:srgbClr val="C00000"/>
                </a:solidFill>
                <a:latin typeface="Times New Roman" panose="02020603050405020304" pitchFamily="18" charset="0"/>
                <a:cs typeface="Times New Roman" panose="02020603050405020304" pitchFamily="18" charset="0"/>
              </a:rPr>
              <a:t>= </a:t>
            </a:r>
            <a:r>
              <a:rPr lang="zh-CN" altLang="en-US" i="1" dirty="0">
                <a:solidFill>
                  <a:srgbClr val="C00000"/>
                </a:solidFill>
                <a:latin typeface="Times New Roman" panose="02020603050405020304" pitchFamily="18" charset="0"/>
                <a:cs typeface="Times New Roman" panose="02020603050405020304" pitchFamily="18" charset="0"/>
              </a:rPr>
              <a:t>代替</a:t>
            </a:r>
            <a:r>
              <a:rPr lang="en-US" altLang="zh-CN" i="1" dirty="0">
                <a:solidFill>
                  <a:srgbClr val="C00000"/>
                </a:solidFill>
                <a:latin typeface="Times New Roman" panose="02020603050405020304" pitchFamily="18" charset="0"/>
                <a:cs typeface="Times New Roman" panose="02020603050405020304" pitchFamily="18" charset="0"/>
              </a:rPr>
              <a:t>IN </a:t>
            </a:r>
            <a:r>
              <a:rPr lang="zh-CN" altLang="en-US" i="1"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a:p>
            <a:pPr lvl="1">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solidFill>
                <a:srgbClr val="C00000"/>
              </a:solidFill>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a:buNone/>
            </a:pPr>
            <a:r>
              <a:rPr lang="en-US" altLang="zh-CN" sz="2400" dirty="0">
                <a:solidFill>
                  <a:srgbClr val="C00000"/>
                </a:solidFill>
                <a:latin typeface="Times New Roman" panose="02020603050405020304" pitchFamily="18" charset="0"/>
                <a:cs typeface="Times New Roman" panose="02020603050405020304" pitchFamily="18" charset="0"/>
              </a:rPr>
              <a:t>  ?</a:t>
            </a:r>
            <a:endParaRPr kumimoji="1" lang="en-US" altLang="zh-CN" sz="2400" dirty="0">
              <a:solidFill>
                <a:srgbClr val="C00000"/>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55855" y="2967567"/>
            <a:ext cx="7862740" cy="23488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D75B5B"/>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刘晨’</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b="0" dirty="0">
                <a:latin typeface="Times New Roman" panose="02020603050405020304" pitchFamily="18" charset="0"/>
                <a:cs typeface="Times New Roman" panose="02020603050405020304" pitchFamily="18" charset="0"/>
              </a:rPr>
              <a:t>子查询一定要跟在比较符之后</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下面是一个</a:t>
            </a:r>
            <a:r>
              <a:rPr lang="zh-CN" altLang="en-US" b="0" dirty="0">
                <a:solidFill>
                  <a:srgbClr val="C00000"/>
                </a:solidFill>
                <a:latin typeface="Times New Roman" panose="02020603050405020304" pitchFamily="18" charset="0"/>
                <a:cs typeface="Times New Roman" panose="02020603050405020304" pitchFamily="18" charset="0"/>
              </a:rPr>
              <a:t>错误</a:t>
            </a:r>
            <a:r>
              <a:rPr lang="zh-CN" altLang="en-US" b="0" dirty="0">
                <a:latin typeface="Times New Roman" panose="02020603050405020304" pitchFamily="18" charset="0"/>
                <a:cs typeface="Times New Roman" panose="02020603050405020304" pitchFamily="18" charset="0"/>
              </a:rPr>
              <a:t>的例子：</a:t>
            </a:r>
            <a:endParaRPr lang="zh-CN" altLang="en-US" b="0" dirty="0">
              <a:latin typeface="Times New Roman" panose="02020603050405020304" pitchFamily="18" charset="0"/>
              <a:cs typeface="Times New Roman" panose="02020603050405020304" pitchFamily="18" charset="0"/>
            </a:endParaRPr>
          </a:p>
          <a:p>
            <a:pPr lvl="1">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solidFill>
                  <a:srgbClr val="D75B5B"/>
                </a:solidFill>
                <a:latin typeface="Times New Roman" panose="02020603050405020304" pitchFamily="18" charset="0"/>
                <a:cs typeface="Times New Roman" panose="02020603050405020304" pitchFamily="18" charset="0"/>
              </a:rPr>
              <a:t>             </a:t>
            </a:r>
            <a:r>
              <a:rPr lang="en-US" altLang="zh-CN" b="0" dirty="0">
                <a:solidFill>
                  <a:srgbClr val="C00000"/>
                </a:solidFill>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a:buNone/>
            </a:pPr>
            <a:r>
              <a:rPr lang="en-US" altLang="zh-CN" sz="2400" b="0" dirty="0">
                <a:solidFill>
                  <a:srgbClr val="D75B5B"/>
                </a:solidFill>
                <a:latin typeface="Times New Roman" panose="02020603050405020304" pitchFamily="18" charset="0"/>
                <a:cs typeface="Times New Roman" panose="02020603050405020304" pitchFamily="18" charset="0"/>
              </a:rPr>
              <a:t> </a:t>
            </a:r>
            <a:r>
              <a:rPr lang="en-US" altLang="zh-CN" sz="2400" b="0" dirty="0">
                <a:solidFill>
                  <a:srgbClr val="C00000"/>
                </a:solidFill>
                <a:latin typeface="Times New Roman" panose="02020603050405020304" pitchFamily="18" charset="0"/>
                <a:cs typeface="Times New Roman" panose="02020603050405020304" pitchFamily="18" charset="0"/>
              </a:rPr>
              <a:t>?</a:t>
            </a:r>
            <a:endParaRPr lang="zh-CN" altLang="en-US" sz="2400" b="0" dirty="0">
              <a:solidFill>
                <a:srgbClr val="C00000"/>
              </a:solidFill>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55855" y="2613362"/>
            <a:ext cx="7862740" cy="23488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 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a:t>
            </a:r>
            <a:r>
              <a:rPr lang="zh-CN" altLang="en-US" sz="2000" dirty="0">
                <a:latin typeface="Cambria Math" panose="02040503050406030204" pitchFamily="18" charset="0"/>
                <a:cs typeface="Times New Roman" panose="02020603050405020304" pitchFamily="18" charset="0"/>
              </a:rPr>
              <a:t>刘晨 ’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Sdept</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3-51</a:t>
            </a:r>
            <a:r>
              <a:rPr lang="zh-CN" altLang="en-US" i="1" dirty="0">
                <a:latin typeface="Times New Roman" panose="02020603050405020304" pitchFamily="18" charset="0"/>
                <a:cs typeface="Times New Roman" panose="02020603050405020304" pitchFamily="18" charset="0"/>
              </a:rPr>
              <a:t>：找出每个学生超过他已选修课程平均成绩的课程号</a:t>
            </a:r>
            <a:endParaRPr lang="zh-CN" altLang="en-US" i="1" dirty="0">
              <a:latin typeface="Times New Roman" panose="02020603050405020304" pitchFamily="18" charset="0"/>
              <a:cs typeface="Times New Roman" panose="02020603050405020304" pitchFamily="18" charset="0"/>
            </a:endParaRPr>
          </a:p>
          <a:p>
            <a:pPr lvl="1">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solidFill>
                <a:srgbClr val="C00000"/>
              </a:solidFill>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solidFill>
                <a:srgbClr val="C00000"/>
              </a:solidFill>
              <a:latin typeface="Times New Roman" panose="02020603050405020304" pitchFamily="18" charset="0"/>
              <a:cs typeface="Times New Roman" panose="02020603050405020304" pitchFamily="18" charset="0"/>
            </a:endParaRPr>
          </a:p>
          <a:p>
            <a:pPr lvl="1">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7" name="文本框 6"/>
          <p:cNvSpPr txBox="1"/>
          <p:nvPr/>
        </p:nvSpPr>
        <p:spPr bwMode="auto">
          <a:xfrm>
            <a:off x="1094462" y="2647506"/>
            <a:ext cx="7862740" cy="196205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X</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Grade &gt;=(SELECT AVG(Grade)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Y</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Y</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X.Sno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6" name="AutoShape 4"/>
          <p:cNvSpPr>
            <a:spLocks noChangeArrowheads="1"/>
          </p:cNvSpPr>
          <p:nvPr/>
        </p:nvSpPr>
        <p:spPr bwMode="auto">
          <a:xfrm>
            <a:off x="4572000" y="2349500"/>
            <a:ext cx="2000250" cy="908050"/>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lgn="ctr">
            <a:solidFill>
              <a:srgbClr val="00CC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a:latin typeface="Times New Roman" panose="02020603050405020304" pitchFamily="18" charset="0"/>
              </a:rPr>
              <a:t>相关子查询 </a:t>
            </a:r>
            <a:endParaRPr lang="zh-CN" altLang="en-US" sz="1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2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r>
              <a:rPr lang="zh-CN" altLang="en-US" sz="2600" dirty="0">
                <a:latin typeface="Times New Roman" panose="02020603050405020304" pitchFamily="18" charset="0"/>
                <a:cs typeface="Times New Roman" panose="02020603050405020304" pitchFamily="18" charset="0"/>
              </a:rPr>
              <a:t>执行过程： </a:t>
            </a:r>
            <a:endParaRPr lang="zh-CN" altLang="en-US" sz="2600" dirty="0">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1. </a:t>
            </a:r>
            <a:r>
              <a:rPr lang="zh-CN" altLang="en-US" sz="2600" dirty="0">
                <a:latin typeface="Times New Roman" panose="02020603050405020304" pitchFamily="18" charset="0"/>
                <a:cs typeface="Times New Roman" panose="02020603050405020304" pitchFamily="18" charset="0"/>
              </a:rPr>
              <a:t>从外层查询中取出</a:t>
            </a:r>
            <a:r>
              <a:rPr lang="en-US" altLang="zh-CN" sz="2600" dirty="0">
                <a:latin typeface="Times New Roman" panose="02020603050405020304" pitchFamily="18" charset="0"/>
                <a:cs typeface="Times New Roman" panose="02020603050405020304" pitchFamily="18" charset="0"/>
              </a:rPr>
              <a:t>SC</a:t>
            </a:r>
            <a:r>
              <a:rPr lang="zh-CN" altLang="en-US" sz="2600" dirty="0">
                <a:latin typeface="Times New Roman" panose="02020603050405020304" pitchFamily="18" charset="0"/>
                <a:cs typeface="Times New Roman" panose="02020603050405020304" pitchFamily="18" charset="0"/>
              </a:rPr>
              <a:t>的一个元组</a:t>
            </a:r>
            <a:r>
              <a:rPr lang="en-US" altLang="zh-CN" sz="2600" dirty="0">
                <a:latin typeface="Times New Roman" panose="02020603050405020304" pitchFamily="18" charset="0"/>
                <a:cs typeface="Times New Roman" panose="02020603050405020304" pitchFamily="18" charset="0"/>
              </a:rPr>
              <a:t>x</a:t>
            </a:r>
            <a:r>
              <a:rPr lang="zh-CN" altLang="en-US" sz="2600" dirty="0">
                <a:latin typeface="Times New Roman" panose="02020603050405020304" pitchFamily="18" charset="0"/>
                <a:cs typeface="Times New Roman" panose="02020603050405020304" pitchFamily="18" charset="0"/>
              </a:rPr>
              <a:t>，将元组</a:t>
            </a:r>
            <a:r>
              <a:rPr lang="en-US" altLang="zh-CN" sz="2600" dirty="0">
                <a:latin typeface="Times New Roman" panose="02020603050405020304" pitchFamily="18" charset="0"/>
                <a:cs typeface="Times New Roman" panose="02020603050405020304" pitchFamily="18" charset="0"/>
              </a:rPr>
              <a:t>x</a:t>
            </a:r>
            <a:r>
              <a:rPr lang="zh-CN" altLang="en-US" sz="2600" dirty="0">
                <a:latin typeface="Times New Roman" panose="02020603050405020304" pitchFamily="18" charset="0"/>
                <a:cs typeface="Times New Roman" panose="02020603050405020304" pitchFamily="18" charset="0"/>
              </a:rPr>
              <a:t>的</a:t>
            </a:r>
            <a:r>
              <a:rPr lang="en-US" altLang="zh-CN" sz="2600" dirty="0">
                <a:latin typeface="Times New Roman" panose="02020603050405020304" pitchFamily="18" charset="0"/>
                <a:cs typeface="Times New Roman" panose="02020603050405020304" pitchFamily="18" charset="0"/>
              </a:rPr>
              <a:t>Sno</a:t>
            </a:r>
            <a:r>
              <a:rPr lang="zh-CN" altLang="en-US" sz="2600" dirty="0">
                <a:latin typeface="Times New Roman" panose="02020603050405020304" pitchFamily="18" charset="0"/>
                <a:cs typeface="Times New Roman" panose="02020603050405020304" pitchFamily="18" charset="0"/>
              </a:rPr>
              <a:t>值（如</a:t>
            </a:r>
            <a:r>
              <a:rPr lang="en-US" altLang="zh-CN" sz="2600" dirty="0">
                <a:latin typeface="Times New Roman" panose="02020603050405020304" pitchFamily="18" charset="0"/>
                <a:cs typeface="Times New Roman" panose="02020603050405020304" pitchFamily="18" charset="0"/>
              </a:rPr>
              <a:t>’200215121’</a:t>
            </a:r>
            <a:r>
              <a:rPr lang="zh-CN" altLang="en-US" sz="2600" dirty="0">
                <a:latin typeface="Times New Roman" panose="02020603050405020304" pitchFamily="18" charset="0"/>
                <a:cs typeface="Times New Roman" panose="02020603050405020304" pitchFamily="18" charset="0"/>
              </a:rPr>
              <a:t>）传送给内层查询。</a:t>
            </a:r>
            <a:endParaRPr lang="zh-CN" altLang="en-US" sz="2600" dirty="0">
              <a:latin typeface="Times New Roman" panose="02020603050405020304" pitchFamily="18" charset="0"/>
              <a:cs typeface="Times New Roman" panose="02020603050405020304" pitchFamily="18" charset="0"/>
            </a:endParaRPr>
          </a:p>
          <a:p>
            <a:pPr lvl="1">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        </a:t>
            </a:r>
            <a:endParaRPr lang="en-US" altLang="zh-CN" sz="2600" dirty="0">
              <a:solidFill>
                <a:srgbClr val="C00000"/>
              </a:solidFill>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2. </a:t>
            </a:r>
            <a:r>
              <a:rPr lang="zh-CN" altLang="en-US" sz="2600" dirty="0">
                <a:latin typeface="Times New Roman" panose="02020603050405020304" pitchFamily="18" charset="0"/>
                <a:cs typeface="Times New Roman" panose="02020603050405020304" pitchFamily="18" charset="0"/>
              </a:rPr>
              <a:t>执行内层查询，得到平均值（如</a:t>
            </a:r>
            <a:r>
              <a:rPr lang="en-US" altLang="zh-CN" sz="2600" dirty="0">
                <a:latin typeface="Times New Roman" panose="02020603050405020304" pitchFamily="18" charset="0"/>
                <a:cs typeface="Times New Roman" panose="02020603050405020304" pitchFamily="18" charset="0"/>
              </a:rPr>
              <a:t>85</a:t>
            </a:r>
            <a:r>
              <a:rPr lang="zh-CN" altLang="en-US"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用该值代替内层查询，得到外层查询：</a:t>
            </a:r>
            <a:endParaRPr lang="zh-CN" altLang="en-US" sz="2600" dirty="0">
              <a:latin typeface="Times New Roman" panose="02020603050405020304" pitchFamily="18" charset="0"/>
              <a:cs typeface="Times New Roman" panose="02020603050405020304" pitchFamily="18" charset="0"/>
            </a:endParaRPr>
          </a:p>
          <a:p>
            <a:pPr lvl="1">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        </a:t>
            </a:r>
            <a:endParaRPr lang="en-US" altLang="zh-CN" sz="2600" dirty="0">
              <a:solidFill>
                <a:srgbClr val="C00000"/>
              </a:solidFill>
              <a:latin typeface="Times New Roman" panose="02020603050405020304" pitchFamily="18" charset="0"/>
              <a:cs typeface="Times New Roman" panose="02020603050405020304" pitchFamily="18" charset="0"/>
            </a:endParaRPr>
          </a:p>
          <a:p>
            <a:pPr lvl="1">
              <a:buNone/>
            </a:pPr>
            <a:r>
              <a:rPr lang="en-US" altLang="zh-CN" sz="2600" dirty="0">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29245" y="3057912"/>
            <a:ext cx="7862740" cy="118883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AVG(Grade)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Y</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Y</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='200215121';</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29245" y="5170852"/>
            <a:ext cx="7862740"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r>
              <a:rPr lang="zh-CN" altLang="en-US" sz="2000" dirty="0">
                <a:latin typeface="Cambria Math" panose="02040503050406030204" pitchFamily="18" charset="0"/>
                <a:cs typeface="Times New Roman" panose="02020603050405020304" pitchFamily="18" charset="0"/>
              </a:rPr>
              <a: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X</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Grade &gt;=85</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带有比较运算符的子查询</a:t>
            </a:r>
            <a:endParaRPr kumimoji="1" lang="en-US" altLang="zh-CN" sz="2600"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执行过程： </a:t>
            </a:r>
            <a:endParaRPr lang="zh-CN" altLang="en-US" dirty="0">
              <a:latin typeface="Times New Roman" panose="02020603050405020304" pitchFamily="18" charset="0"/>
              <a:cs typeface="Times New Roman" panose="02020603050405020304" pitchFamily="18" charset="0"/>
            </a:endParaRPr>
          </a:p>
          <a:p>
            <a:pPr lvl="1">
              <a:buNone/>
            </a:pPr>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执行这个查询，得到</a:t>
            </a:r>
            <a:endParaRPr lang="zh-CN" altLang="en-US"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’200215121’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’CS-01’</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’200215121’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’CS-03’</a:t>
            </a:r>
            <a:r>
              <a:rPr lang="zh-CN" altLang="en-US"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buNone/>
            </a:pP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外层查询取出下一个元组重复做上述</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至</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步骤，直到外层的</a:t>
            </a:r>
            <a:r>
              <a:rPr lang="en-US" altLang="zh-CN" dirty="0">
                <a:latin typeface="Times New Roman" panose="02020603050405020304" pitchFamily="18" charset="0"/>
                <a:cs typeface="Times New Roman" panose="02020603050405020304" pitchFamily="18" charset="0"/>
              </a:rPr>
              <a:t>SC</a:t>
            </a:r>
            <a:r>
              <a:rPr lang="zh-CN" altLang="en-US" dirty="0">
                <a:latin typeface="Times New Roman" panose="02020603050405020304" pitchFamily="18" charset="0"/>
                <a:cs typeface="Times New Roman" panose="02020603050405020304" pitchFamily="18" charset="0"/>
              </a:rPr>
              <a:t>元组全部处理完毕。结果为</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’200215121’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’CS-01’</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’200215121’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’CS-03’</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’200215122’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’CS-02’</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谓词语义</a:t>
            </a:r>
            <a:endParaRPr lang="en-US" altLang="zh-CN" dirty="0">
              <a:latin typeface="Times New Roman" panose="02020603050405020304" pitchFamily="18" charset="0"/>
              <a:cs typeface="Times New Roman" panose="02020603050405020304" pitchFamily="18" charset="0"/>
            </a:endParaRPr>
          </a:p>
          <a:p>
            <a:pPr lvl="2">
              <a:lnSpc>
                <a:spcPct val="200000"/>
              </a:lnSpc>
            </a:pPr>
            <a:r>
              <a:rPr lang="en-US" altLang="zh-CN" sz="2400" dirty="0">
                <a:latin typeface="Times New Roman" panose="02020603050405020304" pitchFamily="18" charset="0"/>
                <a:cs typeface="Times New Roman" panose="02020603050405020304" pitchFamily="18" charset="0"/>
              </a:rPr>
              <a:t>SOME(ANY)</a:t>
            </a:r>
            <a:r>
              <a:rPr lang="zh-CN" altLang="en-US" sz="2400" dirty="0">
                <a:latin typeface="Times New Roman" panose="02020603050405020304" pitchFamily="18" charset="0"/>
                <a:cs typeface="Times New Roman" panose="02020603050405020304" pitchFamily="18" charset="0"/>
              </a:rPr>
              <a:t>：任意一个值</a:t>
            </a:r>
            <a:endParaRPr lang="en-US" altLang="zh-CN" sz="2400" dirty="0">
              <a:latin typeface="Times New Roman" panose="02020603050405020304" pitchFamily="18" charset="0"/>
              <a:cs typeface="Times New Roman" panose="02020603050405020304" pitchFamily="18" charset="0"/>
            </a:endParaRPr>
          </a:p>
          <a:p>
            <a:pPr lvl="2">
              <a:lnSpc>
                <a:spcPct val="200000"/>
              </a:lnSpc>
            </a:pPr>
            <a:r>
              <a:rPr lang="en-US" altLang="zh-CN" sz="2400" dirty="0">
                <a:latin typeface="Times New Roman" panose="02020603050405020304" pitchFamily="18" charset="0"/>
                <a:cs typeface="Times New Roman" panose="02020603050405020304" pitchFamily="18" charset="0"/>
              </a:rPr>
              <a:t>ALL</a:t>
            </a:r>
            <a:r>
              <a:rPr lang="zh-CN" altLang="en-US" sz="2400" dirty="0">
                <a:latin typeface="Times New Roman" panose="02020603050405020304" pitchFamily="18" charset="0"/>
                <a:cs typeface="Times New Roman" panose="02020603050405020304" pitchFamily="18" charset="0"/>
              </a:rPr>
              <a:t>：所有值</a:t>
            </a:r>
            <a:endParaRPr lang="zh-CN" altLang="en-US" sz="24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2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110000"/>
              </a:lnSpc>
            </a:pPr>
            <a:r>
              <a:rPr lang="zh-CN" altLang="en-US" sz="2200" dirty="0">
                <a:latin typeface="Times New Roman" panose="02020603050405020304" pitchFamily="18" charset="0"/>
                <a:cs typeface="Times New Roman" panose="02020603050405020304" pitchFamily="18" charset="0"/>
              </a:rPr>
              <a:t>需要配合使用比较运算符</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&gt; SOME	</a:t>
            </a:r>
            <a:r>
              <a:rPr lang="zh-CN" altLang="en-US" sz="2200" dirty="0">
                <a:latin typeface="Times New Roman" panose="02020603050405020304" pitchFamily="18" charset="0"/>
                <a:cs typeface="Times New Roman" panose="02020603050405020304" pitchFamily="18" charset="0"/>
              </a:rPr>
              <a:t>大于子查询结果中的某个值       </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&gt; ALL 	</a:t>
            </a:r>
            <a:r>
              <a:rPr lang="zh-CN" altLang="en-US" sz="2200" dirty="0">
                <a:latin typeface="Times New Roman" panose="02020603050405020304" pitchFamily="18" charset="0"/>
                <a:cs typeface="Times New Roman" panose="02020603050405020304" pitchFamily="18" charset="0"/>
              </a:rPr>
              <a:t>大于子查询结果中的所有值</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&lt; SOME 	</a:t>
            </a:r>
            <a:r>
              <a:rPr lang="zh-CN" altLang="en-US" sz="2200" dirty="0">
                <a:latin typeface="Times New Roman" panose="02020603050405020304" pitchFamily="18" charset="0"/>
                <a:cs typeface="Times New Roman" panose="02020603050405020304" pitchFamily="18" charset="0"/>
              </a:rPr>
              <a:t>小于子查询结果中的某个值    </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&lt; ALL	</a:t>
            </a:r>
            <a:r>
              <a:rPr lang="zh-CN" altLang="en-US" sz="2200" dirty="0">
                <a:latin typeface="Times New Roman" panose="02020603050405020304" pitchFamily="18" charset="0"/>
                <a:cs typeface="Times New Roman" panose="02020603050405020304" pitchFamily="18" charset="0"/>
              </a:rPr>
              <a:t>小于子查询结果中的所有值</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&gt;= SOME 	</a:t>
            </a:r>
            <a:r>
              <a:rPr lang="zh-CN" altLang="en-US" sz="2200" dirty="0">
                <a:latin typeface="Times New Roman" panose="02020603050405020304" pitchFamily="18" charset="0"/>
                <a:cs typeface="Times New Roman" panose="02020603050405020304" pitchFamily="18" charset="0"/>
              </a:rPr>
              <a:t>大于等于子查询结果中的某个值    </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&gt;= ALL	</a:t>
            </a:r>
            <a:r>
              <a:rPr lang="zh-CN" altLang="en-US" sz="2200" dirty="0">
                <a:latin typeface="Times New Roman" panose="02020603050405020304" pitchFamily="18" charset="0"/>
                <a:cs typeface="Times New Roman" panose="02020603050405020304" pitchFamily="18" charset="0"/>
              </a:rPr>
              <a:t>大于等于子查询结果中的所有值</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&lt;= SOME 	</a:t>
            </a:r>
            <a:r>
              <a:rPr lang="zh-CN" altLang="en-US" sz="2200" dirty="0">
                <a:latin typeface="Times New Roman" panose="02020603050405020304" pitchFamily="18" charset="0"/>
                <a:cs typeface="Times New Roman" panose="02020603050405020304" pitchFamily="18" charset="0"/>
              </a:rPr>
              <a:t>小于等于子查询结果中的某个值    </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&lt;= ALL	</a:t>
            </a:r>
            <a:r>
              <a:rPr lang="zh-CN" altLang="en-US" sz="2200" dirty="0">
                <a:latin typeface="Times New Roman" panose="02020603050405020304" pitchFamily="18" charset="0"/>
                <a:cs typeface="Times New Roman" panose="02020603050405020304" pitchFamily="18" charset="0"/>
              </a:rPr>
              <a:t>小于等于子查询结果中的所有值</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 SOME 	</a:t>
            </a:r>
            <a:r>
              <a:rPr lang="zh-CN" altLang="en-US" sz="2200" dirty="0">
                <a:latin typeface="Times New Roman" panose="02020603050405020304" pitchFamily="18" charset="0"/>
                <a:cs typeface="Times New Roman" panose="02020603050405020304" pitchFamily="18" charset="0"/>
              </a:rPr>
              <a:t>等于子查询结果中的某个值        </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=ALL	</a:t>
            </a:r>
            <a:r>
              <a:rPr lang="zh-CN" altLang="en-US" sz="2200" dirty="0">
                <a:latin typeface="Times New Roman" panose="02020603050405020304" pitchFamily="18" charset="0"/>
                <a:cs typeface="Times New Roman" panose="02020603050405020304" pitchFamily="18" charset="0"/>
              </a:rPr>
              <a:t>等于子查询结果中的所有值（通常没有实际意义）</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（或</a:t>
            </a:r>
            <a:r>
              <a:rPr lang="en-US" altLang="zh-CN" sz="2200" dirty="0">
                <a:latin typeface="Times New Roman" panose="02020603050405020304" pitchFamily="18" charset="0"/>
                <a:cs typeface="Times New Roman" panose="02020603050405020304" pitchFamily="18" charset="0"/>
              </a:rPr>
              <a:t>&lt;&gt;</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SOME</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不等于子查询结果中的某个值</a:t>
            </a:r>
            <a:endParaRPr lang="zh-CN" altLang="en-US" sz="2200" dirty="0">
              <a:latin typeface="Times New Roman" panose="02020603050405020304" pitchFamily="18" charset="0"/>
              <a:cs typeface="Times New Roman" panose="02020603050405020304" pitchFamily="18" charset="0"/>
            </a:endParaRPr>
          </a:p>
          <a:p>
            <a:pPr marL="990600" lvl="1" indent="-533400">
              <a:lnSpc>
                <a:spcPct val="110000"/>
              </a:lnSpc>
              <a:buNone/>
            </a:pP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（或</a:t>
            </a:r>
            <a:r>
              <a:rPr lang="en-US" altLang="zh-CN" sz="2200" dirty="0">
                <a:latin typeface="Times New Roman" panose="02020603050405020304" pitchFamily="18" charset="0"/>
                <a:cs typeface="Times New Roman" panose="02020603050405020304" pitchFamily="18" charset="0"/>
              </a:rPr>
              <a:t>&lt;&gt;</a:t>
            </a:r>
            <a:r>
              <a:rPr lang="zh-CN" altLang="en-US"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ALL	</a:t>
            </a:r>
            <a:r>
              <a:rPr lang="zh-CN" altLang="en-US" sz="2200" dirty="0">
                <a:latin typeface="Times New Roman" panose="02020603050405020304" pitchFamily="18" charset="0"/>
                <a:cs typeface="Times New Roman" panose="02020603050405020304" pitchFamily="18" charset="0"/>
              </a:rPr>
              <a:t>不等于子查询结果中的任何一个值</a:t>
            </a:r>
            <a:endParaRPr lang="zh-CN" altLang="en-US" sz="22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3-52</a:t>
            </a:r>
            <a:r>
              <a:rPr lang="zh-CN" altLang="en-US" i="1" dirty="0">
                <a:latin typeface="Times New Roman" panose="02020603050405020304" pitchFamily="18" charset="0"/>
                <a:cs typeface="Times New Roman" panose="02020603050405020304" pitchFamily="18" charset="0"/>
              </a:rPr>
              <a:t>：查询其他系中比计算机科学系某</a:t>
            </a:r>
            <a:r>
              <a:rPr lang="zh-CN" altLang="en-US" i="1" dirty="0">
                <a:solidFill>
                  <a:srgbClr val="C00000"/>
                </a:solidFill>
                <a:latin typeface="Times New Roman" panose="02020603050405020304" pitchFamily="18" charset="0"/>
                <a:cs typeface="Times New Roman" panose="02020603050405020304" pitchFamily="18" charset="0"/>
              </a:rPr>
              <a:t>一</a:t>
            </a:r>
            <a:r>
              <a:rPr lang="zh-CN" altLang="en-US" i="1" dirty="0">
                <a:latin typeface="Times New Roman" panose="02020603050405020304" pitchFamily="18" charset="0"/>
                <a:cs typeface="Times New Roman" panose="02020603050405020304" pitchFamily="18" charset="0"/>
              </a:rPr>
              <a:t>学生年龄小的学生姓名和年龄</a:t>
            </a:r>
            <a:endParaRPr lang="zh-CN" altLang="en-US" i="1" dirty="0">
              <a:latin typeface="Times New Roman" panose="02020603050405020304" pitchFamily="18" charset="0"/>
              <a:cs typeface="Times New Roman" panose="02020603050405020304" pitchFamily="18" charset="0"/>
            </a:endParaRPr>
          </a:p>
          <a:p>
            <a:pPr marL="727075" lvl="1" indent="-269875">
              <a:lnSpc>
                <a:spcPct val="110000"/>
              </a:lnSpc>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727075" lvl="1" indent="-269875">
              <a:lnSpc>
                <a:spcPct val="11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727075" lvl="1" indent="-269875">
              <a:lnSpc>
                <a:spcPct val="11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727075" lvl="1" indent="-269875">
              <a:lnSpc>
                <a:spcPct val="11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727075" lvl="1" indent="-269875">
              <a:lnSpc>
                <a:spcPct val="11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727075" lvl="1" indent="-269875">
              <a:lnSpc>
                <a:spcPct val="110000"/>
              </a:lnSpc>
              <a:buNone/>
            </a:pPr>
            <a:r>
              <a:rPr lang="en-US" altLang="zh-CN" b="0" dirty="0">
                <a:latin typeface="Times New Roman" panose="02020603050405020304" pitchFamily="18" charset="0"/>
                <a:cs typeface="Times New Roman" panose="02020603050405020304" pitchFamily="18" charset="0"/>
              </a:rPr>
              <a:t>       </a:t>
            </a:r>
            <a:r>
              <a:rPr lang="en-US" altLang="zh-CN" b="0" dirty="0">
                <a:solidFill>
                  <a:srgbClr val="C00000"/>
                </a:solidFill>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57381" y="2607687"/>
            <a:ext cx="7862740" cy="23601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&lt;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SOME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CS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AND </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&lt;&gt; ‘CS'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父查询块中的条件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执行过程：</a:t>
            </a:r>
            <a:endParaRPr lang="zh-CN" altLang="en-US" dirty="0">
              <a:latin typeface="Times New Roman" panose="02020603050405020304" pitchFamily="18" charset="0"/>
              <a:cs typeface="Times New Roman" panose="02020603050405020304" pitchFamily="18" charset="0"/>
            </a:endParaRPr>
          </a:p>
          <a:p>
            <a:pPr marL="1254125" lvl="1" indent="-533400">
              <a:lnSpc>
                <a:spcPct val="200000"/>
              </a:lnSpc>
              <a:buFont typeface="宋体" panose="02010600030101010101" pitchFamily="2" charset="-122"/>
              <a:buAutoNum type="arabicPeriod"/>
            </a:pPr>
            <a:r>
              <a:rPr lang="en-US" altLang="zh-CN" dirty="0">
                <a:latin typeface="Times New Roman" panose="02020603050405020304" pitchFamily="18" charset="0"/>
                <a:cs typeface="Times New Roman" panose="02020603050405020304" pitchFamily="18" charset="0"/>
              </a:rPr>
              <a:t>RDBMS</a:t>
            </a:r>
            <a:r>
              <a:rPr lang="zh-CN" altLang="en-US" dirty="0">
                <a:latin typeface="Times New Roman" panose="02020603050405020304" pitchFamily="18" charset="0"/>
                <a:cs typeface="Times New Roman" panose="02020603050405020304" pitchFamily="18" charset="0"/>
              </a:rPr>
              <a:t>执行此查询时，首先处理子查询，找出</a:t>
            </a:r>
            <a:r>
              <a:rPr lang="en-US" altLang="zh-CN" dirty="0">
                <a:latin typeface="Times New Roman" panose="02020603050405020304" pitchFamily="18" charset="0"/>
                <a:cs typeface="Times New Roman" panose="02020603050405020304" pitchFamily="18" charset="0"/>
              </a:rPr>
              <a:t>CS</a:t>
            </a:r>
            <a:r>
              <a:rPr lang="zh-CN" altLang="en-US" dirty="0">
                <a:latin typeface="Times New Roman" panose="02020603050405020304" pitchFamily="18" charset="0"/>
                <a:cs typeface="Times New Roman" panose="02020603050405020304" pitchFamily="18" charset="0"/>
              </a:rPr>
              <a:t>系中所有学生的年龄，构成一个集合</a:t>
            </a:r>
            <a:r>
              <a:rPr lang="en-US" altLang="zh-CN" dirty="0">
                <a:latin typeface="Times New Roman" panose="02020603050405020304" pitchFamily="18" charset="0"/>
                <a:cs typeface="Times New Roman" panose="02020603050405020304" pitchFamily="18" charset="0"/>
              </a:rPr>
              <a:t>(20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19)</a:t>
            </a:r>
            <a:endParaRPr lang="en-US" altLang="zh-CN" dirty="0">
              <a:latin typeface="Times New Roman" panose="02020603050405020304" pitchFamily="18" charset="0"/>
              <a:cs typeface="Times New Roman" panose="02020603050405020304" pitchFamily="18" charset="0"/>
            </a:endParaRPr>
          </a:p>
          <a:p>
            <a:pPr marL="1254125" lvl="1" indent="-533400">
              <a:lnSpc>
                <a:spcPct val="200000"/>
              </a:lnSpc>
              <a:buFont typeface="宋体" panose="02010600030101010101" pitchFamily="2" charset="-122"/>
              <a:buAutoNum type="arabicPeriod"/>
            </a:pPr>
            <a:r>
              <a:rPr lang="zh-CN" altLang="en-US" dirty="0">
                <a:latin typeface="Times New Roman" panose="02020603050405020304" pitchFamily="18" charset="0"/>
                <a:cs typeface="Times New Roman" panose="02020603050405020304" pitchFamily="18" charset="0"/>
              </a:rPr>
              <a:t>处理父查询，找所有不是</a:t>
            </a:r>
            <a:r>
              <a:rPr lang="en-US" altLang="zh-CN" dirty="0">
                <a:latin typeface="Times New Roman" panose="02020603050405020304" pitchFamily="18" charset="0"/>
                <a:cs typeface="Times New Roman" panose="02020603050405020304" pitchFamily="18" charset="0"/>
              </a:rPr>
              <a:t>CS</a:t>
            </a:r>
            <a:r>
              <a:rPr lang="zh-CN" altLang="en-US" dirty="0">
                <a:latin typeface="Times New Roman" panose="02020603050405020304" pitchFamily="18" charset="0"/>
                <a:cs typeface="Times New Roman" panose="02020603050405020304" pitchFamily="18" charset="0"/>
              </a:rPr>
              <a:t>系且年龄小于</a:t>
            </a:r>
            <a:r>
              <a:rPr lang="en-US" altLang="zh-CN" dirty="0">
                <a:latin typeface="Times New Roman" panose="02020603050405020304" pitchFamily="18" charset="0"/>
                <a:cs typeface="Times New Roman" panose="02020603050405020304" pitchFamily="18" charset="0"/>
              </a:rPr>
              <a:t>20</a:t>
            </a:r>
            <a:r>
              <a:rPr lang="zh-CN" altLang="en-US" dirty="0">
                <a:solidFill>
                  <a:srgbClr val="C00000"/>
                </a:solidFill>
                <a:latin typeface="Times New Roman" panose="02020603050405020304" pitchFamily="18" charset="0"/>
                <a:cs typeface="Times New Roman" panose="02020603050405020304" pitchFamily="18" charset="0"/>
              </a:rPr>
              <a:t>或</a:t>
            </a:r>
            <a:r>
              <a:rPr lang="en-US" altLang="zh-CN" dirty="0">
                <a:latin typeface="Times New Roman" panose="02020603050405020304" pitchFamily="18" charset="0"/>
                <a:cs typeface="Times New Roman" panose="02020603050405020304" pitchFamily="18" charset="0"/>
              </a:rPr>
              <a:t>19</a:t>
            </a:r>
            <a:r>
              <a:rPr lang="zh-CN" altLang="en-US" dirty="0">
                <a:latin typeface="Times New Roman" panose="02020603050405020304" pitchFamily="18" charset="0"/>
                <a:cs typeface="Times New Roman" panose="02020603050405020304" pitchFamily="18" charset="0"/>
              </a:rPr>
              <a:t>的学生</a:t>
            </a:r>
            <a:endParaRPr lang="zh-CN" altLang="en-US"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3-53</a:t>
            </a:r>
            <a:r>
              <a:rPr lang="zh-CN" altLang="en-US" i="1" dirty="0">
                <a:latin typeface="Times New Roman" panose="02020603050405020304" pitchFamily="18" charset="0"/>
                <a:cs typeface="Times New Roman" panose="02020603050405020304" pitchFamily="18" charset="0"/>
              </a:rPr>
              <a:t>：查询其他系中比计算机科学系</a:t>
            </a:r>
            <a:r>
              <a:rPr lang="zh-CN" altLang="en-US" i="1" dirty="0">
                <a:solidFill>
                  <a:srgbClr val="C00000"/>
                </a:solidFill>
                <a:latin typeface="Times New Roman" panose="02020603050405020304" pitchFamily="18" charset="0"/>
                <a:cs typeface="Times New Roman" panose="02020603050405020304" pitchFamily="18" charset="0"/>
              </a:rPr>
              <a:t>所有</a:t>
            </a:r>
            <a:r>
              <a:rPr lang="zh-CN" altLang="en-US" i="1" dirty="0">
                <a:latin typeface="Times New Roman" panose="02020603050405020304" pitchFamily="18" charset="0"/>
                <a:cs typeface="Times New Roman" panose="02020603050405020304" pitchFamily="18" charset="0"/>
              </a:rPr>
              <a:t>学生年龄都小的学生姓名及年龄。</a:t>
            </a:r>
            <a:endParaRPr lang="en-US" altLang="zh-CN" i="1"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方法一：用</a:t>
            </a:r>
            <a:r>
              <a:rPr lang="en-US" altLang="zh-CN" dirty="0">
                <a:latin typeface="Times New Roman" panose="02020603050405020304" pitchFamily="18" charset="0"/>
                <a:cs typeface="Times New Roman" panose="02020603050405020304" pitchFamily="18" charset="0"/>
              </a:rPr>
              <a:t>ALL</a:t>
            </a:r>
            <a:r>
              <a:rPr lang="zh-CN" altLang="en-US" dirty="0">
                <a:latin typeface="Times New Roman" panose="02020603050405020304" pitchFamily="18" charset="0"/>
                <a:cs typeface="Times New Roman" panose="02020603050405020304" pitchFamily="18" charset="0"/>
              </a:rPr>
              <a:t>谓词</a:t>
            </a:r>
            <a:endParaRPr lang="zh-CN" altLang="en-US" dirty="0">
              <a:latin typeface="Times New Roman" panose="02020603050405020304" pitchFamily="18" charset="0"/>
              <a:cs typeface="Times New Roman" panose="02020603050405020304" pitchFamily="18" charset="0"/>
            </a:endParaRPr>
          </a:p>
          <a:p>
            <a:pPr marL="908050" lvl="1" indent="-450850">
              <a:lnSpc>
                <a:spcPct val="130000"/>
              </a:lnSpc>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12834" y="3108792"/>
            <a:ext cx="7862740" cy="23601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&lt;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ALL</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CS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&lt;&gt; ‘CS'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sz="2600" dirty="0">
                <a:latin typeface="Times New Roman" panose="02020603050405020304" pitchFamily="18" charset="0"/>
                <a:cs typeface="Times New Roman" panose="02020603050405020304" pitchFamily="18" charset="0"/>
              </a:rPr>
              <a:t>例</a:t>
            </a:r>
            <a:r>
              <a:rPr lang="en-US" altLang="zh-CN" sz="2600" dirty="0">
                <a:latin typeface="Times New Roman" panose="02020603050405020304" pitchFamily="18" charset="0"/>
                <a:cs typeface="Times New Roman" panose="02020603050405020304" pitchFamily="18" charset="0"/>
              </a:rPr>
              <a:t>3-53</a:t>
            </a:r>
            <a:r>
              <a:rPr lang="zh-CN" altLang="en-US" sz="2600" dirty="0">
                <a:latin typeface="Times New Roman" panose="02020603050405020304" pitchFamily="18" charset="0"/>
                <a:cs typeface="Times New Roman" panose="02020603050405020304" pitchFamily="18" charset="0"/>
              </a:rPr>
              <a:t>：查询其他系中比计算机科学系</a:t>
            </a:r>
            <a:r>
              <a:rPr lang="zh-CN" altLang="en-US" sz="2600" dirty="0">
                <a:solidFill>
                  <a:srgbClr val="C00000"/>
                </a:solidFill>
                <a:latin typeface="Times New Roman" panose="02020603050405020304" pitchFamily="18" charset="0"/>
                <a:cs typeface="Times New Roman" panose="02020603050405020304" pitchFamily="18" charset="0"/>
              </a:rPr>
              <a:t>所有</a:t>
            </a:r>
            <a:r>
              <a:rPr lang="zh-CN" altLang="en-US" sz="2600" dirty="0">
                <a:latin typeface="Times New Roman" panose="02020603050405020304" pitchFamily="18" charset="0"/>
                <a:cs typeface="Times New Roman" panose="02020603050405020304" pitchFamily="18" charset="0"/>
              </a:rPr>
              <a:t>学生年龄都小的学生姓名及年龄。</a:t>
            </a: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sz="2600" dirty="0">
                <a:latin typeface="Times New Roman" panose="02020603050405020304" pitchFamily="18" charset="0"/>
                <a:cs typeface="Times New Roman" panose="02020603050405020304" pitchFamily="18" charset="0"/>
              </a:rPr>
              <a:t>方法二：用聚集函数</a:t>
            </a:r>
            <a:endParaRPr lang="zh-CN" altLang="en-US" sz="2600" dirty="0">
              <a:latin typeface="Times New Roman" panose="02020603050405020304" pitchFamily="18" charset="0"/>
              <a:cs typeface="Times New Roman" panose="02020603050405020304" pitchFamily="18" charset="0"/>
            </a:endParaRPr>
          </a:p>
          <a:p>
            <a:pPr marL="1066800" lvl="1" indent="-609600">
              <a:buNone/>
            </a:pPr>
            <a:r>
              <a:rPr lang="zh-CN" altLang="en-US" sz="2200"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083051" y="3278618"/>
            <a:ext cx="7862740" cy="23601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&lt; (SELECT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MIN(Sage)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CS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&lt;&gt; ‘CS'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ANY</a:t>
            </a:r>
            <a:r>
              <a:rPr kumimoji="1" lang="zh-CN" altLang="en-GB" sz="2600" dirty="0">
                <a:latin typeface="Times New Roman" panose="02020603050405020304" pitchFamily="18" charset="0"/>
                <a:cs typeface="Times New Roman" panose="02020603050405020304" pitchFamily="18" charset="0"/>
              </a:rPr>
              <a:t>（</a:t>
            </a:r>
            <a:r>
              <a:rPr kumimoji="1" lang="en-GB" altLang="zh-CN" sz="2600" dirty="0">
                <a:latin typeface="Times New Roman" panose="02020603050405020304" pitchFamily="18" charset="0"/>
                <a:cs typeface="Times New Roman" panose="02020603050405020304" pitchFamily="18" charset="0"/>
              </a:rPr>
              <a:t>SOME</a:t>
            </a:r>
            <a:r>
              <a:rPr kumimoji="1" lang="zh-CN" altLang="en-GB" sz="2600" dirty="0">
                <a:latin typeface="Times New Roman" panose="02020603050405020304" pitchFamily="18" charset="0"/>
                <a:cs typeface="Times New Roman" panose="02020603050405020304" pitchFamily="18" charset="0"/>
              </a:rPr>
              <a:t>）</a:t>
            </a:r>
            <a:r>
              <a:rPr kumimoji="1" lang="zh-CN" altLang="en-US" sz="2600" dirty="0">
                <a:latin typeface="Times New Roman" panose="02020603050405020304" pitchFamily="18" charset="0"/>
                <a:cs typeface="Times New Roman" panose="02020603050405020304" pitchFamily="18" charset="0"/>
              </a:rPr>
              <a:t>或</a:t>
            </a:r>
            <a:r>
              <a:rPr kumimoji="1" lang="en-GB" altLang="zh-CN" sz="2600" dirty="0">
                <a:latin typeface="Times New Roman" panose="02020603050405020304" pitchFamily="18" charset="0"/>
                <a:cs typeface="Times New Roman" panose="02020603050405020304" pitchFamily="18" charset="0"/>
              </a:rPr>
              <a:t>ALL</a:t>
            </a:r>
            <a:r>
              <a:rPr kumimoji="1" lang="zh-CN" altLang="en-US" sz="2600" dirty="0">
                <a:latin typeface="Times New Roman" panose="02020603050405020304" pitchFamily="18" charset="0"/>
                <a:cs typeface="Times New Roman" panose="02020603050405020304" pitchFamily="18" charset="0"/>
              </a:rPr>
              <a:t>谓词的子查询 </a:t>
            </a: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7" name="文本框 6"/>
          <p:cNvSpPr txBox="1"/>
          <p:nvPr/>
        </p:nvSpPr>
        <p:spPr>
          <a:xfrm>
            <a:off x="1603734" y="2367808"/>
            <a:ext cx="8984531" cy="397032"/>
          </a:xfrm>
          <a:prstGeom prst="rect">
            <a:avLst/>
          </a:prstGeom>
          <a:noFill/>
        </p:spPr>
        <p:txBody>
          <a:bodyPr wrap="square">
            <a:spAutoFit/>
          </a:bodyPr>
          <a:lstStyle/>
          <a:p>
            <a:pPr marL="609600" indent="-609600" eaLnBrk="1" hangingPunct="1">
              <a:lnSpc>
                <a:spcPct val="90000"/>
              </a:lnSpc>
              <a:buFont typeface="宋体" panose="02010600030101010101" pitchFamily="2" charset="-122"/>
              <a:buNone/>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3.5 SOME</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ANY</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ALL</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谓词与聚集函数、</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IN</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谓词的等价转换关系 </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 name="Group 70"/>
          <p:cNvGrpSpPr/>
          <p:nvPr/>
        </p:nvGrpSpPr>
        <p:grpSpPr bwMode="auto">
          <a:xfrm>
            <a:off x="1946275" y="3134802"/>
            <a:ext cx="8299450" cy="2057400"/>
            <a:chOff x="340" y="2069"/>
            <a:chExt cx="5228" cy="1296"/>
          </a:xfrm>
        </p:grpSpPr>
        <p:grpSp>
          <p:nvGrpSpPr>
            <p:cNvPr id="9" name="Group 6"/>
            <p:cNvGrpSpPr/>
            <p:nvPr/>
          </p:nvGrpSpPr>
          <p:grpSpPr bwMode="auto">
            <a:xfrm>
              <a:off x="340" y="2069"/>
              <a:ext cx="634" cy="430"/>
              <a:chOff x="0" y="0"/>
              <a:chExt cx="493" cy="432"/>
            </a:xfrm>
          </p:grpSpPr>
          <p:sp>
            <p:nvSpPr>
              <p:cNvPr id="71" name="Rectangle 7"/>
              <p:cNvSpPr>
                <a:spLocks noChangeArrowheads="1"/>
              </p:cNvSpPr>
              <p:nvPr/>
            </p:nvSpPr>
            <p:spPr bwMode="auto">
              <a:xfrm>
                <a:off x="44" y="0"/>
                <a:ext cx="406"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900" b="0">
                    <a:latin typeface="Times New Roman" panose="02020603050405020304" pitchFamily="18" charset="0"/>
                  </a:rPr>
                  <a:t> </a:t>
                </a:r>
                <a:endParaRPr kumimoji="1" lang="zh-CN" altLang="en-US" sz="900" b="0">
                  <a:latin typeface="Times New Roman" panose="02020603050405020304" pitchFamily="18" charset="0"/>
                </a:endParaRPr>
              </a:p>
              <a:p>
                <a:pPr>
                  <a:spcBef>
                    <a:spcPct val="0"/>
                  </a:spcBef>
                  <a:buFontTx/>
                  <a:buNone/>
                </a:pPr>
                <a:endParaRPr kumimoji="1" lang="zh-CN" altLang="en-US" sz="2400" b="0">
                  <a:latin typeface="Times New Roman" panose="02020603050405020304" pitchFamily="18" charset="0"/>
                </a:endParaRPr>
              </a:p>
            </p:txBody>
          </p:sp>
          <p:sp>
            <p:nvSpPr>
              <p:cNvPr id="72" name="Rectangle 8"/>
              <p:cNvSpPr>
                <a:spLocks noChangeArrowheads="1"/>
              </p:cNvSpPr>
              <p:nvPr/>
            </p:nvSpPr>
            <p:spPr bwMode="auto">
              <a:xfrm>
                <a:off x="0" y="0"/>
                <a:ext cx="493"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0" name="Group 9"/>
            <p:cNvGrpSpPr/>
            <p:nvPr/>
          </p:nvGrpSpPr>
          <p:grpSpPr bwMode="auto">
            <a:xfrm>
              <a:off x="974" y="2069"/>
              <a:ext cx="509" cy="430"/>
              <a:chOff x="493" y="0"/>
              <a:chExt cx="396" cy="432"/>
            </a:xfrm>
          </p:grpSpPr>
          <p:sp>
            <p:nvSpPr>
              <p:cNvPr id="69" name="Rectangle 10"/>
              <p:cNvSpPr>
                <a:spLocks noChangeArrowheads="1"/>
              </p:cNvSpPr>
              <p:nvPr/>
            </p:nvSpPr>
            <p:spPr bwMode="auto">
              <a:xfrm>
                <a:off x="536" y="0"/>
                <a:ext cx="31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tabLst>
                    <a:tab pos="266700" algn="r"/>
                    <a:tab pos="529272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529272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529272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529272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a:t>
                </a:r>
                <a:endParaRPr kumimoji="1" lang="en-US" altLang="zh-CN" sz="2400" b="0" dirty="0">
                  <a:latin typeface="Times New Roman" panose="02020603050405020304" pitchFamily="18" charset="0"/>
                </a:endParaRPr>
              </a:p>
            </p:txBody>
          </p:sp>
          <p:sp>
            <p:nvSpPr>
              <p:cNvPr id="70" name="Rectangle 11"/>
              <p:cNvSpPr>
                <a:spLocks noChangeArrowheads="1"/>
              </p:cNvSpPr>
              <p:nvPr/>
            </p:nvSpPr>
            <p:spPr bwMode="auto">
              <a:xfrm>
                <a:off x="493" y="0"/>
                <a:ext cx="39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1" name="Group 12"/>
            <p:cNvGrpSpPr/>
            <p:nvPr/>
          </p:nvGrpSpPr>
          <p:grpSpPr bwMode="auto">
            <a:xfrm>
              <a:off x="1483" y="2069"/>
              <a:ext cx="844" cy="430"/>
              <a:chOff x="889" y="0"/>
              <a:chExt cx="656" cy="432"/>
            </a:xfrm>
          </p:grpSpPr>
          <p:sp>
            <p:nvSpPr>
              <p:cNvPr id="67" name="Rectangle 13"/>
              <p:cNvSpPr>
                <a:spLocks noChangeArrowheads="1"/>
              </p:cNvSpPr>
              <p:nvPr/>
            </p:nvSpPr>
            <p:spPr bwMode="auto">
              <a:xfrm>
                <a:off x="934" y="0"/>
                <a:ext cx="5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a:latin typeface="Times New Roman" panose="02020603050405020304" pitchFamily="18" charset="0"/>
                  </a:rPr>
                  <a:t> </a:t>
                </a:r>
                <a:r>
                  <a:rPr kumimoji="1" lang="en-US" altLang="zh-CN" sz="2000">
                    <a:latin typeface="Times New Roman" panose="02020603050405020304" pitchFamily="18" charset="0"/>
                  </a:rPr>
                  <a:t>&lt;&gt;</a:t>
                </a:r>
                <a:r>
                  <a:rPr kumimoji="1" lang="zh-CN" altLang="en-US" sz="2000">
                    <a:latin typeface="Times New Roman" panose="02020603050405020304" pitchFamily="18" charset="0"/>
                  </a:rPr>
                  <a:t>或</a:t>
                </a:r>
                <a:r>
                  <a:rPr kumimoji="1" lang="en-US" altLang="zh-CN" sz="2000">
                    <a:latin typeface="Times New Roman" panose="02020603050405020304" pitchFamily="18" charset="0"/>
                  </a:rPr>
                  <a:t>!=</a:t>
                </a:r>
                <a:endParaRPr kumimoji="1" lang="en-US" altLang="zh-CN" sz="2000" b="0">
                  <a:latin typeface="Times New Roman" panose="02020603050405020304" pitchFamily="18" charset="0"/>
                </a:endParaRPr>
              </a:p>
            </p:txBody>
          </p:sp>
          <p:sp>
            <p:nvSpPr>
              <p:cNvPr id="68" name="Rectangle 14"/>
              <p:cNvSpPr>
                <a:spLocks noChangeArrowheads="1"/>
              </p:cNvSpPr>
              <p:nvPr/>
            </p:nvSpPr>
            <p:spPr bwMode="auto">
              <a:xfrm>
                <a:off x="889" y="0"/>
                <a:ext cx="65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2" name="Group 15"/>
            <p:cNvGrpSpPr/>
            <p:nvPr/>
          </p:nvGrpSpPr>
          <p:grpSpPr bwMode="auto">
            <a:xfrm>
              <a:off x="2327" y="2069"/>
              <a:ext cx="793" cy="430"/>
              <a:chOff x="1545" y="0"/>
              <a:chExt cx="617" cy="432"/>
            </a:xfrm>
          </p:grpSpPr>
          <p:sp>
            <p:nvSpPr>
              <p:cNvPr id="65" name="Rectangle 16"/>
              <p:cNvSpPr>
                <a:spLocks noChangeArrowheads="1"/>
              </p:cNvSpPr>
              <p:nvPr/>
            </p:nvSpPr>
            <p:spPr bwMode="auto">
              <a:xfrm>
                <a:off x="1588" y="0"/>
                <a:ext cx="530"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tabLst>
                    <a:tab pos="266700" algn="r"/>
                    <a:tab pos="529272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529272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529272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529272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&lt;</a:t>
                </a:r>
                <a:endParaRPr kumimoji="1" lang="en-US" altLang="zh-CN" sz="2000" b="0">
                  <a:latin typeface="Times New Roman" panose="02020603050405020304" pitchFamily="18" charset="0"/>
                </a:endParaRPr>
              </a:p>
            </p:txBody>
          </p:sp>
          <p:sp>
            <p:nvSpPr>
              <p:cNvPr id="66" name="Rectangle 17"/>
              <p:cNvSpPr>
                <a:spLocks noChangeArrowheads="1"/>
              </p:cNvSpPr>
              <p:nvPr/>
            </p:nvSpPr>
            <p:spPr bwMode="auto">
              <a:xfrm>
                <a:off x="1545" y="0"/>
                <a:ext cx="61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3" name="Group 18"/>
            <p:cNvGrpSpPr/>
            <p:nvPr/>
          </p:nvGrpSpPr>
          <p:grpSpPr bwMode="auto">
            <a:xfrm>
              <a:off x="3120" y="2069"/>
              <a:ext cx="843" cy="430"/>
              <a:chOff x="2162" y="0"/>
              <a:chExt cx="655" cy="432"/>
            </a:xfrm>
          </p:grpSpPr>
          <p:sp>
            <p:nvSpPr>
              <p:cNvPr id="63" name="Rectangle 19"/>
              <p:cNvSpPr>
                <a:spLocks noChangeArrowheads="1"/>
              </p:cNvSpPr>
              <p:nvPr/>
            </p:nvSpPr>
            <p:spPr bwMode="auto">
              <a:xfrm>
                <a:off x="2205" y="0"/>
                <a:ext cx="569"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tabLst>
                    <a:tab pos="266700" algn="r"/>
                    <a:tab pos="529272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529272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529272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529272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&lt;=</a:t>
                </a:r>
                <a:endParaRPr kumimoji="1" lang="en-US" altLang="zh-CN" sz="2400" b="0">
                  <a:latin typeface="Times New Roman" panose="02020603050405020304" pitchFamily="18" charset="0"/>
                </a:endParaRPr>
              </a:p>
            </p:txBody>
          </p:sp>
          <p:sp>
            <p:nvSpPr>
              <p:cNvPr id="64" name="Rectangle 20"/>
              <p:cNvSpPr>
                <a:spLocks noChangeArrowheads="1"/>
              </p:cNvSpPr>
              <p:nvPr/>
            </p:nvSpPr>
            <p:spPr bwMode="auto">
              <a:xfrm>
                <a:off x="2162" y="0"/>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4" name="Group 21"/>
            <p:cNvGrpSpPr/>
            <p:nvPr/>
          </p:nvGrpSpPr>
          <p:grpSpPr bwMode="auto">
            <a:xfrm>
              <a:off x="3963" y="2069"/>
              <a:ext cx="755" cy="430"/>
              <a:chOff x="2817" y="0"/>
              <a:chExt cx="587" cy="432"/>
            </a:xfrm>
          </p:grpSpPr>
          <p:sp>
            <p:nvSpPr>
              <p:cNvPr id="61" name="Rectangle 22"/>
              <p:cNvSpPr>
                <a:spLocks noChangeArrowheads="1"/>
              </p:cNvSpPr>
              <p:nvPr/>
            </p:nvSpPr>
            <p:spPr bwMode="auto">
              <a:xfrm>
                <a:off x="2860" y="0"/>
                <a:ext cx="501"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tabLst>
                    <a:tab pos="266700" algn="r"/>
                    <a:tab pos="529272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529272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529272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529272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&gt;</a:t>
                </a:r>
                <a:endParaRPr kumimoji="1" lang="en-US" altLang="zh-CN" sz="2400" b="0">
                  <a:latin typeface="Times New Roman" panose="02020603050405020304" pitchFamily="18" charset="0"/>
                </a:endParaRPr>
              </a:p>
            </p:txBody>
          </p:sp>
          <p:sp>
            <p:nvSpPr>
              <p:cNvPr id="62" name="Rectangle 23"/>
              <p:cNvSpPr>
                <a:spLocks noChangeArrowheads="1"/>
              </p:cNvSpPr>
              <p:nvPr/>
            </p:nvSpPr>
            <p:spPr bwMode="auto">
              <a:xfrm>
                <a:off x="2817" y="0"/>
                <a:ext cx="58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5" name="Group 24"/>
            <p:cNvGrpSpPr/>
            <p:nvPr/>
          </p:nvGrpSpPr>
          <p:grpSpPr bwMode="auto">
            <a:xfrm>
              <a:off x="4718" y="2069"/>
              <a:ext cx="842" cy="430"/>
              <a:chOff x="3404" y="0"/>
              <a:chExt cx="655" cy="432"/>
            </a:xfrm>
          </p:grpSpPr>
          <p:sp>
            <p:nvSpPr>
              <p:cNvPr id="59" name="Rectangle 25"/>
              <p:cNvSpPr>
                <a:spLocks noChangeArrowheads="1"/>
              </p:cNvSpPr>
              <p:nvPr/>
            </p:nvSpPr>
            <p:spPr bwMode="auto">
              <a:xfrm>
                <a:off x="3447" y="0"/>
                <a:ext cx="5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tabLst>
                    <a:tab pos="266700" algn="r"/>
                    <a:tab pos="5292725" algn="r"/>
                  </a:tabLst>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tabLst>
                    <a:tab pos="266700" algn="r"/>
                    <a:tab pos="5292725" algn="r"/>
                  </a:tabLst>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tabLst>
                    <a:tab pos="266700" algn="r"/>
                    <a:tab pos="5292725" algn="r"/>
                  </a:tabLst>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tabLst>
                    <a:tab pos="266700" algn="r"/>
                    <a:tab pos="5292725" algn="r"/>
                  </a:tabLst>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tabLst>
                    <a:tab pos="266700" algn="r"/>
                    <a:tab pos="5292725" algn="r"/>
                  </a:tabLst>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&gt;=</a:t>
                </a:r>
                <a:endParaRPr kumimoji="1" lang="en-US" altLang="zh-CN" sz="2400" b="0">
                  <a:latin typeface="Times New Roman" panose="02020603050405020304" pitchFamily="18" charset="0"/>
                </a:endParaRPr>
              </a:p>
            </p:txBody>
          </p:sp>
          <p:sp>
            <p:nvSpPr>
              <p:cNvPr id="60" name="Rectangle 26"/>
              <p:cNvSpPr>
                <a:spLocks noChangeArrowheads="1"/>
              </p:cNvSpPr>
              <p:nvPr/>
            </p:nvSpPr>
            <p:spPr bwMode="auto">
              <a:xfrm>
                <a:off x="3404" y="0"/>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6" name="Group 27"/>
            <p:cNvGrpSpPr/>
            <p:nvPr/>
          </p:nvGrpSpPr>
          <p:grpSpPr bwMode="auto">
            <a:xfrm>
              <a:off x="340" y="2499"/>
              <a:ext cx="634" cy="430"/>
              <a:chOff x="0" y="432"/>
              <a:chExt cx="493" cy="432"/>
            </a:xfrm>
          </p:grpSpPr>
          <p:sp>
            <p:nvSpPr>
              <p:cNvPr id="57" name="Rectangle 28"/>
              <p:cNvSpPr>
                <a:spLocks noChangeArrowheads="1"/>
              </p:cNvSpPr>
              <p:nvPr/>
            </p:nvSpPr>
            <p:spPr bwMode="auto">
              <a:xfrm>
                <a:off x="44" y="434"/>
                <a:ext cx="40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kumimoji="1" lang="en-US" altLang="zh-CN" sz="1600">
                  <a:latin typeface="Times New Roman" panose="02020603050405020304" pitchFamily="18" charset="0"/>
                </a:endParaRPr>
              </a:p>
              <a:p>
                <a:pPr eaLnBrk="1" hangingPunct="1">
                  <a:lnSpc>
                    <a:spcPct val="0"/>
                  </a:lnSpc>
                  <a:spcBef>
                    <a:spcPct val="0"/>
                  </a:spcBef>
                  <a:buFontTx/>
                  <a:buNone/>
                </a:pPr>
                <a:r>
                  <a:rPr kumimoji="1" lang="en-US" altLang="zh-CN" sz="1600">
                    <a:latin typeface="Times New Roman" panose="02020603050405020304" pitchFamily="18" charset="0"/>
                  </a:rPr>
                  <a:t>SOME</a:t>
                </a:r>
                <a:endParaRPr kumimoji="1" lang="en-US" altLang="zh-CN" sz="1600" b="0">
                  <a:latin typeface="Times New Roman" panose="02020603050405020304" pitchFamily="18" charset="0"/>
                </a:endParaRPr>
              </a:p>
            </p:txBody>
          </p:sp>
          <p:sp>
            <p:nvSpPr>
              <p:cNvPr id="58" name="Rectangle 29"/>
              <p:cNvSpPr>
                <a:spLocks noChangeArrowheads="1"/>
              </p:cNvSpPr>
              <p:nvPr/>
            </p:nvSpPr>
            <p:spPr bwMode="auto">
              <a:xfrm>
                <a:off x="0" y="432"/>
                <a:ext cx="493"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7" name="Group 30"/>
            <p:cNvGrpSpPr/>
            <p:nvPr/>
          </p:nvGrpSpPr>
          <p:grpSpPr bwMode="auto">
            <a:xfrm>
              <a:off x="974" y="2499"/>
              <a:ext cx="509" cy="430"/>
              <a:chOff x="493" y="432"/>
              <a:chExt cx="396" cy="432"/>
            </a:xfrm>
          </p:grpSpPr>
          <p:sp>
            <p:nvSpPr>
              <p:cNvPr id="55" name="Rectangle 31"/>
              <p:cNvSpPr>
                <a:spLocks noChangeArrowheads="1"/>
              </p:cNvSpPr>
              <p:nvPr/>
            </p:nvSpPr>
            <p:spPr bwMode="auto">
              <a:xfrm>
                <a:off x="536" y="434"/>
                <a:ext cx="310"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500" dirty="0">
                    <a:latin typeface="Times New Roman" panose="02020603050405020304" pitchFamily="18" charset="0"/>
                  </a:rPr>
                  <a:t> </a:t>
                </a:r>
                <a:r>
                  <a:rPr kumimoji="1" lang="zh-CN" altLang="en-US" sz="2000" dirty="0">
                    <a:latin typeface="Times New Roman" panose="02020603050405020304" pitchFamily="18" charset="0"/>
                  </a:rPr>
                  <a:t> </a:t>
                </a:r>
                <a:r>
                  <a:rPr kumimoji="1" lang="en-US" altLang="zh-CN" sz="2000" dirty="0">
                    <a:latin typeface="Times New Roman" panose="02020603050405020304" pitchFamily="18" charset="0"/>
                  </a:rPr>
                  <a:t>IN</a:t>
                </a:r>
                <a:endParaRPr kumimoji="1" lang="en-US" altLang="zh-CN" sz="2000" b="0" dirty="0">
                  <a:latin typeface="Times New Roman" panose="02020603050405020304" pitchFamily="18" charset="0"/>
                </a:endParaRPr>
              </a:p>
            </p:txBody>
          </p:sp>
          <p:sp>
            <p:nvSpPr>
              <p:cNvPr id="56" name="Rectangle 32"/>
              <p:cNvSpPr>
                <a:spLocks noChangeArrowheads="1"/>
              </p:cNvSpPr>
              <p:nvPr/>
            </p:nvSpPr>
            <p:spPr bwMode="auto">
              <a:xfrm>
                <a:off x="493" y="432"/>
                <a:ext cx="39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8" name="Group 33"/>
            <p:cNvGrpSpPr/>
            <p:nvPr/>
          </p:nvGrpSpPr>
          <p:grpSpPr bwMode="auto">
            <a:xfrm>
              <a:off x="1483" y="2499"/>
              <a:ext cx="844" cy="430"/>
              <a:chOff x="889" y="432"/>
              <a:chExt cx="656" cy="432"/>
            </a:xfrm>
          </p:grpSpPr>
          <p:sp>
            <p:nvSpPr>
              <p:cNvPr id="53" name="Rectangle 34"/>
              <p:cNvSpPr>
                <a:spLocks noChangeArrowheads="1"/>
              </p:cNvSpPr>
              <p:nvPr/>
            </p:nvSpPr>
            <p:spPr bwMode="auto">
              <a:xfrm>
                <a:off x="934" y="434"/>
                <a:ext cx="56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500">
                    <a:latin typeface="Times New Roman" panose="02020603050405020304" pitchFamily="18" charset="0"/>
                  </a:rPr>
                  <a:t>    </a:t>
                </a:r>
                <a:r>
                  <a:rPr kumimoji="1" lang="en-US" altLang="zh-CN" sz="2000">
                    <a:latin typeface="Times New Roman" panose="02020603050405020304" pitchFamily="18" charset="0"/>
                  </a:rPr>
                  <a:t>--</a:t>
                </a:r>
                <a:endParaRPr kumimoji="1" lang="en-US" altLang="zh-CN" sz="2000" b="0">
                  <a:latin typeface="Times New Roman" panose="02020603050405020304" pitchFamily="18" charset="0"/>
                </a:endParaRPr>
              </a:p>
            </p:txBody>
          </p:sp>
          <p:sp>
            <p:nvSpPr>
              <p:cNvPr id="54" name="Rectangle 35"/>
              <p:cNvSpPr>
                <a:spLocks noChangeArrowheads="1"/>
              </p:cNvSpPr>
              <p:nvPr/>
            </p:nvSpPr>
            <p:spPr bwMode="auto">
              <a:xfrm>
                <a:off x="889" y="432"/>
                <a:ext cx="65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19" name="Group 36"/>
            <p:cNvGrpSpPr/>
            <p:nvPr/>
          </p:nvGrpSpPr>
          <p:grpSpPr bwMode="auto">
            <a:xfrm>
              <a:off x="2327" y="2499"/>
              <a:ext cx="793" cy="430"/>
              <a:chOff x="1545" y="432"/>
              <a:chExt cx="617" cy="432"/>
            </a:xfrm>
          </p:grpSpPr>
          <p:sp>
            <p:nvSpPr>
              <p:cNvPr id="51" name="Rectangle 37"/>
              <p:cNvSpPr>
                <a:spLocks noChangeArrowheads="1"/>
              </p:cNvSpPr>
              <p:nvPr/>
            </p:nvSpPr>
            <p:spPr bwMode="auto">
              <a:xfrm>
                <a:off x="1588" y="434"/>
                <a:ext cx="530"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500">
                    <a:latin typeface="Times New Roman" panose="02020603050405020304" pitchFamily="18" charset="0"/>
                  </a:rPr>
                  <a:t> </a:t>
                </a:r>
                <a:r>
                  <a:rPr kumimoji="1" lang="en-US" altLang="zh-CN" sz="2000">
                    <a:latin typeface="Times New Roman" panose="02020603050405020304" pitchFamily="18" charset="0"/>
                  </a:rPr>
                  <a:t>&lt;MAX</a:t>
                </a:r>
                <a:endParaRPr kumimoji="1" lang="en-US" altLang="zh-CN" sz="2000" b="0">
                  <a:latin typeface="Times New Roman" panose="02020603050405020304" pitchFamily="18" charset="0"/>
                </a:endParaRPr>
              </a:p>
            </p:txBody>
          </p:sp>
          <p:sp>
            <p:nvSpPr>
              <p:cNvPr id="52" name="Rectangle 38"/>
              <p:cNvSpPr>
                <a:spLocks noChangeArrowheads="1"/>
              </p:cNvSpPr>
              <p:nvPr/>
            </p:nvSpPr>
            <p:spPr bwMode="auto">
              <a:xfrm>
                <a:off x="1545" y="432"/>
                <a:ext cx="61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0" name="Group 39"/>
            <p:cNvGrpSpPr/>
            <p:nvPr/>
          </p:nvGrpSpPr>
          <p:grpSpPr bwMode="auto">
            <a:xfrm>
              <a:off x="3120" y="2499"/>
              <a:ext cx="843" cy="430"/>
              <a:chOff x="2162" y="432"/>
              <a:chExt cx="655" cy="432"/>
            </a:xfrm>
          </p:grpSpPr>
          <p:sp>
            <p:nvSpPr>
              <p:cNvPr id="49" name="Rectangle 40"/>
              <p:cNvSpPr>
                <a:spLocks noChangeArrowheads="1"/>
              </p:cNvSpPr>
              <p:nvPr/>
            </p:nvSpPr>
            <p:spPr bwMode="auto">
              <a:xfrm>
                <a:off x="2205" y="434"/>
                <a:ext cx="569"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&lt;=MAX</a:t>
                </a:r>
                <a:endParaRPr kumimoji="1" lang="en-US" altLang="zh-CN" sz="2000" b="0">
                  <a:latin typeface="Times New Roman" panose="02020603050405020304" pitchFamily="18" charset="0"/>
                </a:endParaRPr>
              </a:p>
            </p:txBody>
          </p:sp>
          <p:sp>
            <p:nvSpPr>
              <p:cNvPr id="50" name="Rectangle 41"/>
              <p:cNvSpPr>
                <a:spLocks noChangeArrowheads="1"/>
              </p:cNvSpPr>
              <p:nvPr/>
            </p:nvSpPr>
            <p:spPr bwMode="auto">
              <a:xfrm>
                <a:off x="2162" y="432"/>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1" name="Group 42"/>
            <p:cNvGrpSpPr/>
            <p:nvPr/>
          </p:nvGrpSpPr>
          <p:grpSpPr bwMode="auto">
            <a:xfrm>
              <a:off x="3963" y="2499"/>
              <a:ext cx="755" cy="430"/>
              <a:chOff x="2817" y="432"/>
              <a:chExt cx="587" cy="432"/>
            </a:xfrm>
          </p:grpSpPr>
          <p:sp>
            <p:nvSpPr>
              <p:cNvPr id="47" name="Rectangle 43"/>
              <p:cNvSpPr>
                <a:spLocks noChangeArrowheads="1"/>
              </p:cNvSpPr>
              <p:nvPr/>
            </p:nvSpPr>
            <p:spPr bwMode="auto">
              <a:xfrm>
                <a:off x="2860" y="434"/>
                <a:ext cx="501"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&gt;MIN</a:t>
                </a:r>
                <a:endParaRPr kumimoji="1" lang="en-US" altLang="zh-CN" sz="2000" b="0">
                  <a:latin typeface="Times New Roman" panose="02020603050405020304" pitchFamily="18" charset="0"/>
                </a:endParaRPr>
              </a:p>
            </p:txBody>
          </p:sp>
          <p:sp>
            <p:nvSpPr>
              <p:cNvPr id="48" name="Rectangle 44"/>
              <p:cNvSpPr>
                <a:spLocks noChangeArrowheads="1"/>
              </p:cNvSpPr>
              <p:nvPr/>
            </p:nvSpPr>
            <p:spPr bwMode="auto">
              <a:xfrm>
                <a:off x="2817" y="432"/>
                <a:ext cx="58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2" name="Group 45"/>
            <p:cNvGrpSpPr/>
            <p:nvPr/>
          </p:nvGrpSpPr>
          <p:grpSpPr bwMode="auto">
            <a:xfrm>
              <a:off x="4718" y="2499"/>
              <a:ext cx="842" cy="430"/>
              <a:chOff x="3404" y="432"/>
              <a:chExt cx="655" cy="432"/>
            </a:xfrm>
          </p:grpSpPr>
          <p:sp>
            <p:nvSpPr>
              <p:cNvPr id="45" name="Rectangle 46"/>
              <p:cNvSpPr>
                <a:spLocks noChangeArrowheads="1"/>
              </p:cNvSpPr>
              <p:nvPr/>
            </p:nvSpPr>
            <p:spPr bwMode="auto">
              <a:xfrm>
                <a:off x="3447" y="434"/>
                <a:ext cx="56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&gt;= MIN</a:t>
                </a:r>
                <a:endParaRPr kumimoji="1" lang="en-US" altLang="zh-CN" sz="2000" b="0">
                  <a:latin typeface="Times New Roman" panose="02020603050405020304" pitchFamily="18" charset="0"/>
                </a:endParaRPr>
              </a:p>
            </p:txBody>
          </p:sp>
          <p:sp>
            <p:nvSpPr>
              <p:cNvPr id="46" name="Rectangle 47"/>
              <p:cNvSpPr>
                <a:spLocks noChangeArrowheads="1"/>
              </p:cNvSpPr>
              <p:nvPr/>
            </p:nvSpPr>
            <p:spPr bwMode="auto">
              <a:xfrm>
                <a:off x="3404" y="432"/>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3" name="Group 48"/>
            <p:cNvGrpSpPr/>
            <p:nvPr/>
          </p:nvGrpSpPr>
          <p:grpSpPr bwMode="auto">
            <a:xfrm>
              <a:off x="340" y="2929"/>
              <a:ext cx="634" cy="430"/>
              <a:chOff x="0" y="864"/>
              <a:chExt cx="493" cy="432"/>
            </a:xfrm>
          </p:grpSpPr>
          <p:sp>
            <p:nvSpPr>
              <p:cNvPr id="43" name="Rectangle 49"/>
              <p:cNvSpPr>
                <a:spLocks noChangeArrowheads="1"/>
              </p:cNvSpPr>
              <p:nvPr/>
            </p:nvSpPr>
            <p:spPr bwMode="auto">
              <a:xfrm>
                <a:off x="44" y="864"/>
                <a:ext cx="406"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ALL</a:t>
                </a:r>
                <a:endParaRPr kumimoji="1" lang="en-US" altLang="zh-CN" sz="2000" b="0">
                  <a:latin typeface="Times New Roman" panose="02020603050405020304" pitchFamily="18" charset="0"/>
                </a:endParaRPr>
              </a:p>
            </p:txBody>
          </p:sp>
          <p:sp>
            <p:nvSpPr>
              <p:cNvPr id="44" name="Rectangle 50"/>
              <p:cNvSpPr>
                <a:spLocks noChangeArrowheads="1"/>
              </p:cNvSpPr>
              <p:nvPr/>
            </p:nvSpPr>
            <p:spPr bwMode="auto">
              <a:xfrm>
                <a:off x="0" y="864"/>
                <a:ext cx="493"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4" name="Group 51"/>
            <p:cNvGrpSpPr/>
            <p:nvPr/>
          </p:nvGrpSpPr>
          <p:grpSpPr bwMode="auto">
            <a:xfrm>
              <a:off x="974" y="2929"/>
              <a:ext cx="509" cy="430"/>
              <a:chOff x="493" y="864"/>
              <a:chExt cx="396" cy="432"/>
            </a:xfrm>
          </p:grpSpPr>
          <p:sp>
            <p:nvSpPr>
              <p:cNvPr id="41" name="Rectangle 52"/>
              <p:cNvSpPr>
                <a:spLocks noChangeArrowheads="1"/>
              </p:cNvSpPr>
              <p:nvPr/>
            </p:nvSpPr>
            <p:spPr bwMode="auto">
              <a:xfrm>
                <a:off x="536" y="864"/>
                <a:ext cx="31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a:t>
                </a:r>
                <a:endParaRPr kumimoji="1" lang="en-US" altLang="zh-CN" sz="2400" b="0" dirty="0">
                  <a:latin typeface="Times New Roman" panose="02020603050405020304" pitchFamily="18" charset="0"/>
                </a:endParaRPr>
              </a:p>
            </p:txBody>
          </p:sp>
          <p:sp>
            <p:nvSpPr>
              <p:cNvPr id="42" name="Rectangle 53"/>
              <p:cNvSpPr>
                <a:spLocks noChangeArrowheads="1"/>
              </p:cNvSpPr>
              <p:nvPr/>
            </p:nvSpPr>
            <p:spPr bwMode="auto">
              <a:xfrm>
                <a:off x="493" y="864"/>
                <a:ext cx="39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5" name="Group 54"/>
            <p:cNvGrpSpPr/>
            <p:nvPr/>
          </p:nvGrpSpPr>
          <p:grpSpPr bwMode="auto">
            <a:xfrm>
              <a:off x="1483" y="2929"/>
              <a:ext cx="844" cy="430"/>
              <a:chOff x="889" y="864"/>
              <a:chExt cx="656" cy="432"/>
            </a:xfrm>
          </p:grpSpPr>
          <p:sp>
            <p:nvSpPr>
              <p:cNvPr id="39" name="Rectangle 55"/>
              <p:cNvSpPr>
                <a:spLocks noChangeArrowheads="1"/>
              </p:cNvSpPr>
              <p:nvPr/>
            </p:nvSpPr>
            <p:spPr bwMode="auto">
              <a:xfrm>
                <a:off x="934" y="864"/>
                <a:ext cx="56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rPr>
                  <a:t> </a:t>
                </a:r>
                <a:r>
                  <a:rPr kumimoji="1" lang="en-US" altLang="zh-CN" sz="1800">
                    <a:latin typeface="Times New Roman" panose="02020603050405020304" pitchFamily="18" charset="0"/>
                  </a:rPr>
                  <a:t>NOT IN</a:t>
                </a:r>
                <a:endParaRPr kumimoji="1" lang="en-US" altLang="zh-CN" sz="1800" b="0">
                  <a:latin typeface="Times New Roman" panose="02020603050405020304" pitchFamily="18" charset="0"/>
                </a:endParaRPr>
              </a:p>
            </p:txBody>
          </p:sp>
          <p:sp>
            <p:nvSpPr>
              <p:cNvPr id="40" name="Rectangle 56"/>
              <p:cNvSpPr>
                <a:spLocks noChangeArrowheads="1"/>
              </p:cNvSpPr>
              <p:nvPr/>
            </p:nvSpPr>
            <p:spPr bwMode="auto">
              <a:xfrm>
                <a:off x="889" y="864"/>
                <a:ext cx="656"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6" name="Group 57"/>
            <p:cNvGrpSpPr/>
            <p:nvPr/>
          </p:nvGrpSpPr>
          <p:grpSpPr bwMode="auto">
            <a:xfrm>
              <a:off x="2327" y="2929"/>
              <a:ext cx="793" cy="430"/>
              <a:chOff x="1545" y="864"/>
              <a:chExt cx="617" cy="432"/>
            </a:xfrm>
          </p:grpSpPr>
          <p:sp>
            <p:nvSpPr>
              <p:cNvPr id="37" name="Rectangle 58"/>
              <p:cNvSpPr>
                <a:spLocks noChangeArrowheads="1"/>
              </p:cNvSpPr>
              <p:nvPr/>
            </p:nvSpPr>
            <p:spPr bwMode="auto">
              <a:xfrm>
                <a:off x="1588" y="864"/>
                <a:ext cx="53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500" dirty="0">
                    <a:latin typeface="Times New Roman" panose="02020603050405020304" pitchFamily="18" charset="0"/>
                  </a:rPr>
                  <a:t> </a:t>
                </a:r>
                <a:r>
                  <a:rPr kumimoji="1" lang="en-US" altLang="zh-CN" sz="2400" dirty="0">
                    <a:latin typeface="Times New Roman" panose="02020603050405020304" pitchFamily="18" charset="0"/>
                  </a:rPr>
                  <a:t>&lt;MIN</a:t>
                </a:r>
                <a:endParaRPr kumimoji="1" lang="en-US" altLang="zh-CN" sz="2400" b="0" dirty="0">
                  <a:latin typeface="Times New Roman" panose="02020603050405020304" pitchFamily="18" charset="0"/>
                </a:endParaRPr>
              </a:p>
            </p:txBody>
          </p:sp>
          <p:sp>
            <p:nvSpPr>
              <p:cNvPr id="38" name="Rectangle 59"/>
              <p:cNvSpPr>
                <a:spLocks noChangeArrowheads="1"/>
              </p:cNvSpPr>
              <p:nvPr/>
            </p:nvSpPr>
            <p:spPr bwMode="auto">
              <a:xfrm>
                <a:off x="1545" y="864"/>
                <a:ext cx="61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7" name="Group 60"/>
            <p:cNvGrpSpPr/>
            <p:nvPr/>
          </p:nvGrpSpPr>
          <p:grpSpPr bwMode="auto">
            <a:xfrm>
              <a:off x="3120" y="2929"/>
              <a:ext cx="843" cy="430"/>
              <a:chOff x="2162" y="864"/>
              <a:chExt cx="655" cy="432"/>
            </a:xfrm>
          </p:grpSpPr>
          <p:sp>
            <p:nvSpPr>
              <p:cNvPr id="35" name="Rectangle 61"/>
              <p:cNvSpPr>
                <a:spLocks noChangeArrowheads="1"/>
              </p:cNvSpPr>
              <p:nvPr/>
            </p:nvSpPr>
            <p:spPr bwMode="auto">
              <a:xfrm>
                <a:off x="2205" y="864"/>
                <a:ext cx="569"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&lt;= MIN</a:t>
                </a:r>
                <a:endParaRPr kumimoji="1" lang="en-US" altLang="zh-CN" sz="2000" b="0">
                  <a:latin typeface="Times New Roman" panose="02020603050405020304" pitchFamily="18" charset="0"/>
                </a:endParaRPr>
              </a:p>
            </p:txBody>
          </p:sp>
          <p:sp>
            <p:nvSpPr>
              <p:cNvPr id="36" name="Rectangle 62"/>
              <p:cNvSpPr>
                <a:spLocks noChangeArrowheads="1"/>
              </p:cNvSpPr>
              <p:nvPr/>
            </p:nvSpPr>
            <p:spPr bwMode="auto">
              <a:xfrm>
                <a:off x="2162" y="864"/>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8" name="Group 63"/>
            <p:cNvGrpSpPr/>
            <p:nvPr/>
          </p:nvGrpSpPr>
          <p:grpSpPr bwMode="auto">
            <a:xfrm>
              <a:off x="3963" y="2929"/>
              <a:ext cx="755" cy="430"/>
              <a:chOff x="2817" y="864"/>
              <a:chExt cx="587" cy="432"/>
            </a:xfrm>
          </p:grpSpPr>
          <p:sp>
            <p:nvSpPr>
              <p:cNvPr id="33" name="Rectangle 64"/>
              <p:cNvSpPr>
                <a:spLocks noChangeArrowheads="1"/>
              </p:cNvSpPr>
              <p:nvPr/>
            </p:nvSpPr>
            <p:spPr bwMode="auto">
              <a:xfrm>
                <a:off x="2860" y="864"/>
                <a:ext cx="501"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2000">
                    <a:latin typeface="Times New Roman" panose="02020603050405020304" pitchFamily="18" charset="0"/>
                  </a:rPr>
                  <a:t>&gt;MAX</a:t>
                </a:r>
                <a:endParaRPr kumimoji="1" lang="en-US" altLang="zh-CN" sz="2000" b="0">
                  <a:latin typeface="Times New Roman" panose="02020603050405020304" pitchFamily="18" charset="0"/>
                </a:endParaRPr>
              </a:p>
            </p:txBody>
          </p:sp>
          <p:sp>
            <p:nvSpPr>
              <p:cNvPr id="34" name="Rectangle 65"/>
              <p:cNvSpPr>
                <a:spLocks noChangeArrowheads="1"/>
              </p:cNvSpPr>
              <p:nvPr/>
            </p:nvSpPr>
            <p:spPr bwMode="auto">
              <a:xfrm>
                <a:off x="2817" y="864"/>
                <a:ext cx="587"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grpSp>
          <p:nvGrpSpPr>
            <p:cNvPr id="29" name="Group 66"/>
            <p:cNvGrpSpPr/>
            <p:nvPr/>
          </p:nvGrpSpPr>
          <p:grpSpPr bwMode="auto">
            <a:xfrm>
              <a:off x="4718" y="2929"/>
              <a:ext cx="842" cy="430"/>
              <a:chOff x="3404" y="864"/>
              <a:chExt cx="655" cy="432"/>
            </a:xfrm>
          </p:grpSpPr>
          <p:sp>
            <p:nvSpPr>
              <p:cNvPr id="31" name="Rectangle 67"/>
              <p:cNvSpPr>
                <a:spLocks noChangeArrowheads="1"/>
              </p:cNvSpPr>
              <p:nvPr/>
            </p:nvSpPr>
            <p:spPr bwMode="auto">
              <a:xfrm>
                <a:off x="3447" y="864"/>
                <a:ext cx="56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en-US" altLang="zh-CN" sz="1800">
                    <a:latin typeface="Times New Roman" panose="02020603050405020304" pitchFamily="18" charset="0"/>
                  </a:rPr>
                  <a:t>&gt;= MAX</a:t>
                </a:r>
                <a:endParaRPr kumimoji="1" lang="en-US" altLang="zh-CN" sz="1800" b="0">
                  <a:latin typeface="Times New Roman" panose="02020603050405020304" pitchFamily="18" charset="0"/>
                </a:endParaRPr>
              </a:p>
            </p:txBody>
          </p:sp>
          <p:sp>
            <p:nvSpPr>
              <p:cNvPr id="32" name="Rectangle 68"/>
              <p:cNvSpPr>
                <a:spLocks noChangeArrowheads="1"/>
              </p:cNvSpPr>
              <p:nvPr/>
            </p:nvSpPr>
            <p:spPr bwMode="auto">
              <a:xfrm>
                <a:off x="3404" y="864"/>
                <a:ext cx="655" cy="43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sp>
          <p:nvSpPr>
            <p:cNvPr id="30" name="Rectangle 69"/>
            <p:cNvSpPr>
              <a:spLocks noChangeArrowheads="1"/>
            </p:cNvSpPr>
            <p:nvPr/>
          </p:nvSpPr>
          <p:spPr bwMode="auto">
            <a:xfrm>
              <a:off x="340" y="2069"/>
              <a:ext cx="5228" cy="1296"/>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Arial" panose="020B0604020202020204" pitchFamily="34" charset="0"/>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85000" lnSpcReduction="2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EXISTS</a:t>
            </a:r>
            <a:r>
              <a:rPr kumimoji="1" lang="zh-CN" altLang="en-US" sz="2600" dirty="0">
                <a:latin typeface="Times New Roman" panose="02020603050405020304" pitchFamily="18" charset="0"/>
                <a:cs typeface="Times New Roman" panose="02020603050405020304" pitchFamily="18" charset="0"/>
              </a:rPr>
              <a:t>谓词的子查询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EXISTS</a:t>
            </a:r>
            <a:r>
              <a:rPr lang="zh-CN" altLang="en-US" dirty="0">
                <a:latin typeface="Times New Roman" panose="02020603050405020304" pitchFamily="18" charset="0"/>
                <a:cs typeface="Times New Roman" panose="02020603050405020304" pitchFamily="18" charset="0"/>
              </a:rPr>
              <a:t>谓词</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存在量词 </a:t>
            </a:r>
            <a:r>
              <a:rPr lang="zh-CN" altLang="en-US" sz="2400" dirty="0">
                <a:latin typeface="Times New Roman" panose="02020603050405020304" pitchFamily="18" charset="0"/>
                <a:cs typeface="Times New Roman" panose="02020603050405020304" pitchFamily="18" charset="0"/>
                <a:sym typeface="Symbol" panose="05050102010706020507" pitchFamily="2" charset="2"/>
              </a:rPr>
              <a:t></a:t>
            </a:r>
            <a:r>
              <a:rPr lang="zh-CN" altLang="en-US"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带有</a:t>
            </a:r>
            <a:r>
              <a:rPr lang="en-US" altLang="zh-CN" sz="2400" dirty="0">
                <a:latin typeface="Times New Roman" panose="02020603050405020304" pitchFamily="18" charset="0"/>
                <a:cs typeface="Times New Roman" panose="02020603050405020304" pitchFamily="18" charset="0"/>
              </a:rPr>
              <a:t>EXISTS</a:t>
            </a:r>
            <a:r>
              <a:rPr lang="zh-CN" altLang="en-US" sz="2400" dirty="0">
                <a:latin typeface="Times New Roman" panose="02020603050405020304" pitchFamily="18" charset="0"/>
                <a:cs typeface="Times New Roman" panose="02020603050405020304" pitchFamily="18" charset="0"/>
              </a:rPr>
              <a:t>谓词的子查询不返回任何数据，只产生逻辑真值“</a:t>
            </a:r>
            <a:r>
              <a:rPr lang="en-US" altLang="zh-CN" sz="2400" dirty="0">
                <a:latin typeface="Times New Roman" panose="02020603050405020304" pitchFamily="18" charset="0"/>
                <a:cs typeface="Times New Roman" panose="02020603050405020304" pitchFamily="18" charset="0"/>
              </a:rPr>
              <a:t>true”</a:t>
            </a:r>
            <a:r>
              <a:rPr lang="zh-CN" altLang="en-US" sz="2400" dirty="0">
                <a:latin typeface="Times New Roman" panose="02020603050405020304" pitchFamily="18" charset="0"/>
                <a:cs typeface="Times New Roman" panose="02020603050405020304" pitchFamily="18" charset="0"/>
              </a:rPr>
              <a:t>或逻辑假值“</a:t>
            </a:r>
            <a:r>
              <a:rPr lang="en-US" altLang="zh-CN" sz="2400" dirty="0">
                <a:latin typeface="Times New Roman" panose="02020603050405020304" pitchFamily="18" charset="0"/>
                <a:cs typeface="Times New Roman" panose="02020603050405020304" pitchFamily="18" charset="0"/>
              </a:rPr>
              <a:t>false”</a:t>
            </a:r>
            <a:endParaRPr lang="en-US" altLang="zh-CN" sz="2400" dirty="0">
              <a:latin typeface="Times New Roman" panose="02020603050405020304" pitchFamily="18" charset="0"/>
              <a:cs typeface="Times New Roman" panose="02020603050405020304" pitchFamily="18" charset="0"/>
            </a:endParaRPr>
          </a:p>
          <a:p>
            <a:pPr lvl="3">
              <a:lnSpc>
                <a:spcPct val="150000"/>
              </a:lnSpc>
            </a:pPr>
            <a:r>
              <a:rPr lang="zh-CN" altLang="en-US" sz="2400" dirty="0">
                <a:latin typeface="Times New Roman" panose="02020603050405020304" pitchFamily="18" charset="0"/>
                <a:cs typeface="Times New Roman" panose="02020603050405020304" pitchFamily="18" charset="0"/>
              </a:rPr>
              <a:t>若内层查询结果非空，则外层的</a:t>
            </a:r>
            <a:r>
              <a:rPr lang="en-US" altLang="zh-CN" sz="2400" dirty="0">
                <a:latin typeface="Times New Roman" panose="02020603050405020304" pitchFamily="18" charset="0"/>
                <a:cs typeface="Times New Roman" panose="02020603050405020304" pitchFamily="18" charset="0"/>
              </a:rPr>
              <a:t>WHERE</a:t>
            </a:r>
            <a:r>
              <a:rPr lang="zh-CN" altLang="en-US" sz="2400" dirty="0">
                <a:latin typeface="Times New Roman" panose="02020603050405020304" pitchFamily="18" charset="0"/>
                <a:cs typeface="Times New Roman" panose="02020603050405020304" pitchFamily="18" charset="0"/>
              </a:rPr>
              <a:t>子句返回真值</a:t>
            </a:r>
            <a:endParaRPr lang="en-US" altLang="zh-CN" sz="2400" dirty="0">
              <a:latin typeface="Times New Roman" panose="02020603050405020304" pitchFamily="18" charset="0"/>
              <a:cs typeface="Times New Roman" panose="02020603050405020304" pitchFamily="18" charset="0"/>
            </a:endParaRPr>
          </a:p>
          <a:p>
            <a:pPr lvl="3">
              <a:lnSpc>
                <a:spcPct val="150000"/>
              </a:lnSpc>
            </a:pPr>
            <a:r>
              <a:rPr lang="zh-CN" altLang="en-US" sz="2400" dirty="0">
                <a:latin typeface="Times New Roman" panose="02020603050405020304" pitchFamily="18" charset="0"/>
                <a:cs typeface="Times New Roman" panose="02020603050405020304" pitchFamily="18" charset="0"/>
              </a:rPr>
              <a:t>若内层查询结果为空，则外层的</a:t>
            </a:r>
            <a:r>
              <a:rPr lang="en-US" altLang="zh-CN" sz="2400" dirty="0">
                <a:latin typeface="Times New Roman" panose="02020603050405020304" pitchFamily="18" charset="0"/>
                <a:cs typeface="Times New Roman" panose="02020603050405020304" pitchFamily="18" charset="0"/>
              </a:rPr>
              <a:t>WHERE</a:t>
            </a:r>
            <a:r>
              <a:rPr lang="zh-CN" altLang="en-US" sz="2400" dirty="0">
                <a:latin typeface="Times New Roman" panose="02020603050405020304" pitchFamily="18" charset="0"/>
                <a:cs typeface="Times New Roman" panose="02020603050405020304" pitchFamily="18" charset="0"/>
              </a:rPr>
              <a:t>子句返回假值</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由</a:t>
            </a:r>
            <a:r>
              <a:rPr lang="en-US" altLang="zh-CN" sz="2400" dirty="0">
                <a:latin typeface="Times New Roman" panose="02020603050405020304" pitchFamily="18" charset="0"/>
                <a:cs typeface="Times New Roman" panose="02020603050405020304" pitchFamily="18" charset="0"/>
              </a:rPr>
              <a:t>EXISTS</a:t>
            </a:r>
            <a:r>
              <a:rPr lang="zh-CN" altLang="en-US" sz="2400" dirty="0">
                <a:latin typeface="Times New Roman" panose="02020603050405020304" pitchFamily="18" charset="0"/>
                <a:cs typeface="Times New Roman" panose="02020603050405020304" pitchFamily="18" charset="0"/>
              </a:rPr>
              <a:t>引出的子查询，其目标列表达式通常都用* ，因为带</a:t>
            </a:r>
            <a:r>
              <a:rPr lang="en-US" altLang="zh-CN" sz="2400" dirty="0">
                <a:latin typeface="Times New Roman" panose="02020603050405020304" pitchFamily="18" charset="0"/>
                <a:cs typeface="Times New Roman" panose="02020603050405020304" pitchFamily="18" charset="0"/>
              </a:rPr>
              <a:t>EXISTS</a:t>
            </a:r>
            <a:r>
              <a:rPr lang="zh-CN" altLang="en-US" sz="2400" dirty="0">
                <a:latin typeface="Times New Roman" panose="02020603050405020304" pitchFamily="18" charset="0"/>
                <a:cs typeface="Times New Roman" panose="02020603050405020304" pitchFamily="18" charset="0"/>
              </a:rPr>
              <a:t>的子查询只返回真值或假值，给出列名无实际意义</a:t>
            </a:r>
            <a:endParaRPr lang="zh-CN" altLang="en-US" sz="24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NOT EXISTS</a:t>
            </a:r>
            <a:r>
              <a:rPr lang="zh-CN" altLang="en-US" dirty="0">
                <a:latin typeface="Times New Roman" panose="02020603050405020304" pitchFamily="18" charset="0"/>
                <a:cs typeface="Times New Roman" panose="02020603050405020304" pitchFamily="18" charset="0"/>
              </a:rPr>
              <a:t>谓词</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若内层查询结果非空，则外层的</a:t>
            </a:r>
            <a:r>
              <a:rPr lang="en-US" altLang="zh-CN" sz="2400" dirty="0">
                <a:latin typeface="Times New Roman" panose="02020603050405020304" pitchFamily="18" charset="0"/>
                <a:cs typeface="Times New Roman" panose="02020603050405020304" pitchFamily="18" charset="0"/>
              </a:rPr>
              <a:t>WHERE</a:t>
            </a:r>
            <a:r>
              <a:rPr lang="zh-CN" altLang="en-US" sz="2400" dirty="0">
                <a:latin typeface="Times New Roman" panose="02020603050405020304" pitchFamily="18" charset="0"/>
                <a:cs typeface="Times New Roman" panose="02020603050405020304" pitchFamily="18" charset="0"/>
              </a:rPr>
              <a:t>子句返回假值</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若内层查询结果为空，则外层的</a:t>
            </a:r>
            <a:r>
              <a:rPr lang="en-US" altLang="zh-CN" sz="2400" dirty="0">
                <a:latin typeface="Times New Roman" panose="02020603050405020304" pitchFamily="18" charset="0"/>
                <a:cs typeface="Times New Roman" panose="02020603050405020304" pitchFamily="18" charset="0"/>
              </a:rPr>
              <a:t>WHERE</a:t>
            </a:r>
            <a:r>
              <a:rPr lang="zh-CN" altLang="en-US" sz="2400" dirty="0">
                <a:latin typeface="Times New Roman" panose="02020603050405020304" pitchFamily="18" charset="0"/>
                <a:cs typeface="Times New Roman" panose="02020603050405020304" pitchFamily="18" charset="0"/>
              </a:rPr>
              <a:t>子句返回真值</a:t>
            </a:r>
            <a:endParaRPr lang="zh-CN" altLang="en-US"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EXISTS</a:t>
            </a:r>
            <a:r>
              <a:rPr kumimoji="1" lang="zh-CN" altLang="en-US" sz="2600" dirty="0">
                <a:latin typeface="Times New Roman" panose="02020603050405020304" pitchFamily="18" charset="0"/>
                <a:cs typeface="Times New Roman" panose="02020603050405020304" pitchFamily="18" charset="0"/>
              </a:rPr>
              <a:t>谓词的子查询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3-54</a:t>
            </a:r>
            <a:r>
              <a:rPr lang="zh-CN" altLang="en-US" i="1" dirty="0">
                <a:latin typeface="Times New Roman" panose="02020603050405020304" pitchFamily="18" charset="0"/>
                <a:cs typeface="Times New Roman" panose="02020603050405020304" pitchFamily="18" charset="0"/>
              </a:rPr>
              <a:t>：查询所有选修了</a:t>
            </a:r>
            <a:r>
              <a:rPr lang="en-US" altLang="zh-CN" i="1" dirty="0">
                <a:latin typeface="Times New Roman" panose="02020603050405020304" pitchFamily="18" charset="0"/>
                <a:cs typeface="Times New Roman" panose="02020603050405020304" pitchFamily="18" charset="0"/>
              </a:rPr>
              <a:t>1</a:t>
            </a:r>
            <a:r>
              <a:rPr lang="zh-CN" altLang="en-US" i="1" dirty="0">
                <a:latin typeface="Times New Roman" panose="02020603050405020304" pitchFamily="18" charset="0"/>
                <a:cs typeface="Times New Roman" panose="02020603050405020304" pitchFamily="18" charset="0"/>
              </a:rPr>
              <a:t>号课程的学生姓名</a:t>
            </a:r>
            <a:endParaRPr lang="en-US" altLang="zh-CN" i="1"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思路分析：</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本查询涉及</a:t>
            </a:r>
            <a:r>
              <a:rPr lang="en-US" altLang="zh-CN" sz="2400" dirty="0">
                <a:latin typeface="Times New Roman" panose="02020603050405020304" pitchFamily="18" charset="0"/>
                <a:cs typeface="Times New Roman" panose="02020603050405020304" pitchFamily="18" charset="0"/>
              </a:rPr>
              <a:t>Student</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SC</a:t>
            </a:r>
            <a:r>
              <a:rPr lang="zh-CN" altLang="en-US" sz="2400" dirty="0">
                <a:latin typeface="Times New Roman" panose="02020603050405020304" pitchFamily="18" charset="0"/>
                <a:cs typeface="Times New Roman" panose="02020603050405020304" pitchFamily="18" charset="0"/>
              </a:rPr>
              <a:t>关系</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Student</a:t>
            </a:r>
            <a:r>
              <a:rPr lang="zh-CN" altLang="en-US" sz="2400" dirty="0">
                <a:latin typeface="Times New Roman" panose="02020603050405020304" pitchFamily="18" charset="0"/>
                <a:cs typeface="Times New Roman" panose="02020603050405020304" pitchFamily="18" charset="0"/>
              </a:rPr>
              <a:t>中依次取每个元组的</a:t>
            </a:r>
            <a:r>
              <a:rPr lang="en-US" altLang="zh-CN" sz="2400" dirty="0">
                <a:latin typeface="Times New Roman" panose="02020603050405020304" pitchFamily="18" charset="0"/>
                <a:cs typeface="Times New Roman" panose="02020603050405020304" pitchFamily="18" charset="0"/>
              </a:rPr>
              <a:t>Sno</a:t>
            </a:r>
            <a:r>
              <a:rPr lang="zh-CN" altLang="en-US" sz="2400" dirty="0">
                <a:latin typeface="Times New Roman" panose="02020603050405020304" pitchFamily="18" charset="0"/>
                <a:cs typeface="Times New Roman" panose="02020603050405020304" pitchFamily="18" charset="0"/>
              </a:rPr>
              <a:t>值，用此值去检查</a:t>
            </a:r>
            <a:r>
              <a:rPr lang="en-US" altLang="zh-CN" sz="2400" dirty="0">
                <a:latin typeface="Times New Roman" panose="02020603050405020304" pitchFamily="18" charset="0"/>
                <a:cs typeface="Times New Roman" panose="02020603050405020304" pitchFamily="18" charset="0"/>
              </a:rPr>
              <a:t>SC</a:t>
            </a:r>
            <a:r>
              <a:rPr lang="zh-CN" altLang="en-US" sz="2400" dirty="0">
                <a:latin typeface="Times New Roman" panose="02020603050405020304" pitchFamily="18" charset="0"/>
                <a:cs typeface="Times New Roman" panose="02020603050405020304" pitchFamily="18" charset="0"/>
              </a:rPr>
              <a:t>关系</a:t>
            </a:r>
            <a:endParaRPr lang="en-US" altLang="zh-CN" sz="2400" dirty="0">
              <a:latin typeface="Times New Roman" panose="02020603050405020304" pitchFamily="18" charset="0"/>
              <a:cs typeface="Times New Roman" panose="02020603050405020304" pitchFamily="18" charset="0"/>
            </a:endParaRPr>
          </a:p>
          <a:p>
            <a:pPr lvl="2">
              <a:lnSpc>
                <a:spcPct val="150000"/>
              </a:lnSpc>
            </a:pPr>
            <a:r>
              <a:rPr lang="zh-CN" altLang="en-US" sz="2400" dirty="0">
                <a:latin typeface="Times New Roman" panose="02020603050405020304" pitchFamily="18" charset="0"/>
                <a:cs typeface="Times New Roman" panose="02020603050405020304" pitchFamily="18" charset="0"/>
              </a:rPr>
              <a:t>若</a:t>
            </a:r>
            <a:r>
              <a:rPr lang="en-US" altLang="zh-CN" sz="2400" dirty="0">
                <a:latin typeface="Times New Roman" panose="02020603050405020304" pitchFamily="18" charset="0"/>
                <a:cs typeface="Times New Roman" panose="02020603050405020304" pitchFamily="18" charset="0"/>
              </a:rPr>
              <a:t>SC</a:t>
            </a:r>
            <a:r>
              <a:rPr lang="zh-CN" altLang="en-US" sz="2400" dirty="0">
                <a:latin typeface="Times New Roman" panose="02020603050405020304" pitchFamily="18" charset="0"/>
                <a:cs typeface="Times New Roman" panose="02020603050405020304" pitchFamily="18" charset="0"/>
              </a:rPr>
              <a:t>中存在这样的元组，其</a:t>
            </a:r>
            <a:r>
              <a:rPr lang="en-US" altLang="zh-CN" sz="2400" dirty="0">
                <a:latin typeface="Times New Roman" panose="02020603050405020304" pitchFamily="18" charset="0"/>
                <a:cs typeface="Times New Roman" panose="02020603050405020304" pitchFamily="18" charset="0"/>
              </a:rPr>
              <a:t>Sno</a:t>
            </a:r>
            <a:r>
              <a:rPr lang="zh-CN" altLang="en-US" sz="2400" dirty="0">
                <a:latin typeface="Times New Roman" panose="02020603050405020304" pitchFamily="18" charset="0"/>
                <a:cs typeface="Times New Roman" panose="02020603050405020304" pitchFamily="18" charset="0"/>
              </a:rPr>
              <a:t>值等于此</a:t>
            </a:r>
            <a:r>
              <a:rPr lang="en-US" altLang="zh-CN" sz="2400" dirty="0" err="1">
                <a:latin typeface="Times New Roman" panose="02020603050405020304" pitchFamily="18" charset="0"/>
                <a:cs typeface="Times New Roman" panose="02020603050405020304" pitchFamily="18" charset="0"/>
              </a:rPr>
              <a:t>Student.Sno</a:t>
            </a:r>
            <a:r>
              <a:rPr lang="zh-CN" altLang="en-US" sz="2400" dirty="0">
                <a:latin typeface="Times New Roman" panose="02020603050405020304" pitchFamily="18" charset="0"/>
                <a:cs typeface="Times New Roman" panose="02020603050405020304" pitchFamily="18" charset="0"/>
              </a:rPr>
              <a:t>值，并且其</a:t>
            </a:r>
            <a:r>
              <a:rPr lang="en-US" altLang="zh-CN" sz="2400" dirty="0" err="1">
                <a:latin typeface="Times New Roman" panose="02020603050405020304" pitchFamily="18" charset="0"/>
                <a:cs typeface="Times New Roman" panose="02020603050405020304" pitchFamily="18" charset="0"/>
              </a:rPr>
              <a:t>Cno</a:t>
            </a:r>
            <a:r>
              <a:rPr lang="en-US" altLang="zh-CN" sz="2400" dirty="0">
                <a:latin typeface="Times New Roman" panose="02020603050405020304" pitchFamily="18" charset="0"/>
                <a:cs typeface="Times New Roman" panose="02020603050405020304" pitchFamily="18" charset="0"/>
              </a:rPr>
              <a:t>= '1'</a:t>
            </a:r>
            <a:r>
              <a:rPr lang="zh-CN" altLang="en-US" sz="2400" dirty="0">
                <a:latin typeface="Times New Roman" panose="02020603050405020304" pitchFamily="18" charset="0"/>
                <a:cs typeface="Times New Roman" panose="02020603050405020304" pitchFamily="18" charset="0"/>
              </a:rPr>
              <a:t>，则取此</a:t>
            </a:r>
            <a:r>
              <a:rPr lang="en-US" altLang="zh-CN" sz="2400" dirty="0" err="1">
                <a:latin typeface="Times New Roman" panose="02020603050405020304" pitchFamily="18" charset="0"/>
                <a:cs typeface="Times New Roman" panose="02020603050405020304" pitchFamily="18" charset="0"/>
              </a:rPr>
              <a:t>Student.Sname</a:t>
            </a:r>
            <a:r>
              <a:rPr lang="zh-CN" altLang="en-US" sz="2400" dirty="0">
                <a:latin typeface="Times New Roman" panose="02020603050405020304" pitchFamily="18" charset="0"/>
                <a:cs typeface="Times New Roman" panose="02020603050405020304" pitchFamily="18" charset="0"/>
              </a:rPr>
              <a:t>送入结果关系</a:t>
            </a:r>
            <a:endParaRPr lang="zh-CN" altLang="en-US"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带有</a:t>
            </a:r>
            <a:r>
              <a:rPr kumimoji="1" lang="en-GB" altLang="zh-CN" sz="2600" dirty="0">
                <a:latin typeface="Times New Roman" panose="02020603050405020304" pitchFamily="18" charset="0"/>
                <a:cs typeface="Times New Roman" panose="02020603050405020304" pitchFamily="18" charset="0"/>
              </a:rPr>
              <a:t>EXISTS</a:t>
            </a:r>
            <a:r>
              <a:rPr kumimoji="1" lang="zh-CN" altLang="en-US" sz="2600" dirty="0">
                <a:latin typeface="Times New Roman" panose="02020603050405020304" pitchFamily="18" charset="0"/>
                <a:cs typeface="Times New Roman" panose="02020603050405020304" pitchFamily="18" charset="0"/>
              </a:rPr>
              <a:t>谓词的子查询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用嵌套查询</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072975" y="2533209"/>
            <a:ext cx="7862740" cy="23488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Student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EXISTS</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SC.Sno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Student.Sno</a:t>
            </a: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solidFill>
                  <a:srgbClr val="C00000"/>
                </a:solidFill>
                <a:latin typeface="Cambria Math" panose="02040503050406030204" pitchFamily="18" charset="0"/>
                <a:cs typeface="Times New Roman" panose="02020603050405020304" pitchFamily="18" charset="0"/>
              </a:rPr>
              <a:t>　　</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1 ')</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gn="just"/>
            <a:r>
              <a:rPr lang="zh-CN" altLang="en-US" b="0" dirty="0">
                <a:latin typeface="Times New Roman" panose="02020603050405020304" pitchFamily="18" charset="0"/>
                <a:cs typeface="Times New Roman" panose="02020603050405020304" pitchFamily="18" charset="0"/>
              </a:rPr>
              <a:t>集合操作的种类</a:t>
            </a:r>
            <a:endParaRPr lang="en-US" altLang="zh-CN" b="0" dirty="0">
              <a:latin typeface="Times New Roman" panose="02020603050405020304" pitchFamily="18" charset="0"/>
              <a:cs typeface="Times New Roman" panose="02020603050405020304" pitchFamily="18" charset="0"/>
            </a:endParaRPr>
          </a:p>
          <a:p>
            <a:pPr lvl="2" algn="just"/>
            <a:r>
              <a:rPr lang="zh-CN" altLang="en-US" sz="2400" dirty="0">
                <a:latin typeface="Times New Roman" panose="02020603050405020304" pitchFamily="18" charset="0"/>
                <a:cs typeface="Times New Roman" panose="02020603050405020304" pitchFamily="18" charset="0"/>
              </a:rPr>
              <a:t>并操作</a:t>
            </a:r>
            <a:r>
              <a:rPr lang="en-US" altLang="zh-CN" sz="2400" dirty="0">
                <a:latin typeface="Times New Roman" panose="02020603050405020304" pitchFamily="18" charset="0"/>
                <a:cs typeface="Times New Roman" panose="02020603050405020304" pitchFamily="18" charset="0"/>
              </a:rPr>
              <a:t>UNION</a:t>
            </a:r>
            <a:endParaRPr lang="en-US" altLang="zh-CN" sz="2400" dirty="0">
              <a:latin typeface="Times New Roman" panose="02020603050405020304" pitchFamily="18" charset="0"/>
              <a:cs typeface="Times New Roman" panose="02020603050405020304" pitchFamily="18" charset="0"/>
            </a:endParaRPr>
          </a:p>
          <a:p>
            <a:pPr lvl="2" algn="just"/>
            <a:r>
              <a:rPr lang="zh-CN" altLang="en-US" sz="2400" dirty="0">
                <a:latin typeface="Times New Roman" panose="02020603050405020304" pitchFamily="18" charset="0"/>
                <a:cs typeface="Times New Roman" panose="02020603050405020304" pitchFamily="18" charset="0"/>
              </a:rPr>
              <a:t>交操作</a:t>
            </a:r>
            <a:r>
              <a:rPr lang="en-US" altLang="zh-CN" sz="2400" dirty="0">
                <a:latin typeface="Times New Roman" panose="02020603050405020304" pitchFamily="18" charset="0"/>
                <a:cs typeface="Times New Roman" panose="02020603050405020304" pitchFamily="18" charset="0"/>
              </a:rPr>
              <a:t>INTERSECT</a:t>
            </a:r>
            <a:endParaRPr lang="en-US" altLang="zh-CN" sz="2400" dirty="0">
              <a:latin typeface="Times New Roman" panose="02020603050405020304" pitchFamily="18" charset="0"/>
              <a:cs typeface="Times New Roman" panose="02020603050405020304" pitchFamily="18" charset="0"/>
            </a:endParaRPr>
          </a:p>
          <a:p>
            <a:pPr lvl="2" algn="just"/>
            <a:r>
              <a:rPr lang="zh-CN" altLang="en-US" sz="2400" dirty="0">
                <a:latin typeface="Times New Roman" panose="02020603050405020304" pitchFamily="18" charset="0"/>
                <a:cs typeface="Times New Roman" panose="02020603050405020304" pitchFamily="18" charset="0"/>
              </a:rPr>
              <a:t>差操作</a:t>
            </a:r>
            <a:r>
              <a:rPr lang="en-US" altLang="zh-CN" sz="2400" dirty="0">
                <a:latin typeface="Times New Roman" panose="02020603050405020304" pitchFamily="18" charset="0"/>
                <a:cs typeface="Times New Roman" panose="02020603050405020304" pitchFamily="18" charset="0"/>
              </a:rPr>
              <a:t>EXCEPT</a:t>
            </a:r>
            <a:endParaRPr lang="en-US" altLang="zh-CN" sz="2400" dirty="0">
              <a:latin typeface="Times New Roman" panose="02020603050405020304" pitchFamily="18" charset="0"/>
              <a:cs typeface="Times New Roman" panose="02020603050405020304" pitchFamily="18" charset="0"/>
            </a:endParaRPr>
          </a:p>
          <a:p>
            <a:pPr lvl="1" algn="just"/>
            <a:r>
              <a:rPr lang="zh-CN" altLang="en-US" b="0" dirty="0">
                <a:latin typeface="Times New Roman" panose="02020603050405020304" pitchFamily="18" charset="0"/>
                <a:cs typeface="Times New Roman" panose="02020603050405020304" pitchFamily="18" charset="0"/>
              </a:rPr>
              <a:t>参加集合操作的各查询结果的列数必须相同；对应项的数据类型也必须相同 </a:t>
            </a:r>
            <a:endParaRPr lang="zh-CN" altLang="en-US"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9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3-57</a:t>
            </a:r>
            <a:r>
              <a:rPr lang="zh-CN" altLang="en-US" i="1" dirty="0">
                <a:latin typeface="Times New Roman" panose="02020603050405020304" pitchFamily="18" charset="0"/>
                <a:cs typeface="Times New Roman" panose="02020603050405020304" pitchFamily="18" charset="0"/>
              </a:rPr>
              <a:t>：查询计算机科学系的学生及年龄不大于</a:t>
            </a:r>
            <a:r>
              <a:rPr lang="en-US" altLang="zh-CN" i="1" dirty="0">
                <a:latin typeface="Times New Roman" panose="02020603050405020304" pitchFamily="18" charset="0"/>
                <a:cs typeface="Times New Roman" panose="02020603050405020304" pitchFamily="18" charset="0"/>
              </a:rPr>
              <a:t>19</a:t>
            </a:r>
            <a:r>
              <a:rPr lang="zh-CN" altLang="en-US" i="1" dirty="0">
                <a:latin typeface="Times New Roman" panose="02020603050405020304" pitchFamily="18" charset="0"/>
                <a:cs typeface="Times New Roman" panose="02020603050405020304" pitchFamily="18" charset="0"/>
              </a:rPr>
              <a:t>岁的学生</a:t>
            </a:r>
            <a:endParaRPr lang="zh-CN" altLang="en-US" i="1" dirty="0">
              <a:latin typeface="Times New Roman" panose="02020603050405020304" pitchFamily="18" charset="0"/>
              <a:cs typeface="Times New Roman" panose="02020603050405020304" pitchFamily="18" charset="0"/>
            </a:endParaRPr>
          </a:p>
          <a:p>
            <a:pPr lvl="1">
              <a:lnSpc>
                <a:spcPct val="90000"/>
              </a:lnSpc>
            </a:pPr>
            <a:r>
              <a:rPr lang="zh-CN" altLang="en-US" dirty="0">
                <a:latin typeface="Times New Roman" panose="02020603050405020304" pitchFamily="18" charset="0"/>
                <a:cs typeface="Times New Roman" panose="02020603050405020304" pitchFamily="18" charset="0"/>
              </a:rPr>
              <a:t>方法一：</a:t>
            </a:r>
            <a:endParaRPr lang="en-US" altLang="zh-CN" dirty="0">
              <a:latin typeface="Times New Roman" panose="02020603050405020304" pitchFamily="18" charset="0"/>
              <a:cs typeface="Times New Roman" panose="02020603050405020304" pitchFamily="18" charset="0"/>
            </a:endParaRPr>
          </a:p>
          <a:p>
            <a:pPr lvl="1">
              <a:lnSpc>
                <a:spcPct val="90000"/>
              </a:lnSpc>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r>
              <a:rPr lang="en-US" altLang="zh-CN" b="0" dirty="0">
                <a:solidFill>
                  <a:srgbClr val="C00000"/>
                </a:solidFill>
                <a:latin typeface="Times New Roman" panose="02020603050405020304" pitchFamily="18" charset="0"/>
                <a:cs typeface="Times New Roman" panose="02020603050405020304" pitchFamily="18" charset="0"/>
              </a:rPr>
              <a:t> </a:t>
            </a:r>
            <a:endParaRPr lang="en-US" altLang="zh-CN" b="0" dirty="0">
              <a:solidFill>
                <a:srgbClr val="C00000"/>
              </a:solidFill>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90000"/>
              </a:lnSpc>
            </a:pPr>
            <a:r>
              <a:rPr lang="en-US" altLang="zh-CN" dirty="0">
                <a:latin typeface="Times New Roman" panose="02020603050405020304" pitchFamily="18" charset="0"/>
                <a:cs typeface="Times New Roman" panose="02020603050405020304" pitchFamily="18" charset="0"/>
              </a:rPr>
              <a:t>UNION</a:t>
            </a:r>
            <a:r>
              <a:rPr lang="zh-CN" altLang="en-US" dirty="0">
                <a:latin typeface="Times New Roman" panose="02020603050405020304" pitchFamily="18" charset="0"/>
                <a:cs typeface="Times New Roman" panose="02020603050405020304" pitchFamily="18" charset="0"/>
              </a:rPr>
              <a:t>：将多个查询结果合并起来时，系统自动去掉重复元组。</a:t>
            </a:r>
            <a:endParaRPr lang="en-US" altLang="zh-CN" dirty="0">
              <a:latin typeface="Times New Roman" panose="02020603050405020304" pitchFamily="18" charset="0"/>
              <a:cs typeface="Times New Roman" panose="02020603050405020304" pitchFamily="18" charset="0"/>
            </a:endParaRPr>
          </a:p>
          <a:p>
            <a:pPr lvl="1">
              <a:lnSpc>
                <a:spcPct val="90000"/>
              </a:lnSpc>
            </a:pPr>
            <a:r>
              <a:rPr lang="en-US" altLang="zh-CN" dirty="0">
                <a:latin typeface="Times New Roman" panose="02020603050405020304" pitchFamily="18" charset="0"/>
                <a:cs typeface="Times New Roman" panose="02020603050405020304" pitchFamily="18" charset="0"/>
              </a:rPr>
              <a:t>UNION </a:t>
            </a:r>
            <a:r>
              <a:rPr lang="en-US" altLang="zh-CN" dirty="0">
                <a:solidFill>
                  <a:srgbClr val="C00000"/>
                </a:solidFill>
                <a:latin typeface="Times New Roman" panose="02020603050405020304" pitchFamily="18" charset="0"/>
                <a:cs typeface="Times New Roman" panose="02020603050405020304" pitchFamily="18" charset="0"/>
              </a:rPr>
              <a:t>ALL</a:t>
            </a:r>
            <a:r>
              <a:rPr lang="zh-CN" altLang="en-US" dirty="0">
                <a:latin typeface="Times New Roman" panose="02020603050405020304" pitchFamily="18" charset="0"/>
                <a:cs typeface="Times New Roman" panose="02020603050405020304" pitchFamily="18" charset="0"/>
              </a:rPr>
              <a:t>：将多个查询结果合并起来时，保留重复元组 </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21826" y="2675911"/>
            <a:ext cx="5293042" cy="273868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UNION</a:t>
            </a:r>
            <a:endPar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Sage&lt;=19</a:t>
            </a:r>
            <a:r>
              <a:rPr lang="zh-CN" altLang="en-US" sz="2000" dirty="0">
                <a:latin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9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3-57</a:t>
            </a:r>
            <a:r>
              <a:rPr lang="zh-CN" altLang="en-US" i="1" dirty="0">
                <a:latin typeface="Times New Roman" panose="02020603050405020304" pitchFamily="18" charset="0"/>
                <a:cs typeface="Times New Roman" panose="02020603050405020304" pitchFamily="18" charset="0"/>
              </a:rPr>
              <a:t>：查询计算机科学系的学生及年龄不大于</a:t>
            </a:r>
            <a:r>
              <a:rPr lang="en-US" altLang="zh-CN" i="1" dirty="0">
                <a:latin typeface="Times New Roman" panose="02020603050405020304" pitchFamily="18" charset="0"/>
                <a:cs typeface="Times New Roman" panose="02020603050405020304" pitchFamily="18" charset="0"/>
              </a:rPr>
              <a:t>19</a:t>
            </a:r>
            <a:r>
              <a:rPr lang="zh-CN" altLang="en-US" i="1" dirty="0">
                <a:latin typeface="Times New Roman" panose="02020603050405020304" pitchFamily="18" charset="0"/>
                <a:cs typeface="Times New Roman" panose="02020603050405020304" pitchFamily="18" charset="0"/>
              </a:rPr>
              <a:t>岁的学生</a:t>
            </a:r>
            <a:endParaRPr lang="zh-CN" altLang="en-US" i="1" dirty="0">
              <a:latin typeface="Times New Roman" panose="02020603050405020304" pitchFamily="18" charset="0"/>
              <a:cs typeface="Times New Roman" panose="02020603050405020304" pitchFamily="18" charset="0"/>
            </a:endParaRPr>
          </a:p>
          <a:p>
            <a:pPr lvl="1">
              <a:lnSpc>
                <a:spcPct val="90000"/>
              </a:lnSpc>
            </a:pPr>
            <a:r>
              <a:rPr lang="zh-CN" altLang="en-US" dirty="0">
                <a:latin typeface="Times New Roman" panose="02020603050405020304" pitchFamily="18" charset="0"/>
                <a:cs typeface="Times New Roman" panose="02020603050405020304" pitchFamily="18" charset="0"/>
              </a:rPr>
              <a:t>方法二：</a:t>
            </a:r>
            <a:endParaRPr lang="en-US" altLang="zh-CN" dirty="0">
              <a:latin typeface="Times New Roman" panose="02020603050405020304" pitchFamily="18" charset="0"/>
              <a:cs typeface="Times New Roman" panose="02020603050405020304" pitchFamily="18" charset="0"/>
            </a:endParaRPr>
          </a:p>
          <a:p>
            <a:pPr lvl="1">
              <a:lnSpc>
                <a:spcPct val="90000"/>
              </a:lnSpc>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78092" y="2839360"/>
            <a:ext cx="529304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  OR  Sage&lt;=19</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8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3-58</a:t>
            </a:r>
            <a:r>
              <a:rPr lang="zh-CN" altLang="en-US" i="1" dirty="0">
                <a:latin typeface="Times New Roman" panose="02020603050405020304" pitchFamily="18" charset="0"/>
                <a:cs typeface="Times New Roman" panose="02020603050405020304" pitchFamily="18" charset="0"/>
              </a:rPr>
              <a:t>：查询选修了课程</a:t>
            </a:r>
            <a:r>
              <a:rPr lang="en-US" altLang="zh-CN" i="1" dirty="0">
                <a:latin typeface="Times New Roman" panose="02020603050405020304" pitchFamily="18" charset="0"/>
                <a:cs typeface="Times New Roman" panose="02020603050405020304" pitchFamily="18" charset="0"/>
              </a:rPr>
              <a:t>1</a:t>
            </a:r>
            <a:r>
              <a:rPr lang="zh-CN" altLang="en-US" i="1" dirty="0">
                <a:latin typeface="Times New Roman" panose="02020603050405020304" pitchFamily="18" charset="0"/>
                <a:cs typeface="Times New Roman" panose="02020603050405020304" pitchFamily="18" charset="0"/>
              </a:rPr>
              <a:t>或者选修了课程</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的学生</a:t>
            </a:r>
            <a:endParaRPr lang="zh-CN" altLang="en-US" i="1" dirty="0">
              <a:latin typeface="Times New Roman" panose="02020603050405020304" pitchFamily="18" charset="0"/>
              <a:cs typeface="Times New Roman" panose="02020603050405020304" pitchFamily="18" charset="0"/>
            </a:endParaRPr>
          </a:p>
          <a:p>
            <a:pPr>
              <a:lnSpc>
                <a:spcPct val="80000"/>
              </a:lnSpc>
              <a:buNone/>
            </a:pPr>
            <a:endParaRPr lang="zh-CN" altLang="en-US" sz="2400" b="0" dirty="0">
              <a:latin typeface="Times New Roman" panose="02020603050405020304" pitchFamily="18" charset="0"/>
              <a:cs typeface="Times New Roman" panose="02020603050405020304" pitchFamily="18" charset="0"/>
            </a:endParaRPr>
          </a:p>
          <a:p>
            <a:pPr lvl="1">
              <a:lnSpc>
                <a:spcPct val="80000"/>
              </a:lnSpc>
              <a:buNone/>
            </a:pPr>
            <a:r>
              <a:rPr lang="zh-CN" altLang="en-US" sz="2000"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lvl="1">
              <a:lnSpc>
                <a:spcPct val="80000"/>
              </a:lnSpc>
              <a:buNone/>
            </a:pP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06228" y="2282988"/>
            <a:ext cx="5293042" cy="273868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1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UNION</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 2 '</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3-59</a:t>
            </a:r>
            <a:r>
              <a:rPr lang="zh-CN" altLang="en-US" i="1" dirty="0">
                <a:latin typeface="Times New Roman" panose="02020603050405020304" pitchFamily="18" charset="0"/>
                <a:cs typeface="Times New Roman" panose="02020603050405020304" pitchFamily="18" charset="0"/>
              </a:rPr>
              <a:t>：查询计算机系</a:t>
            </a:r>
            <a:r>
              <a:rPr lang="en-US" altLang="zh-CN" i="1" dirty="0">
                <a:latin typeface="Times New Roman" panose="02020603050405020304" pitchFamily="18" charset="0"/>
                <a:cs typeface="Times New Roman" panose="02020603050405020304" pitchFamily="18" charset="0"/>
              </a:rPr>
              <a:t>(CS)</a:t>
            </a:r>
            <a:r>
              <a:rPr lang="zh-CN" altLang="en-US" i="1" dirty="0">
                <a:latin typeface="Times New Roman" panose="02020603050405020304" pitchFamily="18" charset="0"/>
                <a:cs typeface="Times New Roman" panose="02020603050405020304" pitchFamily="18" charset="0"/>
              </a:rPr>
              <a:t>的学生与年龄不大于</a:t>
            </a:r>
            <a:r>
              <a:rPr lang="en-US" altLang="zh-CN" i="1" dirty="0">
                <a:latin typeface="Times New Roman" panose="02020603050405020304" pitchFamily="18" charset="0"/>
                <a:cs typeface="Times New Roman" panose="02020603050405020304" pitchFamily="18" charset="0"/>
              </a:rPr>
              <a:t>19</a:t>
            </a:r>
            <a:r>
              <a:rPr lang="zh-CN" altLang="en-US" i="1" dirty="0">
                <a:latin typeface="Times New Roman" panose="02020603050405020304" pitchFamily="18" charset="0"/>
                <a:cs typeface="Times New Roman" panose="02020603050405020304" pitchFamily="18" charset="0"/>
              </a:rPr>
              <a:t>岁的学生的交集</a:t>
            </a:r>
            <a:endParaRPr lang="zh-CN" altLang="en-US" i="1" dirty="0">
              <a:latin typeface="Times New Roman" panose="02020603050405020304" pitchFamily="18" charset="0"/>
              <a:cs typeface="Times New Roman" panose="02020603050405020304" pitchFamily="18" charset="0"/>
            </a:endParaRPr>
          </a:p>
          <a:p>
            <a:pPr marL="263525" indent="-263525">
              <a:lnSpc>
                <a:spcPct val="90000"/>
              </a:lnSpc>
              <a:buNone/>
            </a:pPr>
            <a:endParaRPr lang="zh-CN" altLang="en-US" sz="2400" b="0" dirty="0">
              <a:latin typeface="Times New Roman" panose="02020603050405020304" pitchFamily="18" charset="0"/>
              <a:cs typeface="Times New Roman" panose="02020603050405020304" pitchFamily="18" charset="0"/>
            </a:endParaRPr>
          </a:p>
          <a:p>
            <a:pPr marL="1333500" lvl="2" indent="-419100">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1333500" lvl="2" indent="-419100">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20295" y="2488359"/>
            <a:ext cx="5293042" cy="274175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INTERSECT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Sage&lt;=19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实际上就是查询</a:t>
            </a:r>
            <a:r>
              <a:rPr lang="zh-CN" altLang="zh-CN" dirty="0">
                <a:latin typeface="Times New Roman" panose="02020603050405020304" pitchFamily="18" charset="0"/>
                <a:cs typeface="Times New Roman" panose="02020603050405020304" pitchFamily="18" charset="0"/>
              </a:rPr>
              <a:t>计算机系(CS)</a:t>
            </a:r>
            <a:r>
              <a:rPr lang="zh-CN" altLang="en-US" dirty="0">
                <a:latin typeface="Times New Roman" panose="02020603050405020304" pitchFamily="18" charset="0"/>
                <a:cs typeface="Times New Roman" panose="02020603050405020304" pitchFamily="18" charset="0"/>
              </a:rPr>
              <a:t>中年龄不大于</a:t>
            </a:r>
            <a:r>
              <a:rPr lang="en-US" altLang="zh-CN" dirty="0">
                <a:latin typeface="Times New Roman" panose="02020603050405020304" pitchFamily="18" charset="0"/>
                <a:cs typeface="Times New Roman" panose="02020603050405020304" pitchFamily="18" charset="0"/>
              </a:rPr>
              <a:t>19</a:t>
            </a:r>
            <a:r>
              <a:rPr lang="zh-CN" altLang="en-US" dirty="0">
                <a:latin typeface="Times New Roman" panose="02020603050405020304" pitchFamily="18" charset="0"/>
                <a:cs typeface="Times New Roman" panose="02020603050405020304" pitchFamily="18" charset="0"/>
              </a:rPr>
              <a:t>岁的学生</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a:buNone/>
            </a:pPr>
            <a:r>
              <a:rPr lang="en-US" altLang="zh-CN" sz="2000"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49956" y="2473049"/>
            <a:ext cx="529304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 AND  Sage&lt;=19</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9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3-60</a:t>
            </a:r>
            <a:r>
              <a:rPr lang="zh-CN" altLang="en-US" i="1" dirty="0">
                <a:latin typeface="Times New Roman" panose="02020603050405020304" pitchFamily="18" charset="0"/>
                <a:cs typeface="Times New Roman" panose="02020603050405020304" pitchFamily="18" charset="0"/>
              </a:rPr>
              <a:t>：查询选修课程</a:t>
            </a:r>
            <a:r>
              <a:rPr lang="en-US" altLang="zh-CN" i="1" dirty="0">
                <a:latin typeface="Times New Roman" panose="02020603050405020304" pitchFamily="18" charset="0"/>
                <a:cs typeface="Times New Roman" panose="02020603050405020304" pitchFamily="18" charset="0"/>
              </a:rPr>
              <a:t>1</a:t>
            </a:r>
            <a:r>
              <a:rPr lang="zh-CN" altLang="en-US" i="1" dirty="0">
                <a:latin typeface="Times New Roman" panose="02020603050405020304" pitchFamily="18" charset="0"/>
                <a:cs typeface="Times New Roman" panose="02020603050405020304" pitchFamily="18" charset="0"/>
              </a:rPr>
              <a:t>的学生集合与选修课程</a:t>
            </a:r>
            <a:r>
              <a:rPr lang="en-US" altLang="zh-CN" i="1" dirty="0">
                <a:latin typeface="Times New Roman" panose="02020603050405020304" pitchFamily="18" charset="0"/>
                <a:cs typeface="Times New Roman" panose="02020603050405020304" pitchFamily="18" charset="0"/>
              </a:rPr>
              <a:t>2</a:t>
            </a:r>
            <a:r>
              <a:rPr lang="zh-CN" altLang="en-US" i="1" dirty="0">
                <a:latin typeface="Times New Roman" panose="02020603050405020304" pitchFamily="18" charset="0"/>
                <a:cs typeface="Times New Roman" panose="02020603050405020304" pitchFamily="18" charset="0"/>
              </a:rPr>
              <a:t>的学生集合的交集</a:t>
            </a:r>
            <a:endParaRPr lang="zh-CN" altLang="en-US" i="1"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buNone/>
            </a:pPr>
            <a:r>
              <a:rPr lang="en-US" altLang="zh-CN"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58079" y="2417018"/>
            <a:ext cx="5293042" cy="274175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1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INTERSECT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12‘</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实际上是查询既选修了课程</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又选修了课程</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的学生</a:t>
            </a:r>
            <a:endParaRPr lang="zh-CN" altLang="en-US"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28417" y="2477913"/>
            <a:ext cx="5293042" cy="23488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Sno</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1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Sno IN (SELECT Sno                                                 </a:t>
            </a:r>
            <a:r>
              <a:rPr lang="zh-CN" altLang="en-US" sz="2000" dirty="0">
                <a:latin typeface="Cambria Math" panose="02040503050406030204" pitchFamily="18" charset="0"/>
                <a:cs typeface="Times New Roman" panose="02020603050405020304" pitchFamily="18" charset="0"/>
              </a:rPr>
              <a:t>　 </a:t>
            </a:r>
            <a:endParaRPr lang="zh-CN" altLang="en-US" sz="2000" dirty="0">
              <a:latin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SC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2 ')</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3-61</a:t>
            </a:r>
            <a:r>
              <a:rPr lang="zh-CN" altLang="en-US" i="1" dirty="0">
                <a:latin typeface="Times New Roman" panose="02020603050405020304" pitchFamily="18" charset="0"/>
                <a:cs typeface="Times New Roman" panose="02020603050405020304" pitchFamily="18" charset="0"/>
              </a:rPr>
              <a:t>：查询计算机系</a:t>
            </a:r>
            <a:r>
              <a:rPr lang="en-US" altLang="zh-CN" i="1" dirty="0">
                <a:latin typeface="Times New Roman" panose="02020603050405020304" pitchFamily="18" charset="0"/>
                <a:cs typeface="Times New Roman" panose="02020603050405020304" pitchFamily="18" charset="0"/>
              </a:rPr>
              <a:t>(CS)</a:t>
            </a:r>
            <a:r>
              <a:rPr lang="zh-CN" altLang="en-US" i="1" dirty="0">
                <a:latin typeface="Times New Roman" panose="02020603050405020304" pitchFamily="18" charset="0"/>
                <a:cs typeface="Times New Roman" panose="02020603050405020304" pitchFamily="18" charset="0"/>
              </a:rPr>
              <a:t>的学生与年龄不大于</a:t>
            </a:r>
            <a:r>
              <a:rPr lang="en-US" altLang="zh-CN" i="1" dirty="0">
                <a:latin typeface="Times New Roman" panose="02020603050405020304" pitchFamily="18" charset="0"/>
                <a:cs typeface="Times New Roman" panose="02020603050405020304" pitchFamily="18" charset="0"/>
              </a:rPr>
              <a:t>19</a:t>
            </a:r>
            <a:r>
              <a:rPr lang="zh-CN" altLang="en-US" i="1" dirty="0">
                <a:latin typeface="Times New Roman" panose="02020603050405020304" pitchFamily="18" charset="0"/>
                <a:cs typeface="Times New Roman" panose="02020603050405020304" pitchFamily="18" charset="0"/>
              </a:rPr>
              <a:t>岁的学生的差集</a:t>
            </a:r>
            <a:endParaRPr lang="zh-CN" altLang="en-US" i="1" dirty="0">
              <a:latin typeface="Times New Roman" panose="02020603050405020304" pitchFamily="18" charset="0"/>
              <a:cs typeface="Times New Roman" panose="02020603050405020304" pitchFamily="18" charset="0"/>
            </a:endParaRPr>
          </a:p>
          <a:p>
            <a:pPr lvl="1">
              <a:buNone/>
            </a:pPr>
            <a:r>
              <a:rPr lang="zh-CN" altLang="en-US" dirty="0">
                <a:latin typeface="Times New Roman" panose="02020603050405020304" pitchFamily="18" charset="0"/>
                <a:cs typeface="Times New Roman" panose="02020603050405020304" pitchFamily="18" charset="0"/>
              </a:rPr>
              <a:t>    </a:t>
            </a:r>
            <a:endParaRPr kumimoji="1"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86214" y="2595643"/>
            <a:ext cx="5293042" cy="27500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EXCEPT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Sage &lt;=19;</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marL="636905" lvl="1" indent="-179705"/>
            <a:r>
              <a:rPr lang="zh-CN" altLang="en-US" dirty="0">
                <a:latin typeface="Times New Roman" panose="02020603050405020304" pitchFamily="18" charset="0"/>
                <a:cs typeface="Times New Roman" panose="02020603050405020304" pitchFamily="18" charset="0"/>
              </a:rPr>
              <a:t>实际上是查询计算机系</a:t>
            </a:r>
            <a:r>
              <a:rPr lang="en-US" altLang="zh-CN" dirty="0">
                <a:latin typeface="Times New Roman" panose="02020603050405020304" pitchFamily="18" charset="0"/>
                <a:cs typeface="Times New Roman" panose="02020603050405020304" pitchFamily="18" charset="0"/>
              </a:rPr>
              <a:t>(CS)</a:t>
            </a:r>
            <a:r>
              <a:rPr lang="zh-CN" altLang="en-US" dirty="0">
                <a:latin typeface="Times New Roman" panose="02020603050405020304" pitchFamily="18" charset="0"/>
                <a:cs typeface="Times New Roman" panose="02020603050405020304" pitchFamily="18" charset="0"/>
              </a:rPr>
              <a:t>中年龄大于</a:t>
            </a:r>
            <a:r>
              <a:rPr lang="en-US" altLang="zh-CN" dirty="0">
                <a:latin typeface="Times New Roman" panose="02020603050405020304" pitchFamily="18" charset="0"/>
                <a:cs typeface="Times New Roman" panose="02020603050405020304" pitchFamily="18" charset="0"/>
              </a:rPr>
              <a:t>19</a:t>
            </a:r>
            <a:r>
              <a:rPr lang="zh-CN" altLang="en-US" dirty="0">
                <a:latin typeface="Times New Roman" panose="02020603050405020304" pitchFamily="18" charset="0"/>
                <a:cs typeface="Times New Roman" panose="02020603050405020304" pitchFamily="18" charset="0"/>
              </a:rPr>
              <a:t>岁的学生</a:t>
            </a:r>
            <a:endParaRPr lang="zh-CN" altLang="en-US" dirty="0">
              <a:latin typeface="Times New Roman" panose="02020603050405020304" pitchFamily="18" charset="0"/>
              <a:cs typeface="Times New Roman" panose="02020603050405020304" pitchFamily="18" charset="0"/>
            </a:endParaRPr>
          </a:p>
          <a:p>
            <a:pPr marL="179705" indent="-179705">
              <a:buNone/>
            </a:pP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115875" y="2473049"/>
            <a:ext cx="5293042"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Sdept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'CS' AND  Sage&gt;19</a:t>
            </a:r>
            <a:r>
              <a:rPr lang="zh-CN" altLang="en-US" sz="2000" dirty="0">
                <a:latin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集合查询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3-62</a:t>
            </a:r>
            <a:r>
              <a:rPr lang="zh-CN" altLang="en-US" i="1"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查询至少选修了“CS－02”或“CS－04”课程的学生学号：</a:t>
            </a:r>
            <a:endParaRPr lang="en-US" altLang="en-US" i="1" dirty="0">
              <a:latin typeface="Times New Roman" panose="02020603050405020304" pitchFamily="18" charset="0"/>
              <a:cs typeface="Times New Roman" panose="02020603050405020304" pitchFamily="18" charset="0"/>
            </a:endParaRPr>
          </a:p>
          <a:p>
            <a:pPr lvl="1" algn="just">
              <a:lnSpc>
                <a:spcPct val="110000"/>
              </a:lnSpc>
              <a:buClr>
                <a:srgbClr val="FFFF00"/>
              </a:buClr>
              <a:buNone/>
            </a:pPr>
            <a:r>
              <a:rPr lang="en-US" altLang="zh-CN" dirty="0">
                <a:latin typeface="Times New Roman" panose="02020603050405020304" pitchFamily="18" charset="0"/>
                <a:cs typeface="Times New Roman" panose="02020603050405020304" pitchFamily="18" charset="0"/>
              </a:rPr>
              <a:t>  </a:t>
            </a:r>
            <a:endParaRPr kumimoji="1"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lang="en-US" altLang="zh-CN" dirty="0"/>
              <a:t>3.3 </a:t>
            </a:r>
            <a:r>
              <a:rPr kumimoji="1" lang="en-US" altLang="zh-CN" dirty="0"/>
              <a:t>SQL</a:t>
            </a:r>
            <a:r>
              <a:rPr kumimoji="1" lang="zh-CN" altLang="en-US" dirty="0"/>
              <a:t>数据查询语言</a:t>
            </a:r>
            <a:endParaRPr kumimoji="1" lang="zh-CN" altLang="en-US" dirty="0"/>
          </a:p>
        </p:txBody>
      </p:sp>
      <p:sp>
        <p:nvSpPr>
          <p:cNvPr id="6" name="文本框 5"/>
          <p:cNvSpPr txBox="1"/>
          <p:nvPr/>
        </p:nvSpPr>
        <p:spPr bwMode="auto">
          <a:xfrm>
            <a:off x="1200282" y="2602626"/>
            <a:ext cx="5293042" cy="27500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(SELECT  S#</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WHERE  C# ＝ ‘CS－02’)</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UNION</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(SELECT  S#</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WHERE  C#＝’CS－04’)</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en-US" altLang="zh-CN" dirty="0"/>
              <a:t>3.4</a:t>
            </a:r>
            <a:r>
              <a:rPr kumimoji="1" lang="zh-CN" altLang="en-US" dirty="0"/>
              <a:t> </a:t>
            </a:r>
            <a:r>
              <a:rPr kumimoji="1" lang="en-US" altLang="zh-CN" dirty="0"/>
              <a:t>SQL</a:t>
            </a:r>
            <a:r>
              <a:rPr kumimoji="1" lang="zh-CN" altLang="en-US" dirty="0"/>
              <a:t>数据操纵功能</a:t>
            </a:r>
            <a:endParaRPr kumimoji="1" lang="zh-CN" altLang="en-US" dirty="0"/>
          </a:p>
        </p:txBody>
      </p:sp>
      <p:sp>
        <p:nvSpPr>
          <p:cNvPr id="3" name="内容占位符 2"/>
          <p:cNvSpPr>
            <a:spLocks noGrp="1"/>
          </p:cNvSpPr>
          <p:nvPr>
            <p:ph idx="1"/>
          </p:nvPr>
        </p:nvSpPr>
        <p:spPr/>
        <p:txBody>
          <a:bodyPr/>
          <a:lstStyle/>
          <a:p>
            <a:pPr marL="457200" indent="-457200">
              <a:buFont typeface="Wingdings" panose="05000000000000000000" pitchFamily="2" charset="2"/>
              <a:buChar char="l"/>
            </a:pPr>
            <a:r>
              <a:rPr kumimoji="1" lang="zh-CN" altLang="en-US" dirty="0"/>
              <a:t>数据插入 </a:t>
            </a:r>
            <a:endParaRPr kumimoji="1" lang="zh-CN" altLang="en-US" dirty="0"/>
          </a:p>
          <a:p>
            <a:pPr marL="457200" indent="-457200">
              <a:buFont typeface="Wingdings" panose="05000000000000000000" pitchFamily="2" charset="2"/>
              <a:buChar char="l"/>
            </a:pPr>
            <a:r>
              <a:rPr kumimoji="1" lang="zh-CN" altLang="en-US" dirty="0"/>
              <a:t>数据删除 </a:t>
            </a:r>
            <a:endParaRPr kumimoji="1" lang="zh-CN" altLang="en-US" dirty="0"/>
          </a:p>
          <a:p>
            <a:pPr marL="457200" indent="-457200">
              <a:buFont typeface="Wingdings" panose="05000000000000000000" pitchFamily="2" charset="2"/>
              <a:buChar char="l"/>
            </a:pPr>
            <a:r>
              <a:rPr kumimoji="1" lang="zh-CN" altLang="en-US" dirty="0"/>
              <a:t>数据修改</a:t>
            </a:r>
            <a:endParaRPr kumimoji="1"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数据插入</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en-US" dirty="0" err="1">
                <a:latin typeface="Times New Roman" panose="02020603050405020304" pitchFamily="18" charset="0"/>
                <a:cs typeface="Times New Roman" panose="02020603050405020304" pitchFamily="18" charset="0"/>
              </a:rPr>
              <a:t>SQL的数据插入语句用于将记录加入到数据库表中，其常用形式包括单记录插入和子查询结果插入两种</a:t>
            </a:r>
            <a:endParaRPr lang="en-US"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单记录插入的语法格式如下，</a:t>
            </a:r>
            <a:r>
              <a:rPr lang="en-US" altLang="zh-CN" dirty="0">
                <a:latin typeface="Times New Roman" panose="02020603050405020304" pitchFamily="18" charset="0"/>
                <a:cs typeface="Times New Roman" panose="02020603050405020304" pitchFamily="18" charset="0"/>
              </a:rPr>
              <a:t>INSERT</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用于表示记录添加的保留字</a:t>
            </a:r>
            <a:endParaRPr lang="zh-CN" altLang="en-US" dirty="0">
              <a:latin typeface="Times New Roman" panose="02020603050405020304" pitchFamily="18" charset="0"/>
              <a:cs typeface="Times New Roman" panose="02020603050405020304" pitchFamily="18" charset="0"/>
            </a:endParaRPr>
          </a:p>
          <a:p>
            <a:pPr marL="990600" lvl="1" indent="-533400">
              <a:lnSpc>
                <a:spcPct val="150000"/>
              </a:lnSpc>
              <a:buNone/>
            </a:pPr>
            <a:r>
              <a:rPr lang="en-US" altLang="zh-CN" dirty="0">
                <a:latin typeface="Times New Roman" panose="02020603050405020304" pitchFamily="18" charset="0"/>
                <a:cs typeface="Times New Roman" panose="02020603050405020304" pitchFamily="18" charset="0"/>
              </a:rPr>
              <a:t>    INSERT  INTO  &lt;</a:t>
            </a:r>
            <a:r>
              <a:rPr lang="zh-CN" altLang="en-US" dirty="0">
                <a:latin typeface="Times New Roman" panose="02020603050405020304" pitchFamily="18" charset="0"/>
                <a:cs typeface="Times New Roman" panose="02020603050405020304" pitchFamily="18" charset="0"/>
              </a:rPr>
              <a:t>表名</a:t>
            </a:r>
            <a:r>
              <a:rPr lang="en-US" altLang="zh-CN" dirty="0">
                <a:latin typeface="Times New Roman" panose="02020603050405020304" pitchFamily="18" charset="0"/>
                <a:cs typeface="Times New Roman" panose="02020603050405020304" pitchFamily="18" charset="0"/>
              </a:rPr>
              <a:t>&gt; [(</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buNone/>
            </a:pPr>
            <a:r>
              <a:rPr lang="en-US" altLang="zh-CN" dirty="0">
                <a:latin typeface="Times New Roman" panose="02020603050405020304" pitchFamily="18" charset="0"/>
                <a:cs typeface="Times New Roman" panose="02020603050405020304" pitchFamily="18" charset="0"/>
              </a:rPr>
              <a:t>    VALUES  (</a:t>
            </a:r>
            <a:r>
              <a:rPr lang="zh-CN" altLang="en-US" dirty="0">
                <a:latin typeface="Times New Roman" panose="02020603050405020304" pitchFamily="18" charset="0"/>
                <a:cs typeface="Times New Roman" panose="02020603050405020304" pitchFamily="18" charset="0"/>
              </a:rPr>
              <a:t>列值，</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列值</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nSpc>
                <a:spcPct val="150000"/>
              </a:lnSpc>
            </a:pPr>
            <a:endParaRPr kumimoji="1"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数据插入</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3-63</a:t>
            </a:r>
            <a:r>
              <a:rPr lang="zh-CN" altLang="en-US" i="1" dirty="0">
                <a:latin typeface="Times New Roman" panose="02020603050405020304" pitchFamily="18" charset="0"/>
                <a:cs typeface="Times New Roman" panose="02020603050405020304" pitchFamily="18" charset="0"/>
              </a:rPr>
              <a:t>：将数据库课程加入到</a:t>
            </a:r>
            <a:r>
              <a:rPr lang="en-US" altLang="zh-CN" i="1" dirty="0">
                <a:latin typeface="Times New Roman" panose="02020603050405020304" pitchFamily="18" charset="0"/>
                <a:cs typeface="Times New Roman" panose="02020603050405020304" pitchFamily="18" charset="0"/>
              </a:rPr>
              <a:t>Course</a:t>
            </a:r>
            <a:r>
              <a:rPr lang="zh-CN" altLang="en-US" i="1" dirty="0">
                <a:latin typeface="Times New Roman" panose="02020603050405020304" pitchFamily="18" charset="0"/>
                <a:cs typeface="Times New Roman" panose="02020603050405020304" pitchFamily="18" charset="0"/>
              </a:rPr>
              <a:t>表中：</a:t>
            </a:r>
            <a:endParaRPr lang="en-US" altLang="zh-CN" i="1" dirty="0">
              <a:latin typeface="Times New Roman" panose="02020603050405020304" pitchFamily="18" charset="0"/>
              <a:cs typeface="Times New Roman" panose="02020603050405020304" pitchFamily="18" charset="0"/>
            </a:endParaRPr>
          </a:p>
          <a:p>
            <a:pPr marL="357505" indent="-357505">
              <a:lnSpc>
                <a:spcPct val="15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357505" indent="-357505">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357505" indent="-357505">
              <a:lnSpc>
                <a:spcPct val="150000"/>
              </a:lnSpc>
              <a:buNone/>
            </a:pPr>
            <a:endParaRPr lang="en-US" altLang="zh-CN" sz="800" b="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3-64</a:t>
            </a:r>
            <a:r>
              <a:rPr lang="zh-CN" altLang="en-US" i="1" dirty="0">
                <a:latin typeface="Times New Roman" panose="02020603050405020304" pitchFamily="18" charset="0"/>
                <a:cs typeface="Times New Roman" panose="02020603050405020304" pitchFamily="18" charset="0"/>
              </a:rPr>
              <a:t>：在</a:t>
            </a:r>
            <a:r>
              <a:rPr lang="en-US" altLang="zh-CN" i="1" dirty="0">
                <a:latin typeface="Times New Roman" panose="02020603050405020304" pitchFamily="18" charset="0"/>
                <a:cs typeface="Times New Roman" panose="02020603050405020304" pitchFamily="18" charset="0"/>
              </a:rPr>
              <a:t>SC</a:t>
            </a:r>
            <a:r>
              <a:rPr lang="zh-CN" altLang="en-US" i="1" dirty="0">
                <a:latin typeface="Times New Roman" panose="02020603050405020304" pitchFamily="18" charset="0"/>
                <a:cs typeface="Times New Roman" panose="02020603050405020304" pitchFamily="18" charset="0"/>
              </a:rPr>
              <a:t>表中增加记录</a:t>
            </a:r>
            <a:r>
              <a:rPr lang="en-US" altLang="zh-CN" i="1" dirty="0">
                <a:latin typeface="Times New Roman" panose="02020603050405020304" pitchFamily="18" charset="0"/>
                <a:cs typeface="Times New Roman" panose="02020603050405020304" pitchFamily="18" charset="0"/>
              </a:rPr>
              <a:t>(‘01055123’,</a:t>
            </a:r>
            <a:r>
              <a:rPr lang="zh-CN" altLang="en-US" i="1"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CS</a:t>
            </a:r>
            <a:r>
              <a:rPr lang="zh-CN" altLang="en-US" i="1"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06’)</a:t>
            </a:r>
            <a:r>
              <a:rPr lang="zh-CN" altLang="en-US" i="1" dirty="0">
                <a:latin typeface="Times New Roman" panose="02020603050405020304" pitchFamily="18" charset="0"/>
                <a:cs typeface="Times New Roman" panose="02020603050405020304" pitchFamily="18" charset="0"/>
              </a:rPr>
              <a:t>，成绩暂缺：</a:t>
            </a:r>
            <a:endParaRPr lang="zh-CN" altLang="en-US" i="1" dirty="0">
              <a:latin typeface="Times New Roman" panose="02020603050405020304" pitchFamily="18" charset="0"/>
              <a:cs typeface="Times New Roman" panose="02020603050405020304" pitchFamily="18" charset="0"/>
            </a:endParaRPr>
          </a:p>
          <a:p>
            <a:pPr marL="357505" indent="-357505">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357505" indent="-357505">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50000"/>
              </a:lnSpc>
            </a:pPr>
            <a:endParaRPr kumimoji="1" lang="zh-CN" altLang="en-US"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
        <p:nvSpPr>
          <p:cNvPr id="6" name="文本框 5"/>
          <p:cNvSpPr txBox="1"/>
          <p:nvPr/>
        </p:nvSpPr>
        <p:spPr bwMode="auto">
          <a:xfrm>
            <a:off x="1107753" y="2673797"/>
            <a:ext cx="6123041"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INSERT  INTO  Course (C#</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Teacher)</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VALUES  (‘CS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06’,‘</a:t>
            </a:r>
            <a:r>
              <a:rPr lang="zh-CN" altLang="en-US" sz="2000" dirty="0">
                <a:latin typeface="Cambria Math" panose="02040503050406030204" pitchFamily="18" charset="0"/>
                <a:cs typeface="Times New Roman" panose="02020603050405020304" pitchFamily="18" charset="0"/>
              </a:rPr>
              <a:t>数据库系统原理’</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’李华’</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07752" y="4924039"/>
            <a:ext cx="6123041"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INSERT  INTO  SC(S#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VALUES  (‘01055123’,</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06’)</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数据插入</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SQL3</a:t>
            </a:r>
            <a:r>
              <a:rPr lang="zh-CN" altLang="en-US" dirty="0">
                <a:latin typeface="Times New Roman" panose="02020603050405020304" pitchFamily="18" charset="0"/>
                <a:cs typeface="Times New Roman" panose="02020603050405020304" pitchFamily="18" charset="0"/>
              </a:rPr>
              <a:t>允许采用上述的单记录插入方式一次向表中插入多个记录，其形式如下：</a:t>
            </a:r>
            <a:endParaRPr lang="en-US" altLang="zh-CN" dirty="0">
              <a:latin typeface="Times New Roman" panose="02020603050405020304" pitchFamily="18" charset="0"/>
              <a:cs typeface="Times New Roman" panose="02020603050405020304" pitchFamily="18" charset="0"/>
            </a:endParaRPr>
          </a:p>
          <a:p>
            <a:pPr marL="533400" indent="-533400">
              <a:lnSpc>
                <a:spcPct val="15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INSERT  INTO  &lt;</a:t>
            </a:r>
            <a:r>
              <a:rPr lang="zh-CN" altLang="en-US" sz="2400" b="0" dirty="0">
                <a:latin typeface="Times New Roman" panose="02020603050405020304" pitchFamily="18" charset="0"/>
                <a:cs typeface="Times New Roman" panose="02020603050405020304" pitchFamily="18" charset="0"/>
              </a:rPr>
              <a:t>表名</a:t>
            </a:r>
            <a:r>
              <a:rPr lang="en-US" altLang="zh-CN" sz="2400" b="0" dirty="0">
                <a:latin typeface="Times New Roman" panose="02020603050405020304" pitchFamily="18" charset="0"/>
                <a:cs typeface="Times New Roman" panose="02020603050405020304" pitchFamily="18" charset="0"/>
              </a:rPr>
              <a:t>&gt; [(</a:t>
            </a:r>
            <a:r>
              <a:rPr lang="zh-CN" altLang="en-US" sz="2400" b="0" dirty="0">
                <a:latin typeface="Times New Roman" panose="02020603050405020304" pitchFamily="18" charset="0"/>
                <a:cs typeface="Times New Roman" panose="02020603050405020304" pitchFamily="18" charset="0"/>
              </a:rPr>
              <a:t>列名，</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列名</a:t>
            </a:r>
            <a:r>
              <a:rPr lang="en-US" altLang="zh-CN"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533400" indent="-533400">
              <a:lnSpc>
                <a:spcPct val="150000"/>
              </a:lnSpc>
              <a:buNone/>
            </a:pPr>
            <a:r>
              <a:rPr lang="en-US" altLang="zh-CN" sz="2400" b="0" dirty="0">
                <a:latin typeface="Times New Roman" panose="02020603050405020304" pitchFamily="18" charset="0"/>
                <a:cs typeface="Times New Roman" panose="02020603050405020304" pitchFamily="18" charset="0"/>
              </a:rPr>
              <a:t>    		VALUES  (</a:t>
            </a:r>
            <a:r>
              <a:rPr lang="zh-CN" altLang="en-US" sz="2400" b="0" dirty="0">
                <a:latin typeface="Times New Roman" panose="02020603050405020304" pitchFamily="18" charset="0"/>
                <a:cs typeface="Times New Roman" panose="02020603050405020304" pitchFamily="18" charset="0"/>
              </a:rPr>
              <a:t>列值，</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列值</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列值，</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列值</a:t>
            </a: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533400" indent="-533400">
              <a:lnSpc>
                <a:spcPct val="150000"/>
              </a:lnSpc>
              <a:buNone/>
            </a:pPr>
            <a:endParaRPr lang="en-US" altLang="zh-CN" sz="900" b="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另一种多记录插入的方式是子查询结果插入，即将某个表中的若干个记录按照一定的查询条件作为一个查询的结果集插入到另一个表中，形式如下：</a:t>
            </a:r>
            <a:endParaRPr lang="zh-CN" altLang="en-US" dirty="0">
              <a:latin typeface="Times New Roman" panose="02020603050405020304" pitchFamily="18" charset="0"/>
              <a:cs typeface="Times New Roman" panose="02020603050405020304" pitchFamily="18" charset="0"/>
            </a:endParaRPr>
          </a:p>
          <a:p>
            <a:pPr marL="990600" lvl="1" indent="-533400">
              <a:lnSpc>
                <a:spcPct val="150000"/>
              </a:lnSpc>
              <a:buNone/>
            </a:pPr>
            <a:r>
              <a:rPr lang="en-US" altLang="zh-CN" b="0" dirty="0">
                <a:latin typeface="Times New Roman" panose="02020603050405020304" pitchFamily="18" charset="0"/>
                <a:cs typeface="Times New Roman" panose="02020603050405020304" pitchFamily="18" charset="0"/>
              </a:rPr>
              <a:t>    INSERT  INTO  &lt;</a:t>
            </a:r>
            <a:r>
              <a:rPr lang="zh-CN" altLang="en-US" b="0" dirty="0">
                <a:latin typeface="Times New Roman" panose="02020603050405020304" pitchFamily="18" charset="0"/>
                <a:cs typeface="Times New Roman" panose="02020603050405020304" pitchFamily="18" charset="0"/>
              </a:rPr>
              <a:t>表名</a:t>
            </a:r>
            <a:r>
              <a:rPr lang="en-US" altLang="zh-CN" b="0" dirty="0">
                <a:latin typeface="Times New Roman" panose="02020603050405020304" pitchFamily="18" charset="0"/>
                <a:cs typeface="Times New Roman" panose="02020603050405020304" pitchFamily="18" charset="0"/>
              </a:rPr>
              <a:t>&gt; [(</a:t>
            </a:r>
            <a:r>
              <a:rPr lang="zh-CN" altLang="en-US" b="0" dirty="0">
                <a:latin typeface="Times New Roman" panose="02020603050405020304" pitchFamily="18" charset="0"/>
                <a:cs typeface="Times New Roman" panose="02020603050405020304" pitchFamily="18" charset="0"/>
              </a:rPr>
              <a:t>列名，</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列名</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marL="990600" lvl="1" indent="-533400">
              <a:lnSpc>
                <a:spcPct val="150000"/>
              </a:lnSpc>
              <a:buNone/>
            </a:pPr>
            <a:r>
              <a:rPr lang="en-US" altLang="zh-CN" b="0" dirty="0">
                <a:latin typeface="Times New Roman" panose="02020603050405020304" pitchFamily="18" charset="0"/>
                <a:cs typeface="Times New Roman" panose="02020603050405020304" pitchFamily="18" charset="0"/>
              </a:rPr>
              <a:t>    &lt;</a:t>
            </a:r>
            <a:r>
              <a:rPr lang="zh-CN" altLang="en-US" b="0" dirty="0">
                <a:latin typeface="Times New Roman" panose="02020603050405020304" pitchFamily="18" charset="0"/>
                <a:cs typeface="Times New Roman" panose="02020603050405020304" pitchFamily="18" charset="0"/>
              </a:rPr>
              <a:t>子查询</a:t>
            </a:r>
            <a:r>
              <a:rPr lang="en-US" altLang="zh-CN" b="0" dirty="0">
                <a:latin typeface="Times New Roman" panose="02020603050405020304" pitchFamily="18" charset="0"/>
                <a:cs typeface="Times New Roman" panose="02020603050405020304" pitchFamily="18" charset="0"/>
              </a:rPr>
              <a:t>&gt;</a:t>
            </a:r>
            <a:endParaRPr lang="zh-CN" altLang="en-US"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数据插入</a:t>
            </a:r>
            <a:endParaRPr kumimoji="1" lang="en-US" altLang="zh-CN" sz="2600" dirty="0">
              <a:latin typeface="Times New Roman" panose="02020603050405020304" pitchFamily="18" charset="0"/>
              <a:cs typeface="Times New Roman" panose="02020603050405020304" pitchFamily="18" charset="0"/>
            </a:endParaRPr>
          </a:p>
          <a:p>
            <a:pPr lvl="1" algn="l"/>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3-64</a:t>
            </a:r>
            <a:r>
              <a:rPr lang="zh-CN" altLang="en-US" i="1"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 将平均成绩高于80分的男生学号及平均成绩存入表S_Grade(S#，</a:t>
            </a:r>
            <a:r>
              <a:rPr lang="en-US" altLang="en-US" i="1" dirty="0" err="1">
                <a:latin typeface="Times New Roman" panose="02020603050405020304" pitchFamily="18" charset="0"/>
                <a:cs typeface="Times New Roman" panose="02020603050405020304" pitchFamily="18" charset="0"/>
              </a:rPr>
              <a:t>Avg_Grade</a:t>
            </a:r>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中，其中S#表示学号，Avg_Grade表示平均成绩</a:t>
            </a:r>
            <a:r>
              <a:rPr lang="en-US" altLang="en-US" i="1" dirty="0">
                <a:latin typeface="Times New Roman" panose="02020603050405020304" pitchFamily="18" charset="0"/>
                <a:cs typeface="Times New Roman" panose="02020603050405020304" pitchFamily="18" charset="0"/>
              </a:rPr>
              <a:t>：</a:t>
            </a:r>
            <a:endParaRPr lang="en-US" altLang="en-US" i="1" dirty="0">
              <a:latin typeface="Times New Roman" panose="02020603050405020304" pitchFamily="18" charset="0"/>
              <a:cs typeface="Times New Roman" panose="02020603050405020304" pitchFamily="18" charset="0"/>
            </a:endParaRPr>
          </a:p>
          <a:p>
            <a:pPr lvl="1"/>
            <a:endParaRPr lang="en-US" altLang="zh-CN" sz="800" dirty="0">
              <a:latin typeface="Times New Roman" panose="02020603050405020304" pitchFamily="18" charset="0"/>
              <a:cs typeface="Times New Roman" panose="02020603050405020304" pitchFamily="18" charset="0"/>
            </a:endParaRPr>
          </a:p>
          <a:p>
            <a:pPr marL="900430" lvl="1" indent="-443230">
              <a:lnSpc>
                <a:spcPct val="80000"/>
              </a:lnSpc>
              <a:buNone/>
            </a:pPr>
            <a:r>
              <a:rPr lang="en-US" altLang="zh-CN" b="0" dirty="0">
                <a:latin typeface="Times New Roman" panose="02020603050405020304" pitchFamily="18" charset="0"/>
                <a:cs typeface="Times New Roman" panose="02020603050405020304" pitchFamily="18" charset="0"/>
              </a:rPr>
              <a:t>    </a:t>
            </a:r>
            <a:r>
              <a:rPr lang="en-US" altLang="en-US" b="0" dirty="0">
                <a:latin typeface="Times New Roman" panose="02020603050405020304" pitchFamily="18" charset="0"/>
                <a:cs typeface="Times New Roman" panose="02020603050405020304" pitchFamily="18" charset="0"/>
              </a:rPr>
              <a:t> </a:t>
            </a:r>
            <a:endParaRPr lang="en-US" altLang="en-US" b="0" dirty="0">
              <a:latin typeface="Times New Roman" panose="02020603050405020304" pitchFamily="18" charset="0"/>
              <a:cs typeface="Times New Roman" panose="02020603050405020304" pitchFamily="18" charset="0"/>
            </a:endParaRPr>
          </a:p>
          <a:p>
            <a:pPr marL="900430" lvl="1" indent="-443230">
              <a:lnSpc>
                <a:spcPct val="80000"/>
              </a:lnSpc>
              <a:buNone/>
            </a:pPr>
            <a:r>
              <a:rPr lang="en-US" altLang="zh-CN" b="0" dirty="0">
                <a:latin typeface="Times New Roman" panose="02020603050405020304" pitchFamily="18" charset="0"/>
                <a:cs typeface="Times New Roman" panose="02020603050405020304" pitchFamily="18" charset="0"/>
              </a:rPr>
              <a:t>    </a:t>
            </a:r>
            <a:endParaRPr lang="en-US" altLang="en-US"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
        <p:nvSpPr>
          <p:cNvPr id="6" name="文本框 5"/>
          <p:cNvSpPr txBox="1"/>
          <p:nvPr/>
        </p:nvSpPr>
        <p:spPr bwMode="auto">
          <a:xfrm>
            <a:off x="1135887" y="2826620"/>
            <a:ext cx="6123041" cy="35297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INSERT  INTO  </a:t>
            </a:r>
            <a:r>
              <a:rPr lang="en-US" altLang="en-US" sz="2000" dirty="0" err="1">
                <a:latin typeface="Cambria Math" panose="02040503050406030204" pitchFamily="18" charset="0"/>
                <a:ea typeface="Cambria Math" panose="02040503050406030204" pitchFamily="18" charset="0"/>
                <a:cs typeface="Times New Roman" panose="02020603050405020304" pitchFamily="18" charset="0"/>
              </a:rPr>
              <a:t>S_Grade</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(S#，</a:t>
            </a:r>
            <a:r>
              <a:rPr lang="en-US" altLang="en-US" sz="2000" dirty="0" err="1">
                <a:latin typeface="Cambria Math" panose="02040503050406030204" pitchFamily="18" charset="0"/>
                <a:ea typeface="Cambria Math" panose="02040503050406030204" pitchFamily="18" charset="0"/>
                <a:cs typeface="Times New Roman" panose="02020603050405020304" pitchFamily="18" charset="0"/>
              </a:rPr>
              <a:t>Avg_Grade</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SELECT  S#，AVG(Grade)</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WHERE  S#  IN</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(SELECT   S#</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 WHERE   SEX=’</a:t>
            </a:r>
            <a:r>
              <a:rPr lang="en-US" altLang="en-US" sz="2000" dirty="0" err="1">
                <a:latin typeface="Cambria Math" panose="02040503050406030204" pitchFamily="18" charset="0"/>
                <a:ea typeface="Cambria Math" panose="02040503050406030204" pitchFamily="18" charset="0"/>
                <a:cs typeface="Times New Roman" panose="02020603050405020304" pitchFamily="18" charset="0"/>
              </a:rPr>
              <a:t>男</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GROUP   BY S#</a:t>
            </a:r>
            <a:endParaRPr lang="en-US" alt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en-US" altLang="en-US" sz="2000" dirty="0">
                <a:latin typeface="Cambria Math" panose="02040503050406030204" pitchFamily="18" charset="0"/>
                <a:ea typeface="Cambria Math" panose="02040503050406030204" pitchFamily="18" charset="0"/>
                <a:cs typeface="Times New Roman" panose="02020603050405020304" pitchFamily="18" charset="0"/>
              </a:rPr>
              <a:t> HAVING   AVG(Grade) &gt;80</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数据删除</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的数据删除语句可以将表中的部分或全部记录清除，语法格式如下：</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buClr>
                <a:srgbClr val="E40000"/>
              </a:buClr>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DELETE   FROM  &lt;</a:t>
            </a:r>
            <a:r>
              <a:rPr lang="zh-CN" altLang="en-US" dirty="0">
                <a:latin typeface="Times New Roman" panose="02020603050405020304" pitchFamily="18" charset="0"/>
                <a:cs typeface="Times New Roman" panose="02020603050405020304" pitchFamily="18" charset="0"/>
              </a:rPr>
              <a:t>表名</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buClr>
                <a:srgbClr val="E40000"/>
              </a:buClr>
              <a:buNone/>
            </a:pPr>
            <a:r>
              <a:rPr lang="en-US" altLang="zh-CN" dirty="0">
                <a:latin typeface="Times New Roman" panose="02020603050405020304" pitchFamily="18" charset="0"/>
                <a:cs typeface="Times New Roman" panose="02020603050405020304" pitchFamily="18" charset="0"/>
              </a:rPr>
              <a:t>     [WHERE </a:t>
            </a:r>
            <a:r>
              <a:rPr lang="zh-CN" altLang="en-US" dirty="0">
                <a:latin typeface="Times New Roman" panose="02020603050405020304" pitchFamily="18" charset="0"/>
                <a:cs typeface="Times New Roman" panose="02020603050405020304" pitchFamily="18" charset="0"/>
              </a:rPr>
              <a:t>条件表达式</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buClr>
                <a:srgbClr val="E40000"/>
              </a:buClr>
              <a:buNone/>
            </a:pPr>
            <a:endParaRPr lang="en-US" altLang="zh-CN" sz="8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如果该语句指定</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条件，则只有满足条件的那些记录才会被删除，条件可以是简单的算术比较表达式，也可以是带有子查询的复杂形式</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数据删除</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3-65</a:t>
            </a:r>
            <a:r>
              <a:rPr lang="zh-CN" altLang="en-US" i="1" dirty="0">
                <a:latin typeface="Times New Roman" panose="02020603050405020304" pitchFamily="18" charset="0"/>
                <a:cs typeface="Times New Roman" panose="02020603050405020304" pitchFamily="18" charset="0"/>
              </a:rPr>
              <a:t>：删除课程表</a:t>
            </a:r>
            <a:r>
              <a:rPr lang="en-US" altLang="zh-CN" i="1" dirty="0">
                <a:latin typeface="Times New Roman" panose="02020603050405020304" pitchFamily="18" charset="0"/>
                <a:cs typeface="Times New Roman" panose="02020603050405020304" pitchFamily="18" charset="0"/>
              </a:rPr>
              <a:t>Course</a:t>
            </a:r>
            <a:r>
              <a:rPr lang="zh-CN" altLang="en-US" i="1" dirty="0">
                <a:latin typeface="Times New Roman" panose="02020603050405020304" pitchFamily="18" charset="0"/>
                <a:cs typeface="Times New Roman" panose="02020603050405020304" pitchFamily="18" charset="0"/>
              </a:rPr>
              <a:t>中的全部记录：</a:t>
            </a:r>
            <a:endParaRPr lang="en-US" altLang="zh-CN" i="1" dirty="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457200" lvl="1" indent="0">
              <a:lnSpc>
                <a:spcPct val="150000"/>
              </a:lnSpc>
              <a:buNone/>
            </a:pP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3-66</a:t>
            </a:r>
            <a:r>
              <a:rPr lang="zh-CN" altLang="en-US" i="1" dirty="0">
                <a:latin typeface="Times New Roman" panose="02020603050405020304" pitchFamily="18" charset="0"/>
                <a:cs typeface="Times New Roman" panose="02020603050405020304" pitchFamily="18" charset="0"/>
              </a:rPr>
              <a:t>：删除</a:t>
            </a:r>
            <a:r>
              <a:rPr lang="en-US" altLang="zh-CN" i="1" dirty="0">
                <a:latin typeface="Times New Roman" panose="02020603050405020304" pitchFamily="18" charset="0"/>
                <a:cs typeface="Times New Roman" panose="02020603050405020304" pitchFamily="18" charset="0"/>
              </a:rPr>
              <a:t>Student</a:t>
            </a:r>
            <a:r>
              <a:rPr lang="zh-CN" altLang="en-US" i="1" dirty="0">
                <a:latin typeface="Times New Roman" panose="02020603050405020304" pitchFamily="18" charset="0"/>
                <a:cs typeface="Times New Roman" panose="02020603050405020304" pitchFamily="18" charset="0"/>
              </a:rPr>
              <a:t>表中学号为’</a:t>
            </a:r>
            <a:r>
              <a:rPr lang="en-US" altLang="zh-CN" i="1" dirty="0">
                <a:latin typeface="Times New Roman" panose="02020603050405020304" pitchFamily="18" charset="0"/>
                <a:cs typeface="Times New Roman" panose="02020603050405020304" pitchFamily="18" charset="0"/>
              </a:rPr>
              <a:t>01055123’</a:t>
            </a:r>
            <a:r>
              <a:rPr lang="zh-CN" altLang="en-US" i="1" dirty="0">
                <a:latin typeface="Times New Roman" panose="02020603050405020304" pitchFamily="18" charset="0"/>
                <a:cs typeface="Times New Roman" panose="02020603050405020304" pitchFamily="18" charset="0"/>
              </a:rPr>
              <a:t>的学生记录：</a:t>
            </a:r>
            <a:endParaRPr lang="zh-CN" altLang="en-US" i="1" dirty="0">
              <a:latin typeface="Times New Roman" panose="02020603050405020304" pitchFamily="18" charset="0"/>
              <a:cs typeface="Times New Roman" panose="02020603050405020304" pitchFamily="18" charset="0"/>
            </a:endParaRPr>
          </a:p>
          <a:p>
            <a:pPr marL="358775" indent="-358775">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358775" indent="-358775">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
        <p:nvSpPr>
          <p:cNvPr id="6" name="文本框 5"/>
          <p:cNvSpPr txBox="1"/>
          <p:nvPr/>
        </p:nvSpPr>
        <p:spPr bwMode="auto">
          <a:xfrm>
            <a:off x="1164022" y="2586253"/>
            <a:ext cx="6123041" cy="40913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DELETE   FROM  Course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64022" y="4489847"/>
            <a:ext cx="6123041"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DELETE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01055123’</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数据删除</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3-67</a:t>
            </a:r>
            <a:r>
              <a:rPr lang="zh-CN" altLang="en-US" i="1" dirty="0">
                <a:latin typeface="Times New Roman" panose="02020603050405020304" pitchFamily="18" charset="0"/>
                <a:cs typeface="Times New Roman" panose="02020603050405020304" pitchFamily="18" charset="0"/>
              </a:rPr>
              <a:t>：将“</a:t>
            </a:r>
            <a:r>
              <a:rPr lang="en-US" altLang="zh-CN" i="1" dirty="0">
                <a:latin typeface="Times New Roman" panose="02020603050405020304" pitchFamily="18" charset="0"/>
                <a:cs typeface="Times New Roman" panose="02020603050405020304" pitchFamily="18" charset="0"/>
              </a:rPr>
              <a:t>C</a:t>
            </a:r>
            <a:r>
              <a:rPr lang="zh-CN" altLang="en-US" i="1" dirty="0">
                <a:latin typeface="Times New Roman" panose="02020603050405020304" pitchFamily="18" charset="0"/>
                <a:cs typeface="Times New Roman" panose="02020603050405020304" pitchFamily="18" charset="0"/>
              </a:rPr>
              <a:t>语言”课程成绩不存在的记录删除：</a:t>
            </a:r>
            <a:endParaRPr lang="zh-CN" altLang="en-US" i="1"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sz="2000"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
        <p:nvSpPr>
          <p:cNvPr id="6" name="文本框 5"/>
          <p:cNvSpPr txBox="1"/>
          <p:nvPr/>
        </p:nvSpPr>
        <p:spPr bwMode="auto">
          <a:xfrm>
            <a:off x="1206225" y="2491981"/>
            <a:ext cx="6123041" cy="23488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DELETE   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(Grade  IS  NULL)</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AND  C#  IN</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Course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Cname</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a:t>
            </a:r>
            <a:r>
              <a:rPr lang="zh-CN" altLang="en-US" sz="2000" dirty="0">
                <a:latin typeface="Cambria Math" panose="02040503050406030204" pitchFamily="18" charset="0"/>
                <a:cs typeface="Times New Roman" panose="02020603050405020304" pitchFamily="18" charset="0"/>
              </a:rPr>
              <a:t>语言’</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数据修改</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的数据修改语句用于更新表中已有记录在不同列上的取值，语法格式如下：</a:t>
            </a:r>
            <a:endParaRPr lang="zh-CN" altLang="en-US" dirty="0">
              <a:latin typeface="Times New Roman" panose="02020603050405020304" pitchFamily="18" charset="0"/>
              <a:cs typeface="Times New Roman" panose="02020603050405020304" pitchFamily="18" charset="0"/>
            </a:endParaRPr>
          </a:p>
          <a:p>
            <a:pPr marL="990600" lvl="1" indent="-533400">
              <a:lnSpc>
                <a:spcPct val="190000"/>
              </a:lnSpc>
              <a:buClr>
                <a:schemeClr val="tx1"/>
              </a:buClr>
              <a:buNone/>
            </a:pPr>
            <a:r>
              <a:rPr lang="en-US" altLang="zh-CN" sz="2000"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UPDATE   &lt;</a:t>
            </a:r>
            <a:r>
              <a:rPr lang="zh-CN" altLang="en-US" b="0" dirty="0">
                <a:latin typeface="Times New Roman" panose="02020603050405020304" pitchFamily="18" charset="0"/>
                <a:cs typeface="Times New Roman" panose="02020603050405020304" pitchFamily="18" charset="0"/>
              </a:rPr>
              <a:t>表名</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marL="990600" lvl="1" indent="-533400">
              <a:lnSpc>
                <a:spcPct val="190000"/>
              </a:lnSpc>
              <a:buClr>
                <a:schemeClr val="tx1"/>
              </a:buClr>
              <a:buNone/>
            </a:pPr>
            <a:r>
              <a:rPr lang="en-US" altLang="zh-CN" b="0" dirty="0">
                <a:latin typeface="Times New Roman" panose="02020603050405020304" pitchFamily="18" charset="0"/>
                <a:cs typeface="Times New Roman" panose="02020603050405020304" pitchFamily="18" charset="0"/>
              </a:rPr>
              <a:t>	SET  &lt;</a:t>
            </a:r>
            <a:r>
              <a:rPr lang="zh-CN" altLang="en-US" b="0" dirty="0">
                <a:latin typeface="Times New Roman" panose="02020603050405020304" pitchFamily="18" charset="0"/>
                <a:cs typeface="Times New Roman" panose="02020603050405020304" pitchFamily="18" charset="0"/>
              </a:rPr>
              <a:t>列名</a:t>
            </a:r>
            <a:r>
              <a:rPr lang="en-US" altLang="zh-CN" b="0" dirty="0">
                <a:latin typeface="Times New Roman" panose="02020603050405020304" pitchFamily="18" charset="0"/>
                <a:cs typeface="Times New Roman" panose="02020603050405020304" pitchFamily="18" charset="0"/>
              </a:rPr>
              <a:t>&gt;</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&lt;</a:t>
            </a:r>
            <a:r>
              <a:rPr lang="zh-CN" altLang="en-US" b="0" dirty="0">
                <a:latin typeface="Times New Roman" panose="02020603050405020304" pitchFamily="18" charset="0"/>
                <a:cs typeface="Times New Roman" panose="02020603050405020304" pitchFamily="18" charset="0"/>
              </a:rPr>
              <a:t>列值表达式</a:t>
            </a:r>
            <a:r>
              <a:rPr lang="en-US" altLang="zh-CN" b="0" dirty="0">
                <a:latin typeface="Times New Roman" panose="02020603050405020304" pitchFamily="18" charset="0"/>
                <a:cs typeface="Times New Roman" panose="02020603050405020304" pitchFamily="18" charset="0"/>
              </a:rPr>
              <a:t>&gt;[</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&lt;</a:t>
            </a:r>
            <a:r>
              <a:rPr lang="zh-CN" altLang="en-US" b="0" dirty="0">
                <a:latin typeface="Times New Roman" panose="02020603050405020304" pitchFamily="18" charset="0"/>
                <a:cs typeface="Times New Roman" panose="02020603050405020304" pitchFamily="18" charset="0"/>
              </a:rPr>
              <a:t>列名</a:t>
            </a:r>
            <a:r>
              <a:rPr lang="en-US" altLang="zh-CN" b="0" dirty="0">
                <a:latin typeface="Times New Roman" panose="02020603050405020304" pitchFamily="18" charset="0"/>
                <a:cs typeface="Times New Roman" panose="02020603050405020304" pitchFamily="18" charset="0"/>
              </a:rPr>
              <a:t>&gt;</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&lt;</a:t>
            </a:r>
            <a:r>
              <a:rPr lang="zh-CN" altLang="en-US" b="0" dirty="0">
                <a:latin typeface="Times New Roman" panose="02020603050405020304" pitchFamily="18" charset="0"/>
                <a:cs typeface="Times New Roman" panose="02020603050405020304" pitchFamily="18" charset="0"/>
              </a:rPr>
              <a:t>列值表达式</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marL="990600" lvl="1" indent="-533400">
              <a:lnSpc>
                <a:spcPct val="190000"/>
              </a:lnSpc>
              <a:buClr>
                <a:schemeClr val="tx1"/>
              </a:buClr>
              <a:buNone/>
            </a:pPr>
            <a:r>
              <a:rPr lang="en-US" altLang="zh-CN" b="0" dirty="0">
                <a:latin typeface="Times New Roman" panose="02020603050405020304" pitchFamily="18" charset="0"/>
                <a:cs typeface="Times New Roman" panose="02020603050405020304" pitchFamily="18" charset="0"/>
              </a:rPr>
              <a:t>	[WHERE </a:t>
            </a:r>
            <a:r>
              <a:rPr lang="zh-CN" altLang="en-US" b="0" dirty="0">
                <a:latin typeface="Times New Roman" panose="02020603050405020304" pitchFamily="18" charset="0"/>
                <a:cs typeface="Times New Roman" panose="02020603050405020304" pitchFamily="18" charset="0"/>
              </a:rPr>
              <a:t>条件表达式</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数据修改</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3-68</a:t>
            </a:r>
            <a:r>
              <a:rPr lang="zh-CN" altLang="en-US" i="1" dirty="0">
                <a:latin typeface="Times New Roman" panose="02020603050405020304" pitchFamily="18" charset="0"/>
                <a:cs typeface="Times New Roman" panose="02020603050405020304" pitchFamily="18" charset="0"/>
              </a:rPr>
              <a:t>：将雇员表</a:t>
            </a:r>
            <a:r>
              <a:rPr lang="en-US" altLang="zh-CN" i="1" dirty="0">
                <a:latin typeface="Times New Roman" panose="02020603050405020304" pitchFamily="18" charset="0"/>
                <a:cs typeface="Times New Roman" panose="02020603050405020304" pitchFamily="18" charset="0"/>
              </a:rPr>
              <a:t>EMP</a:t>
            </a:r>
            <a:r>
              <a:rPr lang="zh-CN" altLang="en-US" i="1" dirty="0">
                <a:latin typeface="Times New Roman" panose="02020603050405020304" pitchFamily="18" charset="0"/>
                <a:cs typeface="Times New Roman" panose="02020603050405020304" pitchFamily="18" charset="0"/>
              </a:rPr>
              <a:t>中每名员工的工资增加</a:t>
            </a:r>
            <a:r>
              <a:rPr lang="en-US" altLang="zh-CN" i="1" dirty="0">
                <a:latin typeface="Times New Roman" panose="02020603050405020304" pitchFamily="18" charset="0"/>
                <a:cs typeface="Times New Roman" panose="02020603050405020304" pitchFamily="18" charset="0"/>
              </a:rPr>
              <a:t>100</a:t>
            </a:r>
            <a:r>
              <a:rPr lang="zh-CN" altLang="en-US" i="1" dirty="0">
                <a:latin typeface="Times New Roman" panose="02020603050405020304" pitchFamily="18" charset="0"/>
                <a:cs typeface="Times New Roman" panose="02020603050405020304" pitchFamily="18" charset="0"/>
              </a:rPr>
              <a:t>元：</a:t>
            </a:r>
            <a:endParaRPr lang="en-US" altLang="zh-CN" i="1"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3-69</a:t>
            </a:r>
            <a:r>
              <a:rPr lang="zh-CN" altLang="en-US" i="1" dirty="0">
                <a:latin typeface="Times New Roman" panose="02020603050405020304" pitchFamily="18" charset="0"/>
                <a:cs typeface="Times New Roman" panose="02020603050405020304" pitchFamily="18" charset="0"/>
              </a:rPr>
              <a:t>：将“</a:t>
            </a:r>
            <a:r>
              <a:rPr lang="en-US" altLang="zh-CN" i="1" dirty="0">
                <a:latin typeface="Times New Roman" panose="02020603050405020304" pitchFamily="18" charset="0"/>
                <a:cs typeface="Times New Roman" panose="02020603050405020304" pitchFamily="18" charset="0"/>
              </a:rPr>
              <a:t>01055071”</a:t>
            </a:r>
            <a:r>
              <a:rPr lang="zh-CN" altLang="en-US" i="1" dirty="0">
                <a:latin typeface="Times New Roman" panose="02020603050405020304" pitchFamily="18" charset="0"/>
                <a:cs typeface="Times New Roman" panose="02020603050405020304" pitchFamily="18" charset="0"/>
              </a:rPr>
              <a:t>同学选修的“</a:t>
            </a:r>
            <a:r>
              <a:rPr lang="en-US" altLang="zh-CN" i="1" dirty="0">
                <a:latin typeface="Times New Roman" panose="02020603050405020304" pitchFamily="18" charset="0"/>
                <a:cs typeface="Times New Roman" panose="02020603050405020304" pitchFamily="18" charset="0"/>
              </a:rPr>
              <a:t>CS</a:t>
            </a:r>
            <a:r>
              <a:rPr lang="zh-CN" altLang="en-US" i="1"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03”</a:t>
            </a:r>
            <a:r>
              <a:rPr lang="zh-CN" altLang="en-US" i="1" dirty="0">
                <a:latin typeface="Times New Roman" panose="02020603050405020304" pitchFamily="18" charset="0"/>
                <a:cs typeface="Times New Roman" panose="02020603050405020304" pitchFamily="18" charset="0"/>
              </a:rPr>
              <a:t>课程成绩置为</a:t>
            </a:r>
            <a:r>
              <a:rPr lang="en-US" altLang="zh-CN" i="1" dirty="0">
                <a:latin typeface="Times New Roman" panose="02020603050405020304" pitchFamily="18" charset="0"/>
                <a:cs typeface="Times New Roman" panose="02020603050405020304" pitchFamily="18" charset="0"/>
              </a:rPr>
              <a:t>NULL</a:t>
            </a:r>
            <a:r>
              <a:rPr lang="zh-CN" altLang="en-US" i="1"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buClr>
                <a:schemeClr val="tx1"/>
              </a:buClr>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3.4 SQL</a:t>
            </a:r>
            <a:r>
              <a:rPr kumimoji="1" lang="zh-CN" altLang="en-US" dirty="0"/>
              <a:t>数据操纵功能</a:t>
            </a:r>
            <a:endParaRPr kumimoji="1" lang="zh-CN" altLang="en-US" dirty="0"/>
          </a:p>
        </p:txBody>
      </p:sp>
      <p:sp>
        <p:nvSpPr>
          <p:cNvPr id="6" name="文本框 5"/>
          <p:cNvSpPr txBox="1"/>
          <p:nvPr/>
        </p:nvSpPr>
        <p:spPr bwMode="auto">
          <a:xfrm>
            <a:off x="1220293" y="2594305"/>
            <a:ext cx="6123041"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UPDATE EMP</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SET   Salary</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Salary</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100</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220293" y="4178325"/>
            <a:ext cx="6123041" cy="15691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UPDATE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SET     Grade</a:t>
            </a:r>
            <a:r>
              <a:rPr lang="zh-CN" altLang="en-US" sz="2000" dirty="0">
                <a:solidFill>
                  <a:srgbClr val="FF6600"/>
                </a:solidFill>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NULL</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01055071’</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AND     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03’</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b="0" dirty="0">
                <a:latin typeface="Times New Roman" panose="02020603050405020304" pitchFamily="18" charset="0"/>
                <a:cs typeface="Times New Roman" panose="02020603050405020304" pitchFamily="18" charset="0"/>
              </a:rPr>
              <a:t>SQL</a:t>
            </a:r>
            <a:r>
              <a:rPr lang="zh-CN" altLang="en-US" sz="2600" b="0" dirty="0">
                <a:latin typeface="Times New Roman" panose="02020603050405020304" pitchFamily="18" charset="0"/>
                <a:cs typeface="Times New Roman" panose="02020603050405020304" pitchFamily="18" charset="0"/>
              </a:rPr>
              <a:t>视图是不存储具体数据，而仅在数据目录中存放其定义的“虚表”，它提供了一种间接访问基本表中数据的便捷方式，使用户可以更有效，更安全的访问系统中存储的相关数据</a:t>
            </a:r>
            <a:endParaRPr lang="en-US" altLang="zh-CN" sz="2600" b="0" dirty="0">
              <a:latin typeface="Times New Roman" panose="02020603050405020304" pitchFamily="18" charset="0"/>
              <a:cs typeface="Times New Roman" panose="02020603050405020304" pitchFamily="18" charset="0"/>
            </a:endParaRPr>
          </a:p>
          <a:p>
            <a:pPr>
              <a:lnSpc>
                <a:spcPct val="150000"/>
              </a:lnSpc>
            </a:pPr>
            <a:r>
              <a:rPr lang="zh-CN" altLang="en-US" sz="2600" b="0" dirty="0">
                <a:latin typeface="Times New Roman" panose="02020603050405020304" pitchFamily="18" charset="0"/>
                <a:cs typeface="Times New Roman" panose="02020603050405020304" pitchFamily="18" charset="0"/>
              </a:rPr>
              <a:t>视图可以通过基本表或其它视图导出，因而有着许多和基本表类似的性质</a:t>
            </a:r>
            <a:endParaRPr lang="en-US" altLang="zh-CN" sz="2600" b="0" dirty="0">
              <a:latin typeface="Times New Roman" panose="02020603050405020304" pitchFamily="18" charset="0"/>
              <a:cs typeface="Times New Roman" panose="02020603050405020304" pitchFamily="18" charset="0"/>
            </a:endParaRPr>
          </a:p>
          <a:p>
            <a:pPr>
              <a:lnSpc>
                <a:spcPct val="150000"/>
              </a:lnSpc>
            </a:pPr>
            <a:r>
              <a:rPr lang="zh-CN" altLang="en-US" sz="2600" b="0" dirty="0">
                <a:latin typeface="Times New Roman" panose="02020603050405020304" pitchFamily="18" charset="0"/>
                <a:cs typeface="Times New Roman" panose="02020603050405020304" pitchFamily="18" charset="0"/>
              </a:rPr>
              <a:t>本节介绍视图的使用方法及应该注意的问题，具体包括视图的定义、删除、查询、更新，以及视图的应用特点等几方面内容</a:t>
            </a:r>
            <a:endParaRPr lang="zh-CN" altLang="en-US" sz="2600"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视图的定义</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可以通过以下方式建立视图：</a:t>
            </a:r>
            <a:endParaRPr lang="zh-CN" altLang="en-US" dirty="0">
              <a:latin typeface="Times New Roman" panose="02020603050405020304" pitchFamily="18" charset="0"/>
              <a:cs typeface="Times New Roman" panose="02020603050405020304" pitchFamily="18" charset="0"/>
            </a:endParaRPr>
          </a:p>
          <a:p>
            <a:pPr marL="914400" lvl="1" indent="-457200">
              <a:buClr>
                <a:schemeClr val="tx1"/>
              </a:buClr>
              <a:buNone/>
            </a:pPr>
            <a:r>
              <a:rPr lang="en-US" altLang="zh-CN" dirty="0">
                <a:latin typeface="Times New Roman" panose="02020603050405020304" pitchFamily="18" charset="0"/>
                <a:cs typeface="Times New Roman" panose="02020603050405020304" pitchFamily="18" charset="0"/>
              </a:rPr>
              <a:t>	CREATE  VIEW  &lt;</a:t>
            </a:r>
            <a:r>
              <a:rPr lang="zh-CN" altLang="en-US" dirty="0">
                <a:latin typeface="Times New Roman" panose="02020603050405020304" pitchFamily="18" charset="0"/>
                <a:cs typeface="Times New Roman" panose="02020603050405020304" pitchFamily="18" charset="0"/>
              </a:rPr>
              <a:t>视图名</a:t>
            </a:r>
            <a:r>
              <a:rPr lang="en-US" altLang="zh-CN" dirty="0">
                <a:latin typeface="Times New Roman" panose="02020603050405020304" pitchFamily="18" charset="0"/>
                <a:cs typeface="Times New Roman" panose="02020603050405020304" pitchFamily="18" charset="0"/>
              </a:rPr>
              <a:t>&gt;[ (&lt;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&gt;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&lt;</a:t>
            </a:r>
            <a:r>
              <a:rPr lang="zh-CN" altLang="en-US" dirty="0">
                <a:latin typeface="Times New Roman" panose="02020603050405020304" pitchFamily="18" charset="0"/>
                <a:cs typeface="Times New Roman" panose="02020603050405020304" pitchFamily="18" charset="0"/>
              </a:rPr>
              <a:t>列名</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marL="914400" lvl="1" indent="-457200">
              <a:buClr>
                <a:schemeClr val="tx1"/>
              </a:buClr>
              <a:buNone/>
            </a:pPr>
            <a:r>
              <a:rPr lang="en-US" altLang="zh-CN" dirty="0">
                <a:latin typeface="Times New Roman" panose="02020603050405020304" pitchFamily="18" charset="0"/>
                <a:cs typeface="Times New Roman" panose="02020603050405020304" pitchFamily="18" charset="0"/>
              </a:rPr>
              <a:t>	AS  &lt;</a:t>
            </a:r>
            <a:r>
              <a:rPr lang="zh-CN" altLang="en-US" dirty="0">
                <a:latin typeface="Times New Roman" panose="02020603050405020304" pitchFamily="18" charset="0"/>
                <a:cs typeface="Times New Roman" panose="02020603050405020304" pitchFamily="18" charset="0"/>
              </a:rPr>
              <a:t>子查询</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marL="914400" lvl="1" indent="-457200">
              <a:buClr>
                <a:schemeClr val="tx1"/>
              </a:buClr>
              <a:buNone/>
            </a:pPr>
            <a:r>
              <a:rPr lang="en-US" altLang="zh-CN" dirty="0">
                <a:latin typeface="Times New Roman" panose="02020603050405020304" pitchFamily="18" charset="0"/>
                <a:cs typeface="Times New Roman" panose="02020603050405020304" pitchFamily="18" charset="0"/>
              </a:rPr>
              <a:t>	[WITH  CHECK  OPTION]</a:t>
            </a:r>
            <a:endParaRPr kumimoji="1"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视图名称后指定的列名表部分不是必须的，如果不给出这些具体的列名，则视图的各列与子查询中</a:t>
            </a:r>
            <a:r>
              <a:rPr lang="en-US" altLang="zh-CN" dirty="0">
                <a:latin typeface="Times New Roman" panose="02020603050405020304" pitchFamily="18" charset="0"/>
                <a:cs typeface="Times New Roman" panose="02020603050405020304" pitchFamily="18" charset="0"/>
              </a:rPr>
              <a:t>SELECT</a:t>
            </a:r>
            <a:r>
              <a:rPr lang="zh-CN" altLang="en-US" dirty="0">
                <a:latin typeface="Times New Roman" panose="02020603050405020304" pitchFamily="18" charset="0"/>
                <a:cs typeface="Times New Roman" panose="02020603050405020304" pitchFamily="18" charset="0"/>
              </a:rPr>
              <a:t>语句所指定的列完全相同；</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如果在子查询的</a:t>
            </a:r>
            <a:r>
              <a:rPr lang="en-US" altLang="zh-CN" dirty="0">
                <a:latin typeface="Times New Roman" panose="02020603050405020304" pitchFamily="18" charset="0"/>
                <a:cs typeface="Times New Roman" panose="02020603050405020304" pitchFamily="18" charset="0"/>
              </a:rPr>
              <a:t>SELECT</a:t>
            </a:r>
            <a:r>
              <a:rPr lang="zh-CN" altLang="en-US" dirty="0">
                <a:latin typeface="Times New Roman" panose="02020603050405020304" pitchFamily="18" charset="0"/>
                <a:cs typeface="Times New Roman" panose="02020603050405020304" pitchFamily="18" charset="0"/>
              </a:rPr>
              <a:t>语句中使用了函数或运算表达式，那么必须在视图名后给出全部的列名表，因为函数和运算表达式是不能用来表示一个列的名称的</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视图的定义</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3-70</a:t>
            </a:r>
            <a:r>
              <a:rPr lang="zh-CN" altLang="en-US" i="1" dirty="0">
                <a:latin typeface="Times New Roman" panose="02020603050405020304" pitchFamily="18" charset="0"/>
                <a:cs typeface="Times New Roman" panose="02020603050405020304" pitchFamily="18" charset="0"/>
              </a:rPr>
              <a:t>：建立全部男同学的视图：</a:t>
            </a:r>
            <a:endParaRPr lang="zh-CN" altLang="en-US" i="1" dirty="0">
              <a:latin typeface="Times New Roman" panose="02020603050405020304" pitchFamily="18" charset="0"/>
              <a:cs typeface="Times New Roman" panose="02020603050405020304" pitchFamily="18" charset="0"/>
            </a:endParaRPr>
          </a:p>
          <a:p>
            <a:pPr marL="636905" lvl="1" indent="-179705">
              <a:lnSpc>
                <a:spcPct val="13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636905" lvl="1" indent="-179705">
              <a:lnSpc>
                <a:spcPct val="130000"/>
              </a:lnSpc>
              <a:buNone/>
            </a:pPr>
            <a:r>
              <a:rPr lang="en-US" altLang="zh-CN"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35887" y="2611790"/>
            <a:ext cx="6123041" cy="196853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CREATE  VIEW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S_MALE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AS</a:t>
            </a:r>
            <a:r>
              <a:rPr lang="en-US" altLang="zh-CN" sz="20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Class </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SEX</a:t>
            </a:r>
            <a:r>
              <a:rPr lang="zh-CN" altLang="en-US" sz="2000" dirty="0">
                <a:latin typeface="Cambria Math" panose="02040503050406030204" pitchFamily="18" charset="0"/>
                <a:cs typeface="Times New Roman" panose="02020603050405020304" pitchFamily="18" charset="0"/>
              </a:rPr>
              <a:t>＝’男’</a:t>
            </a:r>
            <a:endParaRPr lang="zh-CN" altLang="en-US" sz="2000" dirty="0">
              <a:latin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WITH  CHECK  OPTION</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视图的定义</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3-71</a:t>
            </a:r>
            <a:r>
              <a:rPr lang="zh-CN" altLang="en-US" i="1" dirty="0">
                <a:latin typeface="Times New Roman" panose="02020603050405020304" pitchFamily="18" charset="0"/>
                <a:cs typeface="Times New Roman" panose="02020603050405020304" pitchFamily="18" charset="0"/>
              </a:rPr>
              <a:t>：建立一个计算机系学生学号、选修课程数及其平均成绩的视图：</a:t>
            </a:r>
            <a:endParaRPr lang="zh-CN" altLang="en-US" b="0" i="1"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r>
              <a:rPr lang="en-US" altLang="zh-CN" b="0" dirty="0">
                <a:solidFill>
                  <a:srgbClr val="C00000"/>
                </a:solidFill>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73788" y="2550438"/>
            <a:ext cx="6123041" cy="196205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CREATE  VIEW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S_AG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CNT_C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AVG_G)</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AS</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SELECT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COUNT(C#)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AVG(Grade)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C#  LIKE  ‘CS%’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GROUP   BY  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视图的定义</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3-72</a:t>
            </a:r>
            <a:r>
              <a:rPr lang="zh-CN" altLang="en-US" i="1" dirty="0">
                <a:latin typeface="Times New Roman" panose="02020603050405020304" pitchFamily="18" charset="0"/>
                <a:cs typeface="Times New Roman" panose="02020603050405020304" pitchFamily="18" charset="0"/>
              </a:rPr>
              <a:t>：建立选修了“操作系统”课程的学生学号、姓名、及成绩的视图：</a:t>
            </a:r>
            <a:endParaRPr lang="en-US" altLang="zh-CN" b="0" i="1" dirty="0">
              <a:latin typeface="Times New Roman" panose="02020603050405020304" pitchFamily="18" charset="0"/>
              <a:cs typeface="Times New Roman" panose="02020603050405020304" pitchFamily="18" charset="0"/>
            </a:endParaRPr>
          </a:p>
          <a:p>
            <a:pPr marL="1447800" lvl="2" indent="-533400">
              <a:buNone/>
            </a:pPr>
            <a:r>
              <a:rPr lang="en-US" altLang="zh-CN" sz="2400" b="0" dirty="0">
                <a:latin typeface="Times New Roman" panose="02020603050405020304" pitchFamily="18" charset="0"/>
                <a:cs typeface="Times New Roman" panose="02020603050405020304" pitchFamily="18" charset="0"/>
              </a:rPr>
              <a:t>    </a:t>
            </a:r>
            <a:r>
              <a:rPr lang="en-US" altLang="zh-CN" sz="2400" b="0" dirty="0">
                <a:solidFill>
                  <a:srgbClr val="C00000"/>
                </a:solidFill>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1447800" lvl="2" indent="-533400">
              <a:buNone/>
            </a:pPr>
            <a:r>
              <a:rPr lang="zh-CN" altLang="en-US" sz="2400" dirty="0">
                <a:solidFill>
                  <a:srgbClr val="FF6600"/>
                </a:solidFill>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286330" y="2500452"/>
            <a:ext cx="6123041" cy="230375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CREATE  VIEW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S_C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AS</a:t>
            </a:r>
            <a:r>
              <a:rPr lang="en-US" altLang="zh-CN" sz="20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SEELCT  S.S#</a:t>
            </a:r>
            <a:r>
              <a:rPr lang="zh-CN" altLang="en-US" sz="2000" dirty="0">
                <a:latin typeface="Cambria Math" panose="02040503050406030204" pitchFamily="18" charset="0"/>
                <a:cs typeface="Times New Roman" panose="02020603050405020304" pitchFamily="18" charset="0"/>
              </a:rPr>
              <a:t>，</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Grade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FROM   Student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Course</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WHERE   Student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SC.S#  AND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Course.C</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SC.C#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AND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Cname</a:t>
            </a:r>
            <a:r>
              <a:rPr lang="zh-CN" altLang="en-US" sz="2000" dirty="0">
                <a:latin typeface="Cambria Math" panose="02040503050406030204" pitchFamily="18" charset="0"/>
                <a:cs typeface="Times New Roman" panose="02020603050405020304" pitchFamily="18" charset="0"/>
              </a:rPr>
              <a:t>＝’操作系统’</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视图的删除</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删除视图的语句如下：</a:t>
            </a:r>
            <a:endParaRPr lang="en-US" altLang="zh-CN" dirty="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3-73</a:t>
            </a:r>
            <a:r>
              <a:rPr lang="zh-CN" altLang="en-US" i="1" dirty="0">
                <a:latin typeface="Times New Roman" panose="02020603050405020304" pitchFamily="18" charset="0"/>
                <a:cs typeface="Times New Roman" panose="02020603050405020304" pitchFamily="18" charset="0"/>
              </a:rPr>
              <a:t>：删除视图</a:t>
            </a:r>
            <a:r>
              <a:rPr lang="en-US" altLang="zh-CN" i="1" dirty="0">
                <a:latin typeface="Times New Roman" panose="02020603050405020304" pitchFamily="18" charset="0"/>
                <a:cs typeface="Times New Roman" panose="02020603050405020304" pitchFamily="18" charset="0"/>
              </a:rPr>
              <a:t>S_MALE</a:t>
            </a:r>
            <a:r>
              <a:rPr lang="zh-CN" altLang="en-US" i="1" dirty="0">
                <a:latin typeface="Times New Roman" panose="02020603050405020304" pitchFamily="18" charset="0"/>
                <a:cs typeface="Times New Roman" panose="02020603050405020304" pitchFamily="18" charset="0"/>
              </a:rPr>
              <a:t>：</a:t>
            </a:r>
            <a:endParaRPr lang="en-US" altLang="zh-CN" i="1" dirty="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457200" lvl="1" indent="0">
              <a:lnSpc>
                <a:spcPct val="150000"/>
              </a:lnSpc>
              <a:buNone/>
            </a:pP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注意：</a:t>
            </a:r>
            <a:r>
              <a:rPr lang="en-US" altLang="zh-CN" dirty="0">
                <a:latin typeface="Times New Roman" panose="02020603050405020304" pitchFamily="18" charset="0"/>
                <a:cs typeface="Times New Roman" panose="02020603050405020304" pitchFamily="18" charset="0"/>
              </a:rPr>
              <a:t>DROP TABLE XX</a:t>
            </a:r>
            <a:r>
              <a:rPr lang="zh-CN" altLang="en-US" dirty="0">
                <a:latin typeface="Times New Roman" panose="02020603050405020304" pitchFamily="18" charset="0"/>
                <a:cs typeface="Times New Roman" panose="02020603050405020304" pitchFamily="18" charset="0"/>
              </a:rPr>
              <a:t>中，基本表定义一旦删除，建立在此表上的视图虽仍然保留，但已无法引用，因此执行删除操作一定要格外小心 </a:t>
            </a:r>
            <a:endParaRPr lang="zh-CN" altLang="en-US"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87856" y="3756355"/>
            <a:ext cx="6123041" cy="41092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DROP  VIEW  S_MALE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87856" y="2560820"/>
            <a:ext cx="6123041" cy="4057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DROP  VIEW  &lt;</a:t>
            </a:r>
            <a:r>
              <a:rPr lang="zh-CN" altLang="en-US" sz="2000" dirty="0">
                <a:latin typeface="Cambria Math" panose="02040503050406030204" pitchFamily="18" charset="0"/>
                <a:cs typeface="Times New Roman" panose="02020603050405020304" pitchFamily="18" charset="0"/>
              </a:rPr>
              <a:t>视图名</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由于视图中并不存储数据记录，因此处理视图查询时系统会首先将视图查询语句中的</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条件与视图定义中的</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条件进行有效合并，然后再转变为对基本表的查询</a:t>
            </a:r>
            <a:endParaRPr lang="en-US" altLang="zh-CN" dirty="0">
              <a:latin typeface="Times New Roman" panose="02020603050405020304" pitchFamily="18" charset="0"/>
              <a:cs typeface="Times New Roman" panose="02020603050405020304" pitchFamily="18" charset="0"/>
            </a:endParaRPr>
          </a:p>
          <a:p>
            <a:pPr lvl="1">
              <a:lnSpc>
                <a:spcPct val="150000"/>
              </a:lnSpc>
            </a:pPr>
            <a:endParaRPr lang="en-US" altLang="zh-CN" sz="10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3-74</a:t>
            </a:r>
            <a:r>
              <a:rPr lang="zh-CN" altLang="en-US" i="1" dirty="0">
                <a:latin typeface="Times New Roman" panose="02020603050405020304" pitchFamily="18" charset="0"/>
                <a:cs typeface="Times New Roman" panose="02020603050405020304" pitchFamily="18" charset="0"/>
              </a:rPr>
              <a:t>：在视图</a:t>
            </a:r>
            <a:r>
              <a:rPr lang="en-US" altLang="zh-CN" i="1" dirty="0">
                <a:latin typeface="Times New Roman" panose="02020603050405020304" pitchFamily="18" charset="0"/>
                <a:cs typeface="Times New Roman" panose="02020603050405020304" pitchFamily="18" charset="0"/>
              </a:rPr>
              <a:t>S_MALE</a:t>
            </a:r>
            <a:r>
              <a:rPr lang="zh-CN" altLang="en-US" i="1" dirty="0">
                <a:latin typeface="Times New Roman" panose="02020603050405020304" pitchFamily="18" charset="0"/>
                <a:cs typeface="Times New Roman" panose="02020603050405020304" pitchFamily="18" charset="0"/>
              </a:rPr>
              <a:t>上查询“李华”同学的学号及所在班级：</a:t>
            </a:r>
            <a:endParaRPr lang="zh-CN" altLang="en-US" i="1" dirty="0">
              <a:latin typeface="Times New Roman" panose="02020603050405020304" pitchFamily="18" charset="0"/>
              <a:cs typeface="Times New Roman" panose="02020603050405020304" pitchFamily="18" charset="0"/>
            </a:endParaRPr>
          </a:p>
          <a:p>
            <a:pPr marL="1179830" lvl="1" indent="-457200">
              <a:buClr>
                <a:schemeClr val="tx1"/>
              </a:buClr>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300397" y="4586228"/>
            <a:ext cx="6123041"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Class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S_MALE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＝’李华’</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2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视图的查询</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sz="2600" dirty="0">
                <a:latin typeface="Times New Roman" panose="02020603050405020304" pitchFamily="18" charset="0"/>
                <a:cs typeface="Times New Roman" panose="02020603050405020304" pitchFamily="18" charset="0"/>
              </a:rPr>
              <a:t>视图</a:t>
            </a:r>
            <a:r>
              <a:rPr lang="en-US" altLang="zh-CN" sz="2600" dirty="0">
                <a:latin typeface="Times New Roman" panose="02020603050405020304" pitchFamily="18" charset="0"/>
                <a:cs typeface="Times New Roman" panose="02020603050405020304" pitchFamily="18" charset="0"/>
              </a:rPr>
              <a:t>S_MALE</a:t>
            </a:r>
            <a:r>
              <a:rPr lang="zh-CN" altLang="en-US" sz="2600" dirty="0">
                <a:latin typeface="Times New Roman" panose="02020603050405020304" pitchFamily="18" charset="0"/>
                <a:cs typeface="Times New Roman" panose="02020603050405020304" pitchFamily="18" charset="0"/>
              </a:rPr>
              <a:t>建立在基本表</a:t>
            </a:r>
            <a:r>
              <a:rPr lang="en-US" altLang="zh-CN" sz="2600" dirty="0">
                <a:latin typeface="Times New Roman" panose="02020603050405020304" pitchFamily="18" charset="0"/>
                <a:cs typeface="Times New Roman" panose="02020603050405020304" pitchFamily="18" charset="0"/>
              </a:rPr>
              <a:t>Student</a:t>
            </a:r>
            <a:r>
              <a:rPr lang="zh-CN" altLang="en-US" sz="2600" dirty="0">
                <a:latin typeface="Times New Roman" panose="02020603050405020304" pitchFamily="18" charset="0"/>
                <a:cs typeface="Times New Roman" panose="02020603050405020304" pitchFamily="18" charset="0"/>
              </a:rPr>
              <a:t>上，因此本查询也将转换为如下所示的基本表</a:t>
            </a:r>
            <a:r>
              <a:rPr lang="en-US" altLang="zh-CN" sz="2600" dirty="0">
                <a:latin typeface="Times New Roman" panose="02020603050405020304" pitchFamily="18" charset="0"/>
                <a:cs typeface="Times New Roman" panose="02020603050405020304" pitchFamily="18" charset="0"/>
              </a:rPr>
              <a:t>Student</a:t>
            </a:r>
            <a:r>
              <a:rPr lang="zh-CN" altLang="en-US" sz="2600" dirty="0">
                <a:latin typeface="Times New Roman" panose="02020603050405020304" pitchFamily="18" charset="0"/>
                <a:cs typeface="Times New Roman" panose="02020603050405020304" pitchFamily="18" charset="0"/>
              </a:rPr>
              <a:t>上的查询：</a:t>
            </a:r>
            <a:endParaRPr lang="en-US" altLang="zh-CN" sz="2600" dirty="0">
              <a:latin typeface="Times New Roman" panose="02020603050405020304" pitchFamily="18" charset="0"/>
              <a:cs typeface="Times New Roman" panose="02020603050405020304" pitchFamily="18" charset="0"/>
            </a:endParaRPr>
          </a:p>
          <a:p>
            <a:pPr marL="990600" lvl="1" indent="-533400">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990600" lvl="1" indent="-533400">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990600" lvl="1" indent="-533400">
              <a:buNone/>
            </a:pP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457200" lvl="1" indent="0">
              <a:lnSpc>
                <a:spcPct val="150000"/>
              </a:lnSpc>
              <a:buNone/>
            </a:pP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sz="2600" i="1" dirty="0">
                <a:latin typeface="Times New Roman" panose="02020603050405020304" pitchFamily="18" charset="0"/>
                <a:cs typeface="Times New Roman" panose="02020603050405020304" pitchFamily="18" charset="0"/>
              </a:rPr>
              <a:t>例</a:t>
            </a:r>
            <a:r>
              <a:rPr lang="en-US" altLang="zh-CN" sz="2600" i="1" dirty="0">
                <a:latin typeface="Times New Roman" panose="02020603050405020304" pitchFamily="18" charset="0"/>
                <a:cs typeface="Times New Roman" panose="02020603050405020304" pitchFamily="18" charset="0"/>
              </a:rPr>
              <a:t>3-75</a:t>
            </a:r>
            <a:r>
              <a:rPr lang="zh-CN" altLang="en-US" sz="2600" i="1" dirty="0">
                <a:latin typeface="Times New Roman" panose="02020603050405020304" pitchFamily="18" charset="0"/>
                <a:cs typeface="Times New Roman" panose="02020603050405020304" pitchFamily="18" charset="0"/>
              </a:rPr>
              <a:t>：在视图</a:t>
            </a:r>
            <a:r>
              <a:rPr lang="en-US" altLang="zh-CN" sz="2600" i="1" dirty="0">
                <a:latin typeface="Times New Roman" panose="02020603050405020304" pitchFamily="18" charset="0"/>
                <a:cs typeface="Times New Roman" panose="02020603050405020304" pitchFamily="18" charset="0"/>
              </a:rPr>
              <a:t>S_AG</a:t>
            </a:r>
            <a:r>
              <a:rPr lang="zh-CN" altLang="en-US" sz="2600" i="1" dirty="0">
                <a:latin typeface="Times New Roman" panose="02020603050405020304" pitchFamily="18" charset="0"/>
                <a:cs typeface="Times New Roman" panose="02020603050405020304" pitchFamily="18" charset="0"/>
              </a:rPr>
              <a:t>中查询学号为’</a:t>
            </a:r>
            <a:r>
              <a:rPr lang="en-US" altLang="zh-CN" sz="2600" i="1" dirty="0">
                <a:latin typeface="Times New Roman" panose="02020603050405020304" pitchFamily="18" charset="0"/>
                <a:cs typeface="Times New Roman" panose="02020603050405020304" pitchFamily="18" charset="0"/>
              </a:rPr>
              <a:t>01055107’</a:t>
            </a:r>
            <a:r>
              <a:rPr lang="zh-CN" altLang="en-US" sz="2600" i="1" dirty="0">
                <a:latin typeface="Times New Roman" panose="02020603050405020304" pitchFamily="18" charset="0"/>
                <a:cs typeface="Times New Roman" panose="02020603050405020304" pitchFamily="18" charset="0"/>
              </a:rPr>
              <a:t>的计算机系同学的选课情况：</a:t>
            </a:r>
            <a:endParaRPr lang="zh-CN" altLang="en-US" sz="2600" i="1" dirty="0">
              <a:latin typeface="Times New Roman" panose="02020603050405020304" pitchFamily="18" charset="0"/>
              <a:cs typeface="Times New Roman" panose="02020603050405020304" pitchFamily="18" charset="0"/>
            </a:endParaRPr>
          </a:p>
          <a:p>
            <a:pPr marL="990600" lvl="1" indent="-533400">
              <a:buNone/>
            </a:pP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990600" lvl="1" indent="-533400">
              <a:buNone/>
            </a:pPr>
            <a:r>
              <a:rPr lang="en-US" altLang="zh-CN"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990600" lvl="1" indent="-533400">
              <a:buNone/>
            </a:pPr>
            <a:r>
              <a:rPr lang="en-US" altLang="zh-CN" sz="2600" dirty="0">
                <a:latin typeface="Times New Roman" panose="02020603050405020304" pitchFamily="18" charset="0"/>
                <a:cs typeface="Times New Roman" panose="02020603050405020304" pitchFamily="18" charset="0"/>
              </a:rPr>
              <a:t>	 </a:t>
            </a:r>
            <a:endParaRPr lang="zh-CN" altLang="en-US" sz="260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061246" y="2836251"/>
            <a:ext cx="6123041" cy="118549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Class</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2000" dirty="0" err="1">
                <a:latin typeface="Cambria Math" panose="02040503050406030204" pitchFamily="18" charset="0"/>
                <a:ea typeface="Cambria Math" panose="02040503050406030204" pitchFamily="18" charset="0"/>
                <a:cs typeface="Times New Roman" panose="02020603050405020304" pitchFamily="18" charset="0"/>
              </a:rPr>
              <a:t>Sname</a:t>
            </a:r>
            <a:r>
              <a:rPr lang="zh-CN" altLang="en-US" sz="2000" dirty="0">
                <a:latin typeface="Cambria Math" panose="02040503050406030204" pitchFamily="18" charset="0"/>
                <a:cs typeface="Times New Roman" panose="02020603050405020304" pitchFamily="18" charset="0"/>
              </a:rPr>
              <a:t>＝’李华’</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AND SEX</a:t>
            </a:r>
            <a:r>
              <a:rPr lang="zh-CN" altLang="en-US" sz="2000" dirty="0">
                <a:latin typeface="Cambria Math" panose="02040503050406030204" pitchFamily="18" charset="0"/>
                <a:cs typeface="Times New Roman" panose="02020603050405020304" pitchFamily="18" charset="0"/>
              </a:rPr>
              <a:t>＝’男’</a:t>
            </a:r>
            <a:endParaRPr lang="zh-CN" altLang="en-US" sz="2000"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061245" y="5177071"/>
            <a:ext cx="6123041"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SELECT   CNT_C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AVG_G</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S_AG</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01055107’</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视图的更新</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视图的更新（包括</a:t>
            </a:r>
            <a:r>
              <a:rPr lang="en-US" altLang="zh-CN" dirty="0">
                <a:latin typeface="Times New Roman" panose="02020603050405020304" pitchFamily="18" charset="0"/>
                <a:cs typeface="Times New Roman" panose="02020603050405020304" pitchFamily="18" charset="0"/>
              </a:rPr>
              <a:t>INSERT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UPDATE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DELETE</a:t>
            </a:r>
            <a:r>
              <a:rPr lang="zh-CN" altLang="en-US" dirty="0">
                <a:latin typeface="Times New Roman" panose="02020603050405020304" pitchFamily="18" charset="0"/>
                <a:cs typeface="Times New Roman" panose="02020603050405020304" pitchFamily="18" charset="0"/>
              </a:rPr>
              <a:t>等操作）往往是一件非常复杂的事情。我们知道视图的更新最终还是会落实为对基本表的更新，但并不是所有的视图记录都能够惟一的对应到基本表中的一条记录，因此视图的更新通常会具有较大的限制</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3-76</a:t>
            </a:r>
            <a:r>
              <a:rPr lang="zh-CN" altLang="en-US" i="1" dirty="0">
                <a:latin typeface="Times New Roman" panose="02020603050405020304" pitchFamily="18" charset="0"/>
                <a:cs typeface="Times New Roman" panose="02020603050405020304" pitchFamily="18" charset="0"/>
              </a:rPr>
              <a:t>：在视图</a:t>
            </a:r>
            <a:r>
              <a:rPr lang="en-US" altLang="zh-CN" i="1" dirty="0">
                <a:latin typeface="Times New Roman" panose="02020603050405020304" pitchFamily="18" charset="0"/>
                <a:cs typeface="Times New Roman" panose="02020603050405020304" pitchFamily="18" charset="0"/>
              </a:rPr>
              <a:t>S_MALE</a:t>
            </a:r>
            <a:r>
              <a:rPr lang="zh-CN" altLang="en-US" i="1" dirty="0">
                <a:latin typeface="Times New Roman" panose="02020603050405020304" pitchFamily="18" charset="0"/>
                <a:cs typeface="Times New Roman" panose="02020603050405020304" pitchFamily="18" charset="0"/>
              </a:rPr>
              <a:t>中将学号为‘</a:t>
            </a:r>
            <a:r>
              <a:rPr lang="en-US" altLang="zh-CN" i="1" dirty="0">
                <a:latin typeface="Times New Roman" panose="02020603050405020304" pitchFamily="18" charset="0"/>
                <a:cs typeface="Times New Roman" panose="02020603050405020304" pitchFamily="18" charset="0"/>
              </a:rPr>
              <a:t>01055029’</a:t>
            </a:r>
            <a:r>
              <a:rPr lang="zh-CN" altLang="en-US" i="1" dirty="0">
                <a:latin typeface="Times New Roman" panose="02020603050405020304" pitchFamily="18" charset="0"/>
                <a:cs typeface="Times New Roman" panose="02020603050405020304" pitchFamily="18" charset="0"/>
              </a:rPr>
              <a:t>的学生所在班级更新为‘计算机</a:t>
            </a:r>
            <a:r>
              <a:rPr lang="en-US" altLang="zh-CN" i="1" dirty="0">
                <a:latin typeface="Times New Roman" panose="02020603050405020304" pitchFamily="18" charset="0"/>
                <a:cs typeface="Times New Roman" panose="02020603050405020304" pitchFamily="18" charset="0"/>
              </a:rPr>
              <a:t>12’</a:t>
            </a:r>
            <a:r>
              <a:rPr lang="zh-CN" altLang="en-US" i="1"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a:p>
            <a:pPr marL="900430" lvl="1" indent="-443230">
              <a:lnSpc>
                <a:spcPct val="90000"/>
              </a:lnSpc>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00430" lvl="1" indent="-443230">
              <a:lnSpc>
                <a:spcPct val="90000"/>
              </a:lnSpc>
              <a:buClr>
                <a:schemeClr val="tx1"/>
              </a:buClr>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00430" lvl="1" indent="-443230">
              <a:lnSpc>
                <a:spcPct val="90000"/>
              </a:lnSpc>
              <a:buClr>
                <a:schemeClr val="tx1"/>
              </a:buClr>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90107" y="5041622"/>
            <a:ext cx="6123041"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UPDATE  S_MALE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SET     Class</a:t>
            </a:r>
            <a:r>
              <a:rPr lang="zh-CN" altLang="en-US" sz="2000" dirty="0">
                <a:latin typeface="Cambria Math" panose="02040503050406030204" pitchFamily="18" charset="0"/>
                <a:cs typeface="Times New Roman" panose="02020603050405020304" pitchFamily="18" charset="0"/>
              </a:rPr>
              <a:t>＝’计算机</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12’</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01055029’</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视图的更新</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3-77</a:t>
            </a:r>
            <a:r>
              <a:rPr lang="zh-CN" altLang="en-US" i="1" dirty="0">
                <a:latin typeface="Times New Roman" panose="02020603050405020304" pitchFamily="18" charset="0"/>
                <a:cs typeface="Times New Roman" panose="02020603050405020304" pitchFamily="18" charset="0"/>
              </a:rPr>
              <a:t>：在视图</a:t>
            </a:r>
            <a:r>
              <a:rPr lang="en-US" altLang="zh-CN" i="1" dirty="0">
                <a:latin typeface="Times New Roman" panose="02020603050405020304" pitchFamily="18" charset="0"/>
                <a:cs typeface="Times New Roman" panose="02020603050405020304" pitchFamily="18" charset="0"/>
              </a:rPr>
              <a:t>S_MALE</a:t>
            </a:r>
            <a:r>
              <a:rPr lang="zh-CN" altLang="en-US" i="1" dirty="0">
                <a:latin typeface="Times New Roman" panose="02020603050405020304" pitchFamily="18" charset="0"/>
                <a:cs typeface="Times New Roman" panose="02020603050405020304" pitchFamily="18" charset="0"/>
              </a:rPr>
              <a:t>中插入记录</a:t>
            </a:r>
            <a:r>
              <a:rPr lang="en-US" altLang="zh-CN" i="1" dirty="0">
                <a:latin typeface="Times New Roman" panose="02020603050405020304" pitchFamily="18" charset="0"/>
                <a:cs typeface="Times New Roman" panose="02020603050405020304" pitchFamily="18" charset="0"/>
              </a:rPr>
              <a:t>(‘01055072’</a:t>
            </a:r>
            <a:r>
              <a:rPr lang="zh-CN" altLang="en-US" i="1" dirty="0">
                <a:latin typeface="Times New Roman" panose="02020603050405020304" pitchFamily="18" charset="0"/>
                <a:cs typeface="Times New Roman" panose="02020603050405020304" pitchFamily="18" charset="0"/>
              </a:rPr>
              <a:t>，‘计算机</a:t>
            </a:r>
            <a:r>
              <a:rPr lang="en-US" altLang="zh-CN" i="1" dirty="0">
                <a:latin typeface="Times New Roman" panose="02020603050405020304" pitchFamily="18" charset="0"/>
                <a:cs typeface="Times New Roman" panose="02020603050405020304" pitchFamily="18" charset="0"/>
              </a:rPr>
              <a:t>13’</a:t>
            </a:r>
            <a:r>
              <a:rPr lang="zh-CN" altLang="en-US" i="1" dirty="0">
                <a:latin typeface="Times New Roman" panose="02020603050405020304" pitchFamily="18" charset="0"/>
                <a:cs typeface="Times New Roman" panose="02020603050405020304" pitchFamily="18" charset="0"/>
              </a:rPr>
              <a:t>，’王晓斌’</a:t>
            </a:r>
            <a:r>
              <a:rPr lang="en-US" altLang="zh-CN" i="1" dirty="0">
                <a:latin typeface="Times New Roman" panose="02020603050405020304" pitchFamily="18" charset="0"/>
                <a:cs typeface="Times New Roman" panose="02020603050405020304" pitchFamily="18" charset="0"/>
              </a:rPr>
              <a:t>)</a:t>
            </a:r>
            <a:r>
              <a:rPr lang="zh-CN" altLang="en-US" i="1" dirty="0">
                <a:latin typeface="Times New Roman" panose="02020603050405020304" pitchFamily="18" charset="0"/>
                <a:cs typeface="Times New Roman" panose="02020603050405020304" pitchFamily="18" charset="0"/>
              </a:rPr>
              <a:t>：</a:t>
            </a:r>
            <a:endParaRPr lang="en-US" altLang="zh-CN" i="1" dirty="0">
              <a:latin typeface="Times New Roman" panose="02020603050405020304" pitchFamily="18" charset="0"/>
              <a:cs typeface="Times New Roman" panose="02020603050405020304" pitchFamily="18" charset="0"/>
            </a:endParaRPr>
          </a:p>
          <a:p>
            <a:pPr marL="990600" lvl="1" indent="-533400">
              <a:buNone/>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457200" lvl="1" indent="0">
              <a:lnSpc>
                <a:spcPct val="150000"/>
              </a:lnSpc>
              <a:buNone/>
            </a:pP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该操作同样也可以正常执行，系统会将其转换为如下的基本表操作：</a:t>
            </a:r>
            <a:endParaRPr lang="zh-CN" altLang="en-US" i="1"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marL="0" indent="0">
              <a:lnSpc>
                <a:spcPct val="150000"/>
              </a:lnSpc>
              <a:buNone/>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61972" y="2603633"/>
            <a:ext cx="6733398"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INSERT   INTO  S_MALE</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VALUES  (‘01055072’</a:t>
            </a:r>
            <a:r>
              <a:rPr lang="zh-CN" altLang="en-US" sz="2000" dirty="0">
                <a:latin typeface="Cambria Math" panose="02040503050406030204" pitchFamily="18" charset="0"/>
                <a:cs typeface="Times New Roman" panose="02020603050405020304" pitchFamily="18" charset="0"/>
              </a:rPr>
              <a:t>，‘计算机</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13’</a:t>
            </a:r>
            <a:r>
              <a:rPr lang="zh-CN" altLang="en-US" sz="2000" dirty="0">
                <a:latin typeface="Cambria Math" panose="02040503050406030204" pitchFamily="18" charset="0"/>
                <a:cs typeface="Times New Roman" panose="02020603050405020304" pitchFamily="18" charset="0"/>
              </a:rPr>
              <a:t>，’王晓斌’</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59920" y="4843149"/>
            <a:ext cx="6735450"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INSERT   INTO  Student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VALUES  (‘01055072’</a:t>
            </a:r>
            <a:r>
              <a:rPr lang="zh-CN" altLang="en-US" sz="2000" dirty="0">
                <a:latin typeface="Cambria Math" panose="02040503050406030204" pitchFamily="18" charset="0"/>
                <a:cs typeface="Times New Roman" panose="02020603050405020304" pitchFamily="18" charset="0"/>
              </a:rPr>
              <a:t>，‘计算机</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13’</a:t>
            </a:r>
            <a:r>
              <a:rPr lang="zh-CN" altLang="en-US" sz="2000" dirty="0">
                <a:latin typeface="Cambria Math" panose="02040503050406030204" pitchFamily="18" charset="0"/>
                <a:cs typeface="Times New Roman" panose="02020603050405020304" pitchFamily="18" charset="0"/>
              </a:rPr>
              <a:t>，’王晓斌’，’男’</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endParaRPr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视图的更新</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3-78</a:t>
            </a:r>
            <a:r>
              <a:rPr lang="zh-CN" altLang="en-US" i="1" dirty="0">
                <a:latin typeface="Times New Roman" panose="02020603050405020304" pitchFamily="18" charset="0"/>
                <a:cs typeface="Times New Roman" panose="02020603050405020304" pitchFamily="18" charset="0"/>
              </a:rPr>
              <a:t>：将视图</a:t>
            </a:r>
            <a:r>
              <a:rPr lang="en-US" altLang="zh-CN" i="1" dirty="0">
                <a:latin typeface="Times New Roman" panose="02020603050405020304" pitchFamily="18" charset="0"/>
                <a:cs typeface="Times New Roman" panose="02020603050405020304" pitchFamily="18" charset="0"/>
              </a:rPr>
              <a:t>S_AG</a:t>
            </a:r>
            <a:r>
              <a:rPr lang="zh-CN" altLang="en-US" i="1" dirty="0">
                <a:latin typeface="Times New Roman" panose="02020603050405020304" pitchFamily="18" charset="0"/>
                <a:cs typeface="Times New Roman" panose="02020603050405020304" pitchFamily="18" charset="0"/>
              </a:rPr>
              <a:t>中学号为‘</a:t>
            </a:r>
            <a:r>
              <a:rPr lang="en-US" altLang="zh-CN" i="1" dirty="0">
                <a:latin typeface="Times New Roman" panose="02020603050405020304" pitchFamily="18" charset="0"/>
                <a:cs typeface="Times New Roman" panose="02020603050405020304" pitchFamily="18" charset="0"/>
              </a:rPr>
              <a:t>01055016’</a:t>
            </a:r>
            <a:r>
              <a:rPr lang="zh-CN" altLang="en-US" i="1" dirty="0">
                <a:latin typeface="Times New Roman" panose="02020603050405020304" pitchFamily="18" charset="0"/>
                <a:cs typeface="Times New Roman" panose="02020603050405020304" pitchFamily="18" charset="0"/>
              </a:rPr>
              <a:t>的同学的选课数更新为</a:t>
            </a:r>
            <a:r>
              <a:rPr lang="en-US" altLang="zh-CN" i="1" dirty="0">
                <a:latin typeface="Times New Roman" panose="02020603050405020304" pitchFamily="18" charset="0"/>
                <a:cs typeface="Times New Roman" panose="02020603050405020304" pitchFamily="18" charset="0"/>
              </a:rPr>
              <a:t>12</a:t>
            </a:r>
            <a:r>
              <a:rPr lang="zh-CN" altLang="en-US" i="1" dirty="0">
                <a:latin typeface="Times New Roman" panose="02020603050405020304" pitchFamily="18" charset="0"/>
                <a:cs typeface="Times New Roman" panose="02020603050405020304" pitchFamily="18" charset="0"/>
              </a:rPr>
              <a:t>，并将其平均成绩更新为</a:t>
            </a:r>
            <a:r>
              <a:rPr lang="en-US" altLang="zh-CN" i="1" dirty="0">
                <a:latin typeface="Times New Roman" panose="02020603050405020304" pitchFamily="18" charset="0"/>
                <a:cs typeface="Times New Roman" panose="02020603050405020304" pitchFamily="18" charset="0"/>
              </a:rPr>
              <a:t>81.7</a:t>
            </a:r>
            <a:r>
              <a:rPr lang="zh-CN" altLang="en-US" i="1" dirty="0">
                <a:latin typeface="Times New Roman" panose="02020603050405020304" pitchFamily="18" charset="0"/>
                <a:cs typeface="Times New Roman" panose="02020603050405020304" pitchFamily="18" charset="0"/>
              </a:rPr>
              <a:t>分：</a:t>
            </a:r>
            <a:endParaRPr lang="zh-CN" altLang="en-US" i="1"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457200" lvl="1" indent="0">
              <a:lnSpc>
                <a:spcPct val="150000"/>
              </a:lnSpc>
              <a:buNone/>
            </a:pP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3-79</a:t>
            </a:r>
            <a:r>
              <a:rPr lang="zh-CN" altLang="en-US" i="1" dirty="0">
                <a:latin typeface="Times New Roman" panose="02020603050405020304" pitchFamily="18" charset="0"/>
                <a:cs typeface="Times New Roman" panose="02020603050405020304" pitchFamily="18" charset="0"/>
              </a:rPr>
              <a:t>：在视图</a:t>
            </a:r>
            <a:r>
              <a:rPr lang="en-US" altLang="zh-CN" i="1" dirty="0">
                <a:latin typeface="Times New Roman" panose="02020603050405020304" pitchFamily="18" charset="0"/>
                <a:cs typeface="Times New Roman" panose="02020603050405020304" pitchFamily="18" charset="0"/>
              </a:rPr>
              <a:t>S_C</a:t>
            </a:r>
            <a:r>
              <a:rPr lang="zh-CN" altLang="en-US" i="1" dirty="0">
                <a:latin typeface="Times New Roman" panose="02020603050405020304" pitchFamily="18" charset="0"/>
                <a:cs typeface="Times New Roman" panose="02020603050405020304" pitchFamily="18" charset="0"/>
              </a:rPr>
              <a:t>中插入新记录</a:t>
            </a:r>
            <a:r>
              <a:rPr lang="en-US" altLang="zh-CN" i="1" dirty="0">
                <a:latin typeface="Times New Roman" panose="02020603050405020304" pitchFamily="18" charset="0"/>
                <a:cs typeface="Times New Roman" panose="02020603050405020304" pitchFamily="18" charset="0"/>
              </a:rPr>
              <a:t>(‘01055097’</a:t>
            </a:r>
            <a:r>
              <a:rPr lang="zh-CN" altLang="en-US" i="1" dirty="0">
                <a:latin typeface="Times New Roman" panose="02020603050405020304" pitchFamily="18" charset="0"/>
                <a:cs typeface="Times New Roman" panose="02020603050405020304" pitchFamily="18" charset="0"/>
              </a:rPr>
              <a:t>，’张明’，</a:t>
            </a:r>
            <a:r>
              <a:rPr lang="en-US" altLang="zh-CN" i="1" dirty="0">
                <a:latin typeface="Times New Roman" panose="02020603050405020304" pitchFamily="18" charset="0"/>
                <a:cs typeface="Times New Roman" panose="02020603050405020304" pitchFamily="18" charset="0"/>
              </a:rPr>
              <a:t>92)</a:t>
            </a:r>
            <a:r>
              <a:rPr lang="zh-CN" altLang="en-US" i="1"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990600" lvl="1" indent="-533400">
              <a:buNone/>
            </a:pPr>
            <a:r>
              <a:rPr lang="en-US" altLang="zh-CN" b="0" dirty="0">
                <a:latin typeface="Times New Roman" panose="02020603050405020304" pitchFamily="18" charset="0"/>
                <a:cs typeface="Times New Roman" panose="02020603050405020304" pitchFamily="18" charset="0"/>
              </a:rPr>
              <a:t>	 </a:t>
            </a:r>
            <a:endParaRPr kumimoji="1" lang="en-US" altLang="zh-CN" b="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
        <p:nvSpPr>
          <p:cNvPr id="6" name="文本框 5"/>
          <p:cNvSpPr txBox="1"/>
          <p:nvPr/>
        </p:nvSpPr>
        <p:spPr bwMode="auto">
          <a:xfrm>
            <a:off x="1145853" y="3062689"/>
            <a:ext cx="6735450" cy="117927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UPDATE  S_AG</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SET     CNT_C</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12</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AVG_G</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81.7</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WHERE   S#</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‘01055016’</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45853" y="5560702"/>
            <a:ext cx="6735450" cy="79564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INSERT  INTO  S_C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VALUES  (‘01055097’</a:t>
            </a:r>
            <a:r>
              <a:rPr lang="zh-CN" altLang="en-US" sz="2000" dirty="0">
                <a:latin typeface="Cambria Math" panose="02040503050406030204" pitchFamily="18" charset="0"/>
                <a:cs typeface="Times New Roman" panose="02020603050405020304" pitchFamily="18" charset="0"/>
              </a:rPr>
              <a:t>，‘张明’，</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92)</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视图的更新</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总结出视图更新的特点及限制如下：</a:t>
            </a:r>
            <a:endParaRPr lang="zh-CN" altLang="en-US" dirty="0">
              <a:latin typeface="Times New Roman" panose="02020603050405020304" pitchFamily="18" charset="0"/>
              <a:cs typeface="Times New Roman" panose="02020603050405020304" pitchFamily="18" charset="0"/>
            </a:endParaRPr>
          </a:p>
          <a:p>
            <a:pPr marL="814705" lvl="1" indent="-357505">
              <a:lnSpc>
                <a:spcPct val="150000"/>
              </a:lnSpc>
              <a:buClr>
                <a:srgbClr val="E40000"/>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）行列子集视图是可以更新的。一个例外情况是，如果基本表并没有为视图定义中不包含的那些属性列指定缺省值，同时这些列又不允许取值为</a:t>
            </a:r>
            <a:r>
              <a:rPr lang="en-US" altLang="zh-CN" dirty="0">
                <a:latin typeface="Times New Roman" panose="02020603050405020304" pitchFamily="18" charset="0"/>
                <a:cs typeface="Times New Roman" panose="02020603050405020304" pitchFamily="18" charset="0"/>
              </a:rPr>
              <a:t>NULL</a:t>
            </a:r>
            <a:r>
              <a:rPr lang="zh-CN" altLang="en-US" dirty="0">
                <a:latin typeface="Times New Roman" panose="02020603050405020304" pitchFamily="18" charset="0"/>
                <a:cs typeface="Times New Roman" panose="02020603050405020304" pitchFamily="18" charset="0"/>
              </a:rPr>
              <a:t>，那么这样的行列子集视图是不能执行</a:t>
            </a:r>
            <a:r>
              <a:rPr lang="en-US" altLang="zh-CN" dirty="0">
                <a:latin typeface="Times New Roman" panose="02020603050405020304" pitchFamily="18" charset="0"/>
                <a:cs typeface="Times New Roman" panose="02020603050405020304" pitchFamily="18" charset="0"/>
              </a:rPr>
              <a:t>INSERT</a:t>
            </a:r>
            <a:r>
              <a:rPr lang="zh-CN" altLang="en-US" dirty="0">
                <a:latin typeface="Times New Roman" panose="02020603050405020304" pitchFamily="18" charset="0"/>
                <a:cs typeface="Times New Roman" panose="02020603050405020304" pitchFamily="18" charset="0"/>
              </a:rPr>
              <a:t>操作的</a:t>
            </a:r>
            <a:endParaRPr lang="zh-CN" altLang="en-US" dirty="0">
              <a:latin typeface="Times New Roman" panose="02020603050405020304" pitchFamily="18" charset="0"/>
              <a:cs typeface="Times New Roman" panose="02020603050405020304" pitchFamily="18" charset="0"/>
            </a:endParaRPr>
          </a:p>
          <a:p>
            <a:pPr marL="814705" lvl="1" indent="-357505">
              <a:lnSpc>
                <a:spcPct val="150000"/>
              </a:lnSpc>
              <a:buClr>
                <a:srgbClr val="E40000"/>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）如果视图定义中使用了</a:t>
            </a:r>
            <a:r>
              <a:rPr lang="en-US" altLang="zh-CN" dirty="0">
                <a:latin typeface="Times New Roman" panose="02020603050405020304" pitchFamily="18" charset="0"/>
                <a:cs typeface="Times New Roman" panose="02020603050405020304" pitchFamily="18" charset="0"/>
              </a:rPr>
              <a:t>DISTINCT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GROUP BY</a:t>
            </a:r>
            <a:r>
              <a:rPr lang="zh-CN" altLang="en-US" dirty="0">
                <a:latin typeface="Times New Roman" panose="02020603050405020304" pitchFamily="18" charset="0"/>
                <a:cs typeface="Times New Roman" panose="02020603050405020304" pitchFamily="18" charset="0"/>
              </a:rPr>
              <a:t>分组或者是聚集函数，那么这样的视图是不能更新的</a:t>
            </a:r>
            <a:endParaRPr lang="zh-CN" altLang="en-US" dirty="0">
              <a:latin typeface="Times New Roman" panose="02020603050405020304" pitchFamily="18" charset="0"/>
              <a:cs typeface="Times New Roman" panose="02020603050405020304" pitchFamily="18" charset="0"/>
            </a:endParaRPr>
          </a:p>
          <a:p>
            <a:pPr marL="814705" lvl="1" indent="-357505">
              <a:lnSpc>
                <a:spcPct val="150000"/>
              </a:lnSpc>
              <a:buClr>
                <a:srgbClr val="E40000"/>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）如果视图定义中使用了多表联接或者含有嵌套查询，那么通常情况下这样的视图是不能更新的</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视图的应用</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视图对应于数据库三层模式结构的外模式，视图这个概念的提出极大的方便了关系数据库系统的使用，具体的说，视图应用具有以下的几个优点：</a:t>
            </a:r>
            <a:endParaRPr lang="zh-CN" altLang="en-US" dirty="0">
              <a:latin typeface="Times New Roman" panose="02020603050405020304" pitchFamily="18" charset="0"/>
              <a:cs typeface="Times New Roman" panose="02020603050405020304" pitchFamily="18" charset="0"/>
            </a:endParaRPr>
          </a:p>
          <a:p>
            <a:pPr marL="900430" lvl="1" indent="-443230">
              <a:lnSpc>
                <a:spcPct val="150000"/>
              </a:lnSpc>
              <a:buClr>
                <a:schemeClr val="tx1"/>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）提供了数据的逻辑独立性</a:t>
            </a:r>
            <a:endParaRPr lang="zh-CN" altLang="en-US" dirty="0">
              <a:latin typeface="Times New Roman" panose="02020603050405020304" pitchFamily="18" charset="0"/>
              <a:cs typeface="Times New Roman" panose="02020603050405020304" pitchFamily="18" charset="0"/>
            </a:endParaRPr>
          </a:p>
          <a:p>
            <a:pPr marL="900430" lvl="1" indent="-443230">
              <a:lnSpc>
                <a:spcPct val="150000"/>
              </a:lnSpc>
              <a:buClr>
                <a:srgbClr val="E40000"/>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）简化了用户应用</a:t>
            </a:r>
            <a:endParaRPr lang="zh-CN" altLang="en-US" dirty="0">
              <a:latin typeface="Times New Roman" panose="02020603050405020304" pitchFamily="18" charset="0"/>
              <a:cs typeface="Times New Roman" panose="02020603050405020304" pitchFamily="18" charset="0"/>
            </a:endParaRPr>
          </a:p>
          <a:p>
            <a:pPr marL="900430" lvl="1" indent="-443230">
              <a:lnSpc>
                <a:spcPct val="150000"/>
              </a:lnSpc>
              <a:buClr>
                <a:srgbClr val="E40000"/>
              </a:buClr>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）提供了一定的数据安全保护功能</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5</a:t>
            </a:r>
            <a:r>
              <a:rPr kumimoji="1" lang="en-GB" altLang="zh-CN" dirty="0"/>
              <a:t> SQL</a:t>
            </a:r>
            <a:r>
              <a:rPr kumimoji="1" lang="zh-CN" altLang="en-US" dirty="0"/>
              <a:t>视图</a:t>
            </a:r>
            <a:endParaRPr kumimoji="1" lang="zh-CN" alt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200000"/>
              </a:lnSpc>
            </a:pPr>
            <a:r>
              <a:rPr kumimoji="1" lang="zh-CN" altLang="en-US" sz="2600" b="0" dirty="0">
                <a:latin typeface="Times New Roman" panose="02020603050405020304" pitchFamily="18" charset="0"/>
                <a:cs typeface="Times New Roman" panose="02020603050405020304" pitchFamily="18" charset="0"/>
              </a:rPr>
              <a:t>由</a:t>
            </a:r>
            <a:r>
              <a:rPr kumimoji="1" lang="en-US" altLang="zh-CN" sz="2600" b="0" dirty="0">
                <a:latin typeface="Times New Roman" panose="02020603050405020304" pitchFamily="18" charset="0"/>
                <a:cs typeface="Times New Roman" panose="02020603050405020304" pitchFamily="18" charset="0"/>
              </a:rPr>
              <a:t>DBMS</a:t>
            </a:r>
            <a:r>
              <a:rPr kumimoji="1" lang="zh-CN" altLang="en-US" sz="2600" b="0" dirty="0">
                <a:latin typeface="Times New Roman" panose="02020603050405020304" pitchFamily="18" charset="0"/>
                <a:cs typeface="Times New Roman" panose="02020603050405020304" pitchFamily="18" charset="0"/>
              </a:rPr>
              <a:t>提供统一的数据控制功能是数据库系统的特点之一</a:t>
            </a:r>
            <a:endParaRPr kumimoji="1" lang="zh-CN" altLang="en-US" sz="2600" b="0" dirty="0">
              <a:latin typeface="Times New Roman" panose="02020603050405020304" pitchFamily="18" charset="0"/>
              <a:cs typeface="Times New Roman" panose="02020603050405020304" pitchFamily="18" charset="0"/>
            </a:endParaRPr>
          </a:p>
          <a:p>
            <a:pPr>
              <a:lnSpc>
                <a:spcPct val="200000"/>
              </a:lnSpc>
            </a:pPr>
            <a:r>
              <a:rPr kumimoji="1" lang="zh-CN" altLang="en-US" sz="2600" b="0" dirty="0">
                <a:latin typeface="Times New Roman" panose="02020603050405020304" pitchFamily="18" charset="0"/>
                <a:cs typeface="Times New Roman" panose="02020603050405020304" pitchFamily="18" charset="0"/>
              </a:rPr>
              <a:t>数据控制亦称为数据保护，包括数据的安全性控制、完整性控制、并发控制和恢复</a:t>
            </a:r>
            <a:endParaRPr kumimoji="1" lang="zh-CN" altLang="en-US" sz="2600" b="0" dirty="0">
              <a:latin typeface="Times New Roman" panose="02020603050405020304" pitchFamily="18" charset="0"/>
              <a:cs typeface="Times New Roman" panose="02020603050405020304" pitchFamily="18" charset="0"/>
            </a:endParaRPr>
          </a:p>
          <a:p>
            <a:pPr>
              <a:lnSpc>
                <a:spcPct val="200000"/>
              </a:lnSpc>
            </a:pPr>
            <a:r>
              <a:rPr kumimoji="1" lang="zh-CN" altLang="en-US" sz="2600" b="0" dirty="0">
                <a:latin typeface="Times New Roman" panose="02020603050405020304" pitchFamily="18" charset="0"/>
                <a:cs typeface="Times New Roman" panose="02020603050405020304" pitchFamily="18" charset="0"/>
              </a:rPr>
              <a:t>这里主要介绍</a:t>
            </a:r>
            <a:r>
              <a:rPr kumimoji="1" lang="en-US" altLang="zh-CN" sz="2600" b="0" dirty="0">
                <a:latin typeface="Times New Roman" panose="02020603050405020304" pitchFamily="18" charset="0"/>
                <a:cs typeface="Times New Roman" panose="02020603050405020304" pitchFamily="18" charset="0"/>
              </a:rPr>
              <a:t>SQL</a:t>
            </a:r>
            <a:r>
              <a:rPr kumimoji="1" lang="zh-CN" altLang="en-US" sz="2600" b="0" dirty="0">
                <a:latin typeface="Times New Roman" panose="02020603050405020304" pitchFamily="18" charset="0"/>
                <a:cs typeface="Times New Roman" panose="02020603050405020304" pitchFamily="18" charset="0"/>
              </a:rPr>
              <a:t>的数据控制功能</a:t>
            </a:r>
            <a:endParaRPr kumimoji="1" lang="zh-CN" altLang="en-US" sz="2600"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6</a:t>
            </a:r>
            <a:r>
              <a:rPr kumimoji="1" lang="en-GB" altLang="zh-CN" dirty="0"/>
              <a:t> SQL</a:t>
            </a:r>
            <a:r>
              <a:rPr kumimoji="1" lang="zh-CN" altLang="en-US" dirty="0"/>
              <a:t>数据控制功能</a:t>
            </a:r>
            <a:endParaRPr kumimoji="1" lang="zh-CN" alt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权限与角色</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数据库上的权限主要包括两种，一种是用户级的权限，另一种是表级的权限</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用户级权限是指</a:t>
            </a:r>
            <a:r>
              <a:rPr lang="en-US" altLang="zh-CN" dirty="0">
                <a:latin typeface="Times New Roman" panose="02020603050405020304" pitchFamily="18" charset="0"/>
                <a:cs typeface="Times New Roman" panose="02020603050405020304" pitchFamily="18" charset="0"/>
              </a:rPr>
              <a:t>DBA</a:t>
            </a:r>
            <a:r>
              <a:rPr lang="zh-CN" altLang="en-US" dirty="0">
                <a:latin typeface="Times New Roman" panose="02020603050405020304" pitchFamily="18" charset="0"/>
                <a:cs typeface="Times New Roman" panose="02020603050405020304" pitchFamily="18" charset="0"/>
              </a:rPr>
              <a:t>可以单独授予某个用户在数据库上可进行何种操作的权限</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标准支持的是表级权限，这是指</a:t>
            </a:r>
            <a:r>
              <a:rPr lang="en-US" altLang="zh-CN" dirty="0">
                <a:latin typeface="Times New Roman" panose="02020603050405020304" pitchFamily="18" charset="0"/>
                <a:cs typeface="Times New Roman" panose="02020603050405020304" pitchFamily="18" charset="0"/>
              </a:rPr>
              <a:t>DBA</a:t>
            </a:r>
            <a:r>
              <a:rPr lang="zh-CN" altLang="en-US" dirty="0">
                <a:latin typeface="Times New Roman" panose="02020603050405020304" pitchFamily="18" charset="0"/>
                <a:cs typeface="Times New Roman" panose="02020603050405020304" pitchFamily="18" charset="0"/>
              </a:rPr>
              <a:t>可以单独控制每个基本表和视图的存取，可能会经常用到的表级权限包括：表（包括基本表和视图）的查询</a:t>
            </a:r>
            <a:r>
              <a:rPr lang="en-US" altLang="zh-CN" dirty="0">
                <a:latin typeface="Times New Roman" panose="02020603050405020304" pitchFamily="18" charset="0"/>
                <a:cs typeface="Times New Roman" panose="02020603050405020304" pitchFamily="18" charset="0"/>
              </a:rPr>
              <a:t>(SEELCT)</a:t>
            </a:r>
            <a:r>
              <a:rPr lang="zh-CN" altLang="en-US" dirty="0">
                <a:latin typeface="Times New Roman" panose="02020603050405020304" pitchFamily="18" charset="0"/>
                <a:cs typeface="Times New Roman" panose="02020603050405020304" pitchFamily="18" charset="0"/>
              </a:rPr>
              <a:t>、更新</a:t>
            </a:r>
            <a:r>
              <a:rPr lang="en-US" altLang="zh-CN" dirty="0">
                <a:latin typeface="Times New Roman" panose="02020603050405020304" pitchFamily="18" charset="0"/>
                <a:cs typeface="Times New Roman" panose="02020603050405020304" pitchFamily="18" charset="0"/>
              </a:rPr>
              <a:t>(INSERT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UPDATE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DELETE)</a:t>
            </a:r>
            <a:r>
              <a:rPr lang="zh-CN" altLang="en-US" dirty="0">
                <a:latin typeface="Times New Roman" panose="02020603050405020304" pitchFamily="18" charset="0"/>
                <a:cs typeface="Times New Roman" panose="02020603050405020304" pitchFamily="18" charset="0"/>
              </a:rPr>
              <a:t>和引用</a:t>
            </a:r>
            <a:r>
              <a:rPr lang="en-US" altLang="zh-CN" dirty="0">
                <a:latin typeface="Times New Roman" panose="02020603050405020304" pitchFamily="18" charset="0"/>
                <a:cs typeface="Times New Roman" panose="02020603050405020304" pitchFamily="18" charset="0"/>
              </a:rPr>
              <a:t>(REFERENCE)</a:t>
            </a:r>
            <a:r>
              <a:rPr lang="zh-CN" altLang="en-US" dirty="0">
                <a:latin typeface="Times New Roman" panose="02020603050405020304" pitchFamily="18" charset="0"/>
                <a:cs typeface="Times New Roman" panose="02020603050405020304" pitchFamily="18" charset="0"/>
              </a:rPr>
              <a:t>等</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6</a:t>
            </a:r>
            <a:r>
              <a:rPr kumimoji="1" lang="en-GB" altLang="zh-CN" dirty="0"/>
              <a:t> SQL</a:t>
            </a:r>
            <a:r>
              <a:rPr kumimoji="1" lang="zh-CN" altLang="en-US" dirty="0"/>
              <a:t>数据控制功能</a:t>
            </a:r>
            <a:endParaRPr kumimoji="1" lang="zh-CN" alt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权限与角色</a:t>
            </a:r>
            <a:endParaRPr kumimoji="1" lang="en-US" altLang="zh-CN" sz="2600" dirty="0">
              <a:latin typeface="Times New Roman" panose="02020603050405020304" pitchFamily="18" charset="0"/>
              <a:cs typeface="Times New Roman" panose="02020603050405020304" pitchFamily="18" charset="0"/>
            </a:endParaRPr>
          </a:p>
          <a:p>
            <a:pPr marL="990600" lvl="1" indent="-533400">
              <a:lnSpc>
                <a:spcPct val="150000"/>
              </a:lnSpc>
            </a:pPr>
            <a:r>
              <a:rPr lang="zh-CN" altLang="en-US" dirty="0">
                <a:latin typeface="Times New Roman" panose="02020603050405020304" pitchFamily="18" charset="0"/>
                <a:cs typeface="Times New Roman" panose="02020603050405020304" pitchFamily="18" charset="0"/>
              </a:rPr>
              <a:t>除了可以给一个特定的用户授予权限外，</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还支持角色的概念</a:t>
            </a:r>
            <a:endParaRPr lang="zh-CN" altLang="en-US" dirty="0">
              <a:latin typeface="Times New Roman" panose="02020603050405020304" pitchFamily="18" charset="0"/>
              <a:cs typeface="Times New Roman" panose="02020603050405020304" pitchFamily="18" charset="0"/>
            </a:endParaRPr>
          </a:p>
          <a:p>
            <a:pPr marL="990600" lvl="1" indent="-533400">
              <a:lnSpc>
                <a:spcPct val="150000"/>
              </a:lnSpc>
            </a:pPr>
            <a:r>
              <a:rPr lang="zh-CN" altLang="en-US" dirty="0">
                <a:latin typeface="Times New Roman" panose="02020603050405020304" pitchFamily="18" charset="0"/>
                <a:cs typeface="Times New Roman" panose="02020603050405020304" pitchFamily="18" charset="0"/>
              </a:rPr>
              <a:t>角色并不对应于某个具体的用户，而是对于一类具有共同特征的用户的总称，这样作的目的是为了便于管理</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pP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中定义角色的语法如下：</a:t>
            </a:r>
            <a:endParaRPr lang="zh-CN" altLang="en-US" dirty="0">
              <a:latin typeface="Times New Roman" panose="02020603050405020304" pitchFamily="18" charset="0"/>
              <a:cs typeface="Times New Roman" panose="02020603050405020304" pitchFamily="18" charset="0"/>
            </a:endParaRPr>
          </a:p>
          <a:p>
            <a:pPr marL="990600" lvl="1" indent="-533400">
              <a:lnSpc>
                <a:spcPct val="150000"/>
              </a:lnSpc>
              <a:buClr>
                <a:srgbClr val="E40000"/>
              </a:buClr>
              <a:buNone/>
            </a:pPr>
            <a:r>
              <a:rPr lang="en-US" altLang="zh-CN" dirty="0">
                <a:latin typeface="Times New Roman" panose="02020603050405020304" pitchFamily="18" charset="0"/>
                <a:cs typeface="Times New Roman" panose="02020603050405020304" pitchFamily="18" charset="0"/>
              </a:rPr>
              <a:t>	CREATE  ROLE &lt;</a:t>
            </a:r>
            <a:r>
              <a:rPr lang="zh-CN" altLang="en-US" dirty="0">
                <a:latin typeface="Times New Roman" panose="02020603050405020304" pitchFamily="18" charset="0"/>
                <a:cs typeface="Times New Roman" panose="02020603050405020304" pitchFamily="18" charset="0"/>
              </a:rPr>
              <a:t>角色名</a:t>
            </a:r>
            <a:r>
              <a:rPr lang="en-US" altLang="zh-CN" dirty="0">
                <a:latin typeface="Times New Roman" panose="02020603050405020304" pitchFamily="18" charset="0"/>
                <a:cs typeface="Times New Roman" panose="02020603050405020304" pitchFamily="18" charset="0"/>
              </a:rPr>
              <a:t>&gt; </a:t>
            </a:r>
            <a:endParaRPr lang="en-US" altLang="zh-CN" dirty="0">
              <a:latin typeface="Times New Roman" panose="02020603050405020304" pitchFamily="18" charset="0"/>
              <a:cs typeface="Times New Roman" panose="02020603050405020304" pitchFamily="18" charset="0"/>
            </a:endParaRPr>
          </a:p>
          <a:p>
            <a:pPr marL="990600" lvl="1" indent="-533400">
              <a:lnSpc>
                <a:spcPct val="150000"/>
              </a:lnSpc>
              <a:buClr>
                <a:srgbClr val="E40000"/>
              </a:buClr>
              <a:buNone/>
            </a:pPr>
            <a:r>
              <a:rPr lang="en-US" altLang="zh-CN" dirty="0">
                <a:latin typeface="Times New Roman" panose="02020603050405020304" pitchFamily="18" charset="0"/>
                <a:cs typeface="Times New Roman" panose="02020603050405020304" pitchFamily="18" charset="0"/>
              </a:rPr>
              <a:t>	[WITH  ADMIN  {&lt;</a:t>
            </a:r>
            <a:r>
              <a:rPr lang="zh-CN" altLang="en-US" dirty="0">
                <a:latin typeface="Times New Roman" panose="02020603050405020304" pitchFamily="18" charset="0"/>
                <a:cs typeface="Times New Roman" panose="02020603050405020304" pitchFamily="18" charset="0"/>
              </a:rPr>
              <a:t>当前用户名</a:t>
            </a:r>
            <a:r>
              <a:rPr lang="en-US" altLang="zh-CN" dirty="0">
                <a:latin typeface="Times New Roman" panose="02020603050405020304" pitchFamily="18" charset="0"/>
                <a:cs typeface="Times New Roman" panose="02020603050405020304" pitchFamily="18" charset="0"/>
              </a:rPr>
              <a:t>&gt;|&lt;</a:t>
            </a:r>
            <a:r>
              <a:rPr lang="zh-CN" altLang="en-US" dirty="0">
                <a:latin typeface="Times New Roman" panose="02020603050405020304" pitchFamily="18" charset="0"/>
                <a:cs typeface="Times New Roman" panose="02020603050405020304" pitchFamily="18" charset="0"/>
              </a:rPr>
              <a:t>当前角色名</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6</a:t>
            </a:r>
            <a:r>
              <a:rPr kumimoji="1" lang="en-GB" altLang="zh-CN" dirty="0"/>
              <a:t> SQL</a:t>
            </a:r>
            <a:r>
              <a:rPr kumimoji="1" lang="zh-CN" altLang="en-US" dirty="0"/>
              <a:t>数据控制功能</a:t>
            </a:r>
            <a:endParaRPr kumimoji="1"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权限的授予和收回</a:t>
            </a:r>
            <a:endParaRPr kumimoji="1" lang="en-US" altLang="zh-CN" sz="2600" dirty="0">
              <a:latin typeface="Times New Roman" panose="02020603050405020304" pitchFamily="18" charset="0"/>
              <a:cs typeface="Times New Roman" panose="02020603050405020304" pitchFamily="18" charset="0"/>
            </a:endParaRPr>
          </a:p>
          <a:p>
            <a:pPr lvl="1">
              <a:lnSpc>
                <a:spcPct val="150000"/>
              </a:lnSpc>
            </a:pPr>
            <a:r>
              <a:rPr kumimoji="1" lang="zh-CN" altLang="en-US" dirty="0">
                <a:latin typeface="Times New Roman" panose="02020603050405020304" pitchFamily="18" charset="0"/>
                <a:cs typeface="Times New Roman" panose="02020603050405020304" pitchFamily="18" charset="0"/>
              </a:rPr>
              <a:t>将表级权限授予某个授权</a:t>
            </a:r>
            <a:r>
              <a:rPr kumimoji="1" lang="en-US" altLang="zh-CN" dirty="0">
                <a:latin typeface="Times New Roman" panose="02020603050405020304" pitchFamily="18" charset="0"/>
                <a:cs typeface="Times New Roman" panose="02020603050405020304" pitchFamily="18" charset="0"/>
              </a:rPr>
              <a:t>ID</a:t>
            </a:r>
            <a:r>
              <a:rPr kumimoji="1" lang="zh-CN" altLang="en-US" dirty="0">
                <a:latin typeface="Times New Roman" panose="02020603050405020304" pitchFamily="18" charset="0"/>
                <a:cs typeface="Times New Roman" panose="02020603050405020304" pitchFamily="18" charset="0"/>
              </a:rPr>
              <a:t>的语法格式如下：</a:t>
            </a:r>
            <a:endParaRPr kumimoji="1" lang="zh-CN" altLang="en-US" dirty="0">
              <a:latin typeface="Times New Roman" panose="02020603050405020304" pitchFamily="18" charset="0"/>
              <a:cs typeface="Times New Roman" panose="02020603050405020304" pitchFamily="18" charset="0"/>
            </a:endParaRPr>
          </a:p>
          <a:p>
            <a:pPr marL="0" indent="0">
              <a:lnSpc>
                <a:spcPct val="150000"/>
              </a:lnSpc>
              <a:buNone/>
            </a:pPr>
            <a:r>
              <a:rPr kumimoji="1" lang="en-US" altLang="zh-CN" sz="2400" b="0" dirty="0">
                <a:latin typeface="Times New Roman" panose="02020603050405020304" pitchFamily="18" charset="0"/>
                <a:cs typeface="Times New Roman" panose="02020603050405020304" pitchFamily="18" charset="0"/>
              </a:rPr>
              <a:t>	GRANT  &lt;</a:t>
            </a:r>
            <a:r>
              <a:rPr kumimoji="1" lang="zh-CN" altLang="en-US" sz="2400" b="0" dirty="0">
                <a:latin typeface="Times New Roman" panose="02020603050405020304" pitchFamily="18" charset="0"/>
                <a:cs typeface="Times New Roman" panose="02020603050405020304" pitchFamily="18" charset="0"/>
              </a:rPr>
              <a:t>权限</a:t>
            </a:r>
            <a:r>
              <a:rPr kumimoji="1" lang="en-US" altLang="zh-CN" sz="2400" b="0" dirty="0">
                <a:latin typeface="Times New Roman" panose="02020603050405020304" pitchFamily="18" charset="0"/>
                <a:cs typeface="Times New Roman" panose="02020603050405020304" pitchFamily="18" charset="0"/>
              </a:rPr>
              <a:t>&gt;  ON  TABLE  &lt;</a:t>
            </a:r>
            <a:r>
              <a:rPr kumimoji="1" lang="zh-CN" altLang="en-US" sz="2400" b="0" dirty="0">
                <a:latin typeface="Times New Roman" panose="02020603050405020304" pitchFamily="18" charset="0"/>
                <a:cs typeface="Times New Roman" panose="02020603050405020304" pitchFamily="18" charset="0"/>
              </a:rPr>
              <a:t>表名</a:t>
            </a:r>
            <a:r>
              <a:rPr kumimoji="1" lang="en-US" altLang="zh-CN" sz="2400" b="0" dirty="0">
                <a:latin typeface="Times New Roman" panose="02020603050405020304" pitchFamily="18" charset="0"/>
                <a:cs typeface="Times New Roman" panose="02020603050405020304" pitchFamily="18" charset="0"/>
              </a:rPr>
              <a:t>&gt; </a:t>
            </a:r>
            <a:endParaRPr kumimoji="1" lang="en-US" altLang="zh-CN" sz="2400" b="0" dirty="0">
              <a:latin typeface="Times New Roman" panose="02020603050405020304" pitchFamily="18" charset="0"/>
              <a:cs typeface="Times New Roman" panose="02020603050405020304" pitchFamily="18" charset="0"/>
            </a:endParaRPr>
          </a:p>
          <a:p>
            <a:pPr marL="0" indent="0">
              <a:lnSpc>
                <a:spcPct val="150000"/>
              </a:lnSpc>
              <a:buNone/>
            </a:pPr>
            <a:r>
              <a:rPr kumimoji="1" lang="en-US" altLang="zh-CN" sz="2400" b="0" dirty="0">
                <a:latin typeface="Times New Roman" panose="02020603050405020304" pitchFamily="18" charset="0"/>
                <a:cs typeface="Times New Roman" panose="02020603050405020304" pitchFamily="18" charset="0"/>
              </a:rPr>
              <a:t>	TO  &lt;</a:t>
            </a:r>
            <a:r>
              <a:rPr kumimoji="1" lang="zh-CN" altLang="en-US" sz="2400" b="0" dirty="0">
                <a:latin typeface="Times New Roman" panose="02020603050405020304" pitchFamily="18" charset="0"/>
                <a:cs typeface="Times New Roman" panose="02020603050405020304" pitchFamily="18" charset="0"/>
              </a:rPr>
              <a:t>授权</a:t>
            </a:r>
            <a:r>
              <a:rPr kumimoji="1" lang="en-US" altLang="zh-CN" sz="2400" b="0" dirty="0">
                <a:latin typeface="Times New Roman" panose="02020603050405020304" pitchFamily="18" charset="0"/>
                <a:cs typeface="Times New Roman" panose="02020603050405020304" pitchFamily="18" charset="0"/>
              </a:rPr>
              <a:t>ID&gt;</a:t>
            </a:r>
            <a:r>
              <a:rPr kumimoji="1" lang="zh-CN" altLang="en-US" sz="2400" b="0" dirty="0">
                <a:latin typeface="Times New Roman" panose="02020603050405020304" pitchFamily="18" charset="0"/>
                <a:cs typeface="Times New Roman" panose="02020603050405020304" pitchFamily="18" charset="0"/>
              </a:rPr>
              <a:t>，</a:t>
            </a:r>
            <a:r>
              <a:rPr kumimoji="1" lang="en-US" altLang="zh-CN" sz="2400" b="0" dirty="0">
                <a:latin typeface="Times New Roman" panose="02020603050405020304" pitchFamily="18" charset="0"/>
                <a:cs typeface="Times New Roman" panose="02020603050405020304" pitchFamily="18" charset="0"/>
              </a:rPr>
              <a:t>…</a:t>
            </a:r>
            <a:r>
              <a:rPr kumimoji="1" lang="zh-CN" altLang="en-US" sz="2400" b="0" dirty="0">
                <a:latin typeface="Times New Roman" panose="02020603050405020304" pitchFamily="18" charset="0"/>
                <a:cs typeface="Times New Roman" panose="02020603050405020304" pitchFamily="18" charset="0"/>
              </a:rPr>
              <a:t>，</a:t>
            </a:r>
            <a:r>
              <a:rPr kumimoji="1" lang="en-US" altLang="zh-CN" sz="2400" b="0" dirty="0">
                <a:latin typeface="Times New Roman" panose="02020603050405020304" pitchFamily="18" charset="0"/>
                <a:cs typeface="Times New Roman" panose="02020603050405020304" pitchFamily="18" charset="0"/>
              </a:rPr>
              <a:t>&lt;</a:t>
            </a:r>
            <a:r>
              <a:rPr kumimoji="1" lang="zh-CN" altLang="en-US" sz="2400" b="0" dirty="0">
                <a:latin typeface="Times New Roman" panose="02020603050405020304" pitchFamily="18" charset="0"/>
                <a:cs typeface="Times New Roman" panose="02020603050405020304" pitchFamily="18" charset="0"/>
              </a:rPr>
              <a:t>授权</a:t>
            </a:r>
            <a:r>
              <a:rPr kumimoji="1" lang="en-US" altLang="zh-CN" sz="2400" b="0" dirty="0">
                <a:latin typeface="Times New Roman" panose="02020603050405020304" pitchFamily="18" charset="0"/>
                <a:cs typeface="Times New Roman" panose="02020603050405020304" pitchFamily="18" charset="0"/>
              </a:rPr>
              <a:t>ID&gt;  [WITH  GRANT OPTION]</a:t>
            </a:r>
            <a:endParaRPr kumimoji="1" lang="en-US" altLang="zh-CN" sz="2400" b="0" dirty="0">
              <a:latin typeface="Times New Roman" panose="02020603050405020304" pitchFamily="18" charset="0"/>
              <a:cs typeface="Times New Roman" panose="02020603050405020304" pitchFamily="18" charset="0"/>
            </a:endParaRPr>
          </a:p>
          <a:p>
            <a:pPr lvl="1">
              <a:lnSpc>
                <a:spcPct val="150000"/>
              </a:lnSpc>
            </a:pPr>
            <a:r>
              <a:rPr kumimoji="1" lang="zh-CN" altLang="en-US" dirty="0">
                <a:latin typeface="Times New Roman" panose="02020603050405020304" pitchFamily="18" charset="0"/>
                <a:cs typeface="Times New Roman" panose="02020603050405020304" pitchFamily="18" charset="0"/>
              </a:rPr>
              <a:t>其中权限包括</a:t>
            </a:r>
            <a:r>
              <a:rPr kumimoji="1" lang="en-US" altLang="zh-CN" dirty="0">
                <a:latin typeface="Times New Roman" panose="02020603050405020304" pitchFamily="18" charset="0"/>
                <a:cs typeface="Times New Roman" panose="02020603050405020304" pitchFamily="18" charset="0"/>
              </a:rPr>
              <a:t>SELECT</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UPDATE</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INSERT</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DELETE</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REFERENCE</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ALL PRIVILEGES</a:t>
            </a:r>
            <a:r>
              <a:rPr kumimoji="1" lang="zh-CN" altLang="en-US" dirty="0">
                <a:latin typeface="Times New Roman" panose="02020603050405020304" pitchFamily="18" charset="0"/>
                <a:cs typeface="Times New Roman" panose="02020603050405020304" pitchFamily="18" charset="0"/>
              </a:rPr>
              <a:t>等，</a:t>
            </a:r>
            <a:r>
              <a:rPr kumimoji="1" lang="en-US" altLang="zh-CN" dirty="0">
                <a:latin typeface="Times New Roman" panose="02020603050405020304" pitchFamily="18" charset="0"/>
                <a:cs typeface="Times New Roman" panose="02020603050405020304" pitchFamily="18" charset="0"/>
              </a:rPr>
              <a:t>ALL PRIVILEGES</a:t>
            </a:r>
            <a:r>
              <a:rPr kumimoji="1" lang="zh-CN" altLang="en-US" dirty="0">
                <a:latin typeface="Times New Roman" panose="02020603050405020304" pitchFamily="18" charset="0"/>
                <a:cs typeface="Times New Roman" panose="02020603050405020304" pitchFamily="18" charset="0"/>
              </a:rPr>
              <a:t>表示授予所有的权限，此外对于</a:t>
            </a:r>
            <a:r>
              <a:rPr kumimoji="1" lang="en-US" altLang="zh-CN" dirty="0">
                <a:latin typeface="Times New Roman" panose="02020603050405020304" pitchFamily="18" charset="0"/>
                <a:cs typeface="Times New Roman" panose="02020603050405020304" pitchFamily="18" charset="0"/>
              </a:rPr>
              <a:t>SELECT</a:t>
            </a:r>
            <a:r>
              <a:rPr kumimoji="1" lang="zh-CN" altLang="en-US" dirty="0">
                <a:latin typeface="Times New Roman" panose="02020603050405020304" pitchFamily="18" charset="0"/>
                <a:cs typeface="Times New Roman" panose="02020603050405020304" pitchFamily="18" charset="0"/>
              </a:rPr>
              <a:t>和</a:t>
            </a:r>
            <a:r>
              <a:rPr kumimoji="1" lang="en-US" altLang="zh-CN" dirty="0">
                <a:latin typeface="Times New Roman" panose="02020603050405020304" pitchFamily="18" charset="0"/>
                <a:cs typeface="Times New Roman" panose="02020603050405020304" pitchFamily="18" charset="0"/>
              </a:rPr>
              <a:t>UPDATE</a:t>
            </a:r>
            <a:r>
              <a:rPr kumimoji="1" lang="zh-CN" altLang="en-US" dirty="0">
                <a:latin typeface="Times New Roman" panose="02020603050405020304" pitchFamily="18" charset="0"/>
                <a:cs typeface="Times New Roman" panose="02020603050405020304" pitchFamily="18" charset="0"/>
              </a:rPr>
              <a:t>还可以将权限指定到具体的某些属性列上</a:t>
            </a:r>
            <a:endParaRPr kumimoji="1" lang="zh-CN" altLang="en-US" dirty="0">
              <a:latin typeface="Times New Roman" panose="02020603050405020304" pitchFamily="18" charset="0"/>
              <a:cs typeface="Times New Roman" panose="02020603050405020304" pitchFamily="18" charset="0"/>
            </a:endParaRPr>
          </a:p>
          <a:p>
            <a:pPr lvl="1">
              <a:lnSpc>
                <a:spcPct val="150000"/>
              </a:lnSpc>
            </a:pPr>
            <a:r>
              <a:rPr kumimoji="1" lang="zh-CN" altLang="en-US" dirty="0">
                <a:latin typeface="Times New Roman" panose="02020603050405020304" pitchFamily="18" charset="0"/>
                <a:cs typeface="Times New Roman" panose="02020603050405020304" pitchFamily="18" charset="0"/>
              </a:rPr>
              <a:t>如果使用了</a:t>
            </a:r>
            <a:r>
              <a:rPr kumimoji="1" lang="en-US" altLang="zh-CN" dirty="0">
                <a:latin typeface="Times New Roman" panose="02020603050405020304" pitchFamily="18" charset="0"/>
                <a:cs typeface="Times New Roman" panose="02020603050405020304" pitchFamily="18" charset="0"/>
              </a:rPr>
              <a:t>WITH  GRANT OPTION</a:t>
            </a:r>
            <a:r>
              <a:rPr kumimoji="1" lang="zh-CN" altLang="en-US" dirty="0">
                <a:latin typeface="Times New Roman" panose="02020603050405020304" pitchFamily="18" charset="0"/>
                <a:cs typeface="Times New Roman" panose="02020603050405020304" pitchFamily="18" charset="0"/>
              </a:rPr>
              <a:t>，则表明该权限是可以转授的</a:t>
            </a:r>
            <a:endParaRPr kumimoji="1"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6</a:t>
            </a:r>
            <a:r>
              <a:rPr kumimoji="1" lang="en-GB" altLang="zh-CN" dirty="0"/>
              <a:t> SQL</a:t>
            </a:r>
            <a:r>
              <a:rPr kumimoji="1" lang="zh-CN" altLang="en-US" dirty="0"/>
              <a:t>数据控制功能</a:t>
            </a:r>
            <a:endParaRPr kumimoji="1"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85000" lnSpcReduction="10000"/>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权限的授予和收回</a:t>
            </a:r>
            <a:endParaRPr kumimoji="1" lang="en-US" altLang="zh-CN" sz="2600" dirty="0">
              <a:latin typeface="Times New Roman" panose="02020603050405020304" pitchFamily="18" charset="0"/>
              <a:cs typeface="Times New Roman" panose="02020603050405020304" pitchFamily="18" charset="0"/>
            </a:endParaRPr>
          </a:p>
          <a:p>
            <a:pPr lvl="1">
              <a:lnSpc>
                <a:spcPct val="16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3-80</a:t>
            </a:r>
            <a:r>
              <a:rPr lang="zh-CN" altLang="en-US" i="1" dirty="0">
                <a:latin typeface="Times New Roman" panose="02020603050405020304" pitchFamily="18" charset="0"/>
                <a:cs typeface="Times New Roman" panose="02020603050405020304" pitchFamily="18" charset="0"/>
              </a:rPr>
              <a:t>：将表</a:t>
            </a:r>
            <a:r>
              <a:rPr lang="en-US" altLang="zh-CN" i="1" dirty="0">
                <a:latin typeface="Times New Roman" panose="02020603050405020304" pitchFamily="18" charset="0"/>
                <a:cs typeface="Times New Roman" panose="02020603050405020304" pitchFamily="18" charset="0"/>
              </a:rPr>
              <a:t>SC</a:t>
            </a:r>
            <a:r>
              <a:rPr lang="zh-CN" altLang="en-US" i="1" dirty="0">
                <a:latin typeface="Times New Roman" panose="02020603050405020304" pitchFamily="18" charset="0"/>
                <a:cs typeface="Times New Roman" panose="02020603050405020304" pitchFamily="18" charset="0"/>
              </a:rPr>
              <a:t>上的</a:t>
            </a:r>
            <a:r>
              <a:rPr lang="en-US" altLang="zh-CN" i="1" dirty="0">
                <a:latin typeface="Times New Roman" panose="02020603050405020304" pitchFamily="18" charset="0"/>
                <a:cs typeface="Times New Roman" panose="02020603050405020304" pitchFamily="18" charset="0"/>
              </a:rPr>
              <a:t>SELECT</a:t>
            </a:r>
            <a:r>
              <a:rPr lang="zh-CN" altLang="en-US" i="1" dirty="0">
                <a:latin typeface="Times New Roman" panose="02020603050405020304" pitchFamily="18" charset="0"/>
                <a:cs typeface="Times New Roman" panose="02020603050405020304" pitchFamily="18" charset="0"/>
              </a:rPr>
              <a:t>和</a:t>
            </a:r>
            <a:r>
              <a:rPr lang="en-US" altLang="zh-CN" i="1" dirty="0">
                <a:latin typeface="Times New Roman" panose="02020603050405020304" pitchFamily="18" charset="0"/>
                <a:cs typeface="Times New Roman" panose="02020603050405020304" pitchFamily="18" charset="0"/>
              </a:rPr>
              <a:t>UPDATE(Grade)</a:t>
            </a:r>
            <a:r>
              <a:rPr lang="zh-CN" altLang="en-US" i="1" dirty="0">
                <a:latin typeface="Times New Roman" panose="02020603050405020304" pitchFamily="18" charset="0"/>
                <a:cs typeface="Times New Roman" panose="02020603050405020304" pitchFamily="18" charset="0"/>
              </a:rPr>
              <a:t>特权授予用户“</a:t>
            </a:r>
            <a:r>
              <a:rPr lang="en-US" altLang="zh-CN" i="1" dirty="0">
                <a:latin typeface="Times New Roman" panose="02020603050405020304" pitchFamily="18" charset="0"/>
                <a:cs typeface="Times New Roman" panose="02020603050405020304" pitchFamily="18" charset="0"/>
              </a:rPr>
              <a:t>Wang”</a:t>
            </a:r>
            <a:r>
              <a:rPr lang="zh-CN" altLang="en-US" i="1" dirty="0">
                <a:latin typeface="Times New Roman" panose="02020603050405020304" pitchFamily="18" charset="0"/>
                <a:cs typeface="Times New Roman" panose="02020603050405020304" pitchFamily="18" charset="0"/>
              </a:rPr>
              <a:t>，同时允许该用户将权限授予其它用户：</a:t>
            </a:r>
            <a:endParaRPr lang="zh-CN" altLang="en-US" i="1" dirty="0">
              <a:latin typeface="Times New Roman" panose="02020603050405020304" pitchFamily="18" charset="0"/>
              <a:cs typeface="Times New Roman" panose="02020603050405020304" pitchFamily="18" charset="0"/>
            </a:endParaRPr>
          </a:p>
          <a:p>
            <a:pPr marL="990600" lvl="1" indent="-533400">
              <a:lnSpc>
                <a:spcPct val="16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lnSpc>
                <a:spcPct val="160000"/>
              </a:lnSpc>
              <a:buNone/>
            </a:pPr>
            <a:r>
              <a:rPr lang="en-US" altLang="zh-CN" dirty="0">
                <a:latin typeface="Times New Roman" panose="02020603050405020304" pitchFamily="18" charset="0"/>
                <a:cs typeface="Times New Roman" panose="02020603050405020304" pitchFamily="18" charset="0"/>
              </a:rPr>
              <a:t>	 </a:t>
            </a:r>
            <a:endParaRPr kumimoji="1" lang="en-US" altLang="zh-CN" dirty="0">
              <a:latin typeface="Times New Roman" panose="02020603050405020304" pitchFamily="18" charset="0"/>
              <a:cs typeface="Times New Roman" panose="02020603050405020304" pitchFamily="18" charset="0"/>
            </a:endParaRPr>
          </a:p>
          <a:p>
            <a:pPr lvl="1">
              <a:lnSpc>
                <a:spcPct val="160000"/>
              </a:lnSpc>
            </a:pPr>
            <a:r>
              <a:rPr lang="zh-CN" altLang="en-US" dirty="0">
                <a:latin typeface="Times New Roman" panose="02020603050405020304" pitchFamily="18" charset="0"/>
                <a:cs typeface="Times New Roman" panose="02020603050405020304" pitchFamily="18" charset="0"/>
              </a:rPr>
              <a:t>收回用户某种特权的</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语句如下：</a:t>
            </a:r>
            <a:endParaRPr lang="zh-CN" altLang="en-US" dirty="0">
              <a:latin typeface="Times New Roman" panose="02020603050405020304" pitchFamily="18" charset="0"/>
              <a:cs typeface="Times New Roman" panose="02020603050405020304" pitchFamily="18" charset="0"/>
            </a:endParaRPr>
          </a:p>
          <a:p>
            <a:pPr marL="990600" lvl="1" indent="-533400">
              <a:lnSpc>
                <a:spcPct val="16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990600" lvl="1" indent="-533400">
              <a:lnSpc>
                <a:spcPct val="160000"/>
              </a:lnSpc>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6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3-81</a:t>
            </a:r>
            <a:r>
              <a:rPr lang="zh-CN" altLang="en-US" i="1" dirty="0">
                <a:latin typeface="Times New Roman" panose="02020603050405020304" pitchFamily="18" charset="0"/>
                <a:cs typeface="Times New Roman" panose="02020603050405020304" pitchFamily="18" charset="0"/>
              </a:rPr>
              <a:t>：将用户</a:t>
            </a:r>
            <a:r>
              <a:rPr lang="en-US" altLang="zh-CN" i="1" dirty="0">
                <a:latin typeface="Times New Roman" panose="02020603050405020304" pitchFamily="18" charset="0"/>
                <a:cs typeface="Times New Roman" panose="02020603050405020304" pitchFamily="18" charset="0"/>
              </a:rPr>
              <a:t>Wang</a:t>
            </a:r>
            <a:r>
              <a:rPr lang="zh-CN" altLang="en-US" i="1" dirty="0">
                <a:latin typeface="Times New Roman" panose="02020603050405020304" pitchFamily="18" charset="0"/>
                <a:cs typeface="Times New Roman" panose="02020603050405020304" pitchFamily="18" charset="0"/>
              </a:rPr>
              <a:t>在</a:t>
            </a:r>
            <a:r>
              <a:rPr lang="en-US" altLang="zh-CN" i="1" dirty="0">
                <a:latin typeface="Times New Roman" panose="02020603050405020304" pitchFamily="18" charset="0"/>
                <a:cs typeface="Times New Roman" panose="02020603050405020304" pitchFamily="18" charset="0"/>
              </a:rPr>
              <a:t>SC</a:t>
            </a:r>
            <a:r>
              <a:rPr lang="zh-CN" altLang="en-US" i="1" dirty="0">
                <a:latin typeface="Times New Roman" panose="02020603050405020304" pitchFamily="18" charset="0"/>
                <a:cs typeface="Times New Roman" panose="02020603050405020304" pitchFamily="18" charset="0"/>
              </a:rPr>
              <a:t>表上的</a:t>
            </a:r>
            <a:r>
              <a:rPr lang="en-US" altLang="zh-CN" i="1" dirty="0">
                <a:latin typeface="Times New Roman" panose="02020603050405020304" pitchFamily="18" charset="0"/>
                <a:cs typeface="Times New Roman" panose="02020603050405020304" pitchFamily="18" charset="0"/>
              </a:rPr>
              <a:t>UPDATE</a:t>
            </a:r>
            <a:r>
              <a:rPr lang="zh-CN" altLang="en-US" i="1" dirty="0">
                <a:latin typeface="Times New Roman" panose="02020603050405020304" pitchFamily="18" charset="0"/>
                <a:cs typeface="Times New Roman" panose="02020603050405020304" pitchFamily="18" charset="0"/>
              </a:rPr>
              <a:t>权限收回：</a:t>
            </a:r>
            <a:endParaRPr lang="zh-CN" altLang="en-US" i="1" dirty="0">
              <a:latin typeface="Times New Roman" panose="02020603050405020304" pitchFamily="18" charset="0"/>
              <a:cs typeface="Times New Roman" panose="02020603050405020304" pitchFamily="18" charset="0"/>
            </a:endParaRPr>
          </a:p>
          <a:p>
            <a:pPr marL="533400" indent="-533400">
              <a:lnSpc>
                <a:spcPct val="160000"/>
              </a:lnSpc>
              <a:buNone/>
            </a:pPr>
            <a:r>
              <a:rPr lang="en-US" altLang="zh-CN" sz="2400" b="0" dirty="0">
                <a:latin typeface="Times New Roman" panose="02020603050405020304" pitchFamily="18" charset="0"/>
                <a:cs typeface="Times New Roman" panose="02020603050405020304" pitchFamily="18" charset="0"/>
              </a:rPr>
              <a:t>		</a:t>
            </a: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6</a:t>
            </a:r>
            <a:r>
              <a:rPr kumimoji="1" lang="en-GB" altLang="zh-CN" dirty="0"/>
              <a:t> SQL</a:t>
            </a:r>
            <a:r>
              <a:rPr kumimoji="1" lang="zh-CN" altLang="en-US" dirty="0"/>
              <a:t>数据控制功能</a:t>
            </a:r>
            <a:endParaRPr kumimoji="1" lang="zh-CN" altLang="en-US" dirty="0"/>
          </a:p>
        </p:txBody>
      </p:sp>
      <p:sp>
        <p:nvSpPr>
          <p:cNvPr id="6" name="文本框 5"/>
          <p:cNvSpPr txBox="1"/>
          <p:nvPr/>
        </p:nvSpPr>
        <p:spPr bwMode="auto">
          <a:xfrm>
            <a:off x="1159921" y="2853346"/>
            <a:ext cx="6735450" cy="79898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GRANT SELECT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UPDATE(Grade)  ON  TABLE  SC</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TO  Wang  WITH  GRANT OPTION</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7" name="文本框 6"/>
          <p:cNvSpPr txBox="1"/>
          <p:nvPr/>
        </p:nvSpPr>
        <p:spPr bwMode="auto">
          <a:xfrm>
            <a:off x="1159921" y="4389156"/>
            <a:ext cx="6735450" cy="78942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REVOKE  &lt;</a:t>
            </a:r>
            <a:r>
              <a:rPr lang="zh-CN" altLang="en-US" sz="2000" dirty="0">
                <a:latin typeface="Cambria Math" panose="02040503050406030204" pitchFamily="18" charset="0"/>
                <a:cs typeface="Times New Roman" panose="02020603050405020304" pitchFamily="18" charset="0"/>
              </a:rPr>
              <a:t>权限</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&gt;  ON  TABLE  &lt;</a:t>
            </a:r>
            <a:r>
              <a:rPr lang="zh-CN" altLang="en-US" sz="2000" dirty="0">
                <a:latin typeface="Cambria Math" panose="02040503050406030204" pitchFamily="18" charset="0"/>
                <a:cs typeface="Times New Roman" panose="02020603050405020304" pitchFamily="18" charset="0"/>
              </a:rPr>
              <a:t>表名</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&gt;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FROM  &lt;</a:t>
            </a:r>
            <a:r>
              <a:rPr lang="zh-CN" altLang="en-US" sz="2000" dirty="0">
                <a:latin typeface="Cambria Math" panose="02040503050406030204" pitchFamily="18" charset="0"/>
                <a:cs typeface="Times New Roman" panose="02020603050405020304" pitchFamily="18" charset="0"/>
              </a:rPr>
              <a:t>授权</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ID&gt;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&lt;</a:t>
            </a:r>
            <a:r>
              <a:rPr lang="zh-CN" altLang="en-US" sz="2000" dirty="0">
                <a:latin typeface="Cambria Math" panose="02040503050406030204" pitchFamily="18" charset="0"/>
                <a:cs typeface="Times New Roman" panose="02020603050405020304" pitchFamily="18" charset="0"/>
              </a:rPr>
              <a:t>授权</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ID&gt;</a:t>
            </a:r>
            <a:endParaRPr lang="en-US" altLang="zh-C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8" name="文本框 7"/>
          <p:cNvSpPr txBox="1"/>
          <p:nvPr/>
        </p:nvSpPr>
        <p:spPr bwMode="auto">
          <a:xfrm>
            <a:off x="1159921" y="5879989"/>
            <a:ext cx="6735450" cy="410927"/>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609600" indent="-609600">
              <a:lnSpc>
                <a:spcPct val="110000"/>
              </a:lnSpc>
              <a:spcBef>
                <a:spcPts val="0"/>
              </a:spcBef>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REVOKE  UPDATE(Grade)  ON  TABLE  SC   FROM  Wang</a:t>
            </a:r>
            <a:endParaRPr kumimoji="1" lang="zh-CN" altLang="en-US" sz="20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b="0" dirty="0">
                <a:latin typeface="Times New Roman" panose="02020603050405020304" pitchFamily="18" charset="0"/>
                <a:cs typeface="Times New Roman" panose="02020603050405020304" pitchFamily="18" charset="0"/>
              </a:rPr>
              <a:t>SQL</a:t>
            </a:r>
            <a:r>
              <a:rPr lang="zh-CN" altLang="en-US" sz="2600" b="0" dirty="0">
                <a:latin typeface="Times New Roman" panose="02020603050405020304" pitchFamily="18" charset="0"/>
                <a:cs typeface="Times New Roman" panose="02020603050405020304" pitchFamily="18" charset="0"/>
              </a:rPr>
              <a:t>语言提供了两种使用方式：</a:t>
            </a:r>
            <a:endParaRPr lang="en-US" altLang="zh-CN" sz="2600" b="0"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一种是在终端交互式方式下使用，前面介绍的就是做为独立语言由用户在交互环境下使用的</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语言</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另一种是将</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语言嵌入到某种高级语言如</a:t>
            </a:r>
            <a:r>
              <a:rPr lang="en-US" altLang="zh-CN" dirty="0">
                <a:latin typeface="Times New Roman" panose="02020603050405020304" pitchFamily="18" charset="0"/>
                <a:cs typeface="Times New Roman" panose="02020603050405020304" pitchFamily="18" charset="0"/>
              </a:rPr>
              <a:t>PL/1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COBOL</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FORTRAN</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中使用，利用高级语言的过程性结构来弥补</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语言在实现复杂应用方面的不足，这种方式下使用的</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语言称为</a:t>
            </a:r>
            <a:r>
              <a:rPr lang="zh-CN" altLang="en-US" u="sng" dirty="0">
                <a:latin typeface="Times New Roman" panose="02020603050405020304" pitchFamily="18" charset="0"/>
                <a:cs typeface="Times New Roman" panose="02020603050405020304" pitchFamily="18" charset="0"/>
              </a:rPr>
              <a:t>嵌入式</a:t>
            </a:r>
            <a:r>
              <a:rPr lang="en-US" altLang="zh-CN" u="sng"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Embedded SQL</a:t>
            </a:r>
            <a:r>
              <a:rPr lang="zh-CN" altLang="en-US" dirty="0">
                <a:latin typeface="Times New Roman" panose="02020603050405020304" pitchFamily="18" charset="0"/>
                <a:cs typeface="Times New Roman" panose="02020603050405020304" pitchFamily="18" charset="0"/>
              </a:rPr>
              <a:t>），而嵌入</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的高级语言称为</a:t>
            </a:r>
            <a:r>
              <a:rPr lang="zh-CN" altLang="en-US" u="sng" dirty="0">
                <a:latin typeface="Times New Roman" panose="02020603050405020304" pitchFamily="18" charset="0"/>
                <a:cs typeface="Times New Roman" panose="02020603050405020304" pitchFamily="18" charset="0"/>
              </a:rPr>
              <a:t>主语言</a:t>
            </a:r>
            <a:r>
              <a:rPr lang="zh-CN" altLang="en-US" dirty="0">
                <a:latin typeface="Times New Roman" panose="02020603050405020304" pitchFamily="18" charset="0"/>
                <a:cs typeface="Times New Roman" panose="02020603050405020304" pitchFamily="18" charset="0"/>
              </a:rPr>
              <a:t>或</a:t>
            </a:r>
            <a:r>
              <a:rPr lang="zh-CN" altLang="en-US" u="sng" dirty="0">
                <a:latin typeface="Times New Roman" panose="02020603050405020304" pitchFamily="18" charset="0"/>
                <a:cs typeface="Times New Roman" panose="02020603050405020304" pitchFamily="18" charset="0"/>
              </a:rPr>
              <a:t>宿主语言</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200000"/>
              </a:lnSpc>
            </a:pPr>
            <a:r>
              <a:rPr kumimoji="1" lang="zh-CN" altLang="en-US" sz="2400" b="0" dirty="0">
                <a:latin typeface="Times New Roman" panose="02020603050405020304" pitchFamily="18" charset="0"/>
                <a:cs typeface="Times New Roman" panose="02020603050405020304" pitchFamily="18" charset="0"/>
              </a:rPr>
              <a:t>在嵌入式</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中，为了能够区分</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语句与主语言语句，所有</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语句都必须加前缀</a:t>
            </a:r>
            <a:r>
              <a:rPr kumimoji="1" lang="en-US" altLang="zh-CN" sz="2400" b="0" dirty="0">
                <a:latin typeface="Times New Roman" panose="02020603050405020304" pitchFamily="18" charset="0"/>
                <a:cs typeface="Times New Roman" panose="02020603050405020304" pitchFamily="18" charset="0"/>
              </a:rPr>
              <a:t>EXEC SQL</a:t>
            </a:r>
            <a:endParaRPr kumimoji="1" lang="en-US" altLang="zh-CN" sz="2400" b="0" dirty="0">
              <a:latin typeface="Times New Roman" panose="02020603050405020304" pitchFamily="18" charset="0"/>
              <a:cs typeface="Times New Roman" panose="02020603050405020304" pitchFamily="18" charset="0"/>
            </a:endParaRPr>
          </a:p>
          <a:p>
            <a:pPr>
              <a:lnSpc>
                <a:spcPct val="200000"/>
              </a:lnSpc>
            </a:pP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语句的结束标志则随主语言的不同而不同，例如在</a:t>
            </a:r>
            <a:r>
              <a:rPr kumimoji="1" lang="en-US" altLang="zh-CN" sz="2400" b="0" dirty="0">
                <a:latin typeface="Times New Roman" panose="02020603050405020304" pitchFamily="18" charset="0"/>
                <a:cs typeface="Times New Roman" panose="02020603050405020304" pitchFamily="18" charset="0"/>
              </a:rPr>
              <a:t>PL/I</a:t>
            </a:r>
            <a:r>
              <a:rPr kumimoji="1" lang="zh-CN" altLang="en-US" sz="2400" b="0" dirty="0">
                <a:latin typeface="Times New Roman" panose="02020603050405020304" pitchFamily="18" charset="0"/>
                <a:cs typeface="Times New Roman" panose="02020603050405020304" pitchFamily="18" charset="0"/>
              </a:rPr>
              <a:t>和</a:t>
            </a:r>
            <a:r>
              <a:rPr kumimoji="1" lang="en-US" altLang="zh-CN" sz="2400" b="0" dirty="0">
                <a:latin typeface="Times New Roman" panose="02020603050405020304" pitchFamily="18" charset="0"/>
                <a:cs typeface="Times New Roman" panose="02020603050405020304" pitchFamily="18" charset="0"/>
              </a:rPr>
              <a:t>C</a:t>
            </a:r>
            <a:r>
              <a:rPr kumimoji="1" lang="zh-CN" altLang="en-US" sz="2400" b="0" dirty="0">
                <a:latin typeface="Times New Roman" panose="02020603050405020304" pitchFamily="18" charset="0"/>
                <a:cs typeface="Times New Roman" panose="02020603050405020304" pitchFamily="18" charset="0"/>
              </a:rPr>
              <a:t>中以分号（</a:t>
            </a:r>
            <a:r>
              <a:rPr kumimoji="1" lang="en-US" altLang="zh-CN" sz="2400" b="0" dirty="0">
                <a:latin typeface="Times New Roman" panose="02020603050405020304" pitchFamily="18" charset="0"/>
                <a:cs typeface="Times New Roman" panose="02020603050405020304" pitchFamily="18" charset="0"/>
              </a:rPr>
              <a:t>;</a:t>
            </a:r>
            <a:r>
              <a:rPr kumimoji="1" lang="zh-CN" altLang="en-US" sz="2400" b="0" dirty="0">
                <a:latin typeface="Times New Roman" panose="02020603050405020304" pitchFamily="18" charset="0"/>
                <a:cs typeface="Times New Roman" panose="02020603050405020304" pitchFamily="18" charset="0"/>
              </a:rPr>
              <a:t>）结束，在</a:t>
            </a:r>
            <a:r>
              <a:rPr kumimoji="1" lang="en-US" altLang="zh-CN" sz="2400" b="0" dirty="0">
                <a:latin typeface="Times New Roman" panose="02020603050405020304" pitchFamily="18" charset="0"/>
                <a:cs typeface="Times New Roman" panose="02020603050405020304" pitchFamily="18" charset="0"/>
              </a:rPr>
              <a:t>COBOL</a:t>
            </a:r>
            <a:r>
              <a:rPr kumimoji="1" lang="zh-CN" altLang="en-US" sz="2400" b="0" dirty="0">
                <a:latin typeface="Times New Roman" panose="02020603050405020304" pitchFamily="18" charset="0"/>
                <a:cs typeface="Times New Roman" panose="02020603050405020304" pitchFamily="18" charset="0"/>
              </a:rPr>
              <a:t>中以</a:t>
            </a:r>
            <a:r>
              <a:rPr kumimoji="1" lang="en-US" altLang="zh-CN" sz="2400" b="0" dirty="0">
                <a:latin typeface="Times New Roman" panose="02020603050405020304" pitchFamily="18" charset="0"/>
                <a:cs typeface="Times New Roman" panose="02020603050405020304" pitchFamily="18" charset="0"/>
              </a:rPr>
              <a:t>END-EXEC</a:t>
            </a:r>
            <a:r>
              <a:rPr kumimoji="1" lang="zh-CN" altLang="en-US" sz="2400" b="0" dirty="0">
                <a:latin typeface="Times New Roman" panose="02020603050405020304" pitchFamily="18" charset="0"/>
                <a:cs typeface="Times New Roman" panose="02020603050405020304" pitchFamily="18" charset="0"/>
              </a:rPr>
              <a:t>结束</a:t>
            </a:r>
            <a:endParaRPr kumimoji="1" lang="zh-CN" altLang="en-US" sz="2400" b="0" dirty="0">
              <a:latin typeface="Times New Roman" panose="02020603050405020304" pitchFamily="18" charset="0"/>
              <a:cs typeface="Times New Roman" panose="02020603050405020304" pitchFamily="18" charset="0"/>
            </a:endParaRPr>
          </a:p>
          <a:p>
            <a:pPr>
              <a:lnSpc>
                <a:spcPct val="200000"/>
              </a:lnSpc>
            </a:pPr>
            <a:r>
              <a:rPr kumimoji="1" lang="zh-CN" altLang="en-US" sz="2400" b="0" dirty="0">
                <a:latin typeface="Times New Roman" panose="02020603050405020304" pitchFamily="18" charset="0"/>
                <a:cs typeface="Times New Roman" panose="02020603050405020304" pitchFamily="18" charset="0"/>
              </a:rPr>
              <a:t>这样，以</a:t>
            </a:r>
            <a:r>
              <a:rPr kumimoji="1" lang="en-US" altLang="zh-CN" sz="2400" b="0" dirty="0">
                <a:latin typeface="Times New Roman" panose="02020603050405020304" pitchFamily="18" charset="0"/>
                <a:cs typeface="Times New Roman" panose="02020603050405020304" pitchFamily="18" charset="0"/>
              </a:rPr>
              <a:t>C</a:t>
            </a:r>
            <a:r>
              <a:rPr kumimoji="1" lang="zh-CN" altLang="en-US" sz="2400" b="0" dirty="0">
                <a:latin typeface="Times New Roman" panose="02020603050405020304" pitchFamily="18" charset="0"/>
                <a:cs typeface="Times New Roman" panose="02020603050405020304" pitchFamily="18" charset="0"/>
              </a:rPr>
              <a:t>或</a:t>
            </a:r>
            <a:r>
              <a:rPr kumimoji="1" lang="en-US" altLang="zh-CN" sz="2400" b="0" dirty="0">
                <a:latin typeface="Times New Roman" panose="02020603050405020304" pitchFamily="18" charset="0"/>
                <a:cs typeface="Times New Roman" panose="02020603050405020304" pitchFamily="18" charset="0"/>
              </a:rPr>
              <a:t>PL/I</a:t>
            </a:r>
            <a:r>
              <a:rPr kumimoji="1" lang="zh-CN" altLang="en-US" sz="2400" b="0" dirty="0">
                <a:latin typeface="Times New Roman" panose="02020603050405020304" pitchFamily="18" charset="0"/>
                <a:cs typeface="Times New Roman" panose="02020603050405020304" pitchFamily="18" charset="0"/>
              </a:rPr>
              <a:t>作为主语言的嵌入式</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语句的一般形式为：</a:t>
            </a:r>
            <a:endParaRPr kumimoji="1" lang="zh-CN" altLang="en-US" sz="2400" b="0" dirty="0">
              <a:latin typeface="Times New Roman" panose="02020603050405020304" pitchFamily="18" charset="0"/>
              <a:cs typeface="Times New Roman" panose="02020603050405020304" pitchFamily="18" charset="0"/>
            </a:endParaRPr>
          </a:p>
          <a:p>
            <a:pPr marL="0" indent="0">
              <a:lnSpc>
                <a:spcPct val="200000"/>
              </a:lnSpc>
              <a:buNone/>
            </a:pPr>
            <a:r>
              <a:rPr kumimoji="1" lang="zh-CN" altLang="en-US" sz="2400" b="0" dirty="0">
                <a:latin typeface="Times New Roman" panose="02020603050405020304" pitchFamily="18" charset="0"/>
                <a:cs typeface="Times New Roman" panose="02020603050405020304" pitchFamily="18" charset="0"/>
              </a:rPr>
              <a:t>       </a:t>
            </a:r>
            <a:r>
              <a:rPr kumimoji="1" lang="en-US" altLang="zh-CN" sz="2400" b="0" dirty="0">
                <a:latin typeface="Times New Roman" panose="02020603050405020304" pitchFamily="18" charset="0"/>
                <a:cs typeface="Times New Roman" panose="02020603050405020304" pitchFamily="18" charset="0"/>
              </a:rPr>
              <a:t>EXEC SQL &lt;SQL</a:t>
            </a:r>
            <a:r>
              <a:rPr kumimoji="1" lang="zh-CN" altLang="en-US" sz="2400" b="0" dirty="0">
                <a:latin typeface="Times New Roman" panose="02020603050405020304" pitchFamily="18" charset="0"/>
                <a:cs typeface="Times New Roman" panose="02020603050405020304" pitchFamily="18" charset="0"/>
              </a:rPr>
              <a:t>语句</a:t>
            </a:r>
            <a:r>
              <a:rPr kumimoji="1" lang="en-US" altLang="zh-CN" sz="2400" b="0" dirty="0">
                <a:latin typeface="Times New Roman" panose="02020603050405020304" pitchFamily="18" charset="0"/>
                <a:cs typeface="Times New Roman" panose="02020603050405020304" pitchFamily="18" charset="0"/>
              </a:rPr>
              <a:t>&gt;;</a:t>
            </a:r>
            <a:endParaRPr kumimoji="1" lang="en-US" altLang="zh-CN" sz="2400" b="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200000"/>
              </a:lnSpc>
            </a:pPr>
            <a:r>
              <a:rPr kumimoji="1" lang="zh-CN" altLang="en-US" sz="2400" b="0" dirty="0">
                <a:latin typeface="Times New Roman" panose="02020603050405020304" pitchFamily="18" charset="0"/>
                <a:cs typeface="Times New Roman" panose="02020603050405020304" pitchFamily="18" charset="0"/>
              </a:rPr>
              <a:t>嵌入式</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语句根据其作用的不同，可分为</a:t>
            </a:r>
            <a:r>
              <a:rPr kumimoji="1" lang="zh-CN" altLang="en-US" sz="2400" b="0" u="sng" dirty="0">
                <a:latin typeface="Times New Roman" panose="02020603050405020304" pitchFamily="18" charset="0"/>
                <a:cs typeface="Times New Roman" panose="02020603050405020304" pitchFamily="18" charset="0"/>
              </a:rPr>
              <a:t>可执行语句</a:t>
            </a:r>
            <a:r>
              <a:rPr kumimoji="1" lang="zh-CN" altLang="en-US" sz="2400" b="0" dirty="0">
                <a:latin typeface="Times New Roman" panose="02020603050405020304" pitchFamily="18" charset="0"/>
                <a:cs typeface="Times New Roman" panose="02020603050405020304" pitchFamily="18" charset="0"/>
              </a:rPr>
              <a:t>和</a:t>
            </a:r>
            <a:r>
              <a:rPr kumimoji="1" lang="zh-CN" altLang="en-US" sz="2400" b="0" u="sng" dirty="0">
                <a:latin typeface="Times New Roman" panose="02020603050405020304" pitchFamily="18" charset="0"/>
                <a:cs typeface="Times New Roman" panose="02020603050405020304" pitchFamily="18" charset="0"/>
              </a:rPr>
              <a:t>说明性语句</a:t>
            </a:r>
            <a:r>
              <a:rPr kumimoji="1" lang="zh-CN" altLang="en-US" sz="2400" b="0" dirty="0">
                <a:latin typeface="Times New Roman" panose="02020603050405020304" pitchFamily="18" charset="0"/>
                <a:cs typeface="Times New Roman" panose="02020603050405020304" pitchFamily="18" charset="0"/>
              </a:rPr>
              <a:t>两类</a:t>
            </a:r>
            <a:endParaRPr kumimoji="1" lang="zh-CN" altLang="en-US" sz="2400" b="0" dirty="0">
              <a:latin typeface="Times New Roman" panose="02020603050405020304" pitchFamily="18" charset="0"/>
              <a:cs typeface="Times New Roman" panose="02020603050405020304" pitchFamily="18" charset="0"/>
            </a:endParaRPr>
          </a:p>
          <a:p>
            <a:pPr>
              <a:lnSpc>
                <a:spcPct val="200000"/>
              </a:lnSpc>
            </a:pPr>
            <a:r>
              <a:rPr kumimoji="1" lang="zh-CN" altLang="en-US" sz="2400" b="0" dirty="0">
                <a:latin typeface="Times New Roman" panose="02020603050405020304" pitchFamily="18" charset="0"/>
                <a:cs typeface="Times New Roman" panose="02020603050405020304" pitchFamily="18" charset="0"/>
              </a:rPr>
              <a:t>可执行语句又分为：数据定义、数据控制、数据操纵三种 　　</a:t>
            </a:r>
            <a:endParaRPr kumimoji="1" lang="zh-CN" altLang="en-US" sz="2400" b="0" dirty="0">
              <a:latin typeface="Times New Roman" panose="02020603050405020304" pitchFamily="18" charset="0"/>
              <a:cs typeface="Times New Roman" panose="02020603050405020304" pitchFamily="18" charset="0"/>
            </a:endParaRPr>
          </a:p>
          <a:p>
            <a:pPr>
              <a:lnSpc>
                <a:spcPct val="200000"/>
              </a:lnSpc>
            </a:pPr>
            <a:r>
              <a:rPr kumimoji="1" lang="zh-CN" altLang="en-US" sz="2400" b="0" dirty="0">
                <a:latin typeface="Times New Roman" panose="02020603050405020304" pitchFamily="18" charset="0"/>
                <a:cs typeface="Times New Roman" panose="02020603050405020304" pitchFamily="18" charset="0"/>
              </a:rPr>
              <a:t>在宿主程序中，任何允许出现可执行的高级语言语句的地方，都可以写可执行</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a:t>
            </a:r>
            <a:endParaRPr kumimoji="1" lang="zh-CN" altLang="en-US" sz="2400" b="0" dirty="0">
              <a:latin typeface="Times New Roman" panose="02020603050405020304" pitchFamily="18" charset="0"/>
              <a:cs typeface="Times New Roman" panose="02020603050405020304" pitchFamily="18" charset="0"/>
            </a:endParaRPr>
          </a:p>
          <a:p>
            <a:pPr>
              <a:lnSpc>
                <a:spcPct val="200000"/>
              </a:lnSpc>
            </a:pPr>
            <a:r>
              <a:rPr kumimoji="1" lang="zh-CN" altLang="en-US" sz="2400" b="0" dirty="0">
                <a:latin typeface="Times New Roman" panose="02020603050405020304" pitchFamily="18" charset="0"/>
                <a:cs typeface="Times New Roman" panose="02020603050405020304" pitchFamily="18" charset="0"/>
              </a:rPr>
              <a:t>任何允许出现说明性高级语言语句的地方，都可以写说明性</a:t>
            </a:r>
            <a:r>
              <a:rPr kumimoji="1" lang="en-US" altLang="zh-CN" sz="2400" b="0" dirty="0">
                <a:latin typeface="Times New Roman" panose="02020603050405020304" pitchFamily="18" charset="0"/>
                <a:cs typeface="Times New Roman" panose="02020603050405020304" pitchFamily="18" charset="0"/>
              </a:rPr>
              <a:t>SQL</a:t>
            </a:r>
            <a:r>
              <a:rPr kumimoji="1" lang="zh-CN" altLang="en-US" sz="2400" b="0" dirty="0">
                <a:latin typeface="Times New Roman" panose="02020603050405020304" pitchFamily="18" charset="0"/>
                <a:cs typeface="Times New Roman" panose="02020603050405020304" pitchFamily="18" charset="0"/>
              </a:rPr>
              <a:t>语句</a:t>
            </a:r>
            <a:endParaRPr kumimoji="1" lang="zh-CN" altLang="en-US" sz="2400" b="0" dirty="0">
              <a:latin typeface="Times New Roman" panose="02020603050405020304" pitchFamily="18" charset="0"/>
              <a:cs typeface="Times New Roman" panose="02020603050405020304" pitchFamily="18" charset="0"/>
            </a:endParaRPr>
          </a:p>
          <a:p>
            <a:pPr>
              <a:lnSpc>
                <a:spcPct val="20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嵌入式</a:t>
            </a:r>
            <a:r>
              <a:rPr kumimoji="1" lang="en-GB" altLang="zh-CN" sz="2600" dirty="0">
                <a:latin typeface="Times New Roman" panose="02020603050405020304" pitchFamily="18" charset="0"/>
                <a:cs typeface="Times New Roman" panose="02020603050405020304" pitchFamily="18" charset="0"/>
              </a:rPr>
              <a:t>SQL</a:t>
            </a:r>
            <a:r>
              <a:rPr kumimoji="1" lang="zh-CN" altLang="en-US" sz="2600" dirty="0">
                <a:latin typeface="Times New Roman" panose="02020603050405020304" pitchFamily="18" charset="0"/>
                <a:cs typeface="Times New Roman" panose="02020603050405020304" pitchFamily="18" charset="0"/>
              </a:rPr>
              <a:t>的运行过程</a:t>
            </a:r>
            <a:endParaRPr kumimoji="1" lang="en-US" altLang="zh-CN" sz="26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grpSp>
        <p:nvGrpSpPr>
          <p:cNvPr id="6" name="Group 3"/>
          <p:cNvGrpSpPr/>
          <p:nvPr/>
        </p:nvGrpSpPr>
        <p:grpSpPr bwMode="auto">
          <a:xfrm>
            <a:off x="4510107" y="1514475"/>
            <a:ext cx="3627438" cy="4962525"/>
            <a:chOff x="1752" y="1002"/>
            <a:chExt cx="2285" cy="3126"/>
          </a:xfrm>
        </p:grpSpPr>
        <p:sp>
          <p:nvSpPr>
            <p:cNvPr id="7" name="Text Box 4"/>
            <p:cNvSpPr txBox="1">
              <a:spLocks noChangeArrowheads="1"/>
            </p:cNvSpPr>
            <p:nvPr/>
          </p:nvSpPr>
          <p:spPr bwMode="auto">
            <a:xfrm>
              <a:off x="1752" y="1002"/>
              <a:ext cx="2275" cy="371"/>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kumimoji="1" lang="zh-CN" altLang="en-US" sz="3200">
                  <a:latin typeface="华文楷体" panose="02010600040101010101" pitchFamily="2" charset="-122"/>
                  <a:ea typeface="华文楷体" panose="02010600040101010101" pitchFamily="2" charset="-122"/>
                </a:rPr>
                <a:t>主语言 </a:t>
              </a:r>
              <a:r>
                <a:rPr kumimoji="1" lang="en-US" altLang="zh-CN" sz="3200">
                  <a:latin typeface="华文楷体" panose="02010600040101010101" pitchFamily="2" charset="-122"/>
                  <a:ea typeface="华文楷体" panose="02010600040101010101" pitchFamily="2" charset="-122"/>
                </a:rPr>
                <a:t>+ </a:t>
              </a:r>
              <a:r>
                <a:rPr kumimoji="1" lang="zh-CN" altLang="en-US" sz="3200">
                  <a:latin typeface="华文楷体" panose="02010600040101010101" pitchFamily="2" charset="-122"/>
                  <a:ea typeface="华文楷体" panose="02010600040101010101" pitchFamily="2" charset="-122"/>
                </a:rPr>
                <a:t>嵌入</a:t>
              </a:r>
              <a:r>
                <a:rPr kumimoji="1" lang="en-US" altLang="zh-CN" sz="3200">
                  <a:latin typeface="华文楷体" panose="02010600040101010101" pitchFamily="2" charset="-122"/>
                  <a:ea typeface="华文楷体" panose="02010600040101010101" pitchFamily="2" charset="-122"/>
                </a:rPr>
                <a:t>SQL</a:t>
              </a:r>
              <a:r>
                <a:rPr kumimoji="1" lang="en-US" altLang="zh-CN" sz="2400" b="0">
                  <a:latin typeface="华文楷体" panose="02010600040101010101" pitchFamily="2" charset="-122"/>
                  <a:ea typeface="华文楷体" panose="02010600040101010101" pitchFamily="2" charset="-122"/>
                </a:rPr>
                <a:t> </a:t>
              </a:r>
              <a:endParaRPr kumimoji="1" lang="en-US" altLang="zh-CN" sz="2400" b="0">
                <a:latin typeface="华文楷体" panose="02010600040101010101" pitchFamily="2" charset="-122"/>
                <a:ea typeface="华文楷体" panose="02010600040101010101" pitchFamily="2" charset="-122"/>
              </a:endParaRPr>
            </a:p>
          </p:txBody>
        </p:sp>
        <p:sp>
          <p:nvSpPr>
            <p:cNvPr id="8" name="Text Box 5"/>
            <p:cNvSpPr txBox="1">
              <a:spLocks noChangeArrowheads="1"/>
            </p:cNvSpPr>
            <p:nvPr/>
          </p:nvSpPr>
          <p:spPr bwMode="auto">
            <a:xfrm>
              <a:off x="2368" y="1680"/>
              <a:ext cx="1021" cy="368"/>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kumimoji="1" lang="zh-CN" altLang="en-US" sz="3200" dirty="0">
                  <a:latin typeface="华文楷体" panose="02010600040101010101" pitchFamily="2" charset="-122"/>
                  <a:ea typeface="华文楷体" panose="02010600040101010101" pitchFamily="2" charset="-122"/>
                </a:rPr>
                <a:t> 预处理 </a:t>
              </a:r>
              <a:endParaRPr kumimoji="1" lang="zh-CN" altLang="en-US" sz="2400" b="0" dirty="0">
                <a:latin typeface="华文楷体" panose="02010600040101010101" pitchFamily="2" charset="-122"/>
                <a:ea typeface="华文楷体" panose="02010600040101010101" pitchFamily="2" charset="-122"/>
              </a:endParaRPr>
            </a:p>
          </p:txBody>
        </p:sp>
        <p:sp>
          <p:nvSpPr>
            <p:cNvPr id="9" name="Text Box 6"/>
            <p:cNvSpPr txBox="1">
              <a:spLocks noChangeArrowheads="1"/>
            </p:cNvSpPr>
            <p:nvPr/>
          </p:nvSpPr>
          <p:spPr bwMode="auto">
            <a:xfrm>
              <a:off x="1761" y="2365"/>
              <a:ext cx="2276" cy="368"/>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kumimoji="1" lang="zh-CN" altLang="en-US" sz="3200">
                  <a:latin typeface="华文楷体" panose="02010600040101010101" pitchFamily="2" charset="-122"/>
                  <a:ea typeface="华文楷体" panose="02010600040101010101" pitchFamily="2" charset="-122"/>
                </a:rPr>
                <a:t>主语言 </a:t>
              </a:r>
              <a:r>
                <a:rPr kumimoji="1" lang="en-US" altLang="zh-CN" sz="3200">
                  <a:latin typeface="华文楷体" panose="02010600040101010101" pitchFamily="2" charset="-122"/>
                  <a:ea typeface="华文楷体" panose="02010600040101010101" pitchFamily="2" charset="-122"/>
                </a:rPr>
                <a:t>+ </a:t>
              </a:r>
              <a:r>
                <a:rPr kumimoji="1" lang="zh-CN" altLang="en-US" sz="3200">
                  <a:latin typeface="华文楷体" panose="02010600040101010101" pitchFamily="2" charset="-122"/>
                  <a:ea typeface="华文楷体" panose="02010600040101010101" pitchFamily="2" charset="-122"/>
                </a:rPr>
                <a:t>函数调用</a:t>
              </a:r>
              <a:r>
                <a:rPr kumimoji="1" lang="zh-CN" altLang="en-US" sz="2400" b="0">
                  <a:latin typeface="华文楷体" panose="02010600040101010101" pitchFamily="2" charset="-122"/>
                  <a:ea typeface="华文楷体" panose="02010600040101010101" pitchFamily="2" charset="-122"/>
                </a:rPr>
                <a:t> </a:t>
              </a:r>
              <a:endParaRPr kumimoji="1" lang="zh-CN" altLang="en-US" sz="2400" b="0">
                <a:latin typeface="华文楷体" panose="02010600040101010101" pitchFamily="2" charset="-122"/>
                <a:ea typeface="华文楷体" panose="02010600040101010101" pitchFamily="2" charset="-122"/>
              </a:endParaRPr>
            </a:p>
          </p:txBody>
        </p:sp>
        <p:sp>
          <p:nvSpPr>
            <p:cNvPr id="10" name="Text Box 7"/>
            <p:cNvSpPr txBox="1">
              <a:spLocks noChangeArrowheads="1"/>
            </p:cNvSpPr>
            <p:nvPr/>
          </p:nvSpPr>
          <p:spPr bwMode="auto">
            <a:xfrm>
              <a:off x="2040" y="3072"/>
              <a:ext cx="1765" cy="371"/>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kumimoji="1" lang="zh-CN" altLang="en-US" sz="3200">
                  <a:latin typeface="华文楷体" panose="02010600040101010101" pitchFamily="2" charset="-122"/>
                  <a:ea typeface="华文楷体" panose="02010600040101010101" pitchFamily="2" charset="-122"/>
                </a:rPr>
                <a:t>主语言编译器</a:t>
              </a:r>
              <a:r>
                <a:rPr kumimoji="1" lang="zh-CN" altLang="en-US" sz="2400" b="0">
                  <a:latin typeface="华文楷体" panose="02010600040101010101" pitchFamily="2" charset="-122"/>
                  <a:ea typeface="华文楷体" panose="02010600040101010101" pitchFamily="2" charset="-122"/>
                </a:rPr>
                <a:t> </a:t>
              </a:r>
              <a:endParaRPr kumimoji="1" lang="zh-CN" altLang="en-US" sz="2400" b="0">
                <a:latin typeface="华文楷体" panose="02010600040101010101" pitchFamily="2" charset="-122"/>
                <a:ea typeface="华文楷体" panose="02010600040101010101" pitchFamily="2" charset="-122"/>
              </a:endParaRPr>
            </a:p>
          </p:txBody>
        </p:sp>
        <p:sp>
          <p:nvSpPr>
            <p:cNvPr id="11" name="Text Box 8"/>
            <p:cNvSpPr txBox="1">
              <a:spLocks noChangeArrowheads="1"/>
            </p:cNvSpPr>
            <p:nvPr/>
          </p:nvSpPr>
          <p:spPr bwMode="auto">
            <a:xfrm>
              <a:off x="1895" y="3757"/>
              <a:ext cx="2023" cy="371"/>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kumimoji="1" lang="zh-CN" altLang="en-US" sz="3200">
                  <a:latin typeface="华文楷体" panose="02010600040101010101" pitchFamily="2" charset="-122"/>
                  <a:ea typeface="华文楷体" panose="02010600040101010101" pitchFamily="2" charset="-122"/>
                </a:rPr>
                <a:t>主语言执行程序</a:t>
              </a:r>
              <a:r>
                <a:rPr kumimoji="1" lang="zh-CN" altLang="en-US" sz="2400" b="0">
                  <a:latin typeface="华文楷体" panose="02010600040101010101" pitchFamily="2" charset="-122"/>
                  <a:ea typeface="华文楷体" panose="02010600040101010101" pitchFamily="2" charset="-122"/>
                </a:rPr>
                <a:t> </a:t>
              </a:r>
              <a:endParaRPr kumimoji="1" lang="zh-CN" altLang="en-US" sz="2400" b="0">
                <a:latin typeface="华文楷体" panose="02010600040101010101" pitchFamily="2" charset="-122"/>
                <a:ea typeface="华文楷体" panose="02010600040101010101" pitchFamily="2" charset="-122"/>
              </a:endParaRPr>
            </a:p>
          </p:txBody>
        </p:sp>
        <p:sp>
          <p:nvSpPr>
            <p:cNvPr id="12" name="AutoShape 9"/>
            <p:cNvSpPr>
              <a:spLocks noChangeArrowheads="1"/>
            </p:cNvSpPr>
            <p:nvPr/>
          </p:nvSpPr>
          <p:spPr bwMode="auto">
            <a:xfrm>
              <a:off x="2783" y="3456"/>
              <a:ext cx="192" cy="288"/>
            </a:xfrm>
            <a:prstGeom prst="downArrow">
              <a:avLst>
                <a:gd name="adj1" fmla="val 50000"/>
                <a:gd name="adj2" fmla="val 37500"/>
              </a:avLst>
            </a:prstGeom>
          </p:spPr>
          <p:style>
            <a:lnRef idx="1">
              <a:schemeClr val="accent5"/>
            </a:lnRef>
            <a:fillRef idx="2">
              <a:schemeClr val="accent5"/>
            </a:fillRef>
            <a:effectRef idx="1">
              <a:schemeClr val="accent5"/>
            </a:effectRef>
            <a:fontRef idx="minor">
              <a:schemeClr val="dk1"/>
            </a:fontRef>
          </p:style>
          <p:txBody>
            <a:bodyPr vert="eaVert"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华文楷体" panose="02010600040101010101" pitchFamily="2" charset="-122"/>
                <a:ea typeface="华文楷体" panose="02010600040101010101" pitchFamily="2" charset="-122"/>
              </a:endParaRPr>
            </a:p>
          </p:txBody>
        </p:sp>
        <p:sp>
          <p:nvSpPr>
            <p:cNvPr id="13" name="AutoShape 10"/>
            <p:cNvSpPr>
              <a:spLocks noChangeArrowheads="1"/>
            </p:cNvSpPr>
            <p:nvPr/>
          </p:nvSpPr>
          <p:spPr bwMode="auto">
            <a:xfrm>
              <a:off x="2783" y="2736"/>
              <a:ext cx="192" cy="288"/>
            </a:xfrm>
            <a:prstGeom prst="downArrow">
              <a:avLst>
                <a:gd name="adj1" fmla="val 50000"/>
                <a:gd name="adj2" fmla="val 37500"/>
              </a:avLst>
            </a:prstGeom>
          </p:spPr>
          <p:style>
            <a:lnRef idx="1">
              <a:schemeClr val="accent5"/>
            </a:lnRef>
            <a:fillRef idx="2">
              <a:schemeClr val="accent5"/>
            </a:fillRef>
            <a:effectRef idx="1">
              <a:schemeClr val="accent5"/>
            </a:effectRef>
            <a:fontRef idx="minor">
              <a:schemeClr val="dk1"/>
            </a:fontRef>
          </p:style>
          <p:txBody>
            <a:bodyPr vert="eaVert"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华文楷体" panose="02010600040101010101" pitchFamily="2" charset="-122"/>
                <a:ea typeface="华文楷体" panose="02010600040101010101" pitchFamily="2" charset="-122"/>
              </a:endParaRPr>
            </a:p>
          </p:txBody>
        </p:sp>
        <p:sp>
          <p:nvSpPr>
            <p:cNvPr id="14" name="AutoShape 11"/>
            <p:cNvSpPr>
              <a:spLocks noChangeArrowheads="1"/>
            </p:cNvSpPr>
            <p:nvPr/>
          </p:nvSpPr>
          <p:spPr bwMode="auto">
            <a:xfrm>
              <a:off x="2783" y="2051"/>
              <a:ext cx="192" cy="288"/>
            </a:xfrm>
            <a:prstGeom prst="downArrow">
              <a:avLst>
                <a:gd name="adj1" fmla="val 50000"/>
                <a:gd name="adj2" fmla="val 37500"/>
              </a:avLst>
            </a:prstGeom>
          </p:spPr>
          <p:style>
            <a:lnRef idx="1">
              <a:schemeClr val="accent5"/>
            </a:lnRef>
            <a:fillRef idx="2">
              <a:schemeClr val="accent5"/>
            </a:fillRef>
            <a:effectRef idx="1">
              <a:schemeClr val="accent5"/>
            </a:effectRef>
            <a:fontRef idx="minor">
              <a:schemeClr val="dk1"/>
            </a:fontRef>
          </p:style>
          <p:txBody>
            <a:bodyPr vert="eaVert"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华文楷体" panose="02010600040101010101" pitchFamily="2" charset="-122"/>
                <a:ea typeface="华文楷体" panose="02010600040101010101" pitchFamily="2" charset="-122"/>
              </a:endParaRPr>
            </a:p>
          </p:txBody>
        </p:sp>
        <p:sp>
          <p:nvSpPr>
            <p:cNvPr id="15" name="AutoShape 12"/>
            <p:cNvSpPr>
              <a:spLocks noChangeArrowheads="1"/>
            </p:cNvSpPr>
            <p:nvPr/>
          </p:nvSpPr>
          <p:spPr bwMode="auto">
            <a:xfrm>
              <a:off x="2783" y="1379"/>
              <a:ext cx="192" cy="288"/>
            </a:xfrm>
            <a:prstGeom prst="downArrow">
              <a:avLst>
                <a:gd name="adj1" fmla="val 50000"/>
                <a:gd name="adj2" fmla="val 37500"/>
              </a:avLst>
            </a:prstGeom>
          </p:spPr>
          <p:style>
            <a:lnRef idx="1">
              <a:schemeClr val="accent5"/>
            </a:lnRef>
            <a:fillRef idx="2">
              <a:schemeClr val="accent5"/>
            </a:fillRef>
            <a:effectRef idx="1">
              <a:schemeClr val="accent5"/>
            </a:effectRef>
            <a:fontRef idx="minor">
              <a:schemeClr val="dk1"/>
            </a:fontRef>
          </p:style>
          <p:txBody>
            <a:bodyPr vert="eaVert"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a:latin typeface="华文楷体" panose="02010600040101010101" pitchFamily="2" charset="-122"/>
                <a:ea typeface="华文楷体" panose="02010600040101010101" pitchFamily="2" charset="-122"/>
              </a:endParaRPr>
            </a:p>
          </p:txBody>
        </p:sp>
      </p:gr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kumimoji="1" lang="zh-CN" altLang="en-US" sz="2600" dirty="0">
                <a:latin typeface="Times New Roman" panose="02020603050405020304" pitchFamily="18" charset="0"/>
                <a:cs typeface="Times New Roman" panose="02020603050405020304" pitchFamily="18" charset="0"/>
              </a:rPr>
              <a:t>嵌入式</a:t>
            </a:r>
            <a:r>
              <a:rPr kumimoji="1" lang="en-GB" altLang="zh-CN" sz="2600" dirty="0">
                <a:latin typeface="Times New Roman" panose="02020603050405020304" pitchFamily="18" charset="0"/>
                <a:cs typeface="Times New Roman" panose="02020603050405020304" pitchFamily="18" charset="0"/>
              </a:rPr>
              <a:t>SQL</a:t>
            </a:r>
            <a:r>
              <a:rPr kumimoji="1" lang="zh-CN" altLang="en-US" sz="2600" dirty="0">
                <a:latin typeface="Times New Roman" panose="02020603050405020304" pitchFamily="18" charset="0"/>
                <a:cs typeface="Times New Roman" panose="02020603050405020304" pitchFamily="18" charset="0"/>
              </a:rPr>
              <a:t>与主语言之间的通信</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数据库工作单元与源程序工作单元之间通信主要包括：</a:t>
            </a:r>
            <a:endParaRPr lang="zh-CN" altLang="en-US" dirty="0">
              <a:latin typeface="Times New Roman" panose="02020603050405020304" pitchFamily="18" charset="0"/>
              <a:cs typeface="Times New Roman" panose="02020603050405020304" pitchFamily="18" charset="0"/>
            </a:endParaRPr>
          </a:p>
          <a:p>
            <a:pPr marL="952500" lvl="1" indent="-387350">
              <a:lnSpc>
                <a:spcPct val="200000"/>
              </a:lnSpc>
              <a:buFont typeface="Wingdings" panose="05000000000000000000" pitchFamily="2" charset="2"/>
              <a:buAutoNum type="arabicPeriod"/>
            </a:pPr>
            <a:r>
              <a:rPr lang="zh-CN" altLang="en-US" dirty="0">
                <a:latin typeface="Times New Roman" panose="02020603050405020304" pitchFamily="18" charset="0"/>
                <a:cs typeface="Times New Roman" panose="02020603050405020304" pitchFamily="18" charset="0"/>
              </a:rPr>
              <a:t>向主语言程序传递</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语句的执行</a:t>
            </a:r>
            <a:r>
              <a:rPr lang="zh-CN" altLang="en-US" u="sng" dirty="0">
                <a:latin typeface="Times New Roman" panose="02020603050405020304" pitchFamily="18" charset="0"/>
                <a:cs typeface="Times New Roman" panose="02020603050405020304" pitchFamily="18" charset="0"/>
              </a:rPr>
              <a:t>状态信息</a:t>
            </a:r>
            <a:r>
              <a:rPr lang="zh-CN" altLang="en-US" dirty="0">
                <a:latin typeface="Times New Roman" panose="02020603050405020304" pitchFamily="18" charset="0"/>
                <a:cs typeface="Times New Roman" panose="02020603050405020304" pitchFamily="18" charset="0"/>
              </a:rPr>
              <a:t>，使主语言能够据此控制程序流程</a:t>
            </a:r>
            <a:endParaRPr lang="zh-CN" altLang="en-US" dirty="0">
              <a:latin typeface="Times New Roman" panose="02020603050405020304" pitchFamily="18" charset="0"/>
              <a:cs typeface="Times New Roman" panose="02020603050405020304" pitchFamily="18" charset="0"/>
            </a:endParaRPr>
          </a:p>
          <a:p>
            <a:pPr marL="952500" lvl="1" indent="-387350">
              <a:lnSpc>
                <a:spcPct val="200000"/>
              </a:lnSpc>
              <a:buFont typeface="Wingdings" panose="05000000000000000000" pitchFamily="2" charset="2"/>
              <a:buAutoNum type="arabicPeriod"/>
            </a:pPr>
            <a:r>
              <a:rPr lang="zh-CN" altLang="en-US" dirty="0">
                <a:latin typeface="Times New Roman" panose="02020603050405020304" pitchFamily="18" charset="0"/>
                <a:cs typeface="Times New Roman" panose="02020603050405020304" pitchFamily="18" charset="0"/>
              </a:rPr>
              <a:t>主语言程序向</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a:t>
            </a:r>
            <a:r>
              <a:rPr lang="zh-CN" altLang="en-US" u="sng" dirty="0">
                <a:latin typeface="Times New Roman" panose="02020603050405020304" pitchFamily="18" charset="0"/>
                <a:cs typeface="Times New Roman" panose="02020603050405020304" pitchFamily="18" charset="0"/>
              </a:rPr>
              <a:t>提供参数</a:t>
            </a:r>
            <a:endParaRPr lang="zh-CN" altLang="en-US" u="sng" dirty="0">
              <a:latin typeface="Times New Roman" panose="02020603050405020304" pitchFamily="18" charset="0"/>
              <a:cs typeface="Times New Roman" panose="02020603050405020304" pitchFamily="18" charset="0"/>
            </a:endParaRPr>
          </a:p>
          <a:p>
            <a:pPr marL="952500" lvl="1" indent="-387350">
              <a:lnSpc>
                <a:spcPct val="200000"/>
              </a:lnSpc>
              <a:buFont typeface="Wingdings" panose="05000000000000000000" pitchFamily="2" charset="2"/>
              <a:buAutoNum type="arabicPeriod"/>
            </a:pPr>
            <a:r>
              <a:rPr lang="zh-CN" altLang="en-US" dirty="0">
                <a:latin typeface="Times New Roman" panose="02020603050405020304" pitchFamily="18" charset="0"/>
                <a:cs typeface="Times New Roman" panose="02020603050405020304" pitchFamily="18" charset="0"/>
              </a:rPr>
              <a:t>将</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a:t>
            </a:r>
            <a:r>
              <a:rPr lang="zh-CN" altLang="en-US" u="sng" dirty="0">
                <a:latin typeface="Times New Roman" panose="02020603050405020304" pitchFamily="18" charset="0"/>
                <a:cs typeface="Times New Roman" panose="02020603050405020304" pitchFamily="18" charset="0"/>
              </a:rPr>
              <a:t>查询数据库的结果</a:t>
            </a:r>
            <a:r>
              <a:rPr lang="zh-CN" altLang="en-US" dirty="0">
                <a:latin typeface="Times New Roman" panose="02020603050405020304" pitchFamily="18" charset="0"/>
                <a:cs typeface="Times New Roman" panose="02020603050405020304" pitchFamily="18" charset="0"/>
              </a:rPr>
              <a:t>交主语言程序进一步处理</a:t>
            </a:r>
            <a:endParaRPr lang="zh-CN" altLang="en-US"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10000"/>
          </a:bodyPr>
          <a:lstStyle/>
          <a:p>
            <a:pPr>
              <a:lnSpc>
                <a:spcPct val="150000"/>
              </a:lnSpc>
            </a:pP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Embedded SQL</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ESQL</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是将</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语句嵌入到程序设计语言中</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被嵌入的程序设计语言称为</a:t>
            </a:r>
            <a:r>
              <a:rPr lang="zh-CN" altLang="zh-CN" sz="2400" b="0" dirty="0">
                <a:solidFill>
                  <a:srgbClr val="743481"/>
                </a:solidFill>
                <a:latin typeface="Times New Roman" panose="02020603050405020304" pitchFamily="18" charset="0"/>
                <a:ea typeface="微软雅黑" panose="020B0503020204020204" pitchFamily="34" charset="-122"/>
                <a:cs typeface="Times New Roman" panose="02020603050405020304" pitchFamily="18" charset="0"/>
              </a:rPr>
              <a:t>宿主语言</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，如</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等 </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通过调用宿主语言中可以用来访问数据库的</a:t>
            </a:r>
            <a:r>
              <a:rPr lang="zh-CN" altLang="zh-CN" sz="2400" b="0" dirty="0">
                <a:solidFill>
                  <a:srgbClr val="743481"/>
                </a:solidFill>
                <a:latin typeface="Times New Roman" panose="02020603050405020304" pitchFamily="18" charset="0"/>
                <a:ea typeface="微软雅黑" panose="020B0503020204020204" pitchFamily="34" charset="-122"/>
                <a:cs typeface="Times New Roman" panose="02020603050405020304" pitchFamily="18" charset="0"/>
              </a:rPr>
              <a:t>包</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或</a:t>
            </a:r>
            <a:r>
              <a:rPr lang="zh-CN" altLang="zh-CN" sz="2400" b="0" dirty="0">
                <a:solidFill>
                  <a:srgbClr val="743481"/>
                </a:solidFill>
                <a:latin typeface="Times New Roman" panose="02020603050405020304" pitchFamily="18" charset="0"/>
                <a:ea typeface="微软雅黑" panose="020B0503020204020204" pitchFamily="34" charset="-122"/>
                <a:cs typeface="Times New Roman" panose="02020603050405020304" pitchFamily="18" charset="0"/>
              </a:rPr>
              <a:t>库</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，可以达到使用嵌入式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来访问数据库的目的  </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kumimoji="1"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在使用嵌入式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400" b="0" dirty="0">
                <a:latin typeface="Times New Roman" panose="02020603050405020304" pitchFamily="18" charset="0"/>
                <a:ea typeface="微软雅黑" panose="020B0503020204020204" pitchFamily="34" charset="-122"/>
                <a:cs typeface="Times New Roman" panose="02020603050405020304" pitchFamily="18" charset="0"/>
              </a:rPr>
              <a:t>访问数据库</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的步骤：</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与数据库的</a:t>
            </a: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连接</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，以验证访问的合法性 </a:t>
            </a:r>
            <a:endParaRPr lang="en-US"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使用嵌入式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来访问数据库 </a:t>
            </a:r>
            <a:endPar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释放所占用的连接资源，</a:t>
            </a: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关闭</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程序与数据库的</a:t>
            </a: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连接 </a:t>
            </a:r>
            <a:endPar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gn="just">
              <a:lnSpc>
                <a:spcPct val="110000"/>
              </a:lnSpc>
            </a:pP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连接数据库：</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CONNECT TO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数据库名字</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AS</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连接名字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USER</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用户名</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10000"/>
              </a:lnSpc>
            </a:pP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断开连接：</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DISCONNECT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连接名字或</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DISCONNECT CURRENT;</a:t>
            </a:r>
            <a:endPar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10000"/>
              </a:lnSpc>
            </a:pP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提交与撤销：</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执行提交语法为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EXEC SQL COMMIT WORK</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执行撤消语法为</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EXEC SQL ROOLBACK WORK;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直接提交或者撤销后断开连接，即</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EXEC SQL COMMIT RELEASE</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EXEC SQL ROOLBACK RELEASE</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10000"/>
              </a:lnSpc>
            </a:pP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查询：嵌入式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可以将</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查询结果赋值给高级语言的变量。</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BEGIN DECLARE SECTION;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开始声明</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char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[10],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queryName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“李博”</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int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cSage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声明变量</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END DECLARE SECTION;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结束声明</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10000"/>
              </a:lnSpc>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EXEC SQL SELECT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Sname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Sage INTO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cSage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FROM Student WHERE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Sname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queryName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定义的变量可以输入给</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queryName</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），也可以从</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获取值（例如</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cSName</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cSage</a:t>
            </a:r>
            <a:r>
              <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62500" lnSpcReduction="20000"/>
          </a:bodyPr>
          <a:lstStyle/>
          <a:p>
            <a:pPr algn="just"/>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在通过嵌入式</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访问数据库时，嵌入式</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语句与宿主语言之间要进行数据传输。</a:t>
            </a:r>
            <a:endPar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高级语言一般一次处理一条元组。当</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查询结果为多条元组时，需解决</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和高级语言转换的问题。</a:t>
            </a:r>
            <a:endPar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嵌入式</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的数据传输是通过</a:t>
            </a:r>
            <a:r>
              <a:rPr lang="zh-CN" altLang="zh-CN" sz="32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游标来实现一次获得一个元组</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游标存储嵌入式</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语句的查询结果集合，每个</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语句会返回一个游标（即返回</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一条结果）。游标指向某条记录集的指针，通过这个指针移动</a:t>
            </a:r>
            <a:r>
              <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每次读一行数据处理一行，直到处理完毕。</a:t>
            </a:r>
            <a:endParaRPr lang="en-US" altLang="zh-CN" sz="3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rPr>
              <a:t>在程序中使用宿主语言访问游标，可以获取查询的结果。游标的使用过程主要包括以下四个步骤：</a:t>
            </a:r>
            <a:endParaRPr lang="zh-CN" altLang="zh-CN" sz="3200" b="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buNone/>
            </a:pP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）定义游标：将游标与</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相关联。</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EXEC SQL DECLARE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curStudent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CURSOR FOR SELECT Sno,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Sname</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FROM Student WHERE Sno='1' ;</a:t>
            </a:r>
            <a:endParaRPr lang="zh-CN"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buNone/>
            </a:pP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）打开游标：执行与游标相关联的</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，查询结果集合会被存储到游标的数据缓冲区。例如</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EXEC SQL OPEN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curStudent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buNone/>
            </a:pP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）使用游标：从游标中读取数据（即查询结果集合），每次读取一条记录，也可以一次性读取全部记录。</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EXEC SQL FETCH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curStudent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INTO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cSno</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cSname</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将读取的一条记录的属性值赋值给两个变量</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cSno</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cSname</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buNone/>
            </a:pP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3200" dirty="0">
                <a:latin typeface="Times New Roman" panose="02020603050405020304" pitchFamily="18" charset="0"/>
                <a:ea typeface="微软雅黑" panose="020B0503020204020204" pitchFamily="34" charset="-122"/>
                <a:cs typeface="Times New Roman" panose="02020603050405020304" pitchFamily="18" charset="0"/>
              </a:rPr>
              <a:t>）关闭游标：停止使用游标，释放游标的数据缓冲区。例如</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EXEC SQL CLOSE </a:t>
            </a:r>
            <a:r>
              <a:rPr lang="en-US" altLang="zh-CN" sz="3200" dirty="0" err="1">
                <a:latin typeface="Times New Roman" panose="02020603050405020304" pitchFamily="18" charset="0"/>
                <a:ea typeface="微软雅黑" panose="020B0503020204020204" pitchFamily="34" charset="-122"/>
                <a:cs typeface="Times New Roman" panose="02020603050405020304" pitchFamily="18" charset="0"/>
              </a:rPr>
              <a:t>curStudent</a:t>
            </a: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a:bodyPr>
          <a:lstStyle/>
          <a:p>
            <a:pPr>
              <a:lnSpc>
                <a:spcPct val="140000"/>
              </a:lnSpc>
            </a:pPr>
            <a:r>
              <a:rPr lang="zh-CN" altLang="zh-CN" sz="2400" b="0" dirty="0">
                <a:latin typeface="Times New Roman" panose="02020603050405020304" pitchFamily="18" charset="0"/>
                <a:cs typeface="Times New Roman" panose="02020603050405020304" pitchFamily="18" charset="0"/>
              </a:rPr>
              <a:t>嵌入式</a:t>
            </a:r>
            <a:r>
              <a:rPr lang="en-US" altLang="zh-CN" sz="2400" b="0" dirty="0">
                <a:latin typeface="Times New Roman" panose="02020603050405020304" pitchFamily="18" charset="0"/>
                <a:cs typeface="Times New Roman" panose="02020603050405020304" pitchFamily="18" charset="0"/>
              </a:rPr>
              <a:t>SQL</a:t>
            </a:r>
            <a:r>
              <a:rPr lang="zh-CN" altLang="zh-CN" sz="2400" b="0" dirty="0">
                <a:latin typeface="Times New Roman" panose="02020603050405020304" pitchFamily="18" charset="0"/>
                <a:cs typeface="Times New Roman" panose="02020603050405020304" pitchFamily="18" charset="0"/>
              </a:rPr>
              <a:t>语句与宿主语言之间</a:t>
            </a:r>
            <a:r>
              <a:rPr lang="zh-CN" altLang="en-US" sz="2400" b="0" dirty="0">
                <a:latin typeface="Times New Roman" panose="02020603050405020304" pitchFamily="18" charset="0"/>
                <a:cs typeface="Times New Roman" panose="02020603050405020304" pitchFamily="18" charset="0"/>
              </a:rPr>
              <a:t>的</a:t>
            </a:r>
            <a:r>
              <a:rPr lang="zh-CN" altLang="en-US" sz="2400" b="0" dirty="0">
                <a:solidFill>
                  <a:srgbClr val="C00000"/>
                </a:solidFill>
                <a:latin typeface="Times New Roman" panose="02020603050405020304" pitchFamily="18" charset="0"/>
                <a:cs typeface="Times New Roman" panose="02020603050405020304" pitchFamily="18" charset="0"/>
              </a:rPr>
              <a:t>数据传输</a:t>
            </a:r>
            <a:r>
              <a:rPr lang="zh-CN" altLang="en-US" sz="2400" b="0" dirty="0">
                <a:latin typeface="Times New Roman" panose="02020603050405020304" pitchFamily="18" charset="0"/>
                <a:cs typeface="Times New Roman" panose="02020603050405020304" pitchFamily="18" charset="0"/>
              </a:rPr>
              <a:t>是通过</a:t>
            </a:r>
            <a:r>
              <a:rPr lang="zh-CN" altLang="en-US" sz="2400" b="0" dirty="0">
                <a:solidFill>
                  <a:srgbClr val="C00000"/>
                </a:solidFill>
                <a:latin typeface="Times New Roman" panose="02020603050405020304" pitchFamily="18" charset="0"/>
                <a:cs typeface="Times New Roman" panose="02020603050405020304" pitchFamily="18" charset="0"/>
              </a:rPr>
              <a:t>游标</a:t>
            </a:r>
            <a:r>
              <a:rPr lang="zh-CN" altLang="en-US" sz="2400" b="0" dirty="0">
                <a:latin typeface="Times New Roman" panose="02020603050405020304" pitchFamily="18" charset="0"/>
                <a:cs typeface="Times New Roman" panose="02020603050405020304" pitchFamily="18" charset="0"/>
              </a:rPr>
              <a:t>实现的。</a:t>
            </a:r>
            <a:endParaRPr lang="en-US" altLang="zh-CN" sz="2400" b="0" dirty="0">
              <a:latin typeface="Times New Roman" panose="02020603050405020304" pitchFamily="18" charset="0"/>
              <a:cs typeface="Times New Roman" panose="02020603050405020304" pitchFamily="18" charset="0"/>
            </a:endParaRPr>
          </a:p>
          <a:p>
            <a:pPr>
              <a:lnSpc>
                <a:spcPct val="140000"/>
              </a:lnSpc>
            </a:pPr>
            <a:r>
              <a:rPr lang="zh-CN" altLang="zh-CN" sz="2400" b="0" dirty="0">
                <a:solidFill>
                  <a:srgbClr val="C00000"/>
                </a:solidFill>
                <a:latin typeface="Times New Roman" panose="02020603050405020304" pitchFamily="18" charset="0"/>
                <a:cs typeface="Times New Roman" panose="02020603050405020304" pitchFamily="18" charset="0"/>
              </a:rPr>
              <a:t>游标</a:t>
            </a:r>
            <a:r>
              <a:rPr lang="zh-CN" altLang="zh-CN" sz="2400" b="0" dirty="0">
                <a:latin typeface="Times New Roman" panose="02020603050405020304" pitchFamily="18" charset="0"/>
                <a:cs typeface="Times New Roman" panose="02020603050405020304" pitchFamily="18" charset="0"/>
              </a:rPr>
              <a:t>存储嵌入式</a:t>
            </a:r>
            <a:r>
              <a:rPr lang="en-US" altLang="zh-CN" sz="2400" b="0" dirty="0">
                <a:latin typeface="Times New Roman" panose="02020603050405020304" pitchFamily="18" charset="0"/>
                <a:cs typeface="Times New Roman" panose="02020603050405020304" pitchFamily="18" charset="0"/>
              </a:rPr>
              <a:t>SQL</a:t>
            </a:r>
            <a:r>
              <a:rPr lang="zh-CN" altLang="zh-CN" sz="2400" b="0" dirty="0">
                <a:latin typeface="Times New Roman" panose="02020603050405020304" pitchFamily="18" charset="0"/>
                <a:cs typeface="Times New Roman" panose="02020603050405020304" pitchFamily="18" charset="0"/>
              </a:rPr>
              <a:t>语句的查询结果集合，每个</a:t>
            </a:r>
            <a:r>
              <a:rPr lang="en-US" altLang="zh-CN" sz="2400" b="0" dirty="0">
                <a:latin typeface="Times New Roman" panose="02020603050405020304" pitchFamily="18" charset="0"/>
                <a:cs typeface="Times New Roman" panose="02020603050405020304" pitchFamily="18" charset="0"/>
              </a:rPr>
              <a:t>SQL</a:t>
            </a:r>
            <a:r>
              <a:rPr lang="zh-CN" altLang="zh-CN" sz="2400" b="0" dirty="0">
                <a:latin typeface="Times New Roman" panose="02020603050405020304" pitchFamily="18" charset="0"/>
                <a:cs typeface="Times New Roman" panose="02020603050405020304" pitchFamily="18" charset="0"/>
              </a:rPr>
              <a:t>查询语句会返回一个游标（即返回</a:t>
            </a:r>
            <a:r>
              <a:rPr lang="en-US" altLang="zh-CN" sz="2400" b="0" dirty="0">
                <a:latin typeface="Times New Roman" panose="02020603050405020304" pitchFamily="18" charset="0"/>
                <a:cs typeface="Times New Roman" panose="02020603050405020304" pitchFamily="18" charset="0"/>
              </a:rPr>
              <a:t>SQL</a:t>
            </a:r>
            <a:r>
              <a:rPr lang="zh-CN" altLang="zh-CN" sz="2400" b="0" dirty="0">
                <a:latin typeface="Times New Roman" panose="02020603050405020304" pitchFamily="18" charset="0"/>
                <a:cs typeface="Times New Roman" panose="02020603050405020304" pitchFamily="18" charset="0"/>
              </a:rPr>
              <a:t>查询的结果）</a:t>
            </a:r>
            <a:r>
              <a:rPr lang="zh-CN" altLang="en-US" sz="2400" b="0" dirty="0">
                <a:latin typeface="Times New Roman" panose="02020603050405020304" pitchFamily="18" charset="0"/>
                <a:cs typeface="Times New Roman" panose="02020603050405020304" pitchFamily="18" charset="0"/>
              </a:rPr>
              <a:t>。</a:t>
            </a:r>
            <a:r>
              <a:rPr lang="zh-CN"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a:lnSpc>
                <a:spcPct val="140000"/>
              </a:lnSpc>
            </a:pPr>
            <a:r>
              <a:rPr lang="zh-CN" altLang="zh-CN" sz="2400" b="0" dirty="0">
                <a:latin typeface="Times New Roman" panose="02020603050405020304" pitchFamily="18" charset="0"/>
                <a:cs typeface="Times New Roman" panose="02020603050405020304" pitchFamily="18" charset="0"/>
              </a:rPr>
              <a:t>在程序中使用宿主语言访问游标，可以获取查询的结果</a:t>
            </a:r>
            <a:r>
              <a:rPr lang="zh-CN" altLang="en-US"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a:lnSpc>
                <a:spcPct val="140000"/>
              </a:lnSpc>
            </a:pPr>
            <a:r>
              <a:rPr lang="zh-CN" altLang="zh-CN" sz="2400" b="0" dirty="0">
                <a:latin typeface="Times New Roman" panose="02020603050405020304" pitchFamily="18" charset="0"/>
                <a:cs typeface="Times New Roman" panose="02020603050405020304" pitchFamily="18" charset="0"/>
              </a:rPr>
              <a:t>游标的使用过程主要包括以下四个步骤：</a:t>
            </a:r>
            <a:endParaRPr lang="en-US" altLang="zh-CN" sz="2400" b="0" dirty="0">
              <a:latin typeface="Times New Roman" panose="02020603050405020304" pitchFamily="18" charset="0"/>
              <a:cs typeface="Times New Roman" panose="02020603050405020304" pitchFamily="18" charset="0"/>
            </a:endParaRPr>
          </a:p>
          <a:p>
            <a:pPr lvl="1">
              <a:lnSpc>
                <a:spcPct val="140000"/>
              </a:lnSpc>
              <a:buFont typeface="宋体" panose="02010600030101010101" pitchFamily="2" charset="-122"/>
              <a:buAutoNum type="arabicPeriod"/>
            </a:pPr>
            <a:r>
              <a:rPr lang="zh-CN" altLang="zh-CN" dirty="0">
                <a:solidFill>
                  <a:srgbClr val="00B0F0"/>
                </a:solidFill>
                <a:latin typeface="Times New Roman" panose="02020603050405020304" pitchFamily="18" charset="0"/>
                <a:cs typeface="Times New Roman" panose="02020603050405020304" pitchFamily="18" charset="0"/>
              </a:rPr>
              <a:t>定义游标</a:t>
            </a:r>
            <a:r>
              <a:rPr lang="zh-CN" altLang="zh-CN" dirty="0">
                <a:latin typeface="Times New Roman" panose="02020603050405020304" pitchFamily="18" charset="0"/>
                <a:cs typeface="Times New Roman" panose="02020603050405020304" pitchFamily="18" charset="0"/>
              </a:rPr>
              <a:t>：将游标与</a:t>
            </a:r>
            <a:r>
              <a:rPr lang="en-US" altLang="zh-CN" dirty="0">
                <a:latin typeface="Times New Roman" panose="02020603050405020304" pitchFamily="18" charset="0"/>
                <a:cs typeface="Times New Roman" panose="02020603050405020304" pitchFamily="18" charset="0"/>
              </a:rPr>
              <a:t>SQL</a:t>
            </a:r>
            <a:r>
              <a:rPr lang="zh-CN" altLang="zh-CN" dirty="0">
                <a:latin typeface="Times New Roman" panose="02020603050405020304" pitchFamily="18" charset="0"/>
                <a:cs typeface="Times New Roman" panose="02020603050405020304" pitchFamily="18" charset="0"/>
              </a:rPr>
              <a:t>查询语句相关联。</a:t>
            </a:r>
            <a:endParaRPr lang="en-US" altLang="zh-CN" dirty="0">
              <a:solidFill>
                <a:srgbClr val="0070C0"/>
              </a:solidFill>
              <a:latin typeface="Times New Roman" panose="02020603050405020304" pitchFamily="18" charset="0"/>
              <a:cs typeface="Times New Roman" panose="02020603050405020304" pitchFamily="18" charset="0"/>
            </a:endParaRPr>
          </a:p>
          <a:p>
            <a:pPr lvl="1">
              <a:lnSpc>
                <a:spcPct val="140000"/>
              </a:lnSpc>
              <a:buFont typeface="宋体" panose="02010600030101010101" pitchFamily="2" charset="-122"/>
              <a:buAutoNum type="arabicPeriod"/>
            </a:pPr>
            <a:r>
              <a:rPr lang="zh-CN" altLang="zh-CN" dirty="0">
                <a:solidFill>
                  <a:srgbClr val="00B0F0"/>
                </a:solidFill>
                <a:latin typeface="Times New Roman" panose="02020603050405020304" pitchFamily="18" charset="0"/>
                <a:cs typeface="Times New Roman" panose="02020603050405020304" pitchFamily="18" charset="0"/>
              </a:rPr>
              <a:t>打开游标</a:t>
            </a:r>
            <a:r>
              <a:rPr lang="zh-CN" altLang="zh-CN" dirty="0">
                <a:latin typeface="Times New Roman" panose="02020603050405020304" pitchFamily="18" charset="0"/>
                <a:cs typeface="Times New Roman" panose="02020603050405020304" pitchFamily="18" charset="0"/>
              </a:rPr>
              <a:t>：执行与游标相关联的</a:t>
            </a:r>
            <a:r>
              <a:rPr lang="en-US" altLang="zh-CN" dirty="0">
                <a:latin typeface="Times New Roman" panose="02020603050405020304" pitchFamily="18" charset="0"/>
                <a:cs typeface="Times New Roman" panose="02020603050405020304" pitchFamily="18" charset="0"/>
              </a:rPr>
              <a:t>SQL</a:t>
            </a:r>
            <a:r>
              <a:rPr lang="zh-CN" altLang="zh-CN" dirty="0">
                <a:latin typeface="Times New Roman" panose="02020603050405020304" pitchFamily="18" charset="0"/>
                <a:cs typeface="Times New Roman" panose="02020603050405020304" pitchFamily="18" charset="0"/>
              </a:rPr>
              <a:t>，查询结果集合会被存储到游标的数据缓冲区。 </a:t>
            </a:r>
            <a:endParaRPr lang="en-US" altLang="zh-CN" dirty="0">
              <a:solidFill>
                <a:srgbClr val="00B0F0"/>
              </a:solidFill>
              <a:latin typeface="Times New Roman" panose="02020603050405020304" pitchFamily="18" charset="0"/>
              <a:cs typeface="Times New Roman" panose="02020603050405020304" pitchFamily="18" charset="0"/>
            </a:endParaRPr>
          </a:p>
          <a:p>
            <a:pPr lvl="1">
              <a:lnSpc>
                <a:spcPct val="140000"/>
              </a:lnSpc>
              <a:buFont typeface="宋体" panose="02010600030101010101" pitchFamily="2" charset="-122"/>
              <a:buAutoNum type="arabicPeriod"/>
            </a:pPr>
            <a:r>
              <a:rPr lang="zh-CN" altLang="zh-CN" dirty="0">
                <a:solidFill>
                  <a:srgbClr val="00B0F0"/>
                </a:solidFill>
                <a:latin typeface="Times New Roman" panose="02020603050405020304" pitchFamily="18" charset="0"/>
                <a:cs typeface="Times New Roman" panose="02020603050405020304" pitchFamily="18" charset="0"/>
              </a:rPr>
              <a:t>使用游标</a:t>
            </a:r>
            <a:r>
              <a:rPr lang="zh-CN" altLang="zh-CN" dirty="0">
                <a:latin typeface="Times New Roman" panose="02020603050405020304" pitchFamily="18" charset="0"/>
                <a:cs typeface="Times New Roman" panose="02020603050405020304" pitchFamily="18" charset="0"/>
              </a:rPr>
              <a:t>：从游标中读取数据，可以每次读取一条记录，也可以一次性读取全部记录。 </a:t>
            </a:r>
            <a:endParaRPr lang="en-US" altLang="zh-CN" dirty="0">
              <a:latin typeface="Times New Roman" panose="02020603050405020304" pitchFamily="18" charset="0"/>
              <a:cs typeface="Times New Roman" panose="02020603050405020304" pitchFamily="18" charset="0"/>
            </a:endParaRPr>
          </a:p>
          <a:p>
            <a:pPr lvl="1">
              <a:lnSpc>
                <a:spcPct val="140000"/>
              </a:lnSpc>
              <a:buFont typeface="宋体" panose="02010600030101010101" pitchFamily="2" charset="-122"/>
              <a:buAutoNum type="arabicPeriod"/>
            </a:pPr>
            <a:r>
              <a:rPr lang="zh-CN" altLang="zh-CN" dirty="0">
                <a:solidFill>
                  <a:srgbClr val="00B0F0"/>
                </a:solidFill>
                <a:latin typeface="Times New Roman" panose="02020603050405020304" pitchFamily="18" charset="0"/>
                <a:cs typeface="Times New Roman" panose="02020603050405020304" pitchFamily="18" charset="0"/>
              </a:rPr>
              <a:t>关闭游标</a:t>
            </a:r>
            <a:r>
              <a:rPr lang="zh-CN" altLang="zh-CN" dirty="0">
                <a:latin typeface="Times New Roman" panose="02020603050405020304" pitchFamily="18" charset="0"/>
                <a:cs typeface="Times New Roman" panose="02020603050405020304" pitchFamily="18" charset="0"/>
              </a:rPr>
              <a:t>：停止使用游标，释放游标的数据缓冲区。</a:t>
            </a:r>
            <a:endParaRPr kumimoji="1" lang="en-US" altLang="zh-CN" dirty="0">
              <a:latin typeface="Times New Roman" panose="02020603050405020304" pitchFamily="18" charset="0"/>
              <a:cs typeface="Times New Roman" panose="02020603050405020304" pitchFamily="18" charset="0"/>
            </a:endParaRPr>
          </a:p>
          <a:p>
            <a:pPr>
              <a:lnSpc>
                <a:spcPct val="15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70000" lnSpcReduction="20000"/>
          </a:bodyPr>
          <a:lstStyle/>
          <a:p>
            <a:pPr>
              <a:lnSpc>
                <a:spcPct val="140000"/>
              </a:lnSpc>
            </a:pPr>
            <a:r>
              <a:rPr kumimoji="1" lang="zh-CN" altLang="en-US" sz="3400" dirty="0">
                <a:latin typeface="Times New Roman" panose="02020603050405020304" pitchFamily="18" charset="0"/>
                <a:cs typeface="Times New Roman" panose="02020603050405020304" pitchFamily="18" charset="0"/>
              </a:rPr>
              <a:t>查询结果为单记录的</a:t>
            </a:r>
            <a:r>
              <a:rPr kumimoji="1" lang="en-US" altLang="zh-CN" sz="3400" dirty="0">
                <a:latin typeface="Times New Roman" panose="02020603050405020304" pitchFamily="18" charset="0"/>
                <a:cs typeface="Times New Roman" panose="02020603050405020304" pitchFamily="18" charset="0"/>
              </a:rPr>
              <a:t>SELECT</a:t>
            </a:r>
            <a:r>
              <a:rPr kumimoji="1" lang="zh-CN" altLang="en-US" sz="3400" dirty="0">
                <a:latin typeface="Times New Roman" panose="02020603050405020304" pitchFamily="18" charset="0"/>
                <a:cs typeface="Times New Roman" panose="02020603050405020304" pitchFamily="18" charset="0"/>
              </a:rPr>
              <a:t>语句</a:t>
            </a:r>
            <a:endParaRPr kumimoji="1" lang="zh-CN" altLang="en-US" sz="3400" dirty="0">
              <a:latin typeface="Times New Roman" panose="02020603050405020304" pitchFamily="18" charset="0"/>
              <a:cs typeface="Times New Roman" panose="02020603050405020304" pitchFamily="18" charset="0"/>
            </a:endParaRPr>
          </a:p>
          <a:p>
            <a:pPr lvl="1" algn="l">
              <a:lnSpc>
                <a:spcPct val="140000"/>
              </a:lnSpc>
            </a:pPr>
            <a:r>
              <a:rPr kumimoji="1" lang="zh-CN" altLang="en-US" sz="2900" dirty="0">
                <a:latin typeface="Times New Roman" panose="02020603050405020304" pitchFamily="18" charset="0"/>
                <a:cs typeface="Times New Roman" panose="02020603050405020304" pitchFamily="18" charset="0"/>
              </a:rPr>
              <a:t>在嵌入式</a:t>
            </a:r>
            <a:r>
              <a:rPr kumimoji="1" lang="en-US" altLang="zh-CN" sz="2900" dirty="0">
                <a:latin typeface="Times New Roman" panose="02020603050405020304" pitchFamily="18" charset="0"/>
                <a:cs typeface="Times New Roman" panose="02020603050405020304" pitchFamily="18" charset="0"/>
              </a:rPr>
              <a:t>SQL</a:t>
            </a:r>
            <a:r>
              <a:rPr kumimoji="1" lang="zh-CN" altLang="en-US" sz="2900" dirty="0">
                <a:latin typeface="Times New Roman" panose="02020603050405020304" pitchFamily="18" charset="0"/>
                <a:cs typeface="Times New Roman" panose="02020603050405020304" pitchFamily="18" charset="0"/>
              </a:rPr>
              <a:t>中，查询结果为单记录的</a:t>
            </a:r>
            <a:r>
              <a:rPr kumimoji="1" lang="en-US" altLang="zh-CN" sz="2900" dirty="0">
                <a:latin typeface="Times New Roman" panose="02020603050405020304" pitchFamily="18" charset="0"/>
                <a:cs typeface="Times New Roman" panose="02020603050405020304" pitchFamily="18" charset="0"/>
              </a:rPr>
              <a:t>SELECT</a:t>
            </a:r>
            <a:r>
              <a:rPr kumimoji="1" lang="zh-CN" altLang="en-US" sz="2900" dirty="0">
                <a:latin typeface="Times New Roman" panose="02020603050405020304" pitchFamily="18" charset="0"/>
                <a:cs typeface="Times New Roman" panose="02020603050405020304" pitchFamily="18" charset="0"/>
              </a:rPr>
              <a:t>语句需要用</a:t>
            </a:r>
            <a:r>
              <a:rPr kumimoji="1" lang="en-US" altLang="zh-CN" sz="2900" dirty="0">
                <a:latin typeface="Times New Roman" panose="02020603050405020304" pitchFamily="18" charset="0"/>
                <a:cs typeface="Times New Roman" panose="02020603050405020304" pitchFamily="18" charset="0"/>
              </a:rPr>
              <a:t>INTO</a:t>
            </a:r>
            <a:r>
              <a:rPr kumimoji="1" lang="zh-CN" altLang="en-US" sz="2900" dirty="0">
                <a:latin typeface="Times New Roman" panose="02020603050405020304" pitchFamily="18" charset="0"/>
                <a:cs typeface="Times New Roman" panose="02020603050405020304" pitchFamily="18" charset="0"/>
              </a:rPr>
              <a:t>子句指定查询结果的存放地点。该语句的一般格式为：</a:t>
            </a:r>
            <a:endParaRPr kumimoji="1" lang="zh-CN" altLang="en-US" sz="2900" dirty="0">
              <a:latin typeface="Times New Roman" panose="02020603050405020304" pitchFamily="18" charset="0"/>
              <a:cs typeface="Times New Roman" panose="02020603050405020304" pitchFamily="18" charset="0"/>
            </a:endParaRPr>
          </a:p>
          <a:p>
            <a:pPr marL="0" indent="0" algn="l">
              <a:lnSpc>
                <a:spcPct val="140000"/>
              </a:lnSpc>
              <a:buNone/>
            </a:pPr>
            <a:r>
              <a:rPr kumimoji="1" lang="en-US" altLang="zh-CN" sz="2600" b="0" dirty="0">
                <a:latin typeface="Times New Roman" panose="02020603050405020304" pitchFamily="18" charset="0"/>
                <a:cs typeface="Times New Roman" panose="02020603050405020304" pitchFamily="18" charset="0"/>
              </a:rPr>
              <a:t>	</a:t>
            </a:r>
            <a:r>
              <a:rPr kumimoji="1" lang="en-US" altLang="zh-CN" sz="2900" b="0" dirty="0">
                <a:latin typeface="Times New Roman" panose="02020603050405020304" pitchFamily="18" charset="0"/>
                <a:cs typeface="Times New Roman" panose="02020603050405020304" pitchFamily="18" charset="0"/>
              </a:rPr>
              <a:t> </a:t>
            </a:r>
            <a:endParaRPr kumimoji="1" lang="en-US" altLang="zh-CN" sz="2900" b="0" dirty="0">
              <a:latin typeface="Times New Roman" panose="02020603050405020304" pitchFamily="18" charset="0"/>
              <a:cs typeface="Times New Roman" panose="02020603050405020304" pitchFamily="18" charset="0"/>
            </a:endParaRPr>
          </a:p>
          <a:p>
            <a:pPr marL="0" indent="0" algn="l">
              <a:lnSpc>
                <a:spcPct val="140000"/>
              </a:lnSpc>
              <a:buNone/>
            </a:pPr>
            <a:r>
              <a:rPr kumimoji="1" lang="en-US" altLang="zh-CN" sz="2900" b="0" dirty="0">
                <a:latin typeface="Times New Roman" panose="02020603050405020304" pitchFamily="18" charset="0"/>
                <a:cs typeface="Times New Roman" panose="02020603050405020304" pitchFamily="18" charset="0"/>
              </a:rPr>
              <a:t>                     </a:t>
            </a:r>
            <a:br>
              <a:rPr kumimoji="1" lang="en-US" altLang="zh-CN" sz="2900" b="0" dirty="0">
                <a:latin typeface="Times New Roman" panose="02020603050405020304" pitchFamily="18" charset="0"/>
                <a:cs typeface="Times New Roman" panose="02020603050405020304" pitchFamily="18" charset="0"/>
              </a:rPr>
            </a:br>
            <a:r>
              <a:rPr kumimoji="1" lang="en-US" altLang="zh-CN" sz="2900" b="0" dirty="0">
                <a:latin typeface="Times New Roman" panose="02020603050405020304" pitchFamily="18" charset="0"/>
                <a:cs typeface="Times New Roman" panose="02020603050405020304" pitchFamily="18" charset="0"/>
              </a:rPr>
              <a:t>	 </a:t>
            </a:r>
            <a:br>
              <a:rPr kumimoji="1" lang="en-US" altLang="zh-CN" sz="2900" b="0" dirty="0">
                <a:latin typeface="Times New Roman" panose="02020603050405020304" pitchFamily="18" charset="0"/>
                <a:cs typeface="Times New Roman" panose="02020603050405020304" pitchFamily="18" charset="0"/>
              </a:rPr>
            </a:br>
            <a:r>
              <a:rPr kumimoji="1" lang="en-US" altLang="zh-CN" sz="2900" b="0" dirty="0">
                <a:latin typeface="Times New Roman" panose="02020603050405020304" pitchFamily="18" charset="0"/>
                <a:cs typeface="Times New Roman" panose="02020603050405020304" pitchFamily="18" charset="0"/>
              </a:rPr>
              <a:t>	 </a:t>
            </a:r>
            <a:br>
              <a:rPr kumimoji="1" lang="en-US" altLang="zh-CN" sz="2900" b="0" dirty="0">
                <a:latin typeface="Times New Roman" panose="02020603050405020304" pitchFamily="18" charset="0"/>
                <a:cs typeface="Times New Roman" panose="02020603050405020304" pitchFamily="18" charset="0"/>
              </a:rPr>
            </a:br>
            <a:r>
              <a:rPr kumimoji="1" lang="en-US" altLang="zh-CN" sz="2900" b="0" dirty="0">
                <a:latin typeface="Times New Roman" panose="02020603050405020304" pitchFamily="18" charset="0"/>
                <a:cs typeface="Times New Roman" panose="02020603050405020304" pitchFamily="18" charset="0"/>
              </a:rPr>
              <a:t>	</a:t>
            </a:r>
            <a:br>
              <a:rPr kumimoji="1" lang="en-US" altLang="zh-CN" sz="2900" b="0" dirty="0">
                <a:latin typeface="Times New Roman" panose="02020603050405020304" pitchFamily="18" charset="0"/>
                <a:cs typeface="Times New Roman" panose="02020603050405020304" pitchFamily="18" charset="0"/>
              </a:rPr>
            </a:br>
            <a:r>
              <a:rPr kumimoji="1" lang="en-US" altLang="zh-CN" sz="2900" b="0" dirty="0">
                <a:latin typeface="Times New Roman" panose="02020603050405020304" pitchFamily="18" charset="0"/>
                <a:cs typeface="Times New Roman" panose="02020603050405020304" pitchFamily="18" charset="0"/>
              </a:rPr>
              <a:t>	</a:t>
            </a:r>
            <a:br>
              <a:rPr kumimoji="1" lang="en-US" altLang="zh-CN" sz="2900" b="0" dirty="0">
                <a:latin typeface="Times New Roman" panose="02020603050405020304" pitchFamily="18" charset="0"/>
                <a:cs typeface="Times New Roman" panose="02020603050405020304" pitchFamily="18" charset="0"/>
              </a:rPr>
            </a:br>
            <a:r>
              <a:rPr kumimoji="1" lang="en-US" altLang="zh-CN" sz="2900" b="0" dirty="0">
                <a:latin typeface="Times New Roman" panose="02020603050405020304" pitchFamily="18" charset="0"/>
                <a:cs typeface="Times New Roman" panose="02020603050405020304" pitchFamily="18" charset="0"/>
              </a:rPr>
              <a:t>	</a:t>
            </a:r>
            <a:endParaRPr kumimoji="1" lang="en-US" altLang="zh-CN" sz="2900" b="0" dirty="0">
              <a:latin typeface="Times New Roman" panose="02020603050405020304" pitchFamily="18" charset="0"/>
              <a:cs typeface="Times New Roman" panose="02020603050405020304" pitchFamily="18" charset="0"/>
            </a:endParaRPr>
          </a:p>
          <a:p>
            <a:pPr marL="0" indent="0" algn="l">
              <a:lnSpc>
                <a:spcPct val="140000"/>
              </a:lnSpc>
              <a:buNone/>
            </a:pPr>
            <a:endParaRPr kumimoji="1" lang="en-US" altLang="zh-CN" sz="1100" b="0" dirty="0">
              <a:latin typeface="Times New Roman" panose="02020603050405020304" pitchFamily="18" charset="0"/>
              <a:cs typeface="Times New Roman" panose="02020603050405020304" pitchFamily="18" charset="0"/>
            </a:endParaRPr>
          </a:p>
          <a:p>
            <a:pPr lvl="1">
              <a:lnSpc>
                <a:spcPct val="140000"/>
              </a:lnSpc>
            </a:pPr>
            <a:r>
              <a:rPr kumimoji="1" lang="zh-CN" altLang="en-US" sz="2900" dirty="0">
                <a:latin typeface="Times New Roman" panose="02020603050405020304" pitchFamily="18" charset="0"/>
                <a:cs typeface="Times New Roman" panose="02020603050405020304" pitchFamily="18" charset="0"/>
              </a:rPr>
              <a:t>该语句对交互式</a:t>
            </a:r>
            <a:r>
              <a:rPr kumimoji="1" lang="en-US" altLang="zh-CN" sz="2900" dirty="0">
                <a:latin typeface="Times New Roman" panose="02020603050405020304" pitchFamily="18" charset="0"/>
                <a:cs typeface="Times New Roman" panose="02020603050405020304" pitchFamily="18" charset="0"/>
              </a:rPr>
              <a:t>SELECT</a:t>
            </a:r>
            <a:r>
              <a:rPr kumimoji="1" lang="zh-CN" altLang="en-US" sz="2900" dirty="0">
                <a:latin typeface="Times New Roman" panose="02020603050405020304" pitchFamily="18" charset="0"/>
                <a:cs typeface="Times New Roman" panose="02020603050405020304" pitchFamily="18" charset="0"/>
              </a:rPr>
              <a:t>语句的扩充就是多了一个</a:t>
            </a:r>
            <a:r>
              <a:rPr kumimoji="1" lang="en-US" altLang="zh-CN" sz="2900" dirty="0">
                <a:latin typeface="Times New Roman" panose="02020603050405020304" pitchFamily="18" charset="0"/>
                <a:cs typeface="Times New Roman" panose="02020603050405020304" pitchFamily="18" charset="0"/>
              </a:rPr>
              <a:t>INTO</a:t>
            </a:r>
            <a:r>
              <a:rPr kumimoji="1" lang="zh-CN" altLang="en-US" sz="2900" dirty="0">
                <a:latin typeface="Times New Roman" panose="02020603050405020304" pitchFamily="18" charset="0"/>
                <a:cs typeface="Times New Roman" panose="02020603050405020304" pitchFamily="18" charset="0"/>
              </a:rPr>
              <a:t>子句，把从数据库中找到的符合条件的记录，放到</a:t>
            </a:r>
            <a:r>
              <a:rPr kumimoji="1" lang="en-US" altLang="zh-CN" sz="2900" dirty="0">
                <a:latin typeface="Times New Roman" panose="02020603050405020304" pitchFamily="18" charset="0"/>
                <a:cs typeface="Times New Roman" panose="02020603050405020304" pitchFamily="18" charset="0"/>
              </a:rPr>
              <a:t>INTO</a:t>
            </a:r>
            <a:r>
              <a:rPr kumimoji="1" lang="zh-CN" altLang="en-US" sz="2900" dirty="0">
                <a:latin typeface="Times New Roman" panose="02020603050405020304" pitchFamily="18" charset="0"/>
                <a:cs typeface="Times New Roman" panose="02020603050405020304" pitchFamily="18" charset="0"/>
              </a:rPr>
              <a:t>子句指出的主变量中去。其他子句的含义不变。</a:t>
            </a:r>
            <a:endParaRPr kumimoji="1" lang="zh-CN" altLang="en-US" sz="2900" dirty="0">
              <a:latin typeface="Times New Roman" panose="02020603050405020304" pitchFamily="18" charset="0"/>
              <a:cs typeface="Times New Roman" panose="02020603050405020304" pitchFamily="18" charset="0"/>
            </a:endParaRPr>
          </a:p>
          <a:p>
            <a:pPr>
              <a:lnSpc>
                <a:spcPct val="14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124559" y="2545140"/>
            <a:ext cx="6735450" cy="297893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EXEC SQL SELECT [ALL|DISTINCT]</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&lt;</a:t>
            </a:r>
            <a:r>
              <a:rPr kumimoji="1" lang="zh-CN" altLang="en-US" dirty="0">
                <a:latin typeface="Cambria Math" panose="02040503050406030204" pitchFamily="18" charset="0"/>
                <a:cs typeface="Times New Roman" panose="02020603050405020304" pitchFamily="18" charset="0"/>
              </a:rPr>
              <a:t>目标列表达式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&gt;[,&lt;</a:t>
            </a:r>
            <a:r>
              <a:rPr kumimoji="1" lang="zh-CN" altLang="en-US" dirty="0">
                <a:latin typeface="Cambria Math" panose="02040503050406030204" pitchFamily="18" charset="0"/>
                <a:cs typeface="Times New Roman" panose="02020603050405020304" pitchFamily="18" charset="0"/>
              </a:rPr>
              <a:t>目标列表达式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INTO &lt;</a:t>
            </a:r>
            <a:r>
              <a:rPr kumimoji="1" lang="zh-CN" altLang="en-US" dirty="0">
                <a:latin typeface="Cambria Math" panose="02040503050406030204" pitchFamily="18" charset="0"/>
                <a:cs typeface="Times New Roman" panose="02020603050405020304" pitchFamily="18" charset="0"/>
              </a:rPr>
              <a:t>主变量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&gt;[&lt;</a:t>
            </a:r>
            <a:r>
              <a:rPr kumimoji="1" lang="zh-CN" altLang="en-US" dirty="0">
                <a:latin typeface="Cambria Math" panose="02040503050406030204" pitchFamily="18" charset="0"/>
                <a:cs typeface="Times New Roman" panose="02020603050405020304" pitchFamily="18" charset="0"/>
              </a:rPr>
              <a:t>指示变量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&gt;][,&lt;</a:t>
            </a:r>
            <a:r>
              <a:rPr kumimoji="1" lang="zh-CN" altLang="en-US" dirty="0">
                <a:latin typeface="Cambria Math" panose="02040503050406030204" pitchFamily="18" charset="0"/>
                <a:cs typeface="Times New Roman" panose="02020603050405020304" pitchFamily="18" charset="0"/>
              </a:rPr>
              <a:t>主变量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&gt;[&lt;</a:t>
            </a:r>
            <a:r>
              <a:rPr kumimoji="1" lang="zh-CN" altLang="en-US" dirty="0">
                <a:latin typeface="Cambria Math" panose="02040503050406030204" pitchFamily="18" charset="0"/>
                <a:cs typeface="Times New Roman" panose="02020603050405020304" pitchFamily="18" charset="0"/>
              </a:rPr>
              <a:t>指示变量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 </a:t>
            </a:r>
            <a:b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b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FROM &lt;</a:t>
            </a:r>
            <a:r>
              <a:rPr kumimoji="1" lang="zh-CN" altLang="en-US" dirty="0">
                <a:latin typeface="Cambria Math" panose="02040503050406030204" pitchFamily="18" charset="0"/>
                <a:cs typeface="Times New Roman" panose="02020603050405020304" pitchFamily="18" charset="0"/>
              </a:rPr>
              <a:t>表名或视图名</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&gt;[,&lt;</a:t>
            </a:r>
            <a:r>
              <a:rPr kumimoji="1" lang="zh-CN" altLang="en-US" dirty="0">
                <a:latin typeface="Cambria Math" panose="02040503050406030204" pitchFamily="18" charset="0"/>
                <a:cs typeface="Times New Roman" panose="02020603050405020304" pitchFamily="18" charset="0"/>
              </a:rPr>
              <a:t>表名或视图名</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 ...</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[WHERE &lt;</a:t>
            </a:r>
            <a:r>
              <a:rPr kumimoji="1" lang="zh-CN" altLang="en-US" dirty="0">
                <a:latin typeface="Cambria Math" panose="02040503050406030204" pitchFamily="18" charset="0"/>
                <a:cs typeface="Times New Roman" panose="02020603050405020304" pitchFamily="18" charset="0"/>
              </a:rPr>
              <a:t>条件表达式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[GROUP BY &lt;</a:t>
            </a:r>
            <a:r>
              <a:rPr kumimoji="1" lang="zh-CN" altLang="en-US" dirty="0">
                <a:latin typeface="Cambria Math" panose="02040503050406030204" pitchFamily="18" charset="0"/>
                <a:cs typeface="Times New Roman" panose="02020603050405020304" pitchFamily="18" charset="0"/>
              </a:rPr>
              <a:t>列名</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1&gt; [HAVING &lt;</a:t>
            </a:r>
            <a:r>
              <a:rPr kumimoji="1" lang="zh-CN" altLang="en-US" dirty="0">
                <a:latin typeface="Cambria Math" panose="02040503050406030204" pitchFamily="18" charset="0"/>
                <a:cs typeface="Times New Roman" panose="02020603050405020304" pitchFamily="18" charset="0"/>
              </a:rPr>
              <a:t>条件表达式</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&gt;]]</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[ORDER BY &lt;</a:t>
            </a:r>
            <a:r>
              <a:rPr kumimoji="1" lang="zh-CN" altLang="en-US" dirty="0">
                <a:latin typeface="Cambria Math" panose="02040503050406030204" pitchFamily="18" charset="0"/>
                <a:cs typeface="Times New Roman" panose="02020603050405020304" pitchFamily="18" charset="0"/>
              </a:rPr>
              <a:t>列名</a:t>
            </a: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2&gt; [ASC|DESC]];</a:t>
            </a:r>
            <a:endParaRPr kumimoji="1" lang="en-US" altLang="zh-CN"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lvl="1">
              <a:lnSpc>
                <a:spcPct val="150000"/>
              </a:lnSpc>
            </a:pPr>
            <a:r>
              <a:rPr lang="zh-CN" altLang="en-US" dirty="0">
                <a:latin typeface="Times New Roman" panose="02020603050405020304" pitchFamily="18" charset="0"/>
                <a:cs typeface="Times New Roman" panose="02020603050405020304" pitchFamily="18" charset="0"/>
              </a:rPr>
              <a:t>例</a:t>
            </a:r>
            <a:r>
              <a:rPr lang="en-US" altLang="zh-CN" dirty="0">
                <a:latin typeface="Times New Roman" panose="02020603050405020304" pitchFamily="18" charset="0"/>
                <a:cs typeface="Times New Roman" panose="02020603050405020304" pitchFamily="18" charset="0"/>
              </a:rPr>
              <a:t>3-82:</a:t>
            </a:r>
            <a:r>
              <a:rPr lang="zh-CN" altLang="en-US" dirty="0">
                <a:latin typeface="Times New Roman" panose="02020603050405020304" pitchFamily="18" charset="0"/>
                <a:cs typeface="Times New Roman" panose="02020603050405020304" pitchFamily="18" charset="0"/>
              </a:rPr>
              <a:t>根据学生学号查询学生信息。假设已将要查询的学生的学号赋给了主变量</a:t>
            </a:r>
            <a:r>
              <a:rPr lang="en-US" altLang="zh-CN" dirty="0" err="1">
                <a:latin typeface="Times New Roman" panose="02020603050405020304" pitchFamily="18" charset="0"/>
                <a:cs typeface="Times New Roman" panose="02020603050405020304" pitchFamily="18" charset="0"/>
              </a:rPr>
              <a:t>givensno</a:t>
            </a:r>
            <a:endParaRPr lang="en-US" altLang="zh-CN" dirty="0">
              <a:latin typeface="Times New Roman" panose="02020603050405020304" pitchFamily="18" charset="0"/>
              <a:cs typeface="Times New Roman" panose="02020603050405020304" pitchFamily="18" charset="0"/>
            </a:endParaRPr>
          </a:p>
          <a:p>
            <a:pPr marL="457200" lvl="1" indent="0" algn="l">
              <a:lnSpc>
                <a:spcPct val="150000"/>
              </a:lnSpc>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r>
              <a:rPr lang="en-US" altLang="zh-CN" dirty="0">
                <a:solidFill>
                  <a:srgbClr val="FF6600"/>
                </a:solidFill>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上面的</a:t>
            </a:r>
            <a:r>
              <a:rPr lang="en-US" altLang="zh-CN" dirty="0">
                <a:latin typeface="Times New Roman" panose="02020603050405020304" pitchFamily="18" charset="0"/>
                <a:cs typeface="Times New Roman" panose="02020603050405020304" pitchFamily="18" charset="0"/>
              </a:rPr>
              <a:t>SELECT</a:t>
            </a:r>
            <a:r>
              <a:rPr lang="zh-CN" altLang="en-US" dirty="0">
                <a:latin typeface="Times New Roman" panose="02020603050405020304" pitchFamily="18" charset="0"/>
                <a:cs typeface="Times New Roman" panose="02020603050405020304" pitchFamily="18" charset="0"/>
              </a:rPr>
              <a:t>语句中</a:t>
            </a:r>
            <a:r>
              <a:rPr lang="en-US" altLang="zh-CN" dirty="0" err="1">
                <a:latin typeface="Times New Roman" panose="02020603050405020304" pitchFamily="18" charset="0"/>
                <a:cs typeface="Times New Roman" panose="02020603050405020304" pitchFamily="18" charset="0"/>
              </a:rPr>
              <a:t>Hsno</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Hname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Hsex</a:t>
            </a:r>
            <a:r>
              <a:rPr lang="en-US" altLang="zh-CN" dirty="0">
                <a:latin typeface="Times New Roman" panose="02020603050405020304" pitchFamily="18" charset="0"/>
                <a:cs typeface="Times New Roman" panose="02020603050405020304" pitchFamily="18" charset="0"/>
              </a:rPr>
              <a:t>, Hage, </a:t>
            </a:r>
            <a:r>
              <a:rPr lang="en-US" altLang="zh-CN" dirty="0" err="1">
                <a:latin typeface="Times New Roman" panose="02020603050405020304" pitchFamily="18" charset="0"/>
                <a:cs typeface="Times New Roman" panose="02020603050405020304" pitchFamily="18" charset="0"/>
              </a:rPr>
              <a:t>Hdept</a:t>
            </a:r>
            <a:r>
              <a:rPr lang="zh-CN" altLang="en-US" dirty="0">
                <a:latin typeface="Times New Roman" panose="02020603050405020304" pitchFamily="18" charset="0"/>
                <a:cs typeface="Times New Roman" panose="02020603050405020304" pitchFamily="18" charset="0"/>
              </a:rPr>
              <a:t>和</a:t>
            </a:r>
            <a:r>
              <a:rPr lang="en-US" altLang="zh-CN" dirty="0" err="1">
                <a:latin typeface="Times New Roman" panose="02020603050405020304" pitchFamily="18" charset="0"/>
                <a:cs typeface="Times New Roman" panose="02020603050405020304" pitchFamily="18" charset="0"/>
              </a:rPr>
              <a:t>givensno</a:t>
            </a:r>
            <a:r>
              <a:rPr lang="zh-CN" altLang="en-US" dirty="0">
                <a:latin typeface="Times New Roman" panose="02020603050405020304" pitchFamily="18" charset="0"/>
                <a:cs typeface="Times New Roman" panose="02020603050405020304" pitchFamily="18" charset="0"/>
              </a:rPr>
              <a:t>均是主变量，并均已在前面的程序中说明过了</a:t>
            </a:r>
            <a:endParaRPr lang="zh-CN" altLang="en-US" dirty="0">
              <a:latin typeface="Times New Roman" panose="02020603050405020304" pitchFamily="18" charset="0"/>
              <a:cs typeface="Times New Roman" panose="02020603050405020304" pitchFamily="18" charset="0"/>
            </a:endParaRPr>
          </a:p>
          <a:p>
            <a:pPr>
              <a:lnSpc>
                <a:spcPct val="140000"/>
              </a:lnSpc>
            </a:pPr>
            <a:endParaRPr kumimoji="1"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152693" y="2436206"/>
            <a:ext cx="6735450" cy="1737188"/>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SELECT Sno,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Ssex</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Sage,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Sdept</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 INTO</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Hsno</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Hname</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Hsex</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:Hage,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Hdept</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kumimoji="1"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WHERE Sno=:</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givensno</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10000"/>
          </a:bodyPr>
          <a:lstStyle/>
          <a:p>
            <a:pPr>
              <a:lnSpc>
                <a:spcPct val="150000"/>
              </a:lnSpc>
            </a:pPr>
            <a:r>
              <a:rPr lang="en-US" altLang="zh-CN" sz="2600" dirty="0">
                <a:latin typeface="Times New Roman" panose="02020603050405020304" pitchFamily="18" charset="0"/>
                <a:cs typeface="Times New Roman" panose="02020603050405020304" pitchFamily="18" charset="0"/>
              </a:rPr>
              <a:t>UPDATE</a:t>
            </a:r>
            <a:r>
              <a:rPr lang="zh-CN" altLang="en-US" sz="2600" dirty="0">
                <a:latin typeface="Times New Roman" panose="02020603050405020304" pitchFamily="18" charset="0"/>
                <a:cs typeface="Times New Roman" panose="02020603050405020304" pitchFamily="18" charset="0"/>
              </a:rPr>
              <a:t>语句</a:t>
            </a:r>
            <a:endParaRPr lang="en-US" altLang="zh-CN" sz="2600" dirty="0">
              <a:latin typeface="Times New Roman" panose="02020603050405020304" pitchFamily="18" charset="0"/>
              <a:cs typeface="Times New Roman" panose="02020603050405020304" pitchFamily="18" charset="0"/>
            </a:endParaRPr>
          </a:p>
          <a:p>
            <a:pPr lvl="1">
              <a:lnSpc>
                <a:spcPct val="140000"/>
              </a:lnSpc>
            </a:pPr>
            <a:r>
              <a:rPr lang="zh-CN" altLang="en-US" sz="2600" b="0" dirty="0">
                <a:latin typeface="Times New Roman" panose="02020603050405020304" pitchFamily="18" charset="0"/>
                <a:cs typeface="Times New Roman" panose="02020603050405020304" pitchFamily="18" charset="0"/>
              </a:rPr>
              <a:t>在</a:t>
            </a:r>
            <a:r>
              <a:rPr lang="en-US" altLang="zh-CN" sz="2600" b="0" dirty="0">
                <a:latin typeface="Times New Roman" panose="02020603050405020304" pitchFamily="18" charset="0"/>
                <a:cs typeface="Times New Roman" panose="02020603050405020304" pitchFamily="18" charset="0"/>
              </a:rPr>
              <a:t>UPDATE</a:t>
            </a:r>
            <a:r>
              <a:rPr lang="zh-CN" altLang="en-US" sz="2600" b="0" dirty="0">
                <a:latin typeface="Times New Roman" panose="02020603050405020304" pitchFamily="18" charset="0"/>
                <a:cs typeface="Times New Roman" panose="02020603050405020304" pitchFamily="18" charset="0"/>
              </a:rPr>
              <a:t>语句中，</a:t>
            </a:r>
            <a:r>
              <a:rPr lang="en-US" altLang="zh-CN" sz="2600" b="0" dirty="0">
                <a:latin typeface="Times New Roman" panose="02020603050405020304" pitchFamily="18" charset="0"/>
                <a:cs typeface="Times New Roman" panose="02020603050405020304" pitchFamily="18" charset="0"/>
              </a:rPr>
              <a:t>SET</a:t>
            </a:r>
            <a:r>
              <a:rPr lang="zh-CN" altLang="en-US" sz="2600" b="0" dirty="0">
                <a:latin typeface="Times New Roman" panose="02020603050405020304" pitchFamily="18" charset="0"/>
                <a:cs typeface="Times New Roman" panose="02020603050405020304" pitchFamily="18" charset="0"/>
              </a:rPr>
              <a:t>子句和</a:t>
            </a:r>
            <a:r>
              <a:rPr lang="en-US" altLang="zh-CN" sz="2600" b="0" dirty="0">
                <a:latin typeface="Times New Roman" panose="02020603050405020304" pitchFamily="18" charset="0"/>
                <a:cs typeface="Times New Roman" panose="02020603050405020304" pitchFamily="18" charset="0"/>
              </a:rPr>
              <a:t>WHERE</a:t>
            </a:r>
            <a:r>
              <a:rPr lang="zh-CN" altLang="en-US" sz="2600" b="0" dirty="0">
                <a:latin typeface="Times New Roman" panose="02020603050405020304" pitchFamily="18" charset="0"/>
                <a:cs typeface="Times New Roman" panose="02020603050405020304" pitchFamily="18" charset="0"/>
              </a:rPr>
              <a:t>子句中均可以使用主变量，其中</a:t>
            </a:r>
            <a:r>
              <a:rPr lang="en-US" altLang="zh-CN" sz="2600" b="0" dirty="0">
                <a:latin typeface="Times New Roman" panose="02020603050405020304" pitchFamily="18" charset="0"/>
                <a:cs typeface="Times New Roman" panose="02020603050405020304" pitchFamily="18" charset="0"/>
              </a:rPr>
              <a:t>SET</a:t>
            </a:r>
            <a:r>
              <a:rPr lang="zh-CN" altLang="en-US" sz="2600" b="0" dirty="0">
                <a:latin typeface="Times New Roman" panose="02020603050405020304" pitchFamily="18" charset="0"/>
                <a:cs typeface="Times New Roman" panose="02020603050405020304" pitchFamily="18" charset="0"/>
              </a:rPr>
              <a:t>子句中还可以使用指示变量</a:t>
            </a:r>
            <a:endParaRPr lang="en-US" altLang="zh-CN" sz="2600" b="0" dirty="0">
              <a:latin typeface="Times New Roman" panose="02020603050405020304" pitchFamily="18" charset="0"/>
              <a:cs typeface="Times New Roman" panose="02020603050405020304" pitchFamily="18" charset="0"/>
            </a:endParaRPr>
          </a:p>
          <a:p>
            <a:pPr lvl="1">
              <a:lnSpc>
                <a:spcPct val="140000"/>
              </a:lnSpc>
            </a:pPr>
            <a:r>
              <a:rPr lang="zh-CN" altLang="en-US" sz="2600" b="0" i="1" dirty="0">
                <a:latin typeface="Times New Roman" panose="02020603050405020304" pitchFamily="18" charset="0"/>
                <a:cs typeface="Times New Roman" panose="02020603050405020304" pitchFamily="18" charset="0"/>
              </a:rPr>
              <a:t>例</a:t>
            </a:r>
            <a:r>
              <a:rPr lang="en-US" altLang="zh-CN" sz="2600" b="0" i="1" dirty="0">
                <a:latin typeface="Times New Roman" panose="02020603050405020304" pitchFamily="18" charset="0"/>
                <a:cs typeface="Times New Roman" panose="02020603050405020304" pitchFamily="18" charset="0"/>
              </a:rPr>
              <a:t>5</a:t>
            </a:r>
            <a:r>
              <a:rPr lang="zh-CN" altLang="en-US" sz="2600" b="0" i="1" dirty="0">
                <a:latin typeface="Times New Roman" panose="02020603050405020304" pitchFamily="18" charset="0"/>
                <a:cs typeface="Times New Roman" panose="02020603050405020304" pitchFamily="18" charset="0"/>
              </a:rPr>
              <a:t>： 将全体学生</a:t>
            </a:r>
            <a:r>
              <a:rPr lang="en-US" altLang="zh-CN" sz="2600" b="0" i="1" dirty="0">
                <a:latin typeface="Times New Roman" panose="02020603050405020304" pitchFamily="18" charset="0"/>
                <a:cs typeface="Times New Roman" panose="02020603050405020304" pitchFamily="18" charset="0"/>
              </a:rPr>
              <a:t>'CS-01'</a:t>
            </a:r>
            <a:r>
              <a:rPr lang="zh-CN" altLang="en-US" sz="2600" b="0" i="1" dirty="0">
                <a:latin typeface="Times New Roman" panose="02020603050405020304" pitchFamily="18" charset="0"/>
                <a:cs typeface="Times New Roman" panose="02020603050405020304" pitchFamily="18" charset="0"/>
              </a:rPr>
              <a:t>课程的考试成绩增加若干分，设增加的分数已赋给主变量</a:t>
            </a:r>
            <a:r>
              <a:rPr lang="en-US" altLang="zh-CN" sz="2600" b="0" i="1" dirty="0">
                <a:latin typeface="Times New Roman" panose="02020603050405020304" pitchFamily="18" charset="0"/>
                <a:cs typeface="Times New Roman" panose="02020603050405020304" pitchFamily="18" charset="0"/>
              </a:rPr>
              <a:t>Raise</a:t>
            </a:r>
            <a:endParaRPr lang="en-US" altLang="zh-CN" sz="2600" b="0" i="1" dirty="0">
              <a:latin typeface="Times New Roman" panose="02020603050405020304" pitchFamily="18" charset="0"/>
              <a:cs typeface="Times New Roman" panose="02020603050405020304" pitchFamily="18" charset="0"/>
            </a:endParaRPr>
          </a:p>
          <a:p>
            <a:pPr marL="457200" lvl="1" indent="0" algn="l">
              <a:lnSpc>
                <a:spcPct val="140000"/>
              </a:lnSpc>
              <a:buNone/>
            </a:pP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 </a:t>
            </a:r>
            <a:br>
              <a:rPr lang="en-US" altLang="zh-CN" sz="2600" dirty="0">
                <a:latin typeface="Times New Roman" panose="02020603050405020304" pitchFamily="18" charset="0"/>
                <a:cs typeface="Times New Roman" panose="02020603050405020304" pitchFamily="18" charset="0"/>
              </a:rPr>
            </a:br>
            <a:r>
              <a:rPr lang="en-US" altLang="zh-CN" sz="2600" dirty="0">
                <a:latin typeface="Times New Roman" panose="02020603050405020304" pitchFamily="18" charset="0"/>
                <a:cs typeface="Times New Roman" panose="02020603050405020304" pitchFamily="18" charset="0"/>
              </a:rPr>
              <a:t>            </a:t>
            </a:r>
            <a:br>
              <a:rPr lang="en-US" altLang="zh-CN" sz="2600" dirty="0">
                <a:latin typeface="Times New Roman" panose="02020603050405020304" pitchFamily="18" charset="0"/>
                <a:cs typeface="Times New Roman" panose="02020603050405020304" pitchFamily="18" charset="0"/>
              </a:rPr>
            </a:br>
            <a:r>
              <a:rPr lang="en-US" altLang="zh-CN" sz="2600" dirty="0">
                <a:latin typeface="Times New Roman" panose="02020603050405020304" pitchFamily="18" charset="0"/>
                <a:cs typeface="Times New Roman" panose="02020603050405020304" pitchFamily="18" charset="0"/>
              </a:rPr>
              <a:t>            </a:t>
            </a:r>
            <a:endParaRPr lang="en-US" altLang="zh-CN" sz="2600" b="0" dirty="0">
              <a:latin typeface="Times New Roman" panose="02020603050405020304" pitchFamily="18" charset="0"/>
              <a:cs typeface="Times New Roman" panose="02020603050405020304" pitchFamily="18" charset="0"/>
            </a:endParaRPr>
          </a:p>
          <a:p>
            <a:pPr lvl="1">
              <a:lnSpc>
                <a:spcPct val="140000"/>
              </a:lnSpc>
            </a:pPr>
            <a:r>
              <a:rPr lang="zh-CN" altLang="en-US" sz="2600" b="0" dirty="0">
                <a:latin typeface="Times New Roman" panose="02020603050405020304" pitchFamily="18" charset="0"/>
                <a:cs typeface="Times New Roman" panose="02020603050405020304" pitchFamily="18" charset="0"/>
              </a:rPr>
              <a:t>该操作实际上是一个集合操作，</a:t>
            </a:r>
            <a:r>
              <a:rPr lang="en-US" altLang="zh-CN" sz="2600" b="0" dirty="0">
                <a:latin typeface="Times New Roman" panose="02020603050405020304" pitchFamily="18" charset="0"/>
                <a:cs typeface="Times New Roman" panose="02020603050405020304" pitchFamily="18" charset="0"/>
              </a:rPr>
              <a:t>DBMS</a:t>
            </a:r>
            <a:r>
              <a:rPr lang="zh-CN" altLang="en-US" sz="2600" b="0" dirty="0">
                <a:latin typeface="Times New Roman" panose="02020603050405020304" pitchFamily="18" charset="0"/>
                <a:cs typeface="Times New Roman" panose="02020603050405020304" pitchFamily="18" charset="0"/>
              </a:rPr>
              <a:t>会修改所有学生的</a:t>
            </a:r>
            <a:r>
              <a:rPr lang="en-US" altLang="zh-CN" sz="2600" b="0" dirty="0">
                <a:latin typeface="Times New Roman" panose="02020603050405020304" pitchFamily="18" charset="0"/>
                <a:cs typeface="Times New Roman" panose="02020603050405020304" pitchFamily="18" charset="0"/>
              </a:rPr>
              <a:t>‘CS-01’</a:t>
            </a:r>
            <a:r>
              <a:rPr lang="zh-CN" altLang="en-US" sz="2600" b="0" dirty="0">
                <a:latin typeface="Times New Roman" panose="02020603050405020304" pitchFamily="18" charset="0"/>
                <a:cs typeface="Times New Roman" panose="02020603050405020304" pitchFamily="18" charset="0"/>
              </a:rPr>
              <a:t>课程的</a:t>
            </a:r>
            <a:r>
              <a:rPr lang="en-US" altLang="zh-CN" sz="2600" b="0" dirty="0">
                <a:latin typeface="Times New Roman" panose="02020603050405020304" pitchFamily="18" charset="0"/>
                <a:cs typeface="Times New Roman" panose="02020603050405020304" pitchFamily="18" charset="0"/>
              </a:rPr>
              <a:t>Grade</a:t>
            </a:r>
            <a:r>
              <a:rPr lang="zh-CN" altLang="en-US" sz="2600" b="0" dirty="0">
                <a:latin typeface="Times New Roman" panose="02020603050405020304" pitchFamily="18" charset="0"/>
                <a:cs typeface="Times New Roman" panose="02020603050405020304" pitchFamily="18" charset="0"/>
              </a:rPr>
              <a:t>属性列</a:t>
            </a:r>
            <a:endParaRPr lang="zh-CN" altLang="en-US" sz="2600" b="0" dirty="0">
              <a:latin typeface="Times New Roman" panose="02020603050405020304" pitchFamily="18" charset="0"/>
              <a:cs typeface="Times New Roman" panose="02020603050405020304" pitchFamily="18" charset="0"/>
            </a:endParaRPr>
          </a:p>
          <a:p>
            <a:pPr>
              <a:lnSpc>
                <a:spcPct val="150000"/>
              </a:lnSpc>
            </a:pPr>
            <a:endParaRPr kumimoji="1" lang="en-US" altLang="zh-CN" sz="30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152693" y="3859238"/>
            <a:ext cx="6735450" cy="1289886"/>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UPDATE SC</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	 SET Grade=Grade+</a:t>
            </a:r>
            <a:r>
              <a:rPr lang="en-US" altLang="zh-CN"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Raise</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=‘CS-01’;</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lvl="1">
              <a:lnSpc>
                <a:spcPct val="150000"/>
              </a:lnSpc>
            </a:pPr>
            <a:r>
              <a:rPr lang="zh-CN" altLang="en-US" sz="2400" i="1" dirty="0">
                <a:latin typeface="Times New Roman" panose="02020603050405020304" pitchFamily="18" charset="0"/>
                <a:cs typeface="Times New Roman" panose="02020603050405020304" pitchFamily="18" charset="0"/>
              </a:rPr>
              <a:t>例</a:t>
            </a:r>
            <a:r>
              <a:rPr lang="en-US" altLang="zh-CN" sz="2400" i="1" dirty="0">
                <a:latin typeface="Times New Roman" panose="02020603050405020304" pitchFamily="18" charset="0"/>
                <a:cs typeface="Times New Roman" panose="02020603050405020304" pitchFamily="18" charset="0"/>
              </a:rPr>
              <a:t>3-83</a:t>
            </a:r>
            <a:r>
              <a:rPr lang="zh-CN" altLang="en-US" sz="2400" i="1" dirty="0">
                <a:latin typeface="Times New Roman" panose="02020603050405020304" pitchFamily="18" charset="0"/>
                <a:cs typeface="Times New Roman" panose="02020603050405020304" pitchFamily="18" charset="0"/>
              </a:rPr>
              <a:t>： 修改某个学生</a:t>
            </a:r>
            <a:r>
              <a:rPr lang="en-US" altLang="zh-CN" sz="2400" i="1" dirty="0">
                <a:latin typeface="Times New Roman" panose="02020603050405020304" pitchFamily="18" charset="0"/>
                <a:cs typeface="Times New Roman" panose="02020603050405020304" pitchFamily="18" charset="0"/>
              </a:rPr>
              <a:t>‘CS-01’</a:t>
            </a:r>
            <a:r>
              <a:rPr lang="zh-CN" altLang="en-US" sz="2400" i="1" dirty="0">
                <a:latin typeface="Times New Roman" panose="02020603050405020304" pitchFamily="18" charset="0"/>
                <a:cs typeface="Times New Roman" panose="02020603050405020304" pitchFamily="18" charset="0"/>
              </a:rPr>
              <a:t>课程的成绩。假设该学生的学号已赋给主变量</a:t>
            </a:r>
            <a:r>
              <a:rPr lang="en-US" altLang="zh-CN" sz="2400" i="1" dirty="0" err="1">
                <a:latin typeface="Times New Roman" panose="02020603050405020304" pitchFamily="18" charset="0"/>
                <a:cs typeface="Times New Roman" panose="02020603050405020304" pitchFamily="18" charset="0"/>
              </a:rPr>
              <a:t>givensno</a:t>
            </a:r>
            <a:r>
              <a:rPr lang="zh-CN" altLang="en-US" sz="2400" i="1" dirty="0">
                <a:latin typeface="Times New Roman" panose="02020603050405020304" pitchFamily="18" charset="0"/>
                <a:cs typeface="Times New Roman" panose="02020603050405020304" pitchFamily="18" charset="0"/>
              </a:rPr>
              <a:t>，修改后的成绩已赋给主变量</a:t>
            </a:r>
            <a:r>
              <a:rPr lang="en-US" altLang="zh-CN" sz="2400" i="1" dirty="0" err="1">
                <a:latin typeface="Times New Roman" panose="02020603050405020304" pitchFamily="18" charset="0"/>
                <a:cs typeface="Times New Roman" panose="02020603050405020304" pitchFamily="18" charset="0"/>
              </a:rPr>
              <a:t>newgrade</a:t>
            </a:r>
            <a:endParaRPr lang="en-US" altLang="zh-CN" sz="2400" i="1" dirty="0">
              <a:latin typeface="Times New Roman" panose="02020603050405020304" pitchFamily="18" charset="0"/>
              <a:cs typeface="Times New Roman" panose="02020603050405020304" pitchFamily="18" charset="0"/>
            </a:endParaRPr>
          </a:p>
          <a:p>
            <a:pPr marL="387350" indent="-387350" algn="l">
              <a:lnSpc>
                <a:spcPct val="150000"/>
              </a:lnSpc>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     </a:t>
            </a:r>
            <a:br>
              <a:rPr lang="en-US" altLang="zh-CN" sz="2400" b="0" dirty="0">
                <a:latin typeface="Times New Roman" panose="02020603050405020304" pitchFamily="18" charset="0"/>
                <a:cs typeface="Times New Roman" panose="02020603050405020304" pitchFamily="18" charset="0"/>
              </a:rPr>
            </a:br>
            <a:r>
              <a:rPr lang="en-US" altLang="zh-CN" sz="2400" b="0" dirty="0">
                <a:latin typeface="Times New Roman" panose="02020603050405020304" pitchFamily="18" charset="0"/>
                <a:cs typeface="Times New Roman" panose="02020603050405020304" pitchFamily="18" charset="0"/>
              </a:rPr>
              <a:t>   </a:t>
            </a:r>
            <a:br>
              <a:rPr lang="en-US" altLang="zh-CN" sz="2400" b="0" dirty="0">
                <a:latin typeface="Times New Roman" panose="02020603050405020304" pitchFamily="18" charset="0"/>
                <a:cs typeface="Times New Roman" panose="02020603050405020304" pitchFamily="18" charset="0"/>
              </a:rPr>
            </a:b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marL="387350" indent="-387350" algn="l">
              <a:lnSpc>
                <a:spcPct val="150000"/>
              </a:lnSpc>
              <a:buNone/>
            </a:pPr>
            <a:r>
              <a:rPr lang="en-US" altLang="zh-CN" sz="2400" b="0" dirty="0">
                <a:latin typeface="Times New Roman" panose="02020603050405020304" pitchFamily="18" charset="0"/>
                <a:cs typeface="Times New Roman" panose="02020603050405020304" pitchFamily="18" charset="0"/>
              </a:rPr>
              <a:t>                    </a:t>
            </a:r>
            <a:endParaRPr lang="en-US" altLang="zh-CN" sz="2400" b="0" dirty="0">
              <a:latin typeface="Times New Roman" panose="02020603050405020304" pitchFamily="18" charset="0"/>
              <a:cs typeface="Times New Roman" panose="02020603050405020304" pitchFamily="18" charset="0"/>
            </a:endParaRPr>
          </a:p>
          <a:p>
            <a:pPr lvl="1">
              <a:lnSpc>
                <a:spcPct val="140000"/>
              </a:lnSpc>
            </a:pPr>
            <a:endParaRPr kumimoji="1" lang="en-US" altLang="zh-CN" sz="30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232310" y="2472914"/>
            <a:ext cx="6735450" cy="191217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EXEC SQL UPDATE SC</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SET Grade=</a:t>
            </a:r>
            <a:r>
              <a:rPr lang="en-US" altLang="zh-CN" sz="18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newgrade</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WHERE Sno=</a:t>
            </a:r>
            <a:r>
              <a:rPr lang="en-US" altLang="zh-CN" sz="18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givensno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AND</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=‘CS-01’;</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DELETE</a:t>
            </a:r>
            <a:r>
              <a:rPr lang="zh-CN" altLang="en-US" sz="2600" dirty="0">
                <a:latin typeface="Times New Roman" panose="02020603050405020304" pitchFamily="18" charset="0"/>
                <a:cs typeface="Times New Roman" panose="02020603050405020304" pitchFamily="18" charset="0"/>
              </a:rPr>
              <a:t>语句</a:t>
            </a: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DELETE</a:t>
            </a:r>
            <a:r>
              <a:rPr lang="zh-CN" altLang="en-US" dirty="0">
                <a:latin typeface="Times New Roman" panose="02020603050405020304" pitchFamily="18" charset="0"/>
                <a:cs typeface="Times New Roman" panose="02020603050405020304" pitchFamily="18" charset="0"/>
              </a:rPr>
              <a:t>语句的</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子句中可以使用主变量指定删除条件</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3-84</a:t>
            </a:r>
            <a:r>
              <a:rPr lang="zh-CN" altLang="en-US" i="1" dirty="0">
                <a:latin typeface="Times New Roman" panose="02020603050405020304" pitchFamily="18" charset="0"/>
                <a:cs typeface="Times New Roman" panose="02020603050405020304" pitchFamily="18" charset="0"/>
              </a:rPr>
              <a:t>：某个学生退学了，现要将有关他的所有选课记录删除掉。假设该学生的姓名已赋给主变量</a:t>
            </a:r>
            <a:r>
              <a:rPr lang="en-US" altLang="zh-CN" i="1" dirty="0" err="1">
                <a:latin typeface="Times New Roman" panose="02020603050405020304" pitchFamily="18" charset="0"/>
                <a:cs typeface="Times New Roman" panose="02020603050405020304" pitchFamily="18" charset="0"/>
              </a:rPr>
              <a:t>stdname</a:t>
            </a:r>
            <a:endParaRPr lang="en-US" altLang="zh-CN" i="1" dirty="0">
              <a:latin typeface="Times New Roman" panose="02020603050405020304" pitchFamily="18" charset="0"/>
              <a:cs typeface="Times New Roman" panose="02020603050405020304" pitchFamily="18" charset="0"/>
            </a:endParaRPr>
          </a:p>
          <a:p>
            <a:pPr marL="1289050" lvl="1" indent="-533400" algn="l">
              <a:lnSpc>
                <a:spcPct val="150000"/>
              </a:lnSpc>
              <a:buNone/>
            </a:pP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endParaRPr kumimoji="1"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204175" y="3742117"/>
            <a:ext cx="6735450" cy="1912172"/>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EXEC SQL DELETE FROM SC</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WHERE Sno </a:t>
            </a:r>
            <a:r>
              <a:rPr lang="en-US" altLang="zh-CN" sz="18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 SELECT Sno</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FROM Student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Sname</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a:solidFill>
                  <a:srgbClr val="FF66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stdname</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20000"/>
          </a:bodyPr>
          <a:lstStyle/>
          <a:p>
            <a:pPr>
              <a:lnSpc>
                <a:spcPct val="150000"/>
              </a:lnSpc>
            </a:pPr>
            <a:r>
              <a:rPr lang="en-US" altLang="zh-CN" sz="2600" dirty="0">
                <a:latin typeface="Times New Roman" panose="02020603050405020304" pitchFamily="18" charset="0"/>
                <a:cs typeface="Times New Roman" panose="02020603050405020304" pitchFamily="18" charset="0"/>
              </a:rPr>
              <a:t>DELETE</a:t>
            </a:r>
            <a:r>
              <a:rPr lang="zh-CN" altLang="en-US" sz="2600" dirty="0">
                <a:latin typeface="Times New Roman" panose="02020603050405020304" pitchFamily="18" charset="0"/>
                <a:cs typeface="Times New Roman" panose="02020603050405020304" pitchFamily="18" charset="0"/>
              </a:rPr>
              <a:t>语句</a:t>
            </a:r>
            <a:endParaRPr lang="en-US" altLang="zh-CN" sz="2600" dirty="0">
              <a:latin typeface="Times New Roman" panose="02020603050405020304" pitchFamily="18" charset="0"/>
              <a:cs typeface="Times New Roman" panose="02020603050405020304" pitchFamily="18" charset="0"/>
            </a:endParaRPr>
          </a:p>
          <a:p>
            <a:pPr lvl="1" algn="l">
              <a:lnSpc>
                <a:spcPct val="150000"/>
              </a:lnSpc>
            </a:pPr>
            <a:r>
              <a:rPr lang="zh-CN" altLang="en-US" dirty="0">
                <a:latin typeface="Times New Roman" panose="02020603050405020304" pitchFamily="18" charset="0"/>
                <a:cs typeface="Times New Roman" panose="02020603050405020304" pitchFamily="18" charset="0"/>
              </a:rPr>
              <a:t>另一种等价实现方法为：</a:t>
            </a:r>
            <a:endParaRPr lang="zh-CN" altLang="en-US" dirty="0">
              <a:latin typeface="Times New Roman" panose="02020603050405020304" pitchFamily="18" charset="0"/>
              <a:cs typeface="Times New Roman" panose="02020603050405020304" pitchFamily="18" charset="0"/>
            </a:endParaRPr>
          </a:p>
          <a:p>
            <a:pPr marL="1289050" lvl="1" indent="-533400" algn="l">
              <a:lnSpc>
                <a:spcPct val="15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1289050" lvl="1" indent="-533400" algn="l">
              <a:lnSpc>
                <a:spcPct val="150000"/>
              </a:lnSpc>
              <a:buNone/>
            </a:pP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endParaRPr lang="en-US" altLang="zh-CN" dirty="0">
              <a:latin typeface="Times New Roman" panose="02020603050405020304" pitchFamily="18" charset="0"/>
              <a:cs typeface="Times New Roman" panose="02020603050405020304" pitchFamily="18" charset="0"/>
            </a:endParaRPr>
          </a:p>
          <a:p>
            <a:pPr lvl="1" algn="l">
              <a:lnSpc>
                <a:spcPct val="150000"/>
              </a:lnSpc>
            </a:pPr>
            <a:r>
              <a:rPr lang="zh-CN" altLang="en-US" dirty="0">
                <a:latin typeface="Times New Roman" panose="02020603050405020304" pitchFamily="18" charset="0"/>
                <a:cs typeface="Times New Roman" panose="02020603050405020304" pitchFamily="18" charset="0"/>
              </a:rPr>
              <a:t>显然第一种方法更直接，从而也更高效些。</a:t>
            </a:r>
            <a:br>
              <a:rPr lang="zh-CN" altLang="en-US" dirty="0">
                <a:latin typeface="Times New Roman" panose="02020603050405020304" pitchFamily="18" charset="0"/>
                <a:cs typeface="Times New Roman" panose="02020603050405020304" pitchFamily="18" charset="0"/>
              </a:rPr>
            </a:br>
            <a:r>
              <a:rPr lang="zh-CN" altLang="en-US" dirty="0">
                <a:latin typeface="Times New Roman" panose="02020603050405020304" pitchFamily="18" charset="0"/>
                <a:cs typeface="Times New Roman" panose="02020603050405020304" pitchFamily="18" charset="0"/>
              </a:rPr>
              <a:t>如果该学生选修了多门课程，执行上面的语句时，</a:t>
            </a:r>
            <a:r>
              <a:rPr lang="en-US" altLang="zh-CN" dirty="0">
                <a:latin typeface="Times New Roman" panose="02020603050405020304" pitchFamily="18" charset="0"/>
                <a:cs typeface="Times New Roman" panose="02020603050405020304" pitchFamily="18" charset="0"/>
              </a:rPr>
              <a:t>DBMS</a:t>
            </a:r>
            <a:r>
              <a:rPr lang="zh-CN" altLang="en-US" dirty="0">
                <a:latin typeface="Times New Roman" panose="02020603050405020304" pitchFamily="18" charset="0"/>
                <a:cs typeface="Times New Roman" panose="02020603050405020304" pitchFamily="18" charset="0"/>
              </a:rPr>
              <a:t>会自动执行集合操作，即把他选修的所有课程都删除掉。</a:t>
            </a:r>
            <a:endParaRPr lang="en-US" altLang="zh-CN" dirty="0">
              <a:latin typeface="Times New Roman" panose="02020603050405020304" pitchFamily="18" charset="0"/>
              <a:cs typeface="Times New Roman" panose="02020603050405020304" pitchFamily="18" charset="0"/>
            </a:endParaRPr>
          </a:p>
          <a:p>
            <a:pPr lvl="1">
              <a:lnSpc>
                <a:spcPct val="150000"/>
              </a:lnSpc>
            </a:pPr>
            <a:endParaRPr kumimoji="1"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091634" y="2326711"/>
            <a:ext cx="6735450" cy="240256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EXEC SQL DELETE  FROM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SC</a:t>
            </a:r>
            <a:endPar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WHERE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stdname</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(SELECT </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Sname</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FROM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Student</a:t>
            </a:r>
            <a:endPar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sz="18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Studnet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SC</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a:bodyPr>
          <a:lstStyle/>
          <a:p>
            <a:pPr>
              <a:lnSpc>
                <a:spcPct val="150000"/>
              </a:lnSpc>
            </a:pPr>
            <a:r>
              <a:rPr lang="en-US" altLang="zh-CN" sz="2600" dirty="0">
                <a:latin typeface="Times New Roman" panose="02020603050405020304" pitchFamily="18" charset="0"/>
                <a:cs typeface="Times New Roman" panose="02020603050405020304" pitchFamily="18" charset="0"/>
              </a:rPr>
              <a:t>INSERT</a:t>
            </a:r>
            <a:r>
              <a:rPr lang="zh-CN" altLang="en-US" sz="2600" dirty="0">
                <a:latin typeface="Times New Roman" panose="02020603050405020304" pitchFamily="18" charset="0"/>
                <a:cs typeface="Times New Roman" panose="02020603050405020304" pitchFamily="18" charset="0"/>
              </a:rPr>
              <a:t>语句</a:t>
            </a:r>
            <a:endParaRPr kumimoji="1" lang="en-US" altLang="zh-CN" sz="2600" dirty="0">
              <a:latin typeface="Times New Roman" panose="02020603050405020304" pitchFamily="18" charset="0"/>
              <a:cs typeface="Times New Roman" panose="02020603050405020304" pitchFamily="18" charset="0"/>
            </a:endParaRPr>
          </a:p>
          <a:p>
            <a:pPr lvl="1">
              <a:lnSpc>
                <a:spcPct val="160000"/>
              </a:lnSpc>
            </a:pPr>
            <a:r>
              <a:rPr lang="en-US" altLang="zh-CN" dirty="0">
                <a:latin typeface="Times New Roman" panose="02020603050405020304" pitchFamily="18" charset="0"/>
                <a:cs typeface="Times New Roman" panose="02020603050405020304" pitchFamily="18" charset="0"/>
              </a:rPr>
              <a:t>INSERT</a:t>
            </a:r>
            <a:r>
              <a:rPr lang="zh-CN" altLang="en-US" dirty="0">
                <a:latin typeface="Times New Roman" panose="02020603050405020304" pitchFamily="18" charset="0"/>
                <a:cs typeface="Times New Roman" panose="02020603050405020304" pitchFamily="18" charset="0"/>
              </a:rPr>
              <a:t>语句的</a:t>
            </a:r>
            <a:r>
              <a:rPr lang="en-US" altLang="zh-CN" dirty="0">
                <a:latin typeface="Times New Roman" panose="02020603050405020304" pitchFamily="18" charset="0"/>
                <a:cs typeface="Times New Roman" panose="02020603050405020304" pitchFamily="18" charset="0"/>
              </a:rPr>
              <a:t>VALUES</a:t>
            </a:r>
            <a:r>
              <a:rPr lang="zh-CN" altLang="en-US" dirty="0">
                <a:latin typeface="Times New Roman" panose="02020603050405020304" pitchFamily="18" charset="0"/>
                <a:cs typeface="Times New Roman" panose="02020603050405020304" pitchFamily="18" charset="0"/>
              </a:rPr>
              <a:t>子句中可以使用主变量和指示变量</a:t>
            </a:r>
            <a:endParaRPr lang="en-US" altLang="zh-CN" dirty="0">
              <a:latin typeface="Times New Roman" panose="02020603050405020304" pitchFamily="18" charset="0"/>
              <a:cs typeface="Times New Roman" panose="02020603050405020304" pitchFamily="18" charset="0"/>
            </a:endParaRPr>
          </a:p>
          <a:p>
            <a:pPr lvl="1" algn="l">
              <a:lnSpc>
                <a:spcPct val="16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3-85:</a:t>
            </a:r>
            <a:r>
              <a:rPr lang="zh-CN" altLang="en-US" i="1" dirty="0">
                <a:latin typeface="Times New Roman" panose="02020603050405020304" pitchFamily="18" charset="0"/>
                <a:cs typeface="Times New Roman" panose="02020603050405020304" pitchFamily="18" charset="0"/>
              </a:rPr>
              <a:t>某个学生新选修了某门课程，将有关记录插入</a:t>
            </a:r>
            <a:r>
              <a:rPr lang="en-US" altLang="zh-CN" i="1" dirty="0">
                <a:latin typeface="Times New Roman" panose="02020603050405020304" pitchFamily="18" charset="0"/>
                <a:cs typeface="Times New Roman" panose="02020603050405020304" pitchFamily="18" charset="0"/>
              </a:rPr>
              <a:t>SC</a:t>
            </a:r>
            <a:r>
              <a:rPr lang="zh-CN" altLang="en-US" i="1" dirty="0">
                <a:latin typeface="Times New Roman" panose="02020603050405020304" pitchFamily="18" charset="0"/>
                <a:cs typeface="Times New Roman" panose="02020603050405020304" pitchFamily="18" charset="0"/>
              </a:rPr>
              <a:t>表中。假设学生的学号已赋给主变量</a:t>
            </a:r>
            <a:r>
              <a:rPr lang="en-US" altLang="zh-CN" i="1" dirty="0" err="1">
                <a:latin typeface="Times New Roman" panose="02020603050405020304" pitchFamily="18" charset="0"/>
                <a:cs typeface="Times New Roman" panose="02020603050405020304" pitchFamily="18" charset="0"/>
              </a:rPr>
              <a:t>stdno</a:t>
            </a:r>
            <a:r>
              <a:rPr lang="zh-CN" altLang="en-US" i="1" dirty="0">
                <a:latin typeface="Times New Roman" panose="02020603050405020304" pitchFamily="18" charset="0"/>
                <a:cs typeface="Times New Roman" panose="02020603050405020304" pitchFamily="18" charset="0"/>
              </a:rPr>
              <a:t>，课程号已赋给主变量</a:t>
            </a:r>
            <a:r>
              <a:rPr lang="en-US" altLang="zh-CN" i="1" dirty="0" err="1">
                <a:latin typeface="Times New Roman" panose="02020603050405020304" pitchFamily="18" charset="0"/>
                <a:cs typeface="Times New Roman" panose="02020603050405020304" pitchFamily="18" charset="0"/>
              </a:rPr>
              <a:t>couno</a:t>
            </a:r>
            <a:endParaRPr lang="en-US" altLang="zh-CN" i="1" dirty="0">
              <a:latin typeface="Times New Roman" panose="02020603050405020304" pitchFamily="18" charset="0"/>
              <a:cs typeface="Times New Roman" panose="02020603050405020304" pitchFamily="18" charset="0"/>
            </a:endParaRPr>
          </a:p>
          <a:p>
            <a:pPr marL="457200" lvl="1" indent="0" algn="l">
              <a:lnSpc>
                <a:spcPct val="160000"/>
              </a:lnSpc>
              <a:buNone/>
            </a:pPr>
            <a:r>
              <a:rPr lang="zh-CN" altLang="en-US" dirty="0">
                <a:solidFill>
                  <a:srgbClr val="C00000"/>
                </a:solidFill>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nSpc>
                <a:spcPct val="160000"/>
              </a:lnSpc>
            </a:pPr>
            <a:r>
              <a:rPr lang="zh-CN" altLang="en-US" dirty="0">
                <a:latin typeface="Times New Roman" panose="02020603050405020304" pitchFamily="18" charset="0"/>
                <a:cs typeface="Times New Roman" panose="02020603050405020304" pitchFamily="18" charset="0"/>
              </a:rPr>
              <a:t>由于该学生刚选修课程，尚未考试，因此成绩列为空。所以本例中用指示变量指示相应的主变量为空值。</a:t>
            </a:r>
            <a:endParaRPr lang="zh-CN" altLang="en-US" u="sng"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176040" y="3607941"/>
            <a:ext cx="6735450" cy="131918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nSpc>
                <a:spcPct val="140000"/>
              </a:lnSpc>
            </a:pPr>
            <a:r>
              <a:rPr lang="en-US" altLang="zh-CN" sz="18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gradeid</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=-1</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40000"/>
              </a:lnSpc>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EXEC SQL INSERT INTO SC(Sno, </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Grade)</a:t>
            </a:r>
            <a:br>
              <a:rPr lang="en-US" altLang="zh-CN" sz="1800" dirty="0">
                <a:latin typeface="Cambria Math" panose="02040503050406030204" pitchFamily="18" charset="0"/>
                <a:ea typeface="Cambria Math" panose="02040503050406030204" pitchFamily="18" charset="0"/>
                <a:cs typeface="Times New Roman" panose="02020603050405020304" pitchFamily="18" charset="0"/>
              </a:rPr>
            </a:b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VALUES(</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stdno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latin typeface="Cambria Math" panose="02040503050406030204" pitchFamily="18" charset="0"/>
                <a:ea typeface="Cambria Math" panose="02040503050406030204" pitchFamily="18" charset="0"/>
                <a:cs typeface="Times New Roman" panose="02020603050405020304" pitchFamily="18" charset="0"/>
              </a:rPr>
              <a:t>couno</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gr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en-US" altLang="zh-CN" sz="1800" dirty="0" err="1">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gradeid</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sz="1800" dirty="0">
              <a:latin typeface="Cambria Math" panose="02040503050406030204" pitchFamily="18" charset="0"/>
              <a:ea typeface="Cambria Math" panose="02040503050406030204" pitchFamily="18" charset="0"/>
              <a:cs typeface="Times New Roman" panose="02020603050405020304" pitchFamily="18" charset="0"/>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kumimoji="1" lang="en-US" altLang="zh-CN" sz="26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前面节中介绍的嵌入式</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语句为编程提供了一定的灵活性，使用户可以在程序运行过程中根据实际需要输入</a:t>
            </a:r>
            <a:r>
              <a:rPr lang="en-US" altLang="zh-CN" dirty="0">
                <a:latin typeface="Times New Roman" panose="02020603050405020304" pitchFamily="18" charset="0"/>
                <a:cs typeface="Times New Roman" panose="02020603050405020304" pitchFamily="18" charset="0"/>
              </a:rPr>
              <a:t>WHERE</a:t>
            </a:r>
            <a:r>
              <a:rPr lang="zh-CN" altLang="en-US" dirty="0">
                <a:latin typeface="Times New Roman" panose="02020603050405020304" pitchFamily="18" charset="0"/>
                <a:cs typeface="Times New Roman" panose="02020603050405020304" pitchFamily="18" charset="0"/>
              </a:rPr>
              <a:t>子句或</a:t>
            </a:r>
            <a:r>
              <a:rPr lang="en-US" altLang="zh-CN" dirty="0">
                <a:latin typeface="Times New Roman" panose="02020603050405020304" pitchFamily="18" charset="0"/>
                <a:cs typeface="Times New Roman" panose="02020603050405020304" pitchFamily="18" charset="0"/>
              </a:rPr>
              <a:t>HAVING</a:t>
            </a:r>
            <a:r>
              <a:rPr lang="zh-CN" altLang="en-US" dirty="0">
                <a:latin typeface="Times New Roman" panose="02020603050405020304" pitchFamily="18" charset="0"/>
                <a:cs typeface="Times New Roman" panose="02020603050405020304" pitchFamily="18" charset="0"/>
              </a:rPr>
              <a:t>子句中某些变量的值。</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这些</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语句的共同特点是，语句中</a:t>
            </a:r>
            <a:r>
              <a:rPr lang="zh-CN" altLang="en-US" u="sng" dirty="0">
                <a:latin typeface="Times New Roman" panose="02020603050405020304" pitchFamily="18" charset="0"/>
                <a:cs typeface="Times New Roman" panose="02020603050405020304" pitchFamily="18" charset="0"/>
              </a:rPr>
              <a:t>主变量的个数</a:t>
            </a:r>
            <a:r>
              <a:rPr lang="zh-CN" altLang="en-US" dirty="0">
                <a:latin typeface="Times New Roman" panose="02020603050405020304" pitchFamily="18" charset="0"/>
                <a:cs typeface="Times New Roman" panose="02020603050405020304" pitchFamily="18" charset="0"/>
              </a:rPr>
              <a:t>与</a:t>
            </a:r>
            <a:r>
              <a:rPr lang="zh-CN" altLang="en-US" u="sng" dirty="0">
                <a:latin typeface="Times New Roman" panose="02020603050405020304" pitchFamily="18" charset="0"/>
                <a:cs typeface="Times New Roman" panose="02020603050405020304" pitchFamily="18" charset="0"/>
              </a:rPr>
              <a:t>数据类型</a:t>
            </a:r>
            <a:r>
              <a:rPr lang="zh-CN" altLang="en-US" dirty="0">
                <a:latin typeface="Times New Roman" panose="02020603050405020304" pitchFamily="18" charset="0"/>
                <a:cs typeface="Times New Roman" panose="02020603050405020304" pitchFamily="18" charset="0"/>
              </a:rPr>
              <a:t>在预编译时都是确定的，只有主变量的值是程序运行过程中动态输入的，我们称这类嵌入式</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语句为</a:t>
            </a:r>
            <a:r>
              <a:rPr lang="zh-CN" altLang="en-US" u="sng" dirty="0">
                <a:latin typeface="Times New Roman" panose="02020603050405020304" pitchFamily="18" charset="0"/>
                <a:cs typeface="Times New Roman" panose="02020603050405020304" pitchFamily="18" charset="0"/>
              </a:rPr>
              <a:t>静态</a:t>
            </a:r>
            <a:r>
              <a:rPr lang="en-US" altLang="zh-CN" u="sng" dirty="0">
                <a:latin typeface="Times New Roman" panose="02020603050405020304" pitchFamily="18" charset="0"/>
                <a:cs typeface="Times New Roman" panose="02020603050405020304" pitchFamily="18" charset="0"/>
              </a:rPr>
              <a:t>SQL</a:t>
            </a:r>
            <a:r>
              <a:rPr lang="zh-CN" altLang="en-US" u="sng" dirty="0">
                <a:latin typeface="Times New Roman" panose="02020603050405020304" pitchFamily="18" charset="0"/>
                <a:cs typeface="Times New Roman" panose="02020603050405020304" pitchFamily="18" charset="0"/>
              </a:rPr>
              <a:t>语句</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静态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语句提供的编程灵活性在许多情况下仍显得不足，有时候我们需要编写更为通用的程序</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例如，查询学生选课关系</a:t>
            </a:r>
            <a:r>
              <a:rPr lang="en-US" altLang="zh-CN" dirty="0">
                <a:latin typeface="Times New Roman" panose="02020603050405020304" pitchFamily="18" charset="0"/>
                <a:cs typeface="Times New Roman" panose="02020603050405020304" pitchFamily="18" charset="0"/>
              </a:rPr>
              <a:t>SC</a:t>
            </a:r>
            <a:r>
              <a:rPr lang="zh-CN" altLang="en-US" dirty="0">
                <a:latin typeface="Times New Roman" panose="02020603050405020304" pitchFamily="18" charset="0"/>
                <a:cs typeface="Times New Roman" panose="02020603050405020304" pitchFamily="18" charset="0"/>
              </a:rPr>
              <a:t>，任课教师想查选修某门课程的所有学生的学号及其成绩，班主任想查某个学生选修的所有课程的课程号及相应成绩，学生想查某个学生选修某门课程的成绩，也就是说查询条件是不确定的，要查询的属性列也是不确定的，这时就无法用一条静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语句实现了</a:t>
            </a:r>
            <a:endParaRPr lang="zh-CN" altLang="en-US" dirty="0">
              <a:latin typeface="Times New Roman" panose="02020603050405020304" pitchFamily="18" charset="0"/>
              <a:cs typeface="Times New Roman" panose="02020603050405020304" pitchFamily="18" charset="0"/>
            </a:endParaRPr>
          </a:p>
          <a:p>
            <a:pPr lvl="1">
              <a:lnSpc>
                <a:spcPct val="200000"/>
              </a:lnSpc>
            </a:pP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实际上，如果在预编译时下列信息</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2">
              <a:lnSpc>
                <a:spcPct val="200000"/>
              </a:lnSpc>
            </a:pPr>
            <a:r>
              <a:rPr lang="zh-CN" altLang="en-US" sz="2400" dirty="0">
                <a:latin typeface="Times New Roman" panose="02020603050405020304" pitchFamily="18" charset="0"/>
                <a:cs typeface="Times New Roman" panose="02020603050405020304" pitchFamily="18" charset="0"/>
              </a:rPr>
              <a:t>主变量个数</a:t>
            </a:r>
            <a:endParaRPr lang="en-US" altLang="zh-CN" sz="2400" dirty="0">
              <a:latin typeface="Times New Roman" panose="02020603050405020304" pitchFamily="18" charset="0"/>
              <a:cs typeface="Times New Roman" panose="02020603050405020304" pitchFamily="18" charset="0"/>
            </a:endParaRPr>
          </a:p>
          <a:p>
            <a:pPr lvl="2">
              <a:lnSpc>
                <a:spcPct val="200000"/>
              </a:lnSpc>
            </a:pPr>
            <a:r>
              <a:rPr lang="zh-CN" altLang="en-US" sz="2400" dirty="0">
                <a:latin typeface="Times New Roman" panose="02020603050405020304" pitchFamily="18" charset="0"/>
                <a:cs typeface="Times New Roman" panose="02020603050405020304" pitchFamily="18" charset="0"/>
              </a:rPr>
              <a:t>主变量的数据类型</a:t>
            </a:r>
            <a:endParaRPr lang="en-US" altLang="zh-CN" sz="2400" dirty="0">
              <a:latin typeface="Times New Roman" panose="02020603050405020304" pitchFamily="18" charset="0"/>
              <a:cs typeface="Times New Roman" panose="02020603050405020304" pitchFamily="18" charset="0"/>
            </a:endParaRPr>
          </a:p>
          <a:p>
            <a:pPr lvl="2">
              <a:lnSpc>
                <a:spcPct val="200000"/>
              </a:lnSpc>
            </a:pPr>
            <a:r>
              <a:rPr lang="en-US" altLang="zh-CN" sz="2400" dirty="0">
                <a:latin typeface="Times New Roman" panose="02020603050405020304" pitchFamily="18" charset="0"/>
                <a:cs typeface="Times New Roman" panose="02020603050405020304" pitchFamily="18" charset="0"/>
              </a:rPr>
              <a:t>SQL</a:t>
            </a:r>
            <a:r>
              <a:rPr lang="zh-CN" altLang="en-US" sz="2400" dirty="0">
                <a:latin typeface="Times New Roman" panose="02020603050405020304" pitchFamily="18" charset="0"/>
                <a:cs typeface="Times New Roman" panose="02020603050405020304" pitchFamily="18" charset="0"/>
              </a:rPr>
              <a:t>语句中引用的数据库对象</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例如列、索引、基本表、视图等</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lvl="2">
              <a:lnSpc>
                <a:spcPct val="200000"/>
              </a:lnSpc>
            </a:pPr>
            <a:r>
              <a:rPr lang="en-US" altLang="zh-CN" sz="2400" dirty="0">
                <a:latin typeface="Times New Roman" panose="02020603050405020304" pitchFamily="18" charset="0"/>
                <a:cs typeface="Times New Roman" panose="02020603050405020304" pitchFamily="18" charset="0"/>
              </a:rPr>
              <a:t>SQL</a:t>
            </a:r>
            <a:r>
              <a:rPr lang="zh-CN" altLang="en-US" sz="2400" dirty="0">
                <a:latin typeface="Times New Roman" panose="02020603050405020304" pitchFamily="18" charset="0"/>
                <a:cs typeface="Times New Roman" panose="02020603050405020304" pitchFamily="18" charset="0"/>
              </a:rPr>
              <a:t>语句正文 </a:t>
            </a:r>
            <a:endParaRPr lang="en-US" altLang="zh-CN" sz="2400"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不能确定，我们就必须使用动态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技术</a:t>
            </a: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lang="en-US" altLang="zh-CN" dirty="0">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动态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方法允许在程序运行过程中临时“组装”</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语句，主要有三种形式：</a:t>
            </a:r>
            <a:endParaRPr lang="zh-CN" altLang="en-US" dirty="0">
              <a:latin typeface="Times New Roman" panose="02020603050405020304" pitchFamily="18" charset="0"/>
              <a:cs typeface="Times New Roman" panose="02020603050405020304" pitchFamily="18" charset="0"/>
            </a:endParaRPr>
          </a:p>
          <a:p>
            <a:pPr marL="1022350" lvl="1" indent="-457200">
              <a:lnSpc>
                <a:spcPct val="200000"/>
              </a:lnSpc>
              <a:buFont typeface="Wingdings" panose="05000000000000000000" pitchFamily="2" charset="2"/>
              <a:buAutoNum type="arabicParenR"/>
            </a:pPr>
            <a:r>
              <a:rPr lang="zh-CN" altLang="en-US" dirty="0">
                <a:latin typeface="Times New Roman" panose="02020603050405020304" pitchFamily="18" charset="0"/>
                <a:cs typeface="Times New Roman" panose="02020603050405020304" pitchFamily="18" charset="0"/>
              </a:rPr>
              <a:t>语句可变</a:t>
            </a:r>
            <a:endParaRPr lang="zh-CN" altLang="en-US" dirty="0">
              <a:latin typeface="Times New Roman" panose="02020603050405020304" pitchFamily="18" charset="0"/>
              <a:cs typeface="Times New Roman" panose="02020603050405020304" pitchFamily="18" charset="0"/>
            </a:endParaRPr>
          </a:p>
          <a:p>
            <a:pPr marL="1022350" lvl="1" indent="-457200">
              <a:lnSpc>
                <a:spcPct val="200000"/>
              </a:lnSpc>
              <a:buFont typeface="Wingdings" panose="05000000000000000000" pitchFamily="2" charset="2"/>
              <a:buAutoNum type="arabicParenR"/>
            </a:pPr>
            <a:r>
              <a:rPr lang="zh-CN" altLang="en-US" dirty="0">
                <a:latin typeface="Times New Roman" panose="02020603050405020304" pitchFamily="18" charset="0"/>
                <a:cs typeface="Times New Roman" panose="02020603050405020304" pitchFamily="18" charset="0"/>
              </a:rPr>
              <a:t>条件可变</a:t>
            </a:r>
            <a:endParaRPr lang="zh-CN" altLang="en-US" dirty="0">
              <a:latin typeface="Times New Roman" panose="02020603050405020304" pitchFamily="18" charset="0"/>
              <a:cs typeface="Times New Roman" panose="02020603050405020304" pitchFamily="18" charset="0"/>
            </a:endParaRPr>
          </a:p>
          <a:p>
            <a:pPr marL="1022350" lvl="1" indent="-457200">
              <a:lnSpc>
                <a:spcPct val="200000"/>
              </a:lnSpc>
              <a:buFont typeface="Wingdings" panose="05000000000000000000" pitchFamily="2" charset="2"/>
              <a:buAutoNum type="arabicParenR"/>
            </a:pPr>
            <a:r>
              <a:rPr lang="zh-CN" altLang="en-US" dirty="0">
                <a:latin typeface="Times New Roman" panose="02020603050405020304" pitchFamily="18" charset="0"/>
                <a:cs typeface="Times New Roman" panose="02020603050405020304" pitchFamily="18" charset="0"/>
              </a:rPr>
              <a:t>数据库对象、查询条件均可变</a:t>
            </a:r>
            <a:endParaRPr lang="zh-CN" altLang="en-US" dirty="0">
              <a:latin typeface="Times New Roman" panose="02020603050405020304" pitchFamily="18" charset="0"/>
              <a:cs typeface="Times New Roman" panose="02020603050405020304" pitchFamily="18" charset="0"/>
            </a:endParaRPr>
          </a:p>
          <a:p>
            <a:pPr lvl="1">
              <a:lnSpc>
                <a:spcPct val="20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10000"/>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lang="en-US" altLang="zh-CN" dirty="0">
              <a:latin typeface="Times New Roman" panose="02020603050405020304" pitchFamily="18" charset="0"/>
              <a:cs typeface="Times New Roman" panose="02020603050405020304" pitchFamily="18" charset="0"/>
            </a:endParaRPr>
          </a:p>
          <a:p>
            <a:pPr lvl="1" algn="just">
              <a:lnSpc>
                <a:spcPct val="110000"/>
              </a:lnSpc>
            </a:pPr>
            <a:r>
              <a:rPr lang="zh-CN" altLang="en-US" i="1" dirty="0">
                <a:latin typeface="Times New Roman" panose="02020603050405020304" pitchFamily="18" charset="0"/>
                <a:cs typeface="Times New Roman" panose="02020603050405020304" pitchFamily="18" charset="0"/>
              </a:rPr>
              <a:t>例</a:t>
            </a:r>
            <a:r>
              <a:rPr lang="en-US" altLang="zh-CN" i="1" dirty="0">
                <a:latin typeface="Times New Roman" panose="02020603050405020304" pitchFamily="18" charset="0"/>
                <a:cs typeface="Times New Roman" panose="02020603050405020304" pitchFamily="18" charset="0"/>
              </a:rPr>
              <a:t>3-88:</a:t>
            </a:r>
            <a:r>
              <a:rPr lang="zh-CN" altLang="en-US" i="1" dirty="0">
                <a:latin typeface="Times New Roman" panose="02020603050405020304" pitchFamily="18" charset="0"/>
                <a:cs typeface="Times New Roman" panose="02020603050405020304" pitchFamily="18" charset="0"/>
              </a:rPr>
              <a:t>下面两个</a:t>
            </a:r>
            <a:r>
              <a:rPr lang="en-US" altLang="zh-CN" i="1" dirty="0">
                <a:latin typeface="Times New Roman" panose="02020603050405020304" pitchFamily="18" charset="0"/>
                <a:cs typeface="Times New Roman" panose="02020603050405020304" pitchFamily="18" charset="0"/>
              </a:rPr>
              <a:t>C</a:t>
            </a:r>
            <a:r>
              <a:rPr lang="zh-CN" altLang="en-US" i="1" dirty="0">
                <a:latin typeface="Times New Roman" panose="02020603050405020304" pitchFamily="18" charset="0"/>
                <a:cs typeface="Times New Roman" panose="02020603050405020304" pitchFamily="18" charset="0"/>
              </a:rPr>
              <a:t>语言的程序段说明了动态</a:t>
            </a:r>
            <a:r>
              <a:rPr lang="en-US" altLang="zh-CN" i="1" dirty="0">
                <a:latin typeface="Times New Roman" panose="02020603050405020304" pitchFamily="18" charset="0"/>
                <a:cs typeface="Times New Roman" panose="02020603050405020304" pitchFamily="18" charset="0"/>
              </a:rPr>
              <a:t>SQL</a:t>
            </a:r>
            <a:r>
              <a:rPr lang="zh-CN" altLang="en-US" i="1" dirty="0">
                <a:latin typeface="Times New Roman" panose="02020603050405020304" pitchFamily="18" charset="0"/>
                <a:cs typeface="Times New Roman" panose="02020603050405020304" pitchFamily="18" charset="0"/>
              </a:rPr>
              <a:t>语句的使用技术</a:t>
            </a:r>
            <a:endParaRPr lang="zh-CN" altLang="en-US" i="1" dirty="0">
              <a:latin typeface="Times New Roman" panose="02020603050405020304" pitchFamily="18" charset="0"/>
              <a:cs typeface="Times New Roman" panose="02020603050405020304" pitchFamily="18" charset="0"/>
            </a:endParaRPr>
          </a:p>
          <a:p>
            <a:pPr lvl="1" algn="just">
              <a:lnSpc>
                <a:spcPct val="110000"/>
              </a:lnSpc>
              <a:buNone/>
            </a:pPr>
            <a:r>
              <a:rPr lang="zh-CN" altLang="en-US" dirty="0">
                <a:latin typeface="Times New Roman" panose="02020603050405020304" pitchFamily="18" charset="0"/>
                <a:cs typeface="Times New Roman" panose="02020603050405020304" pitchFamily="18" charset="0"/>
              </a:rPr>
              <a:t>① </a:t>
            </a:r>
            <a:endParaRPr lang="zh-CN" altLang="en-US" dirty="0">
              <a:latin typeface="Times New Roman" panose="02020603050405020304" pitchFamily="18" charset="0"/>
              <a:cs typeface="Times New Roman" panose="02020603050405020304" pitchFamily="18" charset="0"/>
            </a:endParaRPr>
          </a:p>
          <a:p>
            <a:pPr lvl="1" algn="just">
              <a:lnSpc>
                <a:spcPct val="110000"/>
              </a:lnSpc>
              <a:buNone/>
            </a:pPr>
            <a:endParaRPr lang="zh-CN" altLang="en-US" dirty="0">
              <a:latin typeface="Times New Roman" panose="02020603050405020304" pitchFamily="18" charset="0"/>
              <a:cs typeface="Times New Roman" panose="02020603050405020304" pitchFamily="18" charset="0"/>
            </a:endParaRPr>
          </a:p>
          <a:p>
            <a:pPr lvl="1" algn="just">
              <a:lnSpc>
                <a:spcPct val="110000"/>
              </a:lnSpc>
              <a:buNone/>
            </a:pPr>
            <a:r>
              <a:rPr lang="zh-CN" altLang="en-US"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110000"/>
              </a:lnSpc>
              <a:buNone/>
            </a:pP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lgn="just">
              <a:lnSpc>
                <a:spcPct val="110000"/>
              </a:lnSpc>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11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algn="just">
              <a:lnSpc>
                <a:spcPct val="110000"/>
              </a:lnSpc>
              <a:buNone/>
            </a:pPr>
            <a:r>
              <a:rPr lang="zh-CN" altLang="en-US"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这个程序段表示从键盘输入一个</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语句到字符数组中；字符指针</a:t>
            </a:r>
            <a:r>
              <a:rPr lang="en-US" altLang="zh-CN" dirty="0">
                <a:latin typeface="Times New Roman" panose="02020603050405020304" pitchFamily="18" charset="0"/>
                <a:cs typeface="Times New Roman" panose="02020603050405020304" pitchFamily="18" charset="0"/>
              </a:rPr>
              <a:t>query</a:t>
            </a:r>
            <a:r>
              <a:rPr lang="zh-CN" altLang="en-US" dirty="0">
                <a:latin typeface="Times New Roman" panose="02020603050405020304" pitchFamily="18" charset="0"/>
                <a:cs typeface="Times New Roman" panose="02020603050405020304" pitchFamily="18" charset="0"/>
              </a:rPr>
              <a:t>指向字符串的第</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个字符，如果执行语句只做一次，那么程序段最后两个语句可合并成一个语句：</a:t>
            </a:r>
            <a:endParaRPr lang="zh-CN" altLang="en-US" dirty="0">
              <a:latin typeface="Times New Roman" panose="02020603050405020304" pitchFamily="18" charset="0"/>
              <a:cs typeface="Times New Roman" panose="02020603050405020304" pitchFamily="18" charset="0"/>
            </a:endParaRPr>
          </a:p>
          <a:p>
            <a:pPr algn="just">
              <a:lnSpc>
                <a:spcPct val="110000"/>
              </a:lnSpc>
              <a:buNone/>
            </a:pPr>
            <a:r>
              <a:rPr lang="zh-CN" altLang="en-US" sz="2400" b="0"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a:p>
            <a:pPr lvl="1">
              <a:lnSpc>
                <a:spcPct val="20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341050" y="2340779"/>
            <a:ext cx="7180169" cy="1900630"/>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0" lvl="1" algn="just">
              <a:lnSpc>
                <a:spcPct val="110000"/>
              </a:lnSpc>
              <a:buNone/>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BEGIN DECLARE SECTION</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gn="just">
              <a:lnSpc>
                <a:spcPct val="110000"/>
              </a:lnSpc>
              <a:buNone/>
            </a:pPr>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char *query</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gn="just">
              <a:lnSpc>
                <a:spcPct val="110000"/>
              </a:lnSpc>
              <a:buNone/>
            </a:pPr>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END DECLARE SECTION</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gn="just">
              <a:lnSpc>
                <a:spcPct val="110000"/>
              </a:lnSpc>
              <a:buNone/>
            </a:pPr>
            <a:r>
              <a:rPr lang="zh-CN" altLang="en-US" dirty="0">
                <a:latin typeface="Cambria Math" panose="02040503050406030204" pitchFamily="18" charset="0"/>
                <a:cs typeface="Times New Roman" panose="02020603050405020304" pitchFamily="18" charset="0"/>
              </a:rPr>
              <a:t>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scanf</a:t>
            </a:r>
            <a:r>
              <a:rPr lang="zh-CN" altLang="en-US" dirty="0">
                <a:latin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〞%s〞</a:t>
            </a:r>
            <a:r>
              <a:rPr lang="zh-CN" altLang="en-US" dirty="0">
                <a:latin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query</a:t>
            </a:r>
            <a:r>
              <a:rPr lang="zh-CN" altLang="en-US" dirty="0">
                <a:latin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dirty="0">
                <a:latin typeface="Cambria Math" panose="02040503050406030204" pitchFamily="18" charset="0"/>
                <a:cs typeface="Times New Roman" panose="02020603050405020304" pitchFamily="18" charset="0"/>
              </a:rPr>
              <a:t>从键盘输入一个</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SQL</a:t>
            </a:r>
            <a:r>
              <a:rPr lang="zh-CN" altLang="en-US" dirty="0">
                <a:latin typeface="Cambria Math" panose="02040503050406030204" pitchFamily="18" charset="0"/>
                <a:cs typeface="Times New Roman" panose="02020603050405020304" pitchFamily="18" charset="0"/>
              </a:rPr>
              <a:t>语句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marL="0" lvl="1" algn="just">
              <a:lnSpc>
                <a:spcPct val="110000"/>
              </a:lnSpc>
              <a:buNone/>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	   EXEC SQL PREPARE que FROM </a:t>
            </a:r>
            <a:r>
              <a:rPr lang="zh-CN" altLang="en-US" dirty="0">
                <a:latin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query</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gn="just">
              <a:lnSpc>
                <a:spcPct val="110000"/>
              </a:lnSpc>
              <a:buNone/>
            </a:pPr>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EXECUTE que</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p:txBody>
      </p:sp>
      <p:sp>
        <p:nvSpPr>
          <p:cNvPr id="7" name="文本框 6"/>
          <p:cNvSpPr txBox="1"/>
          <p:nvPr/>
        </p:nvSpPr>
        <p:spPr bwMode="auto">
          <a:xfrm>
            <a:off x="1341049" y="5898423"/>
            <a:ext cx="7180169" cy="374059"/>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algn="just">
              <a:lnSpc>
                <a:spcPct val="110000"/>
              </a:lnSpc>
              <a:buNone/>
            </a:pP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EXEC SQL EXECUTE </a:t>
            </a:r>
            <a:r>
              <a:rPr lang="en-US" altLang="zh-CN" sz="1800"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IMMEDIATE</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1800" dirty="0">
                <a:latin typeface="Cambria Math" panose="02040503050406030204" pitchFamily="18" charset="0"/>
                <a:cs typeface="Times New Roman" panose="02020603050405020304" pitchFamily="18" charset="0"/>
              </a:rPr>
              <a:t>：</a:t>
            </a:r>
            <a:r>
              <a:rPr lang="en-US" altLang="zh-CN" sz="1800" dirty="0">
                <a:latin typeface="Cambria Math" panose="02040503050406030204" pitchFamily="18" charset="0"/>
                <a:ea typeface="Cambria Math" panose="02040503050406030204" pitchFamily="18" charset="0"/>
                <a:cs typeface="Times New Roman" panose="02020603050405020304" pitchFamily="18" charset="0"/>
              </a:rPr>
              <a:t>query</a:t>
            </a:r>
            <a:r>
              <a:rPr lang="zh-CN" altLang="en-US" sz="1800" dirty="0">
                <a:latin typeface="Cambria Math" panose="02040503050406030204" pitchFamily="18" charset="0"/>
                <a:cs typeface="Times New Roman" panose="02020603050405020304" pitchFamily="18" charset="0"/>
              </a:rPr>
              <a:t>；</a:t>
            </a:r>
            <a:endParaRPr lang="zh-CN" altLang="en-US" sz="1800" dirty="0">
              <a:latin typeface="Cambria Math" panose="02040503050406030204" pitchFamily="18" charset="0"/>
              <a:cs typeface="Times New Roman" panose="02020603050405020304" pitchFamily="18"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lang="zh-CN" altLang="en-US" sz="2600" dirty="0">
                <a:latin typeface="Times New Roman" panose="02020603050405020304" pitchFamily="18" charset="0"/>
                <a:cs typeface="Times New Roman" panose="02020603050405020304" pitchFamily="18" charset="0"/>
              </a:rPr>
              <a:t>动态</a:t>
            </a:r>
            <a:r>
              <a:rPr lang="en-US" altLang="zh-CN" sz="2600" dirty="0">
                <a:latin typeface="Times New Roman" panose="02020603050405020304" pitchFamily="18" charset="0"/>
                <a:cs typeface="Times New Roman" panose="02020603050405020304" pitchFamily="18" charset="0"/>
              </a:rPr>
              <a:t>SQL</a:t>
            </a:r>
            <a:endParaRPr lang="en-US" altLang="zh-CN" dirty="0">
              <a:latin typeface="Times New Roman" panose="02020603050405020304" pitchFamily="18" charset="0"/>
              <a:cs typeface="Times New Roman" panose="02020603050405020304" pitchFamily="18" charset="0"/>
            </a:endParaRPr>
          </a:p>
          <a:p>
            <a:pPr lvl="1" algn="just">
              <a:lnSpc>
                <a:spcPct val="90000"/>
              </a:lnSpc>
              <a:buNone/>
            </a:pPr>
            <a:r>
              <a:rPr lang="zh-CN" altLang="en-US" dirty="0">
                <a:latin typeface="Times New Roman" panose="02020603050405020304" pitchFamily="18" charset="0"/>
                <a:cs typeface="Times New Roman" panose="02020603050405020304" pitchFamily="18" charset="0"/>
              </a:rPr>
              <a:t>②</a:t>
            </a:r>
            <a:endParaRPr lang="en-US" altLang="zh-CN" dirty="0">
              <a:latin typeface="Times New Roman" panose="02020603050405020304" pitchFamily="18" charset="0"/>
              <a:cs typeface="Times New Roman" panose="02020603050405020304" pitchFamily="18" charset="0"/>
            </a:endParaRPr>
          </a:p>
          <a:p>
            <a:pPr lvl="1" algn="just">
              <a:lnSpc>
                <a:spcPct val="90000"/>
              </a:lnSpc>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9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90000"/>
              </a:lnSpc>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90000"/>
              </a:lnSpc>
              <a:buNone/>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nSpc>
                <a:spcPct val="90000"/>
              </a:lnSpc>
              <a:buNone/>
            </a:pPr>
            <a:r>
              <a:rPr lang="zh-CN" altLang="en-US"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这个程序段表示从这里第一个</a:t>
            </a:r>
            <a:r>
              <a:rPr lang="en-US" altLang="zh-CN" dirty="0">
                <a:latin typeface="Times New Roman" panose="02020603050405020304" pitchFamily="18" charset="0"/>
                <a:cs typeface="Times New Roman" panose="02020603050405020304" pitchFamily="18" charset="0"/>
              </a:rPr>
              <a:t>char</a:t>
            </a:r>
            <a:r>
              <a:rPr lang="zh-CN" altLang="en-US" dirty="0">
                <a:latin typeface="Times New Roman" panose="02020603050405020304" pitchFamily="18" charset="0"/>
                <a:cs typeface="Times New Roman" panose="02020603050405020304" pitchFamily="18" charset="0"/>
              </a:rPr>
              <a:t>语句表示用户组合成一个</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语句，但有一个值（课程号）还不能确定，因此用“？”表示</a:t>
            </a:r>
            <a:endParaRPr lang="en-US" altLang="zh-CN"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第二个语句（</a:t>
            </a:r>
            <a:r>
              <a:rPr lang="en-US" altLang="zh-CN" dirty="0">
                <a:latin typeface="Times New Roman" panose="02020603050405020304" pitchFamily="18" charset="0"/>
                <a:cs typeface="Times New Roman" panose="02020603050405020304" pitchFamily="18" charset="0"/>
              </a:rPr>
              <a:t>char</a:t>
            </a:r>
            <a:r>
              <a:rPr lang="zh-CN" altLang="en-US" dirty="0">
                <a:latin typeface="Times New Roman" panose="02020603050405020304" pitchFamily="18" charset="0"/>
                <a:cs typeface="Times New Roman" panose="02020603050405020304" pitchFamily="18" charset="0"/>
              </a:rPr>
              <a:t>语句）表示取到了课程号值</a:t>
            </a:r>
            <a:endParaRPr lang="en-US" altLang="zh-CN"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第三个语句是动态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预备语句</a:t>
            </a:r>
            <a:endParaRPr lang="en-US" altLang="zh-CN" dirty="0">
              <a:latin typeface="Times New Roman" panose="02020603050405020304" pitchFamily="18" charset="0"/>
              <a:cs typeface="Times New Roman" panose="02020603050405020304" pitchFamily="18" charset="0"/>
            </a:endParaRPr>
          </a:p>
          <a:p>
            <a:pPr lvl="1" algn="just">
              <a:lnSpc>
                <a:spcPct val="110000"/>
              </a:lnSpc>
            </a:pPr>
            <a:r>
              <a:rPr lang="zh-CN" altLang="en-US" dirty="0">
                <a:latin typeface="Times New Roman" panose="02020603050405020304" pitchFamily="18" charset="0"/>
                <a:cs typeface="Times New Roman" panose="02020603050405020304" pitchFamily="18" charset="0"/>
              </a:rPr>
              <a:t>第四个语句是动态</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执行语句，“？”值到共享变量</a:t>
            </a:r>
            <a:r>
              <a:rPr lang="en-US" altLang="zh-CN" dirty="0" err="1">
                <a:latin typeface="Times New Roman" panose="02020603050405020304" pitchFamily="18" charset="0"/>
                <a:cs typeface="Times New Roman" panose="02020603050405020304" pitchFamily="18" charset="0"/>
              </a:rPr>
              <a:t>cno</a:t>
            </a:r>
            <a:r>
              <a:rPr lang="zh-CN" altLang="en-US" dirty="0">
                <a:latin typeface="Times New Roman" panose="02020603050405020304" pitchFamily="18" charset="0"/>
                <a:cs typeface="Times New Roman" panose="02020603050405020304" pitchFamily="18" charset="0"/>
              </a:rPr>
              <a:t>中取</a:t>
            </a:r>
            <a:endParaRPr lang="zh-CN" altLang="en-US" dirty="0">
              <a:latin typeface="Times New Roman" panose="02020603050405020304" pitchFamily="18" charset="0"/>
              <a:cs typeface="Times New Roman" panose="02020603050405020304" pitchFamily="18" charset="0"/>
            </a:endParaRPr>
          </a:p>
          <a:p>
            <a:pPr lvl="1" algn="just">
              <a:lnSpc>
                <a:spcPct val="11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369186" y="1933347"/>
            <a:ext cx="7180169" cy="1335155"/>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0" lvl="1">
              <a:lnSpc>
                <a:spcPct val="90000"/>
              </a:lnSpc>
              <a:buNone/>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char *query =〞UPDATE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sc</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SET grade = grade * 1.1</a:t>
            </a:r>
            <a:endParaRPr lang="en-US" altLang="zh-CN" dirty="0">
              <a:latin typeface="Cambria Math" panose="02040503050406030204" pitchFamily="18" charset="0"/>
              <a:ea typeface="Cambria Math" panose="02040503050406030204" pitchFamily="18" charset="0"/>
              <a:cs typeface="Times New Roman" panose="02020603050405020304" pitchFamily="18" charset="0"/>
            </a:endParaRPr>
          </a:p>
          <a:p>
            <a:pPr marL="0" lvl="1">
              <a:lnSpc>
                <a:spcPct val="90000"/>
              </a:lnSpc>
              <a:buNone/>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                  WHERE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c#</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 </a:t>
            </a:r>
            <a:r>
              <a:rPr lang="zh-CN" altLang="en-US" dirty="0">
                <a:solidFill>
                  <a:srgbClr val="FF6600"/>
                </a:solidFill>
                <a:latin typeface="Cambria Math" panose="02040503050406030204" pitchFamily="18" charset="0"/>
                <a:cs typeface="Times New Roman" panose="02020603050405020304" pitchFamily="18" charset="0"/>
              </a:rPr>
              <a:t>？</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nSpc>
                <a:spcPct val="90000"/>
              </a:lnSpc>
              <a:buNone/>
            </a:pPr>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char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cno</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[5] = 〞C4〞</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nSpc>
                <a:spcPct val="90000"/>
              </a:lnSpc>
              <a:buNone/>
            </a:pPr>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EXEC SQL PREPARE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dynprog</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FROM :query</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a:p>
            <a:pPr marL="0" lvl="1">
              <a:lnSpc>
                <a:spcPct val="90000"/>
              </a:lnSpc>
              <a:buNone/>
            </a:pPr>
            <a:r>
              <a:rPr lang="en-US" altLang="zh-CN" dirty="0">
                <a:latin typeface="Cambria Math" panose="02040503050406030204" pitchFamily="18" charset="0"/>
                <a:ea typeface="Cambria Math" panose="02040503050406030204" pitchFamily="18" charset="0"/>
                <a:cs typeface="Times New Roman" panose="02020603050405020304" pitchFamily="18" charset="0"/>
              </a:rPr>
              <a:t>   EXEC SQL EXECUTE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dynprog</a:t>
            </a:r>
            <a:r>
              <a:rPr lang="en-US" altLang="zh-CN" dirty="0">
                <a:latin typeface="Cambria Math" panose="02040503050406030204" pitchFamily="18" charset="0"/>
                <a:ea typeface="Cambria Math" panose="02040503050406030204" pitchFamily="18" charset="0"/>
                <a:cs typeface="Times New Roman" panose="02020603050405020304" pitchFamily="18" charset="0"/>
              </a:rPr>
              <a:t> USING :</a:t>
            </a:r>
            <a:r>
              <a:rPr lang="en-US" altLang="zh-CN" dirty="0" err="1">
                <a:latin typeface="Cambria Math" panose="02040503050406030204" pitchFamily="18" charset="0"/>
                <a:ea typeface="Cambria Math" panose="02040503050406030204" pitchFamily="18" charset="0"/>
                <a:cs typeface="Times New Roman" panose="02020603050405020304" pitchFamily="18" charset="0"/>
              </a:rPr>
              <a:t>cno</a:t>
            </a:r>
            <a:r>
              <a:rPr lang="zh-CN" altLang="en-US" dirty="0">
                <a:latin typeface="Cambria Math" panose="02040503050406030204" pitchFamily="18" charset="0"/>
                <a:cs typeface="Times New Roman" panose="02020603050405020304" pitchFamily="18" charset="0"/>
              </a:rPr>
              <a:t>；</a:t>
            </a:r>
            <a:endParaRPr lang="zh-CN" altLang="en-US" dirty="0">
              <a:latin typeface="Cambria Math" panose="02040503050406030204" pitchFamily="18" charset="0"/>
              <a:cs typeface="Times New Roman" panose="02020603050405020304" pitchFamily="18"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a:bodyPr>
          <a:lstStyle/>
          <a:p>
            <a:pPr>
              <a:lnSpc>
                <a:spcPct val="150000"/>
              </a:lnSpc>
            </a:pPr>
            <a:r>
              <a:rPr lang="en-US" altLang="zh-CN" sz="2600" dirty="0">
                <a:latin typeface="Times New Roman" panose="02020603050405020304" pitchFamily="18" charset="0"/>
                <a:cs typeface="Times New Roman" panose="02020603050405020304" pitchFamily="18" charset="0"/>
              </a:rPr>
              <a:t>JDBC</a:t>
            </a: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 Database Connectivity</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数据库连接）是一种应用程序编程接口，是</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开发工具包（</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 Development Kit</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JDK</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）的一部分</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提供</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程序访问数据库的标准接口，</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应用程序可以基于</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访问不同类型的数据库。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依赖于两个软件组件：</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en-US" altLang="zh-CN" sz="2400" dirty="0" err="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java.sql</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包：</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JDBC</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访问数据库的标准接口 </a:t>
            </a:r>
            <a:endParaRPr lang="en-US" altLang="zh-CN" sz="2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en-US" altLang="zh-CN"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JDBC</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驱动程序：</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实现</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java.sql</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中定义的访问数据库的接口</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从而从数据库中获取数据</a:t>
            </a:r>
            <a:endPar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通过编写调用</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java.sql</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中接口的代码，</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Java</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程序员可以实现对数据库的访问。</a:t>
            </a:r>
            <a:endParaRPr kumimoji="1"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JDBC</a:t>
            </a: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grpSp>
        <p:nvGrpSpPr>
          <p:cNvPr id="6" name="组合 1"/>
          <p:cNvGrpSpPr/>
          <p:nvPr/>
        </p:nvGrpSpPr>
        <p:grpSpPr bwMode="auto">
          <a:xfrm>
            <a:off x="2937623" y="1528763"/>
            <a:ext cx="5616575" cy="4827587"/>
            <a:chOff x="6424159" y="1191113"/>
            <a:chExt cx="5616418" cy="4827864"/>
          </a:xfrm>
        </p:grpSpPr>
        <p:sp>
          <p:nvSpPr>
            <p:cNvPr id="7" name="矩形 6"/>
            <p:cNvSpPr/>
            <p:nvPr/>
          </p:nvSpPr>
          <p:spPr bwMode="auto">
            <a:xfrm>
              <a:off x="8227509" y="1191113"/>
              <a:ext cx="2805035" cy="461989"/>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0">
                  <a:latin typeface="微软雅黑" panose="020B0503020204020204" pitchFamily="34" charset="-122"/>
                  <a:ea typeface="微软雅黑" panose="020B0503020204020204" pitchFamily="34" charset="-122"/>
                </a:rPr>
                <a:t>用户应用程序</a:t>
              </a:r>
              <a:endParaRPr kumimoji="1" lang="zh-CN" altLang="en-US" sz="2400" b="0">
                <a:latin typeface="微软雅黑" panose="020B0503020204020204" pitchFamily="34" charset="-122"/>
                <a:ea typeface="微软雅黑" panose="020B0503020204020204" pitchFamily="34" charset="-122"/>
              </a:endParaRPr>
            </a:p>
          </p:txBody>
        </p:sp>
        <p:sp>
          <p:nvSpPr>
            <p:cNvPr id="8" name="矩形 7"/>
            <p:cNvSpPr/>
            <p:nvPr/>
          </p:nvSpPr>
          <p:spPr bwMode="auto">
            <a:xfrm>
              <a:off x="8227509" y="2011897"/>
              <a:ext cx="2805035" cy="4619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0">
                  <a:latin typeface="微软雅黑" panose="020B0503020204020204" pitchFamily="34" charset="-122"/>
                  <a:ea typeface="微软雅黑" panose="020B0503020204020204" pitchFamily="34" charset="-122"/>
                </a:rPr>
                <a:t>JDBC</a:t>
              </a:r>
              <a:r>
                <a:rPr kumimoji="1" lang="zh-CN" altLang="en-US" sz="2400" b="0">
                  <a:latin typeface="微软雅黑" panose="020B0503020204020204" pitchFamily="34" charset="-122"/>
                  <a:ea typeface="微软雅黑" panose="020B0503020204020204" pitchFamily="34" charset="-122"/>
                </a:rPr>
                <a:t>驱动管理器</a:t>
              </a:r>
              <a:endParaRPr kumimoji="1" lang="zh-CN" altLang="en-US" sz="2400" b="0">
                <a:latin typeface="微软雅黑" panose="020B0503020204020204" pitchFamily="34" charset="-122"/>
                <a:ea typeface="微软雅黑" panose="020B0503020204020204" pitchFamily="34" charset="-122"/>
              </a:endParaRPr>
            </a:p>
          </p:txBody>
        </p:sp>
        <p:sp>
          <p:nvSpPr>
            <p:cNvPr id="9" name="矩形 8"/>
            <p:cNvSpPr/>
            <p:nvPr/>
          </p:nvSpPr>
          <p:spPr bwMode="auto">
            <a:xfrm>
              <a:off x="8227509" y="2821569"/>
              <a:ext cx="2805035" cy="4619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sz="2400" b="0" dirty="0">
                  <a:solidFill>
                    <a:schemeClr val="tx1"/>
                  </a:solidFill>
                  <a:latin typeface="微软雅黑" panose="020B0503020204020204" pitchFamily="34" charset="-122"/>
                  <a:ea typeface="微软雅黑" panose="020B0503020204020204" pitchFamily="34" charset="-122"/>
                </a:rPr>
                <a:t>JDBC</a:t>
              </a:r>
              <a:r>
                <a:rPr kumimoji="1" lang="zh-CN" altLang="en-US" sz="2400" b="0" dirty="0">
                  <a:solidFill>
                    <a:schemeClr val="tx1"/>
                  </a:solidFill>
                  <a:latin typeface="微软雅黑" panose="020B0503020204020204" pitchFamily="34" charset="-122"/>
                  <a:ea typeface="微软雅黑" panose="020B0503020204020204" pitchFamily="34" charset="-122"/>
                </a:rPr>
                <a:t> </a:t>
              </a:r>
              <a:r>
                <a:rPr kumimoji="1" lang="en-US" altLang="zh-CN" sz="2400" b="0" dirty="0">
                  <a:solidFill>
                    <a:schemeClr val="tx1"/>
                  </a:solidFill>
                  <a:latin typeface="微软雅黑" panose="020B0503020204020204" pitchFamily="34" charset="-122"/>
                  <a:ea typeface="微软雅黑" panose="020B0503020204020204" pitchFamily="34" charset="-122"/>
                </a:rPr>
                <a:t>Driver</a:t>
              </a:r>
              <a:r>
                <a:rPr kumimoji="1" lang="zh-CN" altLang="en-US" sz="2400" b="0" dirty="0">
                  <a:solidFill>
                    <a:schemeClr val="tx1"/>
                  </a:solidFill>
                  <a:latin typeface="微软雅黑" panose="020B0503020204020204" pitchFamily="34" charset="-122"/>
                  <a:ea typeface="微软雅黑" panose="020B0503020204020204" pitchFamily="34" charset="-122"/>
                </a:rPr>
                <a:t> </a:t>
              </a:r>
              <a:r>
                <a:rPr kumimoji="1" lang="en-US" altLang="zh-CN" sz="2400" b="0" dirty="0">
                  <a:solidFill>
                    <a:schemeClr val="tx1"/>
                  </a:solidFill>
                  <a:latin typeface="微软雅黑" panose="020B0503020204020204" pitchFamily="34" charset="-122"/>
                  <a:ea typeface="微软雅黑" panose="020B0503020204020204" pitchFamily="34" charset="-122"/>
                </a:rPr>
                <a:t>API</a:t>
              </a:r>
              <a:endParaRPr kumimoji="1"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bwMode="auto">
            <a:xfrm>
              <a:off x="7113115" y="3875729"/>
              <a:ext cx="1469984" cy="70806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sp>
          <p:nvSpPr>
            <p:cNvPr id="11" name="矩形 10"/>
            <p:cNvSpPr/>
            <p:nvPr/>
          </p:nvSpPr>
          <p:spPr bwMode="auto">
            <a:xfrm>
              <a:off x="8883128" y="3883667"/>
              <a:ext cx="1469984" cy="70647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sp>
          <p:nvSpPr>
            <p:cNvPr id="12" name="矩形 11"/>
            <p:cNvSpPr/>
            <p:nvPr/>
          </p:nvSpPr>
          <p:spPr bwMode="auto">
            <a:xfrm>
              <a:off x="10570593" y="3883667"/>
              <a:ext cx="1469984" cy="70647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cxnSp>
          <p:nvCxnSpPr>
            <p:cNvPr id="13" name="直线箭头连接符 15"/>
            <p:cNvCxnSpPr/>
            <p:nvPr/>
          </p:nvCxnSpPr>
          <p:spPr bwMode="auto">
            <a:xfrm>
              <a:off x="9589546" y="1653102"/>
              <a:ext cx="0" cy="35879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直线箭头连接符 16"/>
            <p:cNvCxnSpPr/>
            <p:nvPr/>
          </p:nvCxnSpPr>
          <p:spPr bwMode="auto">
            <a:xfrm>
              <a:off x="9621295" y="2462773"/>
              <a:ext cx="0" cy="35879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5" name="直线箭头连接符 17"/>
            <p:cNvCxnSpPr>
              <a:endCxn id="10" idx="0"/>
            </p:cNvCxnSpPr>
            <p:nvPr/>
          </p:nvCxnSpPr>
          <p:spPr bwMode="auto">
            <a:xfrm flipH="1">
              <a:off x="7848107" y="3283558"/>
              <a:ext cx="568309" cy="592171"/>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6" name="直线箭头连接符 18"/>
            <p:cNvCxnSpPr>
              <a:endCxn id="11" idx="0"/>
            </p:cNvCxnSpPr>
            <p:nvPr/>
          </p:nvCxnSpPr>
          <p:spPr bwMode="auto">
            <a:xfrm>
              <a:off x="9613358" y="3278795"/>
              <a:ext cx="4762" cy="604873"/>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线箭头连接符 19"/>
            <p:cNvCxnSpPr>
              <a:endCxn id="12" idx="0"/>
            </p:cNvCxnSpPr>
            <p:nvPr/>
          </p:nvCxnSpPr>
          <p:spPr bwMode="auto">
            <a:xfrm>
              <a:off x="10834111" y="3286733"/>
              <a:ext cx="471475" cy="596934"/>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sp>
          <p:nvSpPr>
            <p:cNvPr id="18" name="圆柱体 17"/>
            <p:cNvSpPr/>
            <p:nvPr/>
          </p:nvSpPr>
          <p:spPr bwMode="auto">
            <a:xfrm>
              <a:off x="7276623" y="5429981"/>
              <a:ext cx="1149318"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err="1">
                  <a:solidFill>
                    <a:schemeClr val="tx1"/>
                  </a:solidFill>
                  <a:latin typeface="Times New Roman" panose="02020603050405020304" pitchFamily="18" charset="0"/>
                  <a:ea typeface="华文楷体" panose="02010600040101010101" pitchFamily="2" charset="-122"/>
                </a:rPr>
                <a:t>Postgresql</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sp>
          <p:nvSpPr>
            <p:cNvPr id="19" name="圆柱体 18"/>
            <p:cNvSpPr/>
            <p:nvPr/>
          </p:nvSpPr>
          <p:spPr bwMode="auto">
            <a:xfrm>
              <a:off x="9040286" y="5429981"/>
              <a:ext cx="1150906"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a:solidFill>
                    <a:schemeClr val="tx1"/>
                  </a:solidFill>
                  <a:latin typeface="Times New Roman" panose="02020603050405020304" pitchFamily="18" charset="0"/>
                  <a:ea typeface="华文楷体" panose="02010600040101010101" pitchFamily="2" charset="-122"/>
                </a:rPr>
                <a:t>MySQL</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sp>
          <p:nvSpPr>
            <p:cNvPr id="20" name="圆柱体 19"/>
            <p:cNvSpPr/>
            <p:nvPr/>
          </p:nvSpPr>
          <p:spPr bwMode="auto">
            <a:xfrm>
              <a:off x="10724577" y="5431568"/>
              <a:ext cx="1150905"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err="1">
                  <a:solidFill>
                    <a:schemeClr val="tx1"/>
                  </a:solidFill>
                  <a:latin typeface="Times New Roman" panose="02020603050405020304" pitchFamily="18" charset="0"/>
                  <a:ea typeface="华文楷体" panose="02010600040101010101" pitchFamily="2" charset="-122"/>
                </a:rPr>
                <a:t>GaussDB</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cxnSp>
          <p:nvCxnSpPr>
            <p:cNvPr id="21" name="直线箭头连接符 23"/>
            <p:cNvCxnSpPr>
              <a:stCxn id="10" idx="2"/>
              <a:endCxn id="18" idx="1"/>
            </p:cNvCxnSpPr>
            <p:nvPr/>
          </p:nvCxnSpPr>
          <p:spPr bwMode="auto">
            <a:xfrm>
              <a:off x="7848107" y="4583795"/>
              <a:ext cx="3175" cy="846187"/>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直线箭头连接符 24"/>
            <p:cNvCxnSpPr>
              <a:stCxn id="11" idx="2"/>
              <a:endCxn id="19" idx="1"/>
            </p:cNvCxnSpPr>
            <p:nvPr/>
          </p:nvCxnSpPr>
          <p:spPr bwMode="auto">
            <a:xfrm flipH="1">
              <a:off x="9616533" y="4590145"/>
              <a:ext cx="1587" cy="83983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直线箭头连接符 25"/>
            <p:cNvCxnSpPr>
              <a:stCxn id="12" idx="2"/>
              <a:endCxn id="20" idx="1"/>
            </p:cNvCxnSpPr>
            <p:nvPr/>
          </p:nvCxnSpPr>
          <p:spPr bwMode="auto">
            <a:xfrm flipH="1">
              <a:off x="11300823" y="4590145"/>
              <a:ext cx="4763" cy="841423"/>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sp>
          <p:nvSpPr>
            <p:cNvPr id="24" name="文本框 20"/>
            <p:cNvSpPr txBox="1">
              <a:spLocks noChangeArrowheads="1"/>
            </p:cNvSpPr>
            <p:nvPr/>
          </p:nvSpPr>
          <p:spPr bwMode="auto">
            <a:xfrm>
              <a:off x="6424159" y="1835267"/>
              <a:ext cx="18644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注册</a:t>
              </a:r>
              <a:r>
                <a:rPr lang="zh-CN" altLang="en-US" sz="1600">
                  <a:latin typeface="微软雅黑" panose="020B0503020204020204" pitchFamily="34" charset="-122"/>
                  <a:ea typeface="微软雅黑" panose="020B0503020204020204" pitchFamily="34" charset="-122"/>
                </a:rPr>
                <a:t>和管理</a:t>
              </a:r>
              <a:r>
                <a:rPr lang="zh-CN" altLang="en-US" sz="1600" b="0">
                  <a:latin typeface="微软雅黑" panose="020B0503020204020204" pitchFamily="34" charset="-122"/>
                  <a:ea typeface="微软雅黑" panose="020B0503020204020204" pitchFamily="34" charset="-122"/>
                </a:rPr>
                <a:t>驱动</a:t>
              </a:r>
              <a:endParaRPr lang="en-US" altLang="zh-CN" sz="1600" b="0">
                <a:latin typeface="微软雅黑" panose="020B0503020204020204" pitchFamily="34" charset="-122"/>
                <a:ea typeface="微软雅黑" panose="020B0503020204020204" pitchFamily="34" charset="-122"/>
              </a:endParaRPr>
            </a:p>
            <a:p>
              <a:pPr>
                <a:spcBef>
                  <a:spcPct val="0"/>
                </a:spcBef>
                <a:buFontTx/>
                <a:buNone/>
              </a:pPr>
              <a:r>
                <a:rPr lang="en-US" altLang="zh-CN" sz="1600">
                  <a:latin typeface="微软雅黑" panose="020B0503020204020204" pitchFamily="34" charset="-122"/>
                  <a:ea typeface="微软雅黑" panose="020B0503020204020204" pitchFamily="34" charset="-122"/>
                </a:rPr>
                <a:t>DriverManager</a:t>
              </a:r>
              <a:endParaRPr lang="en-US" altLang="zh-CN" sz="1600">
                <a:latin typeface="微软雅黑" panose="020B0503020204020204" pitchFamily="34" charset="-122"/>
                <a:ea typeface="微软雅黑" panose="020B0503020204020204" pitchFamily="34" charset="-122"/>
              </a:endParaRPr>
            </a:p>
            <a:p>
              <a:pPr>
                <a:spcBef>
                  <a:spcPct val="0"/>
                </a:spcBef>
                <a:buFontTx/>
                <a:buNone/>
              </a:pPr>
              <a:r>
                <a:rPr lang="zh-CN" altLang="en-US" sz="1600">
                  <a:latin typeface="微软雅黑" panose="020B0503020204020204" pitchFamily="34" charset="-122"/>
                  <a:ea typeface="微软雅黑" panose="020B0503020204020204" pitchFamily="34" charset="-122"/>
                </a:rPr>
                <a:t>连接、执行、结果</a:t>
              </a:r>
              <a:endParaRPr lang="zh-CN" altLang="en-US" sz="1600">
                <a:latin typeface="微软雅黑" panose="020B0503020204020204" pitchFamily="34" charset="-122"/>
                <a:ea typeface="微软雅黑" panose="020B0503020204020204" pitchFamily="34" charset="-122"/>
              </a:endParaRPr>
            </a:p>
          </p:txBody>
        </p:sp>
        <p:sp>
          <p:nvSpPr>
            <p:cNvPr id="25" name="文本框 21"/>
            <p:cNvSpPr txBox="1">
              <a:spLocks noChangeArrowheads="1"/>
            </p:cNvSpPr>
            <p:nvPr/>
          </p:nvSpPr>
          <p:spPr bwMode="auto">
            <a:xfrm>
              <a:off x="6459798" y="2719474"/>
              <a:ext cx="17083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调用</a:t>
              </a:r>
              <a:r>
                <a:rPr lang="en-US" altLang="zh-CN" sz="1600" b="0">
                  <a:latin typeface="微软雅黑" panose="020B0503020204020204" pitchFamily="34" charset="-122"/>
                  <a:ea typeface="微软雅黑" panose="020B0503020204020204" pitchFamily="34" charset="-122"/>
                </a:rPr>
                <a:t>API</a:t>
              </a:r>
              <a:endParaRPr lang="en-US" altLang="zh-CN" sz="1600" b="0">
                <a:latin typeface="微软雅黑" panose="020B0503020204020204" pitchFamily="34" charset="-122"/>
                <a:ea typeface="微软雅黑" panose="020B0503020204020204" pitchFamily="34" charset="-122"/>
              </a:endParaRPr>
            </a:p>
            <a:p>
              <a:pPr>
                <a:spcBef>
                  <a:spcPct val="0"/>
                </a:spcBef>
                <a:buFontTx/>
                <a:buNone/>
              </a:pPr>
              <a:r>
                <a:rPr lang="en-US" altLang="zh-CN" sz="1600">
                  <a:latin typeface="微软雅黑" panose="020B0503020204020204" pitchFamily="34" charset="-122"/>
                  <a:ea typeface="微软雅黑" panose="020B0503020204020204" pitchFamily="34" charset="-122"/>
                </a:rPr>
                <a:t>Driver</a:t>
              </a:r>
              <a:r>
                <a:rPr lang="zh-CN" altLang="en-US" sz="1600">
                  <a:latin typeface="微软雅黑" panose="020B0503020204020204" pitchFamily="34" charset="-122"/>
                  <a:ea typeface="微软雅黑" panose="020B0503020204020204" pitchFamily="34" charset="-122"/>
                </a:rPr>
                <a:t>接口</a:t>
              </a:r>
              <a:endParaRPr lang="en-US" altLang="zh-CN" sz="1600" b="0">
                <a:latin typeface="微软雅黑" panose="020B0503020204020204" pitchFamily="34" charset="-122"/>
                <a:ea typeface="微软雅黑" panose="020B0503020204020204" pitchFamily="34" charset="-122"/>
              </a:endParaRPr>
            </a:p>
          </p:txBody>
        </p:sp>
        <p:sp>
          <p:nvSpPr>
            <p:cNvPr id="26" name="文本框 22"/>
            <p:cNvSpPr txBox="1">
              <a:spLocks noChangeArrowheads="1"/>
            </p:cNvSpPr>
            <p:nvPr/>
          </p:nvSpPr>
          <p:spPr bwMode="auto">
            <a:xfrm>
              <a:off x="7123470" y="4624402"/>
              <a:ext cx="422836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数据库的连接</a:t>
              </a:r>
              <a:endParaRPr lang="en-US" altLang="zh-CN" sz="1600" b="0">
                <a:latin typeface="微软雅黑" panose="020B0503020204020204" pitchFamily="34" charset="-122"/>
                <a:ea typeface="微软雅黑" panose="020B0503020204020204" pitchFamily="34" charset="-122"/>
              </a:endParaRPr>
            </a:p>
            <a:p>
              <a:pPr>
                <a:spcBef>
                  <a:spcPct val="0"/>
                </a:spcBef>
                <a:buFontTx/>
                <a:buNone/>
              </a:pPr>
              <a:r>
                <a:rPr lang="en-US" altLang="zh-CN" sz="1600">
                  <a:latin typeface="微软雅黑" panose="020B0503020204020204" pitchFamily="34" charset="-122"/>
                  <a:ea typeface="微软雅黑" panose="020B0503020204020204" pitchFamily="34" charset="-122"/>
                </a:rPr>
                <a:t>SQL</a:t>
              </a:r>
              <a:r>
                <a:rPr lang="zh-CN" altLang="en-US" sz="1600">
                  <a:latin typeface="微软雅黑" panose="020B0503020204020204" pitchFamily="34" charset="-122"/>
                  <a:ea typeface="微软雅黑" panose="020B0503020204020204" pitchFamily="34" charset="-122"/>
                </a:rPr>
                <a:t>执行</a:t>
              </a:r>
              <a:br>
                <a:rPr lang="en-US" altLang="zh-CN" sz="1600" b="0">
                  <a:latin typeface="微软雅黑" panose="020B0503020204020204" pitchFamily="34" charset="-122"/>
                  <a:ea typeface="微软雅黑" panose="020B0503020204020204" pitchFamily="34" charset="-122"/>
                </a:rPr>
              </a:br>
              <a:br>
                <a:rPr lang="en-US" altLang="zh-CN" sz="1600" b="0">
                  <a:latin typeface="微软雅黑" panose="020B0503020204020204" pitchFamily="34" charset="-122"/>
                  <a:ea typeface="微软雅黑" panose="020B0503020204020204" pitchFamily="34" charset="-122"/>
                </a:rPr>
              </a:br>
              <a:endParaRPr lang="zh-CN" altLang="en-US" sz="1600" b="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JDBC</a:t>
            </a: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27" name="内容占位符 3"/>
          <p:cNvSpPr txBox="1"/>
          <p:nvPr/>
        </p:nvSpPr>
        <p:spPr bwMode="auto">
          <a:xfrm>
            <a:off x="1738747" y="1485974"/>
            <a:ext cx="9682168" cy="4648176"/>
          </a:xfrm>
          <a:prstGeom prst="rect">
            <a:avLst/>
          </a:prstGeom>
          <a:solidFill>
            <a:schemeClr val="bg1">
              <a:lumMod val="95000"/>
            </a:schemeClr>
          </a:solidFill>
          <a:ln>
            <a:noFill/>
          </a:ln>
          <a:effec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Connection conn=null;//</a:t>
            </a:r>
            <a:r>
              <a:rPr lang="zh-CN" altLang="en-US" sz="1800" b="0" dirty="0">
                <a:solidFill>
                  <a:srgbClr val="000000"/>
                </a:solidFill>
                <a:latin typeface="Cambria Math" panose="02040503050406030204" pitchFamily="18" charset="0"/>
                <a:ea typeface="微软雅黑" panose="020B0503020204020204" pitchFamily="34" charset="-122"/>
                <a:cs typeface="Huawei Sans"/>
              </a:rPr>
              <a:t>初始化连接</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Statement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stmt</a:t>
            </a:r>
            <a:r>
              <a:rPr lang="en-US" altLang="zh-CN" sz="1800" b="0" dirty="0">
                <a:solidFill>
                  <a:srgbClr val="000000"/>
                </a:solidFill>
                <a:latin typeface="Cambria Math" panose="02040503050406030204" pitchFamily="18" charset="0"/>
                <a:ea typeface="Cambria Math" panose="02040503050406030204" pitchFamily="18" charset="0"/>
                <a:cs typeface="Huawei Sans"/>
              </a:rPr>
              <a:t>=null;//</a:t>
            </a:r>
            <a:r>
              <a:rPr lang="zh-CN" altLang="en-US" sz="1800" b="0" dirty="0">
                <a:solidFill>
                  <a:srgbClr val="000000"/>
                </a:solidFill>
                <a:latin typeface="Cambria Math" panose="02040503050406030204" pitchFamily="18" charset="0"/>
                <a:ea typeface="微软雅黑" panose="020B0503020204020204" pitchFamily="34" charset="-122"/>
                <a:cs typeface="Huawei Sans"/>
              </a:rPr>
              <a:t>初始化执行对象，提交</a:t>
            </a:r>
            <a:r>
              <a:rPr lang="en-US" altLang="zh-CN" sz="1800" b="0" dirty="0">
                <a:solidFill>
                  <a:srgbClr val="000000"/>
                </a:solidFill>
                <a:latin typeface="Cambria Math" panose="02040503050406030204" pitchFamily="18" charset="0"/>
                <a:ea typeface="Cambria Math" panose="02040503050406030204" pitchFamily="18" charset="0"/>
                <a:cs typeface="Huawei Sans"/>
              </a:rPr>
              <a:t>SQL</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ResultSet</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a:t>
            </a:r>
            <a:r>
              <a:rPr lang="en-US" altLang="zh-CN" sz="1800" b="0" dirty="0">
                <a:solidFill>
                  <a:srgbClr val="000000"/>
                </a:solidFill>
                <a:latin typeface="Cambria Math" panose="02040503050406030204" pitchFamily="18" charset="0"/>
                <a:ea typeface="Cambria Math" panose="02040503050406030204" pitchFamily="18" charset="0"/>
                <a:cs typeface="Huawei Sans"/>
              </a:rPr>
              <a:t>=null;//SQL</a:t>
            </a:r>
            <a:r>
              <a:rPr lang="zh-CN" altLang="en-US" sz="1800" b="0" dirty="0">
                <a:solidFill>
                  <a:srgbClr val="000000"/>
                </a:solidFill>
                <a:latin typeface="Cambria Math" panose="02040503050406030204" pitchFamily="18" charset="0"/>
                <a:ea typeface="微软雅黑" panose="020B0503020204020204" pitchFamily="34" charset="-122"/>
                <a:cs typeface="Huawei Sans"/>
              </a:rPr>
              <a:t>结果集</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Class.forName</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com.DB.jdbc.Driver</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加载</a:t>
            </a:r>
            <a:r>
              <a:rPr lang="en-US" altLang="zh-CN" sz="1800" b="0" dirty="0">
                <a:solidFill>
                  <a:srgbClr val="000000"/>
                </a:solidFill>
                <a:latin typeface="Cambria Math" panose="02040503050406030204" pitchFamily="18" charset="0"/>
                <a:ea typeface="Cambria Math" panose="02040503050406030204" pitchFamily="18" charset="0"/>
                <a:cs typeface="Huawei Sans"/>
              </a:rPr>
              <a:t>JDBC</a:t>
            </a:r>
            <a:r>
              <a:rPr lang="zh-CN" altLang="zh-CN" sz="1800" b="0" dirty="0">
                <a:solidFill>
                  <a:srgbClr val="000000"/>
                </a:solidFill>
                <a:latin typeface="Cambria Math" panose="02040503050406030204" pitchFamily="18" charset="0"/>
                <a:ea typeface="微软雅黑" panose="020B0503020204020204" pitchFamily="34" charset="-122"/>
                <a:cs typeface="Huawei Sans"/>
              </a:rPr>
              <a:t>的数据库驱动</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conn=</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DriverManager.getConnection</a:t>
            </a:r>
            <a:r>
              <a:rPr lang="en-US" altLang="zh-CN" sz="1800" b="0" dirty="0">
                <a:solidFill>
                  <a:srgbClr val="000000"/>
                </a:solidFill>
                <a:latin typeface="Cambria Math" panose="02040503050406030204" pitchFamily="18" charset="0"/>
                <a:ea typeface="Cambria Math" panose="02040503050406030204" pitchFamily="18" charset="0"/>
                <a:cs typeface="Huawei Sans"/>
              </a:rPr>
              <a:t>("localhost", "root", "123456");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连接数据库</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stmt</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conn.createStatement</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实例化</a:t>
            </a:r>
            <a:r>
              <a:rPr lang="en-US" altLang="zh-CN" sz="1800" b="0" dirty="0">
                <a:solidFill>
                  <a:srgbClr val="000000"/>
                </a:solidFill>
                <a:latin typeface="Cambria Math" panose="02040503050406030204" pitchFamily="18" charset="0"/>
                <a:ea typeface="Cambria Math" panose="02040503050406030204" pitchFamily="18" charset="0"/>
                <a:cs typeface="Huawei Sans"/>
              </a:rPr>
              <a:t>Statement</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对象</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ResultSet</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stmt.executeQuery</a:t>
            </a:r>
            <a:r>
              <a:rPr lang="en-US" altLang="zh-CN" sz="1800" b="0" dirty="0">
                <a:solidFill>
                  <a:srgbClr val="000000"/>
                </a:solidFill>
                <a:latin typeface="Cambria Math" panose="02040503050406030204" pitchFamily="18" charset="0"/>
                <a:ea typeface="Cambria Math" panose="02040503050406030204" pitchFamily="18" charset="0"/>
                <a:cs typeface="Huawei Sans"/>
              </a:rPr>
              <a:t>("SELECT * FROM Student WHERE Sage&gt;=18");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执行</a:t>
            </a:r>
            <a:r>
              <a:rPr lang="en-US" altLang="zh-CN" sz="1800" b="0" dirty="0">
                <a:solidFill>
                  <a:srgbClr val="000000"/>
                </a:solidFill>
                <a:latin typeface="Cambria Math" panose="02040503050406030204" pitchFamily="18" charset="0"/>
                <a:ea typeface="Cambria Math" panose="02040503050406030204" pitchFamily="18" charset="0"/>
                <a:cs typeface="Huawei Sans"/>
              </a:rPr>
              <a:t>SQL</a:t>
            </a:r>
            <a:r>
              <a:rPr lang="zh-CN" altLang="zh-CN" sz="1800" b="0" dirty="0">
                <a:solidFill>
                  <a:srgbClr val="000000"/>
                </a:solidFill>
                <a:latin typeface="Cambria Math" panose="02040503050406030204" pitchFamily="18" charset="0"/>
                <a:ea typeface="微软雅黑" panose="020B0503020204020204" pitchFamily="34" charset="-122"/>
                <a:cs typeface="Huawei Sans"/>
              </a:rPr>
              <a:t>查询</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while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rs.next</a:t>
            </a:r>
            <a:r>
              <a:rPr lang="en-US" altLang="zh-CN" sz="1800" b="0" dirty="0">
                <a:solidFill>
                  <a:srgbClr val="000000"/>
                </a:solidFill>
                <a:latin typeface="Cambria Math" panose="02040503050406030204" pitchFamily="18" charset="0"/>
                <a:ea typeface="Cambria Math" panose="02040503050406030204" pitchFamily="18" charset="0"/>
                <a:cs typeface="Huawei Sans"/>
              </a:rPr>
              <a:t>()) {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获取</a:t>
            </a:r>
            <a:r>
              <a:rPr lang="en-US" altLang="zh-CN" sz="1800" b="0" dirty="0">
                <a:solidFill>
                  <a:srgbClr val="000000"/>
                </a:solidFill>
                <a:latin typeface="Cambria Math" panose="02040503050406030204" pitchFamily="18" charset="0"/>
                <a:ea typeface="Cambria Math" panose="02040503050406030204" pitchFamily="18" charset="0"/>
                <a:cs typeface="Huawei Sans"/>
              </a:rPr>
              <a:t>SQL</a:t>
            </a:r>
            <a:r>
              <a:rPr lang="zh-CN" altLang="zh-CN" sz="1800" b="0" dirty="0">
                <a:solidFill>
                  <a:srgbClr val="000000"/>
                </a:solidFill>
                <a:latin typeface="Cambria Math" panose="02040503050406030204" pitchFamily="18" charset="0"/>
                <a:ea typeface="微软雅黑" panose="020B0503020204020204" pitchFamily="34" charset="-122"/>
                <a:cs typeface="Huawei Sans"/>
              </a:rPr>
              <a:t>查询结果中的一条记录</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en-US" sz="1800" b="0" dirty="0">
                <a:solidFill>
                  <a:srgbClr val="000000"/>
                </a:solidFill>
                <a:latin typeface="Cambria Math" panose="02040503050406030204" pitchFamily="18" charset="0"/>
                <a:ea typeface="微软雅黑" panose="020B0503020204020204" pitchFamily="34" charset="-122"/>
                <a:cs typeface="Huawei Sans"/>
              </a:rPr>
              <a:t> </a:t>
            </a:r>
            <a:r>
              <a:rPr lang="en-US" altLang="zh-CN" sz="1800" b="0" dirty="0">
                <a:solidFill>
                  <a:srgbClr val="000000"/>
                </a:solidFill>
                <a:latin typeface="Cambria Math" panose="02040503050406030204" pitchFamily="18" charset="0"/>
                <a:ea typeface="Cambria Math" panose="02040503050406030204" pitchFamily="18" charset="0"/>
                <a:cs typeface="Huawei Sans"/>
              </a:rPr>
              <a:t>String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sno</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rs.getString</a:t>
            </a:r>
            <a:r>
              <a:rPr lang="en-US" altLang="zh-CN" sz="1800" b="0" dirty="0">
                <a:solidFill>
                  <a:srgbClr val="000000"/>
                </a:solidFill>
                <a:latin typeface="Cambria Math" panose="02040503050406030204" pitchFamily="18" charset="0"/>
                <a:ea typeface="Cambria Math" panose="02040503050406030204" pitchFamily="18" charset="0"/>
                <a:cs typeface="Huawei Sans"/>
              </a:rPr>
              <a:t>("Sno");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获取</a:t>
            </a:r>
            <a:r>
              <a:rPr lang="en-US" altLang="zh-CN" sz="1800" b="0" dirty="0">
                <a:solidFill>
                  <a:srgbClr val="000000"/>
                </a:solidFill>
                <a:latin typeface="Cambria Math" panose="02040503050406030204" pitchFamily="18" charset="0"/>
                <a:ea typeface="Cambria Math" panose="02040503050406030204" pitchFamily="18" charset="0"/>
                <a:cs typeface="Huawei Sans"/>
              </a:rPr>
              <a:t>SQL</a:t>
            </a:r>
            <a:r>
              <a:rPr lang="zh-CN" altLang="zh-CN" sz="1800" b="0" dirty="0">
                <a:solidFill>
                  <a:srgbClr val="000000"/>
                </a:solidFill>
                <a:latin typeface="Cambria Math" panose="02040503050406030204" pitchFamily="18" charset="0"/>
                <a:ea typeface="微软雅黑" panose="020B0503020204020204" pitchFamily="34" charset="-122"/>
                <a:cs typeface="Huawei Sans"/>
              </a:rPr>
              <a:t>查询结果中的一条记录的各个字段</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zh-CN" altLang="en-US" sz="1800" b="0" dirty="0">
                <a:solidFill>
                  <a:srgbClr val="000000"/>
                </a:solidFill>
                <a:latin typeface="Cambria Math" panose="02040503050406030204" pitchFamily="18" charset="0"/>
                <a:ea typeface="微软雅黑" panose="020B0503020204020204" pitchFamily="34" charset="-122"/>
                <a:cs typeface="Huawei Sans"/>
              </a:rPr>
              <a:t>  </a:t>
            </a:r>
            <a:r>
              <a:rPr lang="en-US" altLang="zh-CN" sz="1800" b="0" dirty="0">
                <a:solidFill>
                  <a:srgbClr val="000000"/>
                </a:solidFill>
                <a:latin typeface="Cambria Math" panose="02040503050406030204" pitchFamily="18" charset="0"/>
                <a:ea typeface="Cambria Math" panose="02040503050406030204" pitchFamily="18" charset="0"/>
                <a:cs typeface="Huawei Sans"/>
              </a:rPr>
              <a:t>String </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sname</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rs.getString</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r>
              <a:rPr lang="en-US" altLang="zh-CN" sz="1800" b="0" dirty="0" err="1">
                <a:solidFill>
                  <a:srgbClr val="000000"/>
                </a:solidFill>
                <a:latin typeface="Cambria Math" panose="02040503050406030204" pitchFamily="18" charset="0"/>
                <a:ea typeface="Cambria Math" panose="02040503050406030204" pitchFamily="18" charset="0"/>
                <a:cs typeface="Huawei Sans"/>
              </a:rPr>
              <a:t>Sname</a:t>
            </a: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a:solidFill>
                  <a:srgbClr val="000000"/>
                </a:solidFill>
                <a:latin typeface="Cambria Math" panose="02040503050406030204" pitchFamily="18" charset="0"/>
                <a:ea typeface="Cambria Math" panose="02040503050406030204" pitchFamily="18" charset="0"/>
                <a:cs typeface="Huawei Sans"/>
              </a:rPr>
              <a:t>}</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rs.close</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关闭查询结果</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stmt.close</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关闭</a:t>
            </a:r>
            <a:r>
              <a:rPr lang="en-US" altLang="zh-CN" sz="1800" b="0" dirty="0">
                <a:solidFill>
                  <a:srgbClr val="000000"/>
                </a:solidFill>
                <a:latin typeface="Cambria Math" panose="02040503050406030204" pitchFamily="18" charset="0"/>
                <a:ea typeface="Cambria Math" panose="02040503050406030204" pitchFamily="18" charset="0"/>
                <a:cs typeface="Huawei Sans"/>
              </a:rPr>
              <a:t>Statement</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对象</a:t>
            </a:r>
            <a:endParaRPr lang="zh-CN" altLang="zh-CN" sz="1800" b="0" dirty="0">
              <a:latin typeface="Cambria Math" panose="02040503050406030204" pitchFamily="18" charset="0"/>
              <a:ea typeface="微软雅黑" panose="020B0503020204020204" pitchFamily="34" charset="-122"/>
              <a:cs typeface="Huawei Sans"/>
            </a:endParaRPr>
          </a:p>
          <a:p>
            <a:pPr latinLnBrk="1">
              <a:spcBef>
                <a:spcPts val="200"/>
              </a:spcBef>
              <a:spcAft>
                <a:spcPts val="200"/>
              </a:spcAft>
              <a:buFontTx/>
              <a:buNone/>
            </a:pPr>
            <a:r>
              <a:rPr lang="en-US" altLang="zh-CN" sz="1800" b="0" dirty="0" err="1">
                <a:solidFill>
                  <a:srgbClr val="000000"/>
                </a:solidFill>
                <a:latin typeface="Cambria Math" panose="02040503050406030204" pitchFamily="18" charset="0"/>
                <a:ea typeface="Cambria Math" panose="02040503050406030204" pitchFamily="18" charset="0"/>
                <a:cs typeface="Huawei Sans"/>
              </a:rPr>
              <a:t>conn.close</a:t>
            </a:r>
            <a:r>
              <a:rPr lang="en-US" altLang="zh-CN" sz="1800" b="0" dirty="0">
                <a:solidFill>
                  <a:srgbClr val="000000"/>
                </a:solidFill>
                <a:latin typeface="Cambria Math" panose="02040503050406030204" pitchFamily="18" charset="0"/>
                <a:ea typeface="Cambria Math" panose="02040503050406030204" pitchFamily="18" charset="0"/>
                <a:cs typeface="Huawei Sans"/>
              </a:rPr>
              <a:t>();    //</a:t>
            </a:r>
            <a:r>
              <a:rPr lang="zh-CN" altLang="zh-CN" sz="1800" b="0" dirty="0">
                <a:solidFill>
                  <a:srgbClr val="000000"/>
                </a:solidFill>
                <a:latin typeface="Cambria Math" panose="02040503050406030204" pitchFamily="18" charset="0"/>
                <a:ea typeface="微软雅黑" panose="020B0503020204020204" pitchFamily="34" charset="-122"/>
                <a:cs typeface="Huawei Sans"/>
              </a:rPr>
              <a:t>关闭连接</a:t>
            </a:r>
            <a:endParaRPr lang="zh-CN" altLang="zh-CN" sz="1800" b="0" dirty="0">
              <a:latin typeface="Cambria Math" panose="02040503050406030204" pitchFamily="18" charset="0"/>
              <a:ea typeface="微软雅黑" panose="020B0503020204020204" pitchFamily="34" charset="-122"/>
              <a:cs typeface="Huawei Sans"/>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ODBC</a:t>
            </a:r>
            <a:endParaRPr lang="en-US" altLang="zh-CN" sz="2600" dirty="0">
              <a:latin typeface="Times New Roman" panose="02020603050405020304" pitchFamily="18" charset="0"/>
              <a:cs typeface="Times New Roman" panose="02020603050405020304" pitchFamily="18" charset="0"/>
            </a:endParaRPr>
          </a:p>
          <a:p>
            <a:pPr lvl="1">
              <a:lnSpc>
                <a:spcPct val="150000"/>
              </a:lnSpc>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Open Database Connectivity</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，开放数据库连接）是微软公司建立的一组访问数据库的标准应用程序接口。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可以用于任何程序设计语言</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对于不同的数据库系统，</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有</a:t>
            </a:r>
            <a:r>
              <a:rPr lang="zh-CN"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统一</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的访问数据库的接口，并</a:t>
            </a:r>
            <a:r>
              <a:rPr lang="zh-CN"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为不同的数据库系统实现了相应的</a:t>
            </a:r>
            <a:r>
              <a:rPr lang="en-US"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驱动程序</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应用程序访问数据库时，其访问请求会被</a:t>
            </a:r>
            <a:r>
              <a:rPr lang="zh-CN"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驱动程序管理器</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提交给相应的数据库系统的</a:t>
            </a:r>
            <a:r>
              <a:rPr lang="en-US"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驱动程序</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，然后</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ODBC</a:t>
            </a:r>
            <a:r>
              <a:rPr lang="zh-CN" altLang="zh-CN" b="0" dirty="0">
                <a:latin typeface="Times New Roman" panose="02020603050405020304" pitchFamily="18" charset="0"/>
                <a:ea typeface="微软雅黑" panose="020B0503020204020204" pitchFamily="34" charset="-122"/>
                <a:cs typeface="Times New Roman" panose="02020603050405020304" pitchFamily="18" charset="0"/>
              </a:rPr>
              <a:t>驱动程序会返回对数据库的结果。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ODBC</a:t>
            </a: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grpSp>
        <p:nvGrpSpPr>
          <p:cNvPr id="6" name="组合 2"/>
          <p:cNvGrpSpPr/>
          <p:nvPr/>
        </p:nvGrpSpPr>
        <p:grpSpPr bwMode="auto">
          <a:xfrm>
            <a:off x="3067798" y="1445444"/>
            <a:ext cx="5356225" cy="4827587"/>
            <a:chOff x="6683485" y="1191113"/>
            <a:chExt cx="5357092" cy="4827864"/>
          </a:xfrm>
        </p:grpSpPr>
        <p:sp>
          <p:nvSpPr>
            <p:cNvPr id="7" name="矩形 6"/>
            <p:cNvSpPr/>
            <p:nvPr/>
          </p:nvSpPr>
          <p:spPr bwMode="auto">
            <a:xfrm>
              <a:off x="8042605" y="1191113"/>
              <a:ext cx="3234260" cy="461989"/>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0">
                  <a:latin typeface="微软雅黑" panose="020B0503020204020204" pitchFamily="34" charset="-122"/>
                  <a:ea typeface="微软雅黑" panose="020B0503020204020204" pitchFamily="34" charset="-122"/>
                </a:rPr>
                <a:t>用户应用程序</a:t>
              </a:r>
              <a:endParaRPr kumimoji="1" lang="zh-CN" altLang="en-US" sz="2400" b="0">
                <a:latin typeface="微软雅黑" panose="020B0503020204020204" pitchFamily="34" charset="-122"/>
                <a:ea typeface="微软雅黑" panose="020B0503020204020204" pitchFamily="34" charset="-122"/>
              </a:endParaRPr>
            </a:p>
          </p:txBody>
        </p:sp>
        <p:sp>
          <p:nvSpPr>
            <p:cNvPr id="8" name="矩形 7"/>
            <p:cNvSpPr/>
            <p:nvPr/>
          </p:nvSpPr>
          <p:spPr bwMode="auto">
            <a:xfrm>
              <a:off x="8042605" y="2011897"/>
              <a:ext cx="3234260" cy="4619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0">
                  <a:latin typeface="微软雅黑" panose="020B0503020204020204" pitchFamily="34" charset="-122"/>
                  <a:ea typeface="微软雅黑" panose="020B0503020204020204" pitchFamily="34" charset="-122"/>
                </a:rPr>
                <a:t>ODBC</a:t>
              </a:r>
              <a:r>
                <a:rPr kumimoji="1" lang="zh-CN" altLang="en-US" sz="2400" b="0">
                  <a:latin typeface="微软雅黑" panose="020B0503020204020204" pitchFamily="34" charset="-122"/>
                  <a:ea typeface="微软雅黑" panose="020B0503020204020204" pitchFamily="34" charset="-122"/>
                </a:rPr>
                <a:t>应用编程接口</a:t>
              </a:r>
              <a:endParaRPr kumimoji="1" lang="zh-CN" altLang="en-US" sz="2400" b="0">
                <a:latin typeface="微软雅黑" panose="020B0503020204020204" pitchFamily="34" charset="-122"/>
                <a:ea typeface="微软雅黑" panose="020B0503020204020204" pitchFamily="34" charset="-122"/>
              </a:endParaRPr>
            </a:p>
          </p:txBody>
        </p:sp>
        <p:sp>
          <p:nvSpPr>
            <p:cNvPr id="9" name="矩形 8"/>
            <p:cNvSpPr/>
            <p:nvPr/>
          </p:nvSpPr>
          <p:spPr bwMode="auto">
            <a:xfrm>
              <a:off x="8042605" y="2821569"/>
              <a:ext cx="3234260" cy="4619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0">
                  <a:latin typeface="微软雅黑" panose="020B0503020204020204" pitchFamily="34" charset="-122"/>
                  <a:ea typeface="微软雅黑" panose="020B0503020204020204" pitchFamily="34" charset="-122"/>
                </a:rPr>
                <a:t>ODBC</a:t>
              </a:r>
              <a:r>
                <a:rPr kumimoji="1" lang="zh-CN" altLang="en-US" sz="2400" b="0">
                  <a:latin typeface="微软雅黑" panose="020B0503020204020204" pitchFamily="34" charset="-122"/>
                  <a:ea typeface="微软雅黑" panose="020B0503020204020204" pitchFamily="34" charset="-122"/>
                </a:rPr>
                <a:t>驱动程序管理器</a:t>
              </a:r>
              <a:endParaRPr kumimoji="1" lang="zh-CN" altLang="en-US" sz="2400" b="0">
                <a:latin typeface="微软雅黑" panose="020B0503020204020204" pitchFamily="34" charset="-122"/>
                <a:ea typeface="微软雅黑" panose="020B0503020204020204" pitchFamily="34" charset="-122"/>
              </a:endParaRPr>
            </a:p>
          </p:txBody>
        </p:sp>
        <p:sp>
          <p:nvSpPr>
            <p:cNvPr id="10" name="矩形 9"/>
            <p:cNvSpPr/>
            <p:nvPr/>
          </p:nvSpPr>
          <p:spPr bwMode="auto">
            <a:xfrm>
              <a:off x="7113767" y="3875729"/>
              <a:ext cx="1470263" cy="70806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sp>
          <p:nvSpPr>
            <p:cNvPr id="11" name="矩形 10"/>
            <p:cNvSpPr/>
            <p:nvPr/>
          </p:nvSpPr>
          <p:spPr bwMode="auto">
            <a:xfrm>
              <a:off x="8884116" y="3883667"/>
              <a:ext cx="1468675" cy="70647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sp>
          <p:nvSpPr>
            <p:cNvPr id="12" name="矩形 11"/>
            <p:cNvSpPr/>
            <p:nvPr/>
          </p:nvSpPr>
          <p:spPr bwMode="auto">
            <a:xfrm>
              <a:off x="10570314" y="3883667"/>
              <a:ext cx="1470263" cy="70647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0">
                  <a:latin typeface="微软雅黑" panose="020B0503020204020204" pitchFamily="34" charset="-122"/>
                  <a:ea typeface="微软雅黑" panose="020B0503020204020204" pitchFamily="34" charset="-122"/>
                </a:rPr>
                <a:t>数据库</a:t>
              </a:r>
              <a:br>
                <a:rPr kumimoji="1" lang="en-US" altLang="zh-CN" sz="2000" b="0">
                  <a:latin typeface="微软雅黑" panose="020B0503020204020204" pitchFamily="34" charset="-122"/>
                  <a:ea typeface="微软雅黑" panose="020B0503020204020204" pitchFamily="34" charset="-122"/>
                </a:rPr>
              </a:br>
              <a:r>
                <a:rPr kumimoji="1" lang="zh-CN" altLang="en-US" sz="2000" b="0">
                  <a:latin typeface="微软雅黑" panose="020B0503020204020204" pitchFamily="34" charset="-122"/>
                  <a:ea typeface="微软雅黑" panose="020B0503020204020204" pitchFamily="34" charset="-122"/>
                </a:rPr>
                <a:t>驱动程序</a:t>
              </a:r>
              <a:endParaRPr kumimoji="1" lang="zh-CN" altLang="en-US" sz="2000" b="0">
                <a:latin typeface="微软雅黑" panose="020B0503020204020204" pitchFamily="34" charset="-122"/>
                <a:ea typeface="微软雅黑" panose="020B0503020204020204" pitchFamily="34" charset="-122"/>
              </a:endParaRPr>
            </a:p>
          </p:txBody>
        </p:sp>
        <p:cxnSp>
          <p:nvCxnSpPr>
            <p:cNvPr id="13" name="直线箭头连接符 16"/>
            <p:cNvCxnSpPr>
              <a:stCxn id="7" idx="2"/>
              <a:endCxn id="8" idx="0"/>
            </p:cNvCxnSpPr>
            <p:nvPr/>
          </p:nvCxnSpPr>
          <p:spPr bwMode="auto">
            <a:xfrm>
              <a:off x="9660529" y="1653102"/>
              <a:ext cx="0" cy="35879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直线箭头连接符 17"/>
            <p:cNvCxnSpPr/>
            <p:nvPr/>
          </p:nvCxnSpPr>
          <p:spPr bwMode="auto">
            <a:xfrm>
              <a:off x="9660529" y="2462773"/>
              <a:ext cx="0" cy="35879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5" name="直线箭头连接符 18"/>
            <p:cNvCxnSpPr>
              <a:endCxn id="10" idx="0"/>
            </p:cNvCxnSpPr>
            <p:nvPr/>
          </p:nvCxnSpPr>
          <p:spPr bwMode="auto">
            <a:xfrm flipH="1">
              <a:off x="7848899" y="3283558"/>
              <a:ext cx="566829" cy="592171"/>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6" name="直线箭头连接符 20"/>
            <p:cNvCxnSpPr>
              <a:endCxn id="11" idx="0"/>
            </p:cNvCxnSpPr>
            <p:nvPr/>
          </p:nvCxnSpPr>
          <p:spPr bwMode="auto">
            <a:xfrm>
              <a:off x="9612896" y="3278795"/>
              <a:ext cx="4764" cy="604873"/>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线箭头连接符 22"/>
            <p:cNvCxnSpPr>
              <a:endCxn id="12" idx="0"/>
            </p:cNvCxnSpPr>
            <p:nvPr/>
          </p:nvCxnSpPr>
          <p:spPr bwMode="auto">
            <a:xfrm>
              <a:off x="10833882" y="3286733"/>
              <a:ext cx="471563" cy="596934"/>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sp>
          <p:nvSpPr>
            <p:cNvPr id="18" name="圆柱体 17"/>
            <p:cNvSpPr/>
            <p:nvPr/>
          </p:nvSpPr>
          <p:spPr bwMode="auto">
            <a:xfrm>
              <a:off x="7275718" y="5429981"/>
              <a:ext cx="1151124"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err="1">
                  <a:solidFill>
                    <a:schemeClr val="tx1"/>
                  </a:solidFill>
                  <a:latin typeface="Times New Roman" panose="02020603050405020304" pitchFamily="18" charset="0"/>
                  <a:ea typeface="华文楷体" panose="02010600040101010101" pitchFamily="2" charset="-122"/>
                </a:rPr>
                <a:t>Postgresql</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sp>
          <p:nvSpPr>
            <p:cNvPr id="19" name="圆柱体 18"/>
            <p:cNvSpPr/>
            <p:nvPr/>
          </p:nvSpPr>
          <p:spPr bwMode="auto">
            <a:xfrm>
              <a:off x="9041304" y="5429981"/>
              <a:ext cx="1149536"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a:solidFill>
                    <a:schemeClr val="tx1"/>
                  </a:solidFill>
                  <a:latin typeface="Times New Roman" panose="02020603050405020304" pitchFamily="18" charset="0"/>
                  <a:ea typeface="华文楷体" panose="02010600040101010101" pitchFamily="2" charset="-122"/>
                </a:rPr>
                <a:t>MySQL</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sp>
          <p:nvSpPr>
            <p:cNvPr id="20" name="圆柱体 19"/>
            <p:cNvSpPr/>
            <p:nvPr/>
          </p:nvSpPr>
          <p:spPr bwMode="auto">
            <a:xfrm>
              <a:off x="10724326" y="5431568"/>
              <a:ext cx="1151124" cy="587409"/>
            </a:xfrm>
            <a:prstGeom prst="can">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spAutoFit/>
            </a:bodyPr>
            <a:lstStyle/>
            <a:p>
              <a:pPr algn="ctr" eaLnBrk="1" hangingPunct="1">
                <a:spcBef>
                  <a:spcPct val="50000"/>
                </a:spcBef>
                <a:defRPr/>
              </a:pPr>
              <a:r>
                <a:rPr kumimoji="1" lang="en-US" altLang="zh-CN" b="0" dirty="0" err="1">
                  <a:solidFill>
                    <a:schemeClr val="tx1"/>
                  </a:solidFill>
                  <a:latin typeface="Times New Roman" panose="02020603050405020304" pitchFamily="18" charset="0"/>
                  <a:ea typeface="华文楷体" panose="02010600040101010101" pitchFamily="2" charset="-122"/>
                </a:rPr>
                <a:t>GaussDB</a:t>
              </a:r>
              <a:endParaRPr kumimoji="1" lang="zh-CN" altLang="en-US" b="0" dirty="0">
                <a:solidFill>
                  <a:schemeClr val="tx1"/>
                </a:solidFill>
                <a:latin typeface="Times New Roman" panose="02020603050405020304" pitchFamily="18" charset="0"/>
                <a:ea typeface="华文楷体" panose="02010600040101010101" pitchFamily="2" charset="-122"/>
              </a:endParaRPr>
            </a:p>
          </p:txBody>
        </p:sp>
        <p:cxnSp>
          <p:nvCxnSpPr>
            <p:cNvPr id="21" name="直线箭头连接符 27"/>
            <p:cNvCxnSpPr>
              <a:stCxn id="10" idx="2"/>
              <a:endCxn id="18" idx="1"/>
            </p:cNvCxnSpPr>
            <p:nvPr/>
          </p:nvCxnSpPr>
          <p:spPr bwMode="auto">
            <a:xfrm>
              <a:off x="7848899" y="4583795"/>
              <a:ext cx="1587" cy="846187"/>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直线箭头连接符 30"/>
            <p:cNvCxnSpPr>
              <a:stCxn id="11" idx="2"/>
              <a:endCxn id="19" idx="1"/>
            </p:cNvCxnSpPr>
            <p:nvPr/>
          </p:nvCxnSpPr>
          <p:spPr bwMode="auto">
            <a:xfrm flipH="1">
              <a:off x="9616072" y="4590145"/>
              <a:ext cx="1588" cy="839836"/>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直线箭头连接符 31"/>
            <p:cNvCxnSpPr>
              <a:stCxn id="12" idx="2"/>
              <a:endCxn id="20" idx="1"/>
            </p:cNvCxnSpPr>
            <p:nvPr/>
          </p:nvCxnSpPr>
          <p:spPr bwMode="auto">
            <a:xfrm flipH="1">
              <a:off x="11300682" y="4590145"/>
              <a:ext cx="4763" cy="841423"/>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sp>
          <p:nvSpPr>
            <p:cNvPr id="24" name="文本框 20"/>
            <p:cNvSpPr txBox="1">
              <a:spLocks noChangeArrowheads="1"/>
            </p:cNvSpPr>
            <p:nvPr/>
          </p:nvSpPr>
          <p:spPr bwMode="auto">
            <a:xfrm>
              <a:off x="6683485" y="1779783"/>
              <a:ext cx="17083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连接数据库</a:t>
              </a:r>
              <a:br>
                <a:rPr lang="zh-CN" altLang="en-US" sz="1600">
                  <a:latin typeface="微软雅黑" panose="020B0503020204020204" pitchFamily="34" charset="-122"/>
                  <a:ea typeface="微软雅黑" panose="020B0503020204020204" pitchFamily="34" charset="-122"/>
                </a:rPr>
              </a:br>
              <a:r>
                <a:rPr lang="zh-CN" altLang="en-US" sz="1600" b="0">
                  <a:latin typeface="微软雅黑" panose="020B0503020204020204" pitchFamily="34" charset="-122"/>
                  <a:ea typeface="微软雅黑" panose="020B0503020204020204" pitchFamily="34" charset="-122"/>
                </a:rPr>
                <a:t>发送</a:t>
              </a:r>
              <a:r>
                <a:rPr lang="zh-CN" altLang="zh-CN" sz="1600" b="0">
                  <a:latin typeface="微软雅黑" panose="020B0503020204020204" pitchFamily="34" charset="-122"/>
                  <a:ea typeface="微软雅黑" panose="020B0503020204020204" pitchFamily="34" charset="-122"/>
                </a:rPr>
                <a:t>SQL</a:t>
              </a:r>
              <a:r>
                <a:rPr lang="zh-CN" altLang="en-US" sz="1600" b="0">
                  <a:latin typeface="微软雅黑" panose="020B0503020204020204" pitchFamily="34" charset="-122"/>
                  <a:ea typeface="微软雅黑" panose="020B0503020204020204" pitchFamily="34" charset="-122"/>
                </a:rPr>
                <a:t>语句</a:t>
              </a:r>
              <a:br>
                <a:rPr lang="zh-CN" altLang="en-US" sz="1600">
                  <a:latin typeface="微软雅黑" panose="020B0503020204020204" pitchFamily="34" charset="-122"/>
                  <a:ea typeface="微软雅黑" panose="020B0503020204020204" pitchFamily="34" charset="-122"/>
                </a:rPr>
              </a:br>
              <a:r>
                <a:rPr lang="zh-CN" altLang="en-US" sz="1600" b="0">
                  <a:latin typeface="微软雅黑" panose="020B0503020204020204" pitchFamily="34" charset="-122"/>
                  <a:ea typeface="微软雅黑" panose="020B0503020204020204" pitchFamily="34" charset="-122"/>
                </a:rPr>
                <a:t>操作结果</a:t>
              </a:r>
              <a:endParaRPr lang="zh-CN" altLang="en-US" sz="1600">
                <a:latin typeface="微软雅黑" panose="020B0503020204020204" pitchFamily="34" charset="-122"/>
                <a:ea typeface="微软雅黑" panose="020B0503020204020204" pitchFamily="34" charset="-122"/>
              </a:endParaRPr>
            </a:p>
          </p:txBody>
        </p:sp>
        <p:sp>
          <p:nvSpPr>
            <p:cNvPr id="25" name="文本框 21"/>
            <p:cNvSpPr txBox="1">
              <a:spLocks noChangeArrowheads="1"/>
            </p:cNvSpPr>
            <p:nvPr/>
          </p:nvSpPr>
          <p:spPr bwMode="auto">
            <a:xfrm>
              <a:off x="6683485" y="2699847"/>
              <a:ext cx="17083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管理驱动</a:t>
              </a:r>
              <a:endParaRPr lang="en-US" altLang="zh-CN" sz="1600" b="0">
                <a:latin typeface="微软雅黑" panose="020B0503020204020204" pitchFamily="34" charset="-122"/>
                <a:ea typeface="微软雅黑" panose="020B0503020204020204" pitchFamily="34" charset="-122"/>
              </a:endParaRPr>
            </a:p>
            <a:p>
              <a:pPr>
                <a:spcBef>
                  <a:spcPct val="0"/>
                </a:spcBef>
                <a:buFontTx/>
                <a:buNone/>
              </a:pPr>
              <a:r>
                <a:rPr lang="zh-CN" altLang="en-US" sz="1600">
                  <a:latin typeface="微软雅黑" panose="020B0503020204020204" pitchFamily="34" charset="-122"/>
                  <a:ea typeface="微软雅黑" panose="020B0503020204020204" pitchFamily="34" charset="-122"/>
                </a:rPr>
                <a:t>管理数据源</a:t>
              </a:r>
              <a:endParaRPr lang="en-US" altLang="zh-CN" sz="1600" b="0">
                <a:latin typeface="微软雅黑" panose="020B0503020204020204" pitchFamily="34" charset="-122"/>
                <a:ea typeface="微软雅黑" panose="020B0503020204020204" pitchFamily="34" charset="-122"/>
              </a:endParaRPr>
            </a:p>
          </p:txBody>
        </p:sp>
        <p:sp>
          <p:nvSpPr>
            <p:cNvPr id="26" name="文本框 22"/>
            <p:cNvSpPr txBox="1">
              <a:spLocks noChangeArrowheads="1"/>
            </p:cNvSpPr>
            <p:nvPr/>
          </p:nvSpPr>
          <p:spPr bwMode="auto">
            <a:xfrm>
              <a:off x="7123470" y="4624402"/>
              <a:ext cx="42283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600" b="0">
                  <a:latin typeface="微软雅黑" panose="020B0503020204020204" pitchFamily="34" charset="-122"/>
                  <a:ea typeface="微软雅黑" panose="020B0503020204020204" pitchFamily="34" charset="-122"/>
                </a:rPr>
                <a:t>连接到数据源并断开与数据源的连接</a:t>
              </a:r>
              <a:endParaRPr lang="en-US" altLang="zh-CN" sz="1600" b="0">
                <a:latin typeface="微软雅黑" panose="020B0503020204020204" pitchFamily="34" charset="-122"/>
                <a:ea typeface="微软雅黑" panose="020B0503020204020204" pitchFamily="34" charset="-122"/>
              </a:endParaRPr>
            </a:p>
            <a:p>
              <a:pPr>
                <a:spcBef>
                  <a:spcPct val="0"/>
                </a:spcBef>
                <a:buFontTx/>
                <a:buNone/>
              </a:pPr>
              <a:r>
                <a:rPr lang="zh-CN" altLang="en-US" sz="1600">
                  <a:latin typeface="微软雅黑" panose="020B0503020204020204" pitchFamily="34" charset="-122"/>
                  <a:ea typeface="微软雅黑" panose="020B0503020204020204" pitchFamily="34" charset="-122"/>
                </a:rPr>
                <a:t>将 </a:t>
              </a:r>
              <a:r>
                <a:rPr lang="zh-CN" altLang="zh-CN" sz="1600">
                  <a:latin typeface="微软雅黑" panose="020B0503020204020204" pitchFamily="34" charset="-122"/>
                  <a:ea typeface="微软雅黑" panose="020B0503020204020204" pitchFamily="34" charset="-122"/>
                </a:rPr>
                <a:t>SQL </a:t>
              </a:r>
              <a:r>
                <a:rPr lang="zh-CN" altLang="en-US" sz="1600">
                  <a:latin typeface="微软雅黑" panose="020B0503020204020204" pitchFamily="34" charset="-122"/>
                  <a:ea typeface="微软雅黑" panose="020B0503020204020204" pitchFamily="34" charset="-122"/>
                </a:rPr>
                <a:t>语句提交到数据源以供执行</a:t>
              </a:r>
              <a:endParaRPr lang="zh-CN" altLang="en-US" sz="1600" b="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a:latin typeface="Times New Roman" panose="02020603050405020304" pitchFamily="18" charset="0"/>
                <a:cs typeface="Times New Roman" panose="02020603050405020304" pitchFamily="18" charset="0"/>
              </a:rPr>
              <a:t>ODBC</a:t>
            </a: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27" name="内容占位符 3"/>
          <p:cNvSpPr txBox="1"/>
          <p:nvPr/>
        </p:nvSpPr>
        <p:spPr bwMode="auto">
          <a:xfrm>
            <a:off x="1879601" y="1371601"/>
            <a:ext cx="9550400" cy="5127674"/>
          </a:xfrm>
          <a:prstGeom prst="rect">
            <a:avLst/>
          </a:prstGeom>
          <a:solidFill>
            <a:schemeClr val="bg1">
              <a:lumMod val="95000"/>
            </a:schemeClr>
          </a:solidFill>
          <a:ln>
            <a:noFill/>
          </a:ln>
          <a:effec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SQLHENV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henv</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定义环境句柄</a:t>
            </a:r>
            <a:r>
              <a:rPr lang="zh-CN" altLang="en-US" sz="1400" b="0" dirty="0">
                <a:solidFill>
                  <a:srgbClr val="007400"/>
                </a:solidFill>
                <a:latin typeface="Cambria Math" panose="02040503050406030204" pitchFamily="18" charset="0"/>
                <a:ea typeface="Huawei Sans"/>
                <a:cs typeface="Huawei Sans"/>
              </a:rPr>
              <a:t>：设置当前程序的整体属性，如</a:t>
            </a:r>
            <a:r>
              <a:rPr lang="zh-CN" altLang="zh-CN" sz="1400" b="0" dirty="0">
                <a:solidFill>
                  <a:srgbClr val="007400"/>
                </a:solidFill>
                <a:latin typeface="Cambria Math" panose="02040503050406030204" pitchFamily="18" charset="0"/>
                <a:ea typeface="Huawei Sans"/>
                <a:cs typeface="Huawei Sans"/>
              </a:rPr>
              <a:t>ODBC</a:t>
            </a:r>
            <a:r>
              <a:rPr lang="zh-CN" altLang="en-US" sz="1400" b="0" dirty="0">
                <a:solidFill>
                  <a:srgbClr val="007400"/>
                </a:solidFill>
                <a:latin typeface="Cambria Math" panose="02040503050406030204" pitchFamily="18" charset="0"/>
                <a:ea typeface="Huawei Sans"/>
                <a:cs typeface="Huawei Sans"/>
              </a:rPr>
              <a:t>的版本，最大连接数等</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SQLHDBC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定义连接句柄</a:t>
            </a:r>
            <a:r>
              <a:rPr lang="zh-CN" altLang="en-US" sz="1400" b="0" dirty="0">
                <a:solidFill>
                  <a:srgbClr val="007400"/>
                </a:solidFill>
                <a:latin typeface="Cambria Math" panose="02040503050406030204" pitchFamily="18" charset="0"/>
                <a:ea typeface="Huawei Sans"/>
                <a:cs typeface="Huawei Sans"/>
              </a:rPr>
              <a:t>：控制当前连接的属性，如事务自动提交、连接类型、隔离级别等</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SQLHSTMT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定义语句句柄</a:t>
            </a:r>
            <a:r>
              <a:rPr lang="zh-CN" altLang="en-US" sz="1400" b="0" dirty="0">
                <a:solidFill>
                  <a:srgbClr val="007400"/>
                </a:solidFill>
                <a:latin typeface="Cambria Math" panose="02040503050406030204" pitchFamily="18" charset="0"/>
                <a:ea typeface="Huawei Sans"/>
                <a:cs typeface="Huawei Sans"/>
              </a:rPr>
              <a:t>：完成数据库对象及数据的操作</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SQLRETURN 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SQLAllocHandle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(SQL_HANDLE_ENV, SQL_NULL_HANDLE, &amp;</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henv</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分配环境句柄</a:t>
            </a:r>
            <a:endParaRPr lang="en-US" altLang="zh-CN" sz="1400" b="0" dirty="0">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SQLSetEnvAttr</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henv</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SQL_ATTR_ODBC_VERSION, (</a:t>
            </a:r>
            <a:r>
              <a:rPr lang="en-US" altLang="zh-CN" sz="1400" b="0" dirty="0">
                <a:solidFill>
                  <a:srgbClr val="AA0D91"/>
                </a:solidFill>
                <a:latin typeface="Cambria Math" panose="02040503050406030204" pitchFamily="18" charset="0"/>
                <a:ea typeface="Cambria Math" panose="02040503050406030204" pitchFamily="18" charset="0"/>
                <a:cs typeface="Huawei Sans"/>
              </a:rPr>
              <a:t>void</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*)SQL_OV_ODBC3, </a:t>
            </a:r>
            <a:r>
              <a:rPr lang="en-US" altLang="zh-CN" sz="1400" b="0" dirty="0">
                <a:solidFill>
                  <a:srgbClr val="1C00CF"/>
                </a:solidFill>
                <a:latin typeface="Cambria Math" panose="02040503050406030204" pitchFamily="18" charset="0"/>
                <a:ea typeface="Cambria Math" panose="02040503050406030204" pitchFamily="18" charset="0"/>
                <a:cs typeface="Huawei Sans"/>
              </a:rPr>
              <a:t>0</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设置</a:t>
            </a:r>
            <a:r>
              <a:rPr lang="en-US" altLang="zh-CN" sz="1400" b="0" dirty="0">
                <a:solidFill>
                  <a:srgbClr val="007400"/>
                </a:solidFill>
                <a:latin typeface="Cambria Math" panose="02040503050406030204" pitchFamily="18" charset="0"/>
                <a:ea typeface="Cambria Math" panose="02040503050406030204" pitchFamily="18" charset="0"/>
                <a:cs typeface="Huawei Sans"/>
              </a:rPr>
              <a:t>ODBC</a:t>
            </a:r>
            <a:r>
              <a:rPr lang="zh-CN" altLang="zh-CN" sz="1400" b="0" dirty="0">
                <a:solidFill>
                  <a:srgbClr val="007400"/>
                </a:solidFill>
                <a:latin typeface="Cambria Math" panose="02040503050406030204" pitchFamily="18" charset="0"/>
                <a:ea typeface="Huawei Sans"/>
                <a:cs typeface="Huawei Sans"/>
              </a:rPr>
              <a:t>环境属性</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SQLAllocHandle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(SQL_HANDLE_DBC,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henv</a:t>
            </a:r>
            <a:r>
              <a:rPr lang="en-US" altLang="zh-CN" sz="1400" b="0" dirty="0">
                <a:solidFill>
                  <a:srgbClr val="000000"/>
                </a:solidFill>
                <a:latin typeface="Cambria Math" panose="02040503050406030204" pitchFamily="18" charset="0"/>
                <a:ea typeface="Cambria Math" panose="02040503050406030204" pitchFamily="18" charset="0"/>
                <a:cs typeface="Huawei Sans"/>
              </a:rPr>
              <a:t>, &amp;</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分配连接句柄</a:t>
            </a:r>
            <a:endParaRPr lang="en-US" altLang="zh-CN" sz="1400" b="0" dirty="0">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SQLConnect</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C41A16"/>
                </a:solidFill>
                <a:latin typeface="Cambria Math" panose="02040503050406030204" pitchFamily="18" charset="0"/>
                <a:ea typeface="Cambria Math" panose="02040503050406030204" pitchFamily="18" charset="0"/>
                <a:cs typeface="Huawei Sans"/>
              </a:rPr>
              <a:t>”DB"</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SQL_NTS, </a:t>
            </a:r>
            <a:r>
              <a:rPr lang="en-US" altLang="zh-CN" sz="1400" b="0" dirty="0">
                <a:solidFill>
                  <a:srgbClr val="C41A16"/>
                </a:solidFill>
                <a:latin typeface="Cambria Math" panose="02040503050406030204" pitchFamily="18" charset="0"/>
                <a:ea typeface="Cambria Math" panose="02040503050406030204" pitchFamily="18" charset="0"/>
                <a:cs typeface="Huawei Sans"/>
              </a:rPr>
              <a:t>"root"</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SQL_NTS, </a:t>
            </a:r>
            <a:r>
              <a:rPr lang="en-US" altLang="zh-CN" sz="1400" b="0" dirty="0">
                <a:solidFill>
                  <a:srgbClr val="C41A16"/>
                </a:solidFill>
                <a:latin typeface="Cambria Math" panose="02040503050406030204" pitchFamily="18" charset="0"/>
                <a:ea typeface="Cambria Math" panose="02040503050406030204" pitchFamily="18" charset="0"/>
                <a:cs typeface="Huawei Sans"/>
              </a:rPr>
              <a:t>"123456"</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SQL_NTS); </a:t>
            </a:r>
            <a:endParaRPr lang="en-US" altLang="zh-CN" sz="1400" b="0" dirty="0">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en-US" altLang="zh-CN" sz="1400" b="0" dirty="0">
                <a:solidFill>
                  <a:srgbClr val="AA0D91"/>
                </a:solidFill>
                <a:latin typeface="Cambria Math" panose="02040503050406030204" pitchFamily="18" charset="0"/>
                <a:ea typeface="Cambria Math" panose="02040503050406030204" pitchFamily="18" charset="0"/>
                <a:cs typeface="Huawei Sans"/>
              </a:rPr>
              <a:t>if</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(SQL_SUCCEEDED(ret)){</a:t>
            </a:r>
            <a:endParaRPr lang="en-US" altLang="zh-CN" sz="1400" b="0" dirty="0">
              <a:solidFill>
                <a:srgbClr val="000000"/>
              </a:solidFill>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zh-CN" altLang="en-US" sz="1400" b="0" dirty="0">
                <a:solidFill>
                  <a:srgbClr val="000000"/>
                </a:solidFill>
                <a:latin typeface="Cambria Math" panose="02040503050406030204" pitchFamily="18" charset="0"/>
                <a:ea typeface="Huawei Sans"/>
                <a:cs typeface="Huawei Sans"/>
              </a:rPr>
              <a:t>  </a:t>
            </a:r>
            <a:r>
              <a:rPr lang="en-US" altLang="zh-CN" sz="1400" b="0" dirty="0">
                <a:solidFill>
                  <a:srgbClr val="000000"/>
                </a:solidFill>
                <a:latin typeface="Cambria Math" panose="02040503050406030204" pitchFamily="18" charset="0"/>
                <a:ea typeface="Cambria Math" panose="02040503050406030204" pitchFamily="18" charset="0"/>
                <a:cs typeface="Huawei Sans"/>
              </a:rPr>
              <a:t>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SQLAllocHandle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(SQL_HANDLE_STMT,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&amp;</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分配语句句柄</a:t>
            </a:r>
            <a:r>
              <a:rPr lang="zh-CN" altLang="en-US" sz="1400" b="0" dirty="0">
                <a:latin typeface="Cambria Math" panose="02040503050406030204" pitchFamily="18" charset="0"/>
                <a:ea typeface="Huawei Sans"/>
                <a:cs typeface="Huawei Sans"/>
              </a:rPr>
              <a:t> </a:t>
            </a:r>
            <a:endParaRPr lang="en-US" altLang="zh-CN" sz="1400" b="0" dirty="0">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zh-CN" altLang="en-US" sz="1400" b="0" dirty="0">
                <a:solidFill>
                  <a:srgbClr val="000000"/>
                </a:solidFill>
                <a:latin typeface="Cambria Math" panose="02040503050406030204" pitchFamily="18" charset="0"/>
                <a:ea typeface="Huawei Sans"/>
                <a:cs typeface="Huawei Sans"/>
              </a:rPr>
              <a:t>  </a:t>
            </a:r>
            <a:r>
              <a:rPr lang="en-US" altLang="zh-CN" sz="1400" b="0" dirty="0">
                <a:solidFill>
                  <a:srgbClr val="000000"/>
                </a:solidFill>
                <a:latin typeface="Cambria Math" panose="02040503050406030204" pitchFamily="18" charset="0"/>
                <a:ea typeface="Cambria Math" panose="02040503050406030204" pitchFamily="18" charset="0"/>
                <a:cs typeface="Huawei Sans"/>
              </a:rPr>
              <a:t>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SQLExecDirect</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C41A16"/>
                </a:solidFill>
                <a:latin typeface="Cambria Math" panose="02040503050406030204" pitchFamily="18" charset="0"/>
                <a:ea typeface="Cambria Math" panose="02040503050406030204" pitchFamily="18" charset="0"/>
                <a:cs typeface="Huawei Sans"/>
              </a:rPr>
              <a:t>"SELECT * FROM Student WHERE Sage&gt;=18"</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SQL_NTS);</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执行</a:t>
            </a:r>
            <a:r>
              <a:rPr lang="en-US" altLang="zh-CN" sz="1400" b="0" dirty="0">
                <a:solidFill>
                  <a:srgbClr val="007400"/>
                </a:solidFill>
                <a:latin typeface="Cambria Math" panose="02040503050406030204" pitchFamily="18" charset="0"/>
                <a:ea typeface="Cambria Math" panose="02040503050406030204" pitchFamily="18" charset="0"/>
                <a:cs typeface="Huawei Sans"/>
              </a:rPr>
              <a:t>SQL</a:t>
            </a:r>
            <a:r>
              <a:rPr lang="zh-CN" altLang="zh-CN" sz="1400" b="0" dirty="0">
                <a:solidFill>
                  <a:srgbClr val="007400"/>
                </a:solidFill>
                <a:latin typeface="Cambria Math" panose="02040503050406030204" pitchFamily="18" charset="0"/>
                <a:ea typeface="Huawei Sans"/>
                <a:cs typeface="Huawei Sans"/>
              </a:rPr>
              <a:t>查询</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zh-CN" altLang="en-US" sz="1400" b="0" dirty="0">
                <a:solidFill>
                  <a:srgbClr val="000000"/>
                </a:solidFill>
                <a:latin typeface="Cambria Math" panose="02040503050406030204" pitchFamily="18" charset="0"/>
                <a:ea typeface="Huawei Sans"/>
                <a:cs typeface="Huawei Sans"/>
              </a:rPr>
              <a:t>  </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SQLCHAR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sno</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a:solidFill>
                  <a:srgbClr val="1C00CF"/>
                </a:solidFill>
                <a:latin typeface="Cambria Math" panose="02040503050406030204" pitchFamily="18" charset="0"/>
                <a:ea typeface="Cambria Math" panose="02040503050406030204" pitchFamily="18" charset="0"/>
                <a:cs typeface="Huawei Sans"/>
              </a:rPr>
              <a:t>10</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zh-CN" altLang="en-US" sz="1400" b="0" dirty="0">
                <a:latin typeface="Cambria Math" panose="02040503050406030204" pitchFamily="18" charset="0"/>
                <a:ea typeface="Huawei Sans"/>
                <a:cs typeface="Huawei Sans"/>
              </a:rPr>
              <a:t> </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SQLCHAR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sname</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a:solidFill>
                  <a:srgbClr val="1C00CF"/>
                </a:solidFill>
                <a:latin typeface="Cambria Math" panose="02040503050406030204" pitchFamily="18" charset="0"/>
                <a:ea typeface="Cambria Math" panose="02040503050406030204" pitchFamily="18" charset="0"/>
                <a:cs typeface="Huawei Sans"/>
              </a:rPr>
              <a:t>10</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zh-CN" altLang="en-US" sz="1400" b="0" dirty="0">
                <a:latin typeface="Cambria Math" panose="02040503050406030204" pitchFamily="18" charset="0"/>
                <a:ea typeface="Huawei Sans"/>
                <a:cs typeface="Huawei Sans"/>
              </a:rPr>
              <a:t> </a:t>
            </a:r>
            <a:endParaRPr lang="en-US" altLang="zh-CN" sz="1400" b="0" dirty="0">
              <a:latin typeface="Cambria Math" panose="02040503050406030204" pitchFamily="18" charset="0"/>
              <a:ea typeface="Cambria Math" panose="02040503050406030204" pitchFamily="18" charset="0"/>
              <a:cs typeface="Huawei Sans"/>
            </a:endParaRPr>
          </a:p>
          <a:p>
            <a:pPr latinLnBrk="1">
              <a:spcBef>
                <a:spcPts val="200"/>
              </a:spcBef>
              <a:spcAft>
                <a:spcPts val="200"/>
              </a:spcAft>
              <a:buFontTx/>
              <a:buNone/>
            </a:pPr>
            <a:r>
              <a:rPr lang="zh-CN" altLang="en-US" sz="1400" b="0" dirty="0">
                <a:solidFill>
                  <a:srgbClr val="AA0D91"/>
                </a:solidFill>
                <a:latin typeface="Cambria Math" panose="02040503050406030204" pitchFamily="18" charset="0"/>
                <a:ea typeface="Huawei Sans"/>
                <a:cs typeface="Huawei Sans"/>
              </a:rPr>
              <a:t>  </a:t>
            </a:r>
            <a:r>
              <a:rPr lang="en-US" altLang="zh-CN" sz="1400" b="0" dirty="0">
                <a:solidFill>
                  <a:srgbClr val="AA0D91"/>
                </a:solidFill>
                <a:latin typeface="Cambria Math" panose="02040503050406030204" pitchFamily="18" charset="0"/>
                <a:ea typeface="Cambria Math" panose="02040503050406030204" pitchFamily="18" charset="0"/>
                <a:cs typeface="Huawei Sans"/>
              </a:rPr>
              <a:t>while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(SQL_SUCCEEDED(ret=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SQLFetch</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获取</a:t>
            </a:r>
            <a:r>
              <a:rPr lang="en-US" altLang="zh-CN" sz="1400" b="0" dirty="0">
                <a:solidFill>
                  <a:srgbClr val="007400"/>
                </a:solidFill>
                <a:latin typeface="Cambria Math" panose="02040503050406030204" pitchFamily="18" charset="0"/>
                <a:ea typeface="Cambria Math" panose="02040503050406030204" pitchFamily="18" charset="0"/>
                <a:cs typeface="Huawei Sans"/>
              </a:rPr>
              <a:t>SQL</a:t>
            </a:r>
            <a:r>
              <a:rPr lang="zh-CN" altLang="zh-CN" sz="1400" b="0" dirty="0">
                <a:solidFill>
                  <a:srgbClr val="007400"/>
                </a:solidFill>
                <a:latin typeface="Cambria Math" panose="02040503050406030204" pitchFamily="18" charset="0"/>
                <a:ea typeface="Huawei Sans"/>
                <a:cs typeface="Huawei Sans"/>
              </a:rPr>
              <a:t>查询结果中的一条记录</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获取</a:t>
            </a:r>
            <a:r>
              <a:rPr lang="en-US" altLang="zh-CN" sz="1400" b="0" dirty="0">
                <a:solidFill>
                  <a:srgbClr val="007400"/>
                </a:solidFill>
                <a:latin typeface="Cambria Math" panose="02040503050406030204" pitchFamily="18" charset="0"/>
                <a:ea typeface="Cambria Math" panose="02040503050406030204" pitchFamily="18" charset="0"/>
                <a:cs typeface="Huawei Sans"/>
              </a:rPr>
              <a:t>SQL</a:t>
            </a:r>
            <a:r>
              <a:rPr lang="zh-CN" altLang="zh-CN" sz="1400" b="0" dirty="0">
                <a:solidFill>
                  <a:srgbClr val="007400"/>
                </a:solidFill>
                <a:latin typeface="Cambria Math" panose="02040503050406030204" pitchFamily="18" charset="0"/>
                <a:ea typeface="Huawei Sans"/>
                <a:cs typeface="Huawei Sans"/>
              </a:rPr>
              <a:t>查询结果中的一条记录的各个字段</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        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SQLGetData</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1C00CF"/>
                </a:solidFill>
                <a:latin typeface="Cambria Math" panose="02040503050406030204" pitchFamily="18" charset="0"/>
                <a:ea typeface="Cambria Math" panose="02040503050406030204" pitchFamily="18" charset="0"/>
                <a:cs typeface="Huawei Sans"/>
              </a:rPr>
              <a:t>1</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SQL_C_CHAR,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sno</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1C00CF"/>
                </a:solidFill>
                <a:latin typeface="Cambria Math" panose="02040503050406030204" pitchFamily="18" charset="0"/>
                <a:ea typeface="Cambria Math" panose="02040503050406030204" pitchFamily="18" charset="0"/>
                <a:cs typeface="Huawei Sans"/>
              </a:rPr>
              <a:t>10</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AA0D91"/>
                </a:solidFill>
                <a:latin typeface="Cambria Math" panose="02040503050406030204" pitchFamily="18" charset="0"/>
                <a:ea typeface="Cambria Math" panose="02040503050406030204" pitchFamily="18" charset="0"/>
                <a:cs typeface="Huawei Sans"/>
              </a:rPr>
              <a:t>NULL</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a:solidFill>
                  <a:srgbClr val="000000"/>
                </a:solidFill>
                <a:latin typeface="Cambria Math" panose="02040503050406030204" pitchFamily="18" charset="0"/>
                <a:ea typeface="Cambria Math" panose="02040503050406030204" pitchFamily="18" charset="0"/>
                <a:cs typeface="Huawei Sans"/>
              </a:rPr>
              <a:t>        ret=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SQLGetData</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1C00CF"/>
                </a:solidFill>
                <a:latin typeface="Cambria Math" panose="02040503050406030204" pitchFamily="18" charset="0"/>
                <a:ea typeface="Cambria Math" panose="02040503050406030204" pitchFamily="18" charset="0"/>
                <a:cs typeface="Huawei Sans"/>
              </a:rPr>
              <a:t>2</a:t>
            </a:r>
            <a:r>
              <a:rPr lang="en-US" altLang="zh-CN" sz="1400" b="0" dirty="0">
                <a:solidFill>
                  <a:srgbClr val="000000"/>
                </a:solidFill>
                <a:latin typeface="Cambria Math" panose="02040503050406030204" pitchFamily="18" charset="0"/>
                <a:ea typeface="Cambria Math" panose="02040503050406030204" pitchFamily="18" charset="0"/>
                <a:cs typeface="Huawei Sans"/>
              </a:rPr>
              <a:t>, SQL_C_CHAR,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sname</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1C00CF"/>
                </a:solidFill>
                <a:latin typeface="Cambria Math" panose="02040503050406030204" pitchFamily="18" charset="0"/>
                <a:ea typeface="Cambria Math" panose="02040503050406030204" pitchFamily="18" charset="0"/>
                <a:cs typeface="Huawei Sans"/>
              </a:rPr>
              <a:t>10</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AA0D91"/>
                </a:solidFill>
                <a:latin typeface="Cambria Math" panose="02040503050406030204" pitchFamily="18" charset="0"/>
                <a:ea typeface="Cambria Math" panose="02040503050406030204" pitchFamily="18" charset="0"/>
                <a:cs typeface="Huawei Sans"/>
              </a:rPr>
              <a:t>NULL</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zh-CN" altLang="en-US" sz="1400" b="0" dirty="0">
                <a:latin typeface="Cambria Math" panose="02040503050406030204" pitchFamily="18" charset="0"/>
                <a:ea typeface="Huawei Sans"/>
                <a:cs typeface="Huawei Sans"/>
              </a:rPr>
              <a:t> </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SQLFreeHandle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(SQL_HANDLE_STMT,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hstmt</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释放语句句柄</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SQLDisconnect</a:t>
            </a:r>
            <a:r>
              <a:rPr lang="en-US" altLang="zh-CN" sz="1400" b="0" dirty="0">
                <a:solidFill>
                  <a:srgbClr val="000000"/>
                </a:solidFill>
                <a:latin typeface="Cambria Math" panose="02040503050406030204" pitchFamily="18" charset="0"/>
                <a:ea typeface="Cambria Math" panose="02040503050406030204" pitchFamily="18" charset="0"/>
                <a:cs typeface="Huawei Sans"/>
              </a:rPr>
              <a:t>(</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关闭连接</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SQLFreeHandle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(SQL_HANDLE_DBC,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hdbc</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释放连接句柄</a:t>
            </a:r>
            <a:endParaRPr lang="zh-CN" altLang="zh-CN" sz="1400" b="0" dirty="0">
              <a:latin typeface="Cambria Math" panose="02040503050406030204" pitchFamily="18" charset="0"/>
              <a:ea typeface="Huawei Sans"/>
              <a:cs typeface="Huawei Sans"/>
            </a:endParaRPr>
          </a:p>
          <a:p>
            <a:pPr latinLnBrk="1">
              <a:spcBef>
                <a:spcPts val="200"/>
              </a:spcBef>
              <a:spcAft>
                <a:spcPts val="200"/>
              </a:spcAft>
              <a:buFontTx/>
              <a:buNone/>
            </a:pPr>
            <a:r>
              <a:rPr lang="en-US" altLang="zh-CN" sz="1400" b="0" dirty="0" err="1">
                <a:solidFill>
                  <a:srgbClr val="000000"/>
                </a:solidFill>
                <a:latin typeface="Cambria Math" panose="02040503050406030204" pitchFamily="18" charset="0"/>
                <a:ea typeface="Cambria Math" panose="02040503050406030204" pitchFamily="18" charset="0"/>
                <a:cs typeface="Huawei Sans"/>
              </a:rPr>
              <a:t>SQLFreeHandle</a:t>
            </a:r>
            <a:r>
              <a:rPr lang="en-US" altLang="zh-CN" sz="1400" b="0" dirty="0">
                <a:solidFill>
                  <a:srgbClr val="000000"/>
                </a:solidFill>
                <a:latin typeface="Cambria Math" panose="02040503050406030204" pitchFamily="18" charset="0"/>
                <a:ea typeface="Cambria Math" panose="02040503050406030204" pitchFamily="18" charset="0"/>
                <a:cs typeface="Huawei Sans"/>
              </a:rPr>
              <a:t>(SQL_HANDLE_ENV, </a:t>
            </a:r>
            <a:r>
              <a:rPr lang="en-US" altLang="zh-CN" sz="1400" b="0" dirty="0" err="1">
                <a:solidFill>
                  <a:srgbClr val="000000"/>
                </a:solidFill>
                <a:latin typeface="Cambria Math" panose="02040503050406030204" pitchFamily="18" charset="0"/>
                <a:ea typeface="Cambria Math" panose="02040503050406030204" pitchFamily="18" charset="0"/>
                <a:cs typeface="Huawei Sans"/>
              </a:rPr>
              <a:t>henv</a:t>
            </a:r>
            <a:r>
              <a:rPr lang="en-US" altLang="zh-CN" sz="1400" b="0" dirty="0">
                <a:solidFill>
                  <a:srgbClr val="000000"/>
                </a:solidFill>
                <a:latin typeface="Cambria Math" panose="02040503050406030204" pitchFamily="18" charset="0"/>
                <a:ea typeface="Cambria Math" panose="02040503050406030204" pitchFamily="18" charset="0"/>
                <a:cs typeface="Huawei Sans"/>
              </a:rPr>
              <a:t>);    </a:t>
            </a:r>
            <a:r>
              <a:rPr lang="en-US" altLang="zh-CN" sz="1400" b="0" dirty="0">
                <a:solidFill>
                  <a:srgbClr val="007400"/>
                </a:solidFill>
                <a:latin typeface="Cambria Math" panose="02040503050406030204" pitchFamily="18" charset="0"/>
                <a:ea typeface="Cambria Math" panose="02040503050406030204" pitchFamily="18" charset="0"/>
                <a:cs typeface="Huawei Sans"/>
              </a:rPr>
              <a:t>//</a:t>
            </a:r>
            <a:r>
              <a:rPr lang="zh-CN" altLang="zh-CN" sz="1400" b="0" dirty="0">
                <a:solidFill>
                  <a:srgbClr val="007400"/>
                </a:solidFill>
                <a:latin typeface="Cambria Math" panose="02040503050406030204" pitchFamily="18" charset="0"/>
                <a:ea typeface="Huawei Sans"/>
                <a:cs typeface="Huawei Sans"/>
              </a:rPr>
              <a:t>释放环境句柄</a:t>
            </a:r>
            <a:endParaRPr kumimoji="1" lang="zh-CN" altLang="en-US" sz="1400" b="0" dirty="0">
              <a:latin typeface="Cambria Math" panose="02040503050406030204" pitchFamily="18"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dirty="0">
                <a:latin typeface="Times New Roman" panose="02020603050405020304" pitchFamily="18" charset="0"/>
                <a:cs typeface="Times New Roman" panose="02020603050405020304" pitchFamily="18" charset="0"/>
              </a:rPr>
              <a:t>以</a:t>
            </a:r>
            <a:r>
              <a:rPr lang="en-US" altLang="zh-CN" dirty="0" err="1">
                <a:latin typeface="Times New Roman" panose="02020603050405020304" pitchFamily="18" charset="0"/>
                <a:cs typeface="Times New Roman" panose="02020603050405020304" pitchFamily="18" charset="0"/>
              </a:rPr>
              <a:t>openGauss</a:t>
            </a:r>
            <a:r>
              <a:rPr lang="zh-CN" altLang="en-US" dirty="0">
                <a:latin typeface="Times New Roman" panose="02020603050405020304" pitchFamily="18" charset="0"/>
                <a:cs typeface="Times New Roman" panose="02020603050405020304" pitchFamily="18" charset="0"/>
              </a:rPr>
              <a:t>数据库为例，介绍利用</a:t>
            </a:r>
            <a:r>
              <a:rPr lang="en-US" altLang="zh-CN" dirty="0">
                <a:latin typeface="Times New Roman" panose="02020603050405020304" pitchFamily="18" charset="0"/>
                <a:cs typeface="Times New Roman" panose="02020603050405020304" pitchFamily="18" charset="0"/>
              </a:rPr>
              <a:t>SQL</a:t>
            </a:r>
            <a:r>
              <a:rPr lang="zh-CN" altLang="en-US" dirty="0">
                <a:latin typeface="Times New Roman" panose="02020603050405020304" pitchFamily="18" charset="0"/>
                <a:cs typeface="Times New Roman" panose="02020603050405020304" pitchFamily="18" charset="0"/>
              </a:rPr>
              <a:t>进行数据库查询</a:t>
            </a:r>
            <a:endParaRPr lang="en-US" altLang="zh-CN" b="1" dirty="0">
              <a:latin typeface="Times New Roman" panose="02020603050405020304" pitchFamily="18" charset="0"/>
              <a:cs typeface="Times New Roman" panose="02020603050405020304" pitchFamily="18" charset="0"/>
            </a:endParaRPr>
          </a:p>
          <a:p>
            <a:pPr lvl="1">
              <a:lnSpc>
                <a:spcPct val="150000"/>
              </a:lnSpc>
            </a:pPr>
            <a:r>
              <a:rPr lang="zh-CN" altLang="en-US" b="0" dirty="0">
                <a:solidFill>
                  <a:srgbClr val="000000"/>
                </a:solidFill>
                <a:latin typeface="Times New Roman" panose="02020603050405020304" pitchFamily="18" charset="0"/>
                <a:cs typeface="Times New Roman" panose="02020603050405020304" pitchFamily="18" charset="0"/>
              </a:rPr>
              <a:t>连接数据库的客户端工具包括</a:t>
            </a:r>
            <a:r>
              <a:rPr lang="en-US" altLang="zh-CN" b="0" dirty="0" err="1">
                <a:solidFill>
                  <a:srgbClr val="000000"/>
                </a:solidFill>
                <a:latin typeface="Times New Roman" panose="02020603050405020304" pitchFamily="18" charset="0"/>
                <a:cs typeface="Times New Roman" panose="02020603050405020304" pitchFamily="18" charset="0"/>
              </a:rPr>
              <a:t>gsql</a:t>
            </a:r>
            <a:r>
              <a:rPr lang="zh-CN" altLang="en-US" b="0" dirty="0">
                <a:solidFill>
                  <a:srgbClr val="000000"/>
                </a:solidFill>
                <a:latin typeface="Times New Roman" panose="02020603050405020304" pitchFamily="18" charset="0"/>
                <a:cs typeface="Times New Roman" panose="02020603050405020304" pitchFamily="18" charset="0"/>
              </a:rPr>
              <a:t> 、</a:t>
            </a:r>
            <a:r>
              <a:rPr lang="en-US" altLang="zh-CN" b="0" dirty="0">
                <a:solidFill>
                  <a:srgbClr val="000000"/>
                </a:solidFill>
                <a:latin typeface="Times New Roman" panose="02020603050405020304" pitchFamily="18" charset="0"/>
                <a:cs typeface="Times New Roman" panose="02020603050405020304" pitchFamily="18" charset="0"/>
              </a:rPr>
              <a:t>Data Studio </a:t>
            </a:r>
            <a:r>
              <a:rPr lang="zh-CN" altLang="en-US" b="0" dirty="0">
                <a:solidFill>
                  <a:srgbClr val="000000"/>
                </a:solidFill>
                <a:latin typeface="Times New Roman" panose="02020603050405020304" pitchFamily="18" charset="0"/>
                <a:cs typeface="Times New Roman" panose="02020603050405020304" pitchFamily="18" charset="0"/>
              </a:rPr>
              <a:t>、应用程序接口（如</a:t>
            </a:r>
            <a:r>
              <a:rPr lang="en-US" altLang="zh-CN" b="0" dirty="0">
                <a:solidFill>
                  <a:srgbClr val="000000"/>
                </a:solidFill>
                <a:latin typeface="Times New Roman" panose="02020603050405020304" pitchFamily="18" charset="0"/>
                <a:cs typeface="Times New Roman" panose="02020603050405020304" pitchFamily="18" charset="0"/>
              </a:rPr>
              <a:t>ODBC</a:t>
            </a:r>
            <a:r>
              <a:rPr lang="zh-CN" altLang="en-US" b="0" dirty="0">
                <a:solidFill>
                  <a:srgbClr val="000000"/>
                </a:solidFill>
                <a:latin typeface="Times New Roman" panose="02020603050405020304" pitchFamily="18" charset="0"/>
                <a:cs typeface="Times New Roman" panose="02020603050405020304" pitchFamily="18" charset="0"/>
              </a:rPr>
              <a:t>和</a:t>
            </a:r>
            <a:r>
              <a:rPr lang="en-US" altLang="zh-CN" b="0" dirty="0">
                <a:solidFill>
                  <a:srgbClr val="000000"/>
                </a:solidFill>
                <a:latin typeface="Times New Roman" panose="02020603050405020304" pitchFamily="18" charset="0"/>
                <a:cs typeface="Times New Roman" panose="02020603050405020304" pitchFamily="18" charset="0"/>
              </a:rPr>
              <a:t>JDBC</a:t>
            </a:r>
            <a:r>
              <a:rPr lang="zh-CN" altLang="en-US" b="0" dirty="0">
                <a:solidFill>
                  <a:srgbClr val="000000"/>
                </a:solidFill>
                <a:latin typeface="Times New Roman" panose="02020603050405020304" pitchFamily="18" charset="0"/>
                <a:cs typeface="Times New Roman" panose="02020603050405020304" pitchFamily="18" charset="0"/>
              </a:rPr>
              <a:t>）。</a:t>
            </a:r>
            <a:endParaRPr lang="en-US" altLang="zh-CN" b="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en-US" altLang="zh-CN" sz="2400" dirty="0" err="1">
                <a:solidFill>
                  <a:srgbClr val="000000"/>
                </a:solidFill>
                <a:latin typeface="Times New Roman" panose="02020603050405020304" pitchFamily="18" charset="0"/>
                <a:cs typeface="Times New Roman" panose="02020603050405020304" pitchFamily="18" charset="0"/>
              </a:rPr>
              <a:t>gsql</a:t>
            </a:r>
            <a:r>
              <a:rPr lang="zh-CN" altLang="en-US" sz="2400" dirty="0">
                <a:solidFill>
                  <a:srgbClr val="000000"/>
                </a:solidFill>
                <a:latin typeface="Times New Roman" panose="02020603050405020304" pitchFamily="18" charset="0"/>
                <a:cs typeface="Times New Roman" panose="02020603050405020304" pitchFamily="18" charset="0"/>
              </a:rPr>
              <a:t>是</a:t>
            </a:r>
            <a:r>
              <a:rPr lang="en-US" altLang="zh-CN" sz="2400" dirty="0" err="1">
                <a:solidFill>
                  <a:srgbClr val="000000"/>
                </a:solidFill>
                <a:latin typeface="Times New Roman" panose="02020603050405020304" pitchFamily="18" charset="0"/>
                <a:cs typeface="Times New Roman" panose="02020603050405020304" pitchFamily="18" charset="0"/>
              </a:rPr>
              <a:t>openGauss</a:t>
            </a:r>
            <a:r>
              <a:rPr lang="zh-CN" altLang="en-US" sz="2400" dirty="0">
                <a:solidFill>
                  <a:srgbClr val="000000"/>
                </a:solidFill>
                <a:latin typeface="Times New Roman" panose="02020603050405020304" pitchFamily="18" charset="0"/>
                <a:cs typeface="Times New Roman" panose="02020603050405020304" pitchFamily="18" charset="0"/>
              </a:rPr>
              <a:t>自带的客户端工具。使用</a:t>
            </a:r>
            <a:r>
              <a:rPr lang="en-US" altLang="zh-CN" sz="2400" dirty="0" err="1">
                <a:solidFill>
                  <a:srgbClr val="000000"/>
                </a:solidFill>
                <a:latin typeface="Times New Roman" panose="02020603050405020304" pitchFamily="18" charset="0"/>
                <a:cs typeface="Times New Roman" panose="02020603050405020304" pitchFamily="18" charset="0"/>
              </a:rPr>
              <a:t>gsql</a:t>
            </a:r>
            <a:r>
              <a:rPr lang="zh-CN" altLang="en-US" sz="2400" dirty="0">
                <a:solidFill>
                  <a:srgbClr val="000000"/>
                </a:solidFill>
                <a:latin typeface="Times New Roman" panose="02020603050405020304" pitchFamily="18" charset="0"/>
                <a:cs typeface="Times New Roman" panose="02020603050405020304" pitchFamily="18" charset="0"/>
              </a:rPr>
              <a:t>连接数据库，可以交互式地输入、编辑、执行</a:t>
            </a:r>
            <a:r>
              <a:rPr lang="en-US" altLang="zh-CN" sz="2400" dirty="0">
                <a:solidFill>
                  <a:srgbClr val="000000"/>
                </a:solidFill>
                <a:latin typeface="Times New Roman" panose="02020603050405020304" pitchFamily="18" charset="0"/>
                <a:cs typeface="Times New Roman" panose="02020603050405020304" pitchFamily="18" charset="0"/>
              </a:rPr>
              <a:t>SQL</a:t>
            </a:r>
            <a:r>
              <a:rPr lang="zh-CN" altLang="en-US" sz="2400" dirty="0">
                <a:solidFill>
                  <a:srgbClr val="000000"/>
                </a:solidFill>
                <a:latin typeface="Times New Roman" panose="02020603050405020304" pitchFamily="18" charset="0"/>
                <a:cs typeface="Times New Roman" panose="02020603050405020304" pitchFamily="18" charset="0"/>
              </a:rPr>
              <a:t>语句；</a:t>
            </a:r>
            <a:endParaRPr lang="en-US" altLang="zh-CN" sz="240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en-US" altLang="zh-CN" sz="2400" dirty="0">
                <a:solidFill>
                  <a:srgbClr val="000000"/>
                </a:solidFill>
                <a:latin typeface="Times New Roman" panose="02020603050405020304" pitchFamily="18" charset="0"/>
                <a:cs typeface="Times New Roman" panose="02020603050405020304" pitchFamily="18" charset="0"/>
              </a:rPr>
              <a:t>Data Studio</a:t>
            </a:r>
            <a:r>
              <a:rPr lang="zh-CN" altLang="en-US" sz="2400" dirty="0">
                <a:solidFill>
                  <a:srgbClr val="000000"/>
                </a:solidFill>
                <a:latin typeface="Times New Roman" panose="02020603050405020304" pitchFamily="18" charset="0"/>
                <a:cs typeface="Times New Roman" panose="02020603050405020304" pitchFamily="18" charset="0"/>
              </a:rPr>
              <a:t>是一个集成开发环境，帮助数据库开发人员便捷地构建应用程序，以图形化界面形式提供数据库关键特性；</a:t>
            </a:r>
            <a:endParaRPr lang="en-US" altLang="zh-CN" sz="240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solidFill>
                  <a:srgbClr val="000000"/>
                </a:solidFill>
                <a:latin typeface="Times New Roman" panose="02020603050405020304" pitchFamily="18" charset="0"/>
                <a:cs typeface="Times New Roman" panose="02020603050405020304" pitchFamily="18" charset="0"/>
              </a:rPr>
              <a:t>用户也可以使用标准的数据库应用程序接口（如</a:t>
            </a:r>
            <a:r>
              <a:rPr lang="en-US" altLang="zh-CN" sz="2400" dirty="0">
                <a:solidFill>
                  <a:srgbClr val="000000"/>
                </a:solidFill>
                <a:latin typeface="Times New Roman" panose="02020603050405020304" pitchFamily="18" charset="0"/>
                <a:cs typeface="Times New Roman" panose="02020603050405020304" pitchFamily="18" charset="0"/>
              </a:rPr>
              <a:t>ODBC</a:t>
            </a:r>
            <a:r>
              <a:rPr lang="zh-CN" altLang="en-US" sz="2400" dirty="0">
                <a:solidFill>
                  <a:srgbClr val="000000"/>
                </a:solidFill>
                <a:latin typeface="Times New Roman" panose="02020603050405020304" pitchFamily="18" charset="0"/>
                <a:cs typeface="Times New Roman" panose="02020603050405020304" pitchFamily="18" charset="0"/>
              </a:rPr>
              <a:t>和</a:t>
            </a:r>
            <a:r>
              <a:rPr lang="en-US" altLang="zh-CN" sz="2400" dirty="0">
                <a:solidFill>
                  <a:srgbClr val="000000"/>
                </a:solidFill>
                <a:latin typeface="Times New Roman" panose="02020603050405020304" pitchFamily="18" charset="0"/>
                <a:cs typeface="Times New Roman" panose="02020603050405020304" pitchFamily="18" charset="0"/>
              </a:rPr>
              <a:t>JDBC</a:t>
            </a:r>
            <a:r>
              <a:rPr lang="zh-CN" altLang="en-US" sz="2400" dirty="0">
                <a:solidFill>
                  <a:srgbClr val="000000"/>
                </a:solidFill>
                <a:latin typeface="Times New Roman" panose="02020603050405020304" pitchFamily="18" charset="0"/>
                <a:cs typeface="Times New Roman" panose="02020603050405020304" pitchFamily="18" charset="0"/>
              </a:rPr>
              <a:t>），开发基于</a:t>
            </a:r>
            <a:r>
              <a:rPr lang="en-US" altLang="zh-CN" sz="2400" dirty="0" err="1">
                <a:solidFill>
                  <a:srgbClr val="000000"/>
                </a:solidFill>
                <a:latin typeface="Times New Roman" panose="02020603050405020304" pitchFamily="18" charset="0"/>
                <a:cs typeface="Times New Roman" panose="02020603050405020304" pitchFamily="18" charset="0"/>
              </a:rPr>
              <a:t>openGauss</a:t>
            </a:r>
            <a:r>
              <a:rPr lang="zh-CN" altLang="en-US" sz="2400" dirty="0">
                <a:solidFill>
                  <a:srgbClr val="000000"/>
                </a:solidFill>
                <a:latin typeface="Times New Roman" panose="02020603050405020304" pitchFamily="18" charset="0"/>
                <a:cs typeface="Times New Roman" panose="02020603050405020304" pitchFamily="18" charset="0"/>
              </a:rPr>
              <a:t>的应用程序。</a:t>
            </a:r>
            <a:endParaRPr lang="zh-CN" altLang="en-US" sz="240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1600" dirty="0">
              <a:latin typeface="Arial" panose="020B0604020202020204" pitchFamily="34"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dirty="0" err="1">
                <a:solidFill>
                  <a:srgbClr val="000000"/>
                </a:solidFill>
                <a:latin typeface="Times New Roman" panose="02020603050405020304" pitchFamily="18" charset="0"/>
                <a:cs typeface="Times New Roman" panose="02020603050405020304" pitchFamily="18" charset="0"/>
              </a:rPr>
              <a:t>gsql</a:t>
            </a:r>
            <a:endParaRPr lang="en-US" altLang="zh-CN" b="1" dirty="0">
              <a:latin typeface="Times New Roman" panose="02020603050405020304" pitchFamily="18" charset="0"/>
              <a:cs typeface="Times New Roman" panose="02020603050405020304" pitchFamily="18" charset="0"/>
            </a:endParaRPr>
          </a:p>
          <a:p>
            <a:pPr lvl="1">
              <a:lnSpc>
                <a:spcPct val="150000"/>
              </a:lnSpc>
            </a:pPr>
            <a:r>
              <a:rPr lang="en-US" altLang="zh-CN" b="0" dirty="0" err="1">
                <a:solidFill>
                  <a:srgbClr val="000000"/>
                </a:solidFill>
                <a:latin typeface="Times New Roman" panose="02020603050405020304" pitchFamily="18" charset="0"/>
                <a:cs typeface="Times New Roman" panose="02020603050405020304" pitchFamily="18" charset="0"/>
              </a:rPr>
              <a:t>gsql</a:t>
            </a:r>
            <a:r>
              <a:rPr lang="zh-CN" altLang="zh-CN" b="0" dirty="0">
                <a:solidFill>
                  <a:srgbClr val="000000"/>
                </a:solidFill>
                <a:latin typeface="Times New Roman" panose="02020603050405020304" pitchFamily="18" charset="0"/>
                <a:cs typeface="Times New Roman" panose="02020603050405020304" pitchFamily="18" charset="0"/>
              </a:rPr>
              <a:t>是</a:t>
            </a:r>
            <a:r>
              <a:rPr lang="en-US" altLang="zh-CN" b="0" dirty="0" err="1">
                <a:solidFill>
                  <a:srgbClr val="000000"/>
                </a:solidFill>
                <a:latin typeface="Times New Roman" panose="02020603050405020304" pitchFamily="18" charset="0"/>
                <a:cs typeface="Times New Roman" panose="02020603050405020304" pitchFamily="18" charset="0"/>
              </a:rPr>
              <a:t>openGauss</a:t>
            </a:r>
            <a:r>
              <a:rPr lang="zh-CN" altLang="zh-CN" b="0" dirty="0">
                <a:solidFill>
                  <a:srgbClr val="000000"/>
                </a:solidFill>
                <a:latin typeface="Times New Roman" panose="02020603050405020304" pitchFamily="18" charset="0"/>
                <a:cs typeface="Times New Roman" panose="02020603050405020304" pitchFamily="18" charset="0"/>
              </a:rPr>
              <a:t>提供的在命令行下运行的数据库连接工具。此工具除了具备操作数据库的基本功能，还提供了若干高级特性，便于用户使用。</a:t>
            </a:r>
            <a:endParaRPr lang="en-US" altLang="zh-CN" dirty="0">
              <a:solidFill>
                <a:srgbClr val="000000"/>
              </a:solidFill>
              <a:latin typeface="Times New Roman" panose="02020603050405020304" pitchFamily="18" charset="0"/>
              <a:cs typeface="Times New Roman" panose="02020603050405020304" pitchFamily="18" charset="0"/>
            </a:endParaRPr>
          </a:p>
          <a:p>
            <a:pPr lvl="1">
              <a:lnSpc>
                <a:spcPct val="150000"/>
              </a:lnSpc>
            </a:pPr>
            <a:r>
              <a:rPr lang="zh-CN" altLang="en-US" b="0" dirty="0">
                <a:solidFill>
                  <a:srgbClr val="000000"/>
                </a:solidFill>
                <a:latin typeface="Times New Roman" panose="02020603050405020304" pitchFamily="18" charset="0"/>
                <a:cs typeface="Times New Roman" panose="02020603050405020304" pitchFamily="18" charset="0"/>
              </a:rPr>
              <a:t>使用</a:t>
            </a:r>
            <a:r>
              <a:rPr lang="en-US" altLang="zh-CN" b="0" dirty="0" err="1">
                <a:solidFill>
                  <a:srgbClr val="000000"/>
                </a:solidFill>
                <a:latin typeface="Times New Roman" panose="02020603050405020304" pitchFamily="18" charset="0"/>
                <a:cs typeface="Times New Roman" panose="02020603050405020304" pitchFamily="18" charset="0"/>
              </a:rPr>
              <a:t>gsql</a:t>
            </a:r>
            <a:r>
              <a:rPr lang="zh-CN" altLang="en-US" b="0" dirty="0">
                <a:solidFill>
                  <a:srgbClr val="000000"/>
                </a:solidFill>
                <a:latin typeface="Times New Roman" panose="02020603050405020304" pitchFamily="18" charset="0"/>
                <a:cs typeface="Times New Roman" panose="02020603050405020304" pitchFamily="18" charset="0"/>
              </a:rPr>
              <a:t>连接数据库分为以下两类，具体连接数据库步骤见</a:t>
            </a:r>
            <a:r>
              <a:rPr lang="en-US" altLang="zh-CN" b="0" dirty="0" err="1">
                <a:solidFill>
                  <a:srgbClr val="000000"/>
                </a:solidFill>
                <a:latin typeface="Times New Roman" panose="02020603050405020304" pitchFamily="18" charset="0"/>
                <a:cs typeface="Times New Roman" panose="02020603050405020304" pitchFamily="18" charset="0"/>
              </a:rPr>
              <a:t>openGauss</a:t>
            </a:r>
            <a:r>
              <a:rPr lang="zh-CN" altLang="en-US" b="0" dirty="0">
                <a:solidFill>
                  <a:srgbClr val="000000"/>
                </a:solidFill>
                <a:latin typeface="Times New Roman" panose="02020603050405020304" pitchFamily="18" charset="0"/>
                <a:cs typeface="Times New Roman" panose="02020603050405020304" pitchFamily="18" charset="0"/>
              </a:rPr>
              <a:t>数据库开发调试工具实验手册：</a:t>
            </a:r>
            <a:endParaRPr lang="en-US" altLang="zh-CN"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solidFill>
                  <a:srgbClr val="000000"/>
                </a:solidFill>
                <a:latin typeface="Times New Roman" panose="02020603050405020304" pitchFamily="18" charset="0"/>
                <a:cs typeface="Times New Roman" panose="02020603050405020304" pitchFamily="18" charset="0"/>
              </a:rPr>
              <a:t>使用</a:t>
            </a:r>
            <a:r>
              <a:rPr lang="en-US" altLang="zh-CN" sz="2400" dirty="0" err="1">
                <a:solidFill>
                  <a:srgbClr val="000000"/>
                </a:solidFill>
                <a:latin typeface="Times New Roman" panose="02020603050405020304" pitchFamily="18" charset="0"/>
                <a:cs typeface="Times New Roman" panose="02020603050405020304" pitchFamily="18" charset="0"/>
              </a:rPr>
              <a:t>gsql</a:t>
            </a:r>
            <a:r>
              <a:rPr lang="zh-CN" altLang="en-US" sz="2400" dirty="0">
                <a:solidFill>
                  <a:srgbClr val="000000"/>
                </a:solidFill>
                <a:latin typeface="Times New Roman" panose="02020603050405020304" pitchFamily="18" charset="0"/>
                <a:cs typeface="Times New Roman" panose="02020603050405020304" pitchFamily="18" charset="0"/>
              </a:rPr>
              <a:t>本地连接</a:t>
            </a:r>
            <a:endParaRPr lang="en-US" altLang="zh-CN" sz="240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solidFill>
                  <a:srgbClr val="000000"/>
                </a:solidFill>
                <a:latin typeface="Times New Roman" panose="02020603050405020304" pitchFamily="18" charset="0"/>
                <a:cs typeface="Times New Roman" panose="02020603050405020304" pitchFamily="18" charset="0"/>
              </a:rPr>
              <a:t>使用</a:t>
            </a:r>
            <a:r>
              <a:rPr lang="en-US" altLang="zh-CN" sz="2400" dirty="0" err="1">
                <a:solidFill>
                  <a:srgbClr val="000000"/>
                </a:solidFill>
                <a:latin typeface="Times New Roman" panose="02020603050405020304" pitchFamily="18" charset="0"/>
                <a:cs typeface="Times New Roman" panose="02020603050405020304" pitchFamily="18" charset="0"/>
              </a:rPr>
              <a:t>gsql</a:t>
            </a:r>
            <a:r>
              <a:rPr lang="zh-CN" altLang="en-US" sz="2400" dirty="0">
                <a:solidFill>
                  <a:srgbClr val="000000"/>
                </a:solidFill>
                <a:latin typeface="Times New Roman" panose="02020603050405020304" pitchFamily="18" charset="0"/>
                <a:cs typeface="Times New Roman" panose="02020603050405020304" pitchFamily="18" charset="0"/>
              </a:rPr>
              <a:t>远程连接</a:t>
            </a:r>
            <a:endParaRPr lang="zh-CN" altLang="en-US" sz="240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1600" dirty="0">
              <a:latin typeface="Arial" panose="020B0604020202020204" pitchFamily="34"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lnSpcReduction="10000"/>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常用语法（</a:t>
            </a:r>
            <a:r>
              <a:rPr lang="en-US" altLang="zh-CN" sz="2600" b="1" dirty="0">
                <a:solidFill>
                  <a:srgbClr val="000000"/>
                </a:solidFill>
                <a:latin typeface="Times New Roman" panose="02020603050405020304" pitchFamily="18" charset="0"/>
                <a:cs typeface="Times New Roman" panose="02020603050405020304" pitchFamily="18" charset="0"/>
              </a:rPr>
              <a:t>1</a:t>
            </a:r>
            <a:r>
              <a:rPr lang="zh-CN" altLang="en-US" sz="2600" b="1" dirty="0">
                <a:solidFill>
                  <a:srgbClr val="000000"/>
                </a:solidFill>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lvl="1">
              <a:lnSpc>
                <a:spcPct val="150000"/>
              </a:lnSpc>
            </a:pPr>
            <a:r>
              <a:rPr lang="zh-CN" altLang="en-US" b="0" dirty="0">
                <a:solidFill>
                  <a:srgbClr val="000000"/>
                </a:solidFill>
                <a:latin typeface="Times New Roman" panose="02020603050405020304" pitchFamily="18" charset="0"/>
                <a:cs typeface="Times New Roman" panose="02020603050405020304" pitchFamily="18" charset="0"/>
              </a:rPr>
              <a:t>执行</a:t>
            </a:r>
            <a:r>
              <a:rPr lang="en-US" altLang="zh-CN" b="0" dirty="0">
                <a:solidFill>
                  <a:srgbClr val="000000"/>
                </a:solidFill>
                <a:latin typeface="Times New Roman" panose="02020603050405020304" pitchFamily="18" charset="0"/>
                <a:cs typeface="Times New Roman" panose="02020603050405020304" pitchFamily="18" charset="0"/>
              </a:rPr>
              <a:t>SQL</a:t>
            </a:r>
            <a:r>
              <a:rPr lang="zh-CN" altLang="en-US" b="0" dirty="0">
                <a:solidFill>
                  <a:srgbClr val="000000"/>
                </a:solidFill>
                <a:latin typeface="Times New Roman" panose="02020603050405020304" pitchFamily="18" charset="0"/>
                <a:cs typeface="Times New Roman" panose="02020603050405020304" pitchFamily="18" charset="0"/>
              </a:rPr>
              <a:t>语句：支持交互式地键入并执行</a:t>
            </a:r>
            <a:r>
              <a:rPr lang="en-US" altLang="zh-CN" b="0" dirty="0">
                <a:solidFill>
                  <a:srgbClr val="000000"/>
                </a:solidFill>
                <a:latin typeface="Times New Roman" panose="02020603050405020304" pitchFamily="18" charset="0"/>
                <a:cs typeface="Times New Roman" panose="02020603050405020304" pitchFamily="18" charset="0"/>
              </a:rPr>
              <a:t>SQL</a:t>
            </a:r>
            <a:r>
              <a:rPr lang="zh-CN" altLang="en-US" b="0" dirty="0">
                <a:solidFill>
                  <a:srgbClr val="000000"/>
                </a:solidFill>
                <a:latin typeface="Times New Roman" panose="02020603050405020304" pitchFamily="18" charset="0"/>
                <a:cs typeface="Times New Roman" panose="02020603050405020304" pitchFamily="18" charset="0"/>
              </a:rPr>
              <a:t>语句，也可以执行一个文件中指定的</a:t>
            </a:r>
            <a:r>
              <a:rPr lang="en-US" altLang="zh-CN" b="0" dirty="0">
                <a:solidFill>
                  <a:srgbClr val="000000"/>
                </a:solidFill>
                <a:latin typeface="Times New Roman" panose="02020603050405020304" pitchFamily="18" charset="0"/>
                <a:cs typeface="Times New Roman" panose="02020603050405020304" pitchFamily="18" charset="0"/>
              </a:rPr>
              <a:t>SQL</a:t>
            </a:r>
            <a:r>
              <a:rPr lang="zh-CN" altLang="en-US" b="0" dirty="0">
                <a:solidFill>
                  <a:srgbClr val="000000"/>
                </a:solidFill>
                <a:latin typeface="Times New Roman" panose="02020603050405020304" pitchFamily="18" charset="0"/>
                <a:cs typeface="Times New Roman" panose="02020603050405020304" pitchFamily="18" charset="0"/>
              </a:rPr>
              <a:t>语句。</a:t>
            </a:r>
            <a:endParaRPr lang="en-US" altLang="zh-CN" b="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solidFill>
                  <a:srgbClr val="000000"/>
                </a:solidFill>
                <a:latin typeface="Times New Roman" panose="02020603050405020304" pitchFamily="18" charset="0"/>
                <a:cs typeface="Times New Roman" panose="02020603050405020304" pitchFamily="18" charset="0"/>
              </a:rPr>
              <a:t>以创建数据库</a:t>
            </a:r>
            <a:r>
              <a:rPr lang="en-US" altLang="zh-CN" sz="2400" dirty="0" err="1">
                <a:solidFill>
                  <a:srgbClr val="000000"/>
                </a:solidFill>
                <a:latin typeface="Times New Roman" panose="02020603050405020304" pitchFamily="18" charset="0"/>
                <a:cs typeface="Times New Roman" panose="02020603050405020304" pitchFamily="18" charset="0"/>
              </a:rPr>
              <a:t>human_staff</a:t>
            </a:r>
            <a:r>
              <a:rPr lang="zh-CN" altLang="en-US" sz="2400" dirty="0">
                <a:solidFill>
                  <a:srgbClr val="000000"/>
                </a:solidFill>
                <a:latin typeface="Times New Roman" panose="02020603050405020304" pitchFamily="18" charset="0"/>
                <a:cs typeface="Times New Roman" panose="02020603050405020304" pitchFamily="18" charset="0"/>
              </a:rPr>
              <a:t>为例。</a:t>
            </a:r>
            <a:endParaRPr lang="en-US" altLang="zh-CN" sz="2400" dirty="0">
              <a:solidFill>
                <a:srgbClr val="000000"/>
              </a:solidFill>
              <a:latin typeface="Times New Roman" panose="02020603050405020304" pitchFamily="18" charset="0"/>
              <a:cs typeface="Times New Roman" panose="02020603050405020304" pitchFamily="18" charset="0"/>
            </a:endParaRPr>
          </a:p>
          <a:p>
            <a:pPr lvl="2">
              <a:lnSpc>
                <a:spcPct val="150000"/>
              </a:lnSpc>
            </a:pPr>
            <a:endParaRPr lang="en-US" altLang="zh-CN" sz="2400" dirty="0">
              <a:solidFill>
                <a:srgbClr val="000000"/>
              </a:solidFill>
              <a:latin typeface="Times New Roman" panose="02020603050405020304" pitchFamily="18" charset="0"/>
              <a:cs typeface="Times New Roman" panose="02020603050405020304" pitchFamily="18" charset="0"/>
            </a:endParaRPr>
          </a:p>
          <a:p>
            <a:pPr marL="914400" lvl="2" indent="0">
              <a:lnSpc>
                <a:spcPct val="150000"/>
              </a:lnSpc>
              <a:buNone/>
            </a:pPr>
            <a:endParaRPr lang="en-US" altLang="zh-CN" sz="2400" dirty="0">
              <a:solidFill>
                <a:srgbClr val="000000"/>
              </a:solidFill>
              <a:latin typeface="Times New Roman" panose="02020603050405020304" pitchFamily="18" charset="0"/>
              <a:cs typeface="Times New Roman" panose="02020603050405020304" pitchFamily="18" charset="0"/>
            </a:endParaRPr>
          </a:p>
          <a:p>
            <a:pPr lvl="2">
              <a:lnSpc>
                <a:spcPct val="150000"/>
              </a:lnSpc>
            </a:pPr>
            <a:r>
              <a:rPr lang="zh-CN" altLang="en-US" sz="2400" dirty="0">
                <a:solidFill>
                  <a:srgbClr val="000000"/>
                </a:solidFill>
                <a:latin typeface="Times New Roman" panose="02020603050405020304" pitchFamily="18" charset="0"/>
                <a:cs typeface="Times New Roman" panose="02020603050405020304" pitchFamily="18" charset="0"/>
              </a:rPr>
              <a:t>通常，输入的命令行在遇到分号的时候结束。如果输入的命令行没有错误，结果就会输出到屏幕上</a:t>
            </a:r>
            <a:r>
              <a:rPr lang="zh-CN" altLang="en-US" sz="1900" dirty="0">
                <a:solidFill>
                  <a:srgbClr val="000000"/>
                </a:solidFill>
                <a:latin typeface="Huawei Sans"/>
                <a:ea typeface="方正兰亭黑简体"/>
                <a:cs typeface="Huawei Sans"/>
              </a:rPr>
              <a:t>。</a:t>
            </a:r>
            <a:endParaRPr lang="zh-CN" altLang="en-US" sz="1900" dirty="0">
              <a:solidFill>
                <a:srgbClr val="000000"/>
              </a:solidFill>
              <a:latin typeface="Huawei Sans"/>
              <a:ea typeface="方正兰亭黑简体"/>
              <a:cs typeface="Huawei Sans"/>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601788" y="4230713"/>
            <a:ext cx="7099300" cy="684213"/>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CREATE DATABASE </a:t>
            </a:r>
            <a:r>
              <a:rPr lang="en-US" altLang="zh-CN" b="0" kern="0" dirty="0" err="1">
                <a:solidFill>
                  <a:prstClr val="black"/>
                </a:solidFill>
                <a:latin typeface="Cambria Math" panose="02040503050406030204" pitchFamily="18" charset="0"/>
                <a:ea typeface="Cambria Math" panose="02040503050406030204" pitchFamily="18" charset="0"/>
              </a:rPr>
              <a:t>human_staff</a:t>
            </a: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CREATE DATABASE</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常用语法（</a:t>
            </a:r>
            <a:r>
              <a:rPr lang="en-US" altLang="zh-CN" sz="2600" b="1" dirty="0">
                <a:solidFill>
                  <a:srgbClr val="000000"/>
                </a:solidFill>
                <a:latin typeface="Times New Roman" panose="02020603050405020304" pitchFamily="18" charset="0"/>
                <a:cs typeface="Times New Roman" panose="02020603050405020304" pitchFamily="18" charset="0"/>
              </a:rPr>
              <a:t>2</a:t>
            </a:r>
            <a:r>
              <a:rPr lang="zh-CN" altLang="en-US" sz="2600" b="1" dirty="0">
                <a:solidFill>
                  <a:srgbClr val="000000"/>
                </a:solidFill>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lvl="1"/>
            <a:r>
              <a:rPr lang="zh-CN" altLang="en-US" b="0" dirty="0">
                <a:solidFill>
                  <a:srgbClr val="000000"/>
                </a:solidFill>
                <a:latin typeface="Times New Roman" panose="02020603050405020304" pitchFamily="18" charset="0"/>
                <a:cs typeface="Times New Roman" panose="02020603050405020304" pitchFamily="18" charset="0"/>
              </a:rPr>
              <a:t>执行</a:t>
            </a:r>
            <a:r>
              <a:rPr lang="en-US" altLang="zh-CN" b="0" dirty="0" err="1">
                <a:solidFill>
                  <a:srgbClr val="000000"/>
                </a:solidFill>
                <a:latin typeface="Times New Roman" panose="02020603050405020304" pitchFamily="18" charset="0"/>
                <a:cs typeface="Times New Roman" panose="02020603050405020304" pitchFamily="18" charset="0"/>
              </a:rPr>
              <a:t>gsql</a:t>
            </a:r>
            <a:r>
              <a:rPr lang="zh-CN" altLang="en-US" b="0" dirty="0">
                <a:solidFill>
                  <a:srgbClr val="000000"/>
                </a:solidFill>
                <a:latin typeface="Times New Roman" panose="02020603050405020304" pitchFamily="18" charset="0"/>
                <a:cs typeface="Times New Roman" panose="02020603050405020304" pitchFamily="18" charset="0"/>
              </a:rPr>
              <a:t>元命令：元命令可以帮助管理员查看数据库对象的信息、查询缓存区信息、格式化</a:t>
            </a:r>
            <a:r>
              <a:rPr lang="en-US" altLang="zh-CN" b="0" dirty="0">
                <a:solidFill>
                  <a:srgbClr val="000000"/>
                </a:solidFill>
                <a:latin typeface="Times New Roman" panose="02020603050405020304" pitchFamily="18" charset="0"/>
                <a:cs typeface="Times New Roman" panose="02020603050405020304" pitchFamily="18" charset="0"/>
              </a:rPr>
              <a:t>SQL</a:t>
            </a:r>
            <a:r>
              <a:rPr lang="zh-CN" altLang="en-US" b="0" dirty="0">
                <a:solidFill>
                  <a:srgbClr val="000000"/>
                </a:solidFill>
                <a:latin typeface="Times New Roman" panose="02020603050405020304" pitchFamily="18" charset="0"/>
                <a:cs typeface="Times New Roman" panose="02020603050405020304" pitchFamily="18" charset="0"/>
              </a:rPr>
              <a:t>输出结果，以及连接到新的数据库等。</a:t>
            </a:r>
            <a:endParaRPr lang="en-US" altLang="zh-CN" b="0" dirty="0">
              <a:solidFill>
                <a:srgbClr val="000000"/>
              </a:solidFill>
              <a:latin typeface="Times New Roman" panose="02020603050405020304" pitchFamily="18" charset="0"/>
              <a:cs typeface="Times New Roman" panose="02020603050405020304" pitchFamily="18" charset="0"/>
            </a:endParaRPr>
          </a:p>
          <a:p>
            <a:pPr lvl="2"/>
            <a:r>
              <a:rPr lang="zh-CN" altLang="en-US" sz="2400" dirty="0">
                <a:solidFill>
                  <a:srgbClr val="000000"/>
                </a:solidFill>
                <a:latin typeface="Times New Roman" panose="02020603050405020304" pitchFamily="18" charset="0"/>
                <a:cs typeface="Times New Roman" panose="02020603050405020304" pitchFamily="18" charset="0"/>
              </a:rPr>
              <a:t>以列出</a:t>
            </a:r>
            <a:r>
              <a:rPr lang="en-US" altLang="zh-CN" sz="2400" dirty="0" err="1">
                <a:solidFill>
                  <a:srgbClr val="000000"/>
                </a:solidFill>
                <a:latin typeface="Times New Roman" panose="02020603050405020304" pitchFamily="18" charset="0"/>
                <a:cs typeface="Times New Roman" panose="02020603050405020304" pitchFamily="18" charset="0"/>
              </a:rPr>
              <a:t>openGauss</a:t>
            </a:r>
            <a:r>
              <a:rPr lang="zh-CN" altLang="en-US" sz="2400" dirty="0">
                <a:solidFill>
                  <a:srgbClr val="000000"/>
                </a:solidFill>
                <a:latin typeface="Times New Roman" panose="02020603050405020304" pitchFamily="18" charset="0"/>
                <a:cs typeface="Times New Roman" panose="02020603050405020304" pitchFamily="18" charset="0"/>
              </a:rPr>
              <a:t>中所有的数据库和描述信息为例。</a:t>
            </a:r>
            <a:endParaRPr lang="en-US" altLang="zh-CN" sz="240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7" name="文本框 6"/>
          <p:cNvSpPr txBox="1"/>
          <p:nvPr/>
        </p:nvSpPr>
        <p:spPr bwMode="auto">
          <a:xfrm>
            <a:off x="2702859" y="3993633"/>
            <a:ext cx="7040563" cy="277653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\l</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List of databases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Name            |  Owner  | Encoding  | Collate | </a:t>
            </a:r>
            <a:r>
              <a:rPr lang="en-US" altLang="zh-CN" b="0" kern="0" dirty="0" err="1">
                <a:solidFill>
                  <a:prstClr val="black"/>
                </a:solidFill>
                <a:latin typeface="Cambria Math" panose="02040503050406030204" pitchFamily="18" charset="0"/>
                <a:ea typeface="Cambria Math" panose="02040503050406030204" pitchFamily="18" charset="0"/>
              </a:rPr>
              <a:t>Ctype</a:t>
            </a:r>
            <a:r>
              <a:rPr lang="en-US" altLang="zh-CN" b="0" kern="0" dirty="0">
                <a:solidFill>
                  <a:prstClr val="black"/>
                </a:solidFill>
                <a:latin typeface="Cambria Math" panose="02040503050406030204" pitchFamily="18" charset="0"/>
                <a:ea typeface="Cambria Math" panose="02040503050406030204" pitchFamily="18" charset="0"/>
              </a:rPr>
              <a:t> |   Access privileges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human_resource</a:t>
            </a:r>
            <a:r>
              <a:rPr lang="en-US" altLang="zh-CN" b="0" kern="0" dirty="0">
                <a:solidFill>
                  <a:prstClr val="black"/>
                </a:solidFill>
                <a:latin typeface="Cambria Math" panose="02040503050406030204" pitchFamily="18" charset="0"/>
                <a:ea typeface="Cambria Math" panose="02040503050406030204" pitchFamily="18" charset="0"/>
              </a:rPr>
              <a:t> |   </a:t>
            </a: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   | SQL_ASCII |  C       |  C     |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   </a:t>
            </a: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   | SQL_ASCII |  C       |  C     |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human_staff</a:t>
            </a:r>
            <a:r>
              <a:rPr lang="en-US" altLang="zh-CN" b="0" kern="0" dirty="0">
                <a:solidFill>
                  <a:prstClr val="black"/>
                </a:solidFill>
                <a:latin typeface="Cambria Math" panose="02040503050406030204" pitchFamily="18" charset="0"/>
                <a:ea typeface="Cambria Math" panose="02040503050406030204" pitchFamily="18" charset="0"/>
              </a:rPr>
              <a:t>       |   </a:t>
            </a: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   | SQL_ASCII |  C       |  C     |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(3 rows) </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常见用法示例 </a:t>
            </a:r>
            <a:r>
              <a:rPr lang="en-US" altLang="zh-CN" sz="2600" b="1" dirty="0">
                <a:solidFill>
                  <a:srgbClr val="000000"/>
                </a:solidFill>
                <a:latin typeface="Times New Roman" panose="02020603050405020304" pitchFamily="18" charset="0"/>
                <a:cs typeface="Times New Roman" panose="02020603050405020304" pitchFamily="18" charset="0"/>
              </a:rPr>
              <a:t>(1)</a:t>
            </a:r>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b="0" dirty="0">
                <a:solidFill>
                  <a:srgbClr val="000000"/>
                </a:solidFill>
                <a:latin typeface="Times New Roman" panose="02020603050405020304" pitchFamily="18" charset="0"/>
                <a:cs typeface="Times New Roman" panose="02020603050405020304" pitchFamily="18" charset="0"/>
              </a:rPr>
              <a:t>以把一个查询分成多行输入为例。注意提示符的变化：</a:t>
            </a: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b="0" dirty="0">
                <a:solidFill>
                  <a:srgbClr val="000000"/>
                </a:solidFill>
                <a:latin typeface="Times New Roman" panose="02020603050405020304" pitchFamily="18" charset="0"/>
                <a:cs typeface="Times New Roman" panose="02020603050405020304" pitchFamily="18" charset="0"/>
              </a:rPr>
              <a:t>查看表的定义：</a:t>
            </a: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212850" y="3127377"/>
            <a:ext cx="7018337" cy="1320800"/>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CREATE TABLE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area_ID</a:t>
            </a:r>
            <a:r>
              <a:rPr lang="en-US" altLang="zh-CN" b="0" kern="0" dirty="0">
                <a:solidFill>
                  <a:prstClr val="black"/>
                </a:solidFill>
                <a:latin typeface="Cambria Math" panose="02040503050406030204" pitchFamily="18" charset="0"/>
                <a:ea typeface="Cambria Math" panose="02040503050406030204" pitchFamily="18" charset="0"/>
              </a:rPr>
              <a:t>   NUMBER,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area_NAME</a:t>
            </a:r>
            <a:r>
              <a:rPr lang="en-US" altLang="zh-CN" b="0" kern="0" dirty="0">
                <a:solidFill>
                  <a:prstClr val="black"/>
                </a:solidFill>
                <a:latin typeface="Cambria Math" panose="02040503050406030204" pitchFamily="18" charset="0"/>
                <a:ea typeface="Cambria Math" panose="02040503050406030204" pitchFamily="18" charset="0"/>
              </a:rPr>
              <a:t> VARCHAR2(25)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tablespace</a:t>
            </a:r>
            <a:r>
              <a:rPr lang="en-US" altLang="zh-CN" b="0" kern="0" dirty="0">
                <a:solidFill>
                  <a:prstClr val="black"/>
                </a:solidFill>
                <a:latin typeface="Cambria Math" panose="02040503050406030204" pitchFamily="18" charset="0"/>
                <a:ea typeface="Cambria Math" panose="02040503050406030204" pitchFamily="18" charset="0"/>
              </a:rPr>
              <a:t> EXAMPLE;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CREATE TABLE</a:t>
            </a:r>
            <a:endParaRPr lang="en-US" altLang="zh-CN" b="0" kern="0" dirty="0">
              <a:solidFill>
                <a:prstClr val="black"/>
              </a:solidFill>
              <a:latin typeface="Cambria Math" panose="02040503050406030204" pitchFamily="18" charset="0"/>
              <a:ea typeface="Cambria Math" panose="02040503050406030204" pitchFamily="18" charset="0"/>
            </a:endParaRPr>
          </a:p>
        </p:txBody>
      </p:sp>
      <p:sp>
        <p:nvSpPr>
          <p:cNvPr id="8" name="文本框 7"/>
          <p:cNvSpPr txBox="1"/>
          <p:nvPr/>
        </p:nvSpPr>
        <p:spPr bwMode="auto">
          <a:xfrm>
            <a:off x="1212850" y="5103067"/>
            <a:ext cx="7018338" cy="1566862"/>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\d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Table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Column     |             Type              | Modifiers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area_id</a:t>
            </a:r>
            <a:r>
              <a:rPr lang="en-US" altLang="zh-CN" b="0" kern="0" dirty="0">
                <a:solidFill>
                  <a:prstClr val="black"/>
                </a:solidFill>
                <a:latin typeface="Cambria Math" panose="02040503050406030204" pitchFamily="18" charset="0"/>
                <a:ea typeface="Cambria Math" panose="02040503050406030204" pitchFamily="18" charset="0"/>
              </a:rPr>
              <a:t>       | numeric                     | not null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area_name</a:t>
            </a:r>
            <a:r>
              <a:rPr lang="en-US" altLang="zh-CN" b="0" kern="0" dirty="0">
                <a:solidFill>
                  <a:prstClr val="black"/>
                </a:solidFill>
                <a:latin typeface="Cambria Math" panose="02040503050406030204" pitchFamily="18" charset="0"/>
                <a:ea typeface="Cambria Math" panose="02040503050406030204" pitchFamily="18" charset="0"/>
              </a:rPr>
              <a:t> | character varying(25) | </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常见用法示例 </a:t>
            </a:r>
            <a:r>
              <a:rPr lang="en-US" altLang="zh-CN" sz="2600" b="1" dirty="0">
                <a:solidFill>
                  <a:srgbClr val="000000"/>
                </a:solidFill>
                <a:latin typeface="Times New Roman" panose="02020603050405020304" pitchFamily="18" charset="0"/>
                <a:cs typeface="Times New Roman" panose="02020603050405020304" pitchFamily="18" charset="0"/>
              </a:rPr>
              <a:t>(2)</a:t>
            </a:r>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b="0" dirty="0">
                <a:solidFill>
                  <a:srgbClr val="000000"/>
                </a:solidFill>
                <a:latin typeface="Times New Roman" panose="02020603050405020304" pitchFamily="18" charset="0"/>
                <a:cs typeface="Times New Roman" panose="02020603050405020304" pitchFamily="18" charset="0"/>
              </a:rPr>
              <a:t>查看表：</a:t>
            </a: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7" name="文本框 6"/>
          <p:cNvSpPr txBox="1"/>
          <p:nvPr/>
        </p:nvSpPr>
        <p:spPr bwMode="auto">
          <a:xfrm>
            <a:off x="1052513" y="3231554"/>
            <a:ext cx="7405688" cy="240724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@[local]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=#SELECT * FROM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area_id</a:t>
            </a:r>
            <a:r>
              <a:rPr lang="en-US" altLang="zh-CN" b="0" kern="0" dirty="0">
                <a:solidFill>
                  <a:prstClr val="black"/>
                </a:solidFill>
                <a:latin typeface="Cambria Math" panose="02040503050406030204" pitchFamily="18" charset="0"/>
                <a:ea typeface="Cambria Math" panose="02040503050406030204" pitchFamily="18" charset="0"/>
              </a:rPr>
              <a:t> |       </a:t>
            </a:r>
            <a:r>
              <a:rPr lang="en-US" altLang="zh-CN" b="0" kern="0" dirty="0" err="1">
                <a:solidFill>
                  <a:prstClr val="black"/>
                </a:solidFill>
                <a:latin typeface="Cambria Math" panose="02040503050406030204" pitchFamily="18" charset="0"/>
                <a:ea typeface="Cambria Math" panose="02040503050406030204" pitchFamily="18" charset="0"/>
              </a:rPr>
              <a:t>area_name</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1 | Europe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4 | Middle East and Africa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2 | Americas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3 | Asia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(4 rows)</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200" b="1" dirty="0">
                <a:solidFill>
                  <a:srgbClr val="000000"/>
                </a:solidFill>
                <a:latin typeface="Times New Roman" panose="02020603050405020304" pitchFamily="18" charset="0"/>
                <a:cs typeface="Times New Roman" panose="02020603050405020304" pitchFamily="18" charset="0"/>
              </a:rPr>
              <a:t>常见用法示例 </a:t>
            </a:r>
            <a:r>
              <a:rPr lang="en-US" altLang="zh-CN" sz="2200" b="1" dirty="0">
                <a:solidFill>
                  <a:srgbClr val="000000"/>
                </a:solidFill>
                <a:latin typeface="Times New Roman" panose="02020603050405020304" pitchFamily="18" charset="0"/>
                <a:cs typeface="Times New Roman" panose="02020603050405020304" pitchFamily="18" charset="0"/>
              </a:rPr>
              <a:t>(3)</a:t>
            </a:r>
            <a:endParaRPr lang="en-US" altLang="zh-CN" sz="2200" b="0" dirty="0">
              <a:solidFill>
                <a:srgbClr val="000000"/>
              </a:solidFill>
              <a:latin typeface="Times New Roman" panose="02020603050405020304" pitchFamily="18" charset="0"/>
              <a:cs typeface="Times New Roman" panose="02020603050405020304" pitchFamily="18" charset="0"/>
            </a:endParaRPr>
          </a:p>
          <a:p>
            <a:pPr lvl="1"/>
            <a:r>
              <a:rPr lang="zh-CN" altLang="en-US" sz="2000" b="0" dirty="0">
                <a:solidFill>
                  <a:srgbClr val="000000"/>
                </a:solidFill>
                <a:latin typeface="Times New Roman" panose="02020603050405020304" pitchFamily="18" charset="0"/>
                <a:cs typeface="Times New Roman" panose="02020603050405020304" pitchFamily="18" charset="0"/>
              </a:rPr>
              <a:t>可以用</a:t>
            </a:r>
            <a:r>
              <a:rPr lang="en-US" altLang="zh-CN" sz="2000" b="0" dirty="0">
                <a:solidFill>
                  <a:srgbClr val="000000"/>
                </a:solidFill>
                <a:latin typeface="Times New Roman" panose="02020603050405020304" pitchFamily="18" charset="0"/>
                <a:cs typeface="Times New Roman" panose="02020603050405020304" pitchFamily="18" charset="0"/>
              </a:rPr>
              <a:t>\</a:t>
            </a:r>
            <a:r>
              <a:rPr lang="en-GB" altLang="zh-CN" sz="2000" b="0" dirty="0" err="1">
                <a:solidFill>
                  <a:srgbClr val="000000"/>
                </a:solidFill>
                <a:latin typeface="Times New Roman" panose="02020603050405020304" pitchFamily="18" charset="0"/>
                <a:cs typeface="Times New Roman" panose="02020603050405020304" pitchFamily="18" charset="0"/>
              </a:rPr>
              <a:t>pset</a:t>
            </a:r>
            <a:r>
              <a:rPr lang="zh-CN" altLang="en-US" sz="2000" b="0" dirty="0">
                <a:solidFill>
                  <a:srgbClr val="000000"/>
                </a:solidFill>
                <a:latin typeface="Times New Roman" panose="02020603050405020304" pitchFamily="18" charset="0"/>
                <a:cs typeface="Times New Roman" panose="02020603050405020304" pitchFamily="18" charset="0"/>
              </a:rPr>
              <a:t>命令以不同的方法显示表：</a:t>
            </a:r>
            <a:endParaRPr lang="zh-CN" altLang="en-US" sz="2000"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2822211" y="2857499"/>
            <a:ext cx="4030662" cy="3986213"/>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@[local]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a:t>
            </a:r>
            <a:r>
              <a:rPr lang="en-US" altLang="zh-CN" b="0" kern="0" dirty="0" err="1">
                <a:solidFill>
                  <a:prstClr val="black"/>
                </a:solidFill>
                <a:latin typeface="Cambria Math" panose="02040503050406030204" pitchFamily="18" charset="0"/>
                <a:ea typeface="Cambria Math" panose="02040503050406030204" pitchFamily="18" charset="0"/>
              </a:rPr>
              <a:t>pset</a:t>
            </a:r>
            <a:r>
              <a:rPr lang="en-US" altLang="zh-CN" b="0" kern="0" dirty="0">
                <a:solidFill>
                  <a:prstClr val="black"/>
                </a:solidFill>
                <a:latin typeface="Cambria Math" panose="02040503050406030204" pitchFamily="18" charset="0"/>
                <a:ea typeface="Cambria Math" panose="02040503050406030204" pitchFamily="18" charset="0"/>
              </a:rPr>
              <a:t> border 2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Border style is 2.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@[local]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=#SELECT * FROM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area_id</a:t>
            </a:r>
            <a:r>
              <a:rPr lang="en-US" altLang="zh-CN" b="0" kern="0" dirty="0">
                <a:solidFill>
                  <a:prstClr val="black"/>
                </a:solidFill>
                <a:latin typeface="Cambria Math" panose="02040503050406030204" pitchFamily="18" charset="0"/>
                <a:ea typeface="Cambria Math" panose="02040503050406030204" pitchFamily="18" charset="0"/>
              </a:rPr>
              <a:t> |       </a:t>
            </a:r>
            <a:r>
              <a:rPr lang="en-US" altLang="zh-CN" b="0" kern="0" dirty="0" err="1">
                <a:solidFill>
                  <a:prstClr val="black"/>
                </a:solidFill>
                <a:latin typeface="Cambria Math" panose="02040503050406030204" pitchFamily="18" charset="0"/>
                <a:ea typeface="Cambria Math" panose="02040503050406030204" pitchFamily="18" charset="0"/>
              </a:rPr>
              <a:t>area_name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1 | Europe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2 | Americas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3 | Asia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4 | Middle East and Africa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(4 rows)</a:t>
            </a:r>
            <a:endParaRPr lang="en-US" altLang="zh-CN" b="0" kern="0" dirty="0">
              <a:solidFill>
                <a:prstClr val="black"/>
              </a:solidFill>
              <a:latin typeface="Cambria Math" panose="02040503050406030204" pitchFamily="18" charset="0"/>
              <a:ea typeface="Cambria Math" panose="02040503050406030204" pitchFamily="18" charset="0"/>
            </a:endParaRPr>
          </a:p>
        </p:txBody>
      </p:sp>
      <p:sp>
        <p:nvSpPr>
          <p:cNvPr id="8" name="文本框 7"/>
          <p:cNvSpPr txBox="1"/>
          <p:nvPr/>
        </p:nvSpPr>
        <p:spPr bwMode="auto">
          <a:xfrm>
            <a:off x="7391400" y="2857499"/>
            <a:ext cx="4049712" cy="384333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@[local]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a:t>
            </a:r>
            <a:r>
              <a:rPr lang="en-US" altLang="zh-CN" b="0" kern="0" dirty="0" err="1">
                <a:solidFill>
                  <a:prstClr val="black"/>
                </a:solidFill>
                <a:latin typeface="Cambria Math" panose="02040503050406030204" pitchFamily="18" charset="0"/>
                <a:ea typeface="Cambria Math" panose="02040503050406030204" pitchFamily="18" charset="0"/>
              </a:rPr>
              <a:t>pset</a:t>
            </a:r>
            <a:r>
              <a:rPr lang="en-US" altLang="zh-CN" b="0" kern="0" dirty="0">
                <a:solidFill>
                  <a:prstClr val="black"/>
                </a:solidFill>
                <a:latin typeface="Cambria Math" panose="02040503050406030204" pitchFamily="18" charset="0"/>
                <a:ea typeface="Cambria Math" panose="02040503050406030204" pitchFamily="18" charset="0"/>
              </a:rPr>
              <a:t> border 0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Border style is 0.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omm</a:t>
            </a:r>
            <a:r>
              <a:rPr lang="en-US" altLang="zh-CN" b="0" kern="0" dirty="0">
                <a:solidFill>
                  <a:prstClr val="black"/>
                </a:solidFill>
                <a:latin typeface="Cambria Math" panose="02040503050406030204" pitchFamily="18" charset="0"/>
                <a:ea typeface="Cambria Math" panose="02040503050406030204" pitchFamily="18" charset="0"/>
              </a:rPr>
              <a:t>@[local]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=#SELECT * FROM </a:t>
            </a:r>
            <a:r>
              <a:rPr lang="en-US" altLang="zh-CN" b="0" kern="0" dirty="0" err="1">
                <a:solidFill>
                  <a:prstClr val="black"/>
                </a:solidFill>
                <a:latin typeface="Cambria Math" panose="02040503050406030204" pitchFamily="18" charset="0"/>
                <a:ea typeface="Cambria Math" panose="02040503050406030204" pitchFamily="18" charset="0"/>
              </a:rPr>
              <a:t>HR.areaS</a:t>
            </a:r>
            <a:r>
              <a:rPr lang="en-US" altLang="zh-CN" b="0" kern="0" dirty="0">
                <a:solidFill>
                  <a:prstClr val="black"/>
                </a:solidFill>
                <a:latin typeface="Cambria Math" panose="02040503050406030204" pitchFamily="18" charset="0"/>
                <a:ea typeface="Cambria Math" panose="02040503050406030204" pitchFamily="18" charset="0"/>
              </a:rPr>
              <a:t>;</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err="1">
                <a:solidFill>
                  <a:prstClr val="black"/>
                </a:solidFill>
                <a:latin typeface="Cambria Math" panose="02040503050406030204" pitchFamily="18" charset="0"/>
                <a:ea typeface="Cambria Math" panose="02040503050406030204" pitchFamily="18" charset="0"/>
              </a:rPr>
              <a:t>area_id</a:t>
            </a: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area_name</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1 Europe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2 Americas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3 Asia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4 Middle East and Africa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(4 rows)</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获取帮助</a:t>
            </a:r>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b="0" dirty="0">
                <a:solidFill>
                  <a:srgbClr val="000000"/>
                </a:solidFill>
                <a:latin typeface="Times New Roman" panose="02020603050405020304" pitchFamily="18" charset="0"/>
                <a:cs typeface="Times New Roman" panose="02020603050405020304" pitchFamily="18" charset="0"/>
              </a:rPr>
              <a:t>连接数据库时，可以使用如下命令获取帮助信息。</a:t>
            </a:r>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dirty="0">
              <a:solidFill>
                <a:srgbClr val="000000"/>
              </a:solidFill>
              <a:latin typeface="Times New Roman" panose="02020603050405020304" pitchFamily="18" charset="0"/>
              <a:cs typeface="Times New Roman" panose="02020603050405020304" pitchFamily="18" charset="0"/>
            </a:endParaRPr>
          </a:p>
          <a:p>
            <a:pPr lvl="2"/>
            <a:r>
              <a:rPr lang="zh-CN" altLang="en-US" sz="2400" dirty="0">
                <a:solidFill>
                  <a:srgbClr val="000000"/>
                </a:solidFill>
                <a:latin typeface="Times New Roman" panose="02020603050405020304" pitchFamily="18" charset="0"/>
                <a:cs typeface="Times New Roman" panose="02020603050405020304" pitchFamily="18" charset="0"/>
              </a:rPr>
              <a:t>显示如下帮助信息：</a:t>
            </a:r>
            <a:endParaRPr lang="zh-CN" altLang="en-US" sz="240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1103313" y="3094038"/>
            <a:ext cx="7481888" cy="334962"/>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gsql</a:t>
            </a:r>
            <a:r>
              <a:rPr lang="en-US" altLang="zh-CN" b="0" kern="0" dirty="0">
                <a:solidFill>
                  <a:prstClr val="black"/>
                </a:solidFill>
                <a:latin typeface="Cambria Math" panose="02040503050406030204" pitchFamily="18" charset="0"/>
                <a:ea typeface="Cambria Math" panose="02040503050406030204" pitchFamily="18" charset="0"/>
              </a:rPr>
              <a:t> --help</a:t>
            </a:r>
            <a:endParaRPr lang="en-US" altLang="zh-CN" b="0" kern="0" dirty="0">
              <a:solidFill>
                <a:prstClr val="black"/>
              </a:solidFill>
              <a:latin typeface="Cambria Math" panose="02040503050406030204" pitchFamily="18" charset="0"/>
              <a:ea typeface="Cambria Math" panose="02040503050406030204" pitchFamily="18" charset="0"/>
            </a:endParaRPr>
          </a:p>
        </p:txBody>
      </p:sp>
      <p:sp>
        <p:nvSpPr>
          <p:cNvPr id="8" name="文本框 7"/>
          <p:cNvSpPr txBox="1"/>
          <p:nvPr/>
        </p:nvSpPr>
        <p:spPr bwMode="auto">
          <a:xfrm>
            <a:off x="4285544" y="3587579"/>
            <a:ext cx="7172325" cy="3022796"/>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Usage: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r>
              <a:rPr lang="en-US" altLang="zh-CN" b="0" kern="0" dirty="0" err="1">
                <a:solidFill>
                  <a:prstClr val="black"/>
                </a:solidFill>
                <a:latin typeface="Cambria Math" panose="02040503050406030204" pitchFamily="18" charset="0"/>
                <a:ea typeface="Cambria Math" panose="02040503050406030204" pitchFamily="18" charset="0"/>
              </a:rPr>
              <a:t>gsql</a:t>
            </a:r>
            <a:r>
              <a:rPr lang="en-US" altLang="zh-CN" b="0" kern="0" dirty="0">
                <a:solidFill>
                  <a:prstClr val="black"/>
                </a:solidFill>
                <a:latin typeface="Cambria Math" panose="02040503050406030204" pitchFamily="18" charset="0"/>
                <a:ea typeface="Cambria Math" panose="02040503050406030204" pitchFamily="18" charset="0"/>
              </a:rPr>
              <a:t> [OPTION]... [DBNAME [USERNAME]]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General options: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-c, --command=COMMAND    run only single command (SQL or internal) and exit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-d, --</a:t>
            </a:r>
            <a:r>
              <a:rPr lang="en-US" altLang="zh-CN" b="0" kern="0" dirty="0" err="1">
                <a:solidFill>
                  <a:prstClr val="black"/>
                </a:solidFill>
                <a:latin typeface="Cambria Math" panose="02040503050406030204" pitchFamily="18" charset="0"/>
                <a:ea typeface="Cambria Math" panose="02040503050406030204" pitchFamily="18" charset="0"/>
              </a:rPr>
              <a:t>dbname</a:t>
            </a:r>
            <a:r>
              <a:rPr lang="en-US" altLang="zh-CN" b="0" kern="0" dirty="0">
                <a:solidFill>
                  <a:prstClr val="black"/>
                </a:solidFill>
                <a:latin typeface="Cambria Math" panose="02040503050406030204" pitchFamily="18" charset="0"/>
                <a:ea typeface="Cambria Math" panose="02040503050406030204" pitchFamily="18" charset="0"/>
              </a:rPr>
              <a:t>=DBNAME      database name to connect to (default: "</a:t>
            </a: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-f, --file=FILENAME      execute commands from file, then exit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获取帮助任务示例</a:t>
            </a:r>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dirty="0">
                <a:solidFill>
                  <a:srgbClr val="000000"/>
                </a:solidFill>
                <a:latin typeface="Huawei Sans"/>
                <a:ea typeface="方正兰亭黑简体"/>
                <a:cs typeface="方正兰亭黑简体"/>
              </a:rPr>
              <a:t>例如，查看</a:t>
            </a:r>
            <a:r>
              <a:rPr lang="en-US" altLang="zh-CN" dirty="0">
                <a:solidFill>
                  <a:srgbClr val="000000"/>
                </a:solidFill>
                <a:latin typeface="Huawei Sans"/>
                <a:ea typeface="方正兰亭黑简体"/>
                <a:cs typeface="方正兰亭黑简体"/>
              </a:rPr>
              <a:t>CREATE DATABASE</a:t>
            </a:r>
            <a:r>
              <a:rPr lang="zh-CN" altLang="en-US" dirty="0">
                <a:solidFill>
                  <a:srgbClr val="000000"/>
                </a:solidFill>
                <a:latin typeface="Huawei Sans"/>
                <a:ea typeface="方正兰亭黑简体"/>
                <a:cs typeface="方正兰亭黑简体"/>
              </a:rPr>
              <a:t>命令的参数可使用下面的命令：</a:t>
            </a:r>
            <a:endParaRPr lang="zh-CN" altLang="zh-CN" dirty="0">
              <a:solidFill>
                <a:srgbClr val="000000"/>
              </a:solidFill>
              <a:latin typeface="Huawei Sans"/>
              <a:ea typeface="方正兰亭黑简体"/>
              <a:cs typeface="方正兰亭黑简体"/>
            </a:endParaRPr>
          </a:p>
          <a:p>
            <a:pPr marL="457200" lvl="1" indent="0">
              <a:buNone/>
            </a:pP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7" name="文本框 6"/>
          <p:cNvSpPr txBox="1"/>
          <p:nvPr/>
        </p:nvSpPr>
        <p:spPr bwMode="auto">
          <a:xfrm>
            <a:off x="1298576" y="3165524"/>
            <a:ext cx="6999287" cy="3289300"/>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\help CREATE DATABASE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Command:     CREATE DATABASE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Description: create a new database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Syntax: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CREATE DATABASE </a:t>
            </a:r>
            <a:r>
              <a:rPr lang="en-US" altLang="zh-CN" b="0" kern="0" dirty="0" err="1">
                <a:solidFill>
                  <a:prstClr val="black"/>
                </a:solidFill>
                <a:latin typeface="Cambria Math" panose="02040503050406030204" pitchFamily="18" charset="0"/>
                <a:ea typeface="Cambria Math" panose="02040503050406030204" pitchFamily="18" charset="0"/>
              </a:rPr>
              <a:t>database_name</a:t>
            </a:r>
            <a:r>
              <a:rPr lang="en-US" altLang="zh-CN" b="0" kern="0" dirty="0">
                <a:solidFill>
                  <a:prstClr val="black"/>
                </a:solidFill>
                <a:latin typeface="Cambria Math" panose="02040503050406030204" pitchFamily="18" charset="0"/>
                <a:ea typeface="Cambria Math" panose="02040503050406030204" pitchFamily="18" charset="0"/>
              </a:rPr>
              <a:t>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 WITH ] {[ OWNER [=] </a:t>
            </a:r>
            <a:r>
              <a:rPr lang="en-US" altLang="zh-CN" b="0" kern="0" dirty="0" err="1">
                <a:solidFill>
                  <a:prstClr val="black"/>
                </a:solidFill>
                <a:latin typeface="Cambria Math" panose="02040503050406030204" pitchFamily="18" charset="0"/>
                <a:ea typeface="Cambria Math" panose="02040503050406030204" pitchFamily="18" charset="0"/>
              </a:rPr>
              <a:t>user_name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TEMPLATE [=] template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ENCODING [=] encoding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LC_COLLATE [=] </a:t>
            </a:r>
            <a:r>
              <a:rPr lang="en-US" altLang="zh-CN" b="0" kern="0" dirty="0" err="1">
                <a:solidFill>
                  <a:prstClr val="black"/>
                </a:solidFill>
                <a:latin typeface="Cambria Math" panose="02040503050406030204" pitchFamily="18" charset="0"/>
                <a:ea typeface="Cambria Math" panose="02040503050406030204" pitchFamily="18" charset="0"/>
              </a:rPr>
              <a:t>lc_collate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LC_CTYPE [=] </a:t>
            </a:r>
            <a:r>
              <a:rPr lang="en-US" altLang="zh-CN" b="0" kern="0" dirty="0" err="1">
                <a:solidFill>
                  <a:prstClr val="black"/>
                </a:solidFill>
                <a:latin typeface="Cambria Math" panose="02040503050406030204" pitchFamily="18" charset="0"/>
                <a:ea typeface="Cambria Math" panose="02040503050406030204" pitchFamily="18" charset="0"/>
              </a:rPr>
              <a:t>lc_ctype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DBCOMPATIBILITY [=] </a:t>
            </a:r>
            <a:r>
              <a:rPr lang="en-US" altLang="zh-CN" b="0" kern="0" dirty="0" err="1">
                <a:solidFill>
                  <a:prstClr val="black"/>
                </a:solidFill>
                <a:latin typeface="Cambria Math" panose="02040503050406030204" pitchFamily="18" charset="0"/>
                <a:ea typeface="Cambria Math" panose="02040503050406030204" pitchFamily="18" charset="0"/>
              </a:rPr>
              <a:t>compatibility_type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TABLESPACE [=] </a:t>
            </a:r>
            <a:r>
              <a:rPr lang="en-US" altLang="zh-CN" b="0" kern="0" dirty="0" err="1">
                <a:solidFill>
                  <a:prstClr val="black"/>
                </a:solidFill>
                <a:latin typeface="Cambria Math" panose="02040503050406030204" pitchFamily="18" charset="0"/>
                <a:ea typeface="Cambria Math" panose="02040503050406030204" pitchFamily="18" charset="0"/>
              </a:rPr>
              <a:t>tablespace_name</a:t>
            </a:r>
            <a:r>
              <a:rPr lang="en-US" altLang="zh-CN" b="0" kern="0" dirty="0">
                <a:solidFill>
                  <a:prstClr val="black"/>
                </a:solidFill>
                <a:latin typeface="Cambria Math" panose="02040503050406030204" pitchFamily="18" charset="0"/>
                <a:ea typeface="Cambria Math" panose="02040503050406030204" pitchFamily="18" charset="0"/>
              </a:rPr>
              <a:t> ]| </a:t>
            </a:r>
            <a:br>
              <a:rPr lang="en-US" altLang="zh-CN" b="0" kern="0" dirty="0">
                <a:solidFill>
                  <a:prstClr val="black"/>
                </a:solidFill>
                <a:latin typeface="Cambria Math" panose="02040503050406030204" pitchFamily="18" charset="0"/>
                <a:ea typeface="Cambria Math" panose="02040503050406030204" pitchFamily="18" charset="0"/>
              </a:rPr>
            </a:br>
            <a:r>
              <a:rPr lang="en-US" altLang="zh-CN" b="0" kern="0" dirty="0">
                <a:solidFill>
                  <a:prstClr val="black"/>
                </a:solidFill>
                <a:latin typeface="Cambria Math" panose="02040503050406030204" pitchFamily="18" charset="0"/>
                <a:ea typeface="Cambria Math" panose="02040503050406030204" pitchFamily="18" charset="0"/>
              </a:rPr>
              <a:t>           [ CONNECTION LIMIT [=] </a:t>
            </a:r>
            <a:r>
              <a:rPr lang="en-US" altLang="zh-CN" b="0" kern="0" dirty="0" err="1">
                <a:solidFill>
                  <a:prstClr val="black"/>
                </a:solidFill>
                <a:latin typeface="Cambria Math" panose="02040503050406030204" pitchFamily="18" charset="0"/>
                <a:ea typeface="Cambria Math" panose="02040503050406030204" pitchFamily="18" charset="0"/>
              </a:rPr>
              <a:t>connlimit</a:t>
            </a:r>
            <a:r>
              <a:rPr lang="en-US" altLang="zh-CN" b="0" kern="0" dirty="0">
                <a:solidFill>
                  <a:prstClr val="black"/>
                </a:solidFill>
                <a:latin typeface="Cambria Math" panose="02040503050406030204" pitchFamily="18" charset="0"/>
                <a:ea typeface="Cambria Math" panose="02040503050406030204" pitchFamily="18" charset="0"/>
              </a:rPr>
              <a:t> ]}[...] ];</a:t>
            </a:r>
            <a:endParaRPr lang="zh-CN" altLang="zh-CN" b="0" kern="0" dirty="0">
              <a:solidFill>
                <a:prstClr val="black"/>
              </a:solidFill>
              <a:latin typeface="Cambria Math" panose="02040503050406030204" pitchFamily="18" charset="0"/>
              <a:ea typeface="方正兰亭黑简体"/>
            </a:endParaRP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sz="2600" b="1" dirty="0">
                <a:solidFill>
                  <a:srgbClr val="000000"/>
                </a:solidFill>
                <a:latin typeface="Times New Roman" panose="02020603050405020304" pitchFamily="18" charset="0"/>
                <a:cs typeface="Times New Roman" panose="02020603050405020304" pitchFamily="18" charset="0"/>
              </a:rPr>
              <a:t>获取帮助任务示例</a:t>
            </a:r>
            <a:endParaRPr lang="en-US" altLang="zh-CN" b="0" dirty="0">
              <a:solidFill>
                <a:srgbClr val="000000"/>
              </a:solidFill>
              <a:latin typeface="Times New Roman" panose="02020603050405020304" pitchFamily="18" charset="0"/>
              <a:cs typeface="Times New Roman" panose="02020603050405020304" pitchFamily="18" charset="0"/>
            </a:endParaRPr>
          </a:p>
          <a:p>
            <a:pPr marL="457200" lvl="1" indent="0">
              <a:buNone/>
            </a:pP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
        <p:nvSpPr>
          <p:cNvPr id="6" name="文本框 5"/>
          <p:cNvSpPr txBox="1"/>
          <p:nvPr/>
        </p:nvSpPr>
        <p:spPr bwMode="auto">
          <a:xfrm>
            <a:off x="884238" y="2752725"/>
            <a:ext cx="7704137" cy="2427288"/>
          </a:xfrm>
          <a:prstGeom prst="rect">
            <a:avLst/>
          </a:prstGeom>
          <a:solidFill>
            <a:sysClr val="window" lastClr="FFFFFF">
              <a:lumMod val="85000"/>
            </a:sysClr>
          </a:solidFill>
          <a:ln w="9525" algn="ctr">
            <a:solidFill>
              <a:sysClr val="window" lastClr="FFFFFF">
                <a:lumMod val="85000"/>
              </a:sysClr>
            </a:solidFill>
            <a:miter lim="800000"/>
          </a:ln>
        </p:spPr>
        <p:txBody>
          <a:bodyPr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defTabSz="914400" eaLnBrk="1" fontAlgn="auto" hangingPunct="1">
              <a:defRPr/>
            </a:pPr>
            <a:r>
              <a:rPr lang="en-US" altLang="zh-CN" b="0" kern="0" dirty="0" err="1">
                <a:solidFill>
                  <a:prstClr val="black"/>
                </a:solidFill>
                <a:latin typeface="Cambria Math" panose="02040503050406030204" pitchFamily="18" charset="0"/>
                <a:ea typeface="Cambria Math" panose="02040503050406030204" pitchFamily="18" charset="0"/>
              </a:rPr>
              <a:t>postgres</a:t>
            </a:r>
            <a:r>
              <a:rPr lang="en-US" altLang="zh-CN" b="0" kern="0" dirty="0">
                <a:solidFill>
                  <a:prstClr val="black"/>
                </a:solidFill>
                <a:latin typeface="Cambria Math" panose="02040503050406030204" pitchFamily="18" charset="0"/>
                <a:ea typeface="Cambria Math" panose="02040503050406030204" pitchFamily="18" charset="0"/>
              </a:rPr>
              <a:t>=# \?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General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\copyright             show </a:t>
            </a:r>
            <a:r>
              <a:rPr lang="en-US" altLang="zh-CN" b="0" kern="0" dirty="0" err="1">
                <a:solidFill>
                  <a:prstClr val="black"/>
                </a:solidFill>
                <a:latin typeface="Cambria Math" panose="02040503050406030204" pitchFamily="18" charset="0"/>
                <a:ea typeface="Cambria Math" panose="02040503050406030204" pitchFamily="18" charset="0"/>
              </a:rPr>
              <a:t>PostgreSQL</a:t>
            </a:r>
            <a:r>
              <a:rPr lang="en-US" altLang="zh-CN" b="0" kern="0" dirty="0">
                <a:solidFill>
                  <a:prstClr val="black"/>
                </a:solidFill>
                <a:latin typeface="Cambria Math" panose="02040503050406030204" pitchFamily="18" charset="0"/>
                <a:ea typeface="Cambria Math" panose="02040503050406030204" pitchFamily="18" charset="0"/>
              </a:rPr>
              <a:t> usage and distribution terms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\g [FILE] or ;         execute query (and send results to file or |pipe)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\h(\help) [NAME]              help on syntax of SQL commands, * for all commands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\q                     quit </a:t>
            </a:r>
            <a:r>
              <a:rPr lang="en-US" altLang="zh-CN" b="0" kern="0" dirty="0" err="1">
                <a:solidFill>
                  <a:prstClr val="black"/>
                </a:solidFill>
                <a:latin typeface="Cambria Math" panose="02040503050406030204" pitchFamily="18" charset="0"/>
                <a:ea typeface="Cambria Math" panose="02040503050406030204" pitchFamily="18" charset="0"/>
              </a:rPr>
              <a:t>gsql</a:t>
            </a: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a:p>
            <a:pPr defTabSz="914400" eaLnBrk="1" fontAlgn="auto" hangingPunct="1">
              <a:defRPr/>
            </a:pPr>
            <a:r>
              <a:rPr lang="en-US" altLang="zh-CN" b="0" kern="0" dirty="0">
                <a:solidFill>
                  <a:prstClr val="black"/>
                </a:solidFill>
                <a:latin typeface="Cambria Math" panose="02040503050406030204" pitchFamily="18" charset="0"/>
                <a:ea typeface="Cambria Math" panose="02040503050406030204" pitchFamily="18" charset="0"/>
              </a:rPr>
              <a:t>... ...</a:t>
            </a:r>
            <a:endParaRPr lang="en-US" altLang="zh-CN" b="0" kern="0" dirty="0">
              <a:solidFill>
                <a:prstClr val="black"/>
              </a:solidFill>
              <a:latin typeface="Cambria Math" panose="02040503050406030204" pitchFamily="18" charset="0"/>
              <a:ea typeface="Cambria Math" panose="02040503050406030204" pitchFamily="18" charset="0"/>
            </a:endParaRP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en-GB" altLang="zh-CN" sz="2600" b="1" dirty="0">
                <a:solidFill>
                  <a:srgbClr val="000000"/>
                </a:solidFill>
                <a:latin typeface="Times New Roman" panose="02020603050405020304" pitchFamily="18" charset="0"/>
                <a:cs typeface="Times New Roman" panose="02020603050405020304" pitchFamily="18" charset="0"/>
              </a:rPr>
              <a:t>Data Studio</a:t>
            </a:r>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r>
              <a:rPr lang="en-US" altLang="zh-CN" b="0" dirty="0">
                <a:solidFill>
                  <a:srgbClr val="000000"/>
                </a:solidFill>
                <a:latin typeface="Times New Roman" panose="02020603050405020304" pitchFamily="18" charset="0"/>
                <a:cs typeface="Times New Roman" panose="02020603050405020304" pitchFamily="18" charset="0"/>
              </a:rPr>
              <a:t>Data Studio</a:t>
            </a:r>
            <a:r>
              <a:rPr lang="zh-CN" altLang="en-US" b="0" dirty="0">
                <a:solidFill>
                  <a:srgbClr val="000000"/>
                </a:solidFill>
                <a:latin typeface="Times New Roman" panose="02020603050405020304" pitchFamily="18" charset="0"/>
                <a:cs typeface="Times New Roman" panose="02020603050405020304" pitchFamily="18" charset="0"/>
              </a:rPr>
              <a:t>是一个集成开发环境，通过提供图形化界面来展示数据库的主要功能，简化了数据库开发和应用构建任务。</a:t>
            </a:r>
            <a:endParaRPr lang="en-US" altLang="zh-CN" dirty="0">
              <a:solidFill>
                <a:srgbClr val="000000"/>
              </a:solidFill>
              <a:latin typeface="Times New Roman" panose="02020603050405020304" pitchFamily="18" charset="0"/>
              <a:cs typeface="Times New Roman" panose="02020603050405020304" pitchFamily="18" charset="0"/>
            </a:endParaRPr>
          </a:p>
          <a:p>
            <a:pPr lvl="1">
              <a:lnSpc>
                <a:spcPct val="150000"/>
              </a:lnSpc>
            </a:pPr>
            <a:r>
              <a:rPr lang="zh-CN" altLang="en-US" b="0" dirty="0">
                <a:solidFill>
                  <a:srgbClr val="000000"/>
                </a:solidFill>
                <a:latin typeface="Times New Roman" panose="02020603050405020304" pitchFamily="18" charset="0"/>
                <a:cs typeface="Times New Roman" panose="02020603050405020304" pitchFamily="18" charset="0"/>
              </a:rPr>
              <a:t>数据库开发人员仅需掌握少量的编程知识，即可使用该工具进行数据库对象操作</a:t>
            </a:r>
            <a:r>
              <a:rPr lang="zh-CN" altLang="zh-CN" b="0" dirty="0">
                <a:solidFill>
                  <a:srgbClr val="000000"/>
                </a:solidFill>
                <a:latin typeface="Times New Roman" panose="02020603050405020304" pitchFamily="18" charset="0"/>
                <a:cs typeface="Times New Roman" panose="02020603050405020304" pitchFamily="18" charset="0"/>
              </a:rPr>
              <a:t>。</a:t>
            </a:r>
            <a:endParaRPr lang="en-US" altLang="zh-CN" dirty="0">
              <a:solidFill>
                <a:srgbClr val="000000"/>
              </a:solidFill>
              <a:latin typeface="Times New Roman" panose="02020603050405020304" pitchFamily="18" charset="0"/>
              <a:cs typeface="Times New Roman" panose="02020603050405020304" pitchFamily="18" charset="0"/>
            </a:endParaRPr>
          </a:p>
          <a:p>
            <a:pPr lvl="1">
              <a:lnSpc>
                <a:spcPct val="150000"/>
              </a:lnSpc>
            </a:pPr>
            <a:r>
              <a:rPr lang="zh-CN" altLang="en-US" b="0" dirty="0">
                <a:solidFill>
                  <a:srgbClr val="000000"/>
                </a:solidFill>
                <a:latin typeface="Times New Roman" panose="02020603050405020304" pitchFamily="18" charset="0"/>
                <a:cs typeface="Times New Roman" panose="02020603050405020304" pitchFamily="18" charset="0"/>
              </a:rPr>
              <a:t>数据库及</a:t>
            </a:r>
            <a:r>
              <a:rPr lang="en-US" altLang="zh-CN" b="0" dirty="0">
                <a:solidFill>
                  <a:srgbClr val="000000"/>
                </a:solidFill>
                <a:latin typeface="Times New Roman" panose="02020603050405020304" pitchFamily="18" charset="0"/>
                <a:cs typeface="Times New Roman" panose="02020603050405020304" pitchFamily="18" charset="0"/>
              </a:rPr>
              <a:t>Data Studio</a:t>
            </a:r>
            <a:r>
              <a:rPr lang="zh-CN" altLang="en-US" b="0" dirty="0">
                <a:solidFill>
                  <a:srgbClr val="000000"/>
                </a:solidFill>
                <a:latin typeface="Times New Roman" panose="02020603050405020304" pitchFamily="18" charset="0"/>
                <a:cs typeface="Times New Roman" panose="02020603050405020304" pitchFamily="18" charset="0"/>
              </a:rPr>
              <a:t>的操作环境如下图所示：</a:t>
            </a:r>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zh-CN" altLang="zh-CN" dirty="0">
              <a:solidFill>
                <a:srgbClr val="000000"/>
              </a:solidFill>
              <a:latin typeface="Huawei Sans"/>
              <a:ea typeface="方正兰亭黑简体"/>
              <a:cs typeface="方正兰亭黑简体"/>
            </a:endParaRPr>
          </a:p>
          <a:p>
            <a:pPr marL="457200" lvl="1" indent="0">
              <a:buNone/>
            </a:pP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grpSp>
        <p:nvGrpSpPr>
          <p:cNvPr id="6" name="组合 8"/>
          <p:cNvGrpSpPr/>
          <p:nvPr/>
        </p:nvGrpSpPr>
        <p:grpSpPr bwMode="auto">
          <a:xfrm>
            <a:off x="3442855" y="5151437"/>
            <a:ext cx="5638800" cy="1416050"/>
            <a:chOff x="3272416" y="3971029"/>
            <a:chExt cx="6025820" cy="1417082"/>
          </a:xfrm>
        </p:grpSpPr>
        <p:pic>
          <p:nvPicPr>
            <p:cNvPr id="8" name="图片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6484" y="3971029"/>
              <a:ext cx="11430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5158" y="3971029"/>
              <a:ext cx="895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箭头连接符 11"/>
            <p:cNvCxnSpPr>
              <a:cxnSpLocks noChangeShapeType="1"/>
              <a:stCxn id="8" idx="3"/>
            </p:cNvCxnSpPr>
            <p:nvPr/>
          </p:nvCxnSpPr>
          <p:spPr bwMode="auto">
            <a:xfrm>
              <a:off x="4459483" y="4437754"/>
              <a:ext cx="3564000" cy="0"/>
            </a:xfrm>
            <a:prstGeom prst="straightConnector1">
              <a:avLst/>
            </a:prstGeom>
            <a:noFill/>
            <a:ln w="6350" algn="ctr">
              <a:solidFill>
                <a:srgbClr val="5B9BD5"/>
              </a:solidFill>
              <a:miter lim="800000"/>
              <a:tailEnd type="triangle" w="med" len="med"/>
            </a:ln>
            <a:extLst>
              <a:ext uri="{909E8E84-426E-40DD-AFC4-6F175D3DCCD1}">
                <a14:hiddenFill xmlns:a14="http://schemas.microsoft.com/office/drawing/2010/main">
                  <a:noFill/>
                </a14:hiddenFill>
              </a:ext>
            </a:extLst>
          </p:spPr>
        </p:cxnSp>
        <p:sp>
          <p:nvSpPr>
            <p:cNvPr id="11" name="文本框 10"/>
            <p:cNvSpPr txBox="1"/>
            <p:nvPr/>
          </p:nvSpPr>
          <p:spPr>
            <a:xfrm>
              <a:off x="3272416" y="5019543"/>
              <a:ext cx="1475919" cy="368568"/>
            </a:xfrm>
            <a:prstGeom prst="rect">
              <a:avLst/>
            </a:prstGeom>
            <a:noFill/>
          </p:spPr>
          <p:txBody>
            <a:bodyPr>
              <a:spAutoFit/>
            </a:bodyPr>
            <a:lstStyle/>
            <a:p>
              <a:pPr defTabSz="914400" eaLnBrk="1" fontAlgn="auto" hangingPunct="1">
                <a:spcBef>
                  <a:spcPts val="0"/>
                </a:spcBef>
                <a:spcAft>
                  <a:spcPts val="0"/>
                </a:spcAft>
                <a:defRPr/>
              </a:pPr>
              <a:r>
                <a:rPr lang="en-US" altLang="zh-CN" b="0" kern="0" dirty="0">
                  <a:solidFill>
                    <a:prstClr val="black"/>
                  </a:solidFill>
                  <a:latin typeface="Huawei Sans"/>
                  <a:ea typeface="方正兰亭黑简体"/>
                </a:rPr>
                <a:t>Data Studio</a:t>
              </a:r>
              <a:endParaRPr lang="zh-CN" altLang="en-US" b="0" kern="0" dirty="0">
                <a:solidFill>
                  <a:prstClr val="black"/>
                </a:solidFill>
                <a:latin typeface="Huawei Sans"/>
                <a:ea typeface="方正兰亭黑简体"/>
              </a:endParaRPr>
            </a:p>
          </p:txBody>
        </p:sp>
        <p:sp>
          <p:nvSpPr>
            <p:cNvPr id="12" name="文本框 11"/>
            <p:cNvSpPr txBox="1"/>
            <p:nvPr/>
          </p:nvSpPr>
          <p:spPr>
            <a:xfrm>
              <a:off x="7874907" y="5019543"/>
              <a:ext cx="1423329" cy="368568"/>
            </a:xfrm>
            <a:prstGeom prst="rect">
              <a:avLst/>
            </a:prstGeom>
            <a:noFill/>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b="0">
                  <a:solidFill>
                    <a:srgbClr val="000000"/>
                  </a:solidFill>
                  <a:latin typeface="Huawei Sans"/>
                  <a:ea typeface="方正兰亭黑简体"/>
                  <a:cs typeface="方正兰亭黑简体"/>
                </a:rPr>
                <a:t>数据库节点</a:t>
              </a:r>
              <a:endParaRPr lang="zh-CN" altLang="en-US" b="0">
                <a:solidFill>
                  <a:srgbClr val="000000"/>
                </a:solidFill>
                <a:latin typeface="Huawei Sans"/>
                <a:ea typeface="方正兰亭黑简体"/>
                <a:cs typeface="方正兰亭黑简体"/>
              </a:endParaRPr>
            </a:p>
          </p:txBody>
        </p:sp>
        <p:sp>
          <p:nvSpPr>
            <p:cNvPr id="13" name="文本框 12"/>
            <p:cNvSpPr txBox="1"/>
            <p:nvPr/>
          </p:nvSpPr>
          <p:spPr>
            <a:xfrm>
              <a:off x="3910284" y="4438094"/>
              <a:ext cx="184913" cy="368568"/>
            </a:xfrm>
            <a:prstGeom prst="rect">
              <a:avLst/>
            </a:prstGeom>
            <a:noFill/>
          </p:spPr>
          <p:txBody>
            <a:bodyPr wrap="none">
              <a:spAutoFit/>
            </a:bodyPr>
            <a:lstStyle/>
            <a:p>
              <a:pPr defTabSz="914400" eaLnBrk="1" fontAlgn="auto" hangingPunct="1">
                <a:spcBef>
                  <a:spcPts val="0"/>
                </a:spcBef>
                <a:spcAft>
                  <a:spcPts val="0"/>
                </a:spcAft>
                <a:defRPr/>
              </a:pPr>
              <a:endParaRPr lang="zh-CN" altLang="en-US" b="0" kern="0" dirty="0">
                <a:solidFill>
                  <a:prstClr val="black"/>
                </a:solidFill>
                <a:latin typeface="Huawei Sans"/>
                <a:ea typeface="方正兰亭黑简体"/>
              </a:endParaRPr>
            </a:p>
          </p:txBody>
        </p:sp>
      </p:gr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794837" cy="5280071"/>
          </a:xfrm>
        </p:spPr>
        <p:txBody>
          <a:bodyPr>
            <a:normAutofit fontScale="92500" lnSpcReduction="20000"/>
          </a:bodyPr>
          <a:lstStyle/>
          <a:p>
            <a:pPr>
              <a:lnSpc>
                <a:spcPct val="150000"/>
              </a:lnSpc>
            </a:pPr>
            <a:r>
              <a:rPr lang="en-US" altLang="zh-CN" sz="2600" dirty="0" err="1">
                <a:latin typeface="Times New Roman" panose="02020603050405020304" pitchFamily="18" charset="0"/>
                <a:cs typeface="Times New Roman" panose="02020603050405020304" pitchFamily="18" charset="0"/>
              </a:rPr>
              <a:t>openGauss</a:t>
            </a:r>
            <a:r>
              <a:rPr lang="zh-CN" altLang="en-US" sz="2600" dirty="0">
                <a:latin typeface="Times New Roman" panose="02020603050405020304" pitchFamily="18" charset="0"/>
                <a:cs typeface="Times New Roman" panose="02020603050405020304" pitchFamily="18" charset="0"/>
              </a:rPr>
              <a:t>数据库中</a:t>
            </a:r>
            <a:r>
              <a:rPr lang="en-US" altLang="zh-CN" sz="2600" dirty="0">
                <a:latin typeface="Times New Roman" panose="02020603050405020304" pitchFamily="18" charset="0"/>
                <a:cs typeface="Times New Roman" panose="02020603050405020304" pitchFamily="18" charset="0"/>
              </a:rPr>
              <a:t>SQL</a:t>
            </a:r>
            <a:endParaRPr lang="en-US" altLang="zh-CN" sz="2600" dirty="0">
              <a:latin typeface="Times New Roman" panose="02020603050405020304" pitchFamily="18" charset="0"/>
              <a:cs typeface="Times New Roman" panose="02020603050405020304" pitchFamily="18" charset="0"/>
            </a:endParaRPr>
          </a:p>
          <a:p>
            <a:pPr marL="457200" lvl="1" indent="0">
              <a:lnSpc>
                <a:spcPct val="150000"/>
              </a:lnSpc>
              <a:buNone/>
            </a:pPr>
            <a:r>
              <a:rPr lang="en-GB" altLang="zh-CN" sz="2600" b="1" dirty="0">
                <a:solidFill>
                  <a:srgbClr val="000000"/>
                </a:solidFill>
                <a:latin typeface="Times New Roman" panose="02020603050405020304" pitchFamily="18" charset="0"/>
                <a:cs typeface="Times New Roman" panose="02020603050405020304" pitchFamily="18" charset="0"/>
              </a:rPr>
              <a:t>Data Studio</a:t>
            </a:r>
            <a:endParaRPr lang="en-US" altLang="zh-CN" b="0" dirty="0">
              <a:solidFill>
                <a:srgbClr val="000000"/>
              </a:solidFill>
              <a:latin typeface="Times New Roman" panose="02020603050405020304" pitchFamily="18" charset="0"/>
              <a:cs typeface="Times New Roman" panose="02020603050405020304" pitchFamily="18" charset="0"/>
            </a:endParaRPr>
          </a:p>
          <a:p>
            <a:pPr lvl="1"/>
            <a:r>
              <a:rPr lang="zh-CN" altLang="en-US" sz="2200" b="0" dirty="0">
                <a:solidFill>
                  <a:srgbClr val="000000"/>
                </a:solidFill>
                <a:latin typeface="Times New Roman" panose="02020603050405020304" pitchFamily="18" charset="0"/>
                <a:cs typeface="Times New Roman" panose="02020603050405020304" pitchFamily="18" charset="0"/>
              </a:rPr>
              <a:t>数据库开发人员可以使用</a:t>
            </a:r>
            <a:r>
              <a:rPr lang="en-US" altLang="zh-CN" sz="2200" b="0" dirty="0">
                <a:solidFill>
                  <a:srgbClr val="000000"/>
                </a:solidFill>
                <a:latin typeface="Times New Roman" panose="02020603050405020304" pitchFamily="18" charset="0"/>
                <a:cs typeface="Times New Roman" panose="02020603050405020304" pitchFamily="18" charset="0"/>
              </a:rPr>
              <a:t>Data Studio</a:t>
            </a:r>
            <a:r>
              <a:rPr lang="zh-CN" altLang="en-US" sz="2200" b="0" dirty="0">
                <a:solidFill>
                  <a:srgbClr val="000000"/>
                </a:solidFill>
                <a:latin typeface="Times New Roman" panose="02020603050405020304" pitchFamily="18" charset="0"/>
                <a:cs typeface="Times New Roman" panose="02020603050405020304" pitchFamily="18" charset="0"/>
              </a:rPr>
              <a:t>所提供的特性： </a:t>
            </a:r>
            <a:endParaRPr lang="en-US" altLang="zh-CN" sz="22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 创建和管理数据库对象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执行</a:t>
            </a:r>
            <a:r>
              <a:rPr lang="en-US" altLang="zh-CN" sz="1900" dirty="0">
                <a:solidFill>
                  <a:srgbClr val="000000"/>
                </a:solidFill>
                <a:latin typeface="Times New Roman" panose="02020603050405020304" pitchFamily="18" charset="0"/>
                <a:cs typeface="Times New Roman" panose="02020603050405020304" pitchFamily="18" charset="0"/>
              </a:rPr>
              <a:t>SQL</a:t>
            </a:r>
            <a:r>
              <a:rPr lang="zh-CN" altLang="en-US" sz="1900" dirty="0">
                <a:solidFill>
                  <a:srgbClr val="000000"/>
                </a:solidFill>
                <a:latin typeface="Times New Roman" panose="02020603050405020304" pitchFamily="18" charset="0"/>
                <a:cs typeface="Times New Roman" panose="02020603050405020304" pitchFamily="18" charset="0"/>
              </a:rPr>
              <a:t>语句</a:t>
            </a:r>
            <a:r>
              <a:rPr lang="en-US" altLang="zh-CN" sz="1900" dirty="0">
                <a:solidFill>
                  <a:srgbClr val="000000"/>
                </a:solidFill>
                <a:latin typeface="Times New Roman" panose="02020603050405020304" pitchFamily="18" charset="0"/>
                <a:cs typeface="Times New Roman" panose="02020603050405020304" pitchFamily="18" charset="0"/>
              </a:rPr>
              <a:t>/SQL</a:t>
            </a:r>
            <a:r>
              <a:rPr lang="zh-CN" altLang="en-US" sz="1900" dirty="0">
                <a:solidFill>
                  <a:srgbClr val="000000"/>
                </a:solidFill>
                <a:latin typeface="Times New Roman" panose="02020603050405020304" pitchFamily="18" charset="0"/>
                <a:cs typeface="Times New Roman" panose="02020603050405020304" pitchFamily="18" charset="0"/>
              </a:rPr>
              <a:t>脚本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编辑和执行</a:t>
            </a:r>
            <a:r>
              <a:rPr lang="en-US" altLang="zh-CN" sz="1900" dirty="0">
                <a:solidFill>
                  <a:srgbClr val="000000"/>
                </a:solidFill>
                <a:latin typeface="Times New Roman" panose="02020603050405020304" pitchFamily="18" charset="0"/>
                <a:cs typeface="Times New Roman" panose="02020603050405020304" pitchFamily="18" charset="0"/>
              </a:rPr>
              <a:t>PL/SQL</a:t>
            </a:r>
            <a:r>
              <a:rPr lang="zh-CN" altLang="en-US" sz="1900" dirty="0">
                <a:solidFill>
                  <a:srgbClr val="000000"/>
                </a:solidFill>
                <a:latin typeface="Times New Roman" panose="02020603050405020304" pitchFamily="18" charset="0"/>
                <a:cs typeface="Times New Roman" panose="02020603050405020304" pitchFamily="18" charset="0"/>
              </a:rPr>
              <a:t>语句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导入和导出表数据</a:t>
            </a:r>
            <a:endParaRPr lang="en-US" altLang="zh-CN" sz="1900" dirty="0">
              <a:solidFill>
                <a:srgbClr val="000000"/>
              </a:solidFill>
              <a:latin typeface="Times New Roman" panose="02020603050405020304" pitchFamily="18" charset="0"/>
              <a:cs typeface="Times New Roman" panose="02020603050405020304" pitchFamily="18" charset="0"/>
            </a:endParaRPr>
          </a:p>
          <a:p>
            <a:pPr lvl="1"/>
            <a:r>
              <a:rPr lang="zh-CN" altLang="en-US" sz="2200" b="0" dirty="0">
                <a:solidFill>
                  <a:srgbClr val="000000"/>
                </a:solidFill>
                <a:latin typeface="Times New Roman" panose="02020603050405020304" pitchFamily="18" charset="0"/>
                <a:cs typeface="Times New Roman" panose="02020603050405020304" pitchFamily="18" charset="0"/>
              </a:rPr>
              <a:t>所能创建及管理的数据库对象包括： </a:t>
            </a:r>
            <a:endParaRPr lang="en-US" altLang="zh-CN" sz="2200" b="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 数据库、模式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函数 、过程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表 、序列 </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索引 、视图</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zh-CN" altLang="en-US" sz="1900" dirty="0">
                <a:solidFill>
                  <a:srgbClr val="000000"/>
                </a:solidFill>
                <a:latin typeface="Times New Roman" panose="02020603050405020304" pitchFamily="18" charset="0"/>
                <a:cs typeface="Times New Roman" panose="02020603050405020304" pitchFamily="18" charset="0"/>
              </a:rPr>
              <a:t>表空间 、同义词</a:t>
            </a:r>
            <a:endParaRPr lang="en-US" altLang="zh-CN" sz="1900" dirty="0">
              <a:solidFill>
                <a:srgbClr val="000000"/>
              </a:solidFill>
              <a:latin typeface="Times New Roman" panose="02020603050405020304" pitchFamily="18" charset="0"/>
              <a:cs typeface="Times New Roman" panose="02020603050405020304" pitchFamily="18" charset="0"/>
            </a:endParaRPr>
          </a:p>
          <a:p>
            <a:pPr lvl="2"/>
            <a:r>
              <a:rPr lang="en-US" altLang="zh-CN" sz="1900" dirty="0">
                <a:solidFill>
                  <a:srgbClr val="000000"/>
                </a:solidFill>
                <a:latin typeface="Times New Roman" panose="02020603050405020304" pitchFamily="18" charset="0"/>
                <a:cs typeface="Times New Roman" panose="02020603050405020304" pitchFamily="18" charset="0"/>
              </a:rPr>
              <a:t>Data Studio</a:t>
            </a:r>
            <a:r>
              <a:rPr lang="zh-CN" altLang="en-US" sz="1900" dirty="0">
                <a:solidFill>
                  <a:srgbClr val="000000"/>
                </a:solidFill>
                <a:latin typeface="Times New Roman" panose="02020603050405020304" pitchFamily="18" charset="0"/>
                <a:cs typeface="Times New Roman" panose="02020603050405020304" pitchFamily="18" charset="0"/>
              </a:rPr>
              <a:t>还提供了</a:t>
            </a:r>
            <a:r>
              <a:rPr lang="en-US" altLang="zh-CN" sz="1900" dirty="0">
                <a:solidFill>
                  <a:srgbClr val="000000"/>
                </a:solidFill>
                <a:latin typeface="Times New Roman" panose="02020603050405020304" pitchFamily="18" charset="0"/>
                <a:cs typeface="Times New Roman" panose="02020603050405020304" pitchFamily="18" charset="0"/>
              </a:rPr>
              <a:t>SQL</a:t>
            </a:r>
            <a:r>
              <a:rPr lang="zh-CN" altLang="en-US" sz="1900" dirty="0">
                <a:solidFill>
                  <a:srgbClr val="000000"/>
                </a:solidFill>
                <a:latin typeface="Times New Roman" panose="02020603050405020304" pitchFamily="18" charset="0"/>
                <a:cs typeface="Times New Roman" panose="02020603050405020304" pitchFamily="18" charset="0"/>
              </a:rPr>
              <a:t>助手用于在“</a:t>
            </a:r>
            <a:r>
              <a:rPr lang="en-US" altLang="zh-CN" sz="1900" dirty="0">
                <a:solidFill>
                  <a:srgbClr val="000000"/>
                </a:solidFill>
                <a:latin typeface="Times New Roman" panose="02020603050405020304" pitchFamily="18" charset="0"/>
                <a:cs typeface="Times New Roman" panose="02020603050405020304" pitchFamily="18" charset="0"/>
              </a:rPr>
              <a:t>SQL</a:t>
            </a:r>
            <a:r>
              <a:rPr lang="zh-CN" altLang="en-US" sz="1900" dirty="0">
                <a:solidFill>
                  <a:srgbClr val="000000"/>
                </a:solidFill>
                <a:latin typeface="Times New Roman" panose="02020603050405020304" pitchFamily="18" charset="0"/>
                <a:cs typeface="Times New Roman" panose="02020603050405020304" pitchFamily="18" charset="0"/>
              </a:rPr>
              <a:t>终端”和“</a:t>
            </a:r>
            <a:r>
              <a:rPr lang="en-US" altLang="zh-CN" sz="1900" dirty="0">
                <a:solidFill>
                  <a:srgbClr val="000000"/>
                </a:solidFill>
                <a:latin typeface="Times New Roman" panose="02020603050405020304" pitchFamily="18" charset="0"/>
                <a:cs typeface="Times New Roman" panose="02020603050405020304" pitchFamily="18" charset="0"/>
              </a:rPr>
              <a:t>PL/</a:t>
            </a:r>
            <a:r>
              <a:rPr lang="en-US" altLang="zh-CN" sz="1900" dirty="0" err="1">
                <a:solidFill>
                  <a:srgbClr val="000000"/>
                </a:solidFill>
                <a:latin typeface="Times New Roman" panose="02020603050405020304" pitchFamily="18" charset="0"/>
                <a:cs typeface="Times New Roman" panose="02020603050405020304" pitchFamily="18" charset="0"/>
              </a:rPr>
              <a:t>SQLViewer</a:t>
            </a:r>
            <a:r>
              <a:rPr lang="en-US" altLang="zh-CN" sz="1900" dirty="0">
                <a:solidFill>
                  <a:srgbClr val="000000"/>
                </a:solidFill>
                <a:latin typeface="Times New Roman" panose="02020603050405020304" pitchFamily="18" charset="0"/>
                <a:cs typeface="Times New Roman" panose="02020603050405020304" pitchFamily="18" charset="0"/>
              </a:rPr>
              <a:t>”</a:t>
            </a:r>
            <a:r>
              <a:rPr lang="zh-CN" altLang="en-US" sz="1900" dirty="0">
                <a:solidFill>
                  <a:srgbClr val="000000"/>
                </a:solidFill>
                <a:latin typeface="Times New Roman" panose="02020603050405020304" pitchFamily="18" charset="0"/>
                <a:cs typeface="Times New Roman" panose="02020603050405020304" pitchFamily="18" charset="0"/>
              </a:rPr>
              <a:t>中执行各种查询</a:t>
            </a:r>
            <a:r>
              <a:rPr lang="en-US" altLang="zh-CN" sz="1900" dirty="0">
                <a:solidFill>
                  <a:srgbClr val="000000"/>
                </a:solidFill>
                <a:latin typeface="Times New Roman" panose="02020603050405020304" pitchFamily="18" charset="0"/>
                <a:cs typeface="Times New Roman" panose="02020603050405020304" pitchFamily="18" charset="0"/>
              </a:rPr>
              <a:t>/</a:t>
            </a:r>
            <a:r>
              <a:rPr lang="zh-CN" altLang="en-US" sz="1900" dirty="0">
                <a:solidFill>
                  <a:srgbClr val="000000"/>
                </a:solidFill>
                <a:latin typeface="Times New Roman" panose="02020603050405020304" pitchFamily="18" charset="0"/>
                <a:cs typeface="Times New Roman" panose="02020603050405020304" pitchFamily="18" charset="0"/>
              </a:rPr>
              <a:t>过程</a:t>
            </a:r>
            <a:r>
              <a:rPr lang="en-US" altLang="zh-CN" sz="1900" dirty="0">
                <a:solidFill>
                  <a:srgbClr val="000000"/>
                </a:solidFill>
                <a:latin typeface="Times New Roman" panose="02020603050405020304" pitchFamily="18" charset="0"/>
                <a:cs typeface="Times New Roman" panose="02020603050405020304" pitchFamily="18" charset="0"/>
              </a:rPr>
              <a:t>/</a:t>
            </a:r>
            <a:r>
              <a:rPr lang="zh-CN" altLang="en-US" sz="1900" dirty="0">
                <a:solidFill>
                  <a:srgbClr val="000000"/>
                </a:solidFill>
                <a:latin typeface="Times New Roman" panose="02020603050405020304" pitchFamily="18" charset="0"/>
                <a:cs typeface="Times New Roman" panose="02020603050405020304" pitchFamily="18" charset="0"/>
              </a:rPr>
              <a:t>函数。</a:t>
            </a:r>
            <a:endParaRPr lang="en-US" altLang="zh-CN" sz="190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zh-CN" altLang="en-US" sz="2200" dirty="0">
              <a:solidFill>
                <a:srgbClr val="000000"/>
              </a:solidFill>
              <a:latin typeface="Huawei Sans"/>
              <a:ea typeface="方正兰亭黑简体"/>
              <a:cs typeface="Huawei Sans"/>
            </a:endParaRPr>
          </a:p>
          <a:p>
            <a:pPr lvl="1">
              <a:lnSpc>
                <a:spcPct val="150000"/>
              </a:lnSpc>
            </a:pPr>
            <a:endParaRPr lang="zh-CN" altLang="zh-CN" dirty="0">
              <a:solidFill>
                <a:srgbClr val="000000"/>
              </a:solidFill>
              <a:latin typeface="Huawei Sans"/>
              <a:ea typeface="方正兰亭黑简体"/>
              <a:cs typeface="方正兰亭黑简体"/>
            </a:endParaRPr>
          </a:p>
          <a:p>
            <a:pPr marL="457200" lvl="1" indent="0">
              <a:buNone/>
            </a:pP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948307"/>
            <a:ext cx="11794837" cy="5550968"/>
          </a:xfrm>
        </p:spPr>
        <p:txBody>
          <a:bodyPr>
            <a:normAutofit/>
          </a:bodyPr>
          <a:lstStyle/>
          <a:p>
            <a:pPr lvl="1"/>
            <a:endParaRPr lang="en-US" altLang="zh-CN" sz="2200" dirty="0">
              <a:solidFill>
                <a:srgbClr val="000000"/>
              </a:solidFill>
              <a:latin typeface="Times New Roman" panose="02020603050405020304" pitchFamily="18" charset="0"/>
              <a:cs typeface="Times New Roman" panose="02020603050405020304" pitchFamily="18" charset="0"/>
            </a:endParaRPr>
          </a:p>
          <a:p>
            <a:pPr lvl="1"/>
            <a:endParaRPr lang="en-US" altLang="zh-CN" sz="2200" b="0" dirty="0">
              <a:solidFill>
                <a:srgbClr val="000000"/>
              </a:solidFill>
              <a:latin typeface="Times New Roman" panose="02020603050405020304" pitchFamily="18" charset="0"/>
              <a:cs typeface="Times New Roman" panose="02020603050405020304" pitchFamily="18" charset="0"/>
            </a:endParaRPr>
          </a:p>
          <a:p>
            <a:pPr lvl="1"/>
            <a:endParaRPr lang="en-US" altLang="zh-CN" sz="2200" dirty="0">
              <a:solidFill>
                <a:srgbClr val="000000"/>
              </a:solidFill>
              <a:latin typeface="Times New Roman" panose="02020603050405020304" pitchFamily="18" charset="0"/>
              <a:cs typeface="Times New Roman" panose="02020603050405020304" pitchFamily="18" charset="0"/>
            </a:endParaRPr>
          </a:p>
          <a:p>
            <a:pPr lvl="1"/>
            <a:endParaRPr lang="en-US" altLang="zh-CN" sz="2200" b="0" dirty="0">
              <a:solidFill>
                <a:srgbClr val="000000"/>
              </a:solidFill>
              <a:latin typeface="Times New Roman" panose="02020603050405020304" pitchFamily="18" charset="0"/>
              <a:cs typeface="Times New Roman" panose="02020603050405020304" pitchFamily="18" charset="0"/>
            </a:endParaRPr>
          </a:p>
          <a:p>
            <a:pPr lvl="1"/>
            <a:endParaRPr lang="en-US" altLang="zh-CN" sz="2200" dirty="0">
              <a:solidFill>
                <a:srgbClr val="000000"/>
              </a:solidFill>
              <a:latin typeface="Times New Roman" panose="02020603050405020304" pitchFamily="18" charset="0"/>
              <a:cs typeface="Times New Roman" panose="02020603050405020304" pitchFamily="18" charset="0"/>
            </a:endParaRPr>
          </a:p>
          <a:p>
            <a:pPr lvl="1"/>
            <a:endParaRPr lang="en-US" altLang="zh-CN" sz="2200"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zh-CN" altLang="zh-CN" dirty="0">
              <a:solidFill>
                <a:srgbClr val="000000"/>
              </a:solidFill>
              <a:latin typeface="Huawei Sans"/>
              <a:ea typeface="方正兰亭黑简体"/>
              <a:cs typeface="方正兰亭黑简体"/>
            </a:endParaRPr>
          </a:p>
          <a:p>
            <a:pPr marL="457200" lvl="1" indent="0">
              <a:buNone/>
            </a:pPr>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zh-CN" altLang="en-US"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endParaRPr lang="en-US" altLang="zh-CN" b="0" dirty="0">
              <a:solidFill>
                <a:srgbClr val="000000"/>
              </a:solidFill>
              <a:latin typeface="Times New Roman" panose="02020603050405020304" pitchFamily="18" charset="0"/>
              <a:cs typeface="Times New Roman" panose="02020603050405020304" pitchFamily="18" charset="0"/>
            </a:endParaRPr>
          </a:p>
          <a:p>
            <a:pPr lvl="1">
              <a:lnSpc>
                <a:spcPct val="150000"/>
              </a:lnSpc>
            </a:pPr>
            <a:endParaRPr lang="en-US" altLang="zh-CN" sz="2200" dirty="0">
              <a:latin typeface="Times New Roman" panose="02020603050405020304" pitchFamily="18" charset="0"/>
              <a:cs typeface="Times New Roman" panose="02020603050405020304" pitchFamily="18" charset="0"/>
            </a:endParaRPr>
          </a:p>
          <a:p>
            <a:pPr>
              <a:lnSpc>
                <a:spcPct val="150000"/>
              </a:lnSpc>
            </a:pPr>
            <a:endParaRPr lang="en-US" altLang="zh-CN" sz="2600"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a:xfrm>
            <a:off x="397163" y="357375"/>
            <a:ext cx="10697497" cy="590931"/>
          </a:xfrm>
        </p:spPr>
        <p:txBody>
          <a:bodyPr/>
          <a:lstStyle/>
          <a:p>
            <a:r>
              <a:rPr kumimoji="1" lang="en-GB" altLang="zh-CN" dirty="0"/>
              <a:t>3.</a:t>
            </a:r>
            <a:r>
              <a:rPr kumimoji="1" lang="en-US" altLang="zh-CN" dirty="0"/>
              <a:t>7</a:t>
            </a:r>
            <a:r>
              <a:rPr kumimoji="1" lang="zh-CN" altLang="en-US" dirty="0"/>
              <a:t> 嵌入式</a:t>
            </a:r>
            <a:r>
              <a:rPr kumimoji="1" lang="en-GB" altLang="zh-CN" dirty="0"/>
              <a:t>SQL </a:t>
            </a:r>
            <a:endParaRPr kumimoji="1" lang="zh-CN" altLang="en-US" dirty="0"/>
          </a:p>
        </p:txBody>
      </p:sp>
      <p:pic>
        <p:nvPicPr>
          <p:cNvPr id="6" name="图片 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5368" y="1026422"/>
            <a:ext cx="7881264" cy="3240911"/>
          </a:xfrm>
          <a:prstGeom prst="rect">
            <a:avLst/>
          </a:prstGeom>
          <a:noFill/>
          <a:ln w="12700">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143117" y="4345448"/>
            <a:ext cx="6443546" cy="2400657"/>
          </a:xfrm>
          <a:prstGeom prst="rect">
            <a:avLst/>
          </a:prstGeom>
          <a:noFill/>
        </p:spPr>
        <p:txBody>
          <a:bodyPr wrap="square">
            <a:spAutoFit/>
          </a:bodyPr>
          <a:lstStyle/>
          <a:p>
            <a:pPr algn="just" eaLnBrk="1" fontAlgn="ctr" hangingPunct="1">
              <a:spcBef>
                <a:spcPct val="0"/>
              </a:spcBef>
              <a:spcAft>
                <a:spcPts val="600"/>
              </a:spcAft>
              <a:buSzPct val="50000"/>
            </a:pPr>
            <a:r>
              <a:rPr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主菜单：提供使用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Data Studio</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的基本操作；</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工具栏：提供常用操作入口；</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 “SQL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终端</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页签：在该窗口，可以执行</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语句和函数</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过程；</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 “PL/SQL Viewer”</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页签：显示函数</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过程信息；</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编辑区域用于进行编辑操作；</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6.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调用堆栈</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窗格：显示执行栈；</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“断点“窗格：显示断点信息；</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变量</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窗格：显示变量及其变量值；</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spcBef>
                <a:spcPct val="0"/>
              </a:spcBef>
              <a:spcAft>
                <a:spcPts val="600"/>
              </a:spcAft>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9. “SQL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助手</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页签：显示</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终端</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“PL/SQL”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页签中输入信息的建议或参考</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p:cNvSpPr txBox="1"/>
          <p:nvPr/>
        </p:nvSpPr>
        <p:spPr>
          <a:xfrm>
            <a:off x="6917850" y="4267333"/>
            <a:ext cx="4401490" cy="2529923"/>
          </a:xfrm>
          <a:prstGeom prst="rect">
            <a:avLst/>
          </a:prstGeom>
          <a:noFill/>
        </p:spPr>
        <p:txBody>
          <a:bodyPr wrap="square">
            <a:spAutoFit/>
          </a:bodyPr>
          <a:lstStyle/>
          <a:p>
            <a:pPr algn="just" eaLnBrk="1" fontAlgn="ctr" hangingPunct="1">
              <a:lnSpc>
                <a:spcPct val="120000"/>
              </a:lnSpc>
              <a:spcBef>
                <a:spcPct val="0"/>
              </a:spcBef>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结果</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页签：显示所执行的函数</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过程或</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SQL</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语句的结果；</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lnSpc>
                <a:spcPct val="120000"/>
              </a:lnSpc>
              <a:spcBef>
                <a:spcPct val="0"/>
              </a:spcBef>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消息</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页签：显示进程输出。显示标准输入、标准输出和标准错误；</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lnSpc>
                <a:spcPct val="120000"/>
              </a:lnSpc>
              <a:spcBef>
                <a:spcPct val="0"/>
              </a:spcBef>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对象浏览器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窗格：显示数据库连接的层级树形结构和用户有权访问的相关数据库对象；除公共模式外，所有默认创建的模式均分组在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系统模式</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下，用户模式分组在相应数据库的</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用户模式</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下；</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lnSpc>
                <a:spcPct val="120000"/>
              </a:lnSpc>
              <a:spcBef>
                <a:spcPct val="0"/>
              </a:spcBef>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13.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最小化窗口窗格</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：用于打开</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调用堆栈</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变量</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窗格。该窗格仅在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调用堆栈</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变量</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窗格中的一个或多个窗格最小化时显示。</a:t>
            </a:r>
            <a:endPar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fontAlgn="ctr" hangingPunct="1">
              <a:lnSpc>
                <a:spcPct val="120000"/>
              </a:lnSpc>
              <a:spcBef>
                <a:spcPct val="0"/>
              </a:spcBef>
              <a:buSzPct val="50000"/>
            </a:pP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14. </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搜索工具栏：用于在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对象浏览器</a:t>
            </a:r>
            <a:r>
              <a:rPr lang="en-US"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窗格中搜索对象。</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39033</Words>
  <Application>WPS 演示</Application>
  <PresentationFormat>宽屏</PresentationFormat>
  <Paragraphs>3840</Paragraphs>
  <Slides>185</Slides>
  <Notes>6</Notes>
  <HiddenSlides>23</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4</vt:i4>
      </vt:variant>
      <vt:variant>
        <vt:lpstr>幻灯片标题</vt:lpstr>
      </vt:variant>
      <vt:variant>
        <vt:i4>185</vt:i4>
      </vt:variant>
    </vt:vector>
  </HeadingPairs>
  <TitlesOfParts>
    <vt:vector size="213" baseType="lpstr">
      <vt:lpstr>Arial</vt:lpstr>
      <vt:lpstr>宋体</vt:lpstr>
      <vt:lpstr>Wingdings</vt:lpstr>
      <vt:lpstr>黑体</vt:lpstr>
      <vt:lpstr>微软雅黑</vt:lpstr>
      <vt:lpstr>Times New Roman</vt:lpstr>
      <vt:lpstr>Arial Unicode MS</vt:lpstr>
      <vt:lpstr>等线 Light</vt:lpstr>
      <vt:lpstr>等线</vt:lpstr>
      <vt:lpstr>Helvetica</vt:lpstr>
      <vt:lpstr>Courier New</vt:lpstr>
      <vt:lpstr>Cambria Math</vt:lpstr>
      <vt:lpstr>Calibri</vt:lpstr>
      <vt:lpstr>Monotype Sorts</vt:lpstr>
      <vt:lpstr>Wingdings</vt:lpstr>
      <vt:lpstr>隶书</vt:lpstr>
      <vt:lpstr>Tahoma</vt:lpstr>
      <vt:lpstr>华文行楷</vt:lpstr>
      <vt:lpstr>Symbol</vt:lpstr>
      <vt:lpstr>华文楷体</vt:lpstr>
      <vt:lpstr>Huawei Sans</vt:lpstr>
      <vt:lpstr>CaskaydiaCove NF</vt:lpstr>
      <vt:lpstr>方正兰亭黑简体</vt:lpstr>
      <vt:lpstr>Office 主题​​</vt:lpstr>
      <vt:lpstr>Equation.3</vt:lpstr>
      <vt:lpstr>Paint.Picture</vt:lpstr>
      <vt:lpstr>Paint.Picture</vt:lpstr>
      <vt:lpstr>PBrush</vt:lpstr>
      <vt:lpstr>第3章 关系数据库语言SQL</vt:lpstr>
      <vt:lpstr>第3章 关系数据库语言SQL</vt:lpstr>
      <vt:lpstr>3.1 SQL语言概述</vt:lpstr>
      <vt:lpstr>3.1 SQL语言概述</vt:lpstr>
      <vt:lpstr>3.1 SQL语言概述</vt:lpstr>
      <vt:lpstr>3.1 SQL语言概述</vt:lpstr>
      <vt:lpstr>3.1 SQL语言概述</vt:lpstr>
      <vt:lpstr>3.1 SQL语言概述</vt:lpstr>
      <vt:lpstr>3.1 SQL语言概述</vt:lpstr>
      <vt:lpstr>3.1 SQL语言概述</vt:lpstr>
      <vt:lpstr>3.1 SQL语言概述</vt:lpstr>
      <vt:lpstr>3.1 SQL语言概述</vt:lpstr>
      <vt:lpstr>3.1 SQL语言概述</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3.2 SQL数据定义语言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3.3 SQL数据查询语言</vt:lpstr>
      <vt:lpstr>3.4 SQL数据操纵功能</vt:lpstr>
      <vt:lpstr>3.4 SQL数据操纵功能</vt:lpstr>
      <vt:lpstr>3.4 SQL数据操纵功能</vt:lpstr>
      <vt:lpstr>3.4 SQL数据操纵功能</vt:lpstr>
      <vt:lpstr>3.4 SQL数据操纵功能</vt:lpstr>
      <vt:lpstr>3.4 SQL数据操纵功能</vt:lpstr>
      <vt:lpstr>3.4 SQL数据操纵功能</vt:lpstr>
      <vt:lpstr>3.4 SQL数据操纵功能</vt:lpstr>
      <vt:lpstr>3.4 SQL数据操纵功能</vt:lpstr>
      <vt:lpstr>3.4 SQL数据操纵功能</vt:lpstr>
      <vt:lpstr>3.5 SQL视图</vt:lpstr>
      <vt:lpstr>3.5 SQL视图</vt:lpstr>
      <vt:lpstr>3.5 SQL视图</vt:lpstr>
      <vt:lpstr>3.5 SQL视图</vt:lpstr>
      <vt:lpstr>3.5 SQL视图</vt:lpstr>
      <vt:lpstr>3.5 SQL视图</vt:lpstr>
      <vt:lpstr>3.5 SQL视图</vt:lpstr>
      <vt:lpstr>3.5 SQL视图</vt:lpstr>
      <vt:lpstr>3.5 SQL视图</vt:lpstr>
      <vt:lpstr>3.5 SQL视图</vt:lpstr>
      <vt:lpstr>3.5 SQL视图</vt:lpstr>
      <vt:lpstr>3.5 SQL视图</vt:lpstr>
      <vt:lpstr>3.5 SQL视图</vt:lpstr>
      <vt:lpstr>3.6 SQL数据控制功能</vt:lpstr>
      <vt:lpstr>3.6 SQL数据控制功能</vt:lpstr>
      <vt:lpstr>3.6 SQL数据控制功能</vt:lpstr>
      <vt:lpstr>3.6 SQL数据控制功能</vt:lpstr>
      <vt:lpstr>3.6 SQL数据控制功能</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lpstr>3.7 嵌入式SQL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433</cp:revision>
  <dcterms:created xsi:type="dcterms:W3CDTF">2024-11-02T12:31:00Z</dcterms:created>
  <dcterms:modified xsi:type="dcterms:W3CDTF">2025-07-23T14:03:44Z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9FB042375B294FF4ADB07138998888B9_13</vt:lpwstr>
  </property>
  <property fmtid="{D5CDD505-2E9C-101B-9397-08002B2CF9AE}" pid="3" name="KSOProductBuildVer">
    <vt:lpwstr>2052-12.1.0.21915</vt:lpwstr>
  </property>
</Properties>
</file>